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Poppins Bold" charset="1" panose="00000800000000000000"/>
      <p:regular r:id="rId23"/>
    </p:embeddedFont>
    <p:embeddedFont>
      <p:font typeface="Poppins" charset="1" panose="00000500000000000000"/>
      <p:regular r:id="rId24"/>
    </p:embeddedFont>
    <p:embeddedFont>
      <p:font typeface="Poppins Italics" charset="1" panose="0000050000000000000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8.jpe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9.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0.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2.pn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 Id="rId9" Target="../media/image1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4.png" Type="http://schemas.openxmlformats.org/officeDocument/2006/relationships/image"/><Relationship Id="rId9" Target="../media/image1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6.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7.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8.png" Type="http://schemas.openxmlformats.org/officeDocument/2006/relationships/image"/><Relationship Id="rId9" Target="../media/image19.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2.png" Type="http://schemas.openxmlformats.org/officeDocument/2006/relationships/image"/><Relationship Id="rId9" Target="../media/image13.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4323"/>
        </a:solidFill>
      </p:bgPr>
    </p:bg>
    <p:spTree>
      <p:nvGrpSpPr>
        <p:cNvPr id="1" name=""/>
        <p:cNvGrpSpPr/>
        <p:nvPr/>
      </p:nvGrpSpPr>
      <p:grpSpPr>
        <a:xfrm>
          <a:off x="0" y="0"/>
          <a:ext cx="0" cy="0"/>
          <a:chOff x="0" y="0"/>
          <a:chExt cx="0" cy="0"/>
        </a:xfrm>
      </p:grpSpPr>
      <p:sp>
        <p:nvSpPr>
          <p:cNvPr name="Freeform 2" id="2"/>
          <p:cNvSpPr/>
          <p:nvPr/>
        </p:nvSpPr>
        <p:spPr>
          <a:xfrm flipH="false" flipV="false" rot="0">
            <a:off x="-498415" y="8845337"/>
            <a:ext cx="21430122" cy="1441663"/>
          </a:xfrm>
          <a:custGeom>
            <a:avLst/>
            <a:gdLst/>
            <a:ahLst/>
            <a:cxnLst/>
            <a:rect r="r" b="b" t="t" l="l"/>
            <a:pathLst>
              <a:path h="1441663" w="21430122">
                <a:moveTo>
                  <a:pt x="0" y="0"/>
                </a:moveTo>
                <a:lnTo>
                  <a:pt x="21430122" y="0"/>
                </a:lnTo>
                <a:lnTo>
                  <a:pt x="21430122" y="1441663"/>
                </a:lnTo>
                <a:lnTo>
                  <a:pt x="0" y="144166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502237" y="6574199"/>
            <a:ext cx="5453349" cy="4114800"/>
          </a:xfrm>
          <a:custGeom>
            <a:avLst/>
            <a:gdLst/>
            <a:ahLst/>
            <a:cxnLst/>
            <a:rect r="r" b="b" t="t" l="l"/>
            <a:pathLst>
              <a:path h="4114800" w="5453349">
                <a:moveTo>
                  <a:pt x="0" y="0"/>
                </a:moveTo>
                <a:lnTo>
                  <a:pt x="5453349" y="0"/>
                </a:lnTo>
                <a:lnTo>
                  <a:pt x="5453349"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894670" y="8533782"/>
            <a:ext cx="4729260" cy="2450616"/>
          </a:xfrm>
          <a:custGeom>
            <a:avLst/>
            <a:gdLst/>
            <a:ahLst/>
            <a:cxnLst/>
            <a:rect r="r" b="b" t="t" l="l"/>
            <a:pathLst>
              <a:path h="2450616" w="4729260">
                <a:moveTo>
                  <a:pt x="0" y="0"/>
                </a:moveTo>
                <a:lnTo>
                  <a:pt x="4729260" y="0"/>
                </a:lnTo>
                <a:lnTo>
                  <a:pt x="4729260" y="2450616"/>
                </a:lnTo>
                <a:lnTo>
                  <a:pt x="0" y="245061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7879521" y="7078228"/>
            <a:ext cx="2528958" cy="1767109"/>
          </a:xfrm>
          <a:custGeom>
            <a:avLst/>
            <a:gdLst/>
            <a:ahLst/>
            <a:cxnLst/>
            <a:rect r="r" b="b" t="t" l="l"/>
            <a:pathLst>
              <a:path h="1767109" w="2528958">
                <a:moveTo>
                  <a:pt x="0" y="0"/>
                </a:moveTo>
                <a:lnTo>
                  <a:pt x="2528958" y="0"/>
                </a:lnTo>
                <a:lnTo>
                  <a:pt x="2528958" y="1767109"/>
                </a:lnTo>
                <a:lnTo>
                  <a:pt x="0" y="1767109"/>
                </a:lnTo>
                <a:lnTo>
                  <a:pt x="0" y="0"/>
                </a:lnTo>
                <a:close/>
              </a:path>
            </a:pathLst>
          </a:custGeom>
          <a:blipFill>
            <a:blip r:embed="rId8"/>
            <a:stretch>
              <a:fillRect l="0" t="0" r="0" b="0"/>
            </a:stretch>
          </a:blipFill>
        </p:spPr>
      </p:sp>
      <p:sp>
        <p:nvSpPr>
          <p:cNvPr name="TextBox 6" id="6"/>
          <p:cNvSpPr txBox="true"/>
          <p:nvPr/>
        </p:nvSpPr>
        <p:spPr>
          <a:xfrm rot="0">
            <a:off x="1137751" y="1698437"/>
            <a:ext cx="16012497" cy="3052904"/>
          </a:xfrm>
          <a:prstGeom prst="rect">
            <a:avLst/>
          </a:prstGeom>
        </p:spPr>
        <p:txBody>
          <a:bodyPr anchor="t" rtlCol="false" tIns="0" lIns="0" bIns="0" rIns="0">
            <a:spAutoFit/>
          </a:bodyPr>
          <a:lstStyle/>
          <a:p>
            <a:pPr algn="ctr">
              <a:lnSpc>
                <a:spcPts val="11254"/>
              </a:lnSpc>
            </a:pPr>
            <a:r>
              <a:rPr lang="en-US" b="true" sz="11723">
                <a:solidFill>
                  <a:srgbClr val="FFFFFF"/>
                </a:solidFill>
                <a:latin typeface="Poppins Bold"/>
                <a:ea typeface="Poppins Bold"/>
                <a:cs typeface="Poppins Bold"/>
                <a:sym typeface="Poppins Bold"/>
              </a:rPr>
              <a:t>DRIVERS OF BIODIVERSITY CRISIS</a:t>
            </a:r>
          </a:p>
        </p:txBody>
      </p:sp>
      <p:sp>
        <p:nvSpPr>
          <p:cNvPr name="TextBox 7" id="7"/>
          <p:cNvSpPr txBox="true"/>
          <p:nvPr/>
        </p:nvSpPr>
        <p:spPr>
          <a:xfrm rot="0">
            <a:off x="1711999" y="4991100"/>
            <a:ext cx="14864002" cy="562367"/>
          </a:xfrm>
          <a:prstGeom prst="rect">
            <a:avLst/>
          </a:prstGeom>
        </p:spPr>
        <p:txBody>
          <a:bodyPr anchor="t" rtlCol="false" tIns="0" lIns="0" bIns="0" rIns="0">
            <a:spAutoFit/>
          </a:bodyPr>
          <a:lstStyle/>
          <a:p>
            <a:pPr algn="ctr">
              <a:lnSpc>
                <a:spcPts val="4579"/>
              </a:lnSpc>
            </a:pPr>
            <a:r>
              <a:rPr lang="en-US" sz="2693" spc="347">
                <a:solidFill>
                  <a:srgbClr val="FFFFFF"/>
                </a:solidFill>
                <a:latin typeface="Poppins"/>
                <a:ea typeface="Poppins"/>
                <a:cs typeface="Poppins"/>
                <a:sym typeface="Poppins"/>
              </a:rPr>
              <a:t>CUSUMANO JULIA, ESTAÑOL CARRIÓN CLARA, KADLEC LUKÁŠ, MALIK PARV</a:t>
            </a:r>
          </a:p>
        </p:txBody>
      </p:sp>
      <p:sp>
        <p:nvSpPr>
          <p:cNvPr name="TextBox 8" id="8"/>
          <p:cNvSpPr txBox="true"/>
          <p:nvPr/>
        </p:nvSpPr>
        <p:spPr>
          <a:xfrm rot="0">
            <a:off x="6437064" y="6829689"/>
            <a:ext cx="5413871" cy="420878"/>
          </a:xfrm>
          <a:prstGeom prst="rect">
            <a:avLst/>
          </a:prstGeom>
        </p:spPr>
        <p:txBody>
          <a:bodyPr anchor="t" rtlCol="false" tIns="0" lIns="0" bIns="0" rIns="0">
            <a:spAutoFit/>
          </a:bodyPr>
          <a:lstStyle/>
          <a:p>
            <a:pPr algn="ctr">
              <a:lnSpc>
                <a:spcPts val="3496"/>
              </a:lnSpc>
              <a:spcBef>
                <a:spcPct val="0"/>
              </a:spcBef>
            </a:pPr>
            <a:r>
              <a:rPr lang="en-US" sz="2300" spc="448">
                <a:solidFill>
                  <a:srgbClr val="FFFFFF"/>
                </a:solidFill>
                <a:latin typeface="Poppins"/>
                <a:ea typeface="Poppins"/>
                <a:cs typeface="Poppins"/>
                <a:sym typeface="Poppins"/>
              </a:rPr>
              <a:t>FUNDAMENTALS OF ECOLOGY</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04323"/>
        </a:solidFill>
      </p:bgPr>
    </p:bg>
    <p:spTree>
      <p:nvGrpSpPr>
        <p:cNvPr id="1" name=""/>
        <p:cNvGrpSpPr/>
        <p:nvPr/>
      </p:nvGrpSpPr>
      <p:grpSpPr>
        <a:xfrm>
          <a:off x="0" y="0"/>
          <a:ext cx="0" cy="0"/>
          <a:chOff x="0" y="0"/>
          <a:chExt cx="0" cy="0"/>
        </a:xfrm>
      </p:grpSpPr>
      <p:sp>
        <p:nvSpPr>
          <p:cNvPr name="Freeform 2" id="2"/>
          <p:cNvSpPr/>
          <p:nvPr/>
        </p:nvSpPr>
        <p:spPr>
          <a:xfrm flipH="false" flipV="false" rot="0">
            <a:off x="-498415" y="8845337"/>
            <a:ext cx="21430122" cy="1441663"/>
          </a:xfrm>
          <a:custGeom>
            <a:avLst/>
            <a:gdLst/>
            <a:ahLst/>
            <a:cxnLst/>
            <a:rect r="r" b="b" t="t" l="l"/>
            <a:pathLst>
              <a:path h="1441663" w="21430122">
                <a:moveTo>
                  <a:pt x="0" y="0"/>
                </a:moveTo>
                <a:lnTo>
                  <a:pt x="21430122" y="0"/>
                </a:lnTo>
                <a:lnTo>
                  <a:pt x="21430122" y="1441663"/>
                </a:lnTo>
                <a:lnTo>
                  <a:pt x="0" y="144166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661885" y="6575204"/>
            <a:ext cx="5453349" cy="4114800"/>
          </a:xfrm>
          <a:custGeom>
            <a:avLst/>
            <a:gdLst/>
            <a:ahLst/>
            <a:cxnLst/>
            <a:rect r="r" b="b" t="t" l="l"/>
            <a:pathLst>
              <a:path h="4114800" w="5453349">
                <a:moveTo>
                  <a:pt x="0" y="0"/>
                </a:moveTo>
                <a:lnTo>
                  <a:pt x="5453350" y="0"/>
                </a:lnTo>
                <a:lnTo>
                  <a:pt x="545335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9362871" y="1621200"/>
            <a:ext cx="7536314" cy="5572009"/>
            <a:chOff x="0" y="0"/>
            <a:chExt cx="1167572" cy="863250"/>
          </a:xfrm>
        </p:grpSpPr>
        <p:sp>
          <p:nvSpPr>
            <p:cNvPr name="Freeform 5" id="5"/>
            <p:cNvSpPr/>
            <p:nvPr/>
          </p:nvSpPr>
          <p:spPr>
            <a:xfrm flipH="false" flipV="false" rot="0">
              <a:off x="0" y="0"/>
              <a:ext cx="1167572" cy="863250"/>
            </a:xfrm>
            <a:custGeom>
              <a:avLst/>
              <a:gdLst/>
              <a:ahLst/>
              <a:cxnLst/>
              <a:rect r="r" b="b" t="t" l="l"/>
              <a:pathLst>
                <a:path h="863250" w="1167572">
                  <a:moveTo>
                    <a:pt x="45200" y="0"/>
                  </a:moveTo>
                  <a:lnTo>
                    <a:pt x="1122372" y="0"/>
                  </a:lnTo>
                  <a:cubicBezTo>
                    <a:pt x="1134360" y="0"/>
                    <a:pt x="1145857" y="4762"/>
                    <a:pt x="1154333" y="13239"/>
                  </a:cubicBezTo>
                  <a:cubicBezTo>
                    <a:pt x="1162810" y="21716"/>
                    <a:pt x="1167572" y="33213"/>
                    <a:pt x="1167572" y="45200"/>
                  </a:cubicBezTo>
                  <a:lnTo>
                    <a:pt x="1167572" y="818050"/>
                  </a:lnTo>
                  <a:cubicBezTo>
                    <a:pt x="1167572" y="830038"/>
                    <a:pt x="1162810" y="841534"/>
                    <a:pt x="1154333" y="850011"/>
                  </a:cubicBezTo>
                  <a:cubicBezTo>
                    <a:pt x="1145857" y="858488"/>
                    <a:pt x="1134360" y="863250"/>
                    <a:pt x="1122372" y="863250"/>
                  </a:cubicBezTo>
                  <a:lnTo>
                    <a:pt x="45200" y="863250"/>
                  </a:lnTo>
                  <a:cubicBezTo>
                    <a:pt x="33213" y="863250"/>
                    <a:pt x="21716" y="858488"/>
                    <a:pt x="13239" y="850011"/>
                  </a:cubicBezTo>
                  <a:cubicBezTo>
                    <a:pt x="4762" y="841534"/>
                    <a:pt x="0" y="830038"/>
                    <a:pt x="0" y="818050"/>
                  </a:cubicBezTo>
                  <a:lnTo>
                    <a:pt x="0" y="45200"/>
                  </a:lnTo>
                  <a:cubicBezTo>
                    <a:pt x="0" y="33213"/>
                    <a:pt x="4762" y="21716"/>
                    <a:pt x="13239" y="13239"/>
                  </a:cubicBezTo>
                  <a:cubicBezTo>
                    <a:pt x="21716" y="4762"/>
                    <a:pt x="33213" y="0"/>
                    <a:pt x="45200" y="0"/>
                  </a:cubicBezTo>
                  <a:close/>
                </a:path>
              </a:pathLst>
            </a:custGeom>
            <a:blipFill>
              <a:blip r:embed="rId6"/>
              <a:stretch>
                <a:fillRect l="-5401" t="0" r="-5401" b="0"/>
              </a:stretch>
            </a:blipFill>
            <a:ln w="142875" cap="rnd">
              <a:solidFill>
                <a:srgbClr val="71B93A"/>
              </a:solidFill>
              <a:prstDash val="solid"/>
              <a:round/>
            </a:ln>
          </p:spPr>
        </p:sp>
      </p:grpSp>
      <p:sp>
        <p:nvSpPr>
          <p:cNvPr name="Freeform 6" id="6"/>
          <p:cNvSpPr/>
          <p:nvPr/>
        </p:nvSpPr>
        <p:spPr>
          <a:xfrm flipH="false" flipV="false" rot="0">
            <a:off x="16222219" y="8766181"/>
            <a:ext cx="4280770" cy="2218217"/>
          </a:xfrm>
          <a:custGeom>
            <a:avLst/>
            <a:gdLst/>
            <a:ahLst/>
            <a:cxnLst/>
            <a:rect r="r" b="b" t="t" l="l"/>
            <a:pathLst>
              <a:path h="2218217" w="4280770">
                <a:moveTo>
                  <a:pt x="0" y="0"/>
                </a:moveTo>
                <a:lnTo>
                  <a:pt x="4280770" y="0"/>
                </a:lnTo>
                <a:lnTo>
                  <a:pt x="4280770" y="2218217"/>
                </a:lnTo>
                <a:lnTo>
                  <a:pt x="0" y="221821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7" id="7"/>
          <p:cNvSpPr txBox="true"/>
          <p:nvPr/>
        </p:nvSpPr>
        <p:spPr>
          <a:xfrm rot="0">
            <a:off x="1499940" y="3338760"/>
            <a:ext cx="6501656" cy="3854450"/>
          </a:xfrm>
          <a:prstGeom prst="rect">
            <a:avLst/>
          </a:prstGeom>
        </p:spPr>
        <p:txBody>
          <a:bodyPr anchor="t" rtlCol="false" tIns="0" lIns="0" bIns="0" rIns="0">
            <a:spAutoFit/>
          </a:bodyPr>
          <a:lstStyle/>
          <a:p>
            <a:pPr algn="l" marL="431801" indent="-215900" lvl="1">
              <a:lnSpc>
                <a:spcPts val="3400"/>
              </a:lnSpc>
              <a:buFont typeface="Arial"/>
              <a:buChar char="•"/>
            </a:pPr>
            <a:r>
              <a:rPr lang="en-US" sz="2000">
                <a:solidFill>
                  <a:srgbClr val="FFFFFF"/>
                </a:solidFill>
                <a:latin typeface="Poppins"/>
                <a:ea typeface="Poppins"/>
                <a:cs typeface="Poppins"/>
                <a:sym typeface="Poppins"/>
              </a:rPr>
              <a:t>Serious biodiversity crisis</a:t>
            </a:r>
          </a:p>
          <a:p>
            <a:pPr algn="l" marL="431801" indent="-215900" lvl="1">
              <a:lnSpc>
                <a:spcPts val="3400"/>
              </a:lnSpc>
              <a:buFont typeface="Arial"/>
              <a:buChar char="•"/>
            </a:pPr>
            <a:r>
              <a:rPr lang="en-US" sz="2000">
                <a:solidFill>
                  <a:srgbClr val="FFFFFF"/>
                </a:solidFill>
                <a:latin typeface="Poppins"/>
                <a:ea typeface="Poppins"/>
                <a:cs typeface="Poppins"/>
                <a:sym typeface="Poppins"/>
              </a:rPr>
              <a:t>Humans</a:t>
            </a:r>
          </a:p>
          <a:p>
            <a:pPr algn="l" marL="431801" indent="-215900" lvl="1">
              <a:lnSpc>
                <a:spcPts val="3400"/>
              </a:lnSpc>
              <a:buFont typeface="Arial"/>
              <a:buChar char="•"/>
            </a:pPr>
            <a:r>
              <a:rPr lang="en-US" sz="2000">
                <a:solidFill>
                  <a:srgbClr val="FFFFFF"/>
                </a:solidFill>
                <a:latin typeface="Poppins"/>
                <a:ea typeface="Poppins"/>
                <a:cs typeface="Poppins"/>
                <a:sym typeface="Poppins"/>
              </a:rPr>
              <a:t>The direct drivers of recent global anthropogenic biodiversity loss (Jaureguiberry et al. 2022)</a:t>
            </a:r>
          </a:p>
          <a:p>
            <a:pPr algn="l" marL="431801" indent="-215900" lvl="1">
              <a:lnSpc>
                <a:spcPts val="3400"/>
              </a:lnSpc>
              <a:buFont typeface="Arial"/>
              <a:buChar char="•"/>
            </a:pPr>
            <a:r>
              <a:rPr lang="en-US" sz="2000">
                <a:solidFill>
                  <a:srgbClr val="FFFFFF"/>
                </a:solidFill>
                <a:latin typeface="Poppins"/>
                <a:ea typeface="Poppins"/>
                <a:cs typeface="Poppins"/>
                <a:sym typeface="Poppins"/>
              </a:rPr>
              <a:t>The biomass distribution on earth (Bar-On et al. 2018)</a:t>
            </a:r>
          </a:p>
          <a:p>
            <a:pPr algn="l" marL="431801" indent="-215900" lvl="1">
              <a:lnSpc>
                <a:spcPts val="3400"/>
              </a:lnSpc>
              <a:buFont typeface="Arial"/>
              <a:buChar char="•"/>
            </a:pPr>
            <a:r>
              <a:rPr lang="en-US" sz="2000">
                <a:solidFill>
                  <a:srgbClr val="FFFFFF"/>
                </a:solidFill>
                <a:latin typeface="Poppins"/>
                <a:ea typeface="Poppins"/>
                <a:cs typeface="Poppins"/>
                <a:sym typeface="Poppins"/>
              </a:rPr>
              <a:t>What are the main drivers of the current biodiversity crisis?</a:t>
            </a:r>
          </a:p>
        </p:txBody>
      </p:sp>
      <p:sp>
        <p:nvSpPr>
          <p:cNvPr name="TextBox 8" id="8"/>
          <p:cNvSpPr txBox="true"/>
          <p:nvPr/>
        </p:nvSpPr>
        <p:spPr>
          <a:xfrm rot="0">
            <a:off x="1490415" y="1751992"/>
            <a:ext cx="7019319" cy="936706"/>
          </a:xfrm>
          <a:prstGeom prst="rect">
            <a:avLst/>
          </a:prstGeom>
        </p:spPr>
        <p:txBody>
          <a:bodyPr anchor="t" rtlCol="false" tIns="0" lIns="0" bIns="0" rIns="0">
            <a:spAutoFit/>
          </a:bodyPr>
          <a:lstStyle/>
          <a:p>
            <a:pPr algn="l">
              <a:lnSpc>
                <a:spcPts val="6590"/>
              </a:lnSpc>
            </a:pPr>
            <a:r>
              <a:rPr lang="en-US" sz="6864" b="true">
                <a:solidFill>
                  <a:srgbClr val="FFFFFF"/>
                </a:solidFill>
                <a:latin typeface="Poppins Bold"/>
                <a:ea typeface="Poppins Bold"/>
                <a:cs typeface="Poppins Bold"/>
                <a:sym typeface="Poppins Bold"/>
              </a:rPr>
              <a:t>INTRODUCTION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4323"/>
        </a:solidFill>
      </p:bgPr>
    </p:bg>
    <p:spTree>
      <p:nvGrpSpPr>
        <p:cNvPr id="1" name=""/>
        <p:cNvGrpSpPr/>
        <p:nvPr/>
      </p:nvGrpSpPr>
      <p:grpSpPr>
        <a:xfrm>
          <a:off x="0" y="0"/>
          <a:ext cx="0" cy="0"/>
          <a:chOff x="0" y="0"/>
          <a:chExt cx="0" cy="0"/>
        </a:xfrm>
      </p:grpSpPr>
      <p:sp>
        <p:nvSpPr>
          <p:cNvPr name="Freeform 2" id="2"/>
          <p:cNvSpPr/>
          <p:nvPr/>
        </p:nvSpPr>
        <p:spPr>
          <a:xfrm flipH="false" flipV="false" rot="0">
            <a:off x="-498415" y="8845337"/>
            <a:ext cx="21430122" cy="1441663"/>
          </a:xfrm>
          <a:custGeom>
            <a:avLst/>
            <a:gdLst/>
            <a:ahLst/>
            <a:cxnLst/>
            <a:rect r="r" b="b" t="t" l="l"/>
            <a:pathLst>
              <a:path h="1441663" w="21430122">
                <a:moveTo>
                  <a:pt x="0" y="0"/>
                </a:moveTo>
                <a:lnTo>
                  <a:pt x="21430122" y="0"/>
                </a:lnTo>
                <a:lnTo>
                  <a:pt x="21430122" y="1441663"/>
                </a:lnTo>
                <a:lnTo>
                  <a:pt x="0" y="144166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661885" y="6575204"/>
            <a:ext cx="5453349" cy="4114800"/>
          </a:xfrm>
          <a:custGeom>
            <a:avLst/>
            <a:gdLst/>
            <a:ahLst/>
            <a:cxnLst/>
            <a:rect r="r" b="b" t="t" l="l"/>
            <a:pathLst>
              <a:path h="4114800" w="5453349">
                <a:moveTo>
                  <a:pt x="0" y="0"/>
                </a:moveTo>
                <a:lnTo>
                  <a:pt x="5453350" y="0"/>
                </a:lnTo>
                <a:lnTo>
                  <a:pt x="545335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6222219" y="8766181"/>
            <a:ext cx="4280770" cy="2218217"/>
          </a:xfrm>
          <a:custGeom>
            <a:avLst/>
            <a:gdLst/>
            <a:ahLst/>
            <a:cxnLst/>
            <a:rect r="r" b="b" t="t" l="l"/>
            <a:pathLst>
              <a:path h="2218217" w="4280770">
                <a:moveTo>
                  <a:pt x="0" y="0"/>
                </a:moveTo>
                <a:lnTo>
                  <a:pt x="4280770" y="0"/>
                </a:lnTo>
                <a:lnTo>
                  <a:pt x="4280770" y="2218217"/>
                </a:lnTo>
                <a:lnTo>
                  <a:pt x="0" y="221821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1915642" y="1352011"/>
            <a:ext cx="7228358" cy="5572009"/>
            <a:chOff x="0" y="0"/>
            <a:chExt cx="1119862" cy="863250"/>
          </a:xfrm>
        </p:grpSpPr>
        <p:sp>
          <p:nvSpPr>
            <p:cNvPr name="Freeform 6" id="6"/>
            <p:cNvSpPr/>
            <p:nvPr/>
          </p:nvSpPr>
          <p:spPr>
            <a:xfrm flipH="false" flipV="false" rot="0">
              <a:off x="0" y="0"/>
              <a:ext cx="1119862" cy="863250"/>
            </a:xfrm>
            <a:custGeom>
              <a:avLst/>
              <a:gdLst/>
              <a:ahLst/>
              <a:cxnLst/>
              <a:rect r="r" b="b" t="t" l="l"/>
              <a:pathLst>
                <a:path h="863250" w="1119862">
                  <a:moveTo>
                    <a:pt x="47126" y="0"/>
                  </a:moveTo>
                  <a:lnTo>
                    <a:pt x="1072736" y="0"/>
                  </a:lnTo>
                  <a:cubicBezTo>
                    <a:pt x="1085234" y="0"/>
                    <a:pt x="1097221" y="4965"/>
                    <a:pt x="1106059" y="13803"/>
                  </a:cubicBezTo>
                  <a:cubicBezTo>
                    <a:pt x="1114897" y="22641"/>
                    <a:pt x="1119862" y="34627"/>
                    <a:pt x="1119862" y="47126"/>
                  </a:cubicBezTo>
                  <a:lnTo>
                    <a:pt x="1119862" y="816124"/>
                  </a:lnTo>
                  <a:cubicBezTo>
                    <a:pt x="1119862" y="828623"/>
                    <a:pt x="1114897" y="840609"/>
                    <a:pt x="1106059" y="849447"/>
                  </a:cubicBezTo>
                  <a:cubicBezTo>
                    <a:pt x="1097221" y="858285"/>
                    <a:pt x="1085234" y="863250"/>
                    <a:pt x="1072736" y="863250"/>
                  </a:cubicBezTo>
                  <a:lnTo>
                    <a:pt x="47126" y="863250"/>
                  </a:lnTo>
                  <a:cubicBezTo>
                    <a:pt x="34627" y="863250"/>
                    <a:pt x="22641" y="858285"/>
                    <a:pt x="13803" y="849447"/>
                  </a:cubicBezTo>
                  <a:cubicBezTo>
                    <a:pt x="4965" y="840609"/>
                    <a:pt x="0" y="828623"/>
                    <a:pt x="0" y="816124"/>
                  </a:cubicBezTo>
                  <a:lnTo>
                    <a:pt x="0" y="47126"/>
                  </a:lnTo>
                  <a:cubicBezTo>
                    <a:pt x="0" y="34627"/>
                    <a:pt x="4965" y="22641"/>
                    <a:pt x="13803" y="13803"/>
                  </a:cubicBezTo>
                  <a:cubicBezTo>
                    <a:pt x="22641" y="4965"/>
                    <a:pt x="34627" y="0"/>
                    <a:pt x="47126" y="0"/>
                  </a:cubicBezTo>
                  <a:close/>
                </a:path>
              </a:pathLst>
            </a:custGeom>
            <a:blipFill>
              <a:blip r:embed="rId8"/>
              <a:stretch>
                <a:fillRect l="-17202" t="0" r="-17202" b="0"/>
              </a:stretch>
            </a:blipFill>
            <a:ln w="142875" cap="rnd">
              <a:solidFill>
                <a:srgbClr val="71B93A"/>
              </a:solidFill>
              <a:prstDash val="solid"/>
              <a:round/>
            </a:ln>
          </p:spPr>
        </p:sp>
      </p:grpSp>
      <p:sp>
        <p:nvSpPr>
          <p:cNvPr name="TextBox 7" id="7"/>
          <p:cNvSpPr txBox="true"/>
          <p:nvPr/>
        </p:nvSpPr>
        <p:spPr>
          <a:xfrm rot="0">
            <a:off x="9900790" y="3009840"/>
            <a:ext cx="6839640" cy="3854450"/>
          </a:xfrm>
          <a:prstGeom prst="rect">
            <a:avLst/>
          </a:prstGeom>
        </p:spPr>
        <p:txBody>
          <a:bodyPr anchor="t" rtlCol="false" tIns="0" lIns="0" bIns="0" rIns="0">
            <a:spAutoFit/>
          </a:bodyPr>
          <a:lstStyle/>
          <a:p>
            <a:pPr algn="l" marL="431801" indent="-215900" lvl="1">
              <a:lnSpc>
                <a:spcPts val="3400"/>
              </a:lnSpc>
              <a:buFont typeface="Arial"/>
              <a:buChar char="•"/>
            </a:pPr>
            <a:r>
              <a:rPr lang="en-US" sz="2000">
                <a:solidFill>
                  <a:srgbClr val="FFFFFF"/>
                </a:solidFill>
                <a:latin typeface="Poppins"/>
                <a:ea typeface="Poppins"/>
                <a:cs typeface="Poppins"/>
                <a:sym typeface="Poppins"/>
              </a:rPr>
              <a:t>Holistic analysis = a starting map to orient researchers in crisis areas</a:t>
            </a:r>
          </a:p>
          <a:p>
            <a:pPr algn="l" marL="431801" indent="-215900" lvl="1">
              <a:lnSpc>
                <a:spcPts val="3400"/>
              </a:lnSpc>
              <a:buFont typeface="Arial"/>
              <a:buChar char="•"/>
            </a:pPr>
            <a:r>
              <a:rPr lang="en-US" sz="2000">
                <a:solidFill>
                  <a:srgbClr val="FFFFFF"/>
                </a:solidFill>
                <a:latin typeface="Poppins"/>
                <a:ea typeface="Poppins"/>
                <a:cs typeface="Poppins"/>
                <a:sym typeface="Poppins"/>
              </a:rPr>
              <a:t>HOWEVER...holistic approaches can create a grey area ⟶ reductionist, problems with biases in metanalysis, require significant researcher triangulation.</a:t>
            </a:r>
          </a:p>
          <a:p>
            <a:pPr algn="l" marL="431801" indent="-215900" lvl="1">
              <a:lnSpc>
                <a:spcPts val="3400"/>
              </a:lnSpc>
              <a:buFont typeface="Arial"/>
              <a:buChar char="•"/>
            </a:pPr>
            <a:r>
              <a:rPr lang="en-US" sz="2000">
                <a:solidFill>
                  <a:srgbClr val="FFFFFF"/>
                </a:solidFill>
                <a:latin typeface="Poppins"/>
                <a:ea typeface="Poppins"/>
                <a:cs typeface="Poppins"/>
                <a:sym typeface="Poppins"/>
              </a:rPr>
              <a:t>The distribution of biomass can provide insight into potential short-term or long-term solutions.</a:t>
            </a:r>
          </a:p>
          <a:p>
            <a:pPr algn="l">
              <a:lnSpc>
                <a:spcPts val="3400"/>
              </a:lnSpc>
            </a:pPr>
          </a:p>
        </p:txBody>
      </p:sp>
      <p:sp>
        <p:nvSpPr>
          <p:cNvPr name="TextBox 8" id="8"/>
          <p:cNvSpPr txBox="true"/>
          <p:nvPr/>
        </p:nvSpPr>
        <p:spPr>
          <a:xfrm rot="0">
            <a:off x="10074168" y="1955234"/>
            <a:ext cx="7019319" cy="936706"/>
          </a:xfrm>
          <a:prstGeom prst="rect">
            <a:avLst/>
          </a:prstGeom>
        </p:spPr>
        <p:txBody>
          <a:bodyPr anchor="t" rtlCol="false" tIns="0" lIns="0" bIns="0" rIns="0">
            <a:spAutoFit/>
          </a:bodyPr>
          <a:lstStyle/>
          <a:p>
            <a:pPr algn="l">
              <a:lnSpc>
                <a:spcPts val="6590"/>
              </a:lnSpc>
            </a:pPr>
            <a:r>
              <a:rPr lang="en-US" sz="6864" b="true">
                <a:solidFill>
                  <a:srgbClr val="FFFFFF"/>
                </a:solidFill>
                <a:latin typeface="Poppins Bold"/>
                <a:ea typeface="Poppins Bold"/>
                <a:cs typeface="Poppins Bold"/>
                <a:sym typeface="Poppins Bold"/>
              </a:rPr>
              <a:t>IN BRIEF...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04323"/>
        </a:solidFill>
      </p:bgPr>
    </p:bg>
    <p:spTree>
      <p:nvGrpSpPr>
        <p:cNvPr id="1" name=""/>
        <p:cNvGrpSpPr/>
        <p:nvPr/>
      </p:nvGrpSpPr>
      <p:grpSpPr>
        <a:xfrm>
          <a:off x="0" y="0"/>
          <a:ext cx="0" cy="0"/>
          <a:chOff x="0" y="0"/>
          <a:chExt cx="0" cy="0"/>
        </a:xfrm>
      </p:grpSpPr>
      <p:sp>
        <p:nvSpPr>
          <p:cNvPr name="Freeform 2" id="2"/>
          <p:cNvSpPr/>
          <p:nvPr/>
        </p:nvSpPr>
        <p:spPr>
          <a:xfrm flipH="false" flipV="false" rot="0">
            <a:off x="-498415" y="8845337"/>
            <a:ext cx="21430122" cy="1441663"/>
          </a:xfrm>
          <a:custGeom>
            <a:avLst/>
            <a:gdLst/>
            <a:ahLst/>
            <a:cxnLst/>
            <a:rect r="r" b="b" t="t" l="l"/>
            <a:pathLst>
              <a:path h="1441663" w="21430122">
                <a:moveTo>
                  <a:pt x="0" y="0"/>
                </a:moveTo>
                <a:lnTo>
                  <a:pt x="21430122" y="0"/>
                </a:lnTo>
                <a:lnTo>
                  <a:pt x="21430122" y="1441663"/>
                </a:lnTo>
                <a:lnTo>
                  <a:pt x="0" y="144166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222219" y="8766181"/>
            <a:ext cx="4280770" cy="2218217"/>
          </a:xfrm>
          <a:custGeom>
            <a:avLst/>
            <a:gdLst/>
            <a:ahLst/>
            <a:cxnLst/>
            <a:rect r="r" b="b" t="t" l="l"/>
            <a:pathLst>
              <a:path h="2218217" w="4280770">
                <a:moveTo>
                  <a:pt x="0" y="0"/>
                </a:moveTo>
                <a:lnTo>
                  <a:pt x="4280770" y="0"/>
                </a:lnTo>
                <a:lnTo>
                  <a:pt x="4280770" y="2218217"/>
                </a:lnTo>
                <a:lnTo>
                  <a:pt x="0" y="221821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845001" y="2100205"/>
            <a:ext cx="5859012" cy="5925586"/>
            <a:chOff x="0" y="0"/>
            <a:chExt cx="1543114" cy="1560648"/>
          </a:xfrm>
        </p:grpSpPr>
        <p:sp>
          <p:nvSpPr>
            <p:cNvPr name="Freeform 5" id="5"/>
            <p:cNvSpPr/>
            <p:nvPr/>
          </p:nvSpPr>
          <p:spPr>
            <a:xfrm flipH="false" flipV="false" rot="0">
              <a:off x="0" y="0"/>
              <a:ext cx="1543114" cy="1560648"/>
            </a:xfrm>
            <a:custGeom>
              <a:avLst/>
              <a:gdLst/>
              <a:ahLst/>
              <a:cxnLst/>
              <a:rect r="r" b="b" t="t" l="l"/>
              <a:pathLst>
                <a:path h="1560648" w="1543114">
                  <a:moveTo>
                    <a:pt x="67390" y="0"/>
                  </a:moveTo>
                  <a:lnTo>
                    <a:pt x="1475724" y="0"/>
                  </a:lnTo>
                  <a:cubicBezTo>
                    <a:pt x="1493597" y="0"/>
                    <a:pt x="1510738" y="7100"/>
                    <a:pt x="1523376" y="19738"/>
                  </a:cubicBezTo>
                  <a:cubicBezTo>
                    <a:pt x="1536014" y="32376"/>
                    <a:pt x="1543114" y="49517"/>
                    <a:pt x="1543114" y="67390"/>
                  </a:cubicBezTo>
                  <a:lnTo>
                    <a:pt x="1543114" y="1493258"/>
                  </a:lnTo>
                  <a:cubicBezTo>
                    <a:pt x="1543114" y="1530477"/>
                    <a:pt x="1512943" y="1560648"/>
                    <a:pt x="1475724" y="1560648"/>
                  </a:cubicBezTo>
                  <a:lnTo>
                    <a:pt x="67390" y="1560648"/>
                  </a:lnTo>
                  <a:cubicBezTo>
                    <a:pt x="49517" y="1560648"/>
                    <a:pt x="32376" y="1553548"/>
                    <a:pt x="19738" y="1540910"/>
                  </a:cubicBezTo>
                  <a:cubicBezTo>
                    <a:pt x="7100" y="1528272"/>
                    <a:pt x="0" y="1511131"/>
                    <a:pt x="0" y="1493258"/>
                  </a:cubicBezTo>
                  <a:lnTo>
                    <a:pt x="0" y="67390"/>
                  </a:lnTo>
                  <a:cubicBezTo>
                    <a:pt x="0" y="30171"/>
                    <a:pt x="30171" y="0"/>
                    <a:pt x="67390" y="0"/>
                  </a:cubicBezTo>
                  <a:close/>
                </a:path>
              </a:pathLst>
            </a:custGeom>
            <a:solidFill>
              <a:srgbClr val="438E20"/>
            </a:solidFill>
          </p:spPr>
        </p:sp>
        <p:sp>
          <p:nvSpPr>
            <p:cNvPr name="TextBox 6" id="6"/>
            <p:cNvSpPr txBox="true"/>
            <p:nvPr/>
          </p:nvSpPr>
          <p:spPr>
            <a:xfrm>
              <a:off x="0" y="-76200"/>
              <a:ext cx="1543114" cy="1636848"/>
            </a:xfrm>
            <a:prstGeom prst="rect">
              <a:avLst/>
            </a:prstGeom>
          </p:spPr>
          <p:txBody>
            <a:bodyPr anchor="ctr" rtlCol="false" tIns="50800" lIns="50800" bIns="50800" rIns="50800"/>
            <a:lstStyle/>
            <a:p>
              <a:pPr algn="ctr">
                <a:lnSpc>
                  <a:spcPts val="3496"/>
                </a:lnSpc>
              </a:pPr>
            </a:p>
          </p:txBody>
        </p:sp>
      </p:grpSp>
      <p:grpSp>
        <p:nvGrpSpPr>
          <p:cNvPr name="Group 7" id="7"/>
          <p:cNvGrpSpPr/>
          <p:nvPr/>
        </p:nvGrpSpPr>
        <p:grpSpPr>
          <a:xfrm rot="0">
            <a:off x="11190173" y="2482231"/>
            <a:ext cx="1163798" cy="1159582"/>
            <a:chOff x="0" y="0"/>
            <a:chExt cx="882757" cy="879559"/>
          </a:xfrm>
        </p:grpSpPr>
        <p:sp>
          <p:nvSpPr>
            <p:cNvPr name="Freeform 8" id="8"/>
            <p:cNvSpPr/>
            <p:nvPr/>
          </p:nvSpPr>
          <p:spPr>
            <a:xfrm flipH="false" flipV="false" rot="0">
              <a:off x="0" y="0"/>
              <a:ext cx="882757" cy="879559"/>
            </a:xfrm>
            <a:custGeom>
              <a:avLst/>
              <a:gdLst/>
              <a:ahLst/>
              <a:cxnLst/>
              <a:rect r="r" b="b" t="t" l="l"/>
              <a:pathLst>
                <a:path h="879559" w="882757">
                  <a:moveTo>
                    <a:pt x="441378" y="0"/>
                  </a:moveTo>
                  <a:cubicBezTo>
                    <a:pt x="197612" y="0"/>
                    <a:pt x="0" y="196896"/>
                    <a:pt x="0" y="439780"/>
                  </a:cubicBezTo>
                  <a:cubicBezTo>
                    <a:pt x="0" y="682663"/>
                    <a:pt x="197612" y="879559"/>
                    <a:pt x="441378" y="879559"/>
                  </a:cubicBezTo>
                  <a:cubicBezTo>
                    <a:pt x="685145" y="879559"/>
                    <a:pt x="882757" y="682663"/>
                    <a:pt x="882757" y="439780"/>
                  </a:cubicBezTo>
                  <a:cubicBezTo>
                    <a:pt x="882757" y="196896"/>
                    <a:pt x="685145" y="0"/>
                    <a:pt x="441378" y="0"/>
                  </a:cubicBezTo>
                  <a:close/>
                </a:path>
              </a:pathLst>
            </a:custGeom>
            <a:solidFill>
              <a:srgbClr val="438E20"/>
            </a:solidFill>
          </p:spPr>
        </p:sp>
        <p:sp>
          <p:nvSpPr>
            <p:cNvPr name="TextBox 9" id="9"/>
            <p:cNvSpPr txBox="true"/>
            <p:nvPr/>
          </p:nvSpPr>
          <p:spPr>
            <a:xfrm>
              <a:off x="82758" y="-50891"/>
              <a:ext cx="717240" cy="847992"/>
            </a:xfrm>
            <a:prstGeom prst="rect">
              <a:avLst/>
            </a:prstGeom>
          </p:spPr>
          <p:txBody>
            <a:bodyPr anchor="ctr" rtlCol="false" tIns="50800" lIns="50800" bIns="50800" rIns="50800"/>
            <a:lstStyle/>
            <a:p>
              <a:pPr algn="ctr">
                <a:lnSpc>
                  <a:spcPts val="4711"/>
                </a:lnSpc>
              </a:pPr>
              <a:r>
                <a:rPr lang="en-US" sz="3099">
                  <a:solidFill>
                    <a:srgbClr val="FFFFFF"/>
                  </a:solidFill>
                  <a:latin typeface="Poppins"/>
                  <a:ea typeface="Poppins"/>
                  <a:cs typeface="Poppins"/>
                  <a:sym typeface="Poppins"/>
                </a:rPr>
                <a:t>VS</a:t>
              </a:r>
            </a:p>
          </p:txBody>
        </p:sp>
      </p:grpSp>
      <p:sp>
        <p:nvSpPr>
          <p:cNvPr name="Freeform 10" id="10"/>
          <p:cNvSpPr/>
          <p:nvPr/>
        </p:nvSpPr>
        <p:spPr>
          <a:xfrm flipH="false" flipV="false" rot="0">
            <a:off x="8658952" y="5143500"/>
            <a:ext cx="6902956" cy="3096557"/>
          </a:xfrm>
          <a:custGeom>
            <a:avLst/>
            <a:gdLst/>
            <a:ahLst/>
            <a:cxnLst/>
            <a:rect r="r" b="b" t="t" l="l"/>
            <a:pathLst>
              <a:path h="3096557" w="6902956">
                <a:moveTo>
                  <a:pt x="0" y="0"/>
                </a:moveTo>
                <a:lnTo>
                  <a:pt x="6902956" y="0"/>
                </a:lnTo>
                <a:lnTo>
                  <a:pt x="6902956" y="3096557"/>
                </a:lnTo>
                <a:lnTo>
                  <a:pt x="0" y="3096557"/>
                </a:lnTo>
                <a:lnTo>
                  <a:pt x="0" y="0"/>
                </a:lnTo>
                <a:close/>
              </a:path>
            </a:pathLst>
          </a:custGeom>
          <a:blipFill>
            <a:blip r:embed="rId6"/>
            <a:stretch>
              <a:fillRect l="0" t="0" r="0" b="-34726"/>
            </a:stretch>
          </a:blipFill>
          <a:ln w="85725" cap="sq">
            <a:solidFill>
              <a:srgbClr val="438E20"/>
            </a:solidFill>
            <a:prstDash val="solid"/>
            <a:miter/>
          </a:ln>
        </p:spPr>
      </p:sp>
      <p:sp>
        <p:nvSpPr>
          <p:cNvPr name="TextBox 11" id="11"/>
          <p:cNvSpPr txBox="true"/>
          <p:nvPr/>
        </p:nvSpPr>
        <p:spPr>
          <a:xfrm rot="0">
            <a:off x="7291786" y="2377456"/>
            <a:ext cx="3530928" cy="2549327"/>
          </a:xfrm>
          <a:prstGeom prst="rect">
            <a:avLst/>
          </a:prstGeom>
        </p:spPr>
        <p:txBody>
          <a:bodyPr anchor="t" rtlCol="false" tIns="0" lIns="0" bIns="0" rIns="0">
            <a:spAutoFit/>
          </a:bodyPr>
          <a:lstStyle/>
          <a:p>
            <a:pPr algn="ctr" marL="432473" indent="-216236" lvl="1">
              <a:lnSpc>
                <a:spcPts val="3405"/>
              </a:lnSpc>
              <a:buFont typeface="Arial"/>
              <a:buChar char="•"/>
            </a:pPr>
            <a:r>
              <a:rPr lang="en-US" sz="2003">
                <a:solidFill>
                  <a:srgbClr val="FFFFFF"/>
                </a:solidFill>
                <a:latin typeface="Poppins"/>
                <a:ea typeface="Poppins"/>
                <a:cs typeface="Poppins"/>
                <a:sym typeface="Poppins"/>
              </a:rPr>
              <a:t>Di</a:t>
            </a:r>
            <a:r>
              <a:rPr lang="en-US" sz="2003" strike="noStrike" u="none">
                <a:solidFill>
                  <a:srgbClr val="FFFFFF"/>
                </a:solidFill>
                <a:latin typeface="Poppins"/>
                <a:ea typeface="Poppins"/>
                <a:cs typeface="Poppins"/>
                <a:sym typeface="Poppins"/>
              </a:rPr>
              <a:t>re</a:t>
            </a:r>
            <a:r>
              <a:rPr lang="en-US" sz="2003" strike="noStrike" u="none">
                <a:solidFill>
                  <a:srgbClr val="FFFFFF"/>
                </a:solidFill>
                <a:latin typeface="Poppins"/>
                <a:ea typeface="Poppins"/>
                <a:cs typeface="Poppins"/>
                <a:sym typeface="Poppins"/>
              </a:rPr>
              <a:t>ct</a:t>
            </a:r>
            <a:r>
              <a:rPr lang="en-US" sz="2003" strike="noStrike" u="none">
                <a:solidFill>
                  <a:srgbClr val="FFFFFF"/>
                </a:solidFill>
                <a:latin typeface="Poppins"/>
                <a:ea typeface="Poppins"/>
                <a:cs typeface="Poppins"/>
                <a:sym typeface="Poppins"/>
              </a:rPr>
              <a:t> </a:t>
            </a:r>
            <a:r>
              <a:rPr lang="en-US" sz="2003" strike="noStrike" u="none">
                <a:solidFill>
                  <a:srgbClr val="FFFFFF"/>
                </a:solidFill>
                <a:latin typeface="Poppins"/>
                <a:ea typeface="Poppins"/>
                <a:cs typeface="Poppins"/>
                <a:sym typeface="Poppins"/>
              </a:rPr>
              <a:t>→</a:t>
            </a:r>
            <a:r>
              <a:rPr lang="en-US" sz="2003" strike="noStrike" u="none">
                <a:solidFill>
                  <a:srgbClr val="FFFFFF"/>
                </a:solidFill>
                <a:latin typeface="Poppins"/>
                <a:ea typeface="Poppins"/>
                <a:cs typeface="Poppins"/>
                <a:sym typeface="Poppins"/>
              </a:rPr>
              <a:t> </a:t>
            </a:r>
            <a:r>
              <a:rPr lang="en-US" sz="2003" strike="noStrike" u="none">
                <a:solidFill>
                  <a:srgbClr val="FFFFFF"/>
                </a:solidFill>
                <a:latin typeface="Poppins"/>
                <a:ea typeface="Poppins"/>
                <a:cs typeface="Poppins"/>
                <a:sym typeface="Poppins"/>
              </a:rPr>
              <a:t>C</a:t>
            </a:r>
            <a:r>
              <a:rPr lang="en-US" sz="2003" strike="noStrike" u="none">
                <a:solidFill>
                  <a:srgbClr val="FFFFFF"/>
                </a:solidFill>
                <a:latin typeface="Poppins"/>
                <a:ea typeface="Poppins"/>
                <a:cs typeface="Poppins"/>
                <a:sym typeface="Poppins"/>
              </a:rPr>
              <a:t>r</a:t>
            </a:r>
            <a:r>
              <a:rPr lang="en-US" sz="2003" strike="noStrike" u="none">
                <a:solidFill>
                  <a:srgbClr val="FFFFFF"/>
                </a:solidFill>
                <a:latin typeface="Poppins"/>
                <a:ea typeface="Poppins"/>
                <a:cs typeface="Poppins"/>
                <a:sym typeface="Poppins"/>
              </a:rPr>
              <a:t>ea</a:t>
            </a:r>
            <a:r>
              <a:rPr lang="en-US" sz="2003" strike="noStrike" u="none">
                <a:solidFill>
                  <a:srgbClr val="FFFFFF"/>
                </a:solidFill>
                <a:latin typeface="Poppins"/>
                <a:ea typeface="Poppins"/>
                <a:cs typeface="Poppins"/>
                <a:sym typeface="Poppins"/>
              </a:rPr>
              <a:t>t</a:t>
            </a:r>
            <a:r>
              <a:rPr lang="en-US" sz="2003" strike="noStrike" u="none">
                <a:solidFill>
                  <a:srgbClr val="FFFFFF"/>
                </a:solidFill>
                <a:latin typeface="Poppins"/>
                <a:ea typeface="Poppins"/>
                <a:cs typeface="Poppins"/>
                <a:sym typeface="Poppins"/>
              </a:rPr>
              <a:t>e</a:t>
            </a:r>
            <a:r>
              <a:rPr lang="en-US" sz="2003" strike="noStrike" u="none">
                <a:solidFill>
                  <a:srgbClr val="FFFFFF"/>
                </a:solidFill>
                <a:latin typeface="Poppins"/>
                <a:ea typeface="Poppins"/>
                <a:cs typeface="Poppins"/>
                <a:sym typeface="Poppins"/>
              </a:rPr>
              <a:t> </a:t>
            </a:r>
            <a:r>
              <a:rPr lang="en-US" sz="2003" strike="noStrike" u="none">
                <a:solidFill>
                  <a:srgbClr val="FFFFFF"/>
                </a:solidFill>
                <a:latin typeface="Poppins"/>
                <a:ea typeface="Poppins"/>
                <a:cs typeface="Poppins"/>
                <a:sym typeface="Poppins"/>
              </a:rPr>
              <a:t>im</a:t>
            </a:r>
            <a:r>
              <a:rPr lang="en-US" sz="2003" strike="noStrike" u="none">
                <a:solidFill>
                  <a:srgbClr val="FFFFFF"/>
                </a:solidFill>
                <a:latin typeface="Poppins"/>
                <a:ea typeface="Poppins"/>
                <a:cs typeface="Poppins"/>
                <a:sym typeface="Poppins"/>
              </a:rPr>
              <a:t>me</a:t>
            </a:r>
            <a:r>
              <a:rPr lang="en-US" sz="2003" strike="noStrike" u="none">
                <a:solidFill>
                  <a:srgbClr val="FFFFFF"/>
                </a:solidFill>
                <a:latin typeface="Poppins"/>
                <a:ea typeface="Poppins"/>
                <a:cs typeface="Poppins"/>
                <a:sym typeface="Poppins"/>
              </a:rPr>
              <a:t>dia</a:t>
            </a:r>
            <a:r>
              <a:rPr lang="en-US" sz="2003" strike="noStrike" u="none">
                <a:solidFill>
                  <a:srgbClr val="FFFFFF"/>
                </a:solidFill>
                <a:latin typeface="Poppins"/>
                <a:ea typeface="Poppins"/>
                <a:cs typeface="Poppins"/>
                <a:sym typeface="Poppins"/>
              </a:rPr>
              <a:t>t</a:t>
            </a:r>
            <a:r>
              <a:rPr lang="en-US" sz="2003" strike="noStrike" u="none">
                <a:solidFill>
                  <a:srgbClr val="FFFFFF"/>
                </a:solidFill>
                <a:latin typeface="Poppins"/>
                <a:ea typeface="Poppins"/>
                <a:cs typeface="Poppins"/>
                <a:sym typeface="Poppins"/>
              </a:rPr>
              <a:t>e</a:t>
            </a:r>
            <a:r>
              <a:rPr lang="en-US" sz="2003" strike="noStrike" u="none">
                <a:solidFill>
                  <a:srgbClr val="FFFFFF"/>
                </a:solidFill>
                <a:latin typeface="Poppins"/>
                <a:ea typeface="Poppins"/>
                <a:cs typeface="Poppins"/>
                <a:sym typeface="Poppins"/>
              </a:rPr>
              <a:t> </a:t>
            </a:r>
            <a:r>
              <a:rPr lang="en-US" sz="2003" strike="noStrike" u="none">
                <a:solidFill>
                  <a:srgbClr val="FFFFFF"/>
                </a:solidFill>
                <a:latin typeface="Poppins"/>
                <a:ea typeface="Poppins"/>
                <a:cs typeface="Poppins"/>
                <a:sym typeface="Poppins"/>
              </a:rPr>
              <a:t>fa</a:t>
            </a:r>
            <a:r>
              <a:rPr lang="en-US" sz="2003" strike="noStrike" u="none">
                <a:solidFill>
                  <a:srgbClr val="FFFFFF"/>
                </a:solidFill>
                <a:latin typeface="Poppins"/>
                <a:ea typeface="Poppins"/>
                <a:cs typeface="Poppins"/>
                <a:sym typeface="Poppins"/>
              </a:rPr>
              <a:t>c</a:t>
            </a:r>
            <a:r>
              <a:rPr lang="en-US" sz="2003" strike="noStrike" u="none">
                <a:solidFill>
                  <a:srgbClr val="FFFFFF"/>
                </a:solidFill>
                <a:latin typeface="Poppins"/>
                <a:ea typeface="Poppins"/>
                <a:cs typeface="Poppins"/>
                <a:sym typeface="Poppins"/>
              </a:rPr>
              <a:t>t</a:t>
            </a:r>
            <a:r>
              <a:rPr lang="en-US" sz="2003" strike="noStrike" u="none">
                <a:solidFill>
                  <a:srgbClr val="FFFFFF"/>
                </a:solidFill>
                <a:latin typeface="Poppins"/>
                <a:ea typeface="Poppins"/>
                <a:cs typeface="Poppins"/>
                <a:sym typeface="Poppins"/>
              </a:rPr>
              <a:t>o</a:t>
            </a:r>
            <a:r>
              <a:rPr lang="en-US" sz="2003" strike="noStrike" u="none">
                <a:solidFill>
                  <a:srgbClr val="FFFFFF"/>
                </a:solidFill>
                <a:latin typeface="Poppins"/>
                <a:ea typeface="Poppins"/>
                <a:cs typeface="Poppins"/>
                <a:sym typeface="Poppins"/>
              </a:rPr>
              <a:t>r</a:t>
            </a:r>
            <a:r>
              <a:rPr lang="en-US" sz="2003" strike="noStrike" u="none">
                <a:solidFill>
                  <a:srgbClr val="FFFFFF"/>
                </a:solidFill>
                <a:latin typeface="Poppins"/>
                <a:ea typeface="Poppins"/>
                <a:cs typeface="Poppins"/>
                <a:sym typeface="Poppins"/>
              </a:rPr>
              <a:t>s</a:t>
            </a:r>
            <a:r>
              <a:rPr lang="en-US" sz="2003" strike="noStrike" u="none">
                <a:solidFill>
                  <a:srgbClr val="FFFFFF"/>
                </a:solidFill>
                <a:latin typeface="Poppins"/>
                <a:ea typeface="Poppins"/>
                <a:cs typeface="Poppins"/>
                <a:sym typeface="Poppins"/>
              </a:rPr>
              <a:t>: ov</a:t>
            </a:r>
            <a:r>
              <a:rPr lang="en-US" sz="2003" strike="noStrike" u="none">
                <a:solidFill>
                  <a:srgbClr val="FFFFFF"/>
                </a:solidFill>
                <a:latin typeface="Poppins"/>
                <a:ea typeface="Poppins"/>
                <a:cs typeface="Poppins"/>
                <a:sym typeface="Poppins"/>
              </a:rPr>
              <a:t>e</a:t>
            </a:r>
            <a:r>
              <a:rPr lang="en-US" sz="2003" strike="noStrike" u="none">
                <a:solidFill>
                  <a:srgbClr val="FFFFFF"/>
                </a:solidFill>
                <a:latin typeface="Poppins"/>
                <a:ea typeface="Poppins"/>
                <a:cs typeface="Poppins"/>
                <a:sym typeface="Poppins"/>
              </a:rPr>
              <a:t>r-</a:t>
            </a:r>
            <a:r>
              <a:rPr lang="en-US" sz="2003" strike="noStrike" u="none">
                <a:solidFill>
                  <a:srgbClr val="FFFFFF"/>
                </a:solidFill>
                <a:latin typeface="Poppins"/>
                <a:ea typeface="Poppins"/>
                <a:cs typeface="Poppins"/>
                <a:sym typeface="Poppins"/>
              </a:rPr>
              <a:t>e</a:t>
            </a:r>
            <a:r>
              <a:rPr lang="en-US" sz="2003" strike="noStrike" u="none">
                <a:solidFill>
                  <a:srgbClr val="FFFFFF"/>
                </a:solidFill>
                <a:latin typeface="Poppins"/>
                <a:ea typeface="Poppins"/>
                <a:cs typeface="Poppins"/>
                <a:sym typeface="Poppins"/>
              </a:rPr>
              <a:t>x</a:t>
            </a:r>
            <a:r>
              <a:rPr lang="en-US" sz="2003" strike="noStrike" u="none">
                <a:solidFill>
                  <a:srgbClr val="FFFFFF"/>
                </a:solidFill>
                <a:latin typeface="Poppins"/>
                <a:ea typeface="Poppins"/>
                <a:cs typeface="Poppins"/>
                <a:sym typeface="Poppins"/>
              </a:rPr>
              <a:t>pl</a:t>
            </a:r>
            <a:r>
              <a:rPr lang="en-US" sz="2003" strike="noStrike" u="none">
                <a:solidFill>
                  <a:srgbClr val="FFFFFF"/>
                </a:solidFill>
                <a:latin typeface="Poppins"/>
                <a:ea typeface="Poppins"/>
                <a:cs typeface="Poppins"/>
                <a:sym typeface="Poppins"/>
              </a:rPr>
              <a:t>o</a:t>
            </a:r>
            <a:r>
              <a:rPr lang="en-US" sz="2003" strike="noStrike" u="none">
                <a:solidFill>
                  <a:srgbClr val="FFFFFF"/>
                </a:solidFill>
                <a:latin typeface="Poppins"/>
                <a:ea typeface="Poppins"/>
                <a:cs typeface="Poppins"/>
                <a:sym typeface="Poppins"/>
              </a:rPr>
              <a:t>itati</a:t>
            </a:r>
            <a:r>
              <a:rPr lang="en-US" sz="2003" strike="noStrike" u="none">
                <a:solidFill>
                  <a:srgbClr val="FFFFFF"/>
                </a:solidFill>
                <a:latin typeface="Poppins"/>
                <a:ea typeface="Poppins"/>
                <a:cs typeface="Poppins"/>
                <a:sym typeface="Poppins"/>
              </a:rPr>
              <a:t>on,</a:t>
            </a:r>
            <a:r>
              <a:rPr lang="en-US" sz="2003" strike="noStrike" u="none">
                <a:solidFill>
                  <a:srgbClr val="FFFFFF"/>
                </a:solidFill>
                <a:latin typeface="Poppins"/>
                <a:ea typeface="Poppins"/>
                <a:cs typeface="Poppins"/>
                <a:sym typeface="Poppins"/>
              </a:rPr>
              <a:t> </a:t>
            </a:r>
            <a:r>
              <a:rPr lang="en-US" sz="2003" strike="noStrike" u="none">
                <a:solidFill>
                  <a:srgbClr val="FFFFFF"/>
                </a:solidFill>
                <a:latin typeface="Poppins"/>
                <a:ea typeface="Poppins"/>
                <a:cs typeface="Poppins"/>
                <a:sym typeface="Poppins"/>
              </a:rPr>
              <a:t>pol</a:t>
            </a:r>
            <a:r>
              <a:rPr lang="en-US" sz="2003" strike="noStrike" u="none">
                <a:solidFill>
                  <a:srgbClr val="FFFFFF"/>
                </a:solidFill>
                <a:latin typeface="Poppins"/>
                <a:ea typeface="Poppins"/>
                <a:cs typeface="Poppins"/>
                <a:sym typeface="Poppins"/>
              </a:rPr>
              <a:t>luti</a:t>
            </a:r>
            <a:r>
              <a:rPr lang="en-US" sz="2003" strike="noStrike" u="none">
                <a:solidFill>
                  <a:srgbClr val="FFFFFF"/>
                </a:solidFill>
                <a:latin typeface="Poppins"/>
                <a:ea typeface="Poppins"/>
                <a:cs typeface="Poppins"/>
                <a:sym typeface="Poppins"/>
              </a:rPr>
              <a:t>on,</a:t>
            </a:r>
            <a:r>
              <a:rPr lang="en-US" sz="2003" strike="noStrike" u="none">
                <a:solidFill>
                  <a:srgbClr val="FFFFFF"/>
                </a:solidFill>
                <a:latin typeface="Poppins"/>
                <a:ea typeface="Poppins"/>
                <a:cs typeface="Poppins"/>
                <a:sym typeface="Poppins"/>
              </a:rPr>
              <a:t> in</a:t>
            </a:r>
            <a:r>
              <a:rPr lang="en-US" sz="2003" strike="noStrike" u="none">
                <a:solidFill>
                  <a:srgbClr val="FFFFFF"/>
                </a:solidFill>
                <a:latin typeface="Poppins"/>
                <a:ea typeface="Poppins"/>
                <a:cs typeface="Poppins"/>
                <a:sym typeface="Poppins"/>
              </a:rPr>
              <a:t>v</a:t>
            </a:r>
            <a:r>
              <a:rPr lang="en-US" sz="2003" strike="noStrike" u="none">
                <a:solidFill>
                  <a:srgbClr val="FFFFFF"/>
                </a:solidFill>
                <a:latin typeface="Poppins"/>
                <a:ea typeface="Poppins"/>
                <a:cs typeface="Poppins"/>
                <a:sym typeface="Poppins"/>
              </a:rPr>
              <a:t>asi</a:t>
            </a:r>
            <a:r>
              <a:rPr lang="en-US" sz="2003" strike="noStrike" u="none">
                <a:solidFill>
                  <a:srgbClr val="FFFFFF"/>
                </a:solidFill>
                <a:latin typeface="Poppins"/>
                <a:ea typeface="Poppins"/>
                <a:cs typeface="Poppins"/>
                <a:sym typeface="Poppins"/>
              </a:rPr>
              <a:t>v</a:t>
            </a:r>
            <a:r>
              <a:rPr lang="en-US" sz="2003" strike="noStrike" u="none">
                <a:solidFill>
                  <a:srgbClr val="FFFFFF"/>
                </a:solidFill>
                <a:latin typeface="Poppins"/>
                <a:ea typeface="Poppins"/>
                <a:cs typeface="Poppins"/>
                <a:sym typeface="Poppins"/>
              </a:rPr>
              <a:t>e s</a:t>
            </a:r>
            <a:r>
              <a:rPr lang="en-US" sz="2003" strike="noStrike" u="none">
                <a:solidFill>
                  <a:srgbClr val="FFFFFF"/>
                </a:solidFill>
                <a:latin typeface="Poppins"/>
                <a:ea typeface="Poppins"/>
                <a:cs typeface="Poppins"/>
                <a:sym typeface="Poppins"/>
              </a:rPr>
              <a:t>pecie</a:t>
            </a:r>
            <a:r>
              <a:rPr lang="en-US" sz="2003" strike="noStrike" u="none">
                <a:solidFill>
                  <a:srgbClr val="FFFFFF"/>
                </a:solidFill>
                <a:latin typeface="Poppins"/>
                <a:ea typeface="Poppins"/>
                <a:cs typeface="Poppins"/>
                <a:sym typeface="Poppins"/>
              </a:rPr>
              <a:t>s, </a:t>
            </a:r>
            <a:r>
              <a:rPr lang="en-US" sz="2003" strike="noStrike" u="none">
                <a:solidFill>
                  <a:srgbClr val="FFFFFF"/>
                </a:solidFill>
                <a:latin typeface="Poppins"/>
                <a:ea typeface="Poppins"/>
                <a:cs typeface="Poppins"/>
                <a:sym typeface="Poppins"/>
              </a:rPr>
              <a:t>clim</a:t>
            </a:r>
            <a:r>
              <a:rPr lang="en-US" sz="2003" strike="noStrike" u="none">
                <a:solidFill>
                  <a:srgbClr val="FFFFFF"/>
                </a:solidFill>
                <a:latin typeface="Poppins"/>
                <a:ea typeface="Poppins"/>
                <a:cs typeface="Poppins"/>
                <a:sym typeface="Poppins"/>
              </a:rPr>
              <a:t>at</a:t>
            </a:r>
            <a:r>
              <a:rPr lang="en-US" sz="2003" strike="noStrike" u="none">
                <a:solidFill>
                  <a:srgbClr val="FFFFFF"/>
                </a:solidFill>
                <a:latin typeface="Poppins"/>
                <a:ea typeface="Poppins"/>
                <a:cs typeface="Poppins"/>
                <a:sym typeface="Poppins"/>
              </a:rPr>
              <a:t>e</a:t>
            </a:r>
            <a:r>
              <a:rPr lang="en-US" sz="2003" strike="noStrike" u="none">
                <a:solidFill>
                  <a:srgbClr val="FFFFFF"/>
                </a:solidFill>
                <a:latin typeface="Poppins"/>
                <a:ea typeface="Poppins"/>
                <a:cs typeface="Poppins"/>
                <a:sym typeface="Poppins"/>
              </a:rPr>
              <a:t> </a:t>
            </a:r>
            <a:r>
              <a:rPr lang="en-US" sz="2003" strike="noStrike" u="none">
                <a:solidFill>
                  <a:srgbClr val="FFFFFF"/>
                </a:solidFill>
                <a:latin typeface="Poppins"/>
                <a:ea typeface="Poppins"/>
                <a:cs typeface="Poppins"/>
                <a:sym typeface="Poppins"/>
              </a:rPr>
              <a:t>c</a:t>
            </a:r>
            <a:r>
              <a:rPr lang="en-US" sz="2003" strike="noStrike" u="none">
                <a:solidFill>
                  <a:srgbClr val="FFFFFF"/>
                </a:solidFill>
                <a:latin typeface="Poppins"/>
                <a:ea typeface="Poppins"/>
                <a:cs typeface="Poppins"/>
                <a:sym typeface="Poppins"/>
              </a:rPr>
              <a:t>ha</a:t>
            </a:r>
            <a:r>
              <a:rPr lang="en-US" sz="2003" strike="noStrike" u="none">
                <a:solidFill>
                  <a:srgbClr val="FFFFFF"/>
                </a:solidFill>
                <a:latin typeface="Poppins"/>
                <a:ea typeface="Poppins"/>
                <a:cs typeface="Poppins"/>
                <a:sym typeface="Poppins"/>
              </a:rPr>
              <a:t>ng</a:t>
            </a:r>
            <a:r>
              <a:rPr lang="en-US" sz="2003" strike="noStrike" u="none">
                <a:solidFill>
                  <a:srgbClr val="FFFFFF"/>
                </a:solidFill>
                <a:latin typeface="Poppins"/>
                <a:ea typeface="Poppins"/>
                <a:cs typeface="Poppins"/>
                <a:sym typeface="Poppins"/>
              </a:rPr>
              <a:t>e</a:t>
            </a:r>
          </a:p>
        </p:txBody>
      </p:sp>
      <p:sp>
        <p:nvSpPr>
          <p:cNvPr name="TextBox 12" id="12"/>
          <p:cNvSpPr txBox="true"/>
          <p:nvPr/>
        </p:nvSpPr>
        <p:spPr>
          <a:xfrm rot="0">
            <a:off x="2726092" y="733097"/>
            <a:ext cx="12835816" cy="933142"/>
          </a:xfrm>
          <a:prstGeom prst="rect">
            <a:avLst/>
          </a:prstGeom>
        </p:spPr>
        <p:txBody>
          <a:bodyPr anchor="t" rtlCol="false" tIns="0" lIns="0" bIns="0" rIns="0">
            <a:spAutoFit/>
          </a:bodyPr>
          <a:lstStyle/>
          <a:p>
            <a:pPr algn="ctr">
              <a:lnSpc>
                <a:spcPts val="6590"/>
              </a:lnSpc>
            </a:pPr>
            <a:r>
              <a:rPr lang="en-US" b="true" sz="6864">
                <a:solidFill>
                  <a:srgbClr val="FFFFFF"/>
                </a:solidFill>
                <a:latin typeface="Poppins Bold"/>
                <a:ea typeface="Poppins Bold"/>
                <a:cs typeface="Poppins Bold"/>
                <a:sym typeface="Poppins Bold"/>
              </a:rPr>
              <a:t>THE BIODIVERSITY CRISIS</a:t>
            </a:r>
          </a:p>
        </p:txBody>
      </p:sp>
      <p:sp>
        <p:nvSpPr>
          <p:cNvPr name="TextBox 13" id="13"/>
          <p:cNvSpPr txBox="true"/>
          <p:nvPr/>
        </p:nvSpPr>
        <p:spPr>
          <a:xfrm rot="0">
            <a:off x="7282752" y="1863028"/>
            <a:ext cx="4107558" cy="396472"/>
          </a:xfrm>
          <a:prstGeom prst="rect">
            <a:avLst/>
          </a:prstGeom>
        </p:spPr>
        <p:txBody>
          <a:bodyPr anchor="t" rtlCol="false" tIns="0" lIns="0" bIns="0" rIns="0">
            <a:spAutoFit/>
          </a:bodyPr>
          <a:lstStyle/>
          <a:p>
            <a:pPr algn="ctr">
              <a:lnSpc>
                <a:spcPts val="3151"/>
              </a:lnSpc>
            </a:pPr>
            <a:r>
              <a:rPr lang="en-US" sz="2073" spc="404">
                <a:solidFill>
                  <a:srgbClr val="FFFFFF"/>
                </a:solidFill>
                <a:latin typeface="Poppins"/>
                <a:ea typeface="Poppins"/>
                <a:cs typeface="Poppins"/>
                <a:sym typeface="Poppins"/>
              </a:rPr>
              <a:t>DIRECT FACTORS</a:t>
            </a:r>
          </a:p>
        </p:txBody>
      </p:sp>
      <p:sp>
        <p:nvSpPr>
          <p:cNvPr name="TextBox 14" id="14"/>
          <p:cNvSpPr txBox="true"/>
          <p:nvPr/>
        </p:nvSpPr>
        <p:spPr>
          <a:xfrm rot="0">
            <a:off x="12721429" y="2377456"/>
            <a:ext cx="3933953" cy="2549327"/>
          </a:xfrm>
          <a:prstGeom prst="rect">
            <a:avLst/>
          </a:prstGeom>
        </p:spPr>
        <p:txBody>
          <a:bodyPr anchor="t" rtlCol="false" tIns="0" lIns="0" bIns="0" rIns="0">
            <a:spAutoFit/>
          </a:bodyPr>
          <a:lstStyle/>
          <a:p>
            <a:pPr algn="ctr" marL="432473" indent="-216236" lvl="1">
              <a:lnSpc>
                <a:spcPts val="3405"/>
              </a:lnSpc>
              <a:buFont typeface="Arial"/>
              <a:buChar char="•"/>
            </a:pPr>
            <a:r>
              <a:rPr lang="en-US" sz="2003">
                <a:solidFill>
                  <a:srgbClr val="FFFFFF"/>
                </a:solidFill>
                <a:latin typeface="Poppins"/>
                <a:ea typeface="Poppins"/>
                <a:cs typeface="Poppins"/>
                <a:sym typeface="Poppins"/>
              </a:rPr>
              <a:t>Indi</a:t>
            </a:r>
            <a:r>
              <a:rPr lang="en-US" sz="2003" strike="noStrike" u="none">
                <a:solidFill>
                  <a:srgbClr val="FFFFFF"/>
                </a:solidFill>
                <a:latin typeface="Poppins"/>
                <a:ea typeface="Poppins"/>
                <a:cs typeface="Poppins"/>
                <a:sym typeface="Poppins"/>
              </a:rPr>
              <a:t>re</a:t>
            </a:r>
            <a:r>
              <a:rPr lang="en-US" sz="2003" strike="noStrike" u="none">
                <a:solidFill>
                  <a:srgbClr val="FFFFFF"/>
                </a:solidFill>
                <a:latin typeface="Poppins"/>
                <a:ea typeface="Poppins"/>
                <a:cs typeface="Poppins"/>
                <a:sym typeface="Poppins"/>
              </a:rPr>
              <a:t>ct</a:t>
            </a:r>
            <a:r>
              <a:rPr lang="en-US" sz="2003" strike="noStrike" u="none">
                <a:solidFill>
                  <a:srgbClr val="FFFFFF"/>
                </a:solidFill>
                <a:latin typeface="Poppins"/>
                <a:ea typeface="Poppins"/>
                <a:cs typeface="Poppins"/>
                <a:sym typeface="Poppins"/>
              </a:rPr>
              <a:t> </a:t>
            </a:r>
            <a:r>
              <a:rPr lang="en-US" sz="2003" strike="noStrike" u="none">
                <a:solidFill>
                  <a:srgbClr val="FFFFFF"/>
                </a:solidFill>
                <a:latin typeface="Poppins"/>
                <a:ea typeface="Poppins"/>
                <a:cs typeface="Poppins"/>
                <a:sym typeface="Poppins"/>
              </a:rPr>
              <a:t>→</a:t>
            </a:r>
            <a:r>
              <a:rPr lang="en-US" sz="2003" strike="noStrike" u="none">
                <a:solidFill>
                  <a:srgbClr val="FFFFFF"/>
                </a:solidFill>
                <a:latin typeface="Poppins"/>
                <a:ea typeface="Poppins"/>
                <a:cs typeface="Poppins"/>
                <a:sym typeface="Poppins"/>
              </a:rPr>
              <a:t> </a:t>
            </a:r>
            <a:r>
              <a:rPr lang="en-US" sz="2003" strike="noStrike" u="none">
                <a:solidFill>
                  <a:srgbClr val="FFFFFF"/>
                </a:solidFill>
                <a:latin typeface="Poppins"/>
                <a:ea typeface="Poppins"/>
                <a:cs typeface="Poppins"/>
                <a:sym typeface="Poppins"/>
              </a:rPr>
              <a:t>Inf</a:t>
            </a:r>
            <a:r>
              <a:rPr lang="en-US" sz="2003" strike="noStrike" u="none">
                <a:solidFill>
                  <a:srgbClr val="FFFFFF"/>
                </a:solidFill>
                <a:latin typeface="Poppins"/>
                <a:ea typeface="Poppins"/>
                <a:cs typeface="Poppins"/>
                <a:sym typeface="Poppins"/>
              </a:rPr>
              <a:t>l</a:t>
            </a:r>
            <a:r>
              <a:rPr lang="en-US" sz="2003" strike="noStrike" u="none">
                <a:solidFill>
                  <a:srgbClr val="FFFFFF"/>
                </a:solidFill>
                <a:latin typeface="Poppins"/>
                <a:ea typeface="Poppins"/>
                <a:cs typeface="Poppins"/>
                <a:sym typeface="Poppins"/>
              </a:rPr>
              <a:t>uence </a:t>
            </a:r>
            <a:r>
              <a:rPr lang="en-US" sz="2003" strike="noStrike" u="none">
                <a:solidFill>
                  <a:srgbClr val="FFFFFF"/>
                </a:solidFill>
                <a:latin typeface="Poppins"/>
                <a:ea typeface="Poppins"/>
                <a:cs typeface="Poppins"/>
                <a:sym typeface="Poppins"/>
              </a:rPr>
              <a:t>r</a:t>
            </a:r>
            <a:r>
              <a:rPr lang="en-US" sz="2003" strike="noStrike" u="none">
                <a:solidFill>
                  <a:srgbClr val="FFFFFF"/>
                </a:solidFill>
                <a:latin typeface="Poppins"/>
                <a:ea typeface="Poppins"/>
                <a:cs typeface="Poppins"/>
                <a:sym typeface="Poppins"/>
              </a:rPr>
              <a:t>e</a:t>
            </a:r>
            <a:r>
              <a:rPr lang="en-US" sz="2003" strike="noStrike" u="none">
                <a:solidFill>
                  <a:srgbClr val="FFFFFF"/>
                </a:solidFill>
                <a:latin typeface="Poppins"/>
                <a:ea typeface="Poppins"/>
                <a:cs typeface="Poppins"/>
                <a:sym typeface="Poppins"/>
              </a:rPr>
              <a:t>s</a:t>
            </a:r>
            <a:r>
              <a:rPr lang="en-US" sz="2003" strike="noStrike" u="none">
                <a:solidFill>
                  <a:srgbClr val="FFFFFF"/>
                </a:solidFill>
                <a:latin typeface="Poppins"/>
                <a:ea typeface="Poppins"/>
                <a:cs typeface="Poppins"/>
                <a:sym typeface="Poppins"/>
              </a:rPr>
              <a:t>ul</a:t>
            </a:r>
            <a:r>
              <a:rPr lang="en-US" sz="2003" strike="noStrike" u="none">
                <a:solidFill>
                  <a:srgbClr val="FFFFFF"/>
                </a:solidFill>
                <a:latin typeface="Poppins"/>
                <a:ea typeface="Poppins"/>
                <a:cs typeface="Poppins"/>
                <a:sym typeface="Poppins"/>
              </a:rPr>
              <a:t>t t</a:t>
            </a:r>
            <a:r>
              <a:rPr lang="en-US" sz="2003" strike="noStrike" u="none">
                <a:solidFill>
                  <a:srgbClr val="FFFFFF"/>
                </a:solidFill>
                <a:latin typeface="Poppins"/>
                <a:ea typeface="Poppins"/>
                <a:cs typeface="Poppins"/>
                <a:sym typeface="Poppins"/>
              </a:rPr>
              <a:t>hr</a:t>
            </a:r>
            <a:r>
              <a:rPr lang="en-US" sz="2003" strike="noStrike" u="none">
                <a:solidFill>
                  <a:srgbClr val="FFFFFF"/>
                </a:solidFill>
                <a:latin typeface="Poppins"/>
                <a:ea typeface="Poppins"/>
                <a:cs typeface="Poppins"/>
                <a:sym typeface="Poppins"/>
              </a:rPr>
              <a:t>ou</a:t>
            </a:r>
            <a:r>
              <a:rPr lang="en-US" sz="2003" strike="noStrike" u="none">
                <a:solidFill>
                  <a:srgbClr val="FFFFFF"/>
                </a:solidFill>
                <a:latin typeface="Poppins"/>
                <a:ea typeface="Poppins"/>
                <a:cs typeface="Poppins"/>
                <a:sym typeface="Poppins"/>
              </a:rPr>
              <a:t>gh</a:t>
            </a:r>
            <a:r>
              <a:rPr lang="en-US" sz="2003" strike="noStrike" u="none">
                <a:solidFill>
                  <a:srgbClr val="FFFFFF"/>
                </a:solidFill>
                <a:latin typeface="Poppins"/>
                <a:ea typeface="Poppins"/>
                <a:cs typeface="Poppins"/>
                <a:sym typeface="Poppins"/>
              </a:rPr>
              <a:t> </a:t>
            </a:r>
            <a:r>
              <a:rPr lang="en-US" sz="2003" strike="noStrike" u="none">
                <a:solidFill>
                  <a:srgbClr val="FFFFFF"/>
                </a:solidFill>
                <a:latin typeface="Poppins"/>
                <a:ea typeface="Poppins"/>
                <a:cs typeface="Poppins"/>
                <a:sym typeface="Poppins"/>
              </a:rPr>
              <a:t>ch</a:t>
            </a:r>
            <a:r>
              <a:rPr lang="en-US" sz="2003" strike="noStrike" u="none">
                <a:solidFill>
                  <a:srgbClr val="FFFFFF"/>
                </a:solidFill>
                <a:latin typeface="Poppins"/>
                <a:ea typeface="Poppins"/>
                <a:cs typeface="Poppins"/>
                <a:sym typeface="Poppins"/>
              </a:rPr>
              <a:t>ai</a:t>
            </a:r>
            <a:r>
              <a:rPr lang="en-US" sz="2003" strike="noStrike" u="none">
                <a:solidFill>
                  <a:srgbClr val="FFFFFF"/>
                </a:solidFill>
                <a:latin typeface="Poppins"/>
                <a:ea typeface="Poppins"/>
                <a:cs typeface="Poppins"/>
                <a:sym typeface="Poppins"/>
              </a:rPr>
              <a:t>n</a:t>
            </a:r>
            <a:r>
              <a:rPr lang="en-US" sz="2003" strike="noStrike" u="none">
                <a:solidFill>
                  <a:srgbClr val="FFFFFF"/>
                </a:solidFill>
                <a:latin typeface="Poppins"/>
                <a:ea typeface="Poppins"/>
                <a:cs typeface="Poppins"/>
                <a:sym typeface="Poppins"/>
              </a:rPr>
              <a:t>s </a:t>
            </a:r>
            <a:r>
              <a:rPr lang="en-US" sz="2003" strike="noStrike" u="none">
                <a:solidFill>
                  <a:srgbClr val="FFFFFF"/>
                </a:solidFill>
                <a:latin typeface="Poppins"/>
                <a:ea typeface="Poppins"/>
                <a:cs typeface="Poppins"/>
                <a:sym typeface="Poppins"/>
              </a:rPr>
              <a:t>of</a:t>
            </a:r>
            <a:r>
              <a:rPr lang="en-US" sz="2003" strike="noStrike" u="none">
                <a:solidFill>
                  <a:srgbClr val="FFFFFF"/>
                </a:solidFill>
                <a:latin typeface="Poppins"/>
                <a:ea typeface="Poppins"/>
                <a:cs typeface="Poppins"/>
                <a:sym typeface="Poppins"/>
              </a:rPr>
              <a:t> </a:t>
            </a:r>
            <a:r>
              <a:rPr lang="en-US" sz="2003" strike="noStrike" u="none">
                <a:solidFill>
                  <a:srgbClr val="FFFFFF"/>
                </a:solidFill>
                <a:latin typeface="Poppins"/>
                <a:ea typeface="Poppins"/>
                <a:cs typeface="Poppins"/>
                <a:sym typeface="Poppins"/>
              </a:rPr>
              <a:t>v</a:t>
            </a:r>
            <a:r>
              <a:rPr lang="en-US" sz="2003" strike="noStrike" u="none">
                <a:solidFill>
                  <a:srgbClr val="FFFFFF"/>
                </a:solidFill>
                <a:latin typeface="Poppins"/>
                <a:ea typeface="Poppins"/>
                <a:cs typeface="Poppins"/>
                <a:sym typeface="Poppins"/>
              </a:rPr>
              <a:t>a</a:t>
            </a:r>
            <a:r>
              <a:rPr lang="en-US" sz="2003" strike="noStrike" u="none">
                <a:solidFill>
                  <a:srgbClr val="FFFFFF"/>
                </a:solidFill>
                <a:latin typeface="Poppins"/>
                <a:ea typeface="Poppins"/>
                <a:cs typeface="Poppins"/>
                <a:sym typeface="Poppins"/>
              </a:rPr>
              <a:t>r</a:t>
            </a:r>
            <a:r>
              <a:rPr lang="en-US" sz="2003" strike="noStrike" u="none">
                <a:solidFill>
                  <a:srgbClr val="FFFFFF"/>
                </a:solidFill>
                <a:latin typeface="Poppins"/>
                <a:ea typeface="Poppins"/>
                <a:cs typeface="Poppins"/>
                <a:sym typeface="Poppins"/>
              </a:rPr>
              <a:t>i</a:t>
            </a:r>
            <a:r>
              <a:rPr lang="en-US" sz="2003" strike="noStrike" u="none">
                <a:solidFill>
                  <a:srgbClr val="FFFFFF"/>
                </a:solidFill>
                <a:latin typeface="Poppins"/>
                <a:ea typeface="Poppins"/>
                <a:cs typeface="Poppins"/>
                <a:sym typeface="Poppins"/>
              </a:rPr>
              <a:t>o</a:t>
            </a:r>
            <a:r>
              <a:rPr lang="en-US" sz="2003" strike="noStrike" u="none">
                <a:solidFill>
                  <a:srgbClr val="FFFFFF"/>
                </a:solidFill>
                <a:latin typeface="Poppins"/>
                <a:ea typeface="Poppins"/>
                <a:cs typeface="Poppins"/>
                <a:sym typeface="Poppins"/>
              </a:rPr>
              <a:t>u</a:t>
            </a:r>
            <a:r>
              <a:rPr lang="en-US" sz="2003" strike="noStrike" u="none">
                <a:solidFill>
                  <a:srgbClr val="FFFFFF"/>
                </a:solidFill>
                <a:latin typeface="Poppins"/>
                <a:ea typeface="Poppins"/>
                <a:cs typeface="Poppins"/>
                <a:sym typeface="Poppins"/>
              </a:rPr>
              <a:t>s</a:t>
            </a:r>
            <a:r>
              <a:rPr lang="en-US" sz="2003" strike="noStrike" u="none">
                <a:solidFill>
                  <a:srgbClr val="FFFFFF"/>
                </a:solidFill>
                <a:latin typeface="Poppins"/>
                <a:ea typeface="Poppins"/>
                <a:cs typeface="Poppins"/>
                <a:sym typeface="Poppins"/>
              </a:rPr>
              <a:t> </a:t>
            </a:r>
            <a:r>
              <a:rPr lang="en-US" sz="2003" strike="noStrike" u="none">
                <a:solidFill>
                  <a:srgbClr val="FFFFFF"/>
                </a:solidFill>
                <a:latin typeface="Poppins"/>
                <a:ea typeface="Poppins"/>
                <a:cs typeface="Poppins"/>
                <a:sym typeface="Poppins"/>
              </a:rPr>
              <a:t>f</a:t>
            </a:r>
            <a:r>
              <a:rPr lang="en-US" sz="2003" strike="noStrike" u="none">
                <a:solidFill>
                  <a:srgbClr val="FFFFFF"/>
                </a:solidFill>
                <a:latin typeface="Poppins"/>
                <a:ea typeface="Poppins"/>
                <a:cs typeface="Poppins"/>
                <a:sym typeface="Poppins"/>
              </a:rPr>
              <a:t>ac</a:t>
            </a:r>
            <a:r>
              <a:rPr lang="en-US" sz="2003" strike="noStrike" u="none">
                <a:solidFill>
                  <a:srgbClr val="FFFFFF"/>
                </a:solidFill>
                <a:latin typeface="Poppins"/>
                <a:ea typeface="Poppins"/>
                <a:cs typeface="Poppins"/>
                <a:sym typeface="Poppins"/>
              </a:rPr>
              <a:t>t</a:t>
            </a:r>
            <a:r>
              <a:rPr lang="en-US" sz="2003" strike="noStrike" u="none">
                <a:solidFill>
                  <a:srgbClr val="FFFFFF"/>
                </a:solidFill>
                <a:latin typeface="Poppins"/>
                <a:ea typeface="Poppins"/>
                <a:cs typeface="Poppins"/>
                <a:sym typeface="Poppins"/>
              </a:rPr>
              <a:t>ors</a:t>
            </a:r>
            <a:r>
              <a:rPr lang="en-US" sz="2003" strike="noStrike" u="none">
                <a:solidFill>
                  <a:srgbClr val="FFFFFF"/>
                </a:solidFill>
                <a:latin typeface="Poppins"/>
                <a:ea typeface="Poppins"/>
                <a:cs typeface="Poppins"/>
                <a:sym typeface="Poppins"/>
              </a:rPr>
              <a:t>:</a:t>
            </a:r>
            <a:r>
              <a:rPr lang="en-US" sz="2003" strike="noStrike" u="none">
                <a:solidFill>
                  <a:srgbClr val="FFFFFF"/>
                </a:solidFill>
                <a:latin typeface="Poppins"/>
                <a:ea typeface="Poppins"/>
                <a:cs typeface="Poppins"/>
                <a:sym typeface="Poppins"/>
              </a:rPr>
              <a:t> </a:t>
            </a:r>
            <a:r>
              <a:rPr lang="en-US" sz="2003" strike="noStrike" u="none">
                <a:solidFill>
                  <a:srgbClr val="FFFFFF"/>
                </a:solidFill>
                <a:latin typeface="Poppins"/>
                <a:ea typeface="Poppins"/>
                <a:cs typeface="Poppins"/>
                <a:sym typeface="Poppins"/>
              </a:rPr>
              <a:t>ec</a:t>
            </a:r>
            <a:r>
              <a:rPr lang="en-US" sz="2003" strike="noStrike" u="none">
                <a:solidFill>
                  <a:srgbClr val="FFFFFF"/>
                </a:solidFill>
                <a:latin typeface="Poppins"/>
                <a:ea typeface="Poppins"/>
                <a:cs typeface="Poppins"/>
                <a:sym typeface="Poppins"/>
              </a:rPr>
              <a:t>on</a:t>
            </a:r>
            <a:r>
              <a:rPr lang="en-US" sz="2003" strike="noStrike" u="none">
                <a:solidFill>
                  <a:srgbClr val="FFFFFF"/>
                </a:solidFill>
                <a:latin typeface="Poppins"/>
                <a:ea typeface="Poppins"/>
                <a:cs typeface="Poppins"/>
                <a:sym typeface="Poppins"/>
              </a:rPr>
              <a:t>omi</a:t>
            </a:r>
            <a:r>
              <a:rPr lang="en-US" sz="2003" strike="noStrike" u="none">
                <a:solidFill>
                  <a:srgbClr val="FFFFFF"/>
                </a:solidFill>
                <a:latin typeface="Poppins"/>
                <a:ea typeface="Poppins"/>
                <a:cs typeface="Poppins"/>
                <a:sym typeface="Poppins"/>
              </a:rPr>
              <a:t>c </a:t>
            </a:r>
            <a:r>
              <a:rPr lang="en-US" sz="2003" strike="noStrike" u="none">
                <a:solidFill>
                  <a:srgbClr val="FFFFFF"/>
                </a:solidFill>
                <a:latin typeface="Poppins"/>
                <a:ea typeface="Poppins"/>
                <a:cs typeface="Poppins"/>
                <a:sym typeface="Poppins"/>
              </a:rPr>
              <a:t>sy</a:t>
            </a:r>
            <a:r>
              <a:rPr lang="en-US" sz="2003" strike="noStrike" u="none">
                <a:solidFill>
                  <a:srgbClr val="FFFFFF"/>
                </a:solidFill>
                <a:latin typeface="Poppins"/>
                <a:ea typeface="Poppins"/>
                <a:cs typeface="Poppins"/>
                <a:sym typeface="Poppins"/>
              </a:rPr>
              <a:t>stems, </a:t>
            </a:r>
            <a:r>
              <a:rPr lang="en-US" sz="2003" strike="noStrike" u="none">
                <a:solidFill>
                  <a:srgbClr val="FFFFFF"/>
                </a:solidFill>
                <a:latin typeface="Poppins"/>
                <a:ea typeface="Poppins"/>
                <a:cs typeface="Poppins"/>
                <a:sym typeface="Poppins"/>
              </a:rPr>
              <a:t>p</a:t>
            </a:r>
            <a:r>
              <a:rPr lang="en-US" sz="2003" strike="noStrike" u="none">
                <a:solidFill>
                  <a:srgbClr val="FFFFFF"/>
                </a:solidFill>
                <a:latin typeface="Poppins"/>
                <a:ea typeface="Poppins"/>
                <a:cs typeface="Poppins"/>
                <a:sym typeface="Poppins"/>
              </a:rPr>
              <a:t>at</a:t>
            </a:r>
            <a:r>
              <a:rPr lang="en-US" sz="2003" strike="noStrike" u="none">
                <a:solidFill>
                  <a:srgbClr val="FFFFFF"/>
                </a:solidFill>
                <a:latin typeface="Poppins"/>
                <a:ea typeface="Poppins"/>
                <a:cs typeface="Poppins"/>
                <a:sym typeface="Poppins"/>
              </a:rPr>
              <a:t>terns of</a:t>
            </a:r>
            <a:r>
              <a:rPr lang="en-US" sz="2003" strike="noStrike" u="none">
                <a:solidFill>
                  <a:srgbClr val="FFFFFF"/>
                </a:solidFill>
                <a:latin typeface="Poppins"/>
                <a:ea typeface="Poppins"/>
                <a:cs typeface="Poppins"/>
                <a:sym typeface="Poppins"/>
              </a:rPr>
              <a:t> pr</a:t>
            </a:r>
            <a:r>
              <a:rPr lang="en-US" sz="2003" strike="noStrike" u="none">
                <a:solidFill>
                  <a:srgbClr val="FFFFFF"/>
                </a:solidFill>
                <a:latin typeface="Poppins"/>
                <a:ea typeface="Poppins"/>
                <a:cs typeface="Poppins"/>
                <a:sym typeface="Poppins"/>
              </a:rPr>
              <a:t>oduc</a:t>
            </a:r>
            <a:r>
              <a:rPr lang="en-US" sz="2003" strike="noStrike" u="none">
                <a:solidFill>
                  <a:srgbClr val="FFFFFF"/>
                </a:solidFill>
                <a:latin typeface="Poppins"/>
                <a:ea typeface="Poppins"/>
                <a:cs typeface="Poppins"/>
                <a:sym typeface="Poppins"/>
              </a:rPr>
              <a:t>t</a:t>
            </a:r>
            <a:r>
              <a:rPr lang="en-US" sz="2003" strike="noStrike" u="none">
                <a:solidFill>
                  <a:srgbClr val="FFFFFF"/>
                </a:solidFill>
                <a:latin typeface="Poppins"/>
                <a:ea typeface="Poppins"/>
                <a:cs typeface="Poppins"/>
                <a:sym typeface="Poppins"/>
              </a:rPr>
              <a:t>ion,</a:t>
            </a:r>
            <a:r>
              <a:rPr lang="en-US" sz="2003" strike="noStrike" u="none">
                <a:solidFill>
                  <a:srgbClr val="FFFFFF"/>
                </a:solidFill>
                <a:latin typeface="Poppins"/>
                <a:ea typeface="Poppins"/>
                <a:cs typeface="Poppins"/>
                <a:sym typeface="Poppins"/>
              </a:rPr>
              <a:t> </a:t>
            </a:r>
            <a:r>
              <a:rPr lang="en-US" sz="2003" strike="noStrike" u="none">
                <a:solidFill>
                  <a:srgbClr val="FFFFFF"/>
                </a:solidFill>
                <a:latin typeface="Poppins"/>
                <a:ea typeface="Poppins"/>
                <a:cs typeface="Poppins"/>
                <a:sym typeface="Poppins"/>
              </a:rPr>
              <a:t>consump</a:t>
            </a:r>
            <a:r>
              <a:rPr lang="en-US" sz="2003" strike="noStrike" u="none">
                <a:solidFill>
                  <a:srgbClr val="FFFFFF"/>
                </a:solidFill>
                <a:latin typeface="Poppins"/>
                <a:ea typeface="Poppins"/>
                <a:cs typeface="Poppins"/>
                <a:sym typeface="Poppins"/>
              </a:rPr>
              <a:t>t</a:t>
            </a:r>
            <a:r>
              <a:rPr lang="en-US" sz="2003" strike="noStrike" u="none">
                <a:solidFill>
                  <a:srgbClr val="FFFFFF"/>
                </a:solidFill>
                <a:latin typeface="Poppins"/>
                <a:ea typeface="Poppins"/>
                <a:cs typeface="Poppins"/>
                <a:sym typeface="Poppins"/>
              </a:rPr>
              <a:t>i</a:t>
            </a:r>
            <a:r>
              <a:rPr lang="en-US" sz="2003" strike="noStrike" u="none">
                <a:solidFill>
                  <a:srgbClr val="FFFFFF"/>
                </a:solidFill>
                <a:latin typeface="Poppins"/>
                <a:ea typeface="Poppins"/>
                <a:cs typeface="Poppins"/>
                <a:sym typeface="Poppins"/>
              </a:rPr>
              <a:t>o</a:t>
            </a:r>
            <a:r>
              <a:rPr lang="en-US" sz="2003" strike="noStrike" u="none">
                <a:solidFill>
                  <a:srgbClr val="FFFFFF"/>
                </a:solidFill>
                <a:latin typeface="Poppins"/>
                <a:ea typeface="Poppins"/>
                <a:cs typeface="Poppins"/>
                <a:sym typeface="Poppins"/>
              </a:rPr>
              <a:t>n, </a:t>
            </a:r>
            <a:r>
              <a:rPr lang="en-US" sz="2003" strike="noStrike" u="none">
                <a:solidFill>
                  <a:srgbClr val="FFFFFF"/>
                </a:solidFill>
                <a:latin typeface="Poppins"/>
                <a:ea typeface="Poppins"/>
                <a:cs typeface="Poppins"/>
                <a:sym typeface="Poppins"/>
              </a:rPr>
              <a:t>r</a:t>
            </a:r>
            <a:r>
              <a:rPr lang="en-US" sz="2003" strike="noStrike" u="none">
                <a:solidFill>
                  <a:srgbClr val="FFFFFF"/>
                </a:solidFill>
                <a:latin typeface="Poppins"/>
                <a:ea typeface="Poppins"/>
                <a:cs typeface="Poppins"/>
                <a:sym typeface="Poppins"/>
              </a:rPr>
              <a:t>es</a:t>
            </a:r>
            <a:r>
              <a:rPr lang="en-US" sz="2003" strike="noStrike" u="none">
                <a:solidFill>
                  <a:srgbClr val="FFFFFF"/>
                </a:solidFill>
                <a:latin typeface="Poppins"/>
                <a:ea typeface="Poppins"/>
                <a:cs typeface="Poppins"/>
                <a:sym typeface="Poppins"/>
              </a:rPr>
              <a:t>o</a:t>
            </a:r>
            <a:r>
              <a:rPr lang="en-US" sz="2003" strike="noStrike" u="none">
                <a:solidFill>
                  <a:srgbClr val="FFFFFF"/>
                </a:solidFill>
                <a:latin typeface="Poppins"/>
                <a:ea typeface="Poppins"/>
                <a:cs typeface="Poppins"/>
                <a:sym typeface="Poppins"/>
              </a:rPr>
              <a:t>u</a:t>
            </a:r>
            <a:r>
              <a:rPr lang="en-US" sz="2003" strike="noStrike" u="none">
                <a:solidFill>
                  <a:srgbClr val="FFFFFF"/>
                </a:solidFill>
                <a:latin typeface="Poppins"/>
                <a:ea typeface="Poppins"/>
                <a:cs typeface="Poppins"/>
                <a:sym typeface="Poppins"/>
              </a:rPr>
              <a:t>r</a:t>
            </a:r>
            <a:r>
              <a:rPr lang="en-US" sz="2003" strike="noStrike" u="none">
                <a:solidFill>
                  <a:srgbClr val="FFFFFF"/>
                </a:solidFill>
                <a:latin typeface="Poppins"/>
                <a:ea typeface="Poppins"/>
                <a:cs typeface="Poppins"/>
                <a:sym typeface="Poppins"/>
              </a:rPr>
              <a:t>c</a:t>
            </a:r>
            <a:r>
              <a:rPr lang="en-US" sz="2003" strike="noStrike" u="none">
                <a:solidFill>
                  <a:srgbClr val="FFFFFF"/>
                </a:solidFill>
                <a:latin typeface="Poppins"/>
                <a:ea typeface="Poppins"/>
                <a:cs typeface="Poppins"/>
                <a:sym typeface="Poppins"/>
              </a:rPr>
              <a:t>e use...</a:t>
            </a:r>
          </a:p>
        </p:txBody>
      </p:sp>
      <p:sp>
        <p:nvSpPr>
          <p:cNvPr name="TextBox 15" id="15"/>
          <p:cNvSpPr txBox="true"/>
          <p:nvPr/>
        </p:nvSpPr>
        <p:spPr>
          <a:xfrm rot="0">
            <a:off x="12721429" y="1863028"/>
            <a:ext cx="4107558" cy="396472"/>
          </a:xfrm>
          <a:prstGeom prst="rect">
            <a:avLst/>
          </a:prstGeom>
        </p:spPr>
        <p:txBody>
          <a:bodyPr anchor="t" rtlCol="false" tIns="0" lIns="0" bIns="0" rIns="0">
            <a:spAutoFit/>
          </a:bodyPr>
          <a:lstStyle/>
          <a:p>
            <a:pPr algn="ctr">
              <a:lnSpc>
                <a:spcPts val="3151"/>
              </a:lnSpc>
            </a:pPr>
            <a:r>
              <a:rPr lang="en-US" sz="2073" spc="404">
                <a:solidFill>
                  <a:srgbClr val="FFFFFF"/>
                </a:solidFill>
                <a:latin typeface="Poppins"/>
                <a:ea typeface="Poppins"/>
                <a:cs typeface="Poppins"/>
                <a:sym typeface="Poppins"/>
              </a:rPr>
              <a:t>INDIRECT FACTORS</a:t>
            </a:r>
          </a:p>
        </p:txBody>
      </p:sp>
      <p:sp>
        <p:nvSpPr>
          <p:cNvPr name="TextBox 16" id="16"/>
          <p:cNvSpPr txBox="true"/>
          <p:nvPr/>
        </p:nvSpPr>
        <p:spPr>
          <a:xfrm rot="0">
            <a:off x="1191757" y="2990157"/>
            <a:ext cx="4699845" cy="4259319"/>
          </a:xfrm>
          <a:prstGeom prst="rect">
            <a:avLst/>
          </a:prstGeom>
        </p:spPr>
        <p:txBody>
          <a:bodyPr anchor="t" rtlCol="false" tIns="0" lIns="0" bIns="0" rIns="0">
            <a:spAutoFit/>
          </a:bodyPr>
          <a:lstStyle/>
          <a:p>
            <a:pPr algn="l" marL="609725" indent="-304863" lvl="1">
              <a:lnSpc>
                <a:spcPts val="4800"/>
              </a:lnSpc>
              <a:buFont typeface="Arial"/>
              <a:buChar char="•"/>
            </a:pPr>
            <a:r>
              <a:rPr lang="en-US" sz="2824">
                <a:solidFill>
                  <a:srgbClr val="FFFFFF"/>
                </a:solidFill>
                <a:latin typeface="Poppins"/>
                <a:ea typeface="Poppins"/>
                <a:cs typeface="Poppins"/>
                <a:sym typeface="Poppins"/>
              </a:rPr>
              <a:t>Rapid, global decline of species, ecosystems and genetic diversity</a:t>
            </a:r>
          </a:p>
          <a:p>
            <a:pPr algn="l" marL="609725" indent="-304863" lvl="1">
              <a:lnSpc>
                <a:spcPts val="4800"/>
              </a:lnSpc>
              <a:buFont typeface="Arial"/>
              <a:buChar char="•"/>
            </a:pPr>
            <a:r>
              <a:rPr lang="en-US" sz="2824">
                <a:solidFill>
                  <a:srgbClr val="FFFFFF"/>
                </a:solidFill>
                <a:latin typeface="Poppins"/>
                <a:ea typeface="Poppins"/>
                <a:cs typeface="Poppins"/>
                <a:sym typeface="Poppins"/>
              </a:rPr>
              <a:t>Humans</a:t>
            </a:r>
          </a:p>
          <a:p>
            <a:pPr algn="l" marL="609725" indent="-304863" lvl="1">
              <a:lnSpc>
                <a:spcPts val="4800"/>
              </a:lnSpc>
              <a:buFont typeface="Arial"/>
              <a:buChar char="•"/>
            </a:pPr>
            <a:r>
              <a:rPr lang="en-US" sz="2824">
                <a:solidFill>
                  <a:srgbClr val="FFFFFF"/>
                </a:solidFill>
                <a:latin typeface="Poppins"/>
                <a:ea typeface="Poppins"/>
                <a:cs typeface="Poppins"/>
                <a:sym typeface="Poppins"/>
              </a:rPr>
              <a:t>Number and composition</a:t>
            </a:r>
          </a:p>
        </p:txBody>
      </p:sp>
      <p:sp>
        <p:nvSpPr>
          <p:cNvPr name="TextBox 17" id="17"/>
          <p:cNvSpPr txBox="true"/>
          <p:nvPr/>
        </p:nvSpPr>
        <p:spPr>
          <a:xfrm rot="0">
            <a:off x="951188" y="2308598"/>
            <a:ext cx="5547004" cy="510505"/>
          </a:xfrm>
          <a:prstGeom prst="rect">
            <a:avLst/>
          </a:prstGeom>
        </p:spPr>
        <p:txBody>
          <a:bodyPr anchor="t" rtlCol="false" tIns="0" lIns="0" bIns="0" rIns="0">
            <a:spAutoFit/>
          </a:bodyPr>
          <a:lstStyle/>
          <a:p>
            <a:pPr algn="ctr">
              <a:lnSpc>
                <a:spcPts val="4062"/>
              </a:lnSpc>
            </a:pPr>
            <a:r>
              <a:rPr lang="en-US" sz="2672" spc="521">
                <a:solidFill>
                  <a:srgbClr val="FFFFFF"/>
                </a:solidFill>
                <a:latin typeface="Poppins"/>
                <a:ea typeface="Poppins"/>
                <a:cs typeface="Poppins"/>
                <a:sym typeface="Poppins"/>
              </a:rPr>
              <a:t>BIODIVERSITY CRISIS</a:t>
            </a:r>
          </a:p>
        </p:txBody>
      </p:sp>
      <p:sp>
        <p:nvSpPr>
          <p:cNvPr name="TextBox 18" id="18"/>
          <p:cNvSpPr txBox="true"/>
          <p:nvPr/>
        </p:nvSpPr>
        <p:spPr>
          <a:xfrm rot="0">
            <a:off x="10315920" y="8307113"/>
            <a:ext cx="3589020" cy="385445"/>
          </a:xfrm>
          <a:prstGeom prst="rect">
            <a:avLst/>
          </a:prstGeom>
        </p:spPr>
        <p:txBody>
          <a:bodyPr anchor="t" rtlCol="false" tIns="0" lIns="0" bIns="0" rIns="0">
            <a:spAutoFit/>
          </a:bodyPr>
          <a:lstStyle/>
          <a:p>
            <a:pPr algn="ctr">
              <a:lnSpc>
                <a:spcPts val="3040"/>
              </a:lnSpc>
              <a:spcBef>
                <a:spcPct val="0"/>
              </a:spcBef>
            </a:pPr>
            <a:r>
              <a:rPr lang="en-US" sz="2000" i="true" spc="390">
                <a:solidFill>
                  <a:srgbClr val="FFFFFF"/>
                </a:solidFill>
                <a:latin typeface="Poppins Italics"/>
                <a:ea typeface="Poppins Italics"/>
                <a:cs typeface="Poppins Italics"/>
                <a:sym typeface="Poppins Italics"/>
              </a:rPr>
              <a:t>(GREENSPOON ET AL.)</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4323"/>
        </a:solidFill>
      </p:bgPr>
    </p:bg>
    <p:spTree>
      <p:nvGrpSpPr>
        <p:cNvPr id="1" name=""/>
        <p:cNvGrpSpPr/>
        <p:nvPr/>
      </p:nvGrpSpPr>
      <p:grpSpPr>
        <a:xfrm>
          <a:off x="0" y="0"/>
          <a:ext cx="0" cy="0"/>
          <a:chOff x="0" y="0"/>
          <a:chExt cx="0" cy="0"/>
        </a:xfrm>
      </p:grpSpPr>
      <p:sp>
        <p:nvSpPr>
          <p:cNvPr name="Freeform 2" id="2"/>
          <p:cNvSpPr/>
          <p:nvPr/>
        </p:nvSpPr>
        <p:spPr>
          <a:xfrm flipH="false" flipV="false" rot="0">
            <a:off x="-498415" y="8845337"/>
            <a:ext cx="21430122" cy="1441663"/>
          </a:xfrm>
          <a:custGeom>
            <a:avLst/>
            <a:gdLst/>
            <a:ahLst/>
            <a:cxnLst/>
            <a:rect r="r" b="b" t="t" l="l"/>
            <a:pathLst>
              <a:path h="1441663" w="21430122">
                <a:moveTo>
                  <a:pt x="0" y="0"/>
                </a:moveTo>
                <a:lnTo>
                  <a:pt x="21430122" y="0"/>
                </a:lnTo>
                <a:lnTo>
                  <a:pt x="21430122" y="1441663"/>
                </a:lnTo>
                <a:lnTo>
                  <a:pt x="0" y="144166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661885" y="6575204"/>
            <a:ext cx="5453349" cy="4114800"/>
          </a:xfrm>
          <a:custGeom>
            <a:avLst/>
            <a:gdLst/>
            <a:ahLst/>
            <a:cxnLst/>
            <a:rect r="r" b="b" t="t" l="l"/>
            <a:pathLst>
              <a:path h="4114800" w="5453349">
                <a:moveTo>
                  <a:pt x="0" y="0"/>
                </a:moveTo>
                <a:lnTo>
                  <a:pt x="5453350" y="0"/>
                </a:lnTo>
                <a:lnTo>
                  <a:pt x="545335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6222219" y="8766181"/>
            <a:ext cx="4280770" cy="2218217"/>
          </a:xfrm>
          <a:custGeom>
            <a:avLst/>
            <a:gdLst/>
            <a:ahLst/>
            <a:cxnLst/>
            <a:rect r="r" b="b" t="t" l="l"/>
            <a:pathLst>
              <a:path h="2218217" w="4280770">
                <a:moveTo>
                  <a:pt x="0" y="0"/>
                </a:moveTo>
                <a:lnTo>
                  <a:pt x="4280770" y="0"/>
                </a:lnTo>
                <a:lnTo>
                  <a:pt x="4280770" y="2218217"/>
                </a:lnTo>
                <a:lnTo>
                  <a:pt x="0" y="221821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756427" y="2224669"/>
            <a:ext cx="4031274" cy="743390"/>
            <a:chOff x="0" y="0"/>
            <a:chExt cx="1061735" cy="195790"/>
          </a:xfrm>
        </p:grpSpPr>
        <p:sp>
          <p:nvSpPr>
            <p:cNvPr name="Freeform 6" id="6"/>
            <p:cNvSpPr/>
            <p:nvPr/>
          </p:nvSpPr>
          <p:spPr>
            <a:xfrm flipH="false" flipV="false" rot="0">
              <a:off x="0" y="0"/>
              <a:ext cx="1061735" cy="195790"/>
            </a:xfrm>
            <a:custGeom>
              <a:avLst/>
              <a:gdLst/>
              <a:ahLst/>
              <a:cxnLst/>
              <a:rect r="r" b="b" t="t" l="l"/>
              <a:pathLst>
                <a:path h="195790" w="1061735">
                  <a:moveTo>
                    <a:pt x="97895" y="0"/>
                  </a:moveTo>
                  <a:lnTo>
                    <a:pt x="963840" y="0"/>
                  </a:lnTo>
                  <a:cubicBezTo>
                    <a:pt x="989803" y="0"/>
                    <a:pt x="1014703" y="10314"/>
                    <a:pt x="1033062" y="28673"/>
                  </a:cubicBezTo>
                  <a:cubicBezTo>
                    <a:pt x="1051421" y="47032"/>
                    <a:pt x="1061735" y="71932"/>
                    <a:pt x="1061735" y="97895"/>
                  </a:cubicBezTo>
                  <a:lnTo>
                    <a:pt x="1061735" y="97895"/>
                  </a:lnTo>
                  <a:cubicBezTo>
                    <a:pt x="1061735" y="123858"/>
                    <a:pt x="1051421" y="148758"/>
                    <a:pt x="1033062" y="167117"/>
                  </a:cubicBezTo>
                  <a:cubicBezTo>
                    <a:pt x="1014703" y="185476"/>
                    <a:pt x="989803" y="195790"/>
                    <a:pt x="963840" y="195790"/>
                  </a:cubicBezTo>
                  <a:lnTo>
                    <a:pt x="97895" y="195790"/>
                  </a:lnTo>
                  <a:cubicBezTo>
                    <a:pt x="71932" y="195790"/>
                    <a:pt x="47032" y="185476"/>
                    <a:pt x="28673" y="167117"/>
                  </a:cubicBezTo>
                  <a:cubicBezTo>
                    <a:pt x="10314" y="148758"/>
                    <a:pt x="0" y="123858"/>
                    <a:pt x="0" y="97895"/>
                  </a:cubicBezTo>
                  <a:lnTo>
                    <a:pt x="0" y="97895"/>
                  </a:lnTo>
                  <a:cubicBezTo>
                    <a:pt x="0" y="71932"/>
                    <a:pt x="10314" y="47032"/>
                    <a:pt x="28673" y="28673"/>
                  </a:cubicBezTo>
                  <a:cubicBezTo>
                    <a:pt x="47032" y="10314"/>
                    <a:pt x="71932" y="0"/>
                    <a:pt x="97895" y="0"/>
                  </a:cubicBezTo>
                  <a:close/>
                </a:path>
              </a:pathLst>
            </a:custGeom>
            <a:solidFill>
              <a:srgbClr val="077341"/>
            </a:solidFill>
          </p:spPr>
        </p:sp>
        <p:sp>
          <p:nvSpPr>
            <p:cNvPr name="TextBox 7" id="7"/>
            <p:cNvSpPr txBox="true"/>
            <p:nvPr/>
          </p:nvSpPr>
          <p:spPr>
            <a:xfrm>
              <a:off x="0" y="-76200"/>
              <a:ext cx="1061735" cy="271990"/>
            </a:xfrm>
            <a:prstGeom prst="rect">
              <a:avLst/>
            </a:prstGeom>
          </p:spPr>
          <p:txBody>
            <a:bodyPr anchor="ctr" rtlCol="false" tIns="50800" lIns="50800" bIns="50800" rIns="50800"/>
            <a:lstStyle/>
            <a:p>
              <a:pPr algn="ctr">
                <a:lnSpc>
                  <a:spcPts val="3496"/>
                </a:lnSpc>
              </a:pPr>
              <a:r>
                <a:rPr lang="en-US" sz="2300" spc="448">
                  <a:solidFill>
                    <a:srgbClr val="FFFFFF"/>
                  </a:solidFill>
                  <a:latin typeface="Poppins"/>
                  <a:ea typeface="Poppins"/>
                  <a:cs typeface="Poppins"/>
                  <a:sym typeface="Poppins"/>
                </a:rPr>
                <a:t>WHAT IS BIOMASS?</a:t>
              </a:r>
            </a:p>
          </p:txBody>
        </p:sp>
      </p:grpSp>
      <p:grpSp>
        <p:nvGrpSpPr>
          <p:cNvPr name="Group 8" id="8"/>
          <p:cNvGrpSpPr/>
          <p:nvPr/>
        </p:nvGrpSpPr>
        <p:grpSpPr>
          <a:xfrm rot="0">
            <a:off x="5240634" y="2224669"/>
            <a:ext cx="4782578" cy="743390"/>
            <a:chOff x="0" y="0"/>
            <a:chExt cx="1259609" cy="195790"/>
          </a:xfrm>
        </p:grpSpPr>
        <p:sp>
          <p:nvSpPr>
            <p:cNvPr name="Freeform 9" id="9"/>
            <p:cNvSpPr/>
            <p:nvPr/>
          </p:nvSpPr>
          <p:spPr>
            <a:xfrm flipH="false" flipV="false" rot="0">
              <a:off x="0" y="0"/>
              <a:ext cx="1259609" cy="195790"/>
            </a:xfrm>
            <a:custGeom>
              <a:avLst/>
              <a:gdLst/>
              <a:ahLst/>
              <a:cxnLst/>
              <a:rect r="r" b="b" t="t" l="l"/>
              <a:pathLst>
                <a:path h="195790" w="1259609">
                  <a:moveTo>
                    <a:pt x="82558" y="0"/>
                  </a:moveTo>
                  <a:lnTo>
                    <a:pt x="1177052" y="0"/>
                  </a:lnTo>
                  <a:cubicBezTo>
                    <a:pt x="1198947" y="0"/>
                    <a:pt x="1219946" y="8698"/>
                    <a:pt x="1235429" y="24181"/>
                  </a:cubicBezTo>
                  <a:cubicBezTo>
                    <a:pt x="1250911" y="39663"/>
                    <a:pt x="1259609" y="60662"/>
                    <a:pt x="1259609" y="82558"/>
                  </a:cubicBezTo>
                  <a:lnTo>
                    <a:pt x="1259609" y="113232"/>
                  </a:lnTo>
                  <a:cubicBezTo>
                    <a:pt x="1259609" y="135128"/>
                    <a:pt x="1250911" y="156127"/>
                    <a:pt x="1235429" y="171609"/>
                  </a:cubicBezTo>
                  <a:cubicBezTo>
                    <a:pt x="1219946" y="187092"/>
                    <a:pt x="1198947" y="195790"/>
                    <a:pt x="1177052" y="195790"/>
                  </a:cubicBezTo>
                  <a:lnTo>
                    <a:pt x="82558" y="195790"/>
                  </a:lnTo>
                  <a:cubicBezTo>
                    <a:pt x="60662" y="195790"/>
                    <a:pt x="39663" y="187092"/>
                    <a:pt x="24181" y="171609"/>
                  </a:cubicBezTo>
                  <a:cubicBezTo>
                    <a:pt x="8698" y="156127"/>
                    <a:pt x="0" y="135128"/>
                    <a:pt x="0" y="113232"/>
                  </a:cubicBezTo>
                  <a:lnTo>
                    <a:pt x="0" y="82558"/>
                  </a:lnTo>
                  <a:cubicBezTo>
                    <a:pt x="0" y="60662"/>
                    <a:pt x="8698" y="39663"/>
                    <a:pt x="24181" y="24181"/>
                  </a:cubicBezTo>
                  <a:cubicBezTo>
                    <a:pt x="39663" y="8698"/>
                    <a:pt x="60662" y="0"/>
                    <a:pt x="82558" y="0"/>
                  </a:cubicBezTo>
                  <a:close/>
                </a:path>
              </a:pathLst>
            </a:custGeom>
            <a:solidFill>
              <a:srgbClr val="077341"/>
            </a:solidFill>
          </p:spPr>
        </p:sp>
        <p:sp>
          <p:nvSpPr>
            <p:cNvPr name="TextBox 10" id="10"/>
            <p:cNvSpPr txBox="true"/>
            <p:nvPr/>
          </p:nvSpPr>
          <p:spPr>
            <a:xfrm>
              <a:off x="0" y="-85725"/>
              <a:ext cx="1259609" cy="281515"/>
            </a:xfrm>
            <a:prstGeom prst="rect">
              <a:avLst/>
            </a:prstGeom>
          </p:spPr>
          <p:txBody>
            <a:bodyPr anchor="ctr" rtlCol="false" tIns="50800" lIns="50800" bIns="50800" rIns="50800"/>
            <a:lstStyle/>
            <a:p>
              <a:pPr algn="ctr">
                <a:lnSpc>
                  <a:spcPts val="3344"/>
                </a:lnSpc>
              </a:pPr>
              <a:r>
                <a:rPr lang="en-US" sz="2200" spc="429">
                  <a:solidFill>
                    <a:srgbClr val="FFFFFF"/>
                  </a:solidFill>
                  <a:latin typeface="Poppins"/>
                  <a:ea typeface="Poppins"/>
                  <a:cs typeface="Poppins"/>
                  <a:sym typeface="Poppins"/>
                </a:rPr>
                <a:t>BIOMASS REALLOCATION</a:t>
              </a:r>
            </a:p>
          </p:txBody>
        </p:sp>
      </p:grpSp>
      <p:sp>
        <p:nvSpPr>
          <p:cNvPr name="Freeform 11" id="11"/>
          <p:cNvSpPr/>
          <p:nvPr/>
        </p:nvSpPr>
        <p:spPr>
          <a:xfrm flipH="false" flipV="false" rot="0">
            <a:off x="10591440" y="2099438"/>
            <a:ext cx="7001131" cy="5752572"/>
          </a:xfrm>
          <a:custGeom>
            <a:avLst/>
            <a:gdLst/>
            <a:ahLst/>
            <a:cxnLst/>
            <a:rect r="r" b="b" t="t" l="l"/>
            <a:pathLst>
              <a:path h="5752572" w="7001131">
                <a:moveTo>
                  <a:pt x="0" y="0"/>
                </a:moveTo>
                <a:lnTo>
                  <a:pt x="7001131" y="0"/>
                </a:lnTo>
                <a:lnTo>
                  <a:pt x="7001131" y="5752572"/>
                </a:lnTo>
                <a:lnTo>
                  <a:pt x="0" y="5752572"/>
                </a:lnTo>
                <a:lnTo>
                  <a:pt x="0" y="0"/>
                </a:lnTo>
                <a:close/>
              </a:path>
            </a:pathLst>
          </a:custGeom>
          <a:blipFill>
            <a:blip r:embed="rId8"/>
            <a:stretch>
              <a:fillRect l="0" t="-2477" r="0" b="0"/>
            </a:stretch>
          </a:blipFill>
        </p:spPr>
      </p:sp>
      <p:sp>
        <p:nvSpPr>
          <p:cNvPr name="TextBox 12" id="12"/>
          <p:cNvSpPr txBox="true"/>
          <p:nvPr/>
        </p:nvSpPr>
        <p:spPr>
          <a:xfrm rot="0">
            <a:off x="495294" y="827287"/>
            <a:ext cx="13596711" cy="917521"/>
          </a:xfrm>
          <a:prstGeom prst="rect">
            <a:avLst/>
          </a:prstGeom>
        </p:spPr>
        <p:txBody>
          <a:bodyPr anchor="t" rtlCol="false" tIns="0" lIns="0" bIns="0" rIns="0">
            <a:spAutoFit/>
          </a:bodyPr>
          <a:lstStyle/>
          <a:p>
            <a:pPr algn="l">
              <a:lnSpc>
                <a:spcPts val="6398"/>
              </a:lnSpc>
            </a:pPr>
            <a:r>
              <a:rPr lang="en-US" sz="6664" b="true">
                <a:solidFill>
                  <a:srgbClr val="FFFFFF"/>
                </a:solidFill>
                <a:latin typeface="Poppins Bold"/>
                <a:ea typeface="Poppins Bold"/>
                <a:cs typeface="Poppins Bold"/>
                <a:sym typeface="Poppins Bold"/>
              </a:rPr>
              <a:t>BIOMASS AND IT’S DISRUPTION</a:t>
            </a:r>
          </a:p>
        </p:txBody>
      </p:sp>
      <p:sp>
        <p:nvSpPr>
          <p:cNvPr name="TextBox 13" id="13"/>
          <p:cNvSpPr txBox="true"/>
          <p:nvPr/>
        </p:nvSpPr>
        <p:spPr>
          <a:xfrm rot="0">
            <a:off x="5201360" y="3075404"/>
            <a:ext cx="4861125" cy="4651375"/>
          </a:xfrm>
          <a:prstGeom prst="rect">
            <a:avLst/>
          </a:prstGeom>
        </p:spPr>
        <p:txBody>
          <a:bodyPr anchor="t" rtlCol="false" tIns="0" lIns="0" bIns="0" rIns="0">
            <a:spAutoFit/>
          </a:bodyPr>
          <a:lstStyle/>
          <a:p>
            <a:pPr algn="l" marL="474979" indent="-237490" lvl="1">
              <a:lnSpc>
                <a:spcPts val="3739"/>
              </a:lnSpc>
              <a:buFont typeface="Arial"/>
              <a:buChar char="•"/>
            </a:pPr>
            <a:r>
              <a:rPr lang="en-US" sz="2199">
                <a:solidFill>
                  <a:srgbClr val="FFFFFF"/>
                </a:solidFill>
                <a:latin typeface="Poppins"/>
                <a:ea typeface="Poppins"/>
                <a:cs typeface="Poppins"/>
                <a:sym typeface="Poppins"/>
              </a:rPr>
              <a:t>Can be calculated by percentage.</a:t>
            </a:r>
          </a:p>
          <a:p>
            <a:pPr algn="l" marL="474979" indent="-237490" lvl="1">
              <a:lnSpc>
                <a:spcPts val="3739"/>
              </a:lnSpc>
              <a:buFont typeface="Arial"/>
              <a:buChar char="•"/>
            </a:pPr>
            <a:r>
              <a:rPr lang="en-US" sz="2199">
                <a:solidFill>
                  <a:srgbClr val="FFFFFF"/>
                </a:solidFill>
                <a:latin typeface="Poppins"/>
                <a:ea typeface="Poppins"/>
                <a:cs typeface="Poppins"/>
                <a:sym typeface="Poppins"/>
              </a:rPr>
              <a:t>To help the biodiversity crisis ⟶ we must redistribute </a:t>
            </a:r>
          </a:p>
          <a:p>
            <a:pPr algn="l" marL="474979" indent="-237490" lvl="1">
              <a:lnSpc>
                <a:spcPts val="3739"/>
              </a:lnSpc>
              <a:buFont typeface="Arial"/>
              <a:buChar char="•"/>
            </a:pPr>
            <a:r>
              <a:rPr lang="en-US" sz="2199">
                <a:solidFill>
                  <a:srgbClr val="FFFFFF"/>
                </a:solidFill>
                <a:latin typeface="Poppins"/>
                <a:ea typeface="Poppins"/>
                <a:cs typeface="Poppins"/>
                <a:sym typeface="Poppins"/>
              </a:rPr>
              <a:t>Today, biomass is very concentrated in our livestock.</a:t>
            </a:r>
          </a:p>
          <a:p>
            <a:pPr algn="l" marL="474979" indent="-237490" lvl="1">
              <a:lnSpc>
                <a:spcPts val="3739"/>
              </a:lnSpc>
              <a:buFont typeface="Arial"/>
              <a:buChar char="•"/>
            </a:pPr>
            <a:r>
              <a:rPr lang="en-US" sz="2199">
                <a:solidFill>
                  <a:srgbClr val="FFFFFF"/>
                </a:solidFill>
                <a:latin typeface="Poppins"/>
                <a:ea typeface="Poppins"/>
                <a:cs typeface="Poppins"/>
                <a:sym typeface="Poppins"/>
              </a:rPr>
              <a:t>Can also be in reallocating the use of land (for example, to promote more carbon sequestration).</a:t>
            </a:r>
          </a:p>
        </p:txBody>
      </p:sp>
      <p:sp>
        <p:nvSpPr>
          <p:cNvPr name="TextBox 14" id="14"/>
          <p:cNvSpPr txBox="true"/>
          <p:nvPr/>
        </p:nvSpPr>
        <p:spPr>
          <a:xfrm rot="0">
            <a:off x="342769" y="3075404"/>
            <a:ext cx="4858592" cy="3251200"/>
          </a:xfrm>
          <a:prstGeom prst="rect">
            <a:avLst/>
          </a:prstGeom>
        </p:spPr>
        <p:txBody>
          <a:bodyPr anchor="t" rtlCol="false" tIns="0" lIns="0" bIns="0" rIns="0">
            <a:spAutoFit/>
          </a:bodyPr>
          <a:lstStyle/>
          <a:p>
            <a:pPr algn="l" marL="474979" indent="-237490" lvl="1">
              <a:lnSpc>
                <a:spcPts val="3739"/>
              </a:lnSpc>
              <a:buFont typeface="Arial"/>
              <a:buChar char="•"/>
            </a:pPr>
            <a:r>
              <a:rPr lang="en-US" sz="2199">
                <a:solidFill>
                  <a:srgbClr val="FFFFFF"/>
                </a:solidFill>
                <a:latin typeface="Poppins"/>
                <a:ea typeface="Poppins"/>
                <a:cs typeface="Poppins"/>
                <a:sym typeface="Poppins"/>
              </a:rPr>
              <a:t>Total mass of living organisms in a given area</a:t>
            </a:r>
          </a:p>
          <a:p>
            <a:pPr algn="l" marL="474979" indent="-237490" lvl="1">
              <a:lnSpc>
                <a:spcPts val="3739"/>
              </a:lnSpc>
              <a:buFont typeface="Arial"/>
              <a:buChar char="•"/>
            </a:pPr>
            <a:r>
              <a:rPr lang="en-US" sz="2199">
                <a:solidFill>
                  <a:srgbClr val="FFFFFF"/>
                </a:solidFill>
                <a:latin typeface="Poppins"/>
                <a:ea typeface="Poppins"/>
                <a:cs typeface="Poppins"/>
                <a:sym typeface="Poppins"/>
              </a:rPr>
              <a:t>Measured in gigatons of carbon (Gt C) for global studies</a:t>
            </a:r>
          </a:p>
          <a:p>
            <a:pPr algn="l" marL="474979" indent="-237490" lvl="1">
              <a:lnSpc>
                <a:spcPts val="3739"/>
              </a:lnSpc>
              <a:buFont typeface="Arial"/>
              <a:buChar char="•"/>
            </a:pPr>
            <a:r>
              <a:rPr lang="en-US" sz="2199">
                <a:solidFill>
                  <a:srgbClr val="FFFFFF"/>
                </a:solidFill>
                <a:latin typeface="Poppins"/>
                <a:ea typeface="Poppins"/>
                <a:cs typeface="Poppins"/>
                <a:sym typeface="Poppins"/>
              </a:rPr>
              <a:t>Human activities reshape biomass distribution</a:t>
            </a:r>
          </a:p>
        </p:txBody>
      </p:sp>
      <p:sp>
        <p:nvSpPr>
          <p:cNvPr name="TextBox 15" id="15"/>
          <p:cNvSpPr txBox="true"/>
          <p:nvPr/>
        </p:nvSpPr>
        <p:spPr>
          <a:xfrm rot="0">
            <a:off x="12297495" y="7897807"/>
            <a:ext cx="3589020" cy="385445"/>
          </a:xfrm>
          <a:prstGeom prst="rect">
            <a:avLst/>
          </a:prstGeom>
        </p:spPr>
        <p:txBody>
          <a:bodyPr anchor="t" rtlCol="false" tIns="0" lIns="0" bIns="0" rIns="0">
            <a:spAutoFit/>
          </a:bodyPr>
          <a:lstStyle/>
          <a:p>
            <a:pPr algn="ctr">
              <a:lnSpc>
                <a:spcPts val="3040"/>
              </a:lnSpc>
              <a:spcBef>
                <a:spcPct val="0"/>
              </a:spcBef>
            </a:pPr>
            <a:r>
              <a:rPr lang="en-US" sz="2000" i="true" spc="390">
                <a:solidFill>
                  <a:srgbClr val="FFFFFF"/>
                </a:solidFill>
                <a:latin typeface="Poppins Italics"/>
                <a:ea typeface="Poppins Italics"/>
                <a:cs typeface="Poppins Italics"/>
                <a:sym typeface="Poppins Italics"/>
              </a:rPr>
              <a:t>(GREENSPOON ET AL.)</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04323"/>
        </a:solidFill>
      </p:bgPr>
    </p:bg>
    <p:spTree>
      <p:nvGrpSpPr>
        <p:cNvPr id="1" name=""/>
        <p:cNvGrpSpPr/>
        <p:nvPr/>
      </p:nvGrpSpPr>
      <p:grpSpPr>
        <a:xfrm>
          <a:off x="0" y="0"/>
          <a:ext cx="0" cy="0"/>
          <a:chOff x="0" y="0"/>
          <a:chExt cx="0" cy="0"/>
        </a:xfrm>
      </p:grpSpPr>
      <p:sp>
        <p:nvSpPr>
          <p:cNvPr name="Freeform 2" id="2"/>
          <p:cNvSpPr/>
          <p:nvPr/>
        </p:nvSpPr>
        <p:spPr>
          <a:xfrm flipH="false" flipV="false" rot="0">
            <a:off x="-498415" y="8845337"/>
            <a:ext cx="21430122" cy="1441663"/>
          </a:xfrm>
          <a:custGeom>
            <a:avLst/>
            <a:gdLst/>
            <a:ahLst/>
            <a:cxnLst/>
            <a:rect r="r" b="b" t="t" l="l"/>
            <a:pathLst>
              <a:path h="1441663" w="21430122">
                <a:moveTo>
                  <a:pt x="0" y="0"/>
                </a:moveTo>
                <a:lnTo>
                  <a:pt x="21430122" y="0"/>
                </a:lnTo>
                <a:lnTo>
                  <a:pt x="21430122" y="1441663"/>
                </a:lnTo>
                <a:lnTo>
                  <a:pt x="0" y="144166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661885" y="6575204"/>
            <a:ext cx="5453349" cy="4114800"/>
          </a:xfrm>
          <a:custGeom>
            <a:avLst/>
            <a:gdLst/>
            <a:ahLst/>
            <a:cxnLst/>
            <a:rect r="r" b="b" t="t" l="l"/>
            <a:pathLst>
              <a:path h="4114800" w="5453349">
                <a:moveTo>
                  <a:pt x="0" y="0"/>
                </a:moveTo>
                <a:lnTo>
                  <a:pt x="5453350" y="0"/>
                </a:lnTo>
                <a:lnTo>
                  <a:pt x="545335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6222219" y="8766181"/>
            <a:ext cx="4280770" cy="2218217"/>
          </a:xfrm>
          <a:custGeom>
            <a:avLst/>
            <a:gdLst/>
            <a:ahLst/>
            <a:cxnLst/>
            <a:rect r="r" b="b" t="t" l="l"/>
            <a:pathLst>
              <a:path h="2218217" w="4280770">
                <a:moveTo>
                  <a:pt x="0" y="0"/>
                </a:moveTo>
                <a:lnTo>
                  <a:pt x="4280770" y="0"/>
                </a:lnTo>
                <a:lnTo>
                  <a:pt x="4280770" y="2218217"/>
                </a:lnTo>
                <a:lnTo>
                  <a:pt x="0" y="221821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5075958" y="902327"/>
            <a:ext cx="7019319" cy="936706"/>
          </a:xfrm>
          <a:prstGeom prst="rect">
            <a:avLst/>
          </a:prstGeom>
        </p:spPr>
        <p:txBody>
          <a:bodyPr anchor="t" rtlCol="false" tIns="0" lIns="0" bIns="0" rIns="0">
            <a:spAutoFit/>
          </a:bodyPr>
          <a:lstStyle/>
          <a:p>
            <a:pPr algn="l">
              <a:lnSpc>
                <a:spcPts val="6590"/>
              </a:lnSpc>
            </a:pPr>
            <a:r>
              <a:rPr lang="en-US" sz="6864" b="true">
                <a:solidFill>
                  <a:srgbClr val="FFFFFF"/>
                </a:solidFill>
                <a:latin typeface="Poppins Bold"/>
                <a:ea typeface="Poppins Bold"/>
                <a:cs typeface="Poppins Bold"/>
                <a:sym typeface="Poppins Bold"/>
              </a:rPr>
              <a:t>DEEP DIVE VS AI</a:t>
            </a:r>
          </a:p>
        </p:txBody>
      </p:sp>
      <p:sp>
        <p:nvSpPr>
          <p:cNvPr name="TextBox 6" id="6"/>
          <p:cNvSpPr txBox="true"/>
          <p:nvPr/>
        </p:nvSpPr>
        <p:spPr>
          <a:xfrm rot="0">
            <a:off x="1954105" y="2485136"/>
            <a:ext cx="14379791" cy="5240528"/>
          </a:xfrm>
          <a:prstGeom prst="rect">
            <a:avLst/>
          </a:prstGeom>
        </p:spPr>
        <p:txBody>
          <a:bodyPr anchor="t" rtlCol="false" tIns="0" lIns="0" bIns="0" rIns="0">
            <a:spAutoFit/>
          </a:bodyPr>
          <a:lstStyle/>
          <a:p>
            <a:pPr algn="l" marL="496571" indent="-248285" lvl="1">
              <a:lnSpc>
                <a:spcPts val="3496"/>
              </a:lnSpc>
              <a:buFont typeface="Arial"/>
              <a:buChar char="•"/>
            </a:pPr>
            <a:r>
              <a:rPr lang="en-US" sz="2300" spc="448">
                <a:solidFill>
                  <a:srgbClr val="FFFFFF"/>
                </a:solidFill>
                <a:latin typeface="Poppins"/>
                <a:ea typeface="Poppins"/>
                <a:cs typeface="Poppins"/>
                <a:sym typeface="Poppins"/>
              </a:rPr>
              <a:t>Deep Dive led us to find that the papers do not define their key terms while AI skipped it over. </a:t>
            </a:r>
          </a:p>
          <a:p>
            <a:pPr algn="l">
              <a:lnSpc>
                <a:spcPts val="3496"/>
              </a:lnSpc>
            </a:pPr>
          </a:p>
          <a:p>
            <a:pPr algn="l" marL="496571" indent="-248285" lvl="1">
              <a:lnSpc>
                <a:spcPts val="3496"/>
              </a:lnSpc>
              <a:buFont typeface="Arial"/>
              <a:buChar char="•"/>
            </a:pPr>
            <a:r>
              <a:rPr lang="en-US" sz="2300" spc="448">
                <a:solidFill>
                  <a:srgbClr val="FFFFFF"/>
                </a:solidFill>
                <a:latin typeface="Poppins"/>
                <a:ea typeface="Poppins"/>
                <a:cs typeface="Poppins"/>
                <a:sym typeface="Poppins"/>
              </a:rPr>
              <a:t>Similarly AI did not really provide us with accurate overview sometimes.</a:t>
            </a:r>
          </a:p>
          <a:p>
            <a:pPr algn="l">
              <a:lnSpc>
                <a:spcPts val="3496"/>
              </a:lnSpc>
            </a:pPr>
          </a:p>
          <a:p>
            <a:pPr algn="l" marL="496571" indent="-248285" lvl="1">
              <a:lnSpc>
                <a:spcPts val="3496"/>
              </a:lnSpc>
              <a:buFont typeface="Arial"/>
              <a:buChar char="•"/>
            </a:pPr>
            <a:r>
              <a:rPr lang="en-US" sz="2300" spc="448">
                <a:solidFill>
                  <a:srgbClr val="FFFFFF"/>
                </a:solidFill>
                <a:latin typeface="Poppins"/>
                <a:ea typeface="Poppins"/>
                <a:cs typeface="Poppins"/>
                <a:sym typeface="Poppins"/>
              </a:rPr>
              <a:t>It also gleamed over some key details when giving us overviews, such as the methodology, its drawbacks and how various factors relate and affect eachother which is really important to understanding the ideas and essence of the papers.</a:t>
            </a:r>
          </a:p>
          <a:p>
            <a:pPr algn="l">
              <a:lnSpc>
                <a:spcPts val="3496"/>
              </a:lnSpc>
            </a:pPr>
          </a:p>
          <a:p>
            <a:pPr algn="l" marL="496571" indent="-248285" lvl="1">
              <a:lnSpc>
                <a:spcPts val="3496"/>
              </a:lnSpc>
              <a:buFont typeface="Arial"/>
              <a:buChar char="•"/>
            </a:pPr>
            <a:r>
              <a:rPr lang="en-US" sz="2300" spc="448">
                <a:solidFill>
                  <a:srgbClr val="FFFFFF"/>
                </a:solidFill>
                <a:latin typeface="Poppins"/>
                <a:ea typeface="Poppins"/>
                <a:cs typeface="Poppins"/>
                <a:sym typeface="Poppins"/>
              </a:rPr>
              <a:t>Not using AI gave us a better grasp of the papers.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04323"/>
        </a:solidFill>
      </p:bgPr>
    </p:bg>
    <p:spTree>
      <p:nvGrpSpPr>
        <p:cNvPr id="1" name=""/>
        <p:cNvGrpSpPr/>
        <p:nvPr/>
      </p:nvGrpSpPr>
      <p:grpSpPr>
        <a:xfrm>
          <a:off x="0" y="0"/>
          <a:ext cx="0" cy="0"/>
          <a:chOff x="0" y="0"/>
          <a:chExt cx="0" cy="0"/>
        </a:xfrm>
      </p:grpSpPr>
      <p:sp>
        <p:nvSpPr>
          <p:cNvPr name="Freeform 2" id="2"/>
          <p:cNvSpPr/>
          <p:nvPr/>
        </p:nvSpPr>
        <p:spPr>
          <a:xfrm flipH="false" flipV="false" rot="0">
            <a:off x="-498415" y="8845337"/>
            <a:ext cx="21430122" cy="1441663"/>
          </a:xfrm>
          <a:custGeom>
            <a:avLst/>
            <a:gdLst/>
            <a:ahLst/>
            <a:cxnLst/>
            <a:rect r="r" b="b" t="t" l="l"/>
            <a:pathLst>
              <a:path h="1441663" w="21430122">
                <a:moveTo>
                  <a:pt x="0" y="0"/>
                </a:moveTo>
                <a:lnTo>
                  <a:pt x="21430122" y="0"/>
                </a:lnTo>
                <a:lnTo>
                  <a:pt x="21430122" y="1441663"/>
                </a:lnTo>
                <a:lnTo>
                  <a:pt x="0" y="144166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255969" y="9118626"/>
            <a:ext cx="5453349" cy="4114800"/>
          </a:xfrm>
          <a:custGeom>
            <a:avLst/>
            <a:gdLst/>
            <a:ahLst/>
            <a:cxnLst/>
            <a:rect r="r" b="b" t="t" l="l"/>
            <a:pathLst>
              <a:path h="4114800" w="5453349">
                <a:moveTo>
                  <a:pt x="0" y="0"/>
                </a:moveTo>
                <a:lnTo>
                  <a:pt x="5453350" y="0"/>
                </a:lnTo>
                <a:lnTo>
                  <a:pt x="545335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536996" y="7221567"/>
            <a:ext cx="4804601" cy="6344603"/>
            <a:chOff x="0" y="0"/>
            <a:chExt cx="653717" cy="863250"/>
          </a:xfrm>
        </p:grpSpPr>
        <p:sp>
          <p:nvSpPr>
            <p:cNvPr name="Freeform 5" id="5"/>
            <p:cNvSpPr/>
            <p:nvPr/>
          </p:nvSpPr>
          <p:spPr>
            <a:xfrm flipH="false" flipV="false" rot="0">
              <a:off x="0" y="0"/>
              <a:ext cx="653717" cy="863250"/>
            </a:xfrm>
            <a:custGeom>
              <a:avLst/>
              <a:gdLst/>
              <a:ahLst/>
              <a:cxnLst/>
              <a:rect r="r" b="b" t="t" l="l"/>
              <a:pathLst>
                <a:path h="863250" w="653717">
                  <a:moveTo>
                    <a:pt x="0" y="0"/>
                  </a:moveTo>
                  <a:lnTo>
                    <a:pt x="653717" y="0"/>
                  </a:lnTo>
                  <a:lnTo>
                    <a:pt x="653717" y="863250"/>
                  </a:lnTo>
                  <a:lnTo>
                    <a:pt x="0" y="863250"/>
                  </a:lnTo>
                  <a:close/>
                </a:path>
              </a:pathLst>
            </a:custGeom>
            <a:blipFill>
              <a:blip r:embed="rId6"/>
              <a:stretch>
                <a:fillRect l="-97" t="0" r="-97" b="0"/>
              </a:stretch>
            </a:blipFill>
            <a:ln cap="sq">
              <a:noFill/>
              <a:prstDash val="solid"/>
              <a:miter/>
            </a:ln>
          </p:spPr>
        </p:sp>
      </p:grpSp>
      <p:sp>
        <p:nvSpPr>
          <p:cNvPr name="Freeform 6" id="6"/>
          <p:cNvSpPr/>
          <p:nvPr/>
        </p:nvSpPr>
        <p:spPr>
          <a:xfrm flipH="false" flipV="false" rot="0">
            <a:off x="16222219" y="8766181"/>
            <a:ext cx="4280770" cy="2218217"/>
          </a:xfrm>
          <a:custGeom>
            <a:avLst/>
            <a:gdLst/>
            <a:ahLst/>
            <a:cxnLst/>
            <a:rect r="r" b="b" t="t" l="l"/>
            <a:pathLst>
              <a:path h="2218217" w="4280770">
                <a:moveTo>
                  <a:pt x="0" y="0"/>
                </a:moveTo>
                <a:lnTo>
                  <a:pt x="4280770" y="0"/>
                </a:lnTo>
                <a:lnTo>
                  <a:pt x="4280770" y="2218217"/>
                </a:lnTo>
                <a:lnTo>
                  <a:pt x="0" y="221821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7" id="7"/>
          <p:cNvGrpSpPr/>
          <p:nvPr/>
        </p:nvGrpSpPr>
        <p:grpSpPr>
          <a:xfrm rot="0">
            <a:off x="11380018" y="7221567"/>
            <a:ext cx="4698904" cy="6344603"/>
            <a:chOff x="0" y="0"/>
            <a:chExt cx="639335" cy="863250"/>
          </a:xfrm>
        </p:grpSpPr>
        <p:sp>
          <p:nvSpPr>
            <p:cNvPr name="Freeform 8" id="8"/>
            <p:cNvSpPr/>
            <p:nvPr/>
          </p:nvSpPr>
          <p:spPr>
            <a:xfrm flipH="false" flipV="false" rot="0">
              <a:off x="0" y="0"/>
              <a:ext cx="639335" cy="863250"/>
            </a:xfrm>
            <a:custGeom>
              <a:avLst/>
              <a:gdLst/>
              <a:ahLst/>
              <a:cxnLst/>
              <a:rect r="r" b="b" t="t" l="l"/>
              <a:pathLst>
                <a:path h="863250" w="639335">
                  <a:moveTo>
                    <a:pt x="0" y="0"/>
                  </a:moveTo>
                  <a:lnTo>
                    <a:pt x="639335" y="0"/>
                  </a:lnTo>
                  <a:lnTo>
                    <a:pt x="639335" y="863250"/>
                  </a:lnTo>
                  <a:lnTo>
                    <a:pt x="0" y="863250"/>
                  </a:lnTo>
                  <a:close/>
                </a:path>
              </a:pathLst>
            </a:custGeom>
            <a:blipFill>
              <a:blip r:embed="rId9"/>
              <a:stretch>
                <a:fillRect l="-2912" t="0" r="-2912" b="0"/>
              </a:stretch>
            </a:blipFill>
            <a:ln cap="sq">
              <a:noFill/>
              <a:prstDash val="solid"/>
              <a:miter/>
            </a:ln>
          </p:spPr>
        </p:sp>
      </p:grpSp>
      <p:sp>
        <p:nvSpPr>
          <p:cNvPr name="TextBox 9" id="9"/>
          <p:cNvSpPr txBox="true"/>
          <p:nvPr/>
        </p:nvSpPr>
        <p:spPr>
          <a:xfrm rot="0">
            <a:off x="508877" y="4176742"/>
            <a:ext cx="7136682" cy="2139950"/>
          </a:xfrm>
          <a:prstGeom prst="rect">
            <a:avLst/>
          </a:prstGeom>
        </p:spPr>
        <p:txBody>
          <a:bodyPr anchor="t" rtlCol="false" tIns="0" lIns="0" bIns="0" rIns="0">
            <a:spAutoFit/>
          </a:bodyPr>
          <a:lstStyle/>
          <a:p>
            <a:pPr algn="l" marL="431801" indent="-215900" lvl="1">
              <a:lnSpc>
                <a:spcPts val="3400"/>
              </a:lnSpc>
              <a:buFont typeface="Arial"/>
              <a:buChar char="•"/>
            </a:pPr>
            <a:r>
              <a:rPr lang="en-US" sz="2000">
                <a:solidFill>
                  <a:srgbClr val="FFFFFF"/>
                </a:solidFill>
                <a:latin typeface="Poppins"/>
                <a:ea typeface="Poppins"/>
                <a:cs typeface="Poppins"/>
                <a:sym typeface="Poppins"/>
              </a:rPr>
              <a:t>descriptive census of current global biomass.</a:t>
            </a:r>
          </a:p>
          <a:p>
            <a:pPr algn="l" marL="431801" indent="-215900" lvl="1">
              <a:lnSpc>
                <a:spcPts val="3400"/>
              </a:lnSpc>
              <a:buFont typeface="Arial"/>
              <a:buChar char="•"/>
            </a:pPr>
            <a:r>
              <a:rPr lang="en-US" sz="2000">
                <a:solidFill>
                  <a:srgbClr val="FFFFFF"/>
                </a:solidFill>
                <a:latin typeface="Poppins"/>
                <a:ea typeface="Poppins"/>
                <a:cs typeface="Poppins"/>
                <a:sym typeface="Poppins"/>
              </a:rPr>
              <a:t>? → What is the total biomass of life on Earth and how is it distributed?</a:t>
            </a:r>
          </a:p>
          <a:p>
            <a:pPr algn="l" marL="431801" indent="-215900" lvl="1">
              <a:lnSpc>
                <a:spcPts val="3400"/>
              </a:lnSpc>
              <a:buFont typeface="Arial"/>
              <a:buChar char="•"/>
            </a:pPr>
            <a:r>
              <a:rPr lang="en-US" sz="2000">
                <a:solidFill>
                  <a:srgbClr val="FFFFFF"/>
                </a:solidFill>
                <a:latin typeface="Poppins"/>
                <a:ea typeface="Poppins"/>
                <a:cs typeface="Poppins"/>
                <a:sym typeface="Poppins"/>
              </a:rPr>
              <a:t>Combines hundreds of datasets to estimate global carbon biomass.</a:t>
            </a:r>
          </a:p>
        </p:txBody>
      </p:sp>
      <p:sp>
        <p:nvSpPr>
          <p:cNvPr name="TextBox 10" id="10"/>
          <p:cNvSpPr txBox="true"/>
          <p:nvPr/>
        </p:nvSpPr>
        <p:spPr>
          <a:xfrm rot="0">
            <a:off x="626240" y="752500"/>
            <a:ext cx="13291277" cy="889327"/>
          </a:xfrm>
          <a:prstGeom prst="rect">
            <a:avLst/>
          </a:prstGeom>
        </p:spPr>
        <p:txBody>
          <a:bodyPr anchor="t" rtlCol="false" tIns="0" lIns="0" bIns="0" rIns="0">
            <a:spAutoFit/>
          </a:bodyPr>
          <a:lstStyle/>
          <a:p>
            <a:pPr algn="l">
              <a:lnSpc>
                <a:spcPts val="6110"/>
              </a:lnSpc>
            </a:pPr>
            <a:r>
              <a:rPr lang="en-US" sz="6364" b="true">
                <a:solidFill>
                  <a:srgbClr val="FFFFFF"/>
                </a:solidFill>
                <a:latin typeface="Poppins Bold"/>
                <a:ea typeface="Poppins Bold"/>
                <a:cs typeface="Poppins Bold"/>
                <a:sym typeface="Poppins Bold"/>
              </a:rPr>
              <a:t>COMPARISON OF GIVEN STUDIES</a:t>
            </a:r>
          </a:p>
        </p:txBody>
      </p:sp>
      <p:sp>
        <p:nvSpPr>
          <p:cNvPr name="TextBox 11" id="11"/>
          <p:cNvSpPr txBox="true"/>
          <p:nvPr/>
        </p:nvSpPr>
        <p:spPr>
          <a:xfrm rot="0">
            <a:off x="626240" y="2539917"/>
            <a:ext cx="7805076" cy="859028"/>
          </a:xfrm>
          <a:prstGeom prst="rect">
            <a:avLst/>
          </a:prstGeom>
        </p:spPr>
        <p:txBody>
          <a:bodyPr anchor="t" rtlCol="false" tIns="0" lIns="0" bIns="0" rIns="0">
            <a:spAutoFit/>
          </a:bodyPr>
          <a:lstStyle/>
          <a:p>
            <a:pPr algn="l">
              <a:lnSpc>
                <a:spcPts val="3496"/>
              </a:lnSpc>
            </a:pPr>
            <a:r>
              <a:rPr lang="en-US" sz="2300" spc="448">
                <a:solidFill>
                  <a:srgbClr val="FFFFFF"/>
                </a:solidFill>
                <a:latin typeface="Poppins"/>
                <a:ea typeface="Poppins"/>
                <a:cs typeface="Poppins"/>
                <a:sym typeface="Poppins"/>
              </a:rPr>
              <a:t>THE BIOMASS DISTRIBUTION ON EARTH</a:t>
            </a:r>
          </a:p>
          <a:p>
            <a:pPr algn="l">
              <a:lnSpc>
                <a:spcPts val="3496"/>
              </a:lnSpc>
            </a:pPr>
            <a:r>
              <a:rPr lang="en-US" sz="2300" spc="448">
                <a:solidFill>
                  <a:srgbClr val="FFFFFF"/>
                </a:solidFill>
                <a:latin typeface="Poppins"/>
                <a:ea typeface="Poppins"/>
                <a:cs typeface="Poppins"/>
                <a:sym typeface="Poppins"/>
              </a:rPr>
              <a:t>(BAR-ON ET AL. 2018)</a:t>
            </a:r>
          </a:p>
        </p:txBody>
      </p:sp>
      <p:sp>
        <p:nvSpPr>
          <p:cNvPr name="TextBox 12" id="12"/>
          <p:cNvSpPr txBox="true"/>
          <p:nvPr/>
        </p:nvSpPr>
        <p:spPr>
          <a:xfrm rot="0">
            <a:off x="9144000" y="4176742"/>
            <a:ext cx="7964533" cy="2139950"/>
          </a:xfrm>
          <a:prstGeom prst="rect">
            <a:avLst/>
          </a:prstGeom>
        </p:spPr>
        <p:txBody>
          <a:bodyPr anchor="t" rtlCol="false" tIns="0" lIns="0" bIns="0" rIns="0">
            <a:spAutoFit/>
          </a:bodyPr>
          <a:lstStyle/>
          <a:p>
            <a:pPr algn="l" marL="431801" indent="-215900" lvl="1">
              <a:lnSpc>
                <a:spcPts val="3400"/>
              </a:lnSpc>
              <a:buFont typeface="Arial"/>
              <a:buChar char="•"/>
            </a:pPr>
            <a:r>
              <a:rPr lang="en-US" sz="2000">
                <a:solidFill>
                  <a:srgbClr val="FFFFFF"/>
                </a:solidFill>
                <a:latin typeface="Poppins"/>
                <a:ea typeface="Poppins"/>
                <a:cs typeface="Poppins"/>
                <a:sym typeface="Poppins"/>
              </a:rPr>
              <a:t>analytical comparison of human-induced pressures</a:t>
            </a:r>
          </a:p>
          <a:p>
            <a:pPr algn="l" marL="431801" indent="-215900" lvl="1">
              <a:lnSpc>
                <a:spcPts val="3400"/>
              </a:lnSpc>
              <a:buFont typeface="Arial"/>
              <a:buChar char="•"/>
            </a:pPr>
            <a:r>
              <a:rPr lang="en-US" sz="2000">
                <a:solidFill>
                  <a:srgbClr val="FFFFFF"/>
                </a:solidFill>
                <a:latin typeface="Poppins"/>
                <a:ea typeface="Poppins"/>
                <a:cs typeface="Poppins"/>
                <a:sym typeface="Poppins"/>
              </a:rPr>
              <a:t>? → Which human-driven factors are the strongest causes of biodiversity loss?</a:t>
            </a:r>
          </a:p>
          <a:p>
            <a:pPr algn="l" marL="431801" indent="-215900" lvl="1">
              <a:lnSpc>
                <a:spcPts val="3400"/>
              </a:lnSpc>
              <a:buFont typeface="Arial"/>
              <a:buChar char="•"/>
            </a:pPr>
            <a:r>
              <a:rPr lang="en-US" sz="2000">
                <a:solidFill>
                  <a:srgbClr val="FFFFFF"/>
                </a:solidFill>
                <a:latin typeface="Poppins"/>
                <a:ea typeface="Poppins"/>
                <a:cs typeface="Poppins"/>
                <a:sym typeface="Poppins"/>
              </a:rPr>
              <a:t>Extracts pairwise dominance of five major drivers from    163 studies (more than 45000 screened)</a:t>
            </a:r>
          </a:p>
        </p:txBody>
      </p:sp>
      <p:sp>
        <p:nvSpPr>
          <p:cNvPr name="TextBox 13" id="13"/>
          <p:cNvSpPr txBox="true"/>
          <p:nvPr/>
        </p:nvSpPr>
        <p:spPr>
          <a:xfrm rot="0">
            <a:off x="9231682" y="2539917"/>
            <a:ext cx="8343464" cy="1297178"/>
          </a:xfrm>
          <a:prstGeom prst="rect">
            <a:avLst/>
          </a:prstGeom>
        </p:spPr>
        <p:txBody>
          <a:bodyPr anchor="t" rtlCol="false" tIns="0" lIns="0" bIns="0" rIns="0">
            <a:spAutoFit/>
          </a:bodyPr>
          <a:lstStyle/>
          <a:p>
            <a:pPr algn="l">
              <a:lnSpc>
                <a:spcPts val="3496"/>
              </a:lnSpc>
            </a:pPr>
            <a:r>
              <a:rPr lang="en-US" sz="2300" spc="448">
                <a:solidFill>
                  <a:srgbClr val="FFFFFF"/>
                </a:solidFill>
                <a:latin typeface="Poppins"/>
                <a:ea typeface="Poppins"/>
                <a:cs typeface="Poppins"/>
                <a:sym typeface="Poppins"/>
              </a:rPr>
              <a:t>THE DIRECT DRIVERS OF RECENT GLOBAL ANTHROPOGENIC BIODIVERSITY LOSS</a:t>
            </a:r>
          </a:p>
          <a:p>
            <a:pPr algn="l">
              <a:lnSpc>
                <a:spcPts val="3496"/>
              </a:lnSpc>
            </a:pPr>
            <a:r>
              <a:rPr lang="en-US" sz="2300" spc="448">
                <a:solidFill>
                  <a:srgbClr val="FFFFFF"/>
                </a:solidFill>
                <a:latin typeface="Poppins"/>
                <a:ea typeface="Poppins"/>
                <a:cs typeface="Poppins"/>
                <a:sym typeface="Poppins"/>
              </a:rPr>
              <a:t>(JAUREGUIBERRY ET AL. 2022)</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04323"/>
        </a:solidFill>
      </p:bgPr>
    </p:bg>
    <p:spTree>
      <p:nvGrpSpPr>
        <p:cNvPr id="1" name=""/>
        <p:cNvGrpSpPr/>
        <p:nvPr/>
      </p:nvGrpSpPr>
      <p:grpSpPr>
        <a:xfrm>
          <a:off x="0" y="0"/>
          <a:ext cx="0" cy="0"/>
          <a:chOff x="0" y="0"/>
          <a:chExt cx="0" cy="0"/>
        </a:xfrm>
      </p:grpSpPr>
      <p:sp>
        <p:nvSpPr>
          <p:cNvPr name="Freeform 2" id="2"/>
          <p:cNvSpPr/>
          <p:nvPr/>
        </p:nvSpPr>
        <p:spPr>
          <a:xfrm flipH="false" flipV="false" rot="0">
            <a:off x="-498415" y="8845337"/>
            <a:ext cx="21430122" cy="1441663"/>
          </a:xfrm>
          <a:custGeom>
            <a:avLst/>
            <a:gdLst/>
            <a:ahLst/>
            <a:cxnLst/>
            <a:rect r="r" b="b" t="t" l="l"/>
            <a:pathLst>
              <a:path h="1441663" w="21430122">
                <a:moveTo>
                  <a:pt x="0" y="0"/>
                </a:moveTo>
                <a:lnTo>
                  <a:pt x="21430122" y="0"/>
                </a:lnTo>
                <a:lnTo>
                  <a:pt x="21430122" y="1441663"/>
                </a:lnTo>
                <a:lnTo>
                  <a:pt x="0" y="144166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255969" y="9118626"/>
            <a:ext cx="5453349" cy="4114800"/>
          </a:xfrm>
          <a:custGeom>
            <a:avLst/>
            <a:gdLst/>
            <a:ahLst/>
            <a:cxnLst/>
            <a:rect r="r" b="b" t="t" l="l"/>
            <a:pathLst>
              <a:path h="4114800" w="5453349">
                <a:moveTo>
                  <a:pt x="0" y="0"/>
                </a:moveTo>
                <a:lnTo>
                  <a:pt x="5453350" y="0"/>
                </a:lnTo>
                <a:lnTo>
                  <a:pt x="545335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6222219" y="8766181"/>
            <a:ext cx="4280770" cy="2218217"/>
          </a:xfrm>
          <a:custGeom>
            <a:avLst/>
            <a:gdLst/>
            <a:ahLst/>
            <a:cxnLst/>
            <a:rect r="r" b="b" t="t" l="l"/>
            <a:pathLst>
              <a:path h="2218217" w="4280770">
                <a:moveTo>
                  <a:pt x="0" y="0"/>
                </a:moveTo>
                <a:lnTo>
                  <a:pt x="4280770" y="0"/>
                </a:lnTo>
                <a:lnTo>
                  <a:pt x="4280770" y="2218217"/>
                </a:lnTo>
                <a:lnTo>
                  <a:pt x="0" y="221821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8447082" y="676300"/>
            <a:ext cx="8302063" cy="4109521"/>
          </a:xfrm>
          <a:custGeom>
            <a:avLst/>
            <a:gdLst/>
            <a:ahLst/>
            <a:cxnLst/>
            <a:rect r="r" b="b" t="t" l="l"/>
            <a:pathLst>
              <a:path h="4109521" w="8302063">
                <a:moveTo>
                  <a:pt x="0" y="0"/>
                </a:moveTo>
                <a:lnTo>
                  <a:pt x="8302064" y="0"/>
                </a:lnTo>
                <a:lnTo>
                  <a:pt x="8302064" y="4109522"/>
                </a:lnTo>
                <a:lnTo>
                  <a:pt x="0" y="4109522"/>
                </a:lnTo>
                <a:lnTo>
                  <a:pt x="0" y="0"/>
                </a:lnTo>
                <a:close/>
              </a:path>
            </a:pathLst>
          </a:custGeom>
          <a:blipFill>
            <a:blip r:embed="rId8"/>
            <a:stretch>
              <a:fillRect l="0" t="0" r="0" b="0"/>
            </a:stretch>
          </a:blipFill>
        </p:spPr>
      </p:sp>
      <p:sp>
        <p:nvSpPr>
          <p:cNvPr name="Freeform 6" id="6"/>
          <p:cNvSpPr/>
          <p:nvPr/>
        </p:nvSpPr>
        <p:spPr>
          <a:xfrm flipH="false" flipV="false" rot="0">
            <a:off x="8447082" y="5143500"/>
            <a:ext cx="8302063" cy="4462359"/>
          </a:xfrm>
          <a:custGeom>
            <a:avLst/>
            <a:gdLst/>
            <a:ahLst/>
            <a:cxnLst/>
            <a:rect r="r" b="b" t="t" l="l"/>
            <a:pathLst>
              <a:path h="4462359" w="8302063">
                <a:moveTo>
                  <a:pt x="0" y="0"/>
                </a:moveTo>
                <a:lnTo>
                  <a:pt x="8302064" y="0"/>
                </a:lnTo>
                <a:lnTo>
                  <a:pt x="8302064" y="4462359"/>
                </a:lnTo>
                <a:lnTo>
                  <a:pt x="0" y="4462359"/>
                </a:lnTo>
                <a:lnTo>
                  <a:pt x="0" y="0"/>
                </a:lnTo>
                <a:close/>
              </a:path>
            </a:pathLst>
          </a:custGeom>
          <a:blipFill>
            <a:blip r:embed="rId9"/>
            <a:stretch>
              <a:fillRect l="0" t="0" r="0" b="0"/>
            </a:stretch>
          </a:blipFill>
        </p:spPr>
      </p:sp>
      <p:sp>
        <p:nvSpPr>
          <p:cNvPr name="TextBox 7" id="7"/>
          <p:cNvSpPr txBox="true"/>
          <p:nvPr/>
        </p:nvSpPr>
        <p:spPr>
          <a:xfrm rot="0">
            <a:off x="626240" y="3835187"/>
            <a:ext cx="6839640" cy="5010150"/>
          </a:xfrm>
          <a:prstGeom prst="rect">
            <a:avLst/>
          </a:prstGeom>
        </p:spPr>
        <p:txBody>
          <a:bodyPr anchor="t" rtlCol="false" tIns="0" lIns="0" bIns="0" rIns="0">
            <a:spAutoFit/>
          </a:bodyPr>
          <a:lstStyle/>
          <a:p>
            <a:pPr algn="l" marL="431801" indent="-215900" lvl="1">
              <a:lnSpc>
                <a:spcPts val="3500"/>
              </a:lnSpc>
              <a:buFont typeface="Arial"/>
              <a:buChar char="•"/>
            </a:pPr>
            <a:r>
              <a:rPr lang="en-US" sz="2000">
                <a:solidFill>
                  <a:srgbClr val="FFFFFF"/>
                </a:solidFill>
                <a:latin typeface="Poppins"/>
                <a:ea typeface="Poppins"/>
                <a:cs typeface="Poppins"/>
                <a:sym typeface="Poppins"/>
              </a:rPr>
              <a:t>Biomass is extremely uneven</a:t>
            </a:r>
          </a:p>
          <a:p>
            <a:pPr algn="l" marL="431801" indent="-215900" lvl="1">
              <a:lnSpc>
                <a:spcPts val="3500"/>
              </a:lnSpc>
              <a:buFont typeface="Arial"/>
              <a:buChar char="•"/>
            </a:pPr>
            <a:r>
              <a:rPr lang="en-US" sz="2000">
                <a:solidFill>
                  <a:srgbClr val="FFFFFF"/>
                </a:solidFill>
                <a:latin typeface="Poppins"/>
                <a:ea typeface="Poppins"/>
                <a:cs typeface="Poppins"/>
                <a:sym typeface="Poppins"/>
              </a:rPr>
              <a:t>Wild animals now form only a tiny fraction of Earth’s biomass</a:t>
            </a:r>
          </a:p>
          <a:p>
            <a:pPr algn="l" marL="431801" indent="-215900" lvl="1">
              <a:lnSpc>
                <a:spcPts val="3500"/>
              </a:lnSpc>
              <a:buFont typeface="Arial"/>
              <a:buChar char="•"/>
            </a:pPr>
            <a:r>
              <a:rPr lang="en-US" sz="2000">
                <a:solidFill>
                  <a:srgbClr val="FFFFFF"/>
                </a:solidFill>
                <a:latin typeface="Poppins"/>
                <a:ea typeface="Poppins"/>
                <a:cs typeface="Poppins"/>
                <a:sym typeface="Poppins"/>
              </a:rPr>
              <a:t>Human activity has:</a:t>
            </a:r>
          </a:p>
          <a:p>
            <a:pPr algn="l" marL="863601" indent="-287867" lvl="2">
              <a:lnSpc>
                <a:spcPts val="3400"/>
              </a:lnSpc>
              <a:buFont typeface="Arial"/>
              <a:buChar char="⚬"/>
            </a:pPr>
            <a:r>
              <a:rPr lang="en-US" sz="2000">
                <a:solidFill>
                  <a:srgbClr val="FFFFFF"/>
                </a:solidFill>
                <a:latin typeface="Poppins"/>
                <a:ea typeface="Poppins"/>
                <a:cs typeface="Poppins"/>
                <a:sym typeface="Poppins"/>
              </a:rPr>
              <a:t>Reduced wild mammal biomass </a:t>
            </a:r>
          </a:p>
          <a:p>
            <a:pPr algn="l" marL="863601" indent="-287867" lvl="2">
              <a:lnSpc>
                <a:spcPts val="3400"/>
              </a:lnSpc>
              <a:buFont typeface="Arial"/>
              <a:buChar char="⚬"/>
            </a:pPr>
            <a:r>
              <a:rPr lang="en-US" sz="2000">
                <a:solidFill>
                  <a:srgbClr val="FFFFFF"/>
                </a:solidFill>
                <a:latin typeface="Poppins"/>
                <a:ea typeface="Poppins"/>
                <a:cs typeface="Poppins"/>
                <a:sym typeface="Poppins"/>
              </a:rPr>
              <a:t>Halved global plant biomass since preindustrial times</a:t>
            </a:r>
          </a:p>
          <a:p>
            <a:pPr algn="l" marL="863601" indent="-287867" lvl="2">
              <a:lnSpc>
                <a:spcPts val="3400"/>
              </a:lnSpc>
              <a:buFont typeface="Arial"/>
              <a:buChar char="⚬"/>
            </a:pPr>
            <a:r>
              <a:rPr lang="en-US" sz="2000">
                <a:solidFill>
                  <a:srgbClr val="FFFFFF"/>
                </a:solidFill>
                <a:latin typeface="Poppins"/>
                <a:ea typeface="Poppins"/>
                <a:cs typeface="Poppins"/>
                <a:sym typeface="Poppins"/>
              </a:rPr>
              <a:t>Replaced wild animals with livestock and humans</a:t>
            </a:r>
          </a:p>
          <a:p>
            <a:pPr algn="l">
              <a:lnSpc>
                <a:spcPts val="2040"/>
              </a:lnSpc>
            </a:pPr>
          </a:p>
          <a:p>
            <a:pPr algn="l" marL="431801" indent="-215900" lvl="1">
              <a:lnSpc>
                <a:spcPts val="3400"/>
              </a:lnSpc>
              <a:buFont typeface="Arial"/>
              <a:buChar char="•"/>
            </a:pPr>
            <a:r>
              <a:rPr lang="en-US" sz="2000">
                <a:solidFill>
                  <a:srgbClr val="FFFFFF"/>
                </a:solidFill>
                <a:latin typeface="Poppins"/>
                <a:ea typeface="Poppins"/>
                <a:cs typeface="Poppins"/>
                <a:sym typeface="Poppins"/>
              </a:rPr>
              <a:t>H</a:t>
            </a:r>
            <a:r>
              <a:rPr lang="en-US" sz="2000">
                <a:solidFill>
                  <a:srgbClr val="FFFFFF"/>
                </a:solidFill>
                <a:latin typeface="Poppins"/>
                <a:ea typeface="Poppins"/>
                <a:cs typeface="Poppins"/>
                <a:sym typeface="Poppins"/>
              </a:rPr>
              <a:t>umans and livestock outweigh all vertebrates combined, with the exception of fish.</a:t>
            </a:r>
          </a:p>
        </p:txBody>
      </p:sp>
      <p:sp>
        <p:nvSpPr>
          <p:cNvPr name="TextBox 8" id="8"/>
          <p:cNvSpPr txBox="true"/>
          <p:nvPr/>
        </p:nvSpPr>
        <p:spPr>
          <a:xfrm rot="0">
            <a:off x="626240" y="752500"/>
            <a:ext cx="7019319" cy="889327"/>
          </a:xfrm>
          <a:prstGeom prst="rect">
            <a:avLst/>
          </a:prstGeom>
        </p:spPr>
        <p:txBody>
          <a:bodyPr anchor="t" rtlCol="false" tIns="0" lIns="0" bIns="0" rIns="0">
            <a:spAutoFit/>
          </a:bodyPr>
          <a:lstStyle/>
          <a:p>
            <a:pPr algn="l">
              <a:lnSpc>
                <a:spcPts val="6110"/>
              </a:lnSpc>
            </a:pPr>
            <a:r>
              <a:rPr lang="en-US" sz="6364" b="true">
                <a:solidFill>
                  <a:srgbClr val="FFFFFF"/>
                </a:solidFill>
                <a:latin typeface="Poppins Bold"/>
                <a:ea typeface="Poppins Bold"/>
                <a:cs typeface="Poppins Bold"/>
                <a:sym typeface="Poppins Bold"/>
              </a:rPr>
              <a:t>KEY FINDINGS</a:t>
            </a:r>
          </a:p>
        </p:txBody>
      </p:sp>
      <p:sp>
        <p:nvSpPr>
          <p:cNvPr name="TextBox 9" id="9"/>
          <p:cNvSpPr txBox="true"/>
          <p:nvPr/>
        </p:nvSpPr>
        <p:spPr>
          <a:xfrm rot="0">
            <a:off x="626240" y="2442925"/>
            <a:ext cx="7805076" cy="859028"/>
          </a:xfrm>
          <a:prstGeom prst="rect">
            <a:avLst/>
          </a:prstGeom>
        </p:spPr>
        <p:txBody>
          <a:bodyPr anchor="t" rtlCol="false" tIns="0" lIns="0" bIns="0" rIns="0">
            <a:spAutoFit/>
          </a:bodyPr>
          <a:lstStyle/>
          <a:p>
            <a:pPr algn="l">
              <a:lnSpc>
                <a:spcPts val="3496"/>
              </a:lnSpc>
            </a:pPr>
            <a:r>
              <a:rPr lang="en-US" sz="2300" spc="448">
                <a:solidFill>
                  <a:srgbClr val="FFFFFF"/>
                </a:solidFill>
                <a:latin typeface="Poppins"/>
                <a:ea typeface="Poppins"/>
                <a:cs typeface="Poppins"/>
                <a:sym typeface="Poppins"/>
              </a:rPr>
              <a:t>THE BIOMASS DISTRIBUTION ON EARTH</a:t>
            </a:r>
          </a:p>
          <a:p>
            <a:pPr algn="l">
              <a:lnSpc>
                <a:spcPts val="3496"/>
              </a:lnSpc>
            </a:pPr>
            <a:r>
              <a:rPr lang="en-US" sz="2300" spc="448">
                <a:solidFill>
                  <a:srgbClr val="FFFFFF"/>
                </a:solidFill>
                <a:latin typeface="Poppins"/>
                <a:ea typeface="Poppins"/>
                <a:cs typeface="Poppins"/>
                <a:sym typeface="Poppins"/>
              </a:rPr>
              <a:t>(BAR-ON ET AL. 2018)</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04323"/>
        </a:solidFill>
      </p:bgPr>
    </p:bg>
    <p:spTree>
      <p:nvGrpSpPr>
        <p:cNvPr id="1" name=""/>
        <p:cNvGrpSpPr/>
        <p:nvPr/>
      </p:nvGrpSpPr>
      <p:grpSpPr>
        <a:xfrm>
          <a:off x="0" y="0"/>
          <a:ext cx="0" cy="0"/>
          <a:chOff x="0" y="0"/>
          <a:chExt cx="0" cy="0"/>
        </a:xfrm>
      </p:grpSpPr>
      <p:sp>
        <p:nvSpPr>
          <p:cNvPr name="Freeform 2" id="2"/>
          <p:cNvSpPr/>
          <p:nvPr/>
        </p:nvSpPr>
        <p:spPr>
          <a:xfrm flipH="false" flipV="false" rot="0">
            <a:off x="-498415" y="8845337"/>
            <a:ext cx="21430122" cy="1441663"/>
          </a:xfrm>
          <a:custGeom>
            <a:avLst/>
            <a:gdLst/>
            <a:ahLst/>
            <a:cxnLst/>
            <a:rect r="r" b="b" t="t" l="l"/>
            <a:pathLst>
              <a:path h="1441663" w="21430122">
                <a:moveTo>
                  <a:pt x="0" y="0"/>
                </a:moveTo>
                <a:lnTo>
                  <a:pt x="21430122" y="0"/>
                </a:lnTo>
                <a:lnTo>
                  <a:pt x="21430122" y="1441663"/>
                </a:lnTo>
                <a:lnTo>
                  <a:pt x="0" y="144166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255969" y="9118626"/>
            <a:ext cx="5453349" cy="4114800"/>
          </a:xfrm>
          <a:custGeom>
            <a:avLst/>
            <a:gdLst/>
            <a:ahLst/>
            <a:cxnLst/>
            <a:rect r="r" b="b" t="t" l="l"/>
            <a:pathLst>
              <a:path h="4114800" w="5453349">
                <a:moveTo>
                  <a:pt x="0" y="0"/>
                </a:moveTo>
                <a:lnTo>
                  <a:pt x="5453350" y="0"/>
                </a:lnTo>
                <a:lnTo>
                  <a:pt x="545335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6222219" y="8766181"/>
            <a:ext cx="4280770" cy="2218217"/>
          </a:xfrm>
          <a:custGeom>
            <a:avLst/>
            <a:gdLst/>
            <a:ahLst/>
            <a:cxnLst/>
            <a:rect r="r" b="b" t="t" l="l"/>
            <a:pathLst>
              <a:path h="2218217" w="4280770">
                <a:moveTo>
                  <a:pt x="0" y="0"/>
                </a:moveTo>
                <a:lnTo>
                  <a:pt x="4280770" y="0"/>
                </a:lnTo>
                <a:lnTo>
                  <a:pt x="4280770" y="2218217"/>
                </a:lnTo>
                <a:lnTo>
                  <a:pt x="0" y="221821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2045147" y="676300"/>
            <a:ext cx="5214153" cy="3480447"/>
          </a:xfrm>
          <a:custGeom>
            <a:avLst/>
            <a:gdLst/>
            <a:ahLst/>
            <a:cxnLst/>
            <a:rect r="r" b="b" t="t" l="l"/>
            <a:pathLst>
              <a:path h="3480447" w="5214153">
                <a:moveTo>
                  <a:pt x="0" y="0"/>
                </a:moveTo>
                <a:lnTo>
                  <a:pt x="5214153" y="0"/>
                </a:lnTo>
                <a:lnTo>
                  <a:pt x="5214153" y="3480448"/>
                </a:lnTo>
                <a:lnTo>
                  <a:pt x="0" y="3480448"/>
                </a:lnTo>
                <a:lnTo>
                  <a:pt x="0" y="0"/>
                </a:lnTo>
                <a:close/>
              </a:path>
            </a:pathLst>
          </a:custGeom>
          <a:blipFill>
            <a:blip r:embed="rId8"/>
            <a:stretch>
              <a:fillRect l="0" t="0" r="0" b="0"/>
            </a:stretch>
          </a:blipFill>
          <a:ln w="66675" cap="rnd">
            <a:solidFill>
              <a:srgbClr val="438E20"/>
            </a:solidFill>
            <a:prstDash val="solid"/>
            <a:round/>
          </a:ln>
        </p:spPr>
      </p:sp>
      <p:sp>
        <p:nvSpPr>
          <p:cNvPr name="TextBox 6" id="6"/>
          <p:cNvSpPr txBox="true"/>
          <p:nvPr/>
        </p:nvSpPr>
        <p:spPr>
          <a:xfrm rot="0">
            <a:off x="626240" y="4346211"/>
            <a:ext cx="6839640" cy="4283075"/>
          </a:xfrm>
          <a:prstGeom prst="rect">
            <a:avLst/>
          </a:prstGeom>
        </p:spPr>
        <p:txBody>
          <a:bodyPr anchor="t" rtlCol="false" tIns="0" lIns="0" bIns="0" rIns="0">
            <a:spAutoFit/>
          </a:bodyPr>
          <a:lstStyle/>
          <a:p>
            <a:pPr algn="l" marL="431801" indent="-215900" lvl="1">
              <a:lnSpc>
                <a:spcPts val="3400"/>
              </a:lnSpc>
              <a:buFont typeface="Arial"/>
              <a:buChar char="•"/>
            </a:pPr>
            <a:r>
              <a:rPr lang="en-US" sz="2000">
                <a:solidFill>
                  <a:srgbClr val="FFFFFF"/>
                </a:solidFill>
                <a:latin typeface="Poppins"/>
                <a:ea typeface="Poppins"/>
                <a:cs typeface="Poppins"/>
                <a:sym typeface="Poppins"/>
              </a:rPr>
              <a:t>Direct drivers</a:t>
            </a:r>
          </a:p>
          <a:p>
            <a:pPr algn="l" marL="863601" indent="-287867" lvl="2">
              <a:lnSpc>
                <a:spcPts val="3400"/>
              </a:lnSpc>
              <a:buFont typeface="Arial"/>
              <a:buChar char="⚬"/>
            </a:pPr>
            <a:r>
              <a:rPr lang="en-US" sz="2000">
                <a:solidFill>
                  <a:srgbClr val="FFFFFF"/>
                </a:solidFill>
                <a:latin typeface="Poppins"/>
                <a:ea typeface="Poppins"/>
                <a:cs typeface="Poppins"/>
                <a:sym typeface="Poppins"/>
              </a:rPr>
              <a:t>Land/sea use change</a:t>
            </a:r>
          </a:p>
          <a:p>
            <a:pPr algn="l" marL="1295402" indent="-323850" lvl="3">
              <a:lnSpc>
                <a:spcPts val="3400"/>
              </a:lnSpc>
              <a:buFont typeface="Arial"/>
              <a:buChar char="￭"/>
            </a:pPr>
            <a:r>
              <a:rPr lang="en-US" sz="2000">
                <a:solidFill>
                  <a:srgbClr val="FFFFFF"/>
                </a:solidFill>
                <a:latin typeface="Poppins"/>
                <a:ea typeface="Poppins"/>
                <a:cs typeface="Poppins"/>
                <a:sym typeface="Poppins"/>
              </a:rPr>
              <a:t>dominant on land &amp; fresh water</a:t>
            </a:r>
          </a:p>
          <a:p>
            <a:pPr algn="l" marL="1295402" indent="-323850" lvl="3">
              <a:lnSpc>
                <a:spcPts val="3400"/>
              </a:lnSpc>
              <a:buFont typeface="Arial"/>
              <a:buChar char="￭"/>
            </a:pPr>
            <a:r>
              <a:rPr lang="en-US" sz="2000">
                <a:solidFill>
                  <a:srgbClr val="FFFFFF"/>
                </a:solidFill>
                <a:latin typeface="Poppins"/>
                <a:ea typeface="Poppins"/>
                <a:cs typeface="Poppins"/>
                <a:sym typeface="Poppins"/>
              </a:rPr>
              <a:t>agriculture, deforestation, urbanization</a:t>
            </a:r>
          </a:p>
          <a:p>
            <a:pPr algn="l" marL="863601" indent="-287867" lvl="2">
              <a:lnSpc>
                <a:spcPts val="3400"/>
              </a:lnSpc>
              <a:buFont typeface="Arial"/>
              <a:buChar char="⚬"/>
            </a:pPr>
            <a:r>
              <a:rPr lang="en-US" sz="2000">
                <a:solidFill>
                  <a:srgbClr val="FFFFFF"/>
                </a:solidFill>
                <a:latin typeface="Poppins"/>
                <a:ea typeface="Poppins"/>
                <a:cs typeface="Poppins"/>
                <a:sym typeface="Poppins"/>
              </a:rPr>
              <a:t>Direct exploitation</a:t>
            </a:r>
          </a:p>
          <a:p>
            <a:pPr algn="l" marL="1295402" indent="-323850" lvl="3">
              <a:lnSpc>
                <a:spcPts val="3400"/>
              </a:lnSpc>
              <a:buFont typeface="Arial"/>
              <a:buChar char="￭"/>
            </a:pPr>
            <a:r>
              <a:rPr lang="en-US" sz="2000">
                <a:solidFill>
                  <a:srgbClr val="FFFFFF"/>
                </a:solidFill>
                <a:latin typeface="Poppins"/>
                <a:ea typeface="Poppins"/>
                <a:cs typeface="Poppins"/>
                <a:sym typeface="Poppins"/>
              </a:rPr>
              <a:t>dominant in oceans</a:t>
            </a:r>
          </a:p>
          <a:p>
            <a:pPr algn="l" marL="1295402" indent="-323850" lvl="3">
              <a:lnSpc>
                <a:spcPts val="3400"/>
              </a:lnSpc>
              <a:buFont typeface="Arial"/>
              <a:buChar char="￭"/>
            </a:pPr>
            <a:r>
              <a:rPr lang="en-US" sz="2000">
                <a:solidFill>
                  <a:srgbClr val="FFFFFF"/>
                </a:solidFill>
                <a:latin typeface="Poppins"/>
                <a:ea typeface="Poppins"/>
                <a:cs typeface="Poppins"/>
                <a:sym typeface="Poppins"/>
              </a:rPr>
              <a:t>fishing, hunting, logging, wildlife trade</a:t>
            </a:r>
          </a:p>
          <a:p>
            <a:pPr algn="l" marL="863601" indent="-287867" lvl="2">
              <a:lnSpc>
                <a:spcPts val="3400"/>
              </a:lnSpc>
              <a:buFont typeface="Arial"/>
              <a:buChar char="⚬"/>
            </a:pPr>
            <a:r>
              <a:rPr lang="en-US" sz="2000">
                <a:solidFill>
                  <a:srgbClr val="FFFFFF"/>
                </a:solidFill>
                <a:latin typeface="Poppins"/>
                <a:ea typeface="Poppins"/>
                <a:cs typeface="Poppins"/>
                <a:sym typeface="Poppins"/>
              </a:rPr>
              <a:t>Pol</a:t>
            </a:r>
            <a:r>
              <a:rPr lang="en-US" sz="2000">
                <a:solidFill>
                  <a:srgbClr val="FFFFFF"/>
                </a:solidFill>
                <a:latin typeface="Poppins"/>
                <a:ea typeface="Poppins"/>
                <a:cs typeface="Poppins"/>
                <a:sym typeface="Poppins"/>
              </a:rPr>
              <a:t>lution</a:t>
            </a:r>
          </a:p>
          <a:p>
            <a:pPr algn="l" marL="863601" indent="-287867" lvl="2">
              <a:lnSpc>
                <a:spcPts val="3400"/>
              </a:lnSpc>
              <a:buFont typeface="Arial"/>
              <a:buChar char="⚬"/>
            </a:pPr>
            <a:r>
              <a:rPr lang="en-US" sz="2000">
                <a:solidFill>
                  <a:srgbClr val="FFFFFF"/>
                </a:solidFill>
                <a:latin typeface="Poppins"/>
                <a:ea typeface="Poppins"/>
                <a:cs typeface="Poppins"/>
                <a:sym typeface="Poppins"/>
              </a:rPr>
              <a:t>Climate change </a:t>
            </a:r>
          </a:p>
          <a:p>
            <a:pPr algn="l" marL="863601" indent="-287867" lvl="2">
              <a:lnSpc>
                <a:spcPts val="3400"/>
              </a:lnSpc>
              <a:buFont typeface="Arial"/>
              <a:buChar char="⚬"/>
            </a:pPr>
            <a:r>
              <a:rPr lang="en-US" sz="2000">
                <a:solidFill>
                  <a:srgbClr val="FFFFFF"/>
                </a:solidFill>
                <a:latin typeface="Poppins"/>
                <a:ea typeface="Poppins"/>
                <a:cs typeface="Poppins"/>
                <a:sym typeface="Poppins"/>
              </a:rPr>
              <a:t>Invasive species</a:t>
            </a:r>
          </a:p>
        </p:txBody>
      </p:sp>
      <p:sp>
        <p:nvSpPr>
          <p:cNvPr name="TextBox 7" id="7"/>
          <p:cNvSpPr txBox="true"/>
          <p:nvPr/>
        </p:nvSpPr>
        <p:spPr>
          <a:xfrm rot="0">
            <a:off x="626240" y="752500"/>
            <a:ext cx="7019319" cy="889327"/>
          </a:xfrm>
          <a:prstGeom prst="rect">
            <a:avLst/>
          </a:prstGeom>
        </p:spPr>
        <p:txBody>
          <a:bodyPr anchor="t" rtlCol="false" tIns="0" lIns="0" bIns="0" rIns="0">
            <a:spAutoFit/>
          </a:bodyPr>
          <a:lstStyle/>
          <a:p>
            <a:pPr algn="l">
              <a:lnSpc>
                <a:spcPts val="6110"/>
              </a:lnSpc>
            </a:pPr>
            <a:r>
              <a:rPr lang="en-US" sz="6364" b="true">
                <a:solidFill>
                  <a:srgbClr val="FFFFFF"/>
                </a:solidFill>
                <a:latin typeface="Poppins Bold"/>
                <a:ea typeface="Poppins Bold"/>
                <a:cs typeface="Poppins Bold"/>
                <a:sym typeface="Poppins Bold"/>
              </a:rPr>
              <a:t>KEY FINDINGS</a:t>
            </a:r>
          </a:p>
        </p:txBody>
      </p:sp>
      <p:sp>
        <p:nvSpPr>
          <p:cNvPr name="TextBox 8" id="8"/>
          <p:cNvSpPr txBox="true"/>
          <p:nvPr/>
        </p:nvSpPr>
        <p:spPr>
          <a:xfrm rot="0">
            <a:off x="626240" y="2445691"/>
            <a:ext cx="9814508" cy="1297178"/>
          </a:xfrm>
          <a:prstGeom prst="rect">
            <a:avLst/>
          </a:prstGeom>
        </p:spPr>
        <p:txBody>
          <a:bodyPr anchor="t" rtlCol="false" tIns="0" lIns="0" bIns="0" rIns="0">
            <a:spAutoFit/>
          </a:bodyPr>
          <a:lstStyle/>
          <a:p>
            <a:pPr algn="l">
              <a:lnSpc>
                <a:spcPts val="3496"/>
              </a:lnSpc>
            </a:pPr>
            <a:r>
              <a:rPr lang="en-US" sz="2300" spc="448">
                <a:solidFill>
                  <a:srgbClr val="FFFFFF"/>
                </a:solidFill>
                <a:latin typeface="Poppins"/>
                <a:ea typeface="Poppins"/>
                <a:cs typeface="Poppins"/>
                <a:sym typeface="Poppins"/>
              </a:rPr>
              <a:t>THE DIRECT DRIVERS OF RECENT GLOBAL ANTHROPOGENIC BIODIVERSITY LOSS</a:t>
            </a:r>
          </a:p>
          <a:p>
            <a:pPr algn="l">
              <a:lnSpc>
                <a:spcPts val="3496"/>
              </a:lnSpc>
            </a:pPr>
            <a:r>
              <a:rPr lang="en-US" sz="2300" spc="448">
                <a:solidFill>
                  <a:srgbClr val="FFFFFF"/>
                </a:solidFill>
                <a:latin typeface="Poppins"/>
                <a:ea typeface="Poppins"/>
                <a:cs typeface="Poppins"/>
                <a:sym typeface="Poppins"/>
              </a:rPr>
              <a:t>(JAUREGUIBERRY ET AL. 2022)</a:t>
            </a:r>
          </a:p>
        </p:txBody>
      </p:sp>
      <p:sp>
        <p:nvSpPr>
          <p:cNvPr name="TextBox 9" id="9"/>
          <p:cNvSpPr txBox="true"/>
          <p:nvPr/>
        </p:nvSpPr>
        <p:spPr>
          <a:xfrm rot="0">
            <a:off x="8714857" y="4346211"/>
            <a:ext cx="8544443" cy="3854450"/>
          </a:xfrm>
          <a:prstGeom prst="rect">
            <a:avLst/>
          </a:prstGeom>
        </p:spPr>
        <p:txBody>
          <a:bodyPr anchor="t" rtlCol="false" tIns="0" lIns="0" bIns="0" rIns="0">
            <a:spAutoFit/>
          </a:bodyPr>
          <a:lstStyle/>
          <a:p>
            <a:pPr algn="l" marL="431801" indent="-215900" lvl="1">
              <a:lnSpc>
                <a:spcPts val="3400"/>
              </a:lnSpc>
              <a:buFont typeface="Arial"/>
              <a:buChar char="•"/>
            </a:pPr>
            <a:r>
              <a:rPr lang="en-US" sz="2000">
                <a:solidFill>
                  <a:srgbClr val="FFFFFF"/>
                </a:solidFill>
                <a:latin typeface="Poppins"/>
                <a:ea typeface="Poppins"/>
                <a:cs typeface="Poppins"/>
                <a:sym typeface="Poppins"/>
              </a:rPr>
              <a:t>Indirect drivers</a:t>
            </a:r>
          </a:p>
          <a:p>
            <a:pPr algn="l" marL="863601" indent="-287867" lvl="2">
              <a:lnSpc>
                <a:spcPts val="3400"/>
              </a:lnSpc>
              <a:buFont typeface="Arial"/>
              <a:buChar char="⚬"/>
            </a:pPr>
            <a:r>
              <a:rPr lang="en-US" sz="2000">
                <a:solidFill>
                  <a:srgbClr val="FFFFFF"/>
                </a:solidFill>
                <a:latin typeface="Poppins"/>
                <a:ea typeface="Poppins"/>
                <a:cs typeface="Poppins"/>
                <a:sym typeface="Poppins"/>
              </a:rPr>
              <a:t>Demographic growth</a:t>
            </a:r>
          </a:p>
          <a:p>
            <a:pPr algn="l" marL="1295402" indent="-323850" lvl="3">
              <a:lnSpc>
                <a:spcPts val="3400"/>
              </a:lnSpc>
              <a:buFont typeface="Arial"/>
              <a:buChar char="￭"/>
            </a:pPr>
            <a:r>
              <a:rPr lang="en-US" sz="2000">
                <a:solidFill>
                  <a:srgbClr val="FFFFFF"/>
                </a:solidFill>
                <a:latin typeface="Poppins"/>
                <a:ea typeface="Poppins"/>
                <a:cs typeface="Poppins"/>
                <a:sym typeface="Poppins"/>
              </a:rPr>
              <a:t>more land and biomass taken by humans</a:t>
            </a:r>
          </a:p>
          <a:p>
            <a:pPr algn="l" marL="863601" indent="-287867" lvl="2">
              <a:lnSpc>
                <a:spcPts val="3400"/>
              </a:lnSpc>
              <a:buFont typeface="Arial"/>
              <a:buChar char="⚬"/>
            </a:pPr>
            <a:r>
              <a:rPr lang="en-US" sz="2000">
                <a:solidFill>
                  <a:srgbClr val="FFFFFF"/>
                </a:solidFill>
                <a:latin typeface="Poppins"/>
                <a:ea typeface="Poppins"/>
                <a:cs typeface="Poppins"/>
                <a:sym typeface="Poppins"/>
              </a:rPr>
              <a:t>Economic development &amp; consumption</a:t>
            </a:r>
          </a:p>
          <a:p>
            <a:pPr algn="l" marL="1295402" indent="-323850" lvl="3">
              <a:lnSpc>
                <a:spcPts val="3400"/>
              </a:lnSpc>
              <a:buFont typeface="Arial"/>
              <a:buChar char="￭"/>
            </a:pPr>
            <a:r>
              <a:rPr lang="en-US" sz="2000">
                <a:solidFill>
                  <a:srgbClr val="FFFFFF"/>
                </a:solidFill>
                <a:latin typeface="Poppins"/>
                <a:ea typeface="Poppins"/>
                <a:cs typeface="Poppins"/>
                <a:sym typeface="Poppins"/>
              </a:rPr>
              <a:t>agriculture, industrial fishing, resource extraction</a:t>
            </a:r>
          </a:p>
          <a:p>
            <a:pPr algn="l" marL="863601" indent="-287867" lvl="2">
              <a:lnSpc>
                <a:spcPts val="3400"/>
              </a:lnSpc>
              <a:buFont typeface="Arial"/>
              <a:buChar char="⚬"/>
            </a:pPr>
            <a:r>
              <a:rPr lang="en-US" sz="2000">
                <a:solidFill>
                  <a:srgbClr val="FFFFFF"/>
                </a:solidFill>
                <a:latin typeface="Poppins"/>
                <a:ea typeface="Poppins"/>
                <a:cs typeface="Poppins"/>
                <a:sym typeface="Poppins"/>
              </a:rPr>
              <a:t>Technological systems</a:t>
            </a:r>
          </a:p>
          <a:p>
            <a:pPr algn="l" marL="1295402" indent="-323850" lvl="3">
              <a:lnSpc>
                <a:spcPts val="3400"/>
              </a:lnSpc>
              <a:buFont typeface="Arial"/>
              <a:buChar char="￭"/>
            </a:pPr>
            <a:r>
              <a:rPr lang="en-US" sz="2000">
                <a:solidFill>
                  <a:srgbClr val="FFFFFF"/>
                </a:solidFill>
                <a:latin typeface="Poppins"/>
                <a:ea typeface="Poppins"/>
                <a:cs typeface="Poppins"/>
                <a:sym typeface="Poppins"/>
              </a:rPr>
              <a:t>enabling large-sca</a:t>
            </a:r>
            <a:r>
              <a:rPr lang="en-US" sz="2000">
                <a:solidFill>
                  <a:srgbClr val="FFFFFF"/>
                </a:solidFill>
                <a:latin typeface="Poppins"/>
                <a:ea typeface="Poppins"/>
                <a:cs typeface="Poppins"/>
                <a:sym typeface="Poppins"/>
              </a:rPr>
              <a:t>le habitat a</a:t>
            </a:r>
            <a:r>
              <a:rPr lang="en-US" sz="2000">
                <a:solidFill>
                  <a:srgbClr val="FFFFFF"/>
                </a:solidFill>
                <a:latin typeface="Poppins"/>
                <a:ea typeface="Poppins"/>
                <a:cs typeface="Poppins"/>
                <a:sym typeface="Poppins"/>
              </a:rPr>
              <a:t>lteration</a:t>
            </a:r>
          </a:p>
          <a:p>
            <a:pPr algn="l" marL="863601" indent="-287867" lvl="2">
              <a:lnSpc>
                <a:spcPts val="3400"/>
              </a:lnSpc>
              <a:buFont typeface="Arial"/>
              <a:buChar char="⚬"/>
            </a:pPr>
            <a:r>
              <a:rPr lang="en-US" sz="2000">
                <a:solidFill>
                  <a:srgbClr val="FFFFFF"/>
                </a:solidFill>
                <a:latin typeface="Poppins"/>
                <a:ea typeface="Poppins"/>
                <a:cs typeface="Poppins"/>
                <a:sym typeface="Poppins"/>
              </a:rPr>
              <a:t>Soc</a:t>
            </a:r>
            <a:r>
              <a:rPr lang="en-US" sz="2000">
                <a:solidFill>
                  <a:srgbClr val="FFFFFF"/>
                </a:solidFill>
                <a:latin typeface="Poppins"/>
                <a:ea typeface="Poppins"/>
                <a:cs typeface="Poppins"/>
                <a:sym typeface="Poppins"/>
              </a:rPr>
              <a:t>ietal values &amp; governance</a:t>
            </a:r>
          </a:p>
          <a:p>
            <a:pPr algn="l" marL="1295402" indent="-323850" lvl="3">
              <a:lnSpc>
                <a:spcPts val="3400"/>
              </a:lnSpc>
              <a:buFont typeface="Arial"/>
              <a:buChar char="￭"/>
            </a:pPr>
            <a:r>
              <a:rPr lang="en-US" sz="2000">
                <a:solidFill>
                  <a:srgbClr val="FFFFFF"/>
                </a:solidFill>
                <a:latin typeface="Poppins"/>
                <a:ea typeface="Poppins"/>
                <a:cs typeface="Poppins"/>
                <a:sym typeface="Poppins"/>
              </a:rPr>
              <a:t>determining land-use priorities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04323"/>
        </a:solidFill>
      </p:bgPr>
    </p:bg>
    <p:spTree>
      <p:nvGrpSpPr>
        <p:cNvPr id="1" name=""/>
        <p:cNvGrpSpPr/>
        <p:nvPr/>
      </p:nvGrpSpPr>
      <p:grpSpPr>
        <a:xfrm>
          <a:off x="0" y="0"/>
          <a:ext cx="0" cy="0"/>
          <a:chOff x="0" y="0"/>
          <a:chExt cx="0" cy="0"/>
        </a:xfrm>
      </p:grpSpPr>
      <p:sp>
        <p:nvSpPr>
          <p:cNvPr name="Freeform 2" id="2"/>
          <p:cNvSpPr/>
          <p:nvPr/>
        </p:nvSpPr>
        <p:spPr>
          <a:xfrm flipH="false" flipV="false" rot="0">
            <a:off x="-498415" y="8845337"/>
            <a:ext cx="21430122" cy="1441663"/>
          </a:xfrm>
          <a:custGeom>
            <a:avLst/>
            <a:gdLst/>
            <a:ahLst/>
            <a:cxnLst/>
            <a:rect r="r" b="b" t="t" l="l"/>
            <a:pathLst>
              <a:path h="1441663" w="21430122">
                <a:moveTo>
                  <a:pt x="0" y="0"/>
                </a:moveTo>
                <a:lnTo>
                  <a:pt x="21430122" y="0"/>
                </a:lnTo>
                <a:lnTo>
                  <a:pt x="21430122" y="1441663"/>
                </a:lnTo>
                <a:lnTo>
                  <a:pt x="0" y="144166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661885" y="6575204"/>
            <a:ext cx="5453349" cy="4114800"/>
          </a:xfrm>
          <a:custGeom>
            <a:avLst/>
            <a:gdLst/>
            <a:ahLst/>
            <a:cxnLst/>
            <a:rect r="r" b="b" t="t" l="l"/>
            <a:pathLst>
              <a:path h="4114800" w="5453349">
                <a:moveTo>
                  <a:pt x="0" y="0"/>
                </a:moveTo>
                <a:lnTo>
                  <a:pt x="5453350" y="0"/>
                </a:lnTo>
                <a:lnTo>
                  <a:pt x="545335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6222219" y="8766181"/>
            <a:ext cx="4280770" cy="2218217"/>
          </a:xfrm>
          <a:custGeom>
            <a:avLst/>
            <a:gdLst/>
            <a:ahLst/>
            <a:cxnLst/>
            <a:rect r="r" b="b" t="t" l="l"/>
            <a:pathLst>
              <a:path h="2218217" w="4280770">
                <a:moveTo>
                  <a:pt x="0" y="0"/>
                </a:moveTo>
                <a:lnTo>
                  <a:pt x="4280770" y="0"/>
                </a:lnTo>
                <a:lnTo>
                  <a:pt x="4280770" y="2218217"/>
                </a:lnTo>
                <a:lnTo>
                  <a:pt x="0" y="221821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1217339" y="3003550"/>
            <a:ext cx="4914083" cy="2568575"/>
          </a:xfrm>
          <a:prstGeom prst="rect">
            <a:avLst/>
          </a:prstGeom>
        </p:spPr>
        <p:txBody>
          <a:bodyPr anchor="t" rtlCol="false" tIns="0" lIns="0" bIns="0" rIns="0">
            <a:spAutoFit/>
          </a:bodyPr>
          <a:lstStyle/>
          <a:p>
            <a:pPr algn="l">
              <a:lnSpc>
                <a:spcPts val="3400"/>
              </a:lnSpc>
            </a:pPr>
            <a:r>
              <a:rPr lang="en-US" sz="2000">
                <a:solidFill>
                  <a:srgbClr val="FFFFFF"/>
                </a:solidFill>
                <a:latin typeface="Poppins"/>
                <a:ea typeface="Poppins"/>
                <a:cs typeface="Poppins"/>
                <a:sym typeface="Poppins"/>
              </a:rPr>
              <a:t>the process by which human activities transform both terrestrial and marine environments over time, causing alterations in how land and water are utilized for activities like agriculture, urbanization, and resource extraction.</a:t>
            </a:r>
          </a:p>
        </p:txBody>
      </p:sp>
      <p:sp>
        <p:nvSpPr>
          <p:cNvPr name="TextBox 6" id="6"/>
          <p:cNvSpPr txBox="true"/>
          <p:nvPr/>
        </p:nvSpPr>
        <p:spPr>
          <a:xfrm rot="0">
            <a:off x="3674380" y="1133475"/>
            <a:ext cx="10201660" cy="933142"/>
          </a:xfrm>
          <a:prstGeom prst="rect">
            <a:avLst/>
          </a:prstGeom>
        </p:spPr>
        <p:txBody>
          <a:bodyPr anchor="t" rtlCol="false" tIns="0" lIns="0" bIns="0" rIns="0">
            <a:spAutoFit/>
          </a:bodyPr>
          <a:lstStyle/>
          <a:p>
            <a:pPr algn="ctr">
              <a:lnSpc>
                <a:spcPts val="6590"/>
              </a:lnSpc>
            </a:pPr>
            <a:r>
              <a:rPr lang="en-US" b="true" sz="6864">
                <a:solidFill>
                  <a:srgbClr val="FFFFFF"/>
                </a:solidFill>
                <a:latin typeface="Poppins Bold"/>
                <a:ea typeface="Poppins Bold"/>
                <a:cs typeface="Poppins Bold"/>
                <a:sym typeface="Poppins Bold"/>
              </a:rPr>
              <a:t>DEFINING THE TERMS</a:t>
            </a:r>
          </a:p>
        </p:txBody>
      </p:sp>
      <p:sp>
        <p:nvSpPr>
          <p:cNvPr name="TextBox 7" id="7"/>
          <p:cNvSpPr txBox="true"/>
          <p:nvPr/>
        </p:nvSpPr>
        <p:spPr>
          <a:xfrm rot="0">
            <a:off x="3267941" y="6326665"/>
            <a:ext cx="4556068" cy="420878"/>
          </a:xfrm>
          <a:prstGeom prst="rect">
            <a:avLst/>
          </a:prstGeom>
        </p:spPr>
        <p:txBody>
          <a:bodyPr anchor="t" rtlCol="false" tIns="0" lIns="0" bIns="0" rIns="0">
            <a:spAutoFit/>
          </a:bodyPr>
          <a:lstStyle/>
          <a:p>
            <a:pPr algn="l">
              <a:lnSpc>
                <a:spcPts val="3496"/>
              </a:lnSpc>
            </a:pPr>
            <a:r>
              <a:rPr lang="en-US" sz="2300" spc="448">
                <a:solidFill>
                  <a:srgbClr val="FFFFFF"/>
                </a:solidFill>
                <a:latin typeface="Poppins"/>
                <a:ea typeface="Poppins"/>
                <a:cs typeface="Poppins"/>
                <a:sym typeface="Poppins"/>
              </a:rPr>
              <a:t>POLLUTION</a:t>
            </a:r>
          </a:p>
        </p:txBody>
      </p:sp>
      <p:sp>
        <p:nvSpPr>
          <p:cNvPr name="TextBox 8" id="8"/>
          <p:cNvSpPr txBox="true"/>
          <p:nvPr/>
        </p:nvSpPr>
        <p:spPr>
          <a:xfrm rot="0">
            <a:off x="6686958" y="3003550"/>
            <a:ext cx="4914083" cy="2568575"/>
          </a:xfrm>
          <a:prstGeom prst="rect">
            <a:avLst/>
          </a:prstGeom>
        </p:spPr>
        <p:txBody>
          <a:bodyPr anchor="t" rtlCol="false" tIns="0" lIns="0" bIns="0" rIns="0">
            <a:spAutoFit/>
          </a:bodyPr>
          <a:lstStyle/>
          <a:p>
            <a:pPr algn="l">
              <a:lnSpc>
                <a:spcPts val="3400"/>
              </a:lnSpc>
            </a:pPr>
            <a:r>
              <a:rPr lang="en-US" sz="2000">
                <a:solidFill>
                  <a:srgbClr val="FFFFFF"/>
                </a:solidFill>
                <a:latin typeface="Poppins"/>
                <a:ea typeface="Poppins"/>
                <a:cs typeface="Poppins"/>
                <a:sym typeface="Poppins"/>
              </a:rPr>
              <a:t>the long-term shift in average weather patterns and temperatures, which can be identified by changes in the mean and/or variability of its properties that persist for decades or longer</a:t>
            </a:r>
          </a:p>
        </p:txBody>
      </p:sp>
      <p:sp>
        <p:nvSpPr>
          <p:cNvPr name="TextBox 9" id="9"/>
          <p:cNvSpPr txBox="true"/>
          <p:nvPr/>
        </p:nvSpPr>
        <p:spPr>
          <a:xfrm rot="0">
            <a:off x="6686958" y="2468372"/>
            <a:ext cx="3992864" cy="420878"/>
          </a:xfrm>
          <a:prstGeom prst="rect">
            <a:avLst/>
          </a:prstGeom>
        </p:spPr>
        <p:txBody>
          <a:bodyPr anchor="t" rtlCol="false" tIns="0" lIns="0" bIns="0" rIns="0">
            <a:spAutoFit/>
          </a:bodyPr>
          <a:lstStyle/>
          <a:p>
            <a:pPr algn="l">
              <a:lnSpc>
                <a:spcPts val="3496"/>
              </a:lnSpc>
            </a:pPr>
            <a:r>
              <a:rPr lang="en-US" sz="2300" spc="448">
                <a:solidFill>
                  <a:srgbClr val="FFFFFF"/>
                </a:solidFill>
                <a:latin typeface="Poppins"/>
                <a:ea typeface="Poppins"/>
                <a:cs typeface="Poppins"/>
                <a:sym typeface="Poppins"/>
              </a:rPr>
              <a:t>CLIMATE CHANGE</a:t>
            </a:r>
          </a:p>
        </p:txBody>
      </p:sp>
      <p:sp>
        <p:nvSpPr>
          <p:cNvPr name="TextBox 10" id="10"/>
          <p:cNvSpPr txBox="true"/>
          <p:nvPr/>
        </p:nvSpPr>
        <p:spPr>
          <a:xfrm rot="0">
            <a:off x="12345217" y="3003550"/>
            <a:ext cx="4914083" cy="2568575"/>
          </a:xfrm>
          <a:prstGeom prst="rect">
            <a:avLst/>
          </a:prstGeom>
        </p:spPr>
        <p:txBody>
          <a:bodyPr anchor="t" rtlCol="false" tIns="0" lIns="0" bIns="0" rIns="0">
            <a:spAutoFit/>
          </a:bodyPr>
          <a:lstStyle/>
          <a:p>
            <a:pPr algn="l">
              <a:lnSpc>
                <a:spcPts val="3400"/>
              </a:lnSpc>
            </a:pPr>
            <a:r>
              <a:rPr lang="en-US" sz="2000">
                <a:solidFill>
                  <a:srgbClr val="FFFFFF"/>
                </a:solidFill>
                <a:latin typeface="Poppins"/>
                <a:ea typeface="Poppins"/>
                <a:cs typeface="Poppins"/>
                <a:sym typeface="Poppins"/>
              </a:rPr>
              <a:t>an organism introduced by human activity outside its natural range that then becomes established and spreads, causing harm to the environment, economy, or human well-being</a:t>
            </a:r>
          </a:p>
        </p:txBody>
      </p:sp>
      <p:sp>
        <p:nvSpPr>
          <p:cNvPr name="TextBox 11" id="11"/>
          <p:cNvSpPr txBox="true"/>
          <p:nvPr/>
        </p:nvSpPr>
        <p:spPr>
          <a:xfrm rot="0">
            <a:off x="12347953" y="2468372"/>
            <a:ext cx="4556068" cy="420878"/>
          </a:xfrm>
          <a:prstGeom prst="rect">
            <a:avLst/>
          </a:prstGeom>
        </p:spPr>
        <p:txBody>
          <a:bodyPr anchor="t" rtlCol="false" tIns="0" lIns="0" bIns="0" rIns="0">
            <a:spAutoFit/>
          </a:bodyPr>
          <a:lstStyle/>
          <a:p>
            <a:pPr algn="l">
              <a:lnSpc>
                <a:spcPts val="3496"/>
              </a:lnSpc>
            </a:pPr>
            <a:r>
              <a:rPr lang="en-US" sz="2300" spc="448">
                <a:solidFill>
                  <a:srgbClr val="FFFFFF"/>
                </a:solidFill>
                <a:latin typeface="Poppins"/>
                <a:ea typeface="Poppins"/>
                <a:cs typeface="Poppins"/>
                <a:sym typeface="Poppins"/>
              </a:rPr>
              <a:t>INVASIVE ALIEN SPECIES</a:t>
            </a:r>
          </a:p>
        </p:txBody>
      </p:sp>
      <p:sp>
        <p:nvSpPr>
          <p:cNvPr name="TextBox 12" id="12"/>
          <p:cNvSpPr txBox="true"/>
          <p:nvPr/>
        </p:nvSpPr>
        <p:spPr>
          <a:xfrm rot="0">
            <a:off x="1217339" y="2468372"/>
            <a:ext cx="4550596" cy="420878"/>
          </a:xfrm>
          <a:prstGeom prst="rect">
            <a:avLst/>
          </a:prstGeom>
        </p:spPr>
        <p:txBody>
          <a:bodyPr anchor="t" rtlCol="false" tIns="0" lIns="0" bIns="0" rIns="0">
            <a:spAutoFit/>
          </a:bodyPr>
          <a:lstStyle/>
          <a:p>
            <a:pPr algn="l">
              <a:lnSpc>
                <a:spcPts val="3496"/>
              </a:lnSpc>
            </a:pPr>
            <a:r>
              <a:rPr lang="en-US" sz="2300" spc="448">
                <a:solidFill>
                  <a:srgbClr val="FFFFFF"/>
                </a:solidFill>
                <a:latin typeface="Poppins"/>
                <a:ea typeface="Poppins"/>
                <a:cs typeface="Poppins"/>
                <a:sym typeface="Poppins"/>
              </a:rPr>
              <a:t>LAND/SEA USE CHANGE</a:t>
            </a:r>
          </a:p>
        </p:txBody>
      </p:sp>
      <p:sp>
        <p:nvSpPr>
          <p:cNvPr name="TextBox 13" id="13"/>
          <p:cNvSpPr txBox="true"/>
          <p:nvPr/>
        </p:nvSpPr>
        <p:spPr>
          <a:xfrm rot="0">
            <a:off x="9890911" y="6326665"/>
            <a:ext cx="4550596" cy="420878"/>
          </a:xfrm>
          <a:prstGeom prst="rect">
            <a:avLst/>
          </a:prstGeom>
        </p:spPr>
        <p:txBody>
          <a:bodyPr anchor="t" rtlCol="false" tIns="0" lIns="0" bIns="0" rIns="0">
            <a:spAutoFit/>
          </a:bodyPr>
          <a:lstStyle/>
          <a:p>
            <a:pPr algn="l">
              <a:lnSpc>
                <a:spcPts val="3496"/>
              </a:lnSpc>
            </a:pPr>
            <a:r>
              <a:rPr lang="en-US" sz="2300" spc="448">
                <a:solidFill>
                  <a:srgbClr val="FFFFFF"/>
                </a:solidFill>
                <a:latin typeface="Poppins"/>
                <a:ea typeface="Poppins"/>
                <a:cs typeface="Poppins"/>
                <a:sym typeface="Poppins"/>
              </a:rPr>
              <a:t>DIRECT EXPLOITATION</a:t>
            </a:r>
          </a:p>
        </p:txBody>
      </p:sp>
      <p:sp>
        <p:nvSpPr>
          <p:cNvPr name="TextBox 14" id="14"/>
          <p:cNvSpPr txBox="true"/>
          <p:nvPr/>
        </p:nvSpPr>
        <p:spPr>
          <a:xfrm rot="0">
            <a:off x="3267941" y="6860954"/>
            <a:ext cx="4914083" cy="1282700"/>
          </a:xfrm>
          <a:prstGeom prst="rect">
            <a:avLst/>
          </a:prstGeom>
        </p:spPr>
        <p:txBody>
          <a:bodyPr anchor="t" rtlCol="false" tIns="0" lIns="0" bIns="0" rIns="0">
            <a:spAutoFit/>
          </a:bodyPr>
          <a:lstStyle/>
          <a:p>
            <a:pPr algn="l">
              <a:lnSpc>
                <a:spcPts val="3400"/>
              </a:lnSpc>
            </a:pPr>
            <a:r>
              <a:rPr lang="en-US" sz="2000">
                <a:solidFill>
                  <a:srgbClr val="FFFFFF"/>
                </a:solidFill>
                <a:latin typeface="Poppins"/>
                <a:ea typeface="Poppins"/>
                <a:cs typeface="Poppins"/>
                <a:sym typeface="Poppins"/>
              </a:rPr>
              <a:t>the introduction of contaminants into the environment that cause harm or undesirable effects</a:t>
            </a:r>
          </a:p>
        </p:txBody>
      </p:sp>
      <p:sp>
        <p:nvSpPr>
          <p:cNvPr name="TextBox 15" id="15"/>
          <p:cNvSpPr txBox="true"/>
          <p:nvPr/>
        </p:nvSpPr>
        <p:spPr>
          <a:xfrm rot="0">
            <a:off x="9890911" y="6860954"/>
            <a:ext cx="4914083" cy="1282700"/>
          </a:xfrm>
          <a:prstGeom prst="rect">
            <a:avLst/>
          </a:prstGeom>
        </p:spPr>
        <p:txBody>
          <a:bodyPr anchor="t" rtlCol="false" tIns="0" lIns="0" bIns="0" rIns="0">
            <a:spAutoFit/>
          </a:bodyPr>
          <a:lstStyle/>
          <a:p>
            <a:pPr algn="l">
              <a:lnSpc>
                <a:spcPts val="3400"/>
              </a:lnSpc>
            </a:pPr>
            <a:r>
              <a:rPr lang="en-US" sz="2000">
                <a:solidFill>
                  <a:srgbClr val="FFFFFF"/>
                </a:solidFill>
                <a:latin typeface="Poppins"/>
                <a:ea typeface="Poppins"/>
                <a:cs typeface="Poppins"/>
                <a:sym typeface="Poppins"/>
              </a:rPr>
              <a:t>the extractive use of living organisms by humans for various purposes, such as food, materials, and trade</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04323"/>
        </a:solidFill>
      </p:bgPr>
    </p:bg>
    <p:spTree>
      <p:nvGrpSpPr>
        <p:cNvPr id="1" name=""/>
        <p:cNvGrpSpPr/>
        <p:nvPr/>
      </p:nvGrpSpPr>
      <p:grpSpPr>
        <a:xfrm>
          <a:off x="0" y="0"/>
          <a:ext cx="0" cy="0"/>
          <a:chOff x="0" y="0"/>
          <a:chExt cx="0" cy="0"/>
        </a:xfrm>
      </p:grpSpPr>
      <p:sp>
        <p:nvSpPr>
          <p:cNvPr name="Freeform 2" id="2"/>
          <p:cNvSpPr/>
          <p:nvPr/>
        </p:nvSpPr>
        <p:spPr>
          <a:xfrm flipH="false" flipV="false" rot="0">
            <a:off x="-498415" y="8845337"/>
            <a:ext cx="21430122" cy="1441663"/>
          </a:xfrm>
          <a:custGeom>
            <a:avLst/>
            <a:gdLst/>
            <a:ahLst/>
            <a:cxnLst/>
            <a:rect r="r" b="b" t="t" l="l"/>
            <a:pathLst>
              <a:path h="1441663" w="21430122">
                <a:moveTo>
                  <a:pt x="0" y="0"/>
                </a:moveTo>
                <a:lnTo>
                  <a:pt x="21430122" y="0"/>
                </a:lnTo>
                <a:lnTo>
                  <a:pt x="21430122" y="1441663"/>
                </a:lnTo>
                <a:lnTo>
                  <a:pt x="0" y="144166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661885" y="6575204"/>
            <a:ext cx="5453349" cy="4114800"/>
          </a:xfrm>
          <a:custGeom>
            <a:avLst/>
            <a:gdLst/>
            <a:ahLst/>
            <a:cxnLst/>
            <a:rect r="r" b="b" t="t" l="l"/>
            <a:pathLst>
              <a:path h="4114800" w="5453349">
                <a:moveTo>
                  <a:pt x="0" y="0"/>
                </a:moveTo>
                <a:lnTo>
                  <a:pt x="5453350" y="0"/>
                </a:lnTo>
                <a:lnTo>
                  <a:pt x="545335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6222219" y="8766181"/>
            <a:ext cx="4280770" cy="2218217"/>
          </a:xfrm>
          <a:custGeom>
            <a:avLst/>
            <a:gdLst/>
            <a:ahLst/>
            <a:cxnLst/>
            <a:rect r="r" b="b" t="t" l="l"/>
            <a:pathLst>
              <a:path h="2218217" w="4280770">
                <a:moveTo>
                  <a:pt x="0" y="0"/>
                </a:moveTo>
                <a:lnTo>
                  <a:pt x="4280770" y="0"/>
                </a:lnTo>
                <a:lnTo>
                  <a:pt x="4280770" y="2218217"/>
                </a:lnTo>
                <a:lnTo>
                  <a:pt x="0" y="221821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0" y="0"/>
            <a:ext cx="18362604" cy="10306011"/>
          </a:xfrm>
          <a:custGeom>
            <a:avLst/>
            <a:gdLst/>
            <a:ahLst/>
            <a:cxnLst/>
            <a:rect r="r" b="b" t="t" l="l"/>
            <a:pathLst>
              <a:path h="10306011" w="18362604">
                <a:moveTo>
                  <a:pt x="0" y="0"/>
                </a:moveTo>
                <a:lnTo>
                  <a:pt x="18362604" y="0"/>
                </a:lnTo>
                <a:lnTo>
                  <a:pt x="18362604" y="10306011"/>
                </a:lnTo>
                <a:lnTo>
                  <a:pt x="0" y="10306011"/>
                </a:lnTo>
                <a:lnTo>
                  <a:pt x="0" y="0"/>
                </a:lnTo>
                <a:close/>
              </a:path>
            </a:pathLst>
          </a:custGeom>
          <a:blipFill>
            <a:blip r:embed="rId8"/>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04323"/>
        </a:solidFill>
      </p:bgPr>
    </p:bg>
    <p:spTree>
      <p:nvGrpSpPr>
        <p:cNvPr id="1" name=""/>
        <p:cNvGrpSpPr/>
        <p:nvPr/>
      </p:nvGrpSpPr>
      <p:grpSpPr>
        <a:xfrm>
          <a:off x="0" y="0"/>
          <a:ext cx="0" cy="0"/>
          <a:chOff x="0" y="0"/>
          <a:chExt cx="0" cy="0"/>
        </a:xfrm>
      </p:grpSpPr>
      <p:sp>
        <p:nvSpPr>
          <p:cNvPr name="Freeform 2" id="2"/>
          <p:cNvSpPr/>
          <p:nvPr/>
        </p:nvSpPr>
        <p:spPr>
          <a:xfrm flipH="false" flipV="false" rot="0">
            <a:off x="-498415" y="8845337"/>
            <a:ext cx="21430122" cy="1441663"/>
          </a:xfrm>
          <a:custGeom>
            <a:avLst/>
            <a:gdLst/>
            <a:ahLst/>
            <a:cxnLst/>
            <a:rect r="r" b="b" t="t" l="l"/>
            <a:pathLst>
              <a:path h="1441663" w="21430122">
                <a:moveTo>
                  <a:pt x="0" y="0"/>
                </a:moveTo>
                <a:lnTo>
                  <a:pt x="21430122" y="0"/>
                </a:lnTo>
                <a:lnTo>
                  <a:pt x="21430122" y="1441663"/>
                </a:lnTo>
                <a:lnTo>
                  <a:pt x="0" y="144166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661885" y="6575204"/>
            <a:ext cx="5453349" cy="4114800"/>
          </a:xfrm>
          <a:custGeom>
            <a:avLst/>
            <a:gdLst/>
            <a:ahLst/>
            <a:cxnLst/>
            <a:rect r="r" b="b" t="t" l="l"/>
            <a:pathLst>
              <a:path h="4114800" w="5453349">
                <a:moveTo>
                  <a:pt x="0" y="0"/>
                </a:moveTo>
                <a:lnTo>
                  <a:pt x="5453350" y="0"/>
                </a:lnTo>
                <a:lnTo>
                  <a:pt x="545335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6222219" y="8766181"/>
            <a:ext cx="4280770" cy="2218217"/>
          </a:xfrm>
          <a:custGeom>
            <a:avLst/>
            <a:gdLst/>
            <a:ahLst/>
            <a:cxnLst/>
            <a:rect r="r" b="b" t="t" l="l"/>
            <a:pathLst>
              <a:path h="2218217" w="4280770">
                <a:moveTo>
                  <a:pt x="0" y="0"/>
                </a:moveTo>
                <a:lnTo>
                  <a:pt x="4280770" y="0"/>
                </a:lnTo>
                <a:lnTo>
                  <a:pt x="4280770" y="2218217"/>
                </a:lnTo>
                <a:lnTo>
                  <a:pt x="0" y="221821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8061307" y="0"/>
            <a:ext cx="10235565" cy="10287000"/>
          </a:xfrm>
          <a:custGeom>
            <a:avLst/>
            <a:gdLst/>
            <a:ahLst/>
            <a:cxnLst/>
            <a:rect r="r" b="b" t="t" l="l"/>
            <a:pathLst>
              <a:path h="10287000" w="10235565">
                <a:moveTo>
                  <a:pt x="0" y="0"/>
                </a:moveTo>
                <a:lnTo>
                  <a:pt x="10235565" y="0"/>
                </a:lnTo>
                <a:lnTo>
                  <a:pt x="10235565" y="10287000"/>
                </a:lnTo>
                <a:lnTo>
                  <a:pt x="0" y="10287000"/>
                </a:lnTo>
                <a:lnTo>
                  <a:pt x="0" y="0"/>
                </a:lnTo>
                <a:close/>
              </a:path>
            </a:pathLst>
          </a:custGeom>
          <a:blipFill>
            <a:blip r:embed="rId8"/>
            <a:stretch>
              <a:fillRect l="0" t="0" r="0" b="0"/>
            </a:stretch>
          </a:blipFill>
        </p:spPr>
      </p:sp>
      <p:sp>
        <p:nvSpPr>
          <p:cNvPr name="Freeform 6" id="6"/>
          <p:cNvSpPr/>
          <p:nvPr/>
        </p:nvSpPr>
        <p:spPr>
          <a:xfrm flipH="false" flipV="false" rot="0">
            <a:off x="0" y="3525579"/>
            <a:ext cx="8061307" cy="6761421"/>
          </a:xfrm>
          <a:custGeom>
            <a:avLst/>
            <a:gdLst/>
            <a:ahLst/>
            <a:cxnLst/>
            <a:rect r="r" b="b" t="t" l="l"/>
            <a:pathLst>
              <a:path h="6761421" w="8061307">
                <a:moveTo>
                  <a:pt x="0" y="0"/>
                </a:moveTo>
                <a:lnTo>
                  <a:pt x="8061307" y="0"/>
                </a:lnTo>
                <a:lnTo>
                  <a:pt x="8061307" y="6761421"/>
                </a:lnTo>
                <a:lnTo>
                  <a:pt x="0" y="6761421"/>
                </a:lnTo>
                <a:lnTo>
                  <a:pt x="0" y="0"/>
                </a:lnTo>
                <a:close/>
              </a:path>
            </a:pathLst>
          </a:custGeom>
          <a:blipFill>
            <a:blip r:embed="rId9"/>
            <a:stretch>
              <a:fillRect l="0" t="0" r="0" b="0"/>
            </a:stretch>
          </a:blipFill>
        </p:spPr>
      </p:sp>
      <p:sp>
        <p:nvSpPr>
          <p:cNvPr name="TextBox 7" id="7"/>
          <p:cNvSpPr txBox="true"/>
          <p:nvPr/>
        </p:nvSpPr>
        <p:spPr>
          <a:xfrm rot="0">
            <a:off x="546802" y="1095375"/>
            <a:ext cx="8419919" cy="1304925"/>
          </a:xfrm>
          <a:prstGeom prst="rect">
            <a:avLst/>
          </a:prstGeom>
        </p:spPr>
        <p:txBody>
          <a:bodyPr anchor="t" rtlCol="false" tIns="0" lIns="0" bIns="0" rIns="0">
            <a:spAutoFit/>
          </a:bodyPr>
          <a:lstStyle/>
          <a:p>
            <a:pPr algn="l">
              <a:lnSpc>
                <a:spcPts val="4800"/>
              </a:lnSpc>
            </a:pPr>
            <a:r>
              <a:rPr lang="en-US" sz="5000" b="true">
                <a:solidFill>
                  <a:srgbClr val="FFFFFF"/>
                </a:solidFill>
                <a:latin typeface="Poppins Bold"/>
                <a:ea typeface="Poppins Bold"/>
                <a:cs typeface="Poppins Bold"/>
                <a:sym typeface="Poppins Bold"/>
              </a:rPr>
              <a:t>HOW FACTORS AFFECT EACHOTHER</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04323"/>
        </a:solidFill>
      </p:bgPr>
    </p:bg>
    <p:spTree>
      <p:nvGrpSpPr>
        <p:cNvPr id="1" name=""/>
        <p:cNvGrpSpPr/>
        <p:nvPr/>
      </p:nvGrpSpPr>
      <p:grpSpPr>
        <a:xfrm>
          <a:off x="0" y="0"/>
          <a:ext cx="0" cy="0"/>
          <a:chOff x="0" y="0"/>
          <a:chExt cx="0" cy="0"/>
        </a:xfrm>
      </p:grpSpPr>
      <p:sp>
        <p:nvSpPr>
          <p:cNvPr name="Freeform 2" id="2"/>
          <p:cNvSpPr/>
          <p:nvPr/>
        </p:nvSpPr>
        <p:spPr>
          <a:xfrm flipH="false" flipV="false" rot="0">
            <a:off x="-498415" y="8845337"/>
            <a:ext cx="21430122" cy="1441663"/>
          </a:xfrm>
          <a:custGeom>
            <a:avLst/>
            <a:gdLst/>
            <a:ahLst/>
            <a:cxnLst/>
            <a:rect r="r" b="b" t="t" l="l"/>
            <a:pathLst>
              <a:path h="1441663" w="21430122">
                <a:moveTo>
                  <a:pt x="0" y="0"/>
                </a:moveTo>
                <a:lnTo>
                  <a:pt x="21430122" y="0"/>
                </a:lnTo>
                <a:lnTo>
                  <a:pt x="21430122" y="1441663"/>
                </a:lnTo>
                <a:lnTo>
                  <a:pt x="0" y="144166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255969" y="9118626"/>
            <a:ext cx="5453349" cy="4114800"/>
          </a:xfrm>
          <a:custGeom>
            <a:avLst/>
            <a:gdLst/>
            <a:ahLst/>
            <a:cxnLst/>
            <a:rect r="r" b="b" t="t" l="l"/>
            <a:pathLst>
              <a:path h="4114800" w="5453349">
                <a:moveTo>
                  <a:pt x="0" y="0"/>
                </a:moveTo>
                <a:lnTo>
                  <a:pt x="5453350" y="0"/>
                </a:lnTo>
                <a:lnTo>
                  <a:pt x="545335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6222219" y="8766181"/>
            <a:ext cx="4280770" cy="2218217"/>
          </a:xfrm>
          <a:custGeom>
            <a:avLst/>
            <a:gdLst/>
            <a:ahLst/>
            <a:cxnLst/>
            <a:rect r="r" b="b" t="t" l="l"/>
            <a:pathLst>
              <a:path h="2218217" w="4280770">
                <a:moveTo>
                  <a:pt x="0" y="0"/>
                </a:moveTo>
                <a:lnTo>
                  <a:pt x="4280770" y="0"/>
                </a:lnTo>
                <a:lnTo>
                  <a:pt x="4280770" y="2218217"/>
                </a:lnTo>
                <a:lnTo>
                  <a:pt x="0" y="221821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1197381" y="4093994"/>
            <a:ext cx="6011768" cy="2568575"/>
          </a:xfrm>
          <a:prstGeom prst="rect">
            <a:avLst/>
          </a:prstGeom>
        </p:spPr>
        <p:txBody>
          <a:bodyPr anchor="t" rtlCol="false" tIns="0" lIns="0" bIns="0" rIns="0">
            <a:spAutoFit/>
          </a:bodyPr>
          <a:lstStyle/>
          <a:p>
            <a:pPr algn="l" marL="431801" indent="-215900" lvl="1">
              <a:lnSpc>
                <a:spcPts val="3400"/>
              </a:lnSpc>
              <a:spcBef>
                <a:spcPct val="0"/>
              </a:spcBef>
              <a:buFont typeface="Arial"/>
              <a:buChar char="•"/>
            </a:pPr>
            <a:r>
              <a:rPr lang="en-US" sz="2000" strike="noStrike" u="none">
                <a:solidFill>
                  <a:srgbClr val="FFFFFF"/>
                </a:solidFill>
                <a:latin typeface="Poppins"/>
                <a:ea typeface="Poppins"/>
                <a:cs typeface="Poppins"/>
                <a:sym typeface="Poppins"/>
              </a:rPr>
              <a:t>The historical depletion of many groups (wild mammals, plants). </a:t>
            </a:r>
          </a:p>
          <a:p>
            <a:pPr algn="l">
              <a:lnSpc>
                <a:spcPts val="3400"/>
              </a:lnSpc>
              <a:spcBef>
                <a:spcPct val="0"/>
              </a:spcBef>
            </a:pPr>
          </a:p>
          <a:p>
            <a:pPr algn="l" marL="431801" indent="-215900" lvl="1">
              <a:lnSpc>
                <a:spcPts val="3400"/>
              </a:lnSpc>
              <a:spcBef>
                <a:spcPct val="0"/>
              </a:spcBef>
              <a:buFont typeface="Arial"/>
              <a:buChar char="•"/>
            </a:pPr>
            <a:r>
              <a:rPr lang="en-US" sz="2000" strike="noStrike" u="none">
                <a:solidFill>
                  <a:srgbClr val="FFFFFF"/>
                </a:solidFill>
                <a:latin typeface="Poppins"/>
                <a:ea typeface="Poppins"/>
                <a:cs typeface="Poppins"/>
                <a:sym typeface="Poppins"/>
              </a:rPr>
              <a:t>describes the consequences </a:t>
            </a:r>
          </a:p>
          <a:p>
            <a:pPr algn="l" marL="863601" indent="-287867" lvl="2">
              <a:lnSpc>
                <a:spcPts val="3400"/>
              </a:lnSpc>
              <a:spcBef>
                <a:spcPct val="0"/>
              </a:spcBef>
              <a:buFont typeface="Arial"/>
              <a:buChar char="⚬"/>
            </a:pPr>
            <a:r>
              <a:rPr lang="en-US" sz="2000" strike="noStrike" u="none">
                <a:solidFill>
                  <a:srgbClr val="FFFFFF"/>
                </a:solidFill>
                <a:latin typeface="Poppins"/>
                <a:ea typeface="Poppins"/>
                <a:cs typeface="Poppins"/>
                <a:sym typeface="Poppins"/>
              </a:rPr>
              <a:t>massive reductions in wild biomass</a:t>
            </a:r>
          </a:p>
          <a:p>
            <a:pPr algn="l">
              <a:lnSpc>
                <a:spcPts val="3400"/>
              </a:lnSpc>
              <a:spcBef>
                <a:spcPct val="0"/>
              </a:spcBef>
            </a:pPr>
          </a:p>
        </p:txBody>
      </p:sp>
      <p:sp>
        <p:nvSpPr>
          <p:cNvPr name="TextBox 6" id="6"/>
          <p:cNvSpPr txBox="true"/>
          <p:nvPr/>
        </p:nvSpPr>
        <p:spPr>
          <a:xfrm rot="0">
            <a:off x="3360100" y="589472"/>
            <a:ext cx="11567799" cy="1660852"/>
          </a:xfrm>
          <a:prstGeom prst="rect">
            <a:avLst/>
          </a:prstGeom>
        </p:spPr>
        <p:txBody>
          <a:bodyPr anchor="t" rtlCol="false" tIns="0" lIns="0" bIns="0" rIns="0">
            <a:spAutoFit/>
          </a:bodyPr>
          <a:lstStyle/>
          <a:p>
            <a:pPr algn="ctr">
              <a:lnSpc>
                <a:spcPts val="6110"/>
              </a:lnSpc>
            </a:pPr>
            <a:r>
              <a:rPr lang="en-US" b="true" sz="6364">
                <a:solidFill>
                  <a:srgbClr val="FFFFFF"/>
                </a:solidFill>
                <a:latin typeface="Poppins Bold"/>
                <a:ea typeface="Poppins Bold"/>
                <a:cs typeface="Poppins Bold"/>
                <a:sym typeface="Poppins Bold"/>
              </a:rPr>
              <a:t>HOW THESE STUDIES COMPLEMENT EACH OTHER</a:t>
            </a:r>
          </a:p>
        </p:txBody>
      </p:sp>
      <p:sp>
        <p:nvSpPr>
          <p:cNvPr name="TextBox 7" id="7"/>
          <p:cNvSpPr txBox="true"/>
          <p:nvPr/>
        </p:nvSpPr>
        <p:spPr>
          <a:xfrm rot="0">
            <a:off x="9310502" y="2766458"/>
            <a:ext cx="8238267" cy="859028"/>
          </a:xfrm>
          <a:prstGeom prst="rect">
            <a:avLst/>
          </a:prstGeom>
        </p:spPr>
        <p:txBody>
          <a:bodyPr anchor="t" rtlCol="false" tIns="0" lIns="0" bIns="0" rIns="0">
            <a:spAutoFit/>
          </a:bodyPr>
          <a:lstStyle/>
          <a:p>
            <a:pPr algn="ctr">
              <a:lnSpc>
                <a:spcPts val="3496"/>
              </a:lnSpc>
            </a:pPr>
            <a:r>
              <a:rPr lang="en-US" sz="2300" spc="448">
                <a:solidFill>
                  <a:srgbClr val="FFFFFF"/>
                </a:solidFill>
                <a:latin typeface="Poppins"/>
                <a:ea typeface="Poppins"/>
                <a:cs typeface="Poppins"/>
                <a:sym typeface="Poppins"/>
              </a:rPr>
              <a:t>THE DIRECT DRIVERS OF BIODIVERSITY LOSS</a:t>
            </a:r>
          </a:p>
          <a:p>
            <a:pPr algn="ctr">
              <a:lnSpc>
                <a:spcPts val="3496"/>
              </a:lnSpc>
            </a:pPr>
            <a:r>
              <a:rPr lang="en-US" sz="2300" spc="448">
                <a:solidFill>
                  <a:srgbClr val="FFFFFF"/>
                </a:solidFill>
                <a:latin typeface="Poppins"/>
                <a:ea typeface="Poppins"/>
                <a:cs typeface="Poppins"/>
                <a:sym typeface="Poppins"/>
              </a:rPr>
              <a:t>(JAUREGUIBERRY ET AL. 2022)</a:t>
            </a:r>
          </a:p>
        </p:txBody>
      </p:sp>
      <p:sp>
        <p:nvSpPr>
          <p:cNvPr name="TextBox 8" id="8"/>
          <p:cNvSpPr txBox="true"/>
          <p:nvPr/>
        </p:nvSpPr>
        <p:spPr>
          <a:xfrm rot="0">
            <a:off x="757205" y="2766458"/>
            <a:ext cx="7279599" cy="859028"/>
          </a:xfrm>
          <a:prstGeom prst="rect">
            <a:avLst/>
          </a:prstGeom>
        </p:spPr>
        <p:txBody>
          <a:bodyPr anchor="t" rtlCol="false" tIns="0" lIns="0" bIns="0" rIns="0">
            <a:spAutoFit/>
          </a:bodyPr>
          <a:lstStyle/>
          <a:p>
            <a:pPr algn="ctr">
              <a:lnSpc>
                <a:spcPts val="3496"/>
              </a:lnSpc>
            </a:pPr>
            <a:r>
              <a:rPr lang="en-US" sz="2300" spc="448">
                <a:solidFill>
                  <a:srgbClr val="FFFFFF"/>
                </a:solidFill>
                <a:latin typeface="Poppins"/>
                <a:ea typeface="Poppins"/>
                <a:cs typeface="Poppins"/>
                <a:sym typeface="Poppins"/>
              </a:rPr>
              <a:t>THE BIOMASS DISTRIBUTION ON EARTH</a:t>
            </a:r>
          </a:p>
          <a:p>
            <a:pPr algn="ctr">
              <a:lnSpc>
                <a:spcPts val="3496"/>
              </a:lnSpc>
            </a:pPr>
            <a:r>
              <a:rPr lang="en-US" sz="2300" spc="448">
                <a:solidFill>
                  <a:srgbClr val="FFFFFF"/>
                </a:solidFill>
                <a:latin typeface="Poppins"/>
                <a:ea typeface="Poppins"/>
                <a:cs typeface="Poppins"/>
                <a:sym typeface="Poppins"/>
              </a:rPr>
              <a:t>(BAR-ON ET AL. 2018)</a:t>
            </a:r>
          </a:p>
        </p:txBody>
      </p:sp>
      <p:sp>
        <p:nvSpPr>
          <p:cNvPr name="TextBox 9" id="9"/>
          <p:cNvSpPr txBox="true"/>
          <p:nvPr/>
        </p:nvSpPr>
        <p:spPr>
          <a:xfrm rot="0">
            <a:off x="10107632" y="4093994"/>
            <a:ext cx="6839640" cy="2568575"/>
          </a:xfrm>
          <a:prstGeom prst="rect">
            <a:avLst/>
          </a:prstGeom>
        </p:spPr>
        <p:txBody>
          <a:bodyPr anchor="t" rtlCol="false" tIns="0" lIns="0" bIns="0" rIns="0">
            <a:spAutoFit/>
          </a:bodyPr>
          <a:lstStyle/>
          <a:p>
            <a:pPr algn="l" marL="431801" indent="-215900" lvl="1">
              <a:lnSpc>
                <a:spcPts val="3400"/>
              </a:lnSpc>
              <a:spcBef>
                <a:spcPct val="0"/>
              </a:spcBef>
              <a:buFont typeface="Arial"/>
              <a:buChar char="•"/>
            </a:pPr>
            <a:r>
              <a:rPr lang="en-US" sz="2000" strike="noStrike" u="none">
                <a:solidFill>
                  <a:srgbClr val="FFFFFF"/>
                </a:solidFill>
                <a:latin typeface="Poppins"/>
                <a:ea typeface="Poppins"/>
                <a:cs typeface="Poppins"/>
                <a:sym typeface="Poppins"/>
              </a:rPr>
              <a:t>Why this depletion occurred and which human activities are mainly responsible.</a:t>
            </a:r>
          </a:p>
          <a:p>
            <a:pPr algn="l">
              <a:lnSpc>
                <a:spcPts val="3400"/>
              </a:lnSpc>
              <a:spcBef>
                <a:spcPct val="0"/>
              </a:spcBef>
            </a:pPr>
          </a:p>
          <a:p>
            <a:pPr algn="l" marL="431801" indent="-215900" lvl="1">
              <a:lnSpc>
                <a:spcPts val="3400"/>
              </a:lnSpc>
              <a:spcBef>
                <a:spcPct val="0"/>
              </a:spcBef>
              <a:buFont typeface="Arial"/>
              <a:buChar char="•"/>
            </a:pPr>
            <a:r>
              <a:rPr lang="en-US" sz="2000" strike="noStrike" u="none">
                <a:solidFill>
                  <a:srgbClr val="FFFFFF"/>
                </a:solidFill>
                <a:latin typeface="Poppins"/>
                <a:ea typeface="Poppins"/>
                <a:cs typeface="Poppins"/>
                <a:sym typeface="Poppins"/>
              </a:rPr>
              <a:t>identifies the causes </a:t>
            </a:r>
          </a:p>
          <a:p>
            <a:pPr algn="l" marL="863601" indent="-287867" lvl="2">
              <a:lnSpc>
                <a:spcPts val="3400"/>
              </a:lnSpc>
              <a:spcBef>
                <a:spcPct val="0"/>
              </a:spcBef>
              <a:buFont typeface="Arial"/>
              <a:buChar char="⚬"/>
            </a:pPr>
            <a:r>
              <a:rPr lang="en-US" sz="2000" strike="noStrike" u="none">
                <a:solidFill>
                  <a:srgbClr val="FFFFFF"/>
                </a:solidFill>
                <a:latin typeface="Poppins"/>
                <a:ea typeface="Poppins"/>
                <a:cs typeface="Poppins"/>
                <a:sym typeface="Poppins"/>
              </a:rPr>
              <a:t>land-use change, exploitation, pollution, etc.</a:t>
            </a:r>
          </a:p>
          <a:p>
            <a:pPr algn="l">
              <a:lnSpc>
                <a:spcPts val="3400"/>
              </a:lnSpc>
              <a:spcBef>
                <a:spcPct val="0"/>
              </a:spcBef>
            </a:pPr>
          </a:p>
        </p:txBody>
      </p:sp>
      <p:sp>
        <p:nvSpPr>
          <p:cNvPr name="TextBox 10" id="10"/>
          <p:cNvSpPr txBox="true"/>
          <p:nvPr/>
        </p:nvSpPr>
        <p:spPr>
          <a:xfrm rot="0">
            <a:off x="3482371" y="7009887"/>
            <a:ext cx="11323257" cy="1364308"/>
          </a:xfrm>
          <a:prstGeom prst="rect">
            <a:avLst/>
          </a:prstGeom>
        </p:spPr>
        <p:txBody>
          <a:bodyPr anchor="t" rtlCol="false" tIns="0" lIns="0" bIns="0" rIns="0">
            <a:spAutoFit/>
          </a:bodyPr>
          <a:lstStyle/>
          <a:p>
            <a:pPr algn="l" marL="431801" indent="-215900" lvl="1">
              <a:lnSpc>
                <a:spcPts val="3400"/>
              </a:lnSpc>
              <a:spcBef>
                <a:spcPct val="0"/>
              </a:spcBef>
              <a:buFont typeface="Arial"/>
              <a:buChar char="•"/>
            </a:pPr>
            <a:r>
              <a:rPr lang="en-US" sz="2000" strike="noStrike" u="none">
                <a:solidFill>
                  <a:srgbClr val="FFFFFF"/>
                </a:solidFill>
                <a:latin typeface="Poppins"/>
                <a:ea typeface="Poppins"/>
                <a:cs typeface="Poppins"/>
                <a:sym typeface="Poppins"/>
              </a:rPr>
              <a:t>Farmland has replaced natural habitats  →  land-use change</a:t>
            </a:r>
          </a:p>
          <a:p>
            <a:pPr algn="l" marL="431801" indent="-215900" lvl="1">
              <a:lnSpc>
                <a:spcPts val="3400"/>
              </a:lnSpc>
              <a:spcBef>
                <a:spcPct val="0"/>
              </a:spcBef>
              <a:buFont typeface="Arial"/>
              <a:buChar char="•"/>
            </a:pPr>
            <a:r>
              <a:rPr lang="en-US" sz="2000" strike="noStrike" u="none">
                <a:solidFill>
                  <a:srgbClr val="FFFFFF"/>
                </a:solidFill>
                <a:latin typeface="Poppins"/>
                <a:ea typeface="Poppins"/>
                <a:cs typeface="Poppins"/>
                <a:sym typeface="Poppins"/>
              </a:rPr>
              <a:t>Human consumption and exploitation reduce wild fish biomass  →  direct exploitation</a:t>
            </a:r>
          </a:p>
          <a:p>
            <a:pPr algn="l">
              <a:lnSpc>
                <a:spcPts val="680"/>
              </a:lnSpc>
              <a:spcBef>
                <a:spcPct val="0"/>
              </a:spcBef>
            </a:pPr>
          </a:p>
          <a:p>
            <a:pPr algn="l" marL="863602" indent="-287867" lvl="2">
              <a:lnSpc>
                <a:spcPts val="3400"/>
              </a:lnSpc>
              <a:spcBef>
                <a:spcPct val="0"/>
              </a:spcBef>
              <a:buFont typeface="Arial"/>
              <a:buChar char="⚬"/>
            </a:pPr>
            <a:r>
              <a:rPr lang="en-US" sz="2000" strike="noStrike" u="none">
                <a:solidFill>
                  <a:srgbClr val="FFFFFF"/>
                </a:solidFill>
                <a:latin typeface="Poppins"/>
                <a:ea typeface="Poppins"/>
                <a:cs typeface="Poppins"/>
                <a:sym typeface="Poppins"/>
              </a:rPr>
              <a:t>together these drivers create human/livestock dominance in biomass.</a:t>
            </a:r>
          </a:p>
        </p:txBody>
      </p:sp>
      <p:sp>
        <p:nvSpPr>
          <p:cNvPr name="AutoShape 11" id="11"/>
          <p:cNvSpPr/>
          <p:nvPr/>
        </p:nvSpPr>
        <p:spPr>
          <a:xfrm>
            <a:off x="7773881" y="5162550"/>
            <a:ext cx="1536620" cy="0"/>
          </a:xfrm>
          <a:prstGeom prst="line">
            <a:avLst/>
          </a:prstGeom>
          <a:ln cap="flat" w="38100">
            <a:solidFill>
              <a:srgbClr val="FFFFFF"/>
            </a:solidFill>
            <a:prstDash val="solid"/>
            <a:headEnd type="none" len="sm" w="sm"/>
            <a:tailEnd type="arrow" len="sm" w="med"/>
          </a:ln>
        </p:spPr>
      </p:sp>
      <p:grpSp>
        <p:nvGrpSpPr>
          <p:cNvPr name="Group 12" id="12"/>
          <p:cNvGrpSpPr/>
          <p:nvPr/>
        </p:nvGrpSpPr>
        <p:grpSpPr>
          <a:xfrm rot="0">
            <a:off x="1873037" y="9118626"/>
            <a:ext cx="4804601" cy="6344603"/>
            <a:chOff x="0" y="0"/>
            <a:chExt cx="653717" cy="863250"/>
          </a:xfrm>
        </p:grpSpPr>
        <p:sp>
          <p:nvSpPr>
            <p:cNvPr name="Freeform 13" id="13"/>
            <p:cNvSpPr/>
            <p:nvPr/>
          </p:nvSpPr>
          <p:spPr>
            <a:xfrm flipH="false" flipV="false" rot="0">
              <a:off x="0" y="0"/>
              <a:ext cx="653717" cy="863250"/>
            </a:xfrm>
            <a:custGeom>
              <a:avLst/>
              <a:gdLst/>
              <a:ahLst/>
              <a:cxnLst/>
              <a:rect r="r" b="b" t="t" l="l"/>
              <a:pathLst>
                <a:path h="863250" w="653717">
                  <a:moveTo>
                    <a:pt x="0" y="0"/>
                  </a:moveTo>
                  <a:lnTo>
                    <a:pt x="653717" y="0"/>
                  </a:lnTo>
                  <a:lnTo>
                    <a:pt x="653717" y="863250"/>
                  </a:lnTo>
                  <a:lnTo>
                    <a:pt x="0" y="863250"/>
                  </a:lnTo>
                  <a:close/>
                </a:path>
              </a:pathLst>
            </a:custGeom>
            <a:blipFill>
              <a:blip r:embed="rId8"/>
              <a:stretch>
                <a:fillRect l="-97" t="0" r="-97" b="0"/>
              </a:stretch>
            </a:blipFill>
            <a:ln cap="sq">
              <a:noFill/>
              <a:prstDash val="solid"/>
              <a:miter/>
            </a:ln>
          </p:spPr>
        </p:sp>
      </p:grpSp>
      <p:grpSp>
        <p:nvGrpSpPr>
          <p:cNvPr name="Group 14" id="14"/>
          <p:cNvGrpSpPr/>
          <p:nvPr/>
        </p:nvGrpSpPr>
        <p:grpSpPr>
          <a:xfrm rot="0">
            <a:off x="11716059" y="9118626"/>
            <a:ext cx="4698904" cy="6344603"/>
            <a:chOff x="0" y="0"/>
            <a:chExt cx="639335" cy="863250"/>
          </a:xfrm>
        </p:grpSpPr>
        <p:sp>
          <p:nvSpPr>
            <p:cNvPr name="Freeform 15" id="15"/>
            <p:cNvSpPr/>
            <p:nvPr/>
          </p:nvSpPr>
          <p:spPr>
            <a:xfrm flipH="false" flipV="false" rot="0">
              <a:off x="0" y="0"/>
              <a:ext cx="639335" cy="863250"/>
            </a:xfrm>
            <a:custGeom>
              <a:avLst/>
              <a:gdLst/>
              <a:ahLst/>
              <a:cxnLst/>
              <a:rect r="r" b="b" t="t" l="l"/>
              <a:pathLst>
                <a:path h="863250" w="639335">
                  <a:moveTo>
                    <a:pt x="0" y="0"/>
                  </a:moveTo>
                  <a:lnTo>
                    <a:pt x="639335" y="0"/>
                  </a:lnTo>
                  <a:lnTo>
                    <a:pt x="639335" y="863250"/>
                  </a:lnTo>
                  <a:lnTo>
                    <a:pt x="0" y="863250"/>
                  </a:lnTo>
                  <a:close/>
                </a:path>
              </a:pathLst>
            </a:custGeom>
            <a:blipFill>
              <a:blip r:embed="rId9"/>
              <a:stretch>
                <a:fillRect l="-2912" t="0" r="-2912" b="0"/>
              </a:stretch>
            </a:blipFill>
            <a:ln cap="sq">
              <a:noFill/>
              <a:prstDash val="solid"/>
              <a:miter/>
            </a:ln>
          </p:spPr>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04323"/>
        </a:solidFill>
      </p:bgPr>
    </p:bg>
    <p:spTree>
      <p:nvGrpSpPr>
        <p:cNvPr id="1" name=""/>
        <p:cNvGrpSpPr/>
        <p:nvPr/>
      </p:nvGrpSpPr>
      <p:grpSpPr>
        <a:xfrm>
          <a:off x="0" y="0"/>
          <a:ext cx="0" cy="0"/>
          <a:chOff x="0" y="0"/>
          <a:chExt cx="0" cy="0"/>
        </a:xfrm>
      </p:grpSpPr>
      <p:sp>
        <p:nvSpPr>
          <p:cNvPr name="Freeform 2" id="2"/>
          <p:cNvSpPr/>
          <p:nvPr/>
        </p:nvSpPr>
        <p:spPr>
          <a:xfrm flipH="false" flipV="false" rot="0">
            <a:off x="-498415" y="8845337"/>
            <a:ext cx="21430122" cy="1441663"/>
          </a:xfrm>
          <a:custGeom>
            <a:avLst/>
            <a:gdLst/>
            <a:ahLst/>
            <a:cxnLst/>
            <a:rect r="r" b="b" t="t" l="l"/>
            <a:pathLst>
              <a:path h="1441663" w="21430122">
                <a:moveTo>
                  <a:pt x="0" y="0"/>
                </a:moveTo>
                <a:lnTo>
                  <a:pt x="21430122" y="0"/>
                </a:lnTo>
                <a:lnTo>
                  <a:pt x="21430122" y="1441663"/>
                </a:lnTo>
                <a:lnTo>
                  <a:pt x="0" y="144166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661885" y="6575204"/>
            <a:ext cx="5453349" cy="4114800"/>
          </a:xfrm>
          <a:custGeom>
            <a:avLst/>
            <a:gdLst/>
            <a:ahLst/>
            <a:cxnLst/>
            <a:rect r="r" b="b" t="t" l="l"/>
            <a:pathLst>
              <a:path h="4114800" w="5453349">
                <a:moveTo>
                  <a:pt x="0" y="0"/>
                </a:moveTo>
                <a:lnTo>
                  <a:pt x="5453350" y="0"/>
                </a:lnTo>
                <a:lnTo>
                  <a:pt x="545335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6222219" y="8766181"/>
            <a:ext cx="4280770" cy="2218217"/>
          </a:xfrm>
          <a:custGeom>
            <a:avLst/>
            <a:gdLst/>
            <a:ahLst/>
            <a:cxnLst/>
            <a:rect r="r" b="b" t="t" l="l"/>
            <a:pathLst>
              <a:path h="2218217" w="4280770">
                <a:moveTo>
                  <a:pt x="0" y="0"/>
                </a:moveTo>
                <a:lnTo>
                  <a:pt x="4280770" y="0"/>
                </a:lnTo>
                <a:lnTo>
                  <a:pt x="4280770" y="2218217"/>
                </a:lnTo>
                <a:lnTo>
                  <a:pt x="0" y="221821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1701219" y="3728758"/>
            <a:ext cx="14885561" cy="1384262"/>
          </a:xfrm>
          <a:prstGeom prst="rect">
            <a:avLst/>
          </a:prstGeom>
        </p:spPr>
        <p:txBody>
          <a:bodyPr anchor="t" rtlCol="false" tIns="0" lIns="0" bIns="0" rIns="0">
            <a:spAutoFit/>
          </a:bodyPr>
          <a:lstStyle/>
          <a:p>
            <a:pPr algn="ctr">
              <a:lnSpc>
                <a:spcPts val="9696"/>
              </a:lnSpc>
            </a:pPr>
            <a:r>
              <a:rPr lang="en-US" b="true" sz="10100">
                <a:solidFill>
                  <a:srgbClr val="FFFFFF"/>
                </a:solidFill>
                <a:latin typeface="Poppins Bold"/>
                <a:ea typeface="Poppins Bold"/>
                <a:cs typeface="Poppins Bold"/>
                <a:sym typeface="Poppins Bold"/>
              </a:rPr>
              <a:t>CONCLUSION </a:t>
            </a:r>
          </a:p>
        </p:txBody>
      </p:sp>
      <p:sp>
        <p:nvSpPr>
          <p:cNvPr name="TextBox 6" id="6"/>
          <p:cNvSpPr txBox="true"/>
          <p:nvPr/>
        </p:nvSpPr>
        <p:spPr>
          <a:xfrm rot="0">
            <a:off x="4107034" y="5195467"/>
            <a:ext cx="10073931" cy="650016"/>
          </a:xfrm>
          <a:prstGeom prst="rect">
            <a:avLst/>
          </a:prstGeom>
        </p:spPr>
        <p:txBody>
          <a:bodyPr anchor="t" rtlCol="false" tIns="0" lIns="0" bIns="0" rIns="0">
            <a:spAutoFit/>
          </a:bodyPr>
          <a:lstStyle/>
          <a:p>
            <a:pPr algn="ctr">
              <a:lnSpc>
                <a:spcPts val="5143"/>
              </a:lnSpc>
            </a:pPr>
            <a:r>
              <a:rPr lang="en-US" sz="3384" spc="659">
                <a:solidFill>
                  <a:srgbClr val="FFFFFF"/>
                </a:solidFill>
                <a:latin typeface="Poppins"/>
                <a:ea typeface="Poppins"/>
                <a:cs typeface="Poppins"/>
                <a:sym typeface="Poppins"/>
              </a:rPr>
              <a:t>THE FUTURE IS IN OUR HANDS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04323"/>
        </a:solidFill>
      </p:bgPr>
    </p:bg>
    <p:spTree>
      <p:nvGrpSpPr>
        <p:cNvPr id="1" name=""/>
        <p:cNvGrpSpPr/>
        <p:nvPr/>
      </p:nvGrpSpPr>
      <p:grpSpPr>
        <a:xfrm>
          <a:off x="0" y="0"/>
          <a:ext cx="0" cy="0"/>
          <a:chOff x="0" y="0"/>
          <a:chExt cx="0" cy="0"/>
        </a:xfrm>
      </p:grpSpPr>
      <p:sp>
        <p:nvSpPr>
          <p:cNvPr name="Freeform 2" id="2"/>
          <p:cNvSpPr/>
          <p:nvPr/>
        </p:nvSpPr>
        <p:spPr>
          <a:xfrm flipH="false" flipV="false" rot="0">
            <a:off x="-498415" y="8845337"/>
            <a:ext cx="21430122" cy="1441663"/>
          </a:xfrm>
          <a:custGeom>
            <a:avLst/>
            <a:gdLst/>
            <a:ahLst/>
            <a:cxnLst/>
            <a:rect r="r" b="b" t="t" l="l"/>
            <a:pathLst>
              <a:path h="1441663" w="21430122">
                <a:moveTo>
                  <a:pt x="0" y="0"/>
                </a:moveTo>
                <a:lnTo>
                  <a:pt x="21430122" y="0"/>
                </a:lnTo>
                <a:lnTo>
                  <a:pt x="21430122" y="1441663"/>
                </a:lnTo>
                <a:lnTo>
                  <a:pt x="0" y="144166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661885" y="6575204"/>
            <a:ext cx="5453349" cy="4114800"/>
          </a:xfrm>
          <a:custGeom>
            <a:avLst/>
            <a:gdLst/>
            <a:ahLst/>
            <a:cxnLst/>
            <a:rect r="r" b="b" t="t" l="l"/>
            <a:pathLst>
              <a:path h="4114800" w="5453349">
                <a:moveTo>
                  <a:pt x="0" y="0"/>
                </a:moveTo>
                <a:lnTo>
                  <a:pt x="5453350" y="0"/>
                </a:lnTo>
                <a:lnTo>
                  <a:pt x="545335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6222219" y="8766181"/>
            <a:ext cx="4280770" cy="2218217"/>
          </a:xfrm>
          <a:custGeom>
            <a:avLst/>
            <a:gdLst/>
            <a:ahLst/>
            <a:cxnLst/>
            <a:rect r="r" b="b" t="t" l="l"/>
            <a:pathLst>
              <a:path h="2218217" w="4280770">
                <a:moveTo>
                  <a:pt x="0" y="0"/>
                </a:moveTo>
                <a:lnTo>
                  <a:pt x="4280770" y="0"/>
                </a:lnTo>
                <a:lnTo>
                  <a:pt x="4280770" y="2218217"/>
                </a:lnTo>
                <a:lnTo>
                  <a:pt x="0" y="221821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4785201" y="1648873"/>
            <a:ext cx="8693717" cy="933142"/>
          </a:xfrm>
          <a:prstGeom prst="rect">
            <a:avLst/>
          </a:prstGeom>
        </p:spPr>
        <p:txBody>
          <a:bodyPr anchor="t" rtlCol="false" tIns="0" lIns="0" bIns="0" rIns="0">
            <a:spAutoFit/>
          </a:bodyPr>
          <a:lstStyle/>
          <a:p>
            <a:pPr algn="ctr">
              <a:lnSpc>
                <a:spcPts val="6590"/>
              </a:lnSpc>
            </a:pPr>
            <a:r>
              <a:rPr lang="en-US" b="true" sz="6864">
                <a:solidFill>
                  <a:srgbClr val="FFFFFF"/>
                </a:solidFill>
                <a:latin typeface="Poppins Bold"/>
                <a:ea typeface="Poppins Bold"/>
                <a:cs typeface="Poppins Bold"/>
                <a:sym typeface="Poppins Bold"/>
              </a:rPr>
              <a:t>WHO DID WHAT?</a:t>
            </a:r>
          </a:p>
        </p:txBody>
      </p:sp>
      <p:sp>
        <p:nvSpPr>
          <p:cNvPr name="TextBox 6" id="6"/>
          <p:cNvSpPr txBox="true"/>
          <p:nvPr/>
        </p:nvSpPr>
        <p:spPr>
          <a:xfrm rot="0">
            <a:off x="9764345" y="4651488"/>
            <a:ext cx="4478688" cy="1583862"/>
          </a:xfrm>
          <a:prstGeom prst="rect">
            <a:avLst/>
          </a:prstGeom>
        </p:spPr>
        <p:txBody>
          <a:bodyPr anchor="t" rtlCol="false" tIns="0" lIns="0" bIns="0" rIns="0">
            <a:spAutoFit/>
          </a:bodyPr>
          <a:lstStyle/>
          <a:p>
            <a:pPr algn="ctr">
              <a:lnSpc>
                <a:spcPts val="4262"/>
              </a:lnSpc>
            </a:pPr>
            <a:r>
              <a:rPr lang="en-US" sz="2507">
                <a:solidFill>
                  <a:srgbClr val="FFFFFF"/>
                </a:solidFill>
                <a:latin typeface="Poppins"/>
                <a:ea typeface="Poppins"/>
                <a:cs typeface="Poppins"/>
                <a:sym typeface="Poppins"/>
              </a:rPr>
              <a:t>Comparison and analysis of papers, deep dive vs AI and terms definition.</a:t>
            </a:r>
          </a:p>
        </p:txBody>
      </p:sp>
      <p:sp>
        <p:nvSpPr>
          <p:cNvPr name="TextBox 7" id="7"/>
          <p:cNvSpPr txBox="true"/>
          <p:nvPr/>
        </p:nvSpPr>
        <p:spPr>
          <a:xfrm rot="0">
            <a:off x="9869219" y="3842490"/>
            <a:ext cx="4373813" cy="540045"/>
          </a:xfrm>
          <a:prstGeom prst="rect">
            <a:avLst/>
          </a:prstGeom>
        </p:spPr>
        <p:txBody>
          <a:bodyPr anchor="t" rtlCol="false" tIns="0" lIns="0" bIns="0" rIns="0">
            <a:spAutoFit/>
          </a:bodyPr>
          <a:lstStyle/>
          <a:p>
            <a:pPr algn="ctr">
              <a:lnSpc>
                <a:spcPts val="4382"/>
              </a:lnSpc>
            </a:pPr>
            <a:r>
              <a:rPr lang="en-US" sz="2883" spc="562">
                <a:solidFill>
                  <a:srgbClr val="FFFFFF"/>
                </a:solidFill>
                <a:latin typeface="Poppins"/>
                <a:ea typeface="Poppins"/>
                <a:cs typeface="Poppins"/>
                <a:sym typeface="Poppins"/>
              </a:rPr>
              <a:t>LUKÁŠ + PARV</a:t>
            </a:r>
          </a:p>
        </p:txBody>
      </p:sp>
      <p:sp>
        <p:nvSpPr>
          <p:cNvPr name="AutoShape 8" id="8"/>
          <p:cNvSpPr/>
          <p:nvPr/>
        </p:nvSpPr>
        <p:spPr>
          <a:xfrm>
            <a:off x="14583349" y="3670123"/>
            <a:ext cx="0" cy="2946753"/>
          </a:xfrm>
          <a:prstGeom prst="line">
            <a:avLst/>
          </a:prstGeom>
          <a:ln cap="flat" w="47625">
            <a:solidFill>
              <a:srgbClr val="FFFFFF"/>
            </a:solidFill>
            <a:prstDash val="solid"/>
            <a:headEnd type="none" len="sm" w="sm"/>
            <a:tailEnd type="none" len="sm" w="sm"/>
          </a:ln>
        </p:spPr>
      </p:sp>
      <p:sp>
        <p:nvSpPr>
          <p:cNvPr name="TextBox 9" id="9"/>
          <p:cNvSpPr txBox="true"/>
          <p:nvPr/>
        </p:nvSpPr>
        <p:spPr>
          <a:xfrm rot="0">
            <a:off x="4021086" y="4651488"/>
            <a:ext cx="5040923" cy="1583862"/>
          </a:xfrm>
          <a:prstGeom prst="rect">
            <a:avLst/>
          </a:prstGeom>
        </p:spPr>
        <p:txBody>
          <a:bodyPr anchor="t" rtlCol="false" tIns="0" lIns="0" bIns="0" rIns="0">
            <a:spAutoFit/>
          </a:bodyPr>
          <a:lstStyle/>
          <a:p>
            <a:pPr algn="ctr">
              <a:lnSpc>
                <a:spcPts val="4262"/>
              </a:lnSpc>
            </a:pPr>
            <a:r>
              <a:rPr lang="en-US" sz="2507">
                <a:solidFill>
                  <a:srgbClr val="FFFFFF"/>
                </a:solidFill>
                <a:latin typeface="Poppins"/>
                <a:ea typeface="Poppins"/>
                <a:cs typeface="Poppins"/>
                <a:sym typeface="Poppins"/>
              </a:rPr>
              <a:t>Introduction, briefing, and explanation of terminology involving the biodiversity crisis.</a:t>
            </a:r>
          </a:p>
        </p:txBody>
      </p:sp>
      <p:sp>
        <p:nvSpPr>
          <p:cNvPr name="AutoShape 10" id="10"/>
          <p:cNvSpPr/>
          <p:nvPr/>
        </p:nvSpPr>
        <p:spPr>
          <a:xfrm>
            <a:off x="3680769" y="3670123"/>
            <a:ext cx="0" cy="2946753"/>
          </a:xfrm>
          <a:prstGeom prst="line">
            <a:avLst/>
          </a:prstGeom>
          <a:ln cap="flat" w="47625">
            <a:solidFill>
              <a:srgbClr val="FFFFFF"/>
            </a:solidFill>
            <a:prstDash val="solid"/>
            <a:headEnd type="none" len="sm" w="sm"/>
            <a:tailEnd type="none" len="sm" w="sm"/>
          </a:ln>
        </p:spPr>
      </p:sp>
      <p:sp>
        <p:nvSpPr>
          <p:cNvPr name="AutoShape 11" id="11"/>
          <p:cNvSpPr/>
          <p:nvPr/>
        </p:nvSpPr>
        <p:spPr>
          <a:xfrm flipH="true">
            <a:off x="9400146" y="3670123"/>
            <a:ext cx="0" cy="2946753"/>
          </a:xfrm>
          <a:prstGeom prst="line">
            <a:avLst/>
          </a:prstGeom>
          <a:ln cap="flat" w="47625">
            <a:solidFill>
              <a:srgbClr val="FFFFFF"/>
            </a:solidFill>
            <a:prstDash val="solid"/>
            <a:headEnd type="none" len="sm" w="sm"/>
            <a:tailEnd type="none" len="sm" w="sm"/>
          </a:ln>
        </p:spPr>
      </p:sp>
      <p:sp>
        <p:nvSpPr>
          <p:cNvPr name="TextBox 12" id="12"/>
          <p:cNvSpPr txBox="true"/>
          <p:nvPr/>
        </p:nvSpPr>
        <p:spPr>
          <a:xfrm rot="0">
            <a:off x="4125960" y="3842490"/>
            <a:ext cx="4373813" cy="540045"/>
          </a:xfrm>
          <a:prstGeom prst="rect">
            <a:avLst/>
          </a:prstGeom>
        </p:spPr>
        <p:txBody>
          <a:bodyPr anchor="t" rtlCol="false" tIns="0" lIns="0" bIns="0" rIns="0">
            <a:spAutoFit/>
          </a:bodyPr>
          <a:lstStyle/>
          <a:p>
            <a:pPr algn="ctr">
              <a:lnSpc>
                <a:spcPts val="4382"/>
              </a:lnSpc>
            </a:pPr>
            <a:r>
              <a:rPr lang="en-US" sz="2883" spc="562">
                <a:solidFill>
                  <a:srgbClr val="FFFFFF"/>
                </a:solidFill>
                <a:latin typeface="Poppins"/>
                <a:ea typeface="Poppins"/>
                <a:cs typeface="Poppins"/>
                <a:sym typeface="Poppins"/>
              </a:rPr>
              <a:t>JULIA + CLARA</a:t>
            </a:r>
          </a:p>
        </p:txBody>
      </p:sp>
    </p:spTree>
  </p:cSld>
  <p:clrMapOvr>
    <a:masterClrMapping/>
  </p:clrMapOvr>
</p:sld>
</file>

<file path=ppt/slides/slide16.xml><?xml version="1.0" encoding="utf-8"?>
<p:sld xmlns:p="http://schemas.openxmlformats.org/presentationml/2006/main" xmlns:a="http://schemas.openxmlformats.org/drawingml/2006/main">
  <p:cSld>
    <p:bg>
      <p:bgPr>
        <a:solidFill>
          <a:srgbClr val="004323"/>
        </a:solidFill>
      </p:bgPr>
    </p:bg>
    <p:spTree>
      <p:nvGrpSpPr>
        <p:cNvPr id="1" name=""/>
        <p:cNvGrpSpPr/>
        <p:nvPr/>
      </p:nvGrpSpPr>
      <p:grpSpPr>
        <a:xfrm>
          <a:off x="0" y="0"/>
          <a:ext cx="0" cy="0"/>
          <a:chOff x="0" y="0"/>
          <a:chExt cx="0" cy="0"/>
        </a:xfrm>
      </p:grpSpPr>
      <p:sp>
        <p:nvSpPr>
          <p:cNvPr name="TextBox 2" id="2"/>
          <p:cNvSpPr txBox="true"/>
          <p:nvPr/>
        </p:nvSpPr>
        <p:spPr>
          <a:xfrm rot="0">
            <a:off x="4085522" y="364005"/>
            <a:ext cx="10116955" cy="933142"/>
          </a:xfrm>
          <a:prstGeom prst="rect">
            <a:avLst/>
          </a:prstGeom>
        </p:spPr>
        <p:txBody>
          <a:bodyPr anchor="t" rtlCol="false" tIns="0" lIns="0" bIns="0" rIns="0">
            <a:spAutoFit/>
          </a:bodyPr>
          <a:lstStyle/>
          <a:p>
            <a:pPr algn="ctr">
              <a:lnSpc>
                <a:spcPts val="6590"/>
              </a:lnSpc>
            </a:pPr>
            <a:r>
              <a:rPr lang="en-US" b="true" sz="6864">
                <a:solidFill>
                  <a:srgbClr val="FFFFFF"/>
                </a:solidFill>
                <a:latin typeface="Poppins Bold"/>
                <a:ea typeface="Poppins Bold"/>
                <a:cs typeface="Poppins Bold"/>
                <a:sym typeface="Poppins Bold"/>
              </a:rPr>
              <a:t>CITATIONS</a:t>
            </a:r>
          </a:p>
        </p:txBody>
      </p:sp>
      <p:sp>
        <p:nvSpPr>
          <p:cNvPr name="TextBox 3" id="3"/>
          <p:cNvSpPr txBox="true"/>
          <p:nvPr/>
        </p:nvSpPr>
        <p:spPr>
          <a:xfrm rot="0">
            <a:off x="984592" y="1494779"/>
            <a:ext cx="16318816" cy="8792221"/>
          </a:xfrm>
          <a:prstGeom prst="rect">
            <a:avLst/>
          </a:prstGeom>
        </p:spPr>
        <p:txBody>
          <a:bodyPr anchor="t" rtlCol="false" tIns="0" lIns="0" bIns="0" rIns="0">
            <a:spAutoFit/>
          </a:bodyPr>
          <a:lstStyle/>
          <a:p>
            <a:pPr algn="l">
              <a:lnSpc>
                <a:spcPts val="2017"/>
              </a:lnSpc>
            </a:pPr>
            <a:r>
              <a:rPr lang="en-US" sz="1186">
                <a:solidFill>
                  <a:srgbClr val="FFFFFF"/>
                </a:solidFill>
                <a:latin typeface="Poppins"/>
                <a:ea typeface="Poppins"/>
                <a:cs typeface="Poppins"/>
                <a:sym typeface="Poppins"/>
              </a:rPr>
              <a:t>“EU Policies Addressing Indirect Drivers of Biodiversity Loss | Knowledge for Policy.” Europa.eu, 2023, knowledge4policy.ec.europa.eu/biodiversity/eu-policies-addressing-indirect-drivers-biodiversity-loss_en. Accessed 4 Dec. 2025.</a:t>
            </a:r>
          </a:p>
          <a:p>
            <a:pPr algn="l">
              <a:lnSpc>
                <a:spcPts val="2017"/>
              </a:lnSpc>
            </a:pPr>
          </a:p>
          <a:p>
            <a:pPr algn="l">
              <a:lnSpc>
                <a:spcPts val="2017"/>
              </a:lnSpc>
            </a:pPr>
            <a:r>
              <a:rPr lang="en-US" sz="1186">
                <a:solidFill>
                  <a:srgbClr val="FFFFFF"/>
                </a:solidFill>
                <a:latin typeface="Poppins"/>
                <a:ea typeface="Poppins"/>
                <a:cs typeface="Poppins"/>
                <a:sym typeface="Poppins"/>
              </a:rPr>
              <a:t>Gall, Sarah S., et al. “Strategic Land Reallocation Enhances Carbon Sequestration and Biodiversity Protection without Compromising Agricultural Productivity in Great Britain.” Communications Earth &amp; Environment, vol. 6, no. 1, Nature Portfolio, Sept. 2025, https://doi.org/10.1038/s43247-025-02728-w. Accessed 27 Oct. 2025.</a:t>
            </a:r>
          </a:p>
          <a:p>
            <a:pPr algn="l">
              <a:lnSpc>
                <a:spcPts val="2017"/>
              </a:lnSpc>
            </a:pPr>
          </a:p>
          <a:p>
            <a:pPr algn="l">
              <a:lnSpc>
                <a:spcPts val="2017"/>
              </a:lnSpc>
            </a:pPr>
            <a:r>
              <a:rPr lang="en-US" sz="1186">
                <a:solidFill>
                  <a:srgbClr val="FFFFFF"/>
                </a:solidFill>
                <a:latin typeface="Poppins"/>
                <a:ea typeface="Poppins"/>
                <a:cs typeface="Poppins"/>
                <a:sym typeface="Poppins"/>
              </a:rPr>
              <a:t>Greenspoon, Lior, et al. “The Global Biomass of Mammals since 1850.” Nature Communications, vol. 16, no. 1, Springer Science and Business Media LLC, Oct. 2025, https://doi.org/10.1038/s41467-025-63888-z. Accessed 2 Nov. 2025.</a:t>
            </a:r>
          </a:p>
          <a:p>
            <a:pPr algn="l">
              <a:lnSpc>
                <a:spcPts val="2017"/>
              </a:lnSpc>
            </a:pPr>
          </a:p>
          <a:p>
            <a:pPr algn="l">
              <a:lnSpc>
                <a:spcPts val="2017"/>
              </a:lnSpc>
            </a:pPr>
            <a:r>
              <a:rPr lang="en-US" sz="1186">
                <a:solidFill>
                  <a:srgbClr val="FFFFFF"/>
                </a:solidFill>
                <a:latin typeface="Poppins"/>
                <a:ea typeface="Poppins"/>
                <a:cs typeface="Poppins"/>
                <a:sym typeface="Poppins"/>
              </a:rPr>
              <a:t>Ha, K. Oanh. “Amazon Packages Burn in India, Last Stop in Broken Recycling System.” Bloomberg.com, 27 Dec. 2022, www.bloomberg.com/features/2022-india-plastic-recycling-pollution/.</a:t>
            </a:r>
          </a:p>
          <a:p>
            <a:pPr algn="l">
              <a:lnSpc>
                <a:spcPts val="2017"/>
              </a:lnSpc>
            </a:pPr>
          </a:p>
          <a:p>
            <a:pPr algn="l">
              <a:lnSpc>
                <a:spcPts val="2017"/>
              </a:lnSpc>
            </a:pPr>
            <a:r>
              <a:rPr lang="en-US" sz="1186">
                <a:solidFill>
                  <a:srgbClr val="FFFFFF"/>
                </a:solidFill>
                <a:latin typeface="Poppins"/>
                <a:ea typeface="Poppins"/>
                <a:cs typeface="Poppins"/>
                <a:sym typeface="Poppins"/>
              </a:rPr>
              <a:t>IPBES. “Summary for Policymakers of the Global Assessment Report on Biodiversity and Ecosystem Services.” Zenodo (CERN European Organization for Nuclear Research), vol. 1, CERN European Organization for Nuclear Research, Nov. 2019, https://doi.org/10.5281/zenodo.3553579.</a:t>
            </a:r>
          </a:p>
          <a:p>
            <a:pPr algn="l">
              <a:lnSpc>
                <a:spcPts val="2017"/>
              </a:lnSpc>
            </a:pPr>
          </a:p>
          <a:p>
            <a:pPr algn="l">
              <a:lnSpc>
                <a:spcPts val="2017"/>
              </a:lnSpc>
            </a:pPr>
            <a:r>
              <a:rPr lang="en-US" sz="1186">
                <a:solidFill>
                  <a:srgbClr val="FFFFFF"/>
                </a:solidFill>
                <a:latin typeface="Poppins"/>
                <a:ea typeface="Poppins"/>
                <a:cs typeface="Poppins"/>
                <a:sym typeface="Poppins"/>
              </a:rPr>
              <a:t>Mahajan, Alisha, and Kakali Majumdar. “Toxic Trade and Environmental Stringency: Exploring the Impact on Economic Growth in the G20.” Journal of Cleaner Production, vol. 422, Elsevier BV, Oct. 2023, pp. 138516–16, https://doi.org/10.1016/j.jclepro.2023.138516. Accessed 11 Apr. 2024.</a:t>
            </a:r>
          </a:p>
          <a:p>
            <a:pPr algn="l">
              <a:lnSpc>
                <a:spcPts val="2017"/>
              </a:lnSpc>
            </a:pPr>
          </a:p>
          <a:p>
            <a:pPr algn="l">
              <a:lnSpc>
                <a:spcPts val="2017"/>
              </a:lnSpc>
            </a:pPr>
            <a:r>
              <a:rPr lang="en-US" sz="1186">
                <a:solidFill>
                  <a:srgbClr val="FFFFFF"/>
                </a:solidFill>
                <a:latin typeface="Poppins"/>
                <a:ea typeface="Poppins"/>
                <a:cs typeface="Poppins"/>
                <a:sym typeface="Poppins"/>
              </a:rPr>
              <a:t>Navarro-Gambín, Pedro, et al. “Paving the Ground for Biodiversity-Positive Transformative Change in Fashion: An Exploration of Drivers of Biodiversity Loss and Barriers to Transformative Change in the Textile, Apparel, and Fashion Sector.” International Journal of the Commons, vol. 19, no. 1, Ubiquity Press, Ltd., Aug. 2025, https://doi.org/10.5334/ijc.1458. Accessed 20 Oct. 2025.</a:t>
            </a:r>
          </a:p>
          <a:p>
            <a:pPr algn="l">
              <a:lnSpc>
                <a:spcPts val="2017"/>
              </a:lnSpc>
            </a:pPr>
          </a:p>
          <a:p>
            <a:pPr algn="l">
              <a:lnSpc>
                <a:spcPts val="2017"/>
              </a:lnSpc>
            </a:pPr>
            <a:r>
              <a:rPr lang="en-US" sz="1186">
                <a:solidFill>
                  <a:srgbClr val="FFFFFF"/>
                </a:solidFill>
                <a:latin typeface="Poppins"/>
                <a:ea typeface="Poppins"/>
                <a:cs typeface="Poppins"/>
                <a:sym typeface="Poppins"/>
              </a:rPr>
              <a:t>Rosenberg, Yuval, et al. “Human Biomass Movement Exceeds the Biomass Movement of All Land Animals Combined.” Nature Ecology &amp; Evolution, Springer Science and Business Media LLC, Oct. 2025, https://doi.org/10.1038/s41559-025-02863-9. Accessed 5 Nov. 2025.</a:t>
            </a:r>
          </a:p>
          <a:p>
            <a:pPr algn="l">
              <a:lnSpc>
                <a:spcPts val="2017"/>
              </a:lnSpc>
            </a:pPr>
          </a:p>
          <a:p>
            <a:pPr algn="l">
              <a:lnSpc>
                <a:spcPts val="2017"/>
              </a:lnSpc>
            </a:pPr>
            <a:r>
              <a:rPr lang="en-US" sz="1186">
                <a:solidFill>
                  <a:srgbClr val="FFFFFF"/>
                </a:solidFill>
                <a:latin typeface="Poppins"/>
                <a:ea typeface="Poppins"/>
                <a:cs typeface="Poppins"/>
                <a:sym typeface="Poppins"/>
              </a:rPr>
              <a:t>Rowlands, Mark. “The Biomass Reallocation Program.” Oxford Academic, June 2021, pp. 172–88, https://doi.org/10.1093/oso/9780197541890.003.0009. Accessed 4 Dec. 2025.</a:t>
            </a:r>
          </a:p>
          <a:p>
            <a:pPr algn="l">
              <a:lnSpc>
                <a:spcPts val="2017"/>
              </a:lnSpc>
            </a:pPr>
          </a:p>
          <a:p>
            <a:pPr algn="l">
              <a:lnSpc>
                <a:spcPts val="2017"/>
              </a:lnSpc>
            </a:pPr>
            <a:r>
              <a:rPr lang="en-US" sz="1186">
                <a:solidFill>
                  <a:srgbClr val="FFFFFF"/>
                </a:solidFill>
                <a:latin typeface="Poppins"/>
                <a:ea typeface="Poppins"/>
                <a:cs typeface="Poppins"/>
                <a:sym typeface="Poppins"/>
              </a:rPr>
              <a:t>“The Devastating Impact of Humans on Biodiversity.” Ieu.uzh.ch, 26 Mar. 2025, www.ieu.uzh.ch/en/news/2025/20250326.html. Accessed 4 Dec. 2025.</a:t>
            </a:r>
          </a:p>
          <a:p>
            <a:pPr algn="l">
              <a:lnSpc>
                <a:spcPts val="2017"/>
              </a:lnSpc>
            </a:pPr>
          </a:p>
          <a:p>
            <a:pPr algn="l">
              <a:lnSpc>
                <a:spcPts val="2017"/>
              </a:lnSpc>
            </a:pPr>
            <a:r>
              <a:rPr lang="en-US" sz="1186">
                <a:solidFill>
                  <a:srgbClr val="FFFFFF"/>
                </a:solidFill>
                <a:latin typeface="Poppins"/>
                <a:ea typeface="Poppins"/>
                <a:cs typeface="Poppins"/>
                <a:sym typeface="Poppins"/>
              </a:rPr>
              <a:t>“Trade in Waste by Type of Material and Partner.” Doi.org, 2025, doi.org/10.2908/ENV_WASTRDMP. Accessed 13 Nov. 2025.</a:t>
            </a:r>
          </a:p>
          <a:p>
            <a:pPr algn="l">
              <a:lnSpc>
                <a:spcPts val="2017"/>
              </a:lnSpc>
            </a:pPr>
          </a:p>
          <a:p>
            <a:pPr algn="l">
              <a:lnSpc>
                <a:spcPts val="2017"/>
              </a:lnSpc>
            </a:pPr>
            <a:r>
              <a:rPr lang="en-US" sz="1186">
                <a:solidFill>
                  <a:srgbClr val="FFFFFF"/>
                </a:solidFill>
                <a:latin typeface="Poppins"/>
                <a:ea typeface="Poppins"/>
                <a:cs typeface="Poppins"/>
                <a:sym typeface="Poppins"/>
              </a:rPr>
              <a:t>Waldron, Anthony, et al. Protecting 30% of the Planet for Nature: Costs, Benefits and Economic Implications Working Paper Analysing the Economic Implications of the Proposed 30% Target for Areal Protection in the Draft Post-2020 Global Biodiversity Framework. pure.iiasa.ac.at/id/eprint/16560/1/Waldron_Report_FINAL_sml.pdf.</a:t>
            </a:r>
          </a:p>
          <a:p>
            <a:pPr algn="l">
              <a:lnSpc>
                <a:spcPts val="2017"/>
              </a:lnSpc>
            </a:pPr>
          </a:p>
          <a:p>
            <a:pPr algn="l">
              <a:lnSpc>
                <a:spcPts val="2017"/>
              </a:lnSpc>
            </a:pPr>
            <a:r>
              <a:rPr lang="en-US" sz="1186">
                <a:solidFill>
                  <a:srgbClr val="FFFFFF"/>
                </a:solidFill>
                <a:latin typeface="Poppins"/>
                <a:ea typeface="Poppins"/>
                <a:cs typeface="Poppins"/>
                <a:sym typeface="Poppins"/>
              </a:rPr>
              <a:t>World Health Organization. “Biodiversity.” World Health Organization, 18 Feb. 2025, www.who.int/news-room/fact-sheets/detail/biodiversity.</a:t>
            </a:r>
          </a:p>
          <a:p>
            <a:pPr algn="l">
              <a:lnSpc>
                <a:spcPts val="2017"/>
              </a:lnSpc>
            </a:pPr>
          </a:p>
          <a:p>
            <a:pPr algn="l">
              <a:lnSpc>
                <a:spcPts val="2017"/>
              </a:lnSpc>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04323"/>
        </a:solidFill>
      </p:bgPr>
    </p:bg>
    <p:spTree>
      <p:nvGrpSpPr>
        <p:cNvPr id="1" name=""/>
        <p:cNvGrpSpPr/>
        <p:nvPr/>
      </p:nvGrpSpPr>
      <p:grpSpPr>
        <a:xfrm>
          <a:off x="0" y="0"/>
          <a:ext cx="0" cy="0"/>
          <a:chOff x="0" y="0"/>
          <a:chExt cx="0" cy="0"/>
        </a:xfrm>
      </p:grpSpPr>
      <p:sp>
        <p:nvSpPr>
          <p:cNvPr name="Freeform 2" id="2"/>
          <p:cNvSpPr/>
          <p:nvPr/>
        </p:nvSpPr>
        <p:spPr>
          <a:xfrm flipH="false" flipV="false" rot="0">
            <a:off x="-498415" y="8845337"/>
            <a:ext cx="21430122" cy="1441663"/>
          </a:xfrm>
          <a:custGeom>
            <a:avLst/>
            <a:gdLst/>
            <a:ahLst/>
            <a:cxnLst/>
            <a:rect r="r" b="b" t="t" l="l"/>
            <a:pathLst>
              <a:path h="1441663" w="21430122">
                <a:moveTo>
                  <a:pt x="0" y="0"/>
                </a:moveTo>
                <a:lnTo>
                  <a:pt x="21430122" y="0"/>
                </a:lnTo>
                <a:lnTo>
                  <a:pt x="21430122" y="1441663"/>
                </a:lnTo>
                <a:lnTo>
                  <a:pt x="0" y="144166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137751" y="3818022"/>
            <a:ext cx="16012497" cy="2793832"/>
          </a:xfrm>
          <a:prstGeom prst="rect">
            <a:avLst/>
          </a:prstGeom>
        </p:spPr>
        <p:txBody>
          <a:bodyPr anchor="t" rtlCol="false" tIns="0" lIns="0" bIns="0" rIns="0">
            <a:spAutoFit/>
          </a:bodyPr>
          <a:lstStyle/>
          <a:p>
            <a:pPr algn="ctr">
              <a:lnSpc>
                <a:spcPts val="10294"/>
              </a:lnSpc>
            </a:pPr>
            <a:r>
              <a:rPr lang="en-US" b="true" sz="10723">
                <a:solidFill>
                  <a:srgbClr val="FFFFFF"/>
                </a:solidFill>
                <a:latin typeface="Poppins Bold"/>
                <a:ea typeface="Poppins Bold"/>
                <a:cs typeface="Poppins Bold"/>
                <a:sym typeface="Poppins Bold"/>
              </a:rPr>
              <a:t>THANK YOU</a:t>
            </a:r>
          </a:p>
          <a:p>
            <a:pPr algn="ctr">
              <a:lnSpc>
                <a:spcPts val="10294"/>
              </a:lnSpc>
            </a:pPr>
            <a:r>
              <a:rPr lang="en-US" b="true" sz="10723">
                <a:solidFill>
                  <a:srgbClr val="FFFFFF"/>
                </a:solidFill>
                <a:latin typeface="Poppins Bold"/>
                <a:ea typeface="Poppins Bold"/>
                <a:cs typeface="Poppins Bold"/>
                <a:sym typeface="Poppins Bold"/>
              </a:rPr>
              <a:t>FOR ATTENTION</a:t>
            </a:r>
          </a:p>
        </p:txBody>
      </p:sp>
      <p:sp>
        <p:nvSpPr>
          <p:cNvPr name="Freeform 4" id="4"/>
          <p:cNvSpPr/>
          <p:nvPr/>
        </p:nvSpPr>
        <p:spPr>
          <a:xfrm flipH="false" flipV="false" rot="0">
            <a:off x="-3225090" y="6476382"/>
            <a:ext cx="5453349" cy="4114800"/>
          </a:xfrm>
          <a:custGeom>
            <a:avLst/>
            <a:gdLst/>
            <a:ahLst/>
            <a:cxnLst/>
            <a:rect r="r" b="b" t="t" l="l"/>
            <a:pathLst>
              <a:path h="4114800" w="5453349">
                <a:moveTo>
                  <a:pt x="0" y="0"/>
                </a:moveTo>
                <a:lnTo>
                  <a:pt x="5453350" y="0"/>
                </a:lnTo>
                <a:lnTo>
                  <a:pt x="545335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4894670" y="8533782"/>
            <a:ext cx="4729260" cy="2450616"/>
          </a:xfrm>
          <a:custGeom>
            <a:avLst/>
            <a:gdLst/>
            <a:ahLst/>
            <a:cxnLst/>
            <a:rect r="r" b="b" t="t" l="l"/>
            <a:pathLst>
              <a:path h="2450616" w="4729260">
                <a:moveTo>
                  <a:pt x="0" y="0"/>
                </a:moveTo>
                <a:lnTo>
                  <a:pt x="4729260" y="0"/>
                </a:lnTo>
                <a:lnTo>
                  <a:pt x="4729260" y="2450616"/>
                </a:lnTo>
                <a:lnTo>
                  <a:pt x="0" y="245061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DAG6ix_UsYk</dc:identifier>
  <dcterms:modified xsi:type="dcterms:W3CDTF">2011-08-01T06:04:30Z</dcterms:modified>
  <cp:revision>1</cp:revision>
  <dc:title>Drivers of biodiversity crisis</dc:title>
</cp:coreProperties>
</file>