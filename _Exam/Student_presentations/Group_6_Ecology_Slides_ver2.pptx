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1"/>
  </p:notesMasterIdLst>
  <p:sldIdLst>
    <p:sldId id="269" r:id="rId4"/>
    <p:sldId id="270" r:id="rId5"/>
    <p:sldId id="271" r:id="rId6"/>
    <p:sldId id="265" r:id="rId7"/>
    <p:sldId id="266" r:id="rId8"/>
    <p:sldId id="267" r:id="rId9"/>
    <p:sldId id="268" r:id="rId10"/>
    <p:sldId id="257" r:id="rId11"/>
    <p:sldId id="258" r:id="rId12"/>
    <p:sldId id="259" r:id="rId13"/>
    <p:sldId id="281" r:id="rId14"/>
    <p:sldId id="261" r:id="rId15"/>
    <p:sldId id="262" r:id="rId16"/>
    <p:sldId id="263" r:id="rId17"/>
    <p:sldId id="275"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DFC9F5-9F0A-8645-5A20-43ED5910C11A}" v="107" dt="2025-12-05T08:15:39.536"/>
    <p1510:client id="{275B01B8-4E99-690D-1E76-BC0B51F5733E}" v="367" dt="2025-12-04T22:13:02.124"/>
    <p1510:client id="{2DB6918B-57D0-7D3A-5E6D-602E17FC6BCD}" v="231" dt="2025-12-05T05:18:10.543"/>
    <p1510:client id="{6DE7406F-9323-088D-D336-178146804B1B}" v="316" dt="2025-12-06T20:56:42.500"/>
    <p1510:client id="{9CE75485-3E34-3C9A-EF57-4738C816D333}" v="2" dt="2025-12-05T12:58:34.390"/>
    <p1510:client id="{E19E8026-9BCB-A14F-B1AB-FC86DDC388CC}" v="4" dt="2025-12-05T11:12:55.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3CF3D5-FE95-44DA-B151-617C8BC4D8B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82C3311-B2FB-4121-AA73-639882200459}">
      <dgm:prSet/>
      <dgm:spPr/>
      <dgm:t>
        <a:bodyPr/>
        <a:lstStyle/>
        <a:p>
          <a:r>
            <a:rPr lang="en-US" b="0" i="0"/>
            <a:t>Cuvier (1829) defined species as groups descended from common ancestors and resembling each other.</a:t>
          </a:r>
          <a:endParaRPr lang="en-US"/>
        </a:p>
      </dgm:t>
    </dgm:pt>
    <dgm:pt modelId="{24F643C7-1984-4420-8F0F-F0CDCF9EF961}" type="parTrans" cxnId="{6088F707-46E1-4988-9C04-588A09D5D114}">
      <dgm:prSet/>
      <dgm:spPr/>
      <dgm:t>
        <a:bodyPr/>
        <a:lstStyle/>
        <a:p>
          <a:endParaRPr lang="en-US"/>
        </a:p>
      </dgm:t>
    </dgm:pt>
    <dgm:pt modelId="{6264C0CF-814B-405A-B8B3-6AC09C4EF1D3}" type="sibTrans" cxnId="{6088F707-46E1-4988-9C04-588A09D5D114}">
      <dgm:prSet/>
      <dgm:spPr/>
      <dgm:t>
        <a:bodyPr/>
        <a:lstStyle/>
        <a:p>
          <a:endParaRPr lang="en-US"/>
        </a:p>
      </dgm:t>
    </dgm:pt>
    <dgm:pt modelId="{A9DC0204-DB0F-4B32-977E-E5B50CF24057}">
      <dgm:prSet/>
      <dgm:spPr/>
      <dgm:t>
        <a:bodyPr/>
        <a:lstStyle/>
        <a:p>
          <a:r>
            <a:rPr lang="en-US"/>
            <a:t>Species represent the most basic units in biological classification that maintain evolutionary independence.</a:t>
          </a:r>
        </a:p>
      </dgm:t>
    </dgm:pt>
    <dgm:pt modelId="{A8080C41-C8EF-45B0-8A6D-1D12DF7C4577}" type="parTrans" cxnId="{59ABD9FD-BCC5-4A24-8253-6857541D488D}">
      <dgm:prSet/>
      <dgm:spPr/>
      <dgm:t>
        <a:bodyPr/>
        <a:lstStyle/>
        <a:p>
          <a:endParaRPr lang="en-US"/>
        </a:p>
      </dgm:t>
    </dgm:pt>
    <dgm:pt modelId="{99A876F2-C9BE-4E0D-A582-7B821244341D}" type="sibTrans" cxnId="{59ABD9FD-BCC5-4A24-8253-6857541D488D}">
      <dgm:prSet/>
      <dgm:spPr/>
      <dgm:t>
        <a:bodyPr/>
        <a:lstStyle/>
        <a:p>
          <a:endParaRPr lang="en-US"/>
        </a:p>
      </dgm:t>
    </dgm:pt>
    <dgm:pt modelId="{84CBAF22-FE31-4B75-B939-DD0E2169C2AF}">
      <dgm:prSet/>
      <dgm:spPr/>
      <dgm:t>
        <a:bodyPr/>
        <a:lstStyle/>
        <a:p>
          <a:r>
            <a:rPr lang="en-US"/>
            <a:t>Evolutionary independence occurs when mutation, selection, gene flow, and drift operations populations separately.</a:t>
          </a:r>
        </a:p>
      </dgm:t>
    </dgm:pt>
    <dgm:pt modelId="{A5C6889A-DC0A-4BF9-A628-E5600C622367}" type="parTrans" cxnId="{EA4766BC-D589-4B35-888B-AFE726BC29B8}">
      <dgm:prSet/>
      <dgm:spPr/>
      <dgm:t>
        <a:bodyPr/>
        <a:lstStyle/>
        <a:p>
          <a:endParaRPr lang="en-US"/>
        </a:p>
      </dgm:t>
    </dgm:pt>
    <dgm:pt modelId="{E0277296-F23F-4F9C-90C2-6A226A75E2E9}" type="sibTrans" cxnId="{EA4766BC-D589-4B35-888B-AFE726BC29B8}">
      <dgm:prSet/>
      <dgm:spPr/>
      <dgm:t>
        <a:bodyPr/>
        <a:lstStyle/>
        <a:p>
          <a:endParaRPr lang="en-US"/>
        </a:p>
      </dgm:t>
    </dgm:pt>
    <dgm:pt modelId="{DAEF27CF-9B86-4F58-A348-E9E8AD865FC4}">
      <dgm:prSet/>
      <dgm:spPr/>
      <dgm:t>
        <a:bodyPr/>
        <a:lstStyle/>
        <a:p>
          <a:r>
            <a:rPr lang="en-US"/>
            <a:t>Evolution consists of changes in allele frequencies and species from a boundary for a spread of alleles</a:t>
          </a:r>
        </a:p>
      </dgm:t>
    </dgm:pt>
    <dgm:pt modelId="{FB265955-15FE-4478-8CAE-3C8CF28F05E2}" type="parTrans" cxnId="{E7FA7B17-5812-463F-B9EC-379BF78D4CC0}">
      <dgm:prSet/>
      <dgm:spPr/>
      <dgm:t>
        <a:bodyPr/>
        <a:lstStyle/>
        <a:p>
          <a:endParaRPr lang="en-US"/>
        </a:p>
      </dgm:t>
    </dgm:pt>
    <dgm:pt modelId="{46E9A2A0-5CEC-4281-B72A-A3F1F24460E4}" type="sibTrans" cxnId="{E7FA7B17-5812-463F-B9EC-379BF78D4CC0}">
      <dgm:prSet/>
      <dgm:spPr/>
      <dgm:t>
        <a:bodyPr/>
        <a:lstStyle/>
        <a:p>
          <a:endParaRPr lang="en-US"/>
        </a:p>
      </dgm:t>
    </dgm:pt>
    <dgm:pt modelId="{5411D9B7-FCEC-4A15-81F4-3920A2C96F50}">
      <dgm:prSet/>
      <dgm:spPr/>
      <dgm:t>
        <a:bodyPr/>
        <a:lstStyle/>
        <a:p>
          <a:r>
            <a:rPr lang="en-US" b="1"/>
            <a:t>Types of Species Concepts:</a:t>
          </a:r>
          <a:r>
            <a:rPr lang="en-US"/>
            <a:t> </a:t>
          </a:r>
          <a:br>
            <a:rPr lang="en-US"/>
          </a:br>
          <a:r>
            <a:rPr lang="en-US"/>
            <a:t>Morphological, Biological, Evolutionary, Phylogenetic.</a:t>
          </a:r>
        </a:p>
      </dgm:t>
    </dgm:pt>
    <dgm:pt modelId="{4F6A41ED-8FDD-44EA-AF50-4622CFFCDA77}" type="parTrans" cxnId="{DB6C18C0-490A-4950-9C93-E3093BF98619}">
      <dgm:prSet/>
      <dgm:spPr/>
      <dgm:t>
        <a:bodyPr/>
        <a:lstStyle/>
        <a:p>
          <a:endParaRPr lang="en-US"/>
        </a:p>
      </dgm:t>
    </dgm:pt>
    <dgm:pt modelId="{21580975-74FF-4692-A274-22D883BF1E5F}" type="sibTrans" cxnId="{DB6C18C0-490A-4950-9C93-E3093BF98619}">
      <dgm:prSet/>
      <dgm:spPr/>
      <dgm:t>
        <a:bodyPr/>
        <a:lstStyle/>
        <a:p>
          <a:endParaRPr lang="en-US"/>
        </a:p>
      </dgm:t>
    </dgm:pt>
    <dgm:pt modelId="{6B091097-6BA8-48BF-908D-4C48BAC8D165}" type="pres">
      <dgm:prSet presAssocID="{543CF3D5-FE95-44DA-B151-617C8BC4D8BB}" presName="linear" presStyleCnt="0">
        <dgm:presLayoutVars>
          <dgm:animLvl val="lvl"/>
          <dgm:resizeHandles val="exact"/>
        </dgm:presLayoutVars>
      </dgm:prSet>
      <dgm:spPr/>
    </dgm:pt>
    <dgm:pt modelId="{212F29AC-70DF-444C-9FA7-46288B58B507}" type="pres">
      <dgm:prSet presAssocID="{382C3311-B2FB-4121-AA73-639882200459}" presName="parentText" presStyleLbl="node1" presStyleIdx="0" presStyleCnt="5">
        <dgm:presLayoutVars>
          <dgm:chMax val="0"/>
          <dgm:bulletEnabled val="1"/>
        </dgm:presLayoutVars>
      </dgm:prSet>
      <dgm:spPr/>
    </dgm:pt>
    <dgm:pt modelId="{5BA7AED8-081D-483C-B723-3140FA21B349}" type="pres">
      <dgm:prSet presAssocID="{6264C0CF-814B-405A-B8B3-6AC09C4EF1D3}" presName="spacer" presStyleCnt="0"/>
      <dgm:spPr/>
    </dgm:pt>
    <dgm:pt modelId="{AB1C1156-9CD9-4F08-9720-F83A0E94F8AB}" type="pres">
      <dgm:prSet presAssocID="{A9DC0204-DB0F-4B32-977E-E5B50CF24057}" presName="parentText" presStyleLbl="node1" presStyleIdx="1" presStyleCnt="5">
        <dgm:presLayoutVars>
          <dgm:chMax val="0"/>
          <dgm:bulletEnabled val="1"/>
        </dgm:presLayoutVars>
      </dgm:prSet>
      <dgm:spPr/>
    </dgm:pt>
    <dgm:pt modelId="{065AD046-F07A-41B2-97A8-01F5BF50B3D6}" type="pres">
      <dgm:prSet presAssocID="{99A876F2-C9BE-4E0D-A582-7B821244341D}" presName="spacer" presStyleCnt="0"/>
      <dgm:spPr/>
    </dgm:pt>
    <dgm:pt modelId="{DE381507-A0FD-4B76-94B9-CDC62D85EB5D}" type="pres">
      <dgm:prSet presAssocID="{84CBAF22-FE31-4B75-B939-DD0E2169C2AF}" presName="parentText" presStyleLbl="node1" presStyleIdx="2" presStyleCnt="5">
        <dgm:presLayoutVars>
          <dgm:chMax val="0"/>
          <dgm:bulletEnabled val="1"/>
        </dgm:presLayoutVars>
      </dgm:prSet>
      <dgm:spPr/>
    </dgm:pt>
    <dgm:pt modelId="{F087F9D4-372D-41EA-9065-C0E79457EA86}" type="pres">
      <dgm:prSet presAssocID="{E0277296-F23F-4F9C-90C2-6A226A75E2E9}" presName="spacer" presStyleCnt="0"/>
      <dgm:spPr/>
    </dgm:pt>
    <dgm:pt modelId="{53149A76-5C5D-4E12-9B36-8803B3E3865A}" type="pres">
      <dgm:prSet presAssocID="{DAEF27CF-9B86-4F58-A348-E9E8AD865FC4}" presName="parentText" presStyleLbl="node1" presStyleIdx="3" presStyleCnt="5">
        <dgm:presLayoutVars>
          <dgm:chMax val="0"/>
          <dgm:bulletEnabled val="1"/>
        </dgm:presLayoutVars>
      </dgm:prSet>
      <dgm:spPr/>
    </dgm:pt>
    <dgm:pt modelId="{08265DF0-E880-40FB-846F-FFAE63DC5BC7}" type="pres">
      <dgm:prSet presAssocID="{46E9A2A0-5CEC-4281-B72A-A3F1F24460E4}" presName="spacer" presStyleCnt="0"/>
      <dgm:spPr/>
    </dgm:pt>
    <dgm:pt modelId="{4677B9CA-6261-4307-A4FA-A038CC9F7F49}" type="pres">
      <dgm:prSet presAssocID="{5411D9B7-FCEC-4A15-81F4-3920A2C96F50}" presName="parentText" presStyleLbl="node1" presStyleIdx="4" presStyleCnt="5">
        <dgm:presLayoutVars>
          <dgm:chMax val="0"/>
          <dgm:bulletEnabled val="1"/>
        </dgm:presLayoutVars>
      </dgm:prSet>
      <dgm:spPr/>
    </dgm:pt>
  </dgm:ptLst>
  <dgm:cxnLst>
    <dgm:cxn modelId="{6088F707-46E1-4988-9C04-588A09D5D114}" srcId="{543CF3D5-FE95-44DA-B151-617C8BC4D8BB}" destId="{382C3311-B2FB-4121-AA73-639882200459}" srcOrd="0" destOrd="0" parTransId="{24F643C7-1984-4420-8F0F-F0CDCF9EF961}" sibTransId="{6264C0CF-814B-405A-B8B3-6AC09C4EF1D3}"/>
    <dgm:cxn modelId="{E7FA7B17-5812-463F-B9EC-379BF78D4CC0}" srcId="{543CF3D5-FE95-44DA-B151-617C8BC4D8BB}" destId="{DAEF27CF-9B86-4F58-A348-E9E8AD865FC4}" srcOrd="3" destOrd="0" parTransId="{FB265955-15FE-4478-8CAE-3C8CF28F05E2}" sibTransId="{46E9A2A0-5CEC-4281-B72A-A3F1F24460E4}"/>
    <dgm:cxn modelId="{C0D247A8-A385-40A7-B881-3F389F8345EA}" type="presOf" srcId="{543CF3D5-FE95-44DA-B151-617C8BC4D8BB}" destId="{6B091097-6BA8-48BF-908D-4C48BAC8D165}" srcOrd="0" destOrd="0" presId="urn:microsoft.com/office/officeart/2005/8/layout/vList2"/>
    <dgm:cxn modelId="{3582AEAB-F730-445B-871D-FFCEBF5F9A3E}" type="presOf" srcId="{382C3311-B2FB-4121-AA73-639882200459}" destId="{212F29AC-70DF-444C-9FA7-46288B58B507}" srcOrd="0" destOrd="0" presId="urn:microsoft.com/office/officeart/2005/8/layout/vList2"/>
    <dgm:cxn modelId="{EA4766BC-D589-4B35-888B-AFE726BC29B8}" srcId="{543CF3D5-FE95-44DA-B151-617C8BC4D8BB}" destId="{84CBAF22-FE31-4B75-B939-DD0E2169C2AF}" srcOrd="2" destOrd="0" parTransId="{A5C6889A-DC0A-4BF9-A628-E5600C622367}" sibTransId="{E0277296-F23F-4F9C-90C2-6A226A75E2E9}"/>
    <dgm:cxn modelId="{0BFB26BE-B5F2-41D1-9485-6583E165CACC}" type="presOf" srcId="{A9DC0204-DB0F-4B32-977E-E5B50CF24057}" destId="{AB1C1156-9CD9-4F08-9720-F83A0E94F8AB}" srcOrd="0" destOrd="0" presId="urn:microsoft.com/office/officeart/2005/8/layout/vList2"/>
    <dgm:cxn modelId="{DB6C18C0-490A-4950-9C93-E3093BF98619}" srcId="{543CF3D5-FE95-44DA-B151-617C8BC4D8BB}" destId="{5411D9B7-FCEC-4A15-81F4-3920A2C96F50}" srcOrd="4" destOrd="0" parTransId="{4F6A41ED-8FDD-44EA-AF50-4622CFFCDA77}" sibTransId="{21580975-74FF-4692-A274-22D883BF1E5F}"/>
    <dgm:cxn modelId="{BF0CA2CB-7438-41C8-A4A7-1584D95B849D}" type="presOf" srcId="{DAEF27CF-9B86-4F58-A348-E9E8AD865FC4}" destId="{53149A76-5C5D-4E12-9B36-8803B3E3865A}" srcOrd="0" destOrd="0" presId="urn:microsoft.com/office/officeart/2005/8/layout/vList2"/>
    <dgm:cxn modelId="{0DFD8AD8-817E-4B47-9F20-119BDB408A6C}" type="presOf" srcId="{84CBAF22-FE31-4B75-B939-DD0E2169C2AF}" destId="{DE381507-A0FD-4B76-94B9-CDC62D85EB5D}" srcOrd="0" destOrd="0" presId="urn:microsoft.com/office/officeart/2005/8/layout/vList2"/>
    <dgm:cxn modelId="{538ED1DE-C041-479E-A0AC-229DCAD47563}" type="presOf" srcId="{5411D9B7-FCEC-4A15-81F4-3920A2C96F50}" destId="{4677B9CA-6261-4307-A4FA-A038CC9F7F49}" srcOrd="0" destOrd="0" presId="urn:microsoft.com/office/officeart/2005/8/layout/vList2"/>
    <dgm:cxn modelId="{59ABD9FD-BCC5-4A24-8253-6857541D488D}" srcId="{543CF3D5-FE95-44DA-B151-617C8BC4D8BB}" destId="{A9DC0204-DB0F-4B32-977E-E5B50CF24057}" srcOrd="1" destOrd="0" parTransId="{A8080C41-C8EF-45B0-8A6D-1D12DF7C4577}" sibTransId="{99A876F2-C9BE-4E0D-A582-7B821244341D}"/>
    <dgm:cxn modelId="{F65961C5-BDAA-4073-9C0D-D2703EC86B69}" type="presParOf" srcId="{6B091097-6BA8-48BF-908D-4C48BAC8D165}" destId="{212F29AC-70DF-444C-9FA7-46288B58B507}" srcOrd="0" destOrd="0" presId="urn:microsoft.com/office/officeart/2005/8/layout/vList2"/>
    <dgm:cxn modelId="{A9F087D4-2426-49FA-A528-D8ED0B360356}" type="presParOf" srcId="{6B091097-6BA8-48BF-908D-4C48BAC8D165}" destId="{5BA7AED8-081D-483C-B723-3140FA21B349}" srcOrd="1" destOrd="0" presId="urn:microsoft.com/office/officeart/2005/8/layout/vList2"/>
    <dgm:cxn modelId="{CE8FC54B-E455-4AD4-B2BC-430CB26763BA}" type="presParOf" srcId="{6B091097-6BA8-48BF-908D-4C48BAC8D165}" destId="{AB1C1156-9CD9-4F08-9720-F83A0E94F8AB}" srcOrd="2" destOrd="0" presId="urn:microsoft.com/office/officeart/2005/8/layout/vList2"/>
    <dgm:cxn modelId="{54154442-B578-492A-B877-37CECA2CC70C}" type="presParOf" srcId="{6B091097-6BA8-48BF-908D-4C48BAC8D165}" destId="{065AD046-F07A-41B2-97A8-01F5BF50B3D6}" srcOrd="3" destOrd="0" presId="urn:microsoft.com/office/officeart/2005/8/layout/vList2"/>
    <dgm:cxn modelId="{04194A8F-108D-463A-B7A7-1795D17B4981}" type="presParOf" srcId="{6B091097-6BA8-48BF-908D-4C48BAC8D165}" destId="{DE381507-A0FD-4B76-94B9-CDC62D85EB5D}" srcOrd="4" destOrd="0" presId="urn:microsoft.com/office/officeart/2005/8/layout/vList2"/>
    <dgm:cxn modelId="{D2FD7E7E-DE41-4430-873A-FF0EAA1B75FD}" type="presParOf" srcId="{6B091097-6BA8-48BF-908D-4C48BAC8D165}" destId="{F087F9D4-372D-41EA-9065-C0E79457EA86}" srcOrd="5" destOrd="0" presId="urn:microsoft.com/office/officeart/2005/8/layout/vList2"/>
    <dgm:cxn modelId="{699E7ADB-27A8-41B8-BAC7-58193BADD2A1}" type="presParOf" srcId="{6B091097-6BA8-48BF-908D-4C48BAC8D165}" destId="{53149A76-5C5D-4E12-9B36-8803B3E3865A}" srcOrd="6" destOrd="0" presId="urn:microsoft.com/office/officeart/2005/8/layout/vList2"/>
    <dgm:cxn modelId="{253FBF65-ABF3-4BC1-A205-9ACD9278A4D1}" type="presParOf" srcId="{6B091097-6BA8-48BF-908D-4C48BAC8D165}" destId="{08265DF0-E880-40FB-846F-FFAE63DC5BC7}" srcOrd="7" destOrd="0" presId="urn:microsoft.com/office/officeart/2005/8/layout/vList2"/>
    <dgm:cxn modelId="{4FFE8044-D22C-4C2B-A4C3-1B53060EFCA8}" type="presParOf" srcId="{6B091097-6BA8-48BF-908D-4C48BAC8D165}" destId="{4677B9CA-6261-4307-A4FA-A038CC9F7F4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290A0F-FE5C-47CF-AC4B-63BF72EAFB4F}"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534E7357-2469-4143-A961-60FC2170BDF6}">
      <dgm:prSet phldr="0"/>
      <dgm:spPr/>
      <dgm:t>
        <a:bodyPr/>
        <a:lstStyle/>
        <a:p>
          <a:pPr algn="l" rtl="0"/>
          <a:r>
            <a:rPr lang="en-US" b="1" dirty="0"/>
            <a:t>Earth’s true species richness is unknown and likely far higher than early estimates.</a:t>
          </a:r>
          <a:endParaRPr lang="en-US" dirty="0">
            <a:latin typeface="Aptos Display" panose="020F0302020204030204"/>
          </a:endParaRPr>
        </a:p>
      </dgm:t>
    </dgm:pt>
    <dgm:pt modelId="{A1BBC255-E3BE-496B-8949-EB331CDE2615}" type="parTrans" cxnId="{A768F659-CF69-4C09-87ED-16028EB36AE2}">
      <dgm:prSet/>
      <dgm:spPr/>
    </dgm:pt>
    <dgm:pt modelId="{80C6BABB-55DC-4214-80BB-3660B9B2EA80}" type="sibTrans" cxnId="{A768F659-CF69-4C09-87ED-16028EB36AE2}">
      <dgm:prSet/>
      <dgm:spPr/>
      <dgm:t>
        <a:bodyPr/>
        <a:lstStyle/>
        <a:p>
          <a:endParaRPr lang="en-US"/>
        </a:p>
      </dgm:t>
    </dgm:pt>
    <dgm:pt modelId="{F0A43898-3462-4103-A7DA-22B0A4EF891C}">
      <dgm:prSet phldr="0"/>
      <dgm:spPr/>
      <dgm:t>
        <a:bodyPr/>
        <a:lstStyle/>
        <a:p>
          <a:pPr algn="l" rtl="0"/>
          <a:r>
            <a:rPr lang="en-US" b="1" dirty="0"/>
            <a:t> Classic taxonomy</a:t>
          </a:r>
          <a:r>
            <a:rPr lang="en-US" b="1" dirty="0">
              <a:latin typeface="Aptos Display" panose="020F0302020204030204"/>
            </a:rPr>
            <a:t> </a:t>
          </a:r>
          <a:r>
            <a:rPr lang="en-US" b="1" dirty="0"/>
            <a:t>counts only visible, described species → underestimates diversity.</a:t>
          </a:r>
          <a:endParaRPr lang="en-US" dirty="0"/>
        </a:p>
      </dgm:t>
    </dgm:pt>
    <dgm:pt modelId="{BF21F40D-2EFD-4845-BE30-5F7ED4BF3BD6}" type="parTrans" cxnId="{D5DDF868-BB9A-4888-9A53-DC37C7DE41AB}">
      <dgm:prSet/>
      <dgm:spPr/>
    </dgm:pt>
    <dgm:pt modelId="{82D337FC-AA90-4538-A504-30CE86456A22}" type="sibTrans" cxnId="{D5DDF868-BB9A-4888-9A53-DC37C7DE41AB}">
      <dgm:prSet/>
      <dgm:spPr/>
      <dgm:t>
        <a:bodyPr/>
        <a:lstStyle/>
        <a:p>
          <a:endParaRPr lang="en-US"/>
        </a:p>
      </dgm:t>
    </dgm:pt>
    <dgm:pt modelId="{CBE409D1-E270-458B-8517-0497F3D54F2D}">
      <dgm:prSet phldr="0"/>
      <dgm:spPr/>
      <dgm:t>
        <a:bodyPr/>
        <a:lstStyle/>
        <a:p>
          <a:pPr algn="l"/>
          <a:r>
            <a:rPr lang="en-US" b="1" dirty="0"/>
            <a:t>DNA-based methods (Wiens) detect cryptic, microbial, and hidden species → much higher estimates.</a:t>
          </a:r>
          <a:endParaRPr lang="en-US" dirty="0"/>
        </a:p>
      </dgm:t>
    </dgm:pt>
    <dgm:pt modelId="{1FCEFC8C-BB13-47F8-93E4-C54180B3CCEF}" type="parTrans" cxnId="{6C91F9D6-8558-43B4-822D-51A454EF46F5}">
      <dgm:prSet/>
      <dgm:spPr/>
    </dgm:pt>
    <dgm:pt modelId="{E38206AA-1D03-45F6-B4E7-A2879FDF8C11}" type="sibTrans" cxnId="{6C91F9D6-8558-43B4-822D-51A454EF46F5}">
      <dgm:prSet/>
      <dgm:spPr/>
      <dgm:t>
        <a:bodyPr/>
        <a:lstStyle/>
        <a:p>
          <a:endParaRPr lang="en-US"/>
        </a:p>
      </dgm:t>
    </dgm:pt>
    <dgm:pt modelId="{185ED5EA-2DAF-4D91-A970-601701404567}">
      <dgm:prSet phldr="0"/>
      <dgm:spPr/>
      <dgm:t>
        <a:bodyPr/>
        <a:lstStyle/>
        <a:p>
          <a:pPr algn="l"/>
          <a:r>
            <a:rPr lang="en-US" b="1" dirty="0"/>
            <a:t> Different methods capture different parts of biodiversity, creating large gaps between estimates.</a:t>
          </a:r>
          <a:endParaRPr lang="en-US" dirty="0"/>
        </a:p>
      </dgm:t>
    </dgm:pt>
    <dgm:pt modelId="{B18F82C3-FAE2-4483-80A6-5D29D2264E52}" type="parTrans" cxnId="{BA6E0AD4-BE6E-4D9F-AED9-2E72B4C4EA73}">
      <dgm:prSet/>
      <dgm:spPr/>
    </dgm:pt>
    <dgm:pt modelId="{B8897360-0193-4193-A5C8-DC092FC3C280}" type="sibTrans" cxnId="{BA6E0AD4-BE6E-4D9F-AED9-2E72B4C4EA73}">
      <dgm:prSet/>
      <dgm:spPr/>
      <dgm:t>
        <a:bodyPr/>
        <a:lstStyle/>
        <a:p>
          <a:endParaRPr lang="en-US"/>
        </a:p>
      </dgm:t>
    </dgm:pt>
    <dgm:pt modelId="{A58C811B-D4A8-412F-AC77-902906DAFC63}">
      <dgm:prSet phldr="0"/>
      <dgm:spPr/>
      <dgm:t>
        <a:bodyPr/>
        <a:lstStyle/>
        <a:p>
          <a:pPr algn="l"/>
          <a:r>
            <a:rPr lang="en-US" b="1" dirty="0"/>
            <a:t>Most species remain unsampled because they are small, cryptic, or microbial.</a:t>
          </a:r>
          <a:endParaRPr lang="en-US" dirty="0"/>
        </a:p>
      </dgm:t>
    </dgm:pt>
    <dgm:pt modelId="{F8B67806-7482-4F1B-9A7C-B09C90DA4A63}" type="parTrans" cxnId="{8880A4E0-B118-40C7-8C56-82C7C44F920B}">
      <dgm:prSet/>
      <dgm:spPr/>
    </dgm:pt>
    <dgm:pt modelId="{9D29A0DC-4F95-4A91-A423-BF0D0A5A7DD6}" type="sibTrans" cxnId="{8880A4E0-B118-40C7-8C56-82C7C44F920B}">
      <dgm:prSet/>
      <dgm:spPr/>
      <dgm:t>
        <a:bodyPr/>
        <a:lstStyle/>
        <a:p>
          <a:endParaRPr lang="en-US"/>
        </a:p>
      </dgm:t>
    </dgm:pt>
    <dgm:pt modelId="{8CB1F42F-0A28-4107-9F28-018D896C4234}">
      <dgm:prSet phldr="0"/>
      <dgm:spPr/>
      <dgm:t>
        <a:bodyPr/>
        <a:lstStyle/>
        <a:p>
          <a:pPr algn="l"/>
          <a:r>
            <a:rPr lang="en-US" b="1" dirty="0"/>
            <a:t>Takeaway: Improving methods reveals more life — global richness is far greater than we once thought.</a:t>
          </a:r>
          <a:endParaRPr lang="en-US" dirty="0"/>
        </a:p>
      </dgm:t>
    </dgm:pt>
    <dgm:pt modelId="{AB9BED60-66AD-47F6-9F33-2A4F656AFDAC}" type="parTrans" cxnId="{9215AD83-DB57-49C6-B033-5CA613D1AAD3}">
      <dgm:prSet/>
      <dgm:spPr/>
    </dgm:pt>
    <dgm:pt modelId="{7AF801BF-B119-459A-B91C-BCE5D61543C4}" type="sibTrans" cxnId="{9215AD83-DB57-49C6-B033-5CA613D1AAD3}">
      <dgm:prSet/>
      <dgm:spPr/>
      <dgm:t>
        <a:bodyPr/>
        <a:lstStyle/>
        <a:p>
          <a:endParaRPr lang="en-US"/>
        </a:p>
      </dgm:t>
    </dgm:pt>
    <dgm:pt modelId="{394BF636-C22E-4BD8-8324-F72583FA5B42}" type="pres">
      <dgm:prSet presAssocID="{8C290A0F-FE5C-47CF-AC4B-63BF72EAFB4F}" presName="diagram" presStyleCnt="0">
        <dgm:presLayoutVars>
          <dgm:dir/>
          <dgm:resizeHandles val="exact"/>
        </dgm:presLayoutVars>
      </dgm:prSet>
      <dgm:spPr/>
    </dgm:pt>
    <dgm:pt modelId="{DB9C48EA-0F0C-4E60-A24C-B8A49EE295CB}" type="pres">
      <dgm:prSet presAssocID="{534E7357-2469-4143-A961-60FC2170BDF6}" presName="node" presStyleLbl="node1" presStyleIdx="0" presStyleCnt="6">
        <dgm:presLayoutVars>
          <dgm:bulletEnabled val="1"/>
        </dgm:presLayoutVars>
      </dgm:prSet>
      <dgm:spPr/>
    </dgm:pt>
    <dgm:pt modelId="{856D1121-F2DD-47BC-AE1C-732236768D8D}" type="pres">
      <dgm:prSet presAssocID="{80C6BABB-55DC-4214-80BB-3660B9B2EA80}" presName="sibTrans" presStyleLbl="sibTrans2D1" presStyleIdx="0" presStyleCnt="5"/>
      <dgm:spPr/>
    </dgm:pt>
    <dgm:pt modelId="{EBEDB286-6119-4009-9B30-4DE37FE38FE7}" type="pres">
      <dgm:prSet presAssocID="{80C6BABB-55DC-4214-80BB-3660B9B2EA80}" presName="connectorText" presStyleLbl="sibTrans2D1" presStyleIdx="0" presStyleCnt="5"/>
      <dgm:spPr/>
    </dgm:pt>
    <dgm:pt modelId="{AC3EACF2-ACDE-4B23-8B45-4F86364AAF6F}" type="pres">
      <dgm:prSet presAssocID="{F0A43898-3462-4103-A7DA-22B0A4EF891C}" presName="node" presStyleLbl="node1" presStyleIdx="1" presStyleCnt="6">
        <dgm:presLayoutVars>
          <dgm:bulletEnabled val="1"/>
        </dgm:presLayoutVars>
      </dgm:prSet>
      <dgm:spPr/>
    </dgm:pt>
    <dgm:pt modelId="{CA9B7A2B-5C3C-45DC-A0A4-56663FD2E62F}" type="pres">
      <dgm:prSet presAssocID="{82D337FC-AA90-4538-A504-30CE86456A22}" presName="sibTrans" presStyleLbl="sibTrans2D1" presStyleIdx="1" presStyleCnt="5"/>
      <dgm:spPr/>
    </dgm:pt>
    <dgm:pt modelId="{02A920BD-9BA4-427A-8106-7F263159A1B4}" type="pres">
      <dgm:prSet presAssocID="{82D337FC-AA90-4538-A504-30CE86456A22}" presName="connectorText" presStyleLbl="sibTrans2D1" presStyleIdx="1" presStyleCnt="5"/>
      <dgm:spPr/>
    </dgm:pt>
    <dgm:pt modelId="{A6D50032-257E-4EC6-81A8-3D1BBE5BDDFD}" type="pres">
      <dgm:prSet presAssocID="{CBE409D1-E270-458B-8517-0497F3D54F2D}" presName="node" presStyleLbl="node1" presStyleIdx="2" presStyleCnt="6">
        <dgm:presLayoutVars>
          <dgm:bulletEnabled val="1"/>
        </dgm:presLayoutVars>
      </dgm:prSet>
      <dgm:spPr/>
    </dgm:pt>
    <dgm:pt modelId="{AE4A3C2D-672E-43BA-AD1B-EA2193F9801C}" type="pres">
      <dgm:prSet presAssocID="{E38206AA-1D03-45F6-B4E7-A2879FDF8C11}" presName="sibTrans" presStyleLbl="sibTrans2D1" presStyleIdx="2" presStyleCnt="5"/>
      <dgm:spPr/>
    </dgm:pt>
    <dgm:pt modelId="{77CDFA7B-9040-4F33-AF48-F95A36BABA49}" type="pres">
      <dgm:prSet presAssocID="{E38206AA-1D03-45F6-B4E7-A2879FDF8C11}" presName="connectorText" presStyleLbl="sibTrans2D1" presStyleIdx="2" presStyleCnt="5"/>
      <dgm:spPr/>
    </dgm:pt>
    <dgm:pt modelId="{5F467E91-B8C6-4A65-85E3-CF71264BE62C}" type="pres">
      <dgm:prSet presAssocID="{185ED5EA-2DAF-4D91-A970-601701404567}" presName="node" presStyleLbl="node1" presStyleIdx="3" presStyleCnt="6">
        <dgm:presLayoutVars>
          <dgm:bulletEnabled val="1"/>
        </dgm:presLayoutVars>
      </dgm:prSet>
      <dgm:spPr/>
    </dgm:pt>
    <dgm:pt modelId="{D817713C-08A1-464C-A310-CD1972D75707}" type="pres">
      <dgm:prSet presAssocID="{B8897360-0193-4193-A5C8-DC092FC3C280}" presName="sibTrans" presStyleLbl="sibTrans2D1" presStyleIdx="3" presStyleCnt="5"/>
      <dgm:spPr/>
    </dgm:pt>
    <dgm:pt modelId="{0068363A-1BDF-4831-A46B-E73D6FE13A14}" type="pres">
      <dgm:prSet presAssocID="{B8897360-0193-4193-A5C8-DC092FC3C280}" presName="connectorText" presStyleLbl="sibTrans2D1" presStyleIdx="3" presStyleCnt="5"/>
      <dgm:spPr/>
    </dgm:pt>
    <dgm:pt modelId="{C74410FE-7776-4314-A15E-A3B2C1ECADF6}" type="pres">
      <dgm:prSet presAssocID="{A58C811B-D4A8-412F-AC77-902906DAFC63}" presName="node" presStyleLbl="node1" presStyleIdx="4" presStyleCnt="6">
        <dgm:presLayoutVars>
          <dgm:bulletEnabled val="1"/>
        </dgm:presLayoutVars>
      </dgm:prSet>
      <dgm:spPr/>
    </dgm:pt>
    <dgm:pt modelId="{C9CC8A52-7BDD-42C6-9711-7835374B7F7C}" type="pres">
      <dgm:prSet presAssocID="{9D29A0DC-4F95-4A91-A423-BF0D0A5A7DD6}" presName="sibTrans" presStyleLbl="sibTrans2D1" presStyleIdx="4" presStyleCnt="5"/>
      <dgm:spPr/>
    </dgm:pt>
    <dgm:pt modelId="{F78A12F9-6E4E-409C-8A04-1A1502DBF530}" type="pres">
      <dgm:prSet presAssocID="{9D29A0DC-4F95-4A91-A423-BF0D0A5A7DD6}" presName="connectorText" presStyleLbl="sibTrans2D1" presStyleIdx="4" presStyleCnt="5"/>
      <dgm:spPr/>
    </dgm:pt>
    <dgm:pt modelId="{FC264FFB-B3E8-4BEE-96E2-6CA93288B476}" type="pres">
      <dgm:prSet presAssocID="{8CB1F42F-0A28-4107-9F28-018D896C4234}" presName="node" presStyleLbl="node1" presStyleIdx="5" presStyleCnt="6">
        <dgm:presLayoutVars>
          <dgm:bulletEnabled val="1"/>
        </dgm:presLayoutVars>
      </dgm:prSet>
      <dgm:spPr/>
    </dgm:pt>
  </dgm:ptLst>
  <dgm:cxnLst>
    <dgm:cxn modelId="{AEB36A02-504F-4315-92F3-50E62B2F9C06}" type="presOf" srcId="{A58C811B-D4A8-412F-AC77-902906DAFC63}" destId="{C74410FE-7776-4314-A15E-A3B2C1ECADF6}" srcOrd="0" destOrd="0" presId="urn:microsoft.com/office/officeart/2005/8/layout/process5"/>
    <dgm:cxn modelId="{7F4B0E13-ABFB-478F-A8DB-75AE8B2CCDE2}" type="presOf" srcId="{CBE409D1-E270-458B-8517-0497F3D54F2D}" destId="{A6D50032-257E-4EC6-81A8-3D1BBE5BDDFD}" srcOrd="0" destOrd="0" presId="urn:microsoft.com/office/officeart/2005/8/layout/process5"/>
    <dgm:cxn modelId="{90C32B13-B600-4448-9645-DB3814166113}" type="presOf" srcId="{B8897360-0193-4193-A5C8-DC092FC3C280}" destId="{D817713C-08A1-464C-A310-CD1972D75707}" srcOrd="0" destOrd="0" presId="urn:microsoft.com/office/officeart/2005/8/layout/process5"/>
    <dgm:cxn modelId="{49423715-4475-44C8-A61A-95BA4CF58642}" type="presOf" srcId="{9D29A0DC-4F95-4A91-A423-BF0D0A5A7DD6}" destId="{C9CC8A52-7BDD-42C6-9711-7835374B7F7C}" srcOrd="0" destOrd="0" presId="urn:microsoft.com/office/officeart/2005/8/layout/process5"/>
    <dgm:cxn modelId="{23897D29-8422-46C8-A778-BCEB03B29B67}" type="presOf" srcId="{80C6BABB-55DC-4214-80BB-3660B9B2EA80}" destId="{856D1121-F2DD-47BC-AE1C-732236768D8D}" srcOrd="0" destOrd="0" presId="urn:microsoft.com/office/officeart/2005/8/layout/process5"/>
    <dgm:cxn modelId="{7564472F-CA98-4D52-A66F-263FF1337CFC}" type="presOf" srcId="{80C6BABB-55DC-4214-80BB-3660B9B2EA80}" destId="{EBEDB286-6119-4009-9B30-4DE37FE38FE7}" srcOrd="1" destOrd="0" presId="urn:microsoft.com/office/officeart/2005/8/layout/process5"/>
    <dgm:cxn modelId="{EBEFBF5D-967E-4E3E-90D2-C9206AF4DE79}" type="presOf" srcId="{E38206AA-1D03-45F6-B4E7-A2879FDF8C11}" destId="{AE4A3C2D-672E-43BA-AD1B-EA2193F9801C}" srcOrd="0" destOrd="0" presId="urn:microsoft.com/office/officeart/2005/8/layout/process5"/>
    <dgm:cxn modelId="{0552ED65-6E61-41DC-B461-3C245146F8B6}" type="presOf" srcId="{9D29A0DC-4F95-4A91-A423-BF0D0A5A7DD6}" destId="{F78A12F9-6E4E-409C-8A04-1A1502DBF530}" srcOrd="1" destOrd="0" presId="urn:microsoft.com/office/officeart/2005/8/layout/process5"/>
    <dgm:cxn modelId="{D5DDF868-BB9A-4888-9A53-DC37C7DE41AB}" srcId="{8C290A0F-FE5C-47CF-AC4B-63BF72EAFB4F}" destId="{F0A43898-3462-4103-A7DA-22B0A4EF891C}" srcOrd="1" destOrd="0" parTransId="{BF21F40D-2EFD-4845-BE30-5F7ED4BF3BD6}" sibTransId="{82D337FC-AA90-4538-A504-30CE86456A22}"/>
    <dgm:cxn modelId="{BE28F974-FCD5-40D7-9643-3A6245539AB6}" type="presOf" srcId="{534E7357-2469-4143-A961-60FC2170BDF6}" destId="{DB9C48EA-0F0C-4E60-A24C-B8A49EE295CB}" srcOrd="0" destOrd="0" presId="urn:microsoft.com/office/officeart/2005/8/layout/process5"/>
    <dgm:cxn modelId="{CEAD2377-88EA-45C4-93CA-4DEAD9A6A254}" type="presOf" srcId="{E38206AA-1D03-45F6-B4E7-A2879FDF8C11}" destId="{77CDFA7B-9040-4F33-AF48-F95A36BABA49}" srcOrd="1" destOrd="0" presId="urn:microsoft.com/office/officeart/2005/8/layout/process5"/>
    <dgm:cxn modelId="{A768F659-CF69-4C09-87ED-16028EB36AE2}" srcId="{8C290A0F-FE5C-47CF-AC4B-63BF72EAFB4F}" destId="{534E7357-2469-4143-A961-60FC2170BDF6}" srcOrd="0" destOrd="0" parTransId="{A1BBC255-E3BE-496B-8949-EB331CDE2615}" sibTransId="{80C6BABB-55DC-4214-80BB-3660B9B2EA80}"/>
    <dgm:cxn modelId="{C573A482-84CD-48A6-9060-091A4078EFD5}" type="presOf" srcId="{F0A43898-3462-4103-A7DA-22B0A4EF891C}" destId="{AC3EACF2-ACDE-4B23-8B45-4F86364AAF6F}" srcOrd="0" destOrd="0" presId="urn:microsoft.com/office/officeart/2005/8/layout/process5"/>
    <dgm:cxn modelId="{C88BFD82-872A-4039-849B-70036496EE73}" type="presOf" srcId="{8CB1F42F-0A28-4107-9F28-018D896C4234}" destId="{FC264FFB-B3E8-4BEE-96E2-6CA93288B476}" srcOrd="0" destOrd="0" presId="urn:microsoft.com/office/officeart/2005/8/layout/process5"/>
    <dgm:cxn modelId="{9215AD83-DB57-49C6-B033-5CA613D1AAD3}" srcId="{8C290A0F-FE5C-47CF-AC4B-63BF72EAFB4F}" destId="{8CB1F42F-0A28-4107-9F28-018D896C4234}" srcOrd="5" destOrd="0" parTransId="{AB9BED60-66AD-47F6-9F33-2A4F656AFDAC}" sibTransId="{7AF801BF-B119-459A-B91C-BCE5D61543C4}"/>
    <dgm:cxn modelId="{54B6A89C-4C1C-43DD-8DEC-3CE445C7C54D}" type="presOf" srcId="{185ED5EA-2DAF-4D91-A970-601701404567}" destId="{5F467E91-B8C6-4A65-85E3-CF71264BE62C}" srcOrd="0" destOrd="0" presId="urn:microsoft.com/office/officeart/2005/8/layout/process5"/>
    <dgm:cxn modelId="{EFE2E6A2-0D81-41A0-B81E-61413CACD7C1}" type="presOf" srcId="{82D337FC-AA90-4538-A504-30CE86456A22}" destId="{CA9B7A2B-5C3C-45DC-A0A4-56663FD2E62F}" srcOrd="0" destOrd="0" presId="urn:microsoft.com/office/officeart/2005/8/layout/process5"/>
    <dgm:cxn modelId="{F53731B0-FC00-48CF-9EC4-5E77A35BF9CE}" type="presOf" srcId="{8C290A0F-FE5C-47CF-AC4B-63BF72EAFB4F}" destId="{394BF636-C22E-4BD8-8324-F72583FA5B42}" srcOrd="0" destOrd="0" presId="urn:microsoft.com/office/officeart/2005/8/layout/process5"/>
    <dgm:cxn modelId="{3BD305C7-C751-4D0D-ADF7-2A0E8A5A8141}" type="presOf" srcId="{B8897360-0193-4193-A5C8-DC092FC3C280}" destId="{0068363A-1BDF-4831-A46B-E73D6FE13A14}" srcOrd="1" destOrd="0" presId="urn:microsoft.com/office/officeart/2005/8/layout/process5"/>
    <dgm:cxn modelId="{C2816CC9-2DF0-4CFE-97B8-34B00ED416F0}" type="presOf" srcId="{82D337FC-AA90-4538-A504-30CE86456A22}" destId="{02A920BD-9BA4-427A-8106-7F263159A1B4}" srcOrd="1" destOrd="0" presId="urn:microsoft.com/office/officeart/2005/8/layout/process5"/>
    <dgm:cxn modelId="{BA6E0AD4-BE6E-4D9F-AED9-2E72B4C4EA73}" srcId="{8C290A0F-FE5C-47CF-AC4B-63BF72EAFB4F}" destId="{185ED5EA-2DAF-4D91-A970-601701404567}" srcOrd="3" destOrd="0" parTransId="{B18F82C3-FAE2-4483-80A6-5D29D2264E52}" sibTransId="{B8897360-0193-4193-A5C8-DC092FC3C280}"/>
    <dgm:cxn modelId="{6C91F9D6-8558-43B4-822D-51A454EF46F5}" srcId="{8C290A0F-FE5C-47CF-AC4B-63BF72EAFB4F}" destId="{CBE409D1-E270-458B-8517-0497F3D54F2D}" srcOrd="2" destOrd="0" parTransId="{1FCEFC8C-BB13-47F8-93E4-C54180B3CCEF}" sibTransId="{E38206AA-1D03-45F6-B4E7-A2879FDF8C11}"/>
    <dgm:cxn modelId="{8880A4E0-B118-40C7-8C56-82C7C44F920B}" srcId="{8C290A0F-FE5C-47CF-AC4B-63BF72EAFB4F}" destId="{A58C811B-D4A8-412F-AC77-902906DAFC63}" srcOrd="4" destOrd="0" parTransId="{F8B67806-7482-4F1B-9A7C-B09C90DA4A63}" sibTransId="{9D29A0DC-4F95-4A91-A423-BF0D0A5A7DD6}"/>
    <dgm:cxn modelId="{7E94F2CC-9992-4B35-97AF-0B0147B3901C}" type="presParOf" srcId="{394BF636-C22E-4BD8-8324-F72583FA5B42}" destId="{DB9C48EA-0F0C-4E60-A24C-B8A49EE295CB}" srcOrd="0" destOrd="0" presId="urn:microsoft.com/office/officeart/2005/8/layout/process5"/>
    <dgm:cxn modelId="{25158F21-9959-4951-86B5-F6DA7843F034}" type="presParOf" srcId="{394BF636-C22E-4BD8-8324-F72583FA5B42}" destId="{856D1121-F2DD-47BC-AE1C-732236768D8D}" srcOrd="1" destOrd="0" presId="urn:microsoft.com/office/officeart/2005/8/layout/process5"/>
    <dgm:cxn modelId="{0D9019CB-4576-45BB-8C1E-34E19A45C187}" type="presParOf" srcId="{856D1121-F2DD-47BC-AE1C-732236768D8D}" destId="{EBEDB286-6119-4009-9B30-4DE37FE38FE7}" srcOrd="0" destOrd="0" presId="urn:microsoft.com/office/officeart/2005/8/layout/process5"/>
    <dgm:cxn modelId="{749284B3-13FA-43EC-B282-EC68A23C831E}" type="presParOf" srcId="{394BF636-C22E-4BD8-8324-F72583FA5B42}" destId="{AC3EACF2-ACDE-4B23-8B45-4F86364AAF6F}" srcOrd="2" destOrd="0" presId="urn:microsoft.com/office/officeart/2005/8/layout/process5"/>
    <dgm:cxn modelId="{F84CC556-C8AA-455B-AB26-37578DE57C93}" type="presParOf" srcId="{394BF636-C22E-4BD8-8324-F72583FA5B42}" destId="{CA9B7A2B-5C3C-45DC-A0A4-56663FD2E62F}" srcOrd="3" destOrd="0" presId="urn:microsoft.com/office/officeart/2005/8/layout/process5"/>
    <dgm:cxn modelId="{2D3B118F-3010-422C-93DF-0E50A5566BA1}" type="presParOf" srcId="{CA9B7A2B-5C3C-45DC-A0A4-56663FD2E62F}" destId="{02A920BD-9BA4-427A-8106-7F263159A1B4}" srcOrd="0" destOrd="0" presId="urn:microsoft.com/office/officeart/2005/8/layout/process5"/>
    <dgm:cxn modelId="{5D558C7D-0F4B-477B-98EE-4956CC67F74D}" type="presParOf" srcId="{394BF636-C22E-4BD8-8324-F72583FA5B42}" destId="{A6D50032-257E-4EC6-81A8-3D1BBE5BDDFD}" srcOrd="4" destOrd="0" presId="urn:microsoft.com/office/officeart/2005/8/layout/process5"/>
    <dgm:cxn modelId="{1301FBEE-01E2-483D-A59B-3A8F810BC908}" type="presParOf" srcId="{394BF636-C22E-4BD8-8324-F72583FA5B42}" destId="{AE4A3C2D-672E-43BA-AD1B-EA2193F9801C}" srcOrd="5" destOrd="0" presId="urn:microsoft.com/office/officeart/2005/8/layout/process5"/>
    <dgm:cxn modelId="{1E667786-7216-4442-9EBD-71E592171667}" type="presParOf" srcId="{AE4A3C2D-672E-43BA-AD1B-EA2193F9801C}" destId="{77CDFA7B-9040-4F33-AF48-F95A36BABA49}" srcOrd="0" destOrd="0" presId="urn:microsoft.com/office/officeart/2005/8/layout/process5"/>
    <dgm:cxn modelId="{20987C0E-7F7A-42F1-A7E2-07DB4E249864}" type="presParOf" srcId="{394BF636-C22E-4BD8-8324-F72583FA5B42}" destId="{5F467E91-B8C6-4A65-85E3-CF71264BE62C}" srcOrd="6" destOrd="0" presId="urn:microsoft.com/office/officeart/2005/8/layout/process5"/>
    <dgm:cxn modelId="{15C5B69E-9010-49B9-9830-F8BA01B4506E}" type="presParOf" srcId="{394BF636-C22E-4BD8-8324-F72583FA5B42}" destId="{D817713C-08A1-464C-A310-CD1972D75707}" srcOrd="7" destOrd="0" presId="urn:microsoft.com/office/officeart/2005/8/layout/process5"/>
    <dgm:cxn modelId="{DBAF32EC-CE87-4503-B872-D8FDDC5B5A1C}" type="presParOf" srcId="{D817713C-08A1-464C-A310-CD1972D75707}" destId="{0068363A-1BDF-4831-A46B-E73D6FE13A14}" srcOrd="0" destOrd="0" presId="urn:microsoft.com/office/officeart/2005/8/layout/process5"/>
    <dgm:cxn modelId="{87FF4A0C-E44C-49B8-AC9D-E98D8BE0A47C}" type="presParOf" srcId="{394BF636-C22E-4BD8-8324-F72583FA5B42}" destId="{C74410FE-7776-4314-A15E-A3B2C1ECADF6}" srcOrd="8" destOrd="0" presId="urn:microsoft.com/office/officeart/2005/8/layout/process5"/>
    <dgm:cxn modelId="{6F56BCB7-8AC8-445B-BDD3-B2D0AED0ABD2}" type="presParOf" srcId="{394BF636-C22E-4BD8-8324-F72583FA5B42}" destId="{C9CC8A52-7BDD-42C6-9711-7835374B7F7C}" srcOrd="9" destOrd="0" presId="urn:microsoft.com/office/officeart/2005/8/layout/process5"/>
    <dgm:cxn modelId="{A05429F7-883A-42AB-91B8-E684F1A02003}" type="presParOf" srcId="{C9CC8A52-7BDD-42C6-9711-7835374B7F7C}" destId="{F78A12F9-6E4E-409C-8A04-1A1502DBF530}" srcOrd="0" destOrd="0" presId="urn:microsoft.com/office/officeart/2005/8/layout/process5"/>
    <dgm:cxn modelId="{DAD899FD-F7DA-472C-8157-6EFC25CE2965}" type="presParOf" srcId="{394BF636-C22E-4BD8-8324-F72583FA5B42}" destId="{FC264FFB-B3E8-4BEE-96E2-6CA93288B476}" srcOrd="10"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2F29AC-70DF-444C-9FA7-46288B58B507}">
      <dsp:nvSpPr>
        <dsp:cNvPr id="0" name=""/>
        <dsp:cNvSpPr/>
      </dsp:nvSpPr>
      <dsp:spPr>
        <a:xfrm>
          <a:off x="0" y="7865"/>
          <a:ext cx="11194473"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Cuvier (1829) defined species as groups descended from common ancestors and resembling each other.</a:t>
          </a:r>
          <a:endParaRPr lang="en-US" sz="2200" kern="1200"/>
        </a:p>
      </dsp:txBody>
      <dsp:txXfrm>
        <a:off x="41465" y="49330"/>
        <a:ext cx="11111543" cy="766490"/>
      </dsp:txXfrm>
    </dsp:sp>
    <dsp:sp modelId="{AB1C1156-9CD9-4F08-9720-F83A0E94F8AB}">
      <dsp:nvSpPr>
        <dsp:cNvPr id="0" name=""/>
        <dsp:cNvSpPr/>
      </dsp:nvSpPr>
      <dsp:spPr>
        <a:xfrm>
          <a:off x="0" y="920645"/>
          <a:ext cx="11194473"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Species represent the most basic units in biological classification that maintain evolutionary independence.</a:t>
          </a:r>
        </a:p>
      </dsp:txBody>
      <dsp:txXfrm>
        <a:off x="41465" y="962110"/>
        <a:ext cx="11111543" cy="766490"/>
      </dsp:txXfrm>
    </dsp:sp>
    <dsp:sp modelId="{DE381507-A0FD-4B76-94B9-CDC62D85EB5D}">
      <dsp:nvSpPr>
        <dsp:cNvPr id="0" name=""/>
        <dsp:cNvSpPr/>
      </dsp:nvSpPr>
      <dsp:spPr>
        <a:xfrm>
          <a:off x="0" y="1833425"/>
          <a:ext cx="11194473"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Evolutionary independence occurs when mutation, selection, gene flow, and drift operations populations separately.</a:t>
          </a:r>
        </a:p>
      </dsp:txBody>
      <dsp:txXfrm>
        <a:off x="41465" y="1874890"/>
        <a:ext cx="11111543" cy="766490"/>
      </dsp:txXfrm>
    </dsp:sp>
    <dsp:sp modelId="{53149A76-5C5D-4E12-9B36-8803B3E3865A}">
      <dsp:nvSpPr>
        <dsp:cNvPr id="0" name=""/>
        <dsp:cNvSpPr/>
      </dsp:nvSpPr>
      <dsp:spPr>
        <a:xfrm>
          <a:off x="0" y="2746206"/>
          <a:ext cx="11194473"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Evolution consists of changes in allele frequencies and species from a boundary for a spread of alleles</a:t>
          </a:r>
        </a:p>
      </dsp:txBody>
      <dsp:txXfrm>
        <a:off x="41465" y="2787671"/>
        <a:ext cx="11111543" cy="766490"/>
      </dsp:txXfrm>
    </dsp:sp>
    <dsp:sp modelId="{4677B9CA-6261-4307-A4FA-A038CC9F7F49}">
      <dsp:nvSpPr>
        <dsp:cNvPr id="0" name=""/>
        <dsp:cNvSpPr/>
      </dsp:nvSpPr>
      <dsp:spPr>
        <a:xfrm>
          <a:off x="0" y="3658986"/>
          <a:ext cx="11194473" cy="8494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Types of Species Concepts:</a:t>
          </a:r>
          <a:r>
            <a:rPr lang="en-US" sz="2200" kern="1200"/>
            <a:t> </a:t>
          </a:r>
          <a:br>
            <a:rPr lang="en-US" sz="2200" kern="1200"/>
          </a:br>
          <a:r>
            <a:rPr lang="en-US" sz="2200" kern="1200"/>
            <a:t>Morphological, Biological, Evolutionary, Phylogenetic.</a:t>
          </a:r>
        </a:p>
      </dsp:txBody>
      <dsp:txXfrm>
        <a:off x="41465" y="3700451"/>
        <a:ext cx="11111543" cy="766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C48EA-0F0C-4E60-A24C-B8A49EE295CB}">
      <dsp:nvSpPr>
        <dsp:cNvPr id="0" name=""/>
        <dsp:cNvSpPr/>
      </dsp:nvSpPr>
      <dsp:spPr>
        <a:xfrm>
          <a:off x="91139" y="1208"/>
          <a:ext cx="2385189" cy="1431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1" kern="1200" dirty="0"/>
            <a:t>Earth’s true species richness is unknown and likely far higher than early estimates.</a:t>
          </a:r>
          <a:endParaRPr lang="en-US" sz="1400" kern="1200" dirty="0">
            <a:latin typeface="Aptos Display" panose="020F0302020204030204"/>
          </a:endParaRPr>
        </a:p>
      </dsp:txBody>
      <dsp:txXfrm>
        <a:off x="133055" y="43124"/>
        <a:ext cx="2301357" cy="1347281"/>
      </dsp:txXfrm>
    </dsp:sp>
    <dsp:sp modelId="{856D1121-F2DD-47BC-AE1C-732236768D8D}">
      <dsp:nvSpPr>
        <dsp:cNvPr id="0" name=""/>
        <dsp:cNvSpPr/>
      </dsp:nvSpPr>
      <dsp:spPr>
        <a:xfrm>
          <a:off x="2686224" y="421001"/>
          <a:ext cx="505660" cy="591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686224" y="539306"/>
        <a:ext cx="353962" cy="354916"/>
      </dsp:txXfrm>
    </dsp:sp>
    <dsp:sp modelId="{AC3EACF2-ACDE-4B23-8B45-4F86364AAF6F}">
      <dsp:nvSpPr>
        <dsp:cNvPr id="0" name=""/>
        <dsp:cNvSpPr/>
      </dsp:nvSpPr>
      <dsp:spPr>
        <a:xfrm>
          <a:off x="3430403" y="1208"/>
          <a:ext cx="2385189" cy="1431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1" kern="1200" dirty="0"/>
            <a:t> Classic taxonomy</a:t>
          </a:r>
          <a:r>
            <a:rPr lang="en-US" sz="1400" b="1" kern="1200" dirty="0">
              <a:latin typeface="Aptos Display" panose="020F0302020204030204"/>
            </a:rPr>
            <a:t> </a:t>
          </a:r>
          <a:r>
            <a:rPr lang="en-US" sz="1400" b="1" kern="1200" dirty="0"/>
            <a:t>counts only visible, described species → underestimates diversity.</a:t>
          </a:r>
          <a:endParaRPr lang="en-US" sz="1400" kern="1200" dirty="0"/>
        </a:p>
      </dsp:txBody>
      <dsp:txXfrm>
        <a:off x="3472319" y="43124"/>
        <a:ext cx="2301357" cy="1347281"/>
      </dsp:txXfrm>
    </dsp:sp>
    <dsp:sp modelId="{CA9B7A2B-5C3C-45DC-A0A4-56663FD2E62F}">
      <dsp:nvSpPr>
        <dsp:cNvPr id="0" name=""/>
        <dsp:cNvSpPr/>
      </dsp:nvSpPr>
      <dsp:spPr>
        <a:xfrm rot="5400000">
          <a:off x="4370168" y="1599284"/>
          <a:ext cx="505660" cy="591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4445540" y="1642217"/>
        <a:ext cx="354916" cy="353962"/>
      </dsp:txXfrm>
    </dsp:sp>
    <dsp:sp modelId="{A6D50032-257E-4EC6-81A8-3D1BBE5BDDFD}">
      <dsp:nvSpPr>
        <dsp:cNvPr id="0" name=""/>
        <dsp:cNvSpPr/>
      </dsp:nvSpPr>
      <dsp:spPr>
        <a:xfrm>
          <a:off x="3430403" y="2386397"/>
          <a:ext cx="2385189" cy="1431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DNA-based methods (Wiens) detect cryptic, microbial, and hidden species → much higher estimates.</a:t>
          </a:r>
          <a:endParaRPr lang="en-US" sz="1400" kern="1200" dirty="0"/>
        </a:p>
      </dsp:txBody>
      <dsp:txXfrm>
        <a:off x="3472319" y="2428313"/>
        <a:ext cx="2301357" cy="1347281"/>
      </dsp:txXfrm>
    </dsp:sp>
    <dsp:sp modelId="{AE4A3C2D-672E-43BA-AD1B-EA2193F9801C}">
      <dsp:nvSpPr>
        <dsp:cNvPr id="0" name=""/>
        <dsp:cNvSpPr/>
      </dsp:nvSpPr>
      <dsp:spPr>
        <a:xfrm rot="10800000">
          <a:off x="2714847" y="2806190"/>
          <a:ext cx="505660" cy="591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866545" y="2924495"/>
        <a:ext cx="353962" cy="354916"/>
      </dsp:txXfrm>
    </dsp:sp>
    <dsp:sp modelId="{5F467E91-B8C6-4A65-85E3-CF71264BE62C}">
      <dsp:nvSpPr>
        <dsp:cNvPr id="0" name=""/>
        <dsp:cNvSpPr/>
      </dsp:nvSpPr>
      <dsp:spPr>
        <a:xfrm>
          <a:off x="91139" y="2386397"/>
          <a:ext cx="2385189" cy="1431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 Different methods capture different parts of biodiversity, creating large gaps between estimates.</a:t>
          </a:r>
          <a:endParaRPr lang="en-US" sz="1400" kern="1200" dirty="0"/>
        </a:p>
      </dsp:txBody>
      <dsp:txXfrm>
        <a:off x="133055" y="2428313"/>
        <a:ext cx="2301357" cy="1347281"/>
      </dsp:txXfrm>
    </dsp:sp>
    <dsp:sp modelId="{D817713C-08A1-464C-A310-CD1972D75707}">
      <dsp:nvSpPr>
        <dsp:cNvPr id="0" name=""/>
        <dsp:cNvSpPr/>
      </dsp:nvSpPr>
      <dsp:spPr>
        <a:xfrm rot="5400000">
          <a:off x="1030903" y="3984473"/>
          <a:ext cx="505660" cy="591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1106275" y="4027406"/>
        <a:ext cx="354916" cy="353962"/>
      </dsp:txXfrm>
    </dsp:sp>
    <dsp:sp modelId="{C74410FE-7776-4314-A15E-A3B2C1ECADF6}">
      <dsp:nvSpPr>
        <dsp:cNvPr id="0" name=""/>
        <dsp:cNvSpPr/>
      </dsp:nvSpPr>
      <dsp:spPr>
        <a:xfrm>
          <a:off x="91139" y="4771586"/>
          <a:ext cx="2385189" cy="1431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Most species remain unsampled because they are small, cryptic, or microbial.</a:t>
          </a:r>
          <a:endParaRPr lang="en-US" sz="1400" kern="1200" dirty="0"/>
        </a:p>
      </dsp:txBody>
      <dsp:txXfrm>
        <a:off x="133055" y="4813502"/>
        <a:ext cx="2301357" cy="1347281"/>
      </dsp:txXfrm>
    </dsp:sp>
    <dsp:sp modelId="{C9CC8A52-7BDD-42C6-9711-7835374B7F7C}">
      <dsp:nvSpPr>
        <dsp:cNvPr id="0" name=""/>
        <dsp:cNvSpPr/>
      </dsp:nvSpPr>
      <dsp:spPr>
        <a:xfrm>
          <a:off x="2686224" y="5191379"/>
          <a:ext cx="505660" cy="591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686224" y="5309684"/>
        <a:ext cx="353962" cy="354916"/>
      </dsp:txXfrm>
    </dsp:sp>
    <dsp:sp modelId="{FC264FFB-B3E8-4BEE-96E2-6CA93288B476}">
      <dsp:nvSpPr>
        <dsp:cNvPr id="0" name=""/>
        <dsp:cNvSpPr/>
      </dsp:nvSpPr>
      <dsp:spPr>
        <a:xfrm>
          <a:off x="3430403" y="4771586"/>
          <a:ext cx="2385189" cy="1431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Takeaway: Improving methods reveals more life — global richness is far greater than we once thought.</a:t>
          </a:r>
          <a:endParaRPr lang="en-US" sz="1400" kern="1200" dirty="0"/>
        </a:p>
      </dsp:txBody>
      <dsp:txXfrm>
        <a:off x="3472319" y="4813502"/>
        <a:ext cx="2301357" cy="13472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a:t>06.12.2025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285750" indent="-285750">
              <a:buFont typeface="Arial"/>
              <a:buChar char="•"/>
            </a:pPr>
            <a:endParaRPr lang="en-US" b="1"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1</a:t>
            </a:fld>
            <a:endParaRPr lang="cs-CZ"/>
          </a:p>
        </p:txBody>
      </p:sp>
    </p:spTree>
    <p:extLst>
      <p:ext uri="{BB962C8B-B14F-4D97-AF65-F5344CB8AC3E}">
        <p14:creationId xmlns:p14="http://schemas.microsoft.com/office/powerpoint/2010/main" val="1254114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285750" indent="-285750">
              <a:buFont typeface="Arial,Sans-Serif"/>
              <a:buChar char="•"/>
            </a:pPr>
            <a:endParaRPr lang="en-US" dirty="0">
              <a:solidFill>
                <a:srgbClr val="000000"/>
              </a:solidFill>
              <a:ea typeface="Calibri"/>
              <a:cs typeface="Calibri"/>
            </a:endParaRPr>
          </a:p>
          <a:p>
            <a:pPr marL="171450" indent="-171450">
              <a:buFont typeface="Arial"/>
              <a:buChar char="•"/>
            </a:pPr>
            <a:endParaRPr lang="en-US" dirty="0">
              <a:solidFill>
                <a:srgbClr val="444444"/>
              </a:solidFill>
            </a:endParaRPr>
          </a:p>
          <a:p>
            <a:pPr marL="285750" indent="-2857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2</a:t>
            </a:fld>
            <a:endParaRPr lang="cs-CZ"/>
          </a:p>
        </p:txBody>
      </p:sp>
    </p:spTree>
    <p:extLst>
      <p:ext uri="{BB962C8B-B14F-4D97-AF65-F5344CB8AC3E}">
        <p14:creationId xmlns:p14="http://schemas.microsoft.com/office/powerpoint/2010/main" val="2570106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buFont typeface="Arial"/>
              <a:buChar char="•"/>
            </a:pPr>
            <a:endParaRPr lang="en-US" dirty="0"/>
          </a:p>
          <a:p>
            <a:pPr marL="285750" indent="-2857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3</a:t>
            </a:fld>
            <a:endParaRPr lang="cs-CZ"/>
          </a:p>
        </p:txBody>
      </p:sp>
    </p:spTree>
    <p:extLst>
      <p:ext uri="{BB962C8B-B14F-4D97-AF65-F5344CB8AC3E}">
        <p14:creationId xmlns:p14="http://schemas.microsoft.com/office/powerpoint/2010/main" val="3318326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a:buChar char="•"/>
            </a:pPr>
            <a:endParaRPr lang="en-US" dirty="0">
              <a:ea typeface="Calibri"/>
              <a:cs typeface="Calibri"/>
            </a:endParaRPr>
          </a:p>
          <a:p>
            <a:endParaRPr lang="en-US" dirty="0">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285750" indent="-285750">
              <a:buFont typeface="Arial"/>
              <a:buChar char="•"/>
            </a:pPr>
            <a:r>
              <a:rPr lang="en-US" dirty="0"/>
              <a:t>This visualization from Székely et al (2022) shows how molecular ecology detects species from DNA in the environment rather than specimens.</a:t>
            </a:r>
            <a:endParaRPr lang="en-US" dirty="0">
              <a:ea typeface="Calibri"/>
              <a:cs typeface="Calibri"/>
            </a:endParaRPr>
          </a:p>
          <a:p>
            <a:pPr marL="285750" indent="-285750">
              <a:buFont typeface="Arial"/>
              <a:buChar char="•"/>
            </a:pPr>
            <a:r>
              <a:rPr lang="en-US" dirty="0"/>
              <a:t>DNA methods bypass the need for morphology, enabling detection of cryptic, microscopic, and elusive taxa.</a:t>
            </a:r>
            <a:endParaRPr lang="en-US" dirty="0">
              <a:ea typeface="Calibri"/>
              <a:cs typeface="Calibri"/>
            </a:endParaRPr>
          </a:p>
          <a:p>
            <a:pPr marL="285750" indent="-285750">
              <a:buFont typeface="Arial"/>
              <a:buChar char="•"/>
            </a:pPr>
            <a:r>
              <a:rPr lang="en-US" dirty="0"/>
              <a:t>These methods fundamentally expand our biodiversity “visibility,” especially in microbial and symbiotic communities.</a:t>
            </a:r>
            <a:endParaRPr lang="en-US" dirty="0">
              <a:ea typeface="Calibri"/>
              <a:cs typeface="Calibri"/>
            </a:endParaRPr>
          </a:p>
          <a:p>
            <a:pPr marL="285750" indent="-285750">
              <a:buFont typeface="Arial"/>
              <a:buChar char="•"/>
            </a:pPr>
            <a:r>
              <a:rPr lang="en-US" dirty="0"/>
              <a:t>This figure is not from Wiens (2023), but it visually represents the modern DNA workflow—sampling, filtering, sequencing, and metabarcoding—that Wiens discusses. These tools detect cryptic, microbial, and microscopic species that classical taxonomy cannot see. Mora et al. (2011) relied mainly on morphology and higher taxonomic patterns, which underestimate species richness. Wiens uses the kinds of DNA-based discoveries shown here to argue that true global biodiversity is far higher—possibly tens of millions or even trillions of species.</a:t>
            </a:r>
            <a:endParaRPr lang="en-US" dirty="0">
              <a:ea typeface="Calibri"/>
              <a:cs typeface="Calibri"/>
            </a:endParaRPr>
          </a:p>
          <a:p>
            <a:pPr>
              <a:buFont typeface="Arial"/>
              <a:buChar char="•"/>
            </a:pPr>
            <a:r>
              <a:rPr lang="en-US" dirty="0"/>
              <a:t>Wiens’ main argument depends entirely on modern molecular biology.</a:t>
            </a:r>
            <a:br>
              <a:rPr lang="en-US" dirty="0">
                <a:cs typeface="+mn-lt"/>
              </a:rPr>
            </a:br>
            <a:r>
              <a:rPr lang="en-US" dirty="0"/>
              <a:t> Without tools like PCR, sequencing, and metabarcoding, the vast hidden diversity he describes would remain invisible.</a:t>
            </a:r>
            <a:endParaRPr lang="en-US">
              <a:ea typeface="Calibri"/>
              <a:cs typeface="Calibri"/>
            </a:endParaRPr>
          </a:p>
          <a:p>
            <a:pPr>
              <a:buFont typeface="Arial"/>
              <a:buChar char="•"/>
            </a:pPr>
            <a:r>
              <a:rPr lang="en-US" dirty="0"/>
              <a:t>Classical taxonomy (used by Mora et al., 2011) can only count organisms we can see.</a:t>
            </a:r>
            <a:br>
              <a:rPr lang="en-US" dirty="0">
                <a:cs typeface="+mn-lt"/>
              </a:rPr>
            </a:br>
            <a:r>
              <a:rPr lang="en-US" dirty="0"/>
              <a:t> It misses cryptic species, microbes, and all species that cannot be distinguished by morphology alone.</a:t>
            </a:r>
            <a:endParaRPr lang="en-US" dirty="0">
              <a:ea typeface="Calibri"/>
              <a:cs typeface="Calibri"/>
            </a:endParaRPr>
          </a:p>
          <a:p>
            <a:pPr>
              <a:buFont typeface="Arial"/>
              <a:buChar char="•"/>
            </a:pPr>
            <a:r>
              <a:rPr lang="en-US" dirty="0"/>
              <a:t>This figure visually shows the process that makes Wiens’ conclusions possible:</a:t>
            </a:r>
            <a:endParaRPr lang="en-US" dirty="0">
              <a:ea typeface="Calibri"/>
              <a:cs typeface="Calibri"/>
            </a:endParaRPr>
          </a:p>
          <a:p>
            <a:pPr lvl="1">
              <a:buFont typeface="Arial"/>
              <a:buChar char="•"/>
            </a:pPr>
            <a:r>
              <a:rPr lang="en-US" dirty="0"/>
              <a:t>eDNA sampling in the field</a:t>
            </a:r>
            <a:endParaRPr lang="en-US" dirty="0">
              <a:ea typeface="Calibri"/>
              <a:cs typeface="Calibri"/>
            </a:endParaRPr>
          </a:p>
          <a:p>
            <a:pPr lvl="1">
              <a:buFont typeface="Arial"/>
              <a:buChar char="•"/>
            </a:pPr>
            <a:r>
              <a:rPr lang="en-US" dirty="0"/>
              <a:t>filtration and DNA extraction</a:t>
            </a:r>
            <a:endParaRPr lang="en-US" dirty="0">
              <a:ea typeface="Calibri"/>
              <a:cs typeface="Calibri"/>
            </a:endParaRPr>
          </a:p>
          <a:p>
            <a:pPr lvl="1">
              <a:buFont typeface="Arial"/>
              <a:buChar char="•"/>
            </a:pPr>
            <a:r>
              <a:rPr lang="en-US" dirty="0"/>
              <a:t>PCR amplification of genetic markers</a:t>
            </a:r>
            <a:endParaRPr lang="en-US" dirty="0">
              <a:ea typeface="Calibri"/>
              <a:cs typeface="Calibri"/>
            </a:endParaRPr>
          </a:p>
          <a:p>
            <a:pPr lvl="1">
              <a:buFont typeface="Arial"/>
              <a:buChar char="•"/>
            </a:pPr>
            <a:r>
              <a:rPr lang="en-US" dirty="0"/>
              <a:t>high-throughput sequencing</a:t>
            </a:r>
            <a:endParaRPr lang="en-US" dirty="0">
              <a:ea typeface="Calibri"/>
              <a:cs typeface="Calibri"/>
            </a:endParaRPr>
          </a:p>
          <a:p>
            <a:pPr lvl="1">
              <a:buFont typeface="Arial"/>
              <a:buChar char="•"/>
            </a:pPr>
            <a:r>
              <a:rPr lang="en-US" dirty="0"/>
              <a:t>bioinformatic identification of species from DNA signatures</a:t>
            </a:r>
            <a:endParaRPr lang="en-US" dirty="0">
              <a:ea typeface="Calibri"/>
              <a:cs typeface="Calibri"/>
            </a:endParaRPr>
          </a:p>
          <a:p>
            <a:pPr>
              <a:buFont typeface="Arial"/>
              <a:buChar char="•"/>
            </a:pPr>
            <a:r>
              <a:rPr lang="en-US" dirty="0"/>
              <a:t>These technologies opened an entirely new pool of biodiversity data.</a:t>
            </a:r>
            <a:br>
              <a:rPr lang="en-US" dirty="0">
                <a:cs typeface="+mn-lt"/>
              </a:rPr>
            </a:br>
            <a:r>
              <a:rPr lang="en-US" dirty="0"/>
              <a:t> We are no longer limited to the species that taxonomists can physically collect and describe.</a:t>
            </a:r>
            <a:br>
              <a:rPr lang="en-US" dirty="0">
                <a:cs typeface="+mn-lt"/>
              </a:rPr>
            </a:br>
            <a:r>
              <a:rPr lang="en-US" dirty="0"/>
              <a:t> We can now detect:</a:t>
            </a:r>
            <a:endParaRPr lang="en-US" dirty="0">
              <a:ea typeface="Calibri"/>
              <a:cs typeface="Calibri"/>
            </a:endParaRPr>
          </a:p>
          <a:p>
            <a:pPr lvl="1">
              <a:buFont typeface="Arial"/>
              <a:buChar char="•"/>
            </a:pPr>
            <a:r>
              <a:rPr lang="en-US" dirty="0"/>
              <a:t>species too small to see</a:t>
            </a:r>
            <a:endParaRPr lang="en-US" dirty="0">
              <a:ea typeface="Calibri"/>
              <a:cs typeface="Calibri"/>
            </a:endParaRPr>
          </a:p>
          <a:p>
            <a:pPr lvl="1">
              <a:buFont typeface="Arial"/>
              <a:buChar char="•"/>
            </a:pPr>
            <a:r>
              <a:rPr lang="en-US" dirty="0"/>
              <a:t>cryptic species hidden within “one” morphological species</a:t>
            </a:r>
            <a:endParaRPr lang="en-US" dirty="0">
              <a:ea typeface="Calibri"/>
              <a:cs typeface="Calibri"/>
            </a:endParaRPr>
          </a:p>
          <a:p>
            <a:pPr lvl="1">
              <a:buFont typeface="Arial"/>
              <a:buChar char="•"/>
            </a:pPr>
            <a:r>
              <a:rPr lang="en-US" dirty="0"/>
              <a:t>microbial communities with enormous diversity</a:t>
            </a:r>
            <a:endParaRPr lang="en-US" dirty="0">
              <a:ea typeface="Calibri"/>
              <a:cs typeface="Calibri"/>
            </a:endParaRPr>
          </a:p>
          <a:p>
            <a:pPr lvl="1">
              <a:buFont typeface="Arial"/>
              <a:buChar char="•"/>
            </a:pPr>
            <a:r>
              <a:rPr lang="en-US" dirty="0"/>
              <a:t>thousands of previously unknown lineages in water, soil, and air</a:t>
            </a:r>
            <a:endParaRPr lang="en-US" dirty="0">
              <a:ea typeface="Calibri"/>
              <a:cs typeface="Calibri"/>
            </a:endParaRPr>
          </a:p>
          <a:p>
            <a:pPr>
              <a:buFont typeface="Arial"/>
              <a:buChar char="•"/>
            </a:pPr>
            <a:r>
              <a:rPr lang="en-US" dirty="0"/>
              <a:t>This is why Wiens (2023) reports dramatically higher species richness estimates.</a:t>
            </a:r>
            <a:br>
              <a:rPr lang="en-US" dirty="0">
                <a:cs typeface="+mn-lt"/>
              </a:rPr>
            </a:br>
            <a:r>
              <a:rPr lang="en-US" dirty="0"/>
              <a:t> His conclusions come directly from molecular datasets made possible by PCR and metabarcoding.</a:t>
            </a:r>
            <a:endParaRPr lang="en-US" dirty="0">
              <a:ea typeface="Calibri"/>
              <a:cs typeface="Calibri"/>
            </a:endParaRPr>
          </a:p>
          <a:p>
            <a:pPr>
              <a:buFont typeface="Arial"/>
              <a:buChar char="•"/>
            </a:pPr>
            <a:r>
              <a:rPr lang="en-US" dirty="0"/>
              <a:t>The figure helps the audience instantly understand this shift.</a:t>
            </a:r>
            <a:br>
              <a:rPr lang="en-US" dirty="0">
                <a:cs typeface="+mn-lt"/>
              </a:rPr>
            </a:br>
            <a:r>
              <a:rPr lang="en-US" dirty="0"/>
              <a:t> It shows, step-by-step, how DNA-based methods uncover hidden organisms that cannot be detected with traditional tools.</a:t>
            </a:r>
            <a:br>
              <a:rPr lang="en-US" dirty="0">
                <a:cs typeface="+mn-lt"/>
              </a:rPr>
            </a:br>
            <a:r>
              <a:rPr lang="en-US" dirty="0"/>
              <a:t> This makes it the most intuitive and effective way to explain </a:t>
            </a:r>
            <a:r>
              <a:rPr lang="en-US" i="1" dirty="0"/>
              <a:t>why</a:t>
            </a:r>
            <a:r>
              <a:rPr lang="en-US" dirty="0"/>
              <a:t> modern estimates exceed classical ones by orders of magnitude.</a:t>
            </a:r>
            <a:endParaRPr lang="en-US" dirty="0">
              <a:ea typeface="Calibri"/>
              <a:cs typeface="Calibri"/>
            </a:endParaRPr>
          </a:p>
          <a:p>
            <a:pPr marL="285750" indent="-285750">
              <a:buFont typeface="Arial"/>
              <a:buChar char="•"/>
            </a:pPr>
            <a:endParaRPr lang="en-US" dirty="0">
              <a:ea typeface="Calibri"/>
              <a:cs typeface="Calibri"/>
            </a:endParaRPr>
          </a:p>
          <a:p>
            <a:pPr marL="285750" indent="-285750">
              <a:buFont typeface="Arial"/>
              <a:buChar char="•"/>
            </a:pPr>
            <a:endParaRPr lang="en-US" dirty="0">
              <a:ea typeface="Calibri"/>
              <a:cs typeface="Calibri"/>
            </a:endParaRPr>
          </a:p>
          <a:p>
            <a:pPr marL="285750" indent="-285750">
              <a:buFont typeface="Arial"/>
              <a:buChar char="•"/>
            </a:pPr>
            <a:endParaRPr lang="en-US" dirty="0">
              <a:ea typeface="Calibri"/>
              <a:cs typeface="Calibri"/>
            </a:endParaRPr>
          </a:p>
          <a:p>
            <a:pPr marL="285750" indent="-2857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11</a:t>
            </a:fld>
            <a:endParaRPr lang="cs-CZ"/>
          </a:p>
        </p:txBody>
      </p:sp>
    </p:spTree>
    <p:extLst>
      <p:ext uri="{BB962C8B-B14F-4D97-AF65-F5344CB8AC3E}">
        <p14:creationId xmlns:p14="http://schemas.microsoft.com/office/powerpoint/2010/main" val="2810989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285750" indent="-285750">
              <a:buFont typeface="Arial"/>
              <a:buChar char="•"/>
            </a:pPr>
            <a:r>
              <a:rPr lang="en-US" dirty="0"/>
              <a:t>Molecular estimates exceed traditional ones by </a:t>
            </a:r>
            <a:r>
              <a:rPr lang="en-US" b="1" dirty="0"/>
              <a:t>several orders of magnitude</a:t>
            </a:r>
            <a:r>
              <a:rPr lang="en-US" dirty="0"/>
              <a:t> (e.g., bacteria from 9,700 → up to 3.2 trillion).</a:t>
            </a:r>
          </a:p>
          <a:p>
            <a:pPr marL="285750" indent="-285750">
              <a:buFont typeface="Arial"/>
              <a:buChar char="•"/>
            </a:pPr>
            <a:r>
              <a:rPr lang="en-US" dirty="0"/>
              <a:t>Bacteria, Protists, fungi, and insects  show massive underestimation when relying on morphology.</a:t>
            </a:r>
            <a:endParaRPr lang="en-US" dirty="0">
              <a:ea typeface="Calibri"/>
              <a:cs typeface="Calibri"/>
            </a:endParaRPr>
          </a:p>
          <a:p>
            <a:pPr marL="285750" indent="-285750">
              <a:buFont typeface="Arial"/>
              <a:buChar char="•"/>
            </a:pPr>
            <a:r>
              <a:rPr lang="en-US" dirty="0"/>
              <a:t>Wiens argues that </a:t>
            </a:r>
            <a:r>
              <a:rPr lang="en-US" b="1" dirty="0"/>
              <a:t>most biodiversity is invisible to classical methods</a:t>
            </a:r>
            <a:r>
              <a:rPr lang="en-US" dirty="0"/>
              <a:t> — this explains why estimates like Mora’s are so much lower.</a:t>
            </a:r>
            <a:endParaRPr lang="en-US" dirty="0">
              <a:ea typeface="Calibri"/>
              <a:cs typeface="Calibri"/>
            </a:endParaRPr>
          </a:p>
          <a:p>
            <a:pPr marL="285750" indent="-285750">
              <a:buFont typeface="Arial"/>
              <a:buChar char="•"/>
            </a:pPr>
            <a:r>
              <a:rPr lang="en-US" dirty="0"/>
              <a:t>The graph was created by supplying ChatGPT with species richness values extracted from Table 1 of Wiens (2023). ChatGPT computed proportional fold increases and generated the visualization to highlight biologically relevant differences between classical and molecular estimates.</a:t>
            </a:r>
          </a:p>
          <a:p>
            <a:pPr marL="285750" indent="-285750">
              <a:buFont typeface="Arial"/>
              <a:buChar char="•"/>
            </a:pPr>
            <a:endParaRPr lang="en-US" dirty="0"/>
          </a:p>
          <a:p>
            <a:pPr>
              <a:buFont typeface="Arial"/>
              <a:buChar char="•"/>
            </a:pPr>
            <a:r>
              <a:rPr lang="en-US" b="1" dirty="0"/>
              <a:t>Why log scale is used</a:t>
            </a:r>
            <a:endParaRPr lang="en-US" dirty="0">
              <a:ea typeface="Calibri"/>
              <a:cs typeface="Calibri"/>
            </a:endParaRPr>
          </a:p>
          <a:p>
            <a:pPr>
              <a:buFont typeface="Arial"/>
              <a:buChar char="•"/>
            </a:pPr>
            <a:r>
              <a:rPr lang="en-US" dirty="0"/>
              <a:t>Species estimates span </a:t>
            </a:r>
            <a:r>
              <a:rPr lang="en-US" i="1" dirty="0"/>
              <a:t>enormous ranges</a:t>
            </a:r>
            <a:r>
              <a:rPr lang="en-US" dirty="0"/>
              <a:t> (from thousands → millions → trillions).</a:t>
            </a:r>
            <a:endParaRPr lang="en-US" dirty="0">
              <a:ea typeface="Calibri"/>
              <a:cs typeface="Calibri"/>
            </a:endParaRPr>
          </a:p>
          <a:p>
            <a:pPr>
              <a:buFont typeface="Arial"/>
              <a:buChar char="•"/>
            </a:pPr>
            <a:r>
              <a:rPr lang="en-US" dirty="0"/>
              <a:t>A linear scale would make the largest values dominate and flatten the smaller ones.</a:t>
            </a:r>
            <a:endParaRPr lang="en-US" dirty="0">
              <a:ea typeface="Calibri"/>
              <a:cs typeface="Calibri"/>
            </a:endParaRPr>
          </a:p>
          <a:p>
            <a:pPr>
              <a:buFont typeface="Arial"/>
              <a:buChar char="•"/>
            </a:pPr>
            <a:r>
              <a:rPr lang="en-US" dirty="0"/>
              <a:t>Log scale compresses the values while still showing proportional differences.</a:t>
            </a:r>
            <a:endParaRPr lang="en-US" dirty="0">
              <a:ea typeface="Calibri"/>
              <a:cs typeface="Calibri"/>
            </a:endParaRPr>
          </a:p>
          <a:p>
            <a:pPr>
              <a:buFont typeface="Arial"/>
              <a:buChar char="•"/>
            </a:pPr>
            <a:r>
              <a:rPr lang="en-US" dirty="0"/>
              <a:t>It allows all taxa (bacteria → insects) to fit in one figure without distortion.</a:t>
            </a:r>
            <a:br>
              <a:rPr lang="en-US" dirty="0">
                <a:cs typeface="+mn-lt"/>
              </a:rPr>
            </a:br>
            <a:endParaRPr lang="en-US">
              <a:ea typeface="Calibri"/>
              <a:cs typeface="Calibri"/>
            </a:endParaRPr>
          </a:p>
          <a:p>
            <a:pPr>
              <a:buFont typeface="Arial"/>
              <a:buChar char="•"/>
            </a:pPr>
            <a:r>
              <a:rPr lang="en-US" b="1" dirty="0"/>
              <a:t>How log scale works</a:t>
            </a:r>
            <a:endParaRPr lang="en-US" dirty="0"/>
          </a:p>
          <a:p>
            <a:pPr>
              <a:buFont typeface="Arial"/>
              <a:buChar char="•"/>
            </a:pPr>
            <a:r>
              <a:rPr lang="en-US" dirty="0"/>
              <a:t>Each step equals a </a:t>
            </a:r>
            <a:r>
              <a:rPr lang="en-US" b="1" dirty="0"/>
              <a:t>10× increase</a:t>
            </a:r>
            <a:r>
              <a:rPr lang="en-US" dirty="0"/>
              <a:t>, not a +1 increase.</a:t>
            </a:r>
            <a:endParaRPr lang="en-US" dirty="0">
              <a:ea typeface="Calibri"/>
              <a:cs typeface="Calibri"/>
            </a:endParaRPr>
          </a:p>
          <a:p>
            <a:pPr>
              <a:buFont typeface="Arial"/>
              <a:buChar char="•"/>
            </a:pPr>
            <a:r>
              <a:rPr lang="en-US" dirty="0"/>
              <a:t>Values are plotted by order of magnitude (10³, 10⁴, 10⁵… etc.).</a:t>
            </a:r>
            <a:endParaRPr lang="en-US" dirty="0">
              <a:ea typeface="Calibri"/>
              <a:cs typeface="Calibri"/>
            </a:endParaRPr>
          </a:p>
          <a:p>
            <a:pPr>
              <a:buFont typeface="Arial"/>
              <a:buChar char="•"/>
            </a:pPr>
            <a:r>
              <a:rPr lang="en-US" dirty="0"/>
              <a:t>This keeps extremely large numbers (e.g., microbial estimates) visually manageable.</a:t>
            </a:r>
            <a:endParaRPr lang="en-US" dirty="0">
              <a:ea typeface="Calibri"/>
              <a:cs typeface="Calibri"/>
            </a:endParaRPr>
          </a:p>
          <a:p>
            <a:br>
              <a:rPr lang="en-US" dirty="0"/>
            </a:br>
            <a:endParaRPr lang="en-US" dirty="0">
              <a:ea typeface="Calibri"/>
              <a:cs typeface="Calibri"/>
            </a:endParaRPr>
          </a:p>
          <a:p>
            <a:pPr>
              <a:buFont typeface="Arial"/>
              <a:buChar char="•"/>
            </a:pPr>
            <a:r>
              <a:rPr lang="en-US" b="1" dirty="0"/>
              <a:t>Why the insect gap looks small on the graph</a:t>
            </a:r>
            <a:endParaRPr lang="en-US" dirty="0"/>
          </a:p>
          <a:p>
            <a:pPr>
              <a:buFont typeface="Arial"/>
              <a:buChar char="•"/>
            </a:pPr>
            <a:r>
              <a:rPr lang="en-US" dirty="0"/>
              <a:t>Mora insects ≈ ~5 million; Wiens insects ≈ ~20 million → </a:t>
            </a:r>
            <a:r>
              <a:rPr lang="en-US" b="1" dirty="0"/>
              <a:t>4× difference</a:t>
            </a:r>
            <a:r>
              <a:rPr lang="en-US" dirty="0"/>
              <a:t>.</a:t>
            </a:r>
            <a:endParaRPr lang="en-US" dirty="0">
              <a:ea typeface="Calibri"/>
              <a:cs typeface="Calibri"/>
            </a:endParaRPr>
          </a:p>
          <a:p>
            <a:pPr>
              <a:buFont typeface="Arial"/>
              <a:buChar char="•"/>
            </a:pPr>
            <a:r>
              <a:rPr lang="en-US" dirty="0"/>
              <a:t>A 4× increase is </a:t>
            </a:r>
            <a:r>
              <a:rPr lang="en-US" i="1" dirty="0"/>
              <a:t>biologically significant</a:t>
            </a:r>
            <a:r>
              <a:rPr lang="en-US" dirty="0"/>
              <a:t> but </a:t>
            </a:r>
            <a:r>
              <a:rPr lang="en-US" b="1" dirty="0"/>
              <a:t>less than one log unit (10×)</a:t>
            </a:r>
            <a:r>
              <a:rPr lang="en-US" dirty="0"/>
              <a:t>.</a:t>
            </a:r>
            <a:endParaRPr lang="en-US" dirty="0">
              <a:ea typeface="Calibri"/>
              <a:cs typeface="Calibri"/>
            </a:endParaRPr>
          </a:p>
          <a:p>
            <a:pPr>
              <a:buFont typeface="Arial"/>
              <a:buChar char="•"/>
            </a:pPr>
            <a:r>
              <a:rPr lang="en-US" dirty="0"/>
              <a:t>Because the scale jumps in powers of 10, differences smaller than 10× look compressed.</a:t>
            </a:r>
            <a:endParaRPr lang="en-US" dirty="0">
              <a:ea typeface="Calibri"/>
              <a:cs typeface="Calibri"/>
            </a:endParaRPr>
          </a:p>
          <a:p>
            <a:pPr>
              <a:buFont typeface="Arial"/>
              <a:buChar char="•"/>
            </a:pPr>
            <a:r>
              <a:rPr lang="en-US" dirty="0"/>
              <a:t>So insects appear close together, even though the real increase is substantial.</a:t>
            </a:r>
            <a:endParaRPr lang="en-US" dirty="0">
              <a:ea typeface="Calibri"/>
              <a:cs typeface="Calibri"/>
            </a:endParaRPr>
          </a:p>
          <a:p>
            <a:br>
              <a:rPr lang="en-US" dirty="0"/>
            </a:br>
            <a:endParaRPr lang="en-US" dirty="0">
              <a:ea typeface="Calibri"/>
              <a:cs typeface="Calibri"/>
            </a:endParaRPr>
          </a:p>
          <a:p>
            <a:pPr>
              <a:buFont typeface="Arial"/>
              <a:buChar char="•"/>
            </a:pPr>
            <a:r>
              <a:rPr lang="en-US" b="1" dirty="0"/>
              <a:t>Why log scale was the most logical choice</a:t>
            </a:r>
            <a:endParaRPr lang="en-US" dirty="0"/>
          </a:p>
          <a:p>
            <a:pPr>
              <a:buFont typeface="Arial"/>
              <a:buChar char="•"/>
            </a:pPr>
            <a:r>
              <a:rPr lang="en-US" dirty="0"/>
              <a:t>Without log scale, Wiens’ bacterial estimate (trillions) would extend off the graph.</a:t>
            </a:r>
            <a:endParaRPr lang="en-US" dirty="0">
              <a:ea typeface="Calibri"/>
              <a:cs typeface="Calibri"/>
            </a:endParaRPr>
          </a:p>
          <a:p>
            <a:pPr>
              <a:buFont typeface="Arial"/>
              <a:buChar char="•"/>
            </a:pPr>
            <a:r>
              <a:rPr lang="en-US" dirty="0"/>
              <a:t>Smaller groups (fungi, protists, insects) would become tiny flat lines near zero.</a:t>
            </a:r>
            <a:endParaRPr lang="en-US" dirty="0">
              <a:ea typeface="Calibri"/>
              <a:cs typeface="Calibri"/>
            </a:endParaRPr>
          </a:p>
          <a:p>
            <a:pPr>
              <a:buFont typeface="Arial"/>
              <a:buChar char="•"/>
            </a:pPr>
            <a:r>
              <a:rPr lang="en-US" dirty="0"/>
              <a:t>Log scale prevents distortion and allows fair comparison across groups.</a:t>
            </a:r>
            <a:endParaRPr lang="en-US" dirty="0">
              <a:ea typeface="Calibri"/>
              <a:cs typeface="Calibri"/>
            </a:endParaRPr>
          </a:p>
          <a:p>
            <a:pPr>
              <a:buFont typeface="Arial"/>
              <a:buChar char="•"/>
            </a:pPr>
            <a:r>
              <a:rPr lang="en-US" dirty="0"/>
              <a:t>It is the standard method in ecology for visualizing data with huge magnitude differences.</a:t>
            </a:r>
            <a:endParaRPr lang="en-US" dirty="0">
              <a:ea typeface="Calibri"/>
              <a:cs typeface="Calibri"/>
            </a:endParaRPr>
          </a:p>
          <a:p>
            <a:pPr marL="171450" indent="-171450">
              <a:buFont typeface="Arial"/>
              <a:buChar char="•"/>
            </a:pPr>
            <a:endParaRPr lang="en-US" dirty="0"/>
          </a:p>
          <a:p>
            <a:pPr marL="171450" indent="-171450">
              <a:buFont typeface="Arial"/>
              <a:buChar char="•"/>
            </a:pPr>
            <a:r>
              <a:rPr lang="en-US" dirty="0">
                <a:ea typeface="Calibri"/>
                <a:cs typeface="Calibri"/>
              </a:rPr>
              <a:t>Summary on what I was trying to convey:</a:t>
            </a:r>
            <a:endParaRPr lang="en-US" dirty="0"/>
          </a:p>
          <a:p>
            <a:pPr marL="171450" indent="-171450">
              <a:buFont typeface="Arial"/>
              <a:buChar char="•"/>
            </a:pPr>
            <a:r>
              <a:rPr lang="en-US"/>
              <a:t>This slide shows that modern DNA-based methods reveal far more species than classical taxonomy, with massive increases especially for bacteria, protists, and fungi. Molecular data uncovers hidden and cryptic diversity, dramatically raising global species richness estimates.</a:t>
            </a:r>
            <a:endParaRPr lang="en-US">
              <a:ea typeface="Calibri"/>
              <a:cs typeface="Calibri"/>
            </a:endParaRPr>
          </a:p>
          <a:p>
            <a:pPr>
              <a:buFont typeface="Arial"/>
              <a:buChar char="•"/>
            </a:pPr>
            <a:endParaRPr lang="en-US" dirty="0">
              <a:ea typeface="Calibri"/>
              <a:cs typeface="Calibri"/>
            </a:endParaRPr>
          </a:p>
          <a:p>
            <a:pPr marL="285750" indent="-285750">
              <a:buFont typeface="Arial"/>
              <a:buChar char="•"/>
            </a:pPr>
            <a:endParaRPr lang="en-US" dirty="0">
              <a:ea typeface="Calibri"/>
              <a:cs typeface="Calibri"/>
            </a:endParaRPr>
          </a:p>
          <a:p>
            <a:pPr marL="285750" indent="-2857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12</a:t>
            </a:fld>
            <a:endParaRPr lang="cs-CZ"/>
          </a:p>
        </p:txBody>
      </p:sp>
    </p:spTree>
    <p:extLst>
      <p:ext uri="{BB962C8B-B14F-4D97-AF65-F5344CB8AC3E}">
        <p14:creationId xmlns:p14="http://schemas.microsoft.com/office/powerpoint/2010/main" val="3674859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285750" indent="-285750">
              <a:buFont typeface="Arial"/>
              <a:buChar char="•"/>
            </a:pPr>
            <a:r>
              <a:rPr lang="en-US" dirty="0"/>
              <a:t>Classic taxonomy (Mora): detects only visible eukaryotic species; misses cryptic + microbial diversity.</a:t>
            </a:r>
          </a:p>
          <a:p>
            <a:pPr marL="285750" indent="-285750">
              <a:buFont typeface="Arial"/>
              <a:buChar char="•"/>
            </a:pPr>
            <a:r>
              <a:rPr lang="en-US" dirty="0"/>
              <a:t>Modern DNA (Wiens): detects visible + cryptic + microbial diversity; reveals enormous hidden richness.</a:t>
            </a:r>
            <a:endParaRPr lang="en-US" dirty="0">
              <a:ea typeface="Calibri"/>
              <a:cs typeface="Calibri"/>
            </a:endParaRPr>
          </a:p>
          <a:p>
            <a:pPr marL="285750" indent="-285750">
              <a:buFont typeface="Arial"/>
              <a:buChar char="•"/>
            </a:pPr>
            <a:r>
              <a:rPr lang="en-US" dirty="0"/>
              <a:t>Core insight: the two methods are not estimating the same “universe” of life — classic taxonomy covers the </a:t>
            </a:r>
            <a:r>
              <a:rPr lang="en-US" b="1" dirty="0"/>
              <a:t>tip of the iceberg</a:t>
            </a:r>
            <a:r>
              <a:rPr lang="en-US" dirty="0"/>
              <a:t>, DNA reveals the </a:t>
            </a:r>
            <a:r>
              <a:rPr lang="en-US" b="1" dirty="0"/>
              <a:t>hidden bulk</a:t>
            </a:r>
            <a:r>
              <a:rPr lang="en-US" dirty="0"/>
              <a:t>.</a:t>
            </a:r>
            <a:endParaRPr lang="en-US" dirty="0">
              <a:ea typeface="Calibri"/>
              <a:cs typeface="Calibri"/>
            </a:endParaRPr>
          </a:p>
          <a:p>
            <a:pPr marL="285750" indent="-285750">
              <a:buFont typeface="Arial"/>
              <a:buChar char="•"/>
            </a:pPr>
            <a:r>
              <a:rPr lang="en-US" dirty="0"/>
              <a:t>Table created by the author using Canva (2025).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13</a:t>
            </a:fld>
            <a:endParaRPr lang="cs-CZ"/>
          </a:p>
        </p:txBody>
      </p:sp>
    </p:spTree>
    <p:extLst>
      <p:ext uri="{BB962C8B-B14F-4D97-AF65-F5344CB8AC3E}">
        <p14:creationId xmlns:p14="http://schemas.microsoft.com/office/powerpoint/2010/main" val="2108221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285750" indent="-285750">
              <a:buFont typeface="Arial"/>
              <a:buChar char="•"/>
            </a:pPr>
            <a:r>
              <a:rPr lang="en-US"/>
              <a:t>Global species richness cannot be represented by one number because methods detect different subsets of life.</a:t>
            </a:r>
          </a:p>
          <a:p>
            <a:pPr marL="285750" indent="-285750">
              <a:buFont typeface="Arial"/>
              <a:buChar char="•"/>
            </a:pPr>
            <a:r>
              <a:rPr lang="en-US" dirty="0"/>
              <a:t>Classic estimates provide a </a:t>
            </a:r>
            <a:r>
              <a:rPr lang="en-US" b="1" dirty="0"/>
              <a:t>visible-life baseline</a:t>
            </a:r>
            <a:r>
              <a:rPr lang="en-US" dirty="0"/>
              <a:t>, but DNA methods reveal hidden biodiversity orders of magnitude larger.</a:t>
            </a:r>
            <a:endParaRPr lang="en-US" dirty="0">
              <a:ea typeface="Calibri"/>
              <a:cs typeface="Calibri"/>
            </a:endParaRPr>
          </a:p>
          <a:p>
            <a:pPr marL="285750" indent="-285750">
              <a:buFont typeface="Arial"/>
              <a:buChar char="•"/>
            </a:pPr>
            <a:r>
              <a:rPr lang="en-US" dirty="0"/>
              <a:t>Most of Earth’s life remains undescribed due to small size, rarity, habitat inaccessibility, or cryptic morphology.</a:t>
            </a:r>
            <a:endParaRPr lang="en-US" dirty="0">
              <a:ea typeface="Calibri"/>
              <a:cs typeface="Calibri"/>
            </a:endParaRPr>
          </a:p>
          <a:p>
            <a:pPr marL="285750" indent="-285750">
              <a:buFont typeface="Arial"/>
              <a:buChar char="•"/>
            </a:pPr>
            <a:r>
              <a:rPr lang="en-US" dirty="0"/>
              <a:t>Overall conclusion: </a:t>
            </a:r>
            <a:r>
              <a:rPr lang="en-US" b="1" dirty="0"/>
              <a:t>global biodiversity is far greater than early estimates suggested, and advances in detection methods continually revise estimates upward.</a:t>
            </a: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71B2431-D351-4C6E-A3CF-9DFAC0E3E050}" type="slidenum">
              <a:rPr lang="cs-CZ"/>
              <a:t>14</a:t>
            </a:fld>
            <a:endParaRPr lang="cs-CZ"/>
          </a:p>
        </p:txBody>
      </p:sp>
    </p:spTree>
    <p:extLst>
      <p:ext uri="{BB962C8B-B14F-4D97-AF65-F5344CB8AC3E}">
        <p14:creationId xmlns:p14="http://schemas.microsoft.com/office/powerpoint/2010/main" val="2300558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pPr/>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a:t>12/6/2025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a:t>‹#›</a:t>
            </a:fld>
            <a:endParaRPr lang="en-US"/>
          </a:p>
        </p:txBody>
      </p:sp>
    </p:spTree>
    <p:extLst>
      <p:ext uri="{BB962C8B-B14F-4D97-AF65-F5344CB8AC3E}">
        <p14:creationId xmlns:p14="http://schemas.microsoft.com/office/powerpoint/2010/main" val="3548631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a:t>12/6/2025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a:t>‹#›</a:t>
            </a:fld>
            <a:endParaRPr lang="en-US"/>
          </a:p>
        </p:txBody>
      </p:sp>
    </p:spTree>
    <p:extLst>
      <p:ext uri="{BB962C8B-B14F-4D97-AF65-F5344CB8AC3E}">
        <p14:creationId xmlns:p14="http://schemas.microsoft.com/office/powerpoint/2010/main" val="15579787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a:t>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6"/>
            <a:ext cx="1422400" cy="243416"/>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a:pPr/>
              <a:t>12/6/2025</a:t>
            </a:fld>
            <a:endParaRPr lang="en-US"/>
          </a:p>
        </p:txBody>
      </p:sp>
      <p:sp>
        <p:nvSpPr>
          <p:cNvPr id="5" name="Footer Placeholder 4"/>
          <p:cNvSpPr>
            <a:spLocks noGrp="1"/>
          </p:cNvSpPr>
          <p:nvPr>
            <p:ph type="ftr" sz="quarter" idx="3"/>
          </p:nvPr>
        </p:nvSpPr>
        <p:spPr>
          <a:xfrm>
            <a:off x="2082800" y="4237566"/>
            <a:ext cx="1930400" cy="243416"/>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6"/>
            <a:ext cx="1422400" cy="243416"/>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ctr" defTabSz="914400" rtl="0" eaLnBrk="1" latinLnBrk="0" hangingPunct="1">
        <a:spcBef>
          <a:spcPct val="0"/>
        </a:spcBef>
        <a:buNone/>
        <a:defRPr sz="2933"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66"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a:t>12/6/2025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087816"/>
      </p:ext>
    </p:extLst>
  </p:cSld>
  <p:clrMap bg1="lt1" tx1="dk1" bg2="lt2" tx2="dk2" accent1="accent1" accent2="accent2" accent3="accent3" accent4="accent4" accent5="accent5" accent6="accent6" hlink="hlink" folHlink="folHlink"/>
  <p:sldLayoutIdLst>
    <p:sldLayoutId id="2147483676" r:id="rId1"/>
    <p:sldLayoutId id="2147483677" r:id="rId2"/>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5.jpeg"/><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7557/3.6482" TargetMode="External"/><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hyperlink" Target="https://www.openai.com/chatgp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93AAD9-A37A-322F-80AE-D574A793584B}"/>
              </a:ext>
            </a:extLst>
          </p:cNvPr>
          <p:cNvSpPr>
            <a:spLocks noGrp="1"/>
          </p:cNvSpPr>
          <p:nvPr>
            <p:ph type="ctrTitle"/>
          </p:nvPr>
        </p:nvSpPr>
        <p:spPr>
          <a:xfrm>
            <a:off x="5604552" y="871758"/>
            <a:ext cx="5825448" cy="3871143"/>
          </a:xfrm>
        </p:spPr>
        <p:txBody>
          <a:bodyPr>
            <a:normAutofit/>
          </a:bodyPr>
          <a:lstStyle/>
          <a:p>
            <a:r>
              <a:rPr lang="cs-CZ" b="1"/>
              <a:t>macr</a:t>
            </a:r>
            <a:r>
              <a:rPr lang="en-US" b="1"/>
              <a:t>o</a:t>
            </a:r>
            <a:r>
              <a:rPr lang="cs-CZ" b="1"/>
              <a:t>ecology and biogeography</a:t>
            </a:r>
            <a:r>
              <a:rPr lang="en-US" b="1"/>
              <a:t> 2</a:t>
            </a:r>
            <a:endParaRPr lang="ru-RU" b="1"/>
          </a:p>
        </p:txBody>
      </p:sp>
      <p:sp>
        <p:nvSpPr>
          <p:cNvPr id="3" name="Subtitle 2">
            <a:extLst>
              <a:ext uri="{FF2B5EF4-FFF2-40B4-BE49-F238E27FC236}">
                <a16:creationId xmlns:a16="http://schemas.microsoft.com/office/drawing/2014/main" id="{BFB120DE-0C2A-38A0-1A8E-75E58C58A7E3}"/>
              </a:ext>
            </a:extLst>
          </p:cNvPr>
          <p:cNvSpPr>
            <a:spLocks noGrp="1"/>
          </p:cNvSpPr>
          <p:nvPr>
            <p:ph type="subTitle" idx="1"/>
          </p:nvPr>
        </p:nvSpPr>
        <p:spPr>
          <a:xfrm>
            <a:off x="5619964" y="4785543"/>
            <a:ext cx="5322013" cy="1005657"/>
          </a:xfrm>
        </p:spPr>
        <p:txBody>
          <a:bodyPr>
            <a:normAutofit/>
          </a:bodyPr>
          <a:lstStyle/>
          <a:p>
            <a:r>
              <a:rPr lang="en-US" b="1"/>
              <a:t>Azat Aibar, Novruzov Elvin, Choi Inseo, Kindt Zoe</a:t>
            </a:r>
            <a:endParaRPr lang="ru-RU" b="1"/>
          </a:p>
        </p:txBody>
      </p:sp>
      <p:pic>
        <p:nvPicPr>
          <p:cNvPr id="7" name="Picture 6" descr="A colorful map of the world&#10;&#10;AI-generated content may be incorrect.">
            <a:extLst>
              <a:ext uri="{FF2B5EF4-FFF2-40B4-BE49-F238E27FC236}">
                <a16:creationId xmlns:a16="http://schemas.microsoft.com/office/drawing/2014/main" id="{14D1F87A-C036-0E30-A3DA-6065CB369F54}"/>
              </a:ext>
            </a:extLst>
          </p:cNvPr>
          <p:cNvPicPr>
            <a:picLocks/>
          </p:cNvPicPr>
          <p:nvPr/>
        </p:nvPicPr>
        <p:blipFill>
          <a:blip r:embed="rId3"/>
          <a:srcRect l="12045" r="14265"/>
          <a:stretch>
            <a:fillRect/>
          </a:stretch>
        </p:blipFill>
        <p:spPr>
          <a:xfrm>
            <a:off x="1" y="10"/>
            <a:ext cx="4876799" cy="6857989"/>
          </a:xfrm>
          <a:prstGeom prst="rect">
            <a:avLst/>
          </a:prstGeom>
        </p:spPr>
      </p:pic>
      <p:cxnSp>
        <p:nvCxnSpPr>
          <p:cNvPr id="43" name="Straight Connector 4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9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1" name="Straight Connector 4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A9F92BAD-0049-B700-D13E-7F42EE51A89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2667"/>
          <a:stretch>
            <a:fillRect/>
          </a:stretch>
        </p:blipFill>
        <p:spPr>
          <a:xfrm>
            <a:off x="20" y="10"/>
            <a:ext cx="12191979" cy="6857989"/>
          </a:xfrm>
          <a:prstGeom prst="rect">
            <a:avLst/>
          </a:prstGeom>
        </p:spPr>
      </p:pic>
    </p:spTree>
    <p:extLst>
      <p:ext uri="{BB962C8B-B14F-4D97-AF65-F5344CB8AC3E}">
        <p14:creationId xmlns:p14="http://schemas.microsoft.com/office/powerpoint/2010/main" val="2325076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0EEC8-59C5-B7B4-3438-5FEBF8945D7B}"/>
              </a:ext>
            </a:extLst>
          </p:cNvPr>
          <p:cNvSpPr>
            <a:spLocks noGrp="1"/>
          </p:cNvSpPr>
          <p:nvPr>
            <p:ph type="title"/>
          </p:nvPr>
        </p:nvSpPr>
        <p:spPr/>
        <p:txBody>
          <a:bodyPr/>
          <a:lstStyle/>
          <a:p>
            <a:r>
              <a:rPr lang="en-US"/>
              <a:t>Species concept</a:t>
            </a:r>
            <a:endParaRPr lang="ru-RU"/>
          </a:p>
        </p:txBody>
      </p:sp>
      <p:graphicFrame>
        <p:nvGraphicFramePr>
          <p:cNvPr id="20" name="Content Placeholder 2">
            <a:extLst>
              <a:ext uri="{FF2B5EF4-FFF2-40B4-BE49-F238E27FC236}">
                <a16:creationId xmlns:a16="http://schemas.microsoft.com/office/drawing/2014/main" id="{28C144DF-E4B9-753C-0CD8-BB488A5B3364}"/>
              </a:ext>
            </a:extLst>
          </p:cNvPr>
          <p:cNvGraphicFramePr>
            <a:graphicFrameLocks noGrp="1"/>
          </p:cNvGraphicFramePr>
          <p:nvPr>
            <p:ph idx="1"/>
            <p:extLst>
              <p:ext uri="{D42A27DB-BD31-4B8C-83A1-F6EECF244321}">
                <p14:modId xmlns:p14="http://schemas.microsoft.com/office/powerpoint/2010/main" val="3086245474"/>
              </p:ext>
            </p:extLst>
          </p:nvPr>
        </p:nvGraphicFramePr>
        <p:xfrm>
          <a:off x="686257" y="1718785"/>
          <a:ext cx="11194473" cy="4516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332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6256000" cy="9144000"/>
          </a:xfrm>
        </p:grpSpPr>
        <p:sp>
          <p:nvSpPr>
            <p:cNvPr id="3" name="Freeform 3"/>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7EDE9"/>
            </a:solidFill>
            <a:ln w="12700">
              <a:solidFill>
                <a:srgbClr val="000000"/>
              </a:solidFill>
            </a:ln>
          </p:spPr>
          <p:txBody>
            <a:bodyPr/>
            <a:lstStyle/>
            <a:p>
              <a:endParaRPr lang="en-GB"/>
            </a:p>
          </p:txBody>
        </p:sp>
      </p:grpSp>
      <p:grpSp>
        <p:nvGrpSpPr>
          <p:cNvPr id="4" name="Group 4"/>
          <p:cNvGrpSpPr/>
          <p:nvPr/>
        </p:nvGrpSpPr>
        <p:grpSpPr>
          <a:xfrm>
            <a:off x="0" y="0"/>
            <a:ext cx="12192000" cy="6858000"/>
            <a:chOff x="0" y="0"/>
            <a:chExt cx="16256000" cy="9144000"/>
          </a:xfrm>
        </p:grpSpPr>
        <p:sp>
          <p:nvSpPr>
            <p:cNvPr id="5" name="Freeform 5"/>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A"/>
            </a:solidFill>
            <a:ln w="12700">
              <a:solidFill>
                <a:srgbClr val="000000"/>
              </a:solidFill>
            </a:ln>
          </p:spPr>
          <p:txBody>
            <a:bodyPr/>
            <a:lstStyle/>
            <a:p>
              <a:endParaRPr lang="en-GB"/>
            </a:p>
          </p:txBody>
        </p:sp>
      </p:grpSp>
      <p:grpSp>
        <p:nvGrpSpPr>
          <p:cNvPr id="6" name="Group 6"/>
          <p:cNvGrpSpPr>
            <a:grpSpLocks noChangeAspect="1"/>
          </p:cNvGrpSpPr>
          <p:nvPr/>
        </p:nvGrpSpPr>
        <p:grpSpPr>
          <a:xfrm>
            <a:off x="0" y="0"/>
            <a:ext cx="4572000" cy="6858000"/>
            <a:chOff x="0" y="0"/>
            <a:chExt cx="6096000" cy="9144000"/>
          </a:xfrm>
        </p:grpSpPr>
        <p:sp>
          <p:nvSpPr>
            <p:cNvPr id="7" name="Freeform 7" descr="preencoded.png"/>
            <p:cNvSpPr/>
            <p:nvPr/>
          </p:nvSpPr>
          <p:spPr>
            <a:xfrm>
              <a:off x="0" y="0"/>
              <a:ext cx="6096000" cy="9144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4902941" y="1618416"/>
            <a:ext cx="6958118" cy="1285557"/>
          </a:xfrm>
          <a:prstGeom prst="rect">
            <a:avLst/>
          </a:prstGeom>
        </p:spPr>
        <p:txBody>
          <a:bodyPr lIns="0" tIns="0" rIns="0" bIns="0" rtlCol="0" anchor="t">
            <a:spAutoFit/>
          </a:bodyPr>
          <a:lstStyle/>
          <a:p>
            <a:pPr algn="ctr">
              <a:lnSpc>
                <a:spcPts val="7665"/>
              </a:lnSpc>
            </a:pPr>
            <a:r>
              <a:rPr lang="en-US" sz="4097" b="1">
                <a:solidFill>
                  <a:srgbClr val="443728"/>
                </a:solidFill>
                <a:latin typeface="Crimson Pro Bold"/>
                <a:ea typeface="Crimson Pro Bold"/>
                <a:cs typeface="Crimson Pro Bold"/>
                <a:sym typeface="Crimson Pro Bold"/>
              </a:rPr>
              <a:t>Unveiling Earth's Hidden Biodiversity</a:t>
            </a:r>
          </a:p>
        </p:txBody>
      </p:sp>
      <p:sp>
        <p:nvSpPr>
          <p:cNvPr id="9" name="TextBox 9"/>
          <p:cNvSpPr txBox="1"/>
          <p:nvPr/>
        </p:nvSpPr>
        <p:spPr>
          <a:xfrm>
            <a:off x="5662446" y="3810511"/>
            <a:ext cx="5439107" cy="711878"/>
          </a:xfrm>
          <a:prstGeom prst="rect">
            <a:avLst/>
          </a:prstGeom>
        </p:spPr>
        <p:txBody>
          <a:bodyPr lIns="0" tIns="0" rIns="0" bIns="0" rtlCol="0" anchor="t">
            <a:spAutoFit/>
          </a:bodyPr>
          <a:lstStyle/>
          <a:p>
            <a:pPr algn="l">
              <a:lnSpc>
                <a:spcPts val="4375"/>
              </a:lnSpc>
            </a:pPr>
            <a:r>
              <a:rPr lang="en-US" sz="1790">
                <a:solidFill>
                  <a:srgbClr val="443728"/>
                </a:solidFill>
                <a:latin typeface="Open Sans"/>
                <a:ea typeface="Open Sans"/>
                <a:cs typeface="Open Sans"/>
                <a:sym typeface="Open Sans"/>
              </a:rPr>
              <a:t>Exploring macroecology and biogeography to understand the true scope of life on our planet.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6256000" cy="9144000"/>
          </a:xfrm>
        </p:grpSpPr>
        <p:sp>
          <p:nvSpPr>
            <p:cNvPr id="3" name="Freeform 3"/>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7EDE9"/>
            </a:solidFill>
            <a:ln w="12700">
              <a:solidFill>
                <a:srgbClr val="000000"/>
              </a:solidFill>
            </a:ln>
          </p:spPr>
          <p:txBody>
            <a:bodyPr/>
            <a:lstStyle/>
            <a:p>
              <a:endParaRPr lang="en-GB"/>
            </a:p>
          </p:txBody>
        </p:sp>
      </p:grpSp>
      <p:grpSp>
        <p:nvGrpSpPr>
          <p:cNvPr id="4" name="Group 4"/>
          <p:cNvGrpSpPr/>
          <p:nvPr/>
        </p:nvGrpSpPr>
        <p:grpSpPr>
          <a:xfrm>
            <a:off x="0" y="0"/>
            <a:ext cx="12192000" cy="6858000"/>
            <a:chOff x="0" y="0"/>
            <a:chExt cx="16256000" cy="9144000"/>
          </a:xfrm>
        </p:grpSpPr>
        <p:sp>
          <p:nvSpPr>
            <p:cNvPr id="5" name="Freeform 5"/>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A"/>
            </a:solidFill>
            <a:ln w="12700">
              <a:solidFill>
                <a:srgbClr val="000000"/>
              </a:solidFill>
            </a:ln>
          </p:spPr>
          <p:txBody>
            <a:bodyPr/>
            <a:lstStyle/>
            <a:p>
              <a:endParaRPr lang="en-GB"/>
            </a:p>
          </p:txBody>
        </p:sp>
      </p:grpSp>
      <p:grpSp>
        <p:nvGrpSpPr>
          <p:cNvPr id="6" name="Group 6"/>
          <p:cNvGrpSpPr>
            <a:grpSpLocks noChangeAspect="1"/>
          </p:cNvGrpSpPr>
          <p:nvPr/>
        </p:nvGrpSpPr>
        <p:grpSpPr>
          <a:xfrm>
            <a:off x="0" y="0"/>
            <a:ext cx="4572000" cy="6858000"/>
            <a:chOff x="0" y="0"/>
            <a:chExt cx="6096000" cy="9144000"/>
          </a:xfrm>
        </p:grpSpPr>
        <p:sp>
          <p:nvSpPr>
            <p:cNvPr id="7" name="Freeform 7" descr="preencoded.png"/>
            <p:cNvSpPr/>
            <p:nvPr/>
          </p:nvSpPr>
          <p:spPr>
            <a:xfrm>
              <a:off x="0" y="0"/>
              <a:ext cx="6096000" cy="9144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4154906" y="504279"/>
            <a:ext cx="7411222" cy="693588"/>
          </a:xfrm>
          <a:prstGeom prst="rect">
            <a:avLst/>
          </a:prstGeom>
        </p:spPr>
        <p:txBody>
          <a:bodyPr wrap="square" lIns="0" tIns="0" rIns="0" bIns="0" rtlCol="0" anchor="t">
            <a:spAutoFit/>
          </a:bodyPr>
          <a:lstStyle/>
          <a:p>
            <a:pPr algn="l">
              <a:lnSpc>
                <a:spcPts val="6249"/>
              </a:lnSpc>
            </a:pPr>
            <a:r>
              <a:rPr lang="en-US" sz="3332" b="1">
                <a:solidFill>
                  <a:srgbClr val="443728"/>
                </a:solidFill>
                <a:latin typeface="Crimson Pro Bold"/>
                <a:ea typeface="Crimson Pro Bold"/>
                <a:cs typeface="Crimson Pro Bold"/>
                <a:sym typeface="Crimson Pro Bold"/>
              </a:rPr>
              <a:t>The Challenge of Cryptic Diversity</a:t>
            </a:r>
          </a:p>
        </p:txBody>
      </p:sp>
      <p:sp>
        <p:nvSpPr>
          <p:cNvPr id="9" name="TextBox 9"/>
          <p:cNvSpPr txBox="1"/>
          <p:nvPr/>
        </p:nvSpPr>
        <p:spPr>
          <a:xfrm>
            <a:off x="4572000" y="1232743"/>
            <a:ext cx="7147619" cy="1172629"/>
          </a:xfrm>
          <a:prstGeom prst="rect">
            <a:avLst/>
          </a:prstGeom>
        </p:spPr>
        <p:txBody>
          <a:bodyPr wrap="square" lIns="0" tIns="0" rIns="0" bIns="0" rtlCol="0" anchor="t">
            <a:spAutoFit/>
          </a:bodyPr>
          <a:lstStyle/>
          <a:p>
            <a:pPr algn="l">
              <a:lnSpc>
                <a:spcPts val="3187"/>
              </a:lnSpc>
            </a:pPr>
            <a:r>
              <a:rPr lang="en-US" sz="1333">
                <a:solidFill>
                  <a:srgbClr val="443728"/>
                </a:solidFill>
                <a:latin typeface="Open Sans"/>
                <a:ea typeface="Open Sans"/>
                <a:cs typeface="Open Sans"/>
                <a:sym typeface="Open Sans"/>
              </a:rPr>
              <a:t>Cryptic diversity refers to multiple species that are morphologically indistinguishable, often leading to a significant underestimation of true biodiversity. These "hidden" species are genetically distinct but visually identical.</a:t>
            </a:r>
          </a:p>
        </p:txBody>
      </p:sp>
      <p:grpSp>
        <p:nvGrpSpPr>
          <p:cNvPr id="10" name="Group 10"/>
          <p:cNvGrpSpPr/>
          <p:nvPr/>
        </p:nvGrpSpPr>
        <p:grpSpPr>
          <a:xfrm>
            <a:off x="5233491" y="2850852"/>
            <a:ext cx="6297017" cy="1526580"/>
            <a:chOff x="0" y="0"/>
            <a:chExt cx="8396023" cy="2035440"/>
          </a:xfrm>
        </p:grpSpPr>
        <p:sp>
          <p:nvSpPr>
            <p:cNvPr id="11" name="Freeform 11"/>
            <p:cNvSpPr/>
            <p:nvPr/>
          </p:nvSpPr>
          <p:spPr>
            <a:xfrm>
              <a:off x="0" y="0"/>
              <a:ext cx="8396054" cy="2035471"/>
            </a:xfrm>
            <a:custGeom>
              <a:avLst/>
              <a:gdLst/>
              <a:ahLst/>
              <a:cxnLst/>
              <a:rect l="l" t="t" r="r" b="b"/>
              <a:pathLst>
                <a:path w="12594082" h="3053207">
                  <a:moveTo>
                    <a:pt x="0" y="182880"/>
                  </a:moveTo>
                  <a:cubicBezTo>
                    <a:pt x="0" y="81915"/>
                    <a:pt x="81915" y="0"/>
                    <a:pt x="182880" y="0"/>
                  </a:cubicBezTo>
                  <a:lnTo>
                    <a:pt x="12411202" y="0"/>
                  </a:lnTo>
                  <a:cubicBezTo>
                    <a:pt x="12512167" y="0"/>
                    <a:pt x="12594082" y="81915"/>
                    <a:pt x="12594082" y="182880"/>
                  </a:cubicBezTo>
                  <a:lnTo>
                    <a:pt x="12594082" y="2870327"/>
                  </a:lnTo>
                  <a:cubicBezTo>
                    <a:pt x="12594082" y="2971292"/>
                    <a:pt x="12512167" y="3053207"/>
                    <a:pt x="12411202" y="3053207"/>
                  </a:cubicBezTo>
                  <a:lnTo>
                    <a:pt x="182880" y="3053207"/>
                  </a:lnTo>
                  <a:cubicBezTo>
                    <a:pt x="81915" y="3053207"/>
                    <a:pt x="0" y="2971292"/>
                    <a:pt x="0" y="2870327"/>
                  </a:cubicBezTo>
                  <a:close/>
                </a:path>
              </a:pathLst>
            </a:custGeom>
            <a:solidFill>
              <a:srgbClr val="FFFCFA"/>
            </a:solidFill>
            <a:ln w="12700">
              <a:solidFill>
                <a:srgbClr val="000000"/>
              </a:solidFill>
            </a:ln>
          </p:spPr>
          <p:txBody>
            <a:bodyPr/>
            <a:lstStyle/>
            <a:p>
              <a:endParaRPr lang="en-GB"/>
            </a:p>
          </p:txBody>
        </p:sp>
      </p:grpSp>
      <p:grpSp>
        <p:nvGrpSpPr>
          <p:cNvPr id="12" name="Group 12"/>
          <p:cNvGrpSpPr/>
          <p:nvPr/>
        </p:nvGrpSpPr>
        <p:grpSpPr>
          <a:xfrm>
            <a:off x="5233491" y="2831802"/>
            <a:ext cx="6297017" cy="76200"/>
            <a:chOff x="0" y="0"/>
            <a:chExt cx="8396023" cy="101600"/>
          </a:xfrm>
        </p:grpSpPr>
        <p:sp>
          <p:nvSpPr>
            <p:cNvPr id="13" name="Freeform 13"/>
            <p:cNvSpPr/>
            <p:nvPr/>
          </p:nvSpPr>
          <p:spPr>
            <a:xfrm>
              <a:off x="0" y="0"/>
              <a:ext cx="8396054" cy="101600"/>
            </a:xfrm>
            <a:custGeom>
              <a:avLst/>
              <a:gdLst/>
              <a:ahLst/>
              <a:cxnLst/>
              <a:rect l="l" t="t" r="r" b="b"/>
              <a:pathLst>
                <a:path w="12594082" h="152400">
                  <a:moveTo>
                    <a:pt x="0" y="76200"/>
                  </a:moveTo>
                  <a:cubicBezTo>
                    <a:pt x="0" y="34163"/>
                    <a:pt x="34163" y="0"/>
                    <a:pt x="76200" y="0"/>
                  </a:cubicBezTo>
                  <a:lnTo>
                    <a:pt x="12517882" y="0"/>
                  </a:lnTo>
                  <a:cubicBezTo>
                    <a:pt x="12559919" y="0"/>
                    <a:pt x="12594082" y="34163"/>
                    <a:pt x="12594082" y="76200"/>
                  </a:cubicBezTo>
                  <a:cubicBezTo>
                    <a:pt x="12594082" y="118237"/>
                    <a:pt x="12559919" y="152400"/>
                    <a:pt x="12517882" y="152400"/>
                  </a:cubicBezTo>
                  <a:lnTo>
                    <a:pt x="76200" y="152400"/>
                  </a:lnTo>
                  <a:cubicBezTo>
                    <a:pt x="34163" y="152400"/>
                    <a:pt x="0" y="118237"/>
                    <a:pt x="0" y="76200"/>
                  </a:cubicBezTo>
                  <a:close/>
                </a:path>
              </a:pathLst>
            </a:custGeom>
            <a:solidFill>
              <a:srgbClr val="835E54"/>
            </a:solidFill>
            <a:ln w="12700">
              <a:solidFill>
                <a:srgbClr val="000000"/>
              </a:solidFill>
            </a:ln>
          </p:spPr>
          <p:txBody>
            <a:bodyPr/>
            <a:lstStyle/>
            <a:p>
              <a:endParaRPr lang="en-GB"/>
            </a:p>
          </p:txBody>
        </p:sp>
      </p:grpSp>
      <p:grpSp>
        <p:nvGrpSpPr>
          <p:cNvPr id="14" name="Group 14"/>
          <p:cNvGrpSpPr/>
          <p:nvPr/>
        </p:nvGrpSpPr>
        <p:grpSpPr>
          <a:xfrm>
            <a:off x="8126859" y="2595760"/>
            <a:ext cx="510281" cy="510281"/>
            <a:chOff x="0" y="0"/>
            <a:chExt cx="680375" cy="680375"/>
          </a:xfrm>
        </p:grpSpPr>
        <p:sp>
          <p:nvSpPr>
            <p:cNvPr id="15" name="Freeform 15"/>
            <p:cNvSpPr/>
            <p:nvPr/>
          </p:nvSpPr>
          <p:spPr>
            <a:xfrm>
              <a:off x="0" y="0"/>
              <a:ext cx="680381" cy="680381"/>
            </a:xfrm>
            <a:custGeom>
              <a:avLst/>
              <a:gdLst/>
              <a:ahLst/>
              <a:cxnLst/>
              <a:rect l="l" t="t" r="r" b="b"/>
              <a:pathLst>
                <a:path w="1020572" h="1020572">
                  <a:moveTo>
                    <a:pt x="0" y="510286"/>
                  </a:moveTo>
                  <a:cubicBezTo>
                    <a:pt x="0" y="228473"/>
                    <a:pt x="228473" y="0"/>
                    <a:pt x="510286" y="0"/>
                  </a:cubicBezTo>
                  <a:cubicBezTo>
                    <a:pt x="792099" y="0"/>
                    <a:pt x="1020572" y="228473"/>
                    <a:pt x="1020572" y="510286"/>
                  </a:cubicBezTo>
                  <a:cubicBezTo>
                    <a:pt x="1020572" y="792099"/>
                    <a:pt x="792099" y="1020572"/>
                    <a:pt x="510286" y="1020572"/>
                  </a:cubicBezTo>
                  <a:cubicBezTo>
                    <a:pt x="228473" y="1020572"/>
                    <a:pt x="0" y="792099"/>
                    <a:pt x="0" y="510286"/>
                  </a:cubicBezTo>
                  <a:close/>
                </a:path>
              </a:pathLst>
            </a:custGeom>
            <a:solidFill>
              <a:srgbClr val="835E54"/>
            </a:solidFill>
            <a:ln w="12700">
              <a:solidFill>
                <a:srgbClr val="000000"/>
              </a:solidFill>
            </a:ln>
          </p:spPr>
          <p:txBody>
            <a:bodyPr/>
            <a:lstStyle/>
            <a:p>
              <a:endParaRPr lang="en-GB"/>
            </a:p>
          </p:txBody>
        </p:sp>
      </p:grpSp>
      <p:sp>
        <p:nvSpPr>
          <p:cNvPr id="16" name="Freeform 16" descr="preencoded.png"/>
          <p:cNvSpPr/>
          <p:nvPr/>
        </p:nvSpPr>
        <p:spPr>
          <a:xfrm>
            <a:off x="8279953" y="2748856"/>
            <a:ext cx="204093" cy="204093"/>
          </a:xfrm>
          <a:custGeom>
            <a:avLst/>
            <a:gdLst/>
            <a:ahLst/>
            <a:cxnLst/>
            <a:rect l="l" t="t" r="r" b="b"/>
            <a:pathLst>
              <a:path w="306140" h="306140">
                <a:moveTo>
                  <a:pt x="0" y="0"/>
                </a:moveTo>
                <a:lnTo>
                  <a:pt x="306140" y="0"/>
                </a:lnTo>
                <a:lnTo>
                  <a:pt x="306140" y="306140"/>
                </a:lnTo>
                <a:lnTo>
                  <a:pt x="0" y="306140"/>
                </a:lnTo>
                <a:lnTo>
                  <a:pt x="0" y="0"/>
                </a:lnTo>
                <a:close/>
              </a:path>
            </a:pathLst>
          </a:custGeom>
          <a:blipFill>
            <a:blip r:embed="rId4">
              <a:extLst>
                <a:ext uri="{96DAC541-7B7A-43D3-8B79-37D633B846F1}">
                  <asvg:svgBlip xmlns:asvg="http://schemas.microsoft.com/office/drawing/2016/SVG/main" r:embed="rId5"/>
                </a:ext>
              </a:extLst>
            </a:blip>
            <a:stretch>
              <a:fillRect t="-37878" b="-37878"/>
            </a:stretch>
          </a:blipFill>
        </p:spPr>
        <p:txBody>
          <a:bodyPr/>
          <a:lstStyle/>
          <a:p>
            <a:endParaRPr lang="en-GB"/>
          </a:p>
        </p:txBody>
      </p:sp>
      <p:sp>
        <p:nvSpPr>
          <p:cNvPr id="17" name="TextBox 17"/>
          <p:cNvSpPr txBox="1"/>
          <p:nvPr/>
        </p:nvSpPr>
        <p:spPr>
          <a:xfrm>
            <a:off x="5318076" y="3062774"/>
            <a:ext cx="4098640" cy="491096"/>
          </a:xfrm>
          <a:prstGeom prst="rect">
            <a:avLst/>
          </a:prstGeom>
        </p:spPr>
        <p:txBody>
          <a:bodyPr wrap="square" lIns="0" tIns="0" rIns="0" bIns="0" rtlCol="0" anchor="t">
            <a:spAutoFit/>
          </a:bodyPr>
          <a:lstStyle/>
          <a:p>
            <a:pPr algn="l">
              <a:lnSpc>
                <a:spcPts val="4362"/>
              </a:lnSpc>
            </a:pPr>
            <a:r>
              <a:rPr lang="en-US" sz="2326" b="1">
                <a:solidFill>
                  <a:srgbClr val="443728"/>
                </a:solidFill>
                <a:latin typeface="Crimson Pro Bold"/>
                <a:ea typeface="Crimson Pro Bold"/>
                <a:cs typeface="Crimson Pro Bold"/>
                <a:sym typeface="Crimson Pro Bold"/>
              </a:rPr>
              <a:t>Genetic Distinction</a:t>
            </a:r>
          </a:p>
        </p:txBody>
      </p:sp>
      <p:sp>
        <p:nvSpPr>
          <p:cNvPr id="18" name="TextBox 18"/>
          <p:cNvSpPr txBox="1"/>
          <p:nvPr/>
        </p:nvSpPr>
        <p:spPr>
          <a:xfrm>
            <a:off x="5422602" y="3593008"/>
            <a:ext cx="5918794" cy="595312"/>
          </a:xfrm>
          <a:prstGeom prst="rect">
            <a:avLst/>
          </a:prstGeom>
        </p:spPr>
        <p:txBody>
          <a:bodyPr lIns="0" tIns="0" rIns="0" bIns="0" rtlCol="0" anchor="t">
            <a:spAutoFit/>
          </a:bodyPr>
          <a:lstStyle/>
          <a:p>
            <a:pPr algn="l">
              <a:lnSpc>
                <a:spcPts val="3187"/>
              </a:lnSpc>
            </a:pPr>
            <a:r>
              <a:rPr lang="en-US" sz="1333">
                <a:solidFill>
                  <a:srgbClr val="443728"/>
                </a:solidFill>
                <a:latin typeface="Open Sans"/>
                <a:ea typeface="Open Sans"/>
                <a:cs typeface="Open Sans"/>
                <a:sym typeface="Open Sans"/>
              </a:rPr>
              <a:t>Despite outward similarities, cryptic species exhibit significant genetic differences, revealed through molecular analysis.</a:t>
            </a:r>
          </a:p>
        </p:txBody>
      </p:sp>
      <p:grpSp>
        <p:nvGrpSpPr>
          <p:cNvPr id="19" name="Group 19"/>
          <p:cNvGrpSpPr/>
          <p:nvPr/>
        </p:nvGrpSpPr>
        <p:grpSpPr>
          <a:xfrm>
            <a:off x="5233491" y="4802584"/>
            <a:ext cx="6297017" cy="1526580"/>
            <a:chOff x="0" y="0"/>
            <a:chExt cx="8396023" cy="2035440"/>
          </a:xfrm>
        </p:grpSpPr>
        <p:sp>
          <p:nvSpPr>
            <p:cNvPr id="20" name="Freeform 20"/>
            <p:cNvSpPr/>
            <p:nvPr/>
          </p:nvSpPr>
          <p:spPr>
            <a:xfrm>
              <a:off x="0" y="0"/>
              <a:ext cx="8396054" cy="2035471"/>
            </a:xfrm>
            <a:custGeom>
              <a:avLst/>
              <a:gdLst/>
              <a:ahLst/>
              <a:cxnLst/>
              <a:rect l="l" t="t" r="r" b="b"/>
              <a:pathLst>
                <a:path w="12594082" h="3053207">
                  <a:moveTo>
                    <a:pt x="0" y="182880"/>
                  </a:moveTo>
                  <a:cubicBezTo>
                    <a:pt x="0" y="81915"/>
                    <a:pt x="81915" y="0"/>
                    <a:pt x="182880" y="0"/>
                  </a:cubicBezTo>
                  <a:lnTo>
                    <a:pt x="12411202" y="0"/>
                  </a:lnTo>
                  <a:cubicBezTo>
                    <a:pt x="12512167" y="0"/>
                    <a:pt x="12594082" y="81915"/>
                    <a:pt x="12594082" y="182880"/>
                  </a:cubicBezTo>
                  <a:lnTo>
                    <a:pt x="12594082" y="2870327"/>
                  </a:lnTo>
                  <a:cubicBezTo>
                    <a:pt x="12594082" y="2971292"/>
                    <a:pt x="12512167" y="3053207"/>
                    <a:pt x="12411202" y="3053207"/>
                  </a:cubicBezTo>
                  <a:lnTo>
                    <a:pt x="182880" y="3053207"/>
                  </a:lnTo>
                  <a:cubicBezTo>
                    <a:pt x="81915" y="3053207"/>
                    <a:pt x="0" y="2971292"/>
                    <a:pt x="0" y="2870327"/>
                  </a:cubicBezTo>
                  <a:close/>
                </a:path>
              </a:pathLst>
            </a:custGeom>
            <a:solidFill>
              <a:srgbClr val="FFFCFA"/>
            </a:solidFill>
            <a:ln w="12700">
              <a:solidFill>
                <a:srgbClr val="000000"/>
              </a:solidFill>
            </a:ln>
          </p:spPr>
          <p:txBody>
            <a:bodyPr/>
            <a:lstStyle/>
            <a:p>
              <a:endParaRPr lang="en-GB"/>
            </a:p>
          </p:txBody>
        </p:sp>
      </p:grpSp>
      <p:grpSp>
        <p:nvGrpSpPr>
          <p:cNvPr id="21" name="Group 21"/>
          <p:cNvGrpSpPr/>
          <p:nvPr/>
        </p:nvGrpSpPr>
        <p:grpSpPr>
          <a:xfrm>
            <a:off x="5233491" y="4783534"/>
            <a:ext cx="6297017" cy="76200"/>
            <a:chOff x="0" y="0"/>
            <a:chExt cx="8396023" cy="101600"/>
          </a:xfrm>
        </p:grpSpPr>
        <p:sp>
          <p:nvSpPr>
            <p:cNvPr id="22" name="Freeform 22"/>
            <p:cNvSpPr/>
            <p:nvPr/>
          </p:nvSpPr>
          <p:spPr>
            <a:xfrm>
              <a:off x="0" y="0"/>
              <a:ext cx="8396054" cy="101600"/>
            </a:xfrm>
            <a:custGeom>
              <a:avLst/>
              <a:gdLst/>
              <a:ahLst/>
              <a:cxnLst/>
              <a:rect l="l" t="t" r="r" b="b"/>
              <a:pathLst>
                <a:path w="12594082" h="152400">
                  <a:moveTo>
                    <a:pt x="0" y="76200"/>
                  </a:moveTo>
                  <a:cubicBezTo>
                    <a:pt x="0" y="34163"/>
                    <a:pt x="34163" y="0"/>
                    <a:pt x="76200" y="0"/>
                  </a:cubicBezTo>
                  <a:lnTo>
                    <a:pt x="12517882" y="0"/>
                  </a:lnTo>
                  <a:cubicBezTo>
                    <a:pt x="12559919" y="0"/>
                    <a:pt x="12594082" y="34163"/>
                    <a:pt x="12594082" y="76200"/>
                  </a:cubicBezTo>
                  <a:cubicBezTo>
                    <a:pt x="12594082" y="118237"/>
                    <a:pt x="12559919" y="152400"/>
                    <a:pt x="12517882" y="152400"/>
                  </a:cubicBezTo>
                  <a:lnTo>
                    <a:pt x="76200" y="152400"/>
                  </a:lnTo>
                  <a:cubicBezTo>
                    <a:pt x="34163" y="152400"/>
                    <a:pt x="0" y="118237"/>
                    <a:pt x="0" y="76200"/>
                  </a:cubicBezTo>
                  <a:close/>
                </a:path>
              </a:pathLst>
            </a:custGeom>
            <a:solidFill>
              <a:srgbClr val="835E54"/>
            </a:solidFill>
            <a:ln w="12700">
              <a:solidFill>
                <a:srgbClr val="000000"/>
              </a:solidFill>
            </a:ln>
          </p:spPr>
          <p:txBody>
            <a:bodyPr/>
            <a:lstStyle/>
            <a:p>
              <a:endParaRPr lang="en-GB"/>
            </a:p>
          </p:txBody>
        </p:sp>
      </p:grpSp>
      <p:grpSp>
        <p:nvGrpSpPr>
          <p:cNvPr id="23" name="Group 23"/>
          <p:cNvGrpSpPr/>
          <p:nvPr/>
        </p:nvGrpSpPr>
        <p:grpSpPr>
          <a:xfrm>
            <a:off x="8126859" y="4547493"/>
            <a:ext cx="510281" cy="510281"/>
            <a:chOff x="0" y="0"/>
            <a:chExt cx="680375" cy="680375"/>
          </a:xfrm>
        </p:grpSpPr>
        <p:sp>
          <p:nvSpPr>
            <p:cNvPr id="24" name="Freeform 24"/>
            <p:cNvSpPr/>
            <p:nvPr/>
          </p:nvSpPr>
          <p:spPr>
            <a:xfrm>
              <a:off x="0" y="0"/>
              <a:ext cx="680381" cy="680381"/>
            </a:xfrm>
            <a:custGeom>
              <a:avLst/>
              <a:gdLst/>
              <a:ahLst/>
              <a:cxnLst/>
              <a:rect l="l" t="t" r="r" b="b"/>
              <a:pathLst>
                <a:path w="1020572" h="1020572">
                  <a:moveTo>
                    <a:pt x="0" y="510286"/>
                  </a:moveTo>
                  <a:cubicBezTo>
                    <a:pt x="0" y="228473"/>
                    <a:pt x="228473" y="0"/>
                    <a:pt x="510286" y="0"/>
                  </a:cubicBezTo>
                  <a:cubicBezTo>
                    <a:pt x="792099" y="0"/>
                    <a:pt x="1020572" y="228473"/>
                    <a:pt x="1020572" y="510286"/>
                  </a:cubicBezTo>
                  <a:cubicBezTo>
                    <a:pt x="1020572" y="792099"/>
                    <a:pt x="792099" y="1020572"/>
                    <a:pt x="510286" y="1020572"/>
                  </a:cubicBezTo>
                  <a:cubicBezTo>
                    <a:pt x="228473" y="1020572"/>
                    <a:pt x="0" y="792099"/>
                    <a:pt x="0" y="510286"/>
                  </a:cubicBezTo>
                  <a:close/>
                </a:path>
              </a:pathLst>
            </a:custGeom>
            <a:solidFill>
              <a:srgbClr val="835E54"/>
            </a:solidFill>
            <a:ln w="12700">
              <a:solidFill>
                <a:srgbClr val="000000"/>
              </a:solidFill>
            </a:ln>
          </p:spPr>
          <p:txBody>
            <a:bodyPr/>
            <a:lstStyle/>
            <a:p>
              <a:endParaRPr lang="en-GB"/>
            </a:p>
          </p:txBody>
        </p:sp>
      </p:grpSp>
      <p:sp>
        <p:nvSpPr>
          <p:cNvPr id="25" name="Freeform 25" descr="preencoded.png"/>
          <p:cNvSpPr/>
          <p:nvPr/>
        </p:nvSpPr>
        <p:spPr>
          <a:xfrm>
            <a:off x="8279953" y="4700587"/>
            <a:ext cx="204093" cy="204093"/>
          </a:xfrm>
          <a:custGeom>
            <a:avLst/>
            <a:gdLst/>
            <a:ahLst/>
            <a:cxnLst/>
            <a:rect l="l" t="t" r="r" b="b"/>
            <a:pathLst>
              <a:path w="306140" h="306140">
                <a:moveTo>
                  <a:pt x="0" y="0"/>
                </a:moveTo>
                <a:lnTo>
                  <a:pt x="306140" y="0"/>
                </a:lnTo>
                <a:lnTo>
                  <a:pt x="306140" y="306140"/>
                </a:lnTo>
                <a:lnTo>
                  <a:pt x="0" y="3061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26" name="TextBox 26"/>
          <p:cNvSpPr txBox="1"/>
          <p:nvPr/>
        </p:nvSpPr>
        <p:spPr>
          <a:xfrm>
            <a:off x="5318076" y="5057775"/>
            <a:ext cx="3906135" cy="491096"/>
          </a:xfrm>
          <a:prstGeom prst="rect">
            <a:avLst/>
          </a:prstGeom>
        </p:spPr>
        <p:txBody>
          <a:bodyPr wrap="square" lIns="0" tIns="0" rIns="0" bIns="0" rtlCol="0" anchor="t">
            <a:spAutoFit/>
          </a:bodyPr>
          <a:lstStyle/>
          <a:p>
            <a:pPr algn="l">
              <a:lnSpc>
                <a:spcPts val="4363"/>
              </a:lnSpc>
            </a:pPr>
            <a:r>
              <a:rPr lang="en-US" sz="2326" b="1">
                <a:solidFill>
                  <a:srgbClr val="443728"/>
                </a:solidFill>
                <a:latin typeface="Crimson Pro Bold"/>
                <a:ea typeface="Crimson Pro Bold"/>
                <a:cs typeface="Crimson Pro Bold"/>
                <a:sym typeface="Crimson Pro Bold"/>
              </a:rPr>
              <a:t>Morphological Mimicry</a:t>
            </a:r>
          </a:p>
        </p:txBody>
      </p:sp>
      <p:sp>
        <p:nvSpPr>
          <p:cNvPr id="27" name="TextBox 27"/>
          <p:cNvSpPr txBox="1"/>
          <p:nvPr/>
        </p:nvSpPr>
        <p:spPr>
          <a:xfrm>
            <a:off x="5422602" y="5544740"/>
            <a:ext cx="5918794" cy="595312"/>
          </a:xfrm>
          <a:prstGeom prst="rect">
            <a:avLst/>
          </a:prstGeom>
        </p:spPr>
        <p:txBody>
          <a:bodyPr lIns="0" tIns="0" rIns="0" bIns="0" rtlCol="0" anchor="t">
            <a:spAutoFit/>
          </a:bodyPr>
          <a:lstStyle/>
          <a:p>
            <a:pPr algn="l">
              <a:lnSpc>
                <a:spcPts val="3187"/>
              </a:lnSpc>
            </a:pPr>
            <a:r>
              <a:rPr lang="en-US" sz="1333">
                <a:solidFill>
                  <a:srgbClr val="443728"/>
                </a:solidFill>
                <a:latin typeface="Open Sans"/>
                <a:ea typeface="Open Sans"/>
                <a:cs typeface="Open Sans"/>
                <a:sym typeface="Open Sans"/>
              </a:rPr>
              <a:t>Their identical appearance makes them challenging to identify using traditional taxonomic methods.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6256000" cy="9144000"/>
          </a:xfrm>
        </p:grpSpPr>
        <p:sp>
          <p:nvSpPr>
            <p:cNvPr id="3" name="Freeform 3"/>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7EDE9"/>
            </a:solidFill>
            <a:ln w="12700">
              <a:solidFill>
                <a:srgbClr val="000000"/>
              </a:solidFill>
            </a:ln>
          </p:spPr>
          <p:txBody>
            <a:bodyPr/>
            <a:lstStyle/>
            <a:p>
              <a:endParaRPr lang="en-GB"/>
            </a:p>
          </p:txBody>
        </p:sp>
      </p:grpSp>
      <p:grpSp>
        <p:nvGrpSpPr>
          <p:cNvPr id="4" name="Group 4"/>
          <p:cNvGrpSpPr/>
          <p:nvPr/>
        </p:nvGrpSpPr>
        <p:grpSpPr>
          <a:xfrm>
            <a:off x="0" y="0"/>
            <a:ext cx="12192000" cy="6858000"/>
            <a:chOff x="0" y="0"/>
            <a:chExt cx="16256000" cy="9144000"/>
          </a:xfrm>
        </p:grpSpPr>
        <p:sp>
          <p:nvSpPr>
            <p:cNvPr id="5" name="Freeform 5"/>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A"/>
            </a:solidFill>
            <a:ln w="12700">
              <a:solidFill>
                <a:srgbClr val="000000"/>
              </a:solidFill>
            </a:ln>
          </p:spPr>
          <p:txBody>
            <a:bodyPr/>
            <a:lstStyle/>
            <a:p>
              <a:endParaRPr lang="en-GB"/>
            </a:p>
          </p:txBody>
        </p:sp>
      </p:grpSp>
      <p:sp>
        <p:nvSpPr>
          <p:cNvPr id="6" name="TextBox 6"/>
          <p:cNvSpPr txBox="1"/>
          <p:nvPr/>
        </p:nvSpPr>
        <p:spPr>
          <a:xfrm>
            <a:off x="661491" y="660400"/>
            <a:ext cx="9281070" cy="736933"/>
          </a:xfrm>
          <a:prstGeom prst="rect">
            <a:avLst/>
          </a:prstGeom>
        </p:spPr>
        <p:txBody>
          <a:bodyPr wrap="square" lIns="0" tIns="0" rIns="0" bIns="0" rtlCol="0" anchor="t">
            <a:spAutoFit/>
          </a:bodyPr>
          <a:lstStyle/>
          <a:p>
            <a:pPr algn="l">
              <a:lnSpc>
                <a:spcPts val="6625"/>
              </a:lnSpc>
            </a:pPr>
            <a:r>
              <a:rPr lang="en-US" sz="3500" b="1">
                <a:solidFill>
                  <a:srgbClr val="443728"/>
                </a:solidFill>
                <a:latin typeface="Crimson Pro Bold"/>
                <a:ea typeface="Crimson Pro Bold"/>
                <a:cs typeface="Crimson Pro Bold"/>
                <a:sym typeface="Crimson Pro Bold"/>
              </a:rPr>
              <a:t>Widespread Examples Across Kingdoms</a:t>
            </a:r>
          </a:p>
        </p:txBody>
      </p:sp>
      <p:sp>
        <p:nvSpPr>
          <p:cNvPr id="7" name="TextBox 7"/>
          <p:cNvSpPr txBox="1"/>
          <p:nvPr/>
        </p:nvSpPr>
        <p:spPr>
          <a:xfrm>
            <a:off x="558801" y="1411318"/>
            <a:ext cx="10631552" cy="1094082"/>
          </a:xfrm>
          <a:prstGeom prst="rect">
            <a:avLst/>
          </a:prstGeom>
        </p:spPr>
        <p:txBody>
          <a:bodyPr wrap="square" lIns="0" tIns="0" rIns="0" bIns="0" rtlCol="0" anchor="t">
            <a:spAutoFit/>
          </a:bodyPr>
          <a:lstStyle/>
          <a:p>
            <a:pPr algn="l">
              <a:lnSpc>
                <a:spcPts val="4581"/>
              </a:lnSpc>
            </a:pPr>
            <a:r>
              <a:rPr lang="en-US" sz="1866">
                <a:solidFill>
                  <a:srgbClr val="443728"/>
                </a:solidFill>
                <a:latin typeface="Open Sans"/>
                <a:ea typeface="Open Sans"/>
                <a:cs typeface="Open Sans"/>
                <a:sym typeface="Open Sans"/>
              </a:rPr>
              <a:t>Cryptic diversity is not confined to a few groups; it's a pervasive phenomenon impacting our understanding of biodiversity across various ecosystems.</a:t>
            </a:r>
          </a:p>
        </p:txBody>
      </p:sp>
      <p:grpSp>
        <p:nvGrpSpPr>
          <p:cNvPr id="8" name="Group 8"/>
          <p:cNvGrpSpPr>
            <a:grpSpLocks noChangeAspect="1"/>
          </p:cNvGrpSpPr>
          <p:nvPr/>
        </p:nvGrpSpPr>
        <p:grpSpPr>
          <a:xfrm>
            <a:off x="661493" y="2502116"/>
            <a:ext cx="3133268" cy="1936434"/>
            <a:chOff x="0" y="0"/>
            <a:chExt cx="4399492" cy="2718991"/>
          </a:xfrm>
        </p:grpSpPr>
        <p:sp>
          <p:nvSpPr>
            <p:cNvPr id="9" name="Freeform 9" descr="preencoded.png"/>
            <p:cNvSpPr/>
            <p:nvPr/>
          </p:nvSpPr>
          <p:spPr>
            <a:xfrm>
              <a:off x="0" y="0"/>
              <a:ext cx="4399534" cy="2718985"/>
            </a:xfrm>
            <a:custGeom>
              <a:avLst/>
              <a:gdLst/>
              <a:ahLst/>
              <a:cxnLst/>
              <a:rect l="l" t="t" r="r" b="b"/>
              <a:pathLst>
                <a:path w="6599301" h="4078478">
                  <a:moveTo>
                    <a:pt x="0" y="0"/>
                  </a:moveTo>
                  <a:lnTo>
                    <a:pt x="6599301" y="0"/>
                  </a:lnTo>
                  <a:lnTo>
                    <a:pt x="6599301" y="4078478"/>
                  </a:lnTo>
                  <a:lnTo>
                    <a:pt x="0" y="4078478"/>
                  </a:lnTo>
                  <a:lnTo>
                    <a:pt x="0" y="0"/>
                  </a:lnTo>
                  <a:close/>
                </a:path>
              </a:pathLst>
            </a:custGeom>
            <a:blipFill>
              <a:blip r:embed="rId3"/>
              <a:stretch>
                <a:fillRect l="-58" r="-57"/>
              </a:stretch>
            </a:blipFill>
          </p:spPr>
          <p:txBody>
            <a:bodyPr/>
            <a:lstStyle/>
            <a:p>
              <a:endParaRPr lang="en-GB"/>
            </a:p>
          </p:txBody>
        </p:sp>
      </p:grpSp>
      <p:sp>
        <p:nvSpPr>
          <p:cNvPr id="10" name="TextBox 10"/>
          <p:cNvSpPr txBox="1"/>
          <p:nvPr/>
        </p:nvSpPr>
        <p:spPr>
          <a:xfrm>
            <a:off x="661491" y="4438547"/>
            <a:ext cx="2514846" cy="491288"/>
          </a:xfrm>
          <a:prstGeom prst="rect">
            <a:avLst/>
          </a:prstGeom>
        </p:spPr>
        <p:txBody>
          <a:bodyPr wrap="square" lIns="0" tIns="0" rIns="0" bIns="0" rtlCol="0" anchor="t">
            <a:spAutoFit/>
          </a:bodyPr>
          <a:lstStyle/>
          <a:p>
            <a:pPr algn="l">
              <a:lnSpc>
                <a:spcPts val="4416"/>
              </a:lnSpc>
            </a:pPr>
            <a:r>
              <a:rPr lang="en-US" sz="2333" b="1">
                <a:solidFill>
                  <a:srgbClr val="443728"/>
                </a:solidFill>
                <a:latin typeface="Crimson Pro Bold"/>
                <a:ea typeface="Crimson Pro Bold"/>
                <a:cs typeface="Crimson Pro Bold"/>
                <a:sym typeface="Crimson Pro Bold"/>
              </a:rPr>
              <a:t>Amphibians</a:t>
            </a:r>
          </a:p>
        </p:txBody>
      </p:sp>
      <p:sp>
        <p:nvSpPr>
          <p:cNvPr id="11" name="TextBox 11"/>
          <p:cNvSpPr txBox="1"/>
          <p:nvPr/>
        </p:nvSpPr>
        <p:spPr>
          <a:xfrm>
            <a:off x="256674" y="4955380"/>
            <a:ext cx="3878168" cy="1680525"/>
          </a:xfrm>
          <a:prstGeom prst="rect">
            <a:avLst/>
          </a:prstGeom>
        </p:spPr>
        <p:txBody>
          <a:bodyPr wrap="square" lIns="0" tIns="0" rIns="0" bIns="0" rtlCol="0" anchor="t">
            <a:spAutoFit/>
          </a:bodyPr>
          <a:lstStyle/>
          <a:p>
            <a:pPr algn="l">
              <a:lnSpc>
                <a:spcPts val="3374"/>
              </a:lnSpc>
            </a:pPr>
            <a:r>
              <a:rPr lang="en-US" sz="1374">
                <a:solidFill>
                  <a:srgbClr val="443728"/>
                </a:solidFill>
                <a:latin typeface="Open Sans"/>
                <a:ea typeface="Open Sans"/>
                <a:cs typeface="Open Sans"/>
                <a:sym typeface="Open Sans"/>
              </a:rPr>
              <a:t>Many frog species, especially in rainforests, exhibit cryptic diversity, with populations looking alike but having distinct calls and genetic signatures.</a:t>
            </a:r>
          </a:p>
        </p:txBody>
      </p:sp>
      <p:grpSp>
        <p:nvGrpSpPr>
          <p:cNvPr id="12" name="Group 12"/>
          <p:cNvGrpSpPr>
            <a:grpSpLocks noChangeAspect="1"/>
          </p:cNvGrpSpPr>
          <p:nvPr/>
        </p:nvGrpSpPr>
        <p:grpSpPr>
          <a:xfrm>
            <a:off x="4359274" y="2515164"/>
            <a:ext cx="3112155" cy="1923386"/>
            <a:chOff x="0" y="0"/>
            <a:chExt cx="4399492" cy="2718991"/>
          </a:xfrm>
        </p:grpSpPr>
        <p:sp>
          <p:nvSpPr>
            <p:cNvPr id="13" name="Freeform 13" descr="preencoded.png"/>
            <p:cNvSpPr/>
            <p:nvPr/>
          </p:nvSpPr>
          <p:spPr>
            <a:xfrm>
              <a:off x="0" y="0"/>
              <a:ext cx="4399534" cy="2718985"/>
            </a:xfrm>
            <a:custGeom>
              <a:avLst/>
              <a:gdLst/>
              <a:ahLst/>
              <a:cxnLst/>
              <a:rect l="l" t="t" r="r" b="b"/>
              <a:pathLst>
                <a:path w="6599301" h="4078478">
                  <a:moveTo>
                    <a:pt x="0" y="0"/>
                  </a:moveTo>
                  <a:lnTo>
                    <a:pt x="6599301" y="0"/>
                  </a:lnTo>
                  <a:lnTo>
                    <a:pt x="6599301" y="4078478"/>
                  </a:lnTo>
                  <a:lnTo>
                    <a:pt x="0" y="4078478"/>
                  </a:lnTo>
                  <a:lnTo>
                    <a:pt x="0" y="0"/>
                  </a:lnTo>
                  <a:close/>
                </a:path>
              </a:pathLst>
            </a:custGeom>
            <a:blipFill>
              <a:blip r:embed="rId4"/>
              <a:stretch>
                <a:fillRect l="-58" r="-57"/>
              </a:stretch>
            </a:blipFill>
          </p:spPr>
          <p:txBody>
            <a:bodyPr/>
            <a:lstStyle/>
            <a:p>
              <a:endParaRPr lang="en-GB"/>
            </a:p>
          </p:txBody>
        </p:sp>
      </p:grpSp>
      <p:sp>
        <p:nvSpPr>
          <p:cNvPr id="14" name="TextBox 14"/>
          <p:cNvSpPr txBox="1"/>
          <p:nvPr/>
        </p:nvSpPr>
        <p:spPr>
          <a:xfrm>
            <a:off x="4359274" y="4598987"/>
            <a:ext cx="3112185" cy="491288"/>
          </a:xfrm>
          <a:prstGeom prst="rect">
            <a:avLst/>
          </a:prstGeom>
        </p:spPr>
        <p:txBody>
          <a:bodyPr wrap="square" lIns="0" tIns="0" rIns="0" bIns="0" rtlCol="0" anchor="t">
            <a:spAutoFit/>
          </a:bodyPr>
          <a:lstStyle/>
          <a:p>
            <a:pPr algn="l">
              <a:lnSpc>
                <a:spcPts val="4416"/>
              </a:lnSpc>
            </a:pPr>
            <a:r>
              <a:rPr lang="en-US" sz="2333" b="1">
                <a:solidFill>
                  <a:srgbClr val="443728"/>
                </a:solidFill>
                <a:latin typeface="Crimson Pro Bold"/>
                <a:ea typeface="Crimson Pro Bold"/>
                <a:cs typeface="Crimson Pro Bold"/>
                <a:sym typeface="Crimson Pro Bold"/>
              </a:rPr>
              <a:t>Marine Species</a:t>
            </a:r>
          </a:p>
        </p:txBody>
      </p:sp>
      <p:sp>
        <p:nvSpPr>
          <p:cNvPr id="15" name="TextBox 15"/>
          <p:cNvSpPr txBox="1"/>
          <p:nvPr/>
        </p:nvSpPr>
        <p:spPr>
          <a:xfrm>
            <a:off x="3954456" y="4955380"/>
            <a:ext cx="3878168" cy="1244508"/>
          </a:xfrm>
          <a:prstGeom prst="rect">
            <a:avLst/>
          </a:prstGeom>
        </p:spPr>
        <p:txBody>
          <a:bodyPr wrap="square" lIns="0" tIns="0" rIns="0" bIns="0" rtlCol="0" anchor="t">
            <a:spAutoFit/>
          </a:bodyPr>
          <a:lstStyle/>
          <a:p>
            <a:pPr algn="l">
              <a:lnSpc>
                <a:spcPts val="3374"/>
              </a:lnSpc>
            </a:pPr>
            <a:r>
              <a:rPr lang="en-US" sz="1374">
                <a:solidFill>
                  <a:srgbClr val="443728"/>
                </a:solidFill>
                <a:latin typeface="Open Sans"/>
                <a:ea typeface="Open Sans"/>
                <a:cs typeface="Open Sans"/>
                <a:sym typeface="Open Sans"/>
              </a:rPr>
              <a:t>Coral reef ecosystems are hotbeds for cryptic marine invertebrates, making accurate species counts challenging.</a:t>
            </a:r>
          </a:p>
        </p:txBody>
      </p:sp>
      <p:grpSp>
        <p:nvGrpSpPr>
          <p:cNvPr id="16" name="Group 16"/>
          <p:cNvGrpSpPr>
            <a:grpSpLocks noChangeAspect="1"/>
          </p:cNvGrpSpPr>
          <p:nvPr/>
        </p:nvGrpSpPr>
        <p:grpSpPr>
          <a:xfrm>
            <a:off x="8057058" y="2502159"/>
            <a:ext cx="3133298" cy="1936489"/>
            <a:chOff x="0" y="0"/>
            <a:chExt cx="4399624" cy="2719123"/>
          </a:xfrm>
        </p:grpSpPr>
        <p:sp>
          <p:nvSpPr>
            <p:cNvPr id="17" name="Freeform 17" descr="preencoded.png"/>
            <p:cNvSpPr/>
            <p:nvPr/>
          </p:nvSpPr>
          <p:spPr>
            <a:xfrm>
              <a:off x="0" y="0"/>
              <a:ext cx="4399618" cy="2719154"/>
            </a:xfrm>
            <a:custGeom>
              <a:avLst/>
              <a:gdLst/>
              <a:ahLst/>
              <a:cxnLst/>
              <a:rect l="l" t="t" r="r" b="b"/>
              <a:pathLst>
                <a:path w="6599428" h="4078732">
                  <a:moveTo>
                    <a:pt x="0" y="0"/>
                  </a:moveTo>
                  <a:lnTo>
                    <a:pt x="6599428" y="0"/>
                  </a:lnTo>
                  <a:lnTo>
                    <a:pt x="6599428" y="4078732"/>
                  </a:lnTo>
                  <a:lnTo>
                    <a:pt x="0" y="4078732"/>
                  </a:lnTo>
                  <a:lnTo>
                    <a:pt x="0" y="0"/>
                  </a:lnTo>
                  <a:close/>
                </a:path>
              </a:pathLst>
            </a:custGeom>
            <a:blipFill>
              <a:blip r:embed="rId5"/>
              <a:stretch>
                <a:fillRect l="-58" r="-59" b="1"/>
              </a:stretch>
            </a:blipFill>
          </p:spPr>
          <p:txBody>
            <a:bodyPr/>
            <a:lstStyle/>
            <a:p>
              <a:endParaRPr lang="en-GB"/>
            </a:p>
          </p:txBody>
        </p:sp>
      </p:grpSp>
      <p:sp>
        <p:nvSpPr>
          <p:cNvPr id="18" name="TextBox 18"/>
          <p:cNvSpPr txBox="1"/>
          <p:nvPr/>
        </p:nvSpPr>
        <p:spPr>
          <a:xfrm>
            <a:off x="8057058" y="4599086"/>
            <a:ext cx="889882" cy="369005"/>
          </a:xfrm>
          <a:prstGeom prst="rect">
            <a:avLst/>
          </a:prstGeom>
        </p:spPr>
        <p:txBody>
          <a:bodyPr lIns="0" tIns="0" rIns="0" bIns="0" rtlCol="0" anchor="t">
            <a:spAutoFit/>
          </a:bodyPr>
          <a:lstStyle/>
          <a:p>
            <a:pPr algn="l">
              <a:lnSpc>
                <a:spcPts val="4416"/>
              </a:lnSpc>
            </a:pPr>
            <a:r>
              <a:rPr lang="en-US" sz="2333" b="1">
                <a:solidFill>
                  <a:srgbClr val="443728"/>
                </a:solidFill>
                <a:latin typeface="Crimson Pro Bold"/>
                <a:ea typeface="Crimson Pro Bold"/>
                <a:cs typeface="Crimson Pro Bold"/>
                <a:sym typeface="Crimson Pro Bold"/>
              </a:rPr>
              <a:t>Insects</a:t>
            </a:r>
          </a:p>
        </p:txBody>
      </p:sp>
      <p:sp>
        <p:nvSpPr>
          <p:cNvPr id="19" name="TextBox 19"/>
          <p:cNvSpPr txBox="1"/>
          <p:nvPr/>
        </p:nvSpPr>
        <p:spPr>
          <a:xfrm>
            <a:off x="8057057" y="4955480"/>
            <a:ext cx="3773676" cy="1244508"/>
          </a:xfrm>
          <a:prstGeom prst="rect">
            <a:avLst/>
          </a:prstGeom>
        </p:spPr>
        <p:txBody>
          <a:bodyPr wrap="square" lIns="0" tIns="0" rIns="0" bIns="0" rtlCol="0" anchor="t">
            <a:spAutoFit/>
          </a:bodyPr>
          <a:lstStyle/>
          <a:p>
            <a:pPr algn="l">
              <a:lnSpc>
                <a:spcPts val="3374"/>
              </a:lnSpc>
            </a:pPr>
            <a:r>
              <a:rPr lang="en-US" sz="1374">
                <a:solidFill>
                  <a:srgbClr val="443728"/>
                </a:solidFill>
                <a:latin typeface="Open Sans"/>
                <a:ea typeface="Open Sans"/>
                <a:cs typeface="Open Sans"/>
                <a:sym typeface="Open Sans"/>
              </a:rPr>
              <a:t>Insect groups like fruit flies (</a:t>
            </a:r>
            <a:r>
              <a:rPr lang="en-US" sz="1374" i="1">
                <a:solidFill>
                  <a:srgbClr val="443728"/>
                </a:solidFill>
                <a:latin typeface="Open Sans Italics"/>
                <a:ea typeface="Open Sans Italics"/>
                <a:cs typeface="Open Sans Italics"/>
                <a:sym typeface="Open Sans Italics"/>
              </a:rPr>
              <a:t>Drosophila</a:t>
            </a:r>
            <a:r>
              <a:rPr lang="en-US" sz="1374">
                <a:solidFill>
                  <a:srgbClr val="443728"/>
                </a:solidFill>
                <a:latin typeface="Open Sans"/>
                <a:ea typeface="Open Sans"/>
                <a:cs typeface="Open Sans"/>
                <a:sym typeface="Open Sans"/>
              </a:rPr>
              <a:t>) harbor numerous cryptic species, impacting ecological and evolutionary studies.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6256000" cy="9144000"/>
          </a:xfrm>
        </p:grpSpPr>
        <p:sp>
          <p:nvSpPr>
            <p:cNvPr id="3" name="Freeform 3"/>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7EDE9"/>
            </a:solidFill>
            <a:ln w="12700">
              <a:solidFill>
                <a:srgbClr val="000000"/>
              </a:solidFill>
            </a:ln>
          </p:spPr>
          <p:txBody>
            <a:bodyPr/>
            <a:lstStyle/>
            <a:p>
              <a:endParaRPr lang="en-GB"/>
            </a:p>
          </p:txBody>
        </p:sp>
      </p:grpSp>
      <p:grpSp>
        <p:nvGrpSpPr>
          <p:cNvPr id="4" name="Group 4"/>
          <p:cNvGrpSpPr/>
          <p:nvPr/>
        </p:nvGrpSpPr>
        <p:grpSpPr>
          <a:xfrm>
            <a:off x="0" y="0"/>
            <a:ext cx="12192000" cy="6858000"/>
            <a:chOff x="0" y="0"/>
            <a:chExt cx="16256000" cy="9144000"/>
          </a:xfrm>
        </p:grpSpPr>
        <p:sp>
          <p:nvSpPr>
            <p:cNvPr id="5" name="Freeform 5"/>
            <p:cNvSpPr/>
            <p:nvPr/>
          </p:nvSpPr>
          <p:spPr>
            <a:xfrm>
              <a:off x="0" y="0"/>
              <a:ext cx="16256000" cy="9144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A"/>
            </a:solidFill>
            <a:ln w="12700">
              <a:solidFill>
                <a:srgbClr val="000000"/>
              </a:solidFill>
            </a:ln>
          </p:spPr>
          <p:txBody>
            <a:bodyPr/>
            <a:lstStyle/>
            <a:p>
              <a:endParaRPr lang="en-GB"/>
            </a:p>
          </p:txBody>
        </p:sp>
      </p:grpSp>
      <p:sp>
        <p:nvSpPr>
          <p:cNvPr id="6" name="TextBox 6"/>
          <p:cNvSpPr txBox="1"/>
          <p:nvPr/>
        </p:nvSpPr>
        <p:spPr>
          <a:xfrm>
            <a:off x="661492" y="753269"/>
            <a:ext cx="8755224" cy="771878"/>
          </a:xfrm>
          <a:prstGeom prst="rect">
            <a:avLst/>
          </a:prstGeom>
        </p:spPr>
        <p:txBody>
          <a:bodyPr wrap="square" lIns="0" tIns="0" rIns="0" bIns="0" rtlCol="0" anchor="t">
            <a:spAutoFit/>
          </a:bodyPr>
          <a:lstStyle/>
          <a:p>
            <a:pPr algn="l">
              <a:lnSpc>
                <a:spcPts val="6937"/>
              </a:lnSpc>
            </a:pPr>
            <a:r>
              <a:rPr lang="en-US" sz="3708" b="1">
                <a:solidFill>
                  <a:srgbClr val="443728"/>
                </a:solidFill>
                <a:latin typeface="Crimson Pro Bold"/>
                <a:ea typeface="Crimson Pro Bold"/>
                <a:cs typeface="Crimson Pro Bold"/>
                <a:sym typeface="Crimson Pro Bold"/>
              </a:rPr>
              <a:t>Defining Species: A Moving Target</a:t>
            </a:r>
          </a:p>
        </p:txBody>
      </p:sp>
      <p:sp>
        <p:nvSpPr>
          <p:cNvPr id="7" name="TextBox 7"/>
          <p:cNvSpPr txBox="1"/>
          <p:nvPr/>
        </p:nvSpPr>
        <p:spPr>
          <a:xfrm>
            <a:off x="661492" y="1696541"/>
            <a:ext cx="10869017" cy="359569"/>
          </a:xfrm>
          <a:prstGeom prst="rect">
            <a:avLst/>
          </a:prstGeom>
        </p:spPr>
        <p:txBody>
          <a:bodyPr lIns="0" tIns="0" rIns="0" bIns="0" rtlCol="0" anchor="t">
            <a:spAutoFit/>
          </a:bodyPr>
          <a:lstStyle/>
          <a:p>
            <a:pPr algn="l">
              <a:lnSpc>
                <a:spcPts val="3562"/>
              </a:lnSpc>
            </a:pPr>
            <a:r>
              <a:rPr lang="en-US" sz="1458">
                <a:solidFill>
                  <a:srgbClr val="443728"/>
                </a:solidFill>
                <a:latin typeface="Open Sans"/>
                <a:ea typeface="Open Sans"/>
                <a:cs typeface="Open Sans"/>
                <a:sym typeface="Open Sans"/>
              </a:rPr>
              <a:t>The very concept of a "species" can be ambiguous, leading to challenges in classification and counting.</a:t>
            </a:r>
          </a:p>
        </p:txBody>
      </p:sp>
      <p:sp>
        <p:nvSpPr>
          <p:cNvPr id="8" name="TextBox 8"/>
          <p:cNvSpPr txBox="1"/>
          <p:nvPr/>
        </p:nvSpPr>
        <p:spPr>
          <a:xfrm>
            <a:off x="1453157" y="3342580"/>
            <a:ext cx="2362696" cy="314324"/>
          </a:xfrm>
          <a:prstGeom prst="rect">
            <a:avLst/>
          </a:prstGeom>
        </p:spPr>
        <p:txBody>
          <a:bodyPr lIns="0" tIns="0" rIns="0" bIns="0" rtlCol="0" anchor="t">
            <a:spAutoFit/>
          </a:bodyPr>
          <a:lstStyle/>
          <a:p>
            <a:pPr algn="r">
              <a:lnSpc>
                <a:spcPts val="3437"/>
              </a:lnSpc>
            </a:pPr>
            <a:r>
              <a:rPr lang="en-US" sz="1833" b="1">
                <a:solidFill>
                  <a:srgbClr val="443728"/>
                </a:solidFill>
                <a:latin typeface="Crimson Pro Bold"/>
                <a:ea typeface="Crimson Pro Bold"/>
                <a:cs typeface="Crimson Pro Bold"/>
                <a:sym typeface="Crimson Pro Bold"/>
              </a:rPr>
              <a:t>Species Concepts</a:t>
            </a:r>
          </a:p>
        </p:txBody>
      </p:sp>
      <p:sp>
        <p:nvSpPr>
          <p:cNvPr id="9" name="TextBox 9"/>
          <p:cNvSpPr txBox="1"/>
          <p:nvPr/>
        </p:nvSpPr>
        <p:spPr>
          <a:xfrm>
            <a:off x="661492" y="3713162"/>
            <a:ext cx="3154362" cy="1266824"/>
          </a:xfrm>
          <a:prstGeom prst="rect">
            <a:avLst/>
          </a:prstGeom>
        </p:spPr>
        <p:txBody>
          <a:bodyPr lIns="0" tIns="0" rIns="0" bIns="0" rtlCol="0" anchor="t">
            <a:spAutoFit/>
          </a:bodyPr>
          <a:lstStyle/>
          <a:p>
            <a:pPr algn="r">
              <a:lnSpc>
                <a:spcPts val="3562"/>
              </a:lnSpc>
            </a:pPr>
            <a:r>
              <a:rPr lang="en-US" sz="1458">
                <a:solidFill>
                  <a:srgbClr val="443728"/>
                </a:solidFill>
                <a:latin typeface="Open Sans"/>
                <a:ea typeface="Open Sans"/>
                <a:cs typeface="Open Sans"/>
                <a:sym typeface="Open Sans"/>
              </a:rPr>
              <a:t>Different definitions (e.g., biological, morphological, phylogenetic) can yield varying species counts for the same group.</a:t>
            </a:r>
          </a:p>
        </p:txBody>
      </p:sp>
      <p:grpSp>
        <p:nvGrpSpPr>
          <p:cNvPr id="10" name="Group 10"/>
          <p:cNvGrpSpPr>
            <a:grpSpLocks noChangeAspect="1"/>
          </p:cNvGrpSpPr>
          <p:nvPr/>
        </p:nvGrpSpPr>
        <p:grpSpPr>
          <a:xfrm>
            <a:off x="4193877" y="2268736"/>
            <a:ext cx="3804146" cy="3804146"/>
            <a:chOff x="0" y="0"/>
            <a:chExt cx="5072194" cy="5072194"/>
          </a:xfrm>
        </p:grpSpPr>
        <p:sp>
          <p:nvSpPr>
            <p:cNvPr id="11" name="Freeform 11" descr="preencoded.png"/>
            <p:cNvSpPr/>
            <p:nvPr/>
          </p:nvSpPr>
          <p:spPr>
            <a:xfrm>
              <a:off x="0" y="0"/>
              <a:ext cx="5072210" cy="5072210"/>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3"/>
              <a:stretch>
                <a:fillRect/>
              </a:stretch>
            </a:blipFill>
          </p:spPr>
          <p:txBody>
            <a:bodyPr/>
            <a:lstStyle/>
            <a:p>
              <a:endParaRPr lang="en-GB"/>
            </a:p>
          </p:txBody>
        </p:sp>
      </p:grpSp>
      <p:sp>
        <p:nvSpPr>
          <p:cNvPr id="12" name="Freeform 12" descr="preencoded.png"/>
          <p:cNvSpPr/>
          <p:nvPr/>
        </p:nvSpPr>
        <p:spPr>
          <a:xfrm>
            <a:off x="4642842" y="3800376"/>
            <a:ext cx="282773" cy="282773"/>
          </a:xfrm>
          <a:custGeom>
            <a:avLst/>
            <a:gdLst/>
            <a:ahLst/>
            <a:cxnLst/>
            <a:rect l="l" t="t" r="r" b="b"/>
            <a:pathLst>
              <a:path w="424160" h="424160">
                <a:moveTo>
                  <a:pt x="0" y="0"/>
                </a:moveTo>
                <a:lnTo>
                  <a:pt x="424160" y="0"/>
                </a:lnTo>
                <a:lnTo>
                  <a:pt x="424160" y="424160"/>
                </a:lnTo>
                <a:lnTo>
                  <a:pt x="0" y="424160"/>
                </a:lnTo>
                <a:lnTo>
                  <a:pt x="0" y="0"/>
                </a:lnTo>
                <a:close/>
              </a:path>
            </a:pathLst>
          </a:custGeom>
          <a:blipFill>
            <a:blip r:embed="rId4">
              <a:extLst>
                <a:ext uri="{96DAC541-7B7A-43D3-8B79-37D633B846F1}">
                  <asvg:svgBlip xmlns:asvg="http://schemas.microsoft.com/office/drawing/2016/SVG/main" r:embed="rId5"/>
                </a:ext>
              </a:extLst>
            </a:blip>
            <a:stretch>
              <a:fillRect t="-1111" b="-1111"/>
            </a:stretch>
          </a:blipFill>
        </p:spPr>
        <p:txBody>
          <a:bodyPr/>
          <a:lstStyle/>
          <a:p>
            <a:endParaRPr lang="en-GB"/>
          </a:p>
        </p:txBody>
      </p:sp>
      <p:sp>
        <p:nvSpPr>
          <p:cNvPr id="13" name="TextBox 13"/>
          <p:cNvSpPr txBox="1"/>
          <p:nvPr/>
        </p:nvSpPr>
        <p:spPr>
          <a:xfrm>
            <a:off x="8281491" y="2396231"/>
            <a:ext cx="2362696" cy="314324"/>
          </a:xfrm>
          <a:prstGeom prst="rect">
            <a:avLst/>
          </a:prstGeom>
        </p:spPr>
        <p:txBody>
          <a:bodyPr lIns="0" tIns="0" rIns="0" bIns="0" rtlCol="0" anchor="t">
            <a:spAutoFit/>
          </a:bodyPr>
          <a:lstStyle/>
          <a:p>
            <a:pPr algn="l">
              <a:lnSpc>
                <a:spcPts val="3437"/>
              </a:lnSpc>
            </a:pPr>
            <a:r>
              <a:rPr lang="en-US" sz="1833" b="1">
                <a:solidFill>
                  <a:srgbClr val="443728"/>
                </a:solidFill>
                <a:latin typeface="Crimson Pro Bold"/>
                <a:ea typeface="Crimson Pro Bold"/>
                <a:cs typeface="Crimson Pro Bold"/>
                <a:sym typeface="Crimson Pro Bold"/>
              </a:rPr>
              <a:t>Evolutionary Fluidity</a:t>
            </a:r>
          </a:p>
        </p:txBody>
      </p:sp>
      <p:sp>
        <p:nvSpPr>
          <p:cNvPr id="14" name="TextBox 14"/>
          <p:cNvSpPr txBox="1"/>
          <p:nvPr/>
        </p:nvSpPr>
        <p:spPr>
          <a:xfrm>
            <a:off x="8281491" y="2766814"/>
            <a:ext cx="3249017" cy="1266824"/>
          </a:xfrm>
          <a:prstGeom prst="rect">
            <a:avLst/>
          </a:prstGeom>
        </p:spPr>
        <p:txBody>
          <a:bodyPr lIns="0" tIns="0" rIns="0" bIns="0" rtlCol="0" anchor="t">
            <a:spAutoFit/>
          </a:bodyPr>
          <a:lstStyle/>
          <a:p>
            <a:pPr algn="l">
              <a:lnSpc>
                <a:spcPts val="3562"/>
              </a:lnSpc>
            </a:pPr>
            <a:r>
              <a:rPr lang="en-US" sz="1458">
                <a:solidFill>
                  <a:srgbClr val="443728"/>
                </a:solidFill>
                <a:latin typeface="Open Sans"/>
                <a:ea typeface="Open Sans"/>
                <a:cs typeface="Open Sans"/>
                <a:sym typeface="Open Sans"/>
              </a:rPr>
              <a:t>Species are not static entities; ongoing evolution means boundaries can be fuzzy and constantly shifting.</a:t>
            </a:r>
          </a:p>
        </p:txBody>
      </p:sp>
      <p:grpSp>
        <p:nvGrpSpPr>
          <p:cNvPr id="15" name="Group 15"/>
          <p:cNvGrpSpPr>
            <a:grpSpLocks noChangeAspect="1"/>
          </p:cNvGrpSpPr>
          <p:nvPr/>
        </p:nvGrpSpPr>
        <p:grpSpPr>
          <a:xfrm>
            <a:off x="4193877" y="2268736"/>
            <a:ext cx="3804146" cy="3804146"/>
            <a:chOff x="0" y="0"/>
            <a:chExt cx="5072194" cy="5072194"/>
          </a:xfrm>
        </p:grpSpPr>
        <p:sp>
          <p:nvSpPr>
            <p:cNvPr id="16" name="Freeform 16" descr="preencoded.png"/>
            <p:cNvSpPr/>
            <p:nvPr/>
          </p:nvSpPr>
          <p:spPr>
            <a:xfrm>
              <a:off x="0" y="0"/>
              <a:ext cx="5072210" cy="5072210"/>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6"/>
              <a:stretch>
                <a:fillRect/>
              </a:stretch>
            </a:blipFill>
          </p:spPr>
          <p:txBody>
            <a:bodyPr/>
            <a:lstStyle/>
            <a:p>
              <a:endParaRPr lang="en-GB"/>
            </a:p>
          </p:txBody>
        </p:sp>
      </p:grpSp>
      <p:sp>
        <p:nvSpPr>
          <p:cNvPr id="17" name="Freeform 17" descr="preencoded.png"/>
          <p:cNvSpPr/>
          <p:nvPr/>
        </p:nvSpPr>
        <p:spPr>
          <a:xfrm>
            <a:off x="6808589" y="3007816"/>
            <a:ext cx="282773" cy="282773"/>
          </a:xfrm>
          <a:custGeom>
            <a:avLst/>
            <a:gdLst/>
            <a:ahLst/>
            <a:cxnLst/>
            <a:rect l="l" t="t" r="r" b="b"/>
            <a:pathLst>
              <a:path w="424160" h="424160">
                <a:moveTo>
                  <a:pt x="0" y="0"/>
                </a:moveTo>
                <a:lnTo>
                  <a:pt x="424160" y="0"/>
                </a:lnTo>
                <a:lnTo>
                  <a:pt x="424160" y="424160"/>
                </a:lnTo>
                <a:lnTo>
                  <a:pt x="0" y="4241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8" name="TextBox 18"/>
          <p:cNvSpPr txBox="1"/>
          <p:nvPr/>
        </p:nvSpPr>
        <p:spPr>
          <a:xfrm>
            <a:off x="8281491" y="4591248"/>
            <a:ext cx="2362696" cy="314324"/>
          </a:xfrm>
          <a:prstGeom prst="rect">
            <a:avLst/>
          </a:prstGeom>
        </p:spPr>
        <p:txBody>
          <a:bodyPr lIns="0" tIns="0" rIns="0" bIns="0" rtlCol="0" anchor="t">
            <a:spAutoFit/>
          </a:bodyPr>
          <a:lstStyle/>
          <a:p>
            <a:pPr algn="l">
              <a:lnSpc>
                <a:spcPts val="3437"/>
              </a:lnSpc>
            </a:pPr>
            <a:r>
              <a:rPr lang="en-US" sz="1833" b="1">
                <a:solidFill>
                  <a:srgbClr val="443728"/>
                </a:solidFill>
                <a:latin typeface="Crimson Pro Bold"/>
                <a:ea typeface="Crimson Pro Bold"/>
                <a:cs typeface="Crimson Pro Bold"/>
                <a:sym typeface="Crimson Pro Bold"/>
              </a:rPr>
              <a:t>Hybridization</a:t>
            </a:r>
          </a:p>
        </p:txBody>
      </p:sp>
      <p:sp>
        <p:nvSpPr>
          <p:cNvPr id="19" name="TextBox 19"/>
          <p:cNvSpPr txBox="1"/>
          <p:nvPr/>
        </p:nvSpPr>
        <p:spPr>
          <a:xfrm>
            <a:off x="8281491" y="4961830"/>
            <a:ext cx="3249017" cy="964406"/>
          </a:xfrm>
          <a:prstGeom prst="rect">
            <a:avLst/>
          </a:prstGeom>
        </p:spPr>
        <p:txBody>
          <a:bodyPr lIns="0" tIns="0" rIns="0" bIns="0" rtlCol="0" anchor="t">
            <a:spAutoFit/>
          </a:bodyPr>
          <a:lstStyle/>
          <a:p>
            <a:pPr algn="l">
              <a:lnSpc>
                <a:spcPts val="3562"/>
              </a:lnSpc>
            </a:pPr>
            <a:r>
              <a:rPr lang="en-US" sz="1458">
                <a:solidFill>
                  <a:srgbClr val="443728"/>
                </a:solidFill>
                <a:latin typeface="Open Sans"/>
                <a:ea typeface="Open Sans"/>
                <a:cs typeface="Open Sans"/>
                <a:sym typeface="Open Sans"/>
              </a:rPr>
              <a:t>Interbreeding between closely related species further blurs lines, complicating discrete categorization.</a:t>
            </a:r>
          </a:p>
        </p:txBody>
      </p:sp>
      <p:grpSp>
        <p:nvGrpSpPr>
          <p:cNvPr id="20" name="Group 20"/>
          <p:cNvGrpSpPr>
            <a:grpSpLocks noChangeAspect="1"/>
          </p:cNvGrpSpPr>
          <p:nvPr/>
        </p:nvGrpSpPr>
        <p:grpSpPr>
          <a:xfrm>
            <a:off x="4193877" y="2268736"/>
            <a:ext cx="3804146" cy="3804146"/>
            <a:chOff x="0" y="0"/>
            <a:chExt cx="5072194" cy="5072194"/>
          </a:xfrm>
        </p:grpSpPr>
        <p:sp>
          <p:nvSpPr>
            <p:cNvPr id="21" name="Freeform 21" descr="preencoded.png"/>
            <p:cNvSpPr/>
            <p:nvPr/>
          </p:nvSpPr>
          <p:spPr>
            <a:xfrm>
              <a:off x="0" y="0"/>
              <a:ext cx="5072210" cy="5072210"/>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9"/>
              <a:stretch>
                <a:fillRect/>
              </a:stretch>
            </a:blipFill>
          </p:spPr>
          <p:txBody>
            <a:bodyPr/>
            <a:lstStyle/>
            <a:p>
              <a:endParaRPr lang="en-GB"/>
            </a:p>
          </p:txBody>
        </p:sp>
      </p:grpSp>
      <p:sp>
        <p:nvSpPr>
          <p:cNvPr id="22" name="Freeform 22" descr="preencoded.png"/>
          <p:cNvSpPr/>
          <p:nvPr/>
        </p:nvSpPr>
        <p:spPr>
          <a:xfrm>
            <a:off x="6412110" y="5279628"/>
            <a:ext cx="282773" cy="282773"/>
          </a:xfrm>
          <a:custGeom>
            <a:avLst/>
            <a:gdLst/>
            <a:ahLst/>
            <a:cxnLst/>
            <a:rect l="l" t="t" r="r" b="b"/>
            <a:pathLst>
              <a:path w="424160" h="424160">
                <a:moveTo>
                  <a:pt x="0" y="0"/>
                </a:moveTo>
                <a:lnTo>
                  <a:pt x="424160" y="0"/>
                </a:lnTo>
                <a:lnTo>
                  <a:pt x="424160" y="424160"/>
                </a:lnTo>
                <a:lnTo>
                  <a:pt x="0" y="424160"/>
                </a:lnTo>
                <a:lnTo>
                  <a:pt x="0" y="0"/>
                </a:lnTo>
                <a:close/>
              </a:path>
            </a:pathLst>
          </a:custGeom>
          <a:blipFill>
            <a:blip r:embed="rId10">
              <a:extLst>
                <a:ext uri="{96DAC541-7B7A-43D3-8B79-37D633B846F1}">
                  <asvg:svgBlip xmlns:asvg="http://schemas.microsoft.com/office/drawing/2016/SVG/main" r:embed="rId11"/>
                </a:ext>
              </a:extLst>
            </a:blip>
            <a:stretch>
              <a:fillRect t="-17777" b="-17777"/>
            </a:stretch>
          </a:blipFill>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7A9B6F-5D3E-C01F-B805-2269F080B762}"/>
              </a:ext>
            </a:extLst>
          </p:cNvPr>
          <p:cNvSpPr>
            <a:spLocks noGrp="1"/>
          </p:cNvSpPr>
          <p:nvPr>
            <p:ph type="title"/>
          </p:nvPr>
        </p:nvSpPr>
        <p:spPr/>
        <p:txBody>
          <a:bodyPr>
            <a:normAutofit/>
          </a:bodyPr>
          <a:lstStyle/>
          <a:p>
            <a:r>
              <a:rPr lang="en-US" altLang="ko-KR" sz="3200" b="1"/>
              <a:t>How Many Species on Earth?</a:t>
            </a:r>
            <a:br>
              <a:rPr lang="en-US" altLang="ko-KR" sz="3200" b="1"/>
            </a:br>
            <a:br>
              <a:rPr lang="en-US" altLang="ko-KR" sz="2800"/>
            </a:br>
            <a:r>
              <a:rPr lang="en-US" altLang="ko-KR" sz="2100" b="1"/>
              <a:t>-Methods: </a:t>
            </a:r>
            <a:r>
              <a:rPr lang="en-US" altLang="ko-KR" sz="2100"/>
              <a:t>The Taxonomic Pattern</a:t>
            </a:r>
            <a:endParaRPr lang="ko-KR" altLang="en-US" sz="2100" b="1"/>
          </a:p>
        </p:txBody>
      </p:sp>
      <p:pic>
        <p:nvPicPr>
          <p:cNvPr id="1026" name="Picture 2" descr="taxonomic rank pyramid biology 이미지">
            <a:extLst>
              <a:ext uri="{FF2B5EF4-FFF2-40B4-BE49-F238E27FC236}">
                <a16:creationId xmlns:a16="http://schemas.microsoft.com/office/drawing/2014/main" id="{684A0C1F-91DD-69DB-D2CD-2F7C438557C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70" y="1924679"/>
            <a:ext cx="4568821" cy="3230328"/>
          </a:xfrm>
          <a:prstGeom prst="rect">
            <a:avLst/>
          </a:prstGeom>
          <a:noFill/>
          <a:extLst>
            <a:ext uri="{909E8E84-426E-40DD-AFC4-6F175D3DCCD1}">
              <a14:hiddenFill xmlns:a14="http://schemas.microsoft.com/office/drawing/2010/main">
                <a:solidFill>
                  <a:srgbClr val="FFFFFF"/>
                </a:solidFill>
              </a14:hiddenFill>
            </a:ext>
          </a:extLst>
        </p:spPr>
      </p:pic>
      <p:sp>
        <p:nvSpPr>
          <p:cNvPr id="4" name="오른쪽 중괄호 3">
            <a:extLst>
              <a:ext uri="{FF2B5EF4-FFF2-40B4-BE49-F238E27FC236}">
                <a16:creationId xmlns:a16="http://schemas.microsoft.com/office/drawing/2014/main" id="{E8B930D1-D488-1339-4FE5-3887D3181FF7}"/>
              </a:ext>
            </a:extLst>
          </p:cNvPr>
          <p:cNvSpPr/>
          <p:nvPr/>
        </p:nvSpPr>
        <p:spPr>
          <a:xfrm>
            <a:off x="4297509" y="3977737"/>
            <a:ext cx="403362" cy="762032"/>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0D24A927-9ACF-782B-8E3E-1BCDFD7A4BC9}"/>
              </a:ext>
            </a:extLst>
          </p:cNvPr>
          <p:cNvSpPr txBox="1"/>
          <p:nvPr/>
        </p:nvSpPr>
        <p:spPr>
          <a:xfrm>
            <a:off x="4700871" y="4127920"/>
            <a:ext cx="2472201" cy="461665"/>
          </a:xfrm>
          <a:prstGeom prst="rect">
            <a:avLst/>
          </a:prstGeom>
          <a:noFill/>
        </p:spPr>
        <p:txBody>
          <a:bodyPr wrap="square" rtlCol="0">
            <a:spAutoFit/>
          </a:bodyPr>
          <a:lstStyle/>
          <a:p>
            <a:r>
              <a:rPr lang="en-US" altLang="ko-KR" sz="1200" b="1"/>
              <a:t>Known Patterns </a:t>
            </a:r>
          </a:p>
          <a:p>
            <a:r>
              <a:rPr lang="en-US" altLang="ko-KR" sz="1200"/>
              <a:t>(Discovery Complete)</a:t>
            </a:r>
            <a:endParaRPr lang="ko-KR" altLang="en-US" sz="1200"/>
          </a:p>
        </p:txBody>
      </p:sp>
      <p:sp>
        <p:nvSpPr>
          <p:cNvPr id="6" name="오른쪽 중괄호 5">
            <a:extLst>
              <a:ext uri="{FF2B5EF4-FFF2-40B4-BE49-F238E27FC236}">
                <a16:creationId xmlns:a16="http://schemas.microsoft.com/office/drawing/2014/main" id="{4C9B84A2-2221-A25A-D0B6-FB6C97754349}"/>
              </a:ext>
            </a:extLst>
          </p:cNvPr>
          <p:cNvSpPr/>
          <p:nvPr/>
        </p:nvSpPr>
        <p:spPr>
          <a:xfrm>
            <a:off x="4311489" y="2874371"/>
            <a:ext cx="235963" cy="26807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90CA7020-1F9D-43F5-8FEE-99AE203E4C2E}"/>
              </a:ext>
            </a:extLst>
          </p:cNvPr>
          <p:cNvSpPr txBox="1"/>
          <p:nvPr/>
        </p:nvSpPr>
        <p:spPr>
          <a:xfrm>
            <a:off x="4621478" y="2763055"/>
            <a:ext cx="2205079" cy="461665"/>
          </a:xfrm>
          <a:prstGeom prst="rect">
            <a:avLst/>
          </a:prstGeom>
          <a:noFill/>
        </p:spPr>
        <p:txBody>
          <a:bodyPr wrap="square" rtlCol="0">
            <a:spAutoFit/>
          </a:bodyPr>
          <a:lstStyle/>
          <a:p>
            <a:r>
              <a:rPr lang="en-US" altLang="ko-KR" sz="1200"/>
              <a:t>Unknown</a:t>
            </a:r>
          </a:p>
          <a:p>
            <a:r>
              <a:rPr lang="en-US" altLang="ko-KR" sz="1200"/>
              <a:t>(To be predicted)</a:t>
            </a:r>
            <a:endParaRPr lang="ko-KR" altLang="en-US" sz="1200"/>
          </a:p>
        </p:txBody>
      </p:sp>
      <p:pic>
        <p:nvPicPr>
          <p:cNvPr id="14" name="그림 13">
            <a:extLst>
              <a:ext uri="{FF2B5EF4-FFF2-40B4-BE49-F238E27FC236}">
                <a16:creationId xmlns:a16="http://schemas.microsoft.com/office/drawing/2014/main" id="{B2A0910E-5E8A-8D85-C709-1BF45EC11AF0}"/>
              </a:ext>
            </a:extLst>
          </p:cNvPr>
          <p:cNvPicPr>
            <a:picLocks noChangeAspect="1"/>
          </p:cNvPicPr>
          <p:nvPr/>
        </p:nvPicPr>
        <p:blipFill>
          <a:blip r:embed="rId3"/>
          <a:srcRect l="908"/>
          <a:stretch>
            <a:fillRect/>
          </a:stretch>
        </p:blipFill>
        <p:spPr>
          <a:xfrm>
            <a:off x="8181043" y="2270658"/>
            <a:ext cx="3519217" cy="3364387"/>
          </a:xfrm>
          <a:prstGeom prst="rect">
            <a:avLst/>
          </a:prstGeom>
        </p:spPr>
      </p:pic>
      <p:cxnSp>
        <p:nvCxnSpPr>
          <p:cNvPr id="16" name="직선 연결선 15">
            <a:extLst>
              <a:ext uri="{FF2B5EF4-FFF2-40B4-BE49-F238E27FC236}">
                <a16:creationId xmlns:a16="http://schemas.microsoft.com/office/drawing/2014/main" id="{2E37F23C-8C54-353C-DD45-F77410148DAC}"/>
              </a:ext>
            </a:extLst>
          </p:cNvPr>
          <p:cNvCxnSpPr/>
          <p:nvPr/>
        </p:nvCxnSpPr>
        <p:spPr>
          <a:xfrm>
            <a:off x="7953439" y="1982218"/>
            <a:ext cx="0" cy="4436988"/>
          </a:xfrm>
          <a:prstGeom prst="line">
            <a:avLst/>
          </a:prstGeom>
        </p:spPr>
        <p:style>
          <a:lnRef idx="2">
            <a:schemeClr val="dk1"/>
          </a:lnRef>
          <a:fillRef idx="0">
            <a:schemeClr val="dk1"/>
          </a:fillRef>
          <a:effectRef idx="1">
            <a:schemeClr val="dk1"/>
          </a:effectRef>
          <a:fontRef idx="minor">
            <a:schemeClr val="tx1"/>
          </a:fontRef>
        </p:style>
      </p:cxnSp>
      <p:cxnSp>
        <p:nvCxnSpPr>
          <p:cNvPr id="18" name="연결선: 꺾임 17">
            <a:extLst>
              <a:ext uri="{FF2B5EF4-FFF2-40B4-BE49-F238E27FC236}">
                <a16:creationId xmlns:a16="http://schemas.microsoft.com/office/drawing/2014/main" id="{28016650-56CC-0B93-09DD-BB6C3A8790AD}"/>
              </a:ext>
            </a:extLst>
          </p:cNvPr>
          <p:cNvCxnSpPr/>
          <p:nvPr/>
        </p:nvCxnSpPr>
        <p:spPr>
          <a:xfrm>
            <a:off x="6511264" y="4394030"/>
            <a:ext cx="1159877" cy="981906"/>
          </a:xfrm>
          <a:prstGeom prst="bentConnector3">
            <a:avLst>
              <a:gd name="adj1" fmla="val 49471"/>
            </a:avLst>
          </a:prstGeom>
          <a:ln w="38100">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D428F40B-2CFC-47E7-F038-A35831DE58E3}"/>
              </a:ext>
            </a:extLst>
          </p:cNvPr>
          <p:cNvSpPr txBox="1"/>
          <p:nvPr/>
        </p:nvSpPr>
        <p:spPr>
          <a:xfrm>
            <a:off x="7073062" y="4724120"/>
            <a:ext cx="994180" cy="430887"/>
          </a:xfrm>
          <a:prstGeom prst="rect">
            <a:avLst/>
          </a:prstGeom>
          <a:noFill/>
        </p:spPr>
        <p:txBody>
          <a:bodyPr wrap="square" rtlCol="0">
            <a:spAutoFit/>
          </a:bodyPr>
          <a:lstStyle/>
          <a:p>
            <a:r>
              <a:rPr lang="en-US" altLang="ko-KR" sz="1100" b="1"/>
              <a:t>Used for Prediction</a:t>
            </a:r>
            <a:endParaRPr lang="ko-KR" altLang="en-US" sz="1100" b="1"/>
          </a:p>
        </p:txBody>
      </p:sp>
      <p:sp>
        <p:nvSpPr>
          <p:cNvPr id="21" name="직사각형 20">
            <a:extLst>
              <a:ext uri="{FF2B5EF4-FFF2-40B4-BE49-F238E27FC236}">
                <a16:creationId xmlns:a16="http://schemas.microsoft.com/office/drawing/2014/main" id="{475CDA13-BE79-7581-CCC5-6579C69CE67B}"/>
              </a:ext>
            </a:extLst>
          </p:cNvPr>
          <p:cNvSpPr/>
          <p:nvPr/>
        </p:nvSpPr>
        <p:spPr>
          <a:xfrm>
            <a:off x="8757374" y="2763055"/>
            <a:ext cx="638239" cy="18880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TextBox 21">
            <a:extLst>
              <a:ext uri="{FF2B5EF4-FFF2-40B4-BE49-F238E27FC236}">
                <a16:creationId xmlns:a16="http://schemas.microsoft.com/office/drawing/2014/main" id="{E1B80408-8897-75A1-5EBE-0698A8C44B5F}"/>
              </a:ext>
            </a:extLst>
          </p:cNvPr>
          <p:cNvSpPr txBox="1"/>
          <p:nvPr/>
        </p:nvSpPr>
        <p:spPr>
          <a:xfrm>
            <a:off x="8920381" y="2945354"/>
            <a:ext cx="1184424" cy="230832"/>
          </a:xfrm>
          <a:prstGeom prst="rect">
            <a:avLst/>
          </a:prstGeom>
          <a:noFill/>
        </p:spPr>
        <p:txBody>
          <a:bodyPr wrap="square" rtlCol="0">
            <a:spAutoFit/>
          </a:bodyPr>
          <a:lstStyle/>
          <a:p>
            <a:r>
              <a:rPr lang="en-US" altLang="ko-KR" sz="900">
                <a:solidFill>
                  <a:srgbClr val="C00000"/>
                </a:solidFill>
              </a:rPr>
              <a:t>High Accuracy</a:t>
            </a:r>
            <a:endParaRPr lang="ko-KR" altLang="en-US" sz="900">
              <a:solidFill>
                <a:srgbClr val="C00000"/>
              </a:solidFill>
            </a:endParaRPr>
          </a:p>
        </p:txBody>
      </p:sp>
    </p:spTree>
    <p:extLst>
      <p:ext uri="{BB962C8B-B14F-4D97-AF65-F5344CB8AC3E}">
        <p14:creationId xmlns:p14="http://schemas.microsoft.com/office/powerpoint/2010/main" val="3603532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18A88FCD-625C-1CF6-4D66-9AC14BF091C4}"/>
              </a:ext>
            </a:extLst>
          </p:cNvPr>
          <p:cNvSpPr>
            <a:spLocks noGrp="1"/>
          </p:cNvSpPr>
          <p:nvPr>
            <p:ph type="title"/>
          </p:nvPr>
        </p:nvSpPr>
        <p:spPr>
          <a:xfrm>
            <a:off x="838200" y="365125"/>
            <a:ext cx="10515600" cy="1325563"/>
          </a:xfrm>
        </p:spPr>
        <p:txBody>
          <a:bodyPr>
            <a:normAutofit/>
          </a:bodyPr>
          <a:lstStyle/>
          <a:p>
            <a:r>
              <a:rPr lang="en-US" altLang="ko-KR" sz="3200" b="1"/>
              <a:t>How Many Species on Earth?</a:t>
            </a:r>
            <a:br>
              <a:rPr lang="en-US" altLang="ko-KR" sz="3200" b="1"/>
            </a:br>
            <a:br>
              <a:rPr lang="en-US" altLang="ko-KR" sz="2800"/>
            </a:br>
            <a:r>
              <a:rPr lang="en-US" altLang="ko-KR" sz="2100" b="1"/>
              <a:t>-Results</a:t>
            </a:r>
            <a:endParaRPr lang="ko-KR" altLang="en-US" sz="2100" b="1"/>
          </a:p>
        </p:txBody>
      </p:sp>
      <p:pic>
        <p:nvPicPr>
          <p:cNvPr id="8" name="그림 7">
            <a:extLst>
              <a:ext uri="{FF2B5EF4-FFF2-40B4-BE49-F238E27FC236}">
                <a16:creationId xmlns:a16="http://schemas.microsoft.com/office/drawing/2014/main" id="{98321EE1-4A1F-BF82-C397-0E739C8A5D86}"/>
              </a:ext>
            </a:extLst>
          </p:cNvPr>
          <p:cNvPicPr>
            <a:picLocks noChangeAspect="1"/>
          </p:cNvPicPr>
          <p:nvPr/>
        </p:nvPicPr>
        <p:blipFill>
          <a:blip r:embed="rId2"/>
          <a:stretch>
            <a:fillRect/>
          </a:stretch>
        </p:blipFill>
        <p:spPr>
          <a:xfrm>
            <a:off x="444727" y="2173637"/>
            <a:ext cx="2589146" cy="3089661"/>
          </a:xfrm>
          <a:prstGeom prst="rect">
            <a:avLst/>
          </a:prstGeom>
        </p:spPr>
      </p:pic>
      <p:sp>
        <p:nvSpPr>
          <p:cNvPr id="10" name="오른쪽 중괄호 9">
            <a:extLst>
              <a:ext uri="{FF2B5EF4-FFF2-40B4-BE49-F238E27FC236}">
                <a16:creationId xmlns:a16="http://schemas.microsoft.com/office/drawing/2014/main" id="{9010E1B7-7D7C-BF26-FA7F-46D2AF2BE9C1}"/>
              </a:ext>
            </a:extLst>
          </p:cNvPr>
          <p:cNvSpPr/>
          <p:nvPr/>
        </p:nvSpPr>
        <p:spPr>
          <a:xfrm>
            <a:off x="3242979" y="2761276"/>
            <a:ext cx="163374" cy="586742"/>
          </a:xfrm>
          <a:prstGeom prst="righ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1" name="오른쪽 중괄호 10">
            <a:extLst>
              <a:ext uri="{FF2B5EF4-FFF2-40B4-BE49-F238E27FC236}">
                <a16:creationId xmlns:a16="http://schemas.microsoft.com/office/drawing/2014/main" id="{7E1772FD-6A9E-7575-3290-A5D4CC95B2E2}"/>
              </a:ext>
            </a:extLst>
          </p:cNvPr>
          <p:cNvSpPr/>
          <p:nvPr/>
        </p:nvSpPr>
        <p:spPr>
          <a:xfrm>
            <a:off x="3236680" y="3428392"/>
            <a:ext cx="163374" cy="1513548"/>
          </a:xfrm>
          <a:prstGeom prst="righ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F8AB78F3-9E37-E789-2CC1-9F04B1C0AD74}"/>
              </a:ext>
            </a:extLst>
          </p:cNvPr>
          <p:cNvSpPr txBox="1"/>
          <p:nvPr/>
        </p:nvSpPr>
        <p:spPr>
          <a:xfrm>
            <a:off x="3510808" y="2710141"/>
            <a:ext cx="948829" cy="692497"/>
          </a:xfrm>
          <a:prstGeom prst="rect">
            <a:avLst/>
          </a:prstGeom>
          <a:noFill/>
        </p:spPr>
        <p:txBody>
          <a:bodyPr wrap="square" rtlCol="0">
            <a:spAutoFit/>
          </a:bodyPr>
          <a:lstStyle/>
          <a:p>
            <a:r>
              <a:rPr lang="en-US" altLang="ko-KR" sz="1500" b="1">
                <a:latin typeface="Source Sans Pro" panose="020B0503030403020204" pitchFamily="34" charset="0"/>
                <a:ea typeface="Source Sans Pro" panose="020B0503030403020204" pitchFamily="34" charset="0"/>
              </a:rPr>
              <a:t>~1.2M </a:t>
            </a:r>
            <a:r>
              <a:rPr lang="en-US" altLang="ko-KR" sz="1200">
                <a:latin typeface="Source Sans Pro" panose="020B0503030403020204" pitchFamily="34" charset="0"/>
                <a:ea typeface="Source Sans Pro" panose="020B0503030403020204" pitchFamily="34" charset="0"/>
              </a:rPr>
              <a:t>Described (14%)</a:t>
            </a:r>
            <a:endParaRPr lang="ko-KR" altLang="en-US" sz="1200">
              <a:latin typeface="Source Sans Pro" panose="020B0503030403020204" pitchFamily="34" charset="0"/>
            </a:endParaRPr>
          </a:p>
        </p:txBody>
      </p:sp>
      <p:sp>
        <p:nvSpPr>
          <p:cNvPr id="14" name="TextBox 13">
            <a:extLst>
              <a:ext uri="{FF2B5EF4-FFF2-40B4-BE49-F238E27FC236}">
                <a16:creationId xmlns:a16="http://schemas.microsoft.com/office/drawing/2014/main" id="{B075BE8F-BF15-0B2C-48AD-4F262C25E899}"/>
              </a:ext>
            </a:extLst>
          </p:cNvPr>
          <p:cNvSpPr txBox="1"/>
          <p:nvPr/>
        </p:nvSpPr>
        <p:spPr>
          <a:xfrm>
            <a:off x="3503162" y="3852934"/>
            <a:ext cx="1087249" cy="692497"/>
          </a:xfrm>
          <a:prstGeom prst="rect">
            <a:avLst/>
          </a:prstGeom>
          <a:noFill/>
        </p:spPr>
        <p:txBody>
          <a:bodyPr wrap="square" rtlCol="0">
            <a:spAutoFit/>
          </a:bodyPr>
          <a:lstStyle/>
          <a:p>
            <a:r>
              <a:rPr lang="en-US" altLang="ko-KR" sz="1500" b="1">
                <a:latin typeface="Source Sans Pro" panose="020B0503030403020204" pitchFamily="34" charset="0"/>
                <a:ea typeface="Source Sans Pro" panose="020B0503030403020204" pitchFamily="34" charset="0"/>
              </a:rPr>
              <a:t>~7.5M </a:t>
            </a:r>
            <a:r>
              <a:rPr lang="en-US" altLang="ko-KR" sz="1200">
                <a:latin typeface="Source Sans Pro" panose="020B0503030403020204" pitchFamily="34" charset="0"/>
                <a:ea typeface="Source Sans Pro" panose="020B0503030403020204" pitchFamily="34" charset="0"/>
              </a:rPr>
              <a:t>Undescribed (86%)</a:t>
            </a:r>
            <a:endParaRPr lang="ko-KR" altLang="en-US" sz="1200">
              <a:latin typeface="Source Sans Pro" panose="020B0503030403020204" pitchFamily="34" charset="0"/>
            </a:endParaRPr>
          </a:p>
        </p:txBody>
      </p:sp>
      <p:sp>
        <p:nvSpPr>
          <p:cNvPr id="15" name="TextBox 14">
            <a:extLst>
              <a:ext uri="{FF2B5EF4-FFF2-40B4-BE49-F238E27FC236}">
                <a16:creationId xmlns:a16="http://schemas.microsoft.com/office/drawing/2014/main" id="{8691BDD0-A590-224C-234A-981887A0E894}"/>
              </a:ext>
            </a:extLst>
          </p:cNvPr>
          <p:cNvSpPr txBox="1"/>
          <p:nvPr/>
        </p:nvSpPr>
        <p:spPr>
          <a:xfrm>
            <a:off x="3181310" y="5476132"/>
            <a:ext cx="2483010" cy="307777"/>
          </a:xfrm>
          <a:prstGeom prst="rect">
            <a:avLst/>
          </a:prstGeom>
          <a:noFill/>
        </p:spPr>
        <p:txBody>
          <a:bodyPr wrap="square" rtlCol="0">
            <a:spAutoFit/>
          </a:bodyPr>
          <a:lstStyle/>
          <a:p>
            <a:r>
              <a:rPr lang="en-US" altLang="ko-KR" sz="1400" b="1"/>
              <a:t>Total: ~8.7M Species</a:t>
            </a:r>
            <a:endParaRPr lang="ko-KR" altLang="en-US" sz="1400" b="1"/>
          </a:p>
        </p:txBody>
      </p:sp>
      <p:pic>
        <p:nvPicPr>
          <p:cNvPr id="17" name="그림 16">
            <a:extLst>
              <a:ext uri="{FF2B5EF4-FFF2-40B4-BE49-F238E27FC236}">
                <a16:creationId xmlns:a16="http://schemas.microsoft.com/office/drawing/2014/main" id="{18D9B109-1629-65E2-E060-8E716BC3B0FC}"/>
              </a:ext>
            </a:extLst>
          </p:cNvPr>
          <p:cNvPicPr>
            <a:picLocks noChangeAspect="1"/>
          </p:cNvPicPr>
          <p:nvPr/>
        </p:nvPicPr>
        <p:blipFill>
          <a:blip r:embed="rId3"/>
          <a:stretch>
            <a:fillRect/>
          </a:stretch>
        </p:blipFill>
        <p:spPr>
          <a:xfrm>
            <a:off x="5254860" y="2173637"/>
            <a:ext cx="6492414" cy="2962959"/>
          </a:xfrm>
          <a:prstGeom prst="rect">
            <a:avLst/>
          </a:prstGeom>
        </p:spPr>
      </p:pic>
      <p:sp>
        <p:nvSpPr>
          <p:cNvPr id="18" name="직사각형 17">
            <a:extLst>
              <a:ext uri="{FF2B5EF4-FFF2-40B4-BE49-F238E27FC236}">
                <a16:creationId xmlns:a16="http://schemas.microsoft.com/office/drawing/2014/main" id="{2A09E95E-21CD-D8B2-59B2-BC33E04D200D}"/>
              </a:ext>
            </a:extLst>
          </p:cNvPr>
          <p:cNvSpPr/>
          <p:nvPr/>
        </p:nvSpPr>
        <p:spPr>
          <a:xfrm>
            <a:off x="7401117" y="3718969"/>
            <a:ext cx="570732" cy="18306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FE3C21D-EF40-36F8-4654-10021BF4099C}"/>
              </a:ext>
            </a:extLst>
          </p:cNvPr>
          <p:cNvSpPr/>
          <p:nvPr/>
        </p:nvSpPr>
        <p:spPr>
          <a:xfrm>
            <a:off x="7406229" y="4202767"/>
            <a:ext cx="570732" cy="18306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551260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E51DEF2C-DC95-B448-BB6F-92167350CCAE}"/>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200" b="1"/>
              <a:t>Classic View (2011)</a:t>
            </a:r>
          </a:p>
          <a:p>
            <a:endParaRPr lang="en-US" altLang="ko-KR" sz="3200" b="1"/>
          </a:p>
          <a:p>
            <a:r>
              <a:rPr lang="en-US" altLang="ko-KR" sz="2100" b="1"/>
              <a:t>-Limitations</a:t>
            </a:r>
            <a:endParaRPr lang="ko-KR" altLang="en-US" sz="2100" b="1"/>
          </a:p>
        </p:txBody>
      </p:sp>
      <p:pic>
        <p:nvPicPr>
          <p:cNvPr id="6" name="그림 5">
            <a:extLst>
              <a:ext uri="{FF2B5EF4-FFF2-40B4-BE49-F238E27FC236}">
                <a16:creationId xmlns:a16="http://schemas.microsoft.com/office/drawing/2014/main" id="{5C44BD5A-5186-D7C6-8715-0438EB615895}"/>
              </a:ext>
            </a:extLst>
          </p:cNvPr>
          <p:cNvPicPr>
            <a:picLocks noChangeAspect="1"/>
          </p:cNvPicPr>
          <p:nvPr/>
        </p:nvPicPr>
        <p:blipFill>
          <a:blip r:embed="rId2"/>
          <a:stretch>
            <a:fillRect/>
          </a:stretch>
        </p:blipFill>
        <p:spPr>
          <a:xfrm>
            <a:off x="2780676" y="2099873"/>
            <a:ext cx="517160" cy="517160"/>
          </a:xfrm>
          <a:prstGeom prst="rect">
            <a:avLst/>
          </a:prstGeom>
        </p:spPr>
      </p:pic>
      <p:pic>
        <p:nvPicPr>
          <p:cNvPr id="7" name="그림 6">
            <a:extLst>
              <a:ext uri="{FF2B5EF4-FFF2-40B4-BE49-F238E27FC236}">
                <a16:creationId xmlns:a16="http://schemas.microsoft.com/office/drawing/2014/main" id="{444A95AD-CDBB-1DF5-D2DE-4F3F0D70D8B2}"/>
              </a:ext>
            </a:extLst>
          </p:cNvPr>
          <p:cNvPicPr>
            <a:picLocks noChangeAspect="1"/>
          </p:cNvPicPr>
          <p:nvPr/>
        </p:nvPicPr>
        <p:blipFill>
          <a:blip r:embed="rId2"/>
          <a:stretch>
            <a:fillRect/>
          </a:stretch>
        </p:blipFill>
        <p:spPr>
          <a:xfrm flipH="1" flipV="1">
            <a:off x="8357162" y="2099873"/>
            <a:ext cx="517159" cy="517159"/>
          </a:xfrm>
          <a:prstGeom prst="rect">
            <a:avLst/>
          </a:prstGeom>
        </p:spPr>
      </p:pic>
      <p:cxnSp>
        <p:nvCxnSpPr>
          <p:cNvPr id="11" name="직선 연결선 10">
            <a:extLst>
              <a:ext uri="{FF2B5EF4-FFF2-40B4-BE49-F238E27FC236}">
                <a16:creationId xmlns:a16="http://schemas.microsoft.com/office/drawing/2014/main" id="{F94DE4EC-1F58-5E3E-AFCA-A9A22F48D811}"/>
              </a:ext>
            </a:extLst>
          </p:cNvPr>
          <p:cNvCxnSpPr/>
          <p:nvPr/>
        </p:nvCxnSpPr>
        <p:spPr>
          <a:xfrm>
            <a:off x="6050996" y="1400520"/>
            <a:ext cx="0" cy="4760230"/>
          </a:xfrm>
          <a:prstGeom prst="line">
            <a:avLst/>
          </a:prstGeom>
          <a:ln w="38100"/>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CC0CF848-A18B-57A1-6D1F-93E400140957}"/>
              </a:ext>
            </a:extLst>
          </p:cNvPr>
          <p:cNvSpPr txBox="1"/>
          <p:nvPr/>
        </p:nvSpPr>
        <p:spPr>
          <a:xfrm>
            <a:off x="567665" y="3126749"/>
            <a:ext cx="5096704" cy="1661993"/>
          </a:xfrm>
          <a:prstGeom prst="rect">
            <a:avLst/>
          </a:prstGeom>
          <a:noFill/>
        </p:spPr>
        <p:txBody>
          <a:bodyPr wrap="square">
            <a:spAutoFit/>
          </a:bodyPr>
          <a:lstStyle/>
          <a:p>
            <a:pPr lvl="0" eaLnBrk="0" fontAlgn="base" latinLnBrk="0" hangingPunct="0">
              <a:spcBef>
                <a:spcPct val="0"/>
              </a:spcBef>
              <a:spcAft>
                <a:spcPct val="0"/>
              </a:spcAft>
            </a:pPr>
            <a:r>
              <a:rPr lang="en-US" altLang="ko-KR" sz="1700"/>
              <a:t>✔ </a:t>
            </a:r>
            <a:r>
              <a:rPr kumimoji="0" lang="ko-KR" altLang="ko-KR" sz="1700" b="1" i="0" u="none" strike="noStrike" cap="none" normalizeH="0" baseline="0">
                <a:ln>
                  <a:noFill/>
                </a:ln>
                <a:solidFill>
                  <a:schemeClr val="tx1"/>
                </a:solidFill>
                <a:effectLst/>
                <a:latin typeface="Arial" panose="020B0604020202020204" pitchFamily="34" charset="0"/>
              </a:rPr>
              <a:t>First </a:t>
            </a:r>
            <a:r>
              <a:rPr kumimoji="0" lang="ko-KR" altLang="ko-KR" sz="1700" b="1" i="0" u="none" strike="noStrike" cap="none" normalizeH="0" baseline="0" err="1">
                <a:ln>
                  <a:noFill/>
                </a:ln>
                <a:solidFill>
                  <a:schemeClr val="tx1"/>
                </a:solidFill>
                <a:effectLst/>
                <a:latin typeface="Arial" panose="020B0604020202020204" pitchFamily="34" charset="0"/>
              </a:rPr>
              <a:t>rigorous</a:t>
            </a:r>
            <a:r>
              <a:rPr kumimoji="0" lang="ko-KR" altLang="ko-KR" sz="1700" b="1" i="0" u="none" strike="noStrike" cap="none" normalizeH="0" baseline="0">
                <a:ln>
                  <a:noFill/>
                </a:ln>
                <a:solidFill>
                  <a:schemeClr val="tx1"/>
                </a:solidFill>
                <a:effectLst/>
                <a:latin typeface="Arial" panose="020B0604020202020204" pitchFamily="34" charset="0"/>
              </a:rPr>
              <a:t>, </a:t>
            </a:r>
            <a:r>
              <a:rPr kumimoji="0" lang="ko-KR" altLang="ko-KR" sz="1700" b="1" i="0" u="none" strike="noStrike" cap="none" normalizeH="0" baseline="0" err="1">
                <a:ln>
                  <a:noFill/>
                </a:ln>
                <a:solidFill>
                  <a:schemeClr val="tx1"/>
                </a:solidFill>
                <a:effectLst/>
                <a:latin typeface="Arial" panose="020B0604020202020204" pitchFamily="34" charset="0"/>
              </a:rPr>
              <a:t>data-driven</a:t>
            </a:r>
            <a:r>
              <a:rPr kumimoji="0" lang="ko-KR" altLang="ko-KR" sz="1700" b="1" i="0" u="none" strike="noStrike" cap="none" normalizeH="0" baseline="0">
                <a:ln>
                  <a:noFill/>
                </a:ln>
                <a:solidFill>
                  <a:schemeClr val="tx1"/>
                </a:solidFill>
                <a:effectLst/>
                <a:latin typeface="Arial" panose="020B0604020202020204" pitchFamily="34" charset="0"/>
              </a:rPr>
              <a:t> </a:t>
            </a:r>
            <a:r>
              <a:rPr kumimoji="0" lang="ko-KR" altLang="ko-KR" sz="1700" b="1" i="0" u="none" strike="noStrike" cap="none" normalizeH="0" baseline="0" err="1">
                <a:ln>
                  <a:noFill/>
                </a:ln>
                <a:solidFill>
                  <a:schemeClr val="tx1"/>
                </a:solidFill>
                <a:effectLst/>
                <a:latin typeface="Arial" panose="020B0604020202020204" pitchFamily="34" charset="0"/>
              </a:rPr>
              <a:t>estimation</a:t>
            </a:r>
            <a:r>
              <a:rPr kumimoji="0" lang="ko-KR" altLang="ko-KR" sz="1700" b="0" i="0" u="none" strike="noStrike" cap="none" normalizeH="0" baseline="0">
                <a:ln>
                  <a:noFill/>
                </a:ln>
                <a:solidFill>
                  <a:schemeClr val="tx1"/>
                </a:solidFill>
                <a:effectLst/>
                <a:latin typeface="Arial" panose="020B0604020202020204" pitchFamily="34" charset="0"/>
              </a:rPr>
              <a:t> of </a:t>
            </a:r>
            <a:r>
              <a:rPr kumimoji="0" lang="ko-KR" altLang="ko-KR" sz="1700" b="0" i="0" u="none" strike="noStrike" cap="none" normalizeH="0" baseline="0" err="1">
                <a:ln>
                  <a:noFill/>
                </a:ln>
                <a:solidFill>
                  <a:schemeClr val="tx1"/>
                </a:solidFill>
                <a:effectLst/>
                <a:latin typeface="Arial" panose="020B0604020202020204" pitchFamily="34" charset="0"/>
              </a:rPr>
              <a:t>global</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biodiversity</a:t>
            </a:r>
            <a:endParaRPr kumimoji="0" lang="ko-KR" altLang="ko-KR" sz="1700" b="0" i="0" u="none" strike="noStrike" cap="none" normalizeH="0" baseline="0">
              <a:ln>
                <a:noFill/>
              </a:ln>
              <a:solidFill>
                <a:schemeClr val="tx1"/>
              </a:solidFill>
              <a:effectLst/>
              <a:latin typeface="Arial" panose="020B0604020202020204" pitchFamily="34" charset="0"/>
            </a:endParaRPr>
          </a:p>
          <a:p>
            <a:pPr lvl="0" eaLnBrk="0" fontAlgn="base" latinLnBrk="0" hangingPunct="0">
              <a:spcBef>
                <a:spcPct val="0"/>
              </a:spcBef>
              <a:spcAft>
                <a:spcPct val="0"/>
              </a:spcAft>
            </a:pPr>
            <a:r>
              <a:rPr lang="en-US" altLang="ko-KR" sz="1700"/>
              <a:t>✔ </a:t>
            </a:r>
            <a:r>
              <a:rPr kumimoji="0" lang="ko-KR" altLang="ko-KR" sz="1700" b="1" i="0" u="none" strike="noStrike" cap="none" normalizeH="0" baseline="0" err="1">
                <a:ln>
                  <a:noFill/>
                </a:ln>
                <a:solidFill>
                  <a:schemeClr val="tx1"/>
                </a:solidFill>
                <a:effectLst/>
                <a:latin typeface="Arial" panose="020B0604020202020204" pitchFamily="34" charset="0"/>
              </a:rPr>
              <a:t>Validated</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against</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well-known</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taxa</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Mammals</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Birds</a:t>
            </a:r>
            <a:r>
              <a:rPr kumimoji="0" lang="ko-KR" altLang="ko-KR" sz="1700" b="0" i="0" u="none" strike="noStrike" cap="none" normalizeH="0" baseline="0">
                <a:ln>
                  <a:noFill/>
                </a:ln>
                <a:solidFill>
                  <a:schemeClr val="tx1"/>
                </a:solidFill>
                <a:effectLst/>
                <a:latin typeface="Arial" panose="020B0604020202020204" pitchFamily="34" charset="0"/>
              </a:rPr>
              <a:t>)</a:t>
            </a:r>
          </a:p>
          <a:p>
            <a:pPr lvl="0" eaLnBrk="0" fontAlgn="base" latinLnBrk="0" hangingPunct="0">
              <a:spcBef>
                <a:spcPct val="0"/>
              </a:spcBef>
              <a:spcAft>
                <a:spcPct val="0"/>
              </a:spcAft>
            </a:pPr>
            <a:r>
              <a:rPr lang="en-US" altLang="ko-KR" sz="1700"/>
              <a:t>✔ </a:t>
            </a:r>
            <a:r>
              <a:rPr kumimoji="0" lang="ko-KR" altLang="ko-KR" sz="1700" b="0" i="0" u="none" strike="noStrike" cap="none" normalizeH="0" baseline="0" err="1">
                <a:ln>
                  <a:noFill/>
                </a:ln>
                <a:solidFill>
                  <a:schemeClr val="tx1"/>
                </a:solidFill>
                <a:effectLst/>
                <a:latin typeface="Arial" panose="020B0604020202020204" pitchFamily="34" charset="0"/>
              </a:rPr>
              <a:t>Provided</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a</a:t>
            </a:r>
            <a:r>
              <a:rPr kumimoji="0" lang="ko-KR" altLang="ko-KR" sz="1700" b="0" i="0" u="none" strike="noStrike" cap="none" normalizeH="0" baseline="0">
                <a:ln>
                  <a:noFill/>
                </a:ln>
                <a:solidFill>
                  <a:schemeClr val="tx1"/>
                </a:solidFill>
                <a:effectLst/>
                <a:latin typeface="Arial" panose="020B0604020202020204" pitchFamily="34" charset="0"/>
              </a:rPr>
              <a:t> </a:t>
            </a:r>
            <a:r>
              <a:rPr lang="ko-KR" altLang="ko-KR" sz="1700" err="1">
                <a:latin typeface="Arial" panose="020B0604020202020204" pitchFamily="34" charset="0"/>
              </a:rPr>
              <a:t>vital</a:t>
            </a:r>
            <a:r>
              <a:rPr lang="ko-KR" altLang="ko-KR" sz="1700">
                <a:latin typeface="Arial" panose="020B0604020202020204" pitchFamily="34" charset="0"/>
              </a:rPr>
              <a:t> </a:t>
            </a:r>
            <a:r>
              <a:rPr lang="ko-KR" altLang="ko-KR" sz="1700" b="1" err="1">
                <a:latin typeface="Arial" panose="020B0604020202020204" pitchFamily="34" charset="0"/>
              </a:rPr>
              <a:t>baseline</a:t>
            </a:r>
            <a:r>
              <a:rPr lang="ko-KR" altLang="ko-KR" sz="1700">
                <a:latin typeface="Arial" panose="020B0604020202020204" pitchFamily="34" charset="0"/>
              </a:rPr>
              <a:t> </a:t>
            </a:r>
            <a:r>
              <a:rPr lang="ko-KR" altLang="ko-KR" sz="1700" err="1">
                <a:latin typeface="Arial" panose="020B0604020202020204" pitchFamily="34" charset="0"/>
              </a:rPr>
              <a:t>for</a:t>
            </a:r>
            <a:r>
              <a:rPr lang="ko-KR" altLang="ko-KR" sz="1700">
                <a:latin typeface="Arial" panose="020B0604020202020204" pitchFamily="34" charset="0"/>
              </a:rPr>
              <a:t> </a:t>
            </a:r>
            <a:r>
              <a:rPr lang="ko-KR" altLang="ko-KR" sz="1700" err="1">
                <a:latin typeface="Arial" panose="020B0604020202020204" pitchFamily="34" charset="0"/>
              </a:rPr>
              <a:t>conservation</a:t>
            </a:r>
            <a:r>
              <a:rPr lang="ko-KR" altLang="ko-KR" sz="1700">
                <a:latin typeface="Arial" panose="020B0604020202020204" pitchFamily="34" charset="0"/>
              </a:rPr>
              <a:t> </a:t>
            </a:r>
            <a:r>
              <a:rPr lang="ko-KR" altLang="ko-KR" sz="1700" err="1">
                <a:latin typeface="Arial" panose="020B0604020202020204" pitchFamily="34" charset="0"/>
              </a:rPr>
              <a:t>efforts</a:t>
            </a:r>
            <a:endParaRPr lang="ko-KR" altLang="en-US" sz="1700"/>
          </a:p>
        </p:txBody>
      </p:sp>
      <p:sp>
        <p:nvSpPr>
          <p:cNvPr id="17" name="Rectangle 4">
            <a:extLst>
              <a:ext uri="{FF2B5EF4-FFF2-40B4-BE49-F238E27FC236}">
                <a16:creationId xmlns:a16="http://schemas.microsoft.com/office/drawing/2014/main" id="{99EE9DA7-F65C-46DF-FC50-088CCC5617D7}"/>
              </a:ext>
            </a:extLst>
          </p:cNvPr>
          <p:cNvSpPr>
            <a:spLocks noChangeArrowheads="1"/>
          </p:cNvSpPr>
          <p:nvPr/>
        </p:nvSpPr>
        <p:spPr bwMode="auto">
          <a:xfrm>
            <a:off x="6437624" y="3126748"/>
            <a:ext cx="5164963"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latinLnBrk="0" hangingPunct="0">
              <a:spcBef>
                <a:spcPct val="0"/>
              </a:spcBef>
              <a:spcAft>
                <a:spcPct val="0"/>
              </a:spcAft>
              <a:buFontTx/>
              <a:buChar char="•"/>
            </a:pPr>
            <a:r>
              <a:rPr kumimoji="0" lang="ko-KR" altLang="ko-KR" sz="1700" b="1" i="0" u="none" strike="noStrike" cap="none" normalizeH="0" baseline="0" err="1">
                <a:ln>
                  <a:noFill/>
                </a:ln>
                <a:solidFill>
                  <a:schemeClr val="tx1"/>
                </a:solidFill>
                <a:effectLst/>
                <a:latin typeface="Arial" panose="020B0604020202020204" pitchFamily="34" charset="0"/>
              </a:rPr>
              <a:t>Excluded</a:t>
            </a:r>
            <a:r>
              <a:rPr kumimoji="0" lang="ko-KR" altLang="ko-KR" sz="1700" b="1" i="0" u="none" strike="noStrike" cap="none" normalizeH="0" baseline="0">
                <a:ln>
                  <a:noFill/>
                </a:ln>
                <a:solidFill>
                  <a:schemeClr val="tx1"/>
                </a:solidFill>
                <a:effectLst/>
                <a:latin typeface="Arial" panose="020B0604020202020204" pitchFamily="34" charset="0"/>
              </a:rPr>
              <a:t> </a:t>
            </a:r>
            <a:r>
              <a:rPr kumimoji="0" lang="ko-KR" altLang="ko-KR" sz="1700" b="1" i="0" u="none" strike="noStrike" cap="none" normalizeH="0" baseline="0" err="1">
                <a:ln>
                  <a:noFill/>
                </a:ln>
                <a:solidFill>
                  <a:schemeClr val="tx1"/>
                </a:solidFill>
                <a:effectLst/>
                <a:latin typeface="Arial" panose="020B0604020202020204" pitchFamily="34" charset="0"/>
              </a:rPr>
              <a:t>Prokaryotes</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Bacteria</a:t>
            </a:r>
            <a:r>
              <a:rPr kumimoji="0" lang="ko-KR" altLang="ko-KR" sz="1700" b="0" i="0" u="none" strike="noStrike" cap="none" normalizeH="0" baseline="0">
                <a:ln>
                  <a:noFill/>
                </a:ln>
                <a:solidFill>
                  <a:schemeClr val="tx1"/>
                </a:solidFill>
                <a:effectLst/>
                <a:latin typeface="Arial" panose="020B0604020202020204" pitchFamily="34" charset="0"/>
              </a:rPr>
              <a:t> &amp; </a:t>
            </a:r>
            <a:r>
              <a:rPr kumimoji="0" lang="ko-KR" altLang="ko-KR" sz="1700" b="0" i="0" u="none" strike="noStrike" cap="none" normalizeH="0" baseline="0" err="1">
                <a:ln>
                  <a:noFill/>
                </a:ln>
                <a:solidFill>
                  <a:schemeClr val="tx1"/>
                </a:solidFill>
                <a:effectLst/>
                <a:latin typeface="Arial" panose="020B0604020202020204" pitchFamily="34" charset="0"/>
              </a:rPr>
              <a:t>Archaea</a:t>
            </a:r>
            <a:r>
              <a:rPr kumimoji="0" lang="ko-KR" altLang="ko-KR" sz="1700" b="0" i="0" u="none" strike="noStrike" cap="none" normalizeH="0" baseline="0">
                <a:ln>
                  <a:noFill/>
                </a:ln>
                <a:solidFill>
                  <a:schemeClr val="tx1"/>
                </a:solidFill>
                <a:effectLst/>
                <a:latin typeface="Arial" panose="020B0604020202020204" pitchFamily="34" charset="0"/>
              </a:rPr>
              <a:t>)</a:t>
            </a:r>
            <a:r>
              <a:rPr kumimoji="0" lang="en-US" altLang="ko-KR" sz="1700" b="0" i="0" u="none" strike="noStrike" cap="none" normalizeH="0" baseline="0">
                <a:ln>
                  <a:noFill/>
                </a:ln>
                <a:solidFill>
                  <a:schemeClr val="tx1"/>
                </a:solidFill>
                <a:effectLst/>
                <a:latin typeface="Arial" panose="020B0604020202020204" pitchFamily="34" charset="0"/>
              </a:rPr>
              <a:t>, </a:t>
            </a:r>
            <a:r>
              <a:rPr lang="en-US" altLang="ko-KR" sz="1700"/>
              <a:t>Eukaryotes ONLY</a:t>
            </a:r>
            <a:endParaRPr kumimoji="0" lang="ko-KR" altLang="ko-KR" sz="17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700" b="1" i="0" u="none" strike="noStrike" cap="none" normalizeH="0" baseline="0" err="1">
                <a:ln>
                  <a:noFill/>
                </a:ln>
                <a:solidFill>
                  <a:schemeClr val="tx1"/>
                </a:solidFill>
                <a:effectLst/>
                <a:latin typeface="Arial" panose="020B0604020202020204" pitchFamily="34" charset="0"/>
              </a:rPr>
              <a:t>Why</a:t>
            </a:r>
            <a:r>
              <a:rPr kumimoji="0" lang="ko-KR" altLang="ko-KR" sz="1700" b="1" i="0" u="none" strike="noStrike" cap="none" normalizeH="0" baseline="0">
                <a:ln>
                  <a:noFill/>
                </a:ln>
                <a:solidFill>
                  <a:schemeClr val="tx1"/>
                </a:solidFill>
                <a:effectLst/>
                <a:latin typeface="Arial" panose="020B0604020202020204" pitchFamily="34" charset="0"/>
              </a:rPr>
              <a:t>?</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Due</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to</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the</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1" i="0" u="none" strike="noStrike" cap="none" normalizeH="0" baseline="0">
                <a:ln>
                  <a:noFill/>
                </a:ln>
                <a:solidFill>
                  <a:schemeClr val="tx1"/>
                </a:solidFill>
                <a:effectLst/>
                <a:latin typeface="Arial" panose="020B0604020202020204" pitchFamily="34" charset="0"/>
              </a:rPr>
              <a:t>"</a:t>
            </a:r>
            <a:r>
              <a:rPr kumimoji="0" lang="ko-KR" altLang="ko-KR" sz="1700" b="1" i="0" u="none" strike="noStrike" cap="none" normalizeH="0" baseline="0" err="1">
                <a:ln>
                  <a:noFill/>
                </a:ln>
                <a:solidFill>
                  <a:schemeClr val="tx1"/>
                </a:solidFill>
                <a:effectLst/>
                <a:latin typeface="Arial" panose="020B0604020202020204" pitchFamily="34" charset="0"/>
              </a:rPr>
              <a:t>Species</a:t>
            </a:r>
            <a:r>
              <a:rPr kumimoji="0" lang="ko-KR" altLang="ko-KR" sz="1700" b="1" i="0" u="none" strike="noStrike" cap="none" normalizeH="0" baseline="0">
                <a:ln>
                  <a:noFill/>
                </a:ln>
                <a:solidFill>
                  <a:schemeClr val="tx1"/>
                </a:solidFill>
                <a:effectLst/>
                <a:latin typeface="Arial" panose="020B0604020202020204" pitchFamily="34" charset="0"/>
              </a:rPr>
              <a:t> </a:t>
            </a:r>
            <a:r>
              <a:rPr kumimoji="0" lang="ko-KR" altLang="ko-KR" sz="1700" b="1" i="0" u="none" strike="noStrike" cap="none" normalizeH="0" baseline="0" err="1">
                <a:ln>
                  <a:noFill/>
                </a:ln>
                <a:solidFill>
                  <a:schemeClr val="tx1"/>
                </a:solidFill>
                <a:effectLst/>
                <a:latin typeface="Arial" panose="020B0604020202020204" pitchFamily="34" charset="0"/>
              </a:rPr>
              <a:t>Concept</a:t>
            </a:r>
            <a:r>
              <a:rPr kumimoji="0" lang="ko-KR" altLang="ko-KR" sz="1700" b="1" i="0" u="none" strike="noStrike" cap="none" normalizeH="0" baseline="0">
                <a:ln>
                  <a:noFill/>
                </a:ln>
                <a:solidFill>
                  <a:schemeClr val="tx1"/>
                </a:solidFill>
                <a:effectLst/>
                <a:latin typeface="Arial" panose="020B0604020202020204" pitchFamily="34" charset="0"/>
              </a:rPr>
              <a:t>"</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challenge</a:t>
            </a:r>
            <a:endParaRPr kumimoji="0" lang="ko-KR" altLang="ko-KR" sz="17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a:ln>
                  <a:noFill/>
                </a:ln>
                <a:solidFill>
                  <a:schemeClr val="tx1"/>
                </a:solidFill>
                <a:effectLst/>
                <a:latin typeface="Arial" panose="020B0604020202020204" pitchFamily="34" charset="0"/>
              </a:rPr>
              <a:t>(</a:t>
            </a:r>
            <a:r>
              <a:rPr kumimoji="0" lang="ko-KR" altLang="ko-KR" sz="1700" b="0" i="1" u="none" strike="noStrike" cap="none" normalizeH="0" baseline="0" err="1">
                <a:ln>
                  <a:noFill/>
                </a:ln>
                <a:solidFill>
                  <a:schemeClr val="tx1"/>
                </a:solidFill>
                <a:effectLst/>
                <a:latin typeface="Arial" panose="020B0604020202020204" pitchFamily="34" charset="0"/>
              </a:rPr>
              <a:t>Hard</a:t>
            </a:r>
            <a:r>
              <a:rPr kumimoji="0" lang="ko-KR"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err="1">
                <a:ln>
                  <a:noFill/>
                </a:ln>
                <a:solidFill>
                  <a:schemeClr val="tx1"/>
                </a:solidFill>
                <a:effectLst/>
                <a:latin typeface="Arial" panose="020B0604020202020204" pitchFamily="34" charset="0"/>
              </a:rPr>
              <a:t>to</a:t>
            </a:r>
            <a:r>
              <a:rPr kumimoji="0" lang="ko-KR"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err="1">
                <a:ln>
                  <a:noFill/>
                </a:ln>
                <a:solidFill>
                  <a:schemeClr val="tx1"/>
                </a:solidFill>
                <a:effectLst/>
                <a:latin typeface="Arial" panose="020B0604020202020204" pitchFamily="34" charset="0"/>
              </a:rPr>
              <a:t>apply</a:t>
            </a:r>
            <a:r>
              <a:rPr kumimoji="0" lang="ko-KR"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err="1">
                <a:ln>
                  <a:noFill/>
                </a:ln>
                <a:solidFill>
                  <a:schemeClr val="tx1"/>
                </a:solidFill>
                <a:effectLst/>
                <a:latin typeface="Arial" panose="020B0604020202020204" pitchFamily="34" charset="0"/>
              </a:rPr>
              <a:t>taxonomic</a:t>
            </a:r>
            <a:r>
              <a:rPr kumimoji="0" lang="ko-KR"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err="1">
                <a:ln>
                  <a:noFill/>
                </a:ln>
                <a:solidFill>
                  <a:schemeClr val="tx1"/>
                </a:solidFill>
                <a:effectLst/>
                <a:latin typeface="Arial" panose="020B0604020202020204" pitchFamily="34" charset="0"/>
              </a:rPr>
              <a:t>ranks</a:t>
            </a:r>
            <a:r>
              <a:rPr kumimoji="0" lang="ko-KR"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err="1">
                <a:ln>
                  <a:noFill/>
                </a:ln>
                <a:solidFill>
                  <a:schemeClr val="tx1"/>
                </a:solidFill>
                <a:effectLst/>
                <a:latin typeface="Arial" panose="020B0604020202020204" pitchFamily="34" charset="0"/>
              </a:rPr>
              <a:t>to</a:t>
            </a:r>
            <a:r>
              <a:rPr kumimoji="0" lang="ko-KR" altLang="ko-KR" sz="1700" b="0" i="1" u="none" strike="noStrike" cap="none" normalizeH="0" baseline="0">
                <a:ln>
                  <a:noFill/>
                </a:ln>
                <a:solidFill>
                  <a:schemeClr val="tx1"/>
                </a:solidFill>
                <a:effectLst/>
                <a:latin typeface="Arial" panose="020B0604020202020204" pitchFamily="34" charset="0"/>
              </a:rPr>
              <a:t> </a:t>
            </a:r>
            <a:r>
              <a:rPr kumimoji="0" lang="ko-KR" altLang="ko-KR" sz="1700" b="0" i="1" u="none" strike="noStrike" cap="none" normalizeH="0" baseline="0" err="1">
                <a:ln>
                  <a:noFill/>
                </a:ln>
                <a:solidFill>
                  <a:schemeClr val="tx1"/>
                </a:solidFill>
                <a:effectLst/>
                <a:latin typeface="Arial" panose="020B0604020202020204" pitchFamily="34" charset="0"/>
              </a:rPr>
              <a:t>microbes</a:t>
            </a:r>
            <a:r>
              <a:rPr kumimoji="0" lang="ko-KR" altLang="ko-KR" sz="1700" b="0" i="1" u="none" strike="noStrike" cap="none" normalizeH="0" baseline="0">
                <a:ln>
                  <a:noFill/>
                </a:ln>
                <a:solidFill>
                  <a:schemeClr val="tx1"/>
                </a:solidFill>
                <a:effectLst/>
                <a:latin typeface="Arial" panose="020B0604020202020204" pitchFamily="34" charset="0"/>
              </a:rPr>
              <a:t>)</a:t>
            </a:r>
            <a:endParaRPr lang="en-US" altLang="ko-KR" sz="17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ko-KR" altLang="ko-KR" sz="1700" b="1" i="0" u="none" strike="noStrike" cap="none" normalizeH="0" baseline="0" err="1">
                <a:ln>
                  <a:noFill/>
                </a:ln>
                <a:solidFill>
                  <a:schemeClr val="tx1"/>
                </a:solidFill>
                <a:effectLst/>
                <a:latin typeface="Arial" panose="020B0604020202020204" pitchFamily="34" charset="0"/>
              </a:rPr>
              <a:t>Consequence</a:t>
            </a:r>
            <a:r>
              <a:rPr kumimoji="0" lang="ko-KR" altLang="ko-KR" sz="1700" b="1" i="0" u="none" strike="noStrike" cap="none" normalizeH="0" baseline="0">
                <a:ln>
                  <a:noFill/>
                </a:ln>
                <a:solidFill>
                  <a:schemeClr val="tx1"/>
                </a:solidFill>
                <a:effectLst/>
                <a:latin typeface="Arial" panose="020B0604020202020204" pitchFamily="34" charset="0"/>
              </a:rPr>
              <a:t>:</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Likely</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1" i="0" u="none" strike="noStrike" cap="none" normalizeH="0" baseline="0" err="1">
                <a:ln>
                  <a:noFill/>
                </a:ln>
                <a:solidFill>
                  <a:schemeClr val="tx1"/>
                </a:solidFill>
                <a:effectLst/>
                <a:latin typeface="Arial" panose="020B0604020202020204" pitchFamily="34" charset="0"/>
              </a:rPr>
              <a:t>underestimates</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total</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biodiversity</a:t>
            </a:r>
            <a:r>
              <a:rPr kumimoji="0" lang="ko-KR" altLang="ko-KR" sz="1700" b="0" i="0" u="none" strike="noStrike" cap="none" normalizeH="0" baseline="0">
                <a:ln>
                  <a:noFill/>
                </a:ln>
                <a:solidFill>
                  <a:schemeClr val="tx1"/>
                </a:solidFill>
                <a:effectLst/>
                <a:latin typeface="Arial" panose="020B0604020202020204" pitchFamily="34" charset="0"/>
              </a:rPr>
              <a:t> </a:t>
            </a:r>
            <a:r>
              <a:rPr kumimoji="0" lang="ko-KR" altLang="ko-KR" sz="1700" b="0" i="0" u="none" strike="noStrike" cap="none" normalizeH="0" baseline="0" err="1">
                <a:ln>
                  <a:noFill/>
                </a:ln>
                <a:solidFill>
                  <a:schemeClr val="tx1"/>
                </a:solidFill>
                <a:effectLst/>
                <a:latin typeface="Arial" panose="020B0604020202020204" pitchFamily="34" charset="0"/>
              </a:rPr>
              <a:t>significantly</a:t>
            </a:r>
            <a:endParaRPr kumimoji="0" lang="ko-KR" altLang="ko-KR" sz="17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9942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18A2F-316E-09A2-B18C-B2F1305E1676}"/>
              </a:ext>
            </a:extLst>
          </p:cNvPr>
          <p:cNvSpPr>
            <a:spLocks noGrp="1"/>
          </p:cNvSpPr>
          <p:nvPr>
            <p:ph type="title"/>
          </p:nvPr>
        </p:nvSpPr>
        <p:spPr>
          <a:xfrm>
            <a:off x="4313" y="-224347"/>
            <a:ext cx="10515600" cy="1426204"/>
          </a:xfrm>
        </p:spPr>
        <p:txBody>
          <a:bodyPr/>
          <a:lstStyle/>
          <a:p>
            <a:r>
              <a:rPr lang="en-US" sz="3200" dirty="0"/>
              <a:t>                           Modern DNA Methods Reveal Hidden Diversity</a:t>
            </a:r>
            <a:endParaRPr lang="en-US" dirty="0"/>
          </a:p>
        </p:txBody>
      </p:sp>
      <p:pic>
        <p:nvPicPr>
          <p:cNvPr id="5" name="Content Placeholder 8" descr="A diagram of a scientific experiment&#10;&#10;AI-generated content may be incorrect.">
            <a:extLst>
              <a:ext uri="{FF2B5EF4-FFF2-40B4-BE49-F238E27FC236}">
                <a16:creationId xmlns:a16="http://schemas.microsoft.com/office/drawing/2014/main" id="{12058CDB-EC04-93AF-F420-A7F6BC130999}"/>
              </a:ext>
            </a:extLst>
          </p:cNvPr>
          <p:cNvPicPr>
            <a:picLocks noChangeAspect="1"/>
          </p:cNvPicPr>
          <p:nvPr/>
        </p:nvPicPr>
        <p:blipFill>
          <a:blip r:embed="rId3"/>
          <a:stretch>
            <a:fillRect/>
          </a:stretch>
        </p:blipFill>
        <p:spPr>
          <a:xfrm>
            <a:off x="1250166" y="888018"/>
            <a:ext cx="9702965" cy="5084582"/>
          </a:xfrm>
          <a:prstGeom prst="rect">
            <a:avLst/>
          </a:prstGeom>
        </p:spPr>
      </p:pic>
      <p:sp>
        <p:nvSpPr>
          <p:cNvPr id="4" name="Rectangle 3">
            <a:extLst>
              <a:ext uri="{FF2B5EF4-FFF2-40B4-BE49-F238E27FC236}">
                <a16:creationId xmlns:a16="http://schemas.microsoft.com/office/drawing/2014/main" id="{15C9CBCD-C5F2-52D9-34D2-0E86D046D5E5}"/>
              </a:ext>
            </a:extLst>
          </p:cNvPr>
          <p:cNvSpPr/>
          <p:nvPr/>
        </p:nvSpPr>
        <p:spPr>
          <a:xfrm>
            <a:off x="261559" y="6047266"/>
            <a:ext cx="7239000" cy="5866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a:buChar char="•"/>
            </a:pPr>
            <a:r>
              <a:rPr lang="en-US" sz="2000">
                <a:solidFill>
                  <a:schemeClr val="bg1"/>
                </a:solidFill>
              </a:rPr>
              <a:t>DNA and eDNA reveal species not detectable by morphology.</a:t>
            </a:r>
            <a:endParaRPr lang="en-US" sz="2000" dirty="0">
              <a:solidFill>
                <a:schemeClr val="bg1"/>
              </a:solidFill>
            </a:endParaRPr>
          </a:p>
          <a:p>
            <a:pPr marL="285750" indent="-285750">
              <a:buFont typeface="Arial"/>
              <a:buChar char="•"/>
            </a:pPr>
            <a:r>
              <a:rPr lang="en-US" sz="2000" dirty="0">
                <a:solidFill>
                  <a:schemeClr val="bg1"/>
                </a:solidFill>
              </a:rPr>
              <a:t>This method uncovers cryptic and microbial diversity.</a:t>
            </a:r>
            <a:endParaRPr lang="en-US" dirty="0">
              <a:solidFill>
                <a:schemeClr val="bg1"/>
              </a:solidFill>
            </a:endParaRPr>
          </a:p>
        </p:txBody>
      </p:sp>
      <p:sp>
        <p:nvSpPr>
          <p:cNvPr id="6" name="Rectangle 5">
            <a:extLst>
              <a:ext uri="{FF2B5EF4-FFF2-40B4-BE49-F238E27FC236}">
                <a16:creationId xmlns:a16="http://schemas.microsoft.com/office/drawing/2014/main" id="{F14A5FDD-2917-1AA1-6313-64BDD3AAB97C}"/>
              </a:ext>
            </a:extLst>
          </p:cNvPr>
          <p:cNvSpPr/>
          <p:nvPr/>
        </p:nvSpPr>
        <p:spPr>
          <a:xfrm>
            <a:off x="8404754" y="6073881"/>
            <a:ext cx="3691967" cy="561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Source: Székely, </a:t>
            </a:r>
            <a:r>
              <a:rPr lang="en-US" dirty="0" err="1">
                <a:ea typeface="+mn-lt"/>
                <a:cs typeface="+mn-lt"/>
              </a:rPr>
              <a:t>Cammen</a:t>
            </a:r>
            <a:r>
              <a:rPr lang="en-US" dirty="0">
                <a:ea typeface="+mn-lt"/>
                <a:cs typeface="+mn-lt"/>
              </a:rPr>
              <a:t> &amp; Olsen (2022), Figure 1.</a:t>
            </a:r>
            <a:endParaRPr lang="en-US" dirty="0"/>
          </a:p>
        </p:txBody>
      </p:sp>
      <p:sp>
        <p:nvSpPr>
          <p:cNvPr id="8" name="Content Placeholder 7">
            <a:extLst>
              <a:ext uri="{FF2B5EF4-FFF2-40B4-BE49-F238E27FC236}">
                <a16:creationId xmlns:a16="http://schemas.microsoft.com/office/drawing/2014/main" id="{7423C9FB-10B4-6202-2442-9D2FD858D12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06254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5" name="Rectangle 14">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CA8660-4753-ADF1-1A77-05349900CCE4}"/>
              </a:ext>
            </a:extLst>
          </p:cNvPr>
          <p:cNvSpPr>
            <a:spLocks noGrp="1"/>
          </p:cNvSpPr>
          <p:nvPr>
            <p:ph type="title"/>
          </p:nvPr>
        </p:nvSpPr>
        <p:spPr>
          <a:xfrm>
            <a:off x="-340375" y="-598709"/>
            <a:ext cx="12540841" cy="1741079"/>
          </a:xfrm>
        </p:spPr>
        <p:txBody>
          <a:bodyPr anchor="ctr">
            <a:normAutofit/>
          </a:bodyPr>
          <a:lstStyle/>
          <a:p>
            <a:r>
              <a:rPr lang="en-US" sz="4000" dirty="0">
                <a:ea typeface="+mj-lt"/>
                <a:cs typeface="+mj-lt"/>
              </a:rPr>
              <a:t>       </a:t>
            </a:r>
            <a:r>
              <a:rPr lang="en-US" sz="2000" b="1" dirty="0">
                <a:ea typeface="+mj-lt"/>
                <a:cs typeface="+mj-lt"/>
              </a:rPr>
              <a:t> Contrasting Species Richness Estimates: Mora et al. (2011) vs. Modern Molecular Projections Wiens (2023)</a:t>
            </a:r>
          </a:p>
        </p:txBody>
      </p:sp>
      <p:sp>
        <p:nvSpPr>
          <p:cNvPr id="3" name="Content Placeholder 2">
            <a:extLst>
              <a:ext uri="{FF2B5EF4-FFF2-40B4-BE49-F238E27FC236}">
                <a16:creationId xmlns:a16="http://schemas.microsoft.com/office/drawing/2014/main" id="{3AC39C0B-9394-B1B6-5F6C-48255A825CE8}"/>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endParaRPr lang="en-US" sz="2000"/>
          </a:p>
          <a:p>
            <a:endParaRPr lang="en-US" sz="2000"/>
          </a:p>
        </p:txBody>
      </p:sp>
      <p:pic>
        <p:nvPicPr>
          <p:cNvPr id="5" name="Picture 4">
            <a:extLst>
              <a:ext uri="{FF2B5EF4-FFF2-40B4-BE49-F238E27FC236}">
                <a16:creationId xmlns:a16="http://schemas.microsoft.com/office/drawing/2014/main" id="{99F2E1E0-4196-FE15-1BAA-7C5F1E7C9356}"/>
              </a:ext>
            </a:extLst>
          </p:cNvPr>
          <p:cNvPicPr>
            <a:picLocks noChangeAspect="1"/>
          </p:cNvPicPr>
          <p:nvPr/>
        </p:nvPicPr>
        <p:blipFill>
          <a:blip r:embed="rId3"/>
          <a:stretch>
            <a:fillRect/>
          </a:stretch>
        </p:blipFill>
        <p:spPr>
          <a:xfrm>
            <a:off x="465798" y="527904"/>
            <a:ext cx="10943482" cy="5595122"/>
          </a:xfrm>
          <a:prstGeom prst="rect">
            <a:avLst/>
          </a:prstGeom>
        </p:spPr>
      </p:pic>
      <p:sp>
        <p:nvSpPr>
          <p:cNvPr id="6" name="Rectangle 5">
            <a:extLst>
              <a:ext uri="{FF2B5EF4-FFF2-40B4-BE49-F238E27FC236}">
                <a16:creationId xmlns:a16="http://schemas.microsoft.com/office/drawing/2014/main" id="{941E126F-C274-2266-4E3C-1ABA4B3DC0A1}"/>
              </a:ext>
            </a:extLst>
          </p:cNvPr>
          <p:cNvSpPr/>
          <p:nvPr/>
        </p:nvSpPr>
        <p:spPr>
          <a:xfrm>
            <a:off x="6434114" y="4973069"/>
            <a:ext cx="5762006" cy="11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Modern estimates are dramatically higher due to detection of hidden taxa.</a:t>
            </a:r>
          </a:p>
        </p:txBody>
      </p:sp>
      <p:sp>
        <p:nvSpPr>
          <p:cNvPr id="7" name="Rectangle 6">
            <a:extLst>
              <a:ext uri="{FF2B5EF4-FFF2-40B4-BE49-F238E27FC236}">
                <a16:creationId xmlns:a16="http://schemas.microsoft.com/office/drawing/2014/main" id="{D5FEC89A-8556-4380-EF75-B1AE62ADE5EF}"/>
              </a:ext>
            </a:extLst>
          </p:cNvPr>
          <p:cNvSpPr/>
          <p:nvPr/>
        </p:nvSpPr>
        <p:spPr>
          <a:xfrm>
            <a:off x="1767" y="6349507"/>
            <a:ext cx="12196959" cy="4967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Fold-change calculations and visualization produced using ChatGPT (OpenAI, 2025), based on data from Wiens (2023).</a:t>
            </a:r>
            <a:endParaRPr lang="en-US" dirty="0"/>
          </a:p>
        </p:txBody>
      </p:sp>
    </p:spTree>
    <p:extLst>
      <p:ext uri="{BB962C8B-B14F-4D97-AF65-F5344CB8AC3E}">
        <p14:creationId xmlns:p14="http://schemas.microsoft.com/office/powerpoint/2010/main" val="2156133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E0410-DD33-CDBB-9F23-64589D76A524}"/>
              </a:ext>
            </a:extLst>
          </p:cNvPr>
          <p:cNvSpPr>
            <a:spLocks noGrp="1"/>
          </p:cNvSpPr>
          <p:nvPr>
            <p:ph type="title"/>
          </p:nvPr>
        </p:nvSpPr>
        <p:spPr>
          <a:xfrm>
            <a:off x="2754876" y="110706"/>
            <a:ext cx="6696624" cy="741421"/>
          </a:xfrm>
        </p:spPr>
        <p:txBody>
          <a:bodyPr anchor="b">
            <a:normAutofit/>
          </a:bodyPr>
          <a:lstStyle/>
          <a:p>
            <a:pPr algn="ctr"/>
            <a:r>
              <a:rPr lang="en-US" sz="3200">
                <a:solidFill>
                  <a:srgbClr val="595959"/>
                </a:solidFill>
                <a:ea typeface="+mj-lt"/>
                <a:cs typeface="+mj-lt"/>
              </a:rPr>
              <a:t>Comparison: Classic vs Modern</a:t>
            </a:r>
            <a:endParaRPr lang="en-US" sz="3200">
              <a:solidFill>
                <a:srgbClr val="595959"/>
              </a:solidFill>
            </a:endParaRPr>
          </a:p>
        </p:txBody>
      </p:sp>
      <p:pic>
        <p:nvPicPr>
          <p:cNvPr id="6" name="Picture 5" descr="A collection of bugs in a box&#10;&#10;AI-generated content may be incorrect.">
            <a:extLst>
              <a:ext uri="{FF2B5EF4-FFF2-40B4-BE49-F238E27FC236}">
                <a16:creationId xmlns:a16="http://schemas.microsoft.com/office/drawing/2014/main" id="{E8167566-851A-3901-DF7F-31A796EAB5A0}"/>
              </a:ext>
            </a:extLst>
          </p:cNvPr>
          <p:cNvPicPr>
            <a:picLocks noChangeAspect="1"/>
          </p:cNvPicPr>
          <p:nvPr/>
        </p:nvPicPr>
        <p:blipFill>
          <a:blip r:embed="rId3"/>
          <a:stretch>
            <a:fillRect/>
          </a:stretch>
        </p:blipFill>
        <p:spPr>
          <a:xfrm>
            <a:off x="863" y="891935"/>
            <a:ext cx="3076756" cy="1827722"/>
          </a:xfrm>
          <a:prstGeom prst="rect">
            <a:avLst/>
          </a:prstGeom>
        </p:spPr>
      </p:pic>
      <p:pic>
        <p:nvPicPr>
          <p:cNvPr id="9" name="Picture 8" descr="A close-up of a person holding a petri dish&#10;&#10;AI-generated content may be incorrect.">
            <a:extLst>
              <a:ext uri="{FF2B5EF4-FFF2-40B4-BE49-F238E27FC236}">
                <a16:creationId xmlns:a16="http://schemas.microsoft.com/office/drawing/2014/main" id="{3E885499-F336-4DD8-C778-8ECBF1FD7E78}"/>
              </a:ext>
            </a:extLst>
          </p:cNvPr>
          <p:cNvPicPr>
            <a:picLocks noChangeAspect="1"/>
          </p:cNvPicPr>
          <p:nvPr/>
        </p:nvPicPr>
        <p:blipFill>
          <a:blip r:embed="rId4"/>
          <a:stretch>
            <a:fillRect/>
          </a:stretch>
        </p:blipFill>
        <p:spPr>
          <a:xfrm>
            <a:off x="319447" y="2883559"/>
            <a:ext cx="2437861" cy="1608467"/>
          </a:xfrm>
          <a:prstGeom prst="rect">
            <a:avLst/>
          </a:prstGeom>
        </p:spPr>
      </p:pic>
      <p:pic>
        <p:nvPicPr>
          <p:cNvPr id="10" name="Picture 9" descr="An animal on the ground&#10;&#10;AI-generated content may be incorrect.">
            <a:extLst>
              <a:ext uri="{FF2B5EF4-FFF2-40B4-BE49-F238E27FC236}">
                <a16:creationId xmlns:a16="http://schemas.microsoft.com/office/drawing/2014/main" id="{3B5FF829-3151-1F58-B229-DEDF03AFE31A}"/>
              </a:ext>
            </a:extLst>
          </p:cNvPr>
          <p:cNvPicPr>
            <a:picLocks noChangeAspect="1"/>
          </p:cNvPicPr>
          <p:nvPr/>
        </p:nvPicPr>
        <p:blipFill>
          <a:blip r:embed="rId5"/>
          <a:stretch>
            <a:fillRect/>
          </a:stretch>
        </p:blipFill>
        <p:spPr>
          <a:xfrm>
            <a:off x="138292" y="4910138"/>
            <a:ext cx="2828925" cy="1609725"/>
          </a:xfrm>
          <a:prstGeom prst="rect">
            <a:avLst/>
          </a:prstGeom>
        </p:spPr>
      </p:pic>
      <p:pic>
        <p:nvPicPr>
          <p:cNvPr id="11" name="Picture 10" descr="A diagram of a dna metabarcode&#10;&#10;AI-generated content may be incorrect.">
            <a:extLst>
              <a:ext uri="{FF2B5EF4-FFF2-40B4-BE49-F238E27FC236}">
                <a16:creationId xmlns:a16="http://schemas.microsoft.com/office/drawing/2014/main" id="{EFE7CAD3-BC8B-CD11-DFCA-34777A1366D3}"/>
              </a:ext>
            </a:extLst>
          </p:cNvPr>
          <p:cNvPicPr>
            <a:picLocks noChangeAspect="1"/>
          </p:cNvPicPr>
          <p:nvPr/>
        </p:nvPicPr>
        <p:blipFill>
          <a:blip r:embed="rId6"/>
          <a:stretch>
            <a:fillRect/>
          </a:stretch>
        </p:blipFill>
        <p:spPr>
          <a:xfrm>
            <a:off x="8967609" y="3045125"/>
            <a:ext cx="3228257" cy="1285336"/>
          </a:xfrm>
          <a:prstGeom prst="rect">
            <a:avLst/>
          </a:prstGeom>
        </p:spPr>
      </p:pic>
      <p:pic>
        <p:nvPicPr>
          <p:cNvPr id="12" name="Picture 11" descr="A hand holding a container with water and fish in it&#10;&#10;AI-generated content may be incorrect.">
            <a:extLst>
              <a:ext uri="{FF2B5EF4-FFF2-40B4-BE49-F238E27FC236}">
                <a16:creationId xmlns:a16="http://schemas.microsoft.com/office/drawing/2014/main" id="{32B805BA-670D-C9FD-E57F-16F999DE1BE7}"/>
              </a:ext>
            </a:extLst>
          </p:cNvPr>
          <p:cNvPicPr>
            <a:picLocks noChangeAspect="1"/>
          </p:cNvPicPr>
          <p:nvPr/>
        </p:nvPicPr>
        <p:blipFill>
          <a:blip r:embed="rId7"/>
          <a:stretch>
            <a:fillRect/>
          </a:stretch>
        </p:blipFill>
        <p:spPr>
          <a:xfrm>
            <a:off x="9286426" y="975953"/>
            <a:ext cx="2619375" cy="1743075"/>
          </a:xfrm>
          <a:prstGeom prst="rect">
            <a:avLst/>
          </a:prstGeom>
        </p:spPr>
      </p:pic>
      <p:pic>
        <p:nvPicPr>
          <p:cNvPr id="13" name="Picture 12" descr="A collage of different colored plates&#10;&#10;AI-generated content may be incorrect.">
            <a:extLst>
              <a:ext uri="{FF2B5EF4-FFF2-40B4-BE49-F238E27FC236}">
                <a16:creationId xmlns:a16="http://schemas.microsoft.com/office/drawing/2014/main" id="{56E0FD1D-540E-5809-BB1D-6493A9BA3793}"/>
              </a:ext>
            </a:extLst>
          </p:cNvPr>
          <p:cNvPicPr>
            <a:picLocks noChangeAspect="1"/>
          </p:cNvPicPr>
          <p:nvPr/>
        </p:nvPicPr>
        <p:blipFill>
          <a:blip r:embed="rId8"/>
          <a:stretch>
            <a:fillRect/>
          </a:stretch>
        </p:blipFill>
        <p:spPr>
          <a:xfrm>
            <a:off x="9387157" y="4795478"/>
            <a:ext cx="2647950" cy="1724025"/>
          </a:xfrm>
          <a:prstGeom prst="rect">
            <a:avLst/>
          </a:prstGeom>
        </p:spPr>
      </p:pic>
      <p:pic>
        <p:nvPicPr>
          <p:cNvPr id="3" name="Picture 2" descr="A blue and white chart with white text&#10;&#10;AI-generated content may be incorrect.">
            <a:extLst>
              <a:ext uri="{FF2B5EF4-FFF2-40B4-BE49-F238E27FC236}">
                <a16:creationId xmlns:a16="http://schemas.microsoft.com/office/drawing/2014/main" id="{69DE1E00-3E8D-B25A-0A31-1CA82C508377}"/>
              </a:ext>
            </a:extLst>
          </p:cNvPr>
          <p:cNvPicPr>
            <a:picLocks noChangeAspect="1"/>
          </p:cNvPicPr>
          <p:nvPr/>
        </p:nvPicPr>
        <p:blipFill>
          <a:blip r:embed="rId9"/>
          <a:stretch>
            <a:fillRect/>
          </a:stretch>
        </p:blipFill>
        <p:spPr>
          <a:xfrm>
            <a:off x="3064626" y="1597326"/>
            <a:ext cx="6062750" cy="3188895"/>
          </a:xfrm>
          <a:prstGeom prst="rect">
            <a:avLst/>
          </a:prstGeom>
        </p:spPr>
      </p:pic>
      <p:sp>
        <p:nvSpPr>
          <p:cNvPr id="5" name="Rectangle 4">
            <a:extLst>
              <a:ext uri="{FF2B5EF4-FFF2-40B4-BE49-F238E27FC236}">
                <a16:creationId xmlns:a16="http://schemas.microsoft.com/office/drawing/2014/main" id="{880E1DE6-65B7-3D76-E7CC-AE9D862AA912}"/>
              </a:ext>
            </a:extLst>
          </p:cNvPr>
          <p:cNvSpPr/>
          <p:nvPr/>
        </p:nvSpPr>
        <p:spPr>
          <a:xfrm>
            <a:off x="3110476" y="5624160"/>
            <a:ext cx="5850016" cy="870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mn-lt"/>
                <a:cs typeface="+mn-lt"/>
              </a:rPr>
              <a:t>Classic taxonomy measures visible life; DNA methods reveal the hidden majority.</a:t>
            </a:r>
            <a:endParaRPr lang="en-US" dirty="0"/>
          </a:p>
        </p:txBody>
      </p:sp>
      <p:sp>
        <p:nvSpPr>
          <p:cNvPr id="7" name="Rectangle 6">
            <a:extLst>
              <a:ext uri="{FF2B5EF4-FFF2-40B4-BE49-F238E27FC236}">
                <a16:creationId xmlns:a16="http://schemas.microsoft.com/office/drawing/2014/main" id="{A5FC7862-09D2-F695-8A53-FCAD467518F3}"/>
              </a:ext>
            </a:extLst>
          </p:cNvPr>
          <p:cNvSpPr/>
          <p:nvPr/>
        </p:nvSpPr>
        <p:spPr>
          <a:xfrm>
            <a:off x="317870" y="159456"/>
            <a:ext cx="2438400" cy="684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Classic</a:t>
            </a:r>
          </a:p>
        </p:txBody>
      </p:sp>
      <p:sp>
        <p:nvSpPr>
          <p:cNvPr id="8" name="Rectangle 7">
            <a:extLst>
              <a:ext uri="{FF2B5EF4-FFF2-40B4-BE49-F238E27FC236}">
                <a16:creationId xmlns:a16="http://schemas.microsoft.com/office/drawing/2014/main" id="{1BB69817-A266-E9FA-23F7-E334FE5869F1}"/>
              </a:ext>
            </a:extLst>
          </p:cNvPr>
          <p:cNvSpPr/>
          <p:nvPr/>
        </p:nvSpPr>
        <p:spPr>
          <a:xfrm>
            <a:off x="9533757" y="159455"/>
            <a:ext cx="2122097" cy="684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Modern</a:t>
            </a:r>
          </a:p>
        </p:txBody>
      </p:sp>
    </p:spTree>
    <p:extLst>
      <p:ext uri="{BB962C8B-B14F-4D97-AF65-F5344CB8AC3E}">
        <p14:creationId xmlns:p14="http://schemas.microsoft.com/office/powerpoint/2010/main" val="871368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3D render of cells">
            <a:extLst>
              <a:ext uri="{FF2B5EF4-FFF2-40B4-BE49-F238E27FC236}">
                <a16:creationId xmlns:a16="http://schemas.microsoft.com/office/drawing/2014/main" id="{FBF2F0AD-2B82-C9AF-3358-1319FD5D1C2E}"/>
              </a:ext>
            </a:extLst>
          </p:cNvPr>
          <p:cNvPicPr>
            <a:picLocks noChangeAspect="1"/>
          </p:cNvPicPr>
          <p:nvPr/>
        </p:nvPicPr>
        <p:blipFill>
          <a:blip r:embed="rId3"/>
          <a:srcRect l="21599" r="28457" b="-2"/>
          <a:stretch>
            <a:fillRect/>
          </a:stretch>
        </p:blipFill>
        <p:spPr>
          <a:xfrm>
            <a:off x="6103027" y="10"/>
            <a:ext cx="6088971" cy="6857990"/>
          </a:xfrm>
          <a:prstGeom prst="rect">
            <a:avLst/>
          </a:prstGeom>
        </p:spPr>
      </p:pic>
      <p:sp useBgFill="1">
        <p:nvSpPr>
          <p:cNvPr id="20" name="Rectangle 19">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0D3FBB-6769-8319-3983-4623A6550E02}"/>
              </a:ext>
            </a:extLst>
          </p:cNvPr>
          <p:cNvSpPr>
            <a:spLocks noGrp="1"/>
          </p:cNvSpPr>
          <p:nvPr>
            <p:ph type="title"/>
          </p:nvPr>
        </p:nvSpPr>
        <p:spPr>
          <a:xfrm>
            <a:off x="-199" y="-476620"/>
            <a:ext cx="4778387" cy="1628970"/>
          </a:xfrm>
        </p:spPr>
        <p:txBody>
          <a:bodyPr anchor="ctr">
            <a:normAutofit/>
          </a:bodyPr>
          <a:lstStyle/>
          <a:p>
            <a:r>
              <a:rPr lang="en-US" sz="4000"/>
              <a:t>Conclusion </a:t>
            </a:r>
          </a:p>
        </p:txBody>
      </p:sp>
      <p:graphicFrame>
        <p:nvGraphicFramePr>
          <p:cNvPr id="26" name="Content Placeholder 2">
            <a:extLst>
              <a:ext uri="{FF2B5EF4-FFF2-40B4-BE49-F238E27FC236}">
                <a16:creationId xmlns:a16="http://schemas.microsoft.com/office/drawing/2014/main" id="{CCB6B4AC-FF2A-8E30-494B-C83DA6D6CBD1}"/>
              </a:ext>
            </a:extLst>
          </p:cNvPr>
          <p:cNvGraphicFramePr>
            <a:graphicFrameLocks noGrp="1"/>
          </p:cNvGraphicFramePr>
          <p:nvPr>
            <p:ph idx="1"/>
            <p:extLst>
              <p:ext uri="{D42A27DB-BD31-4B8C-83A1-F6EECF244321}">
                <p14:modId xmlns:p14="http://schemas.microsoft.com/office/powerpoint/2010/main" val="949992944"/>
              </p:ext>
            </p:extLst>
          </p:nvPr>
        </p:nvGraphicFramePr>
        <p:xfrm>
          <a:off x="-197" y="659007"/>
          <a:ext cx="5906732" cy="62039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63312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3B2CA7-09C0-5D07-CC54-E8617729D26D}"/>
              </a:ext>
            </a:extLst>
          </p:cNvPr>
          <p:cNvSpPr>
            <a:spLocks noGrp="1"/>
          </p:cNvSpPr>
          <p:nvPr>
            <p:ph type="title"/>
          </p:nvPr>
        </p:nvSpPr>
        <p:spPr>
          <a:xfrm>
            <a:off x="6412091" y="501651"/>
            <a:ext cx="4395340" cy="1716255"/>
          </a:xfrm>
        </p:spPr>
        <p:txBody>
          <a:bodyPr anchor="b">
            <a:normAutofit/>
          </a:bodyPr>
          <a:lstStyle/>
          <a:p>
            <a:r>
              <a:rPr lang="en-GB" sz="5600"/>
              <a:t>Thank you for your attention! </a:t>
            </a:r>
          </a:p>
        </p:txBody>
      </p:sp>
      <p:sp>
        <p:nvSpPr>
          <p:cNvPr id="4105" name="Rectangle 4104">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This may contain: the pink bear is holding his arms out and looking at something in front of him">
            <a:extLst>
              <a:ext uri="{FF2B5EF4-FFF2-40B4-BE49-F238E27FC236}">
                <a16:creationId xmlns:a16="http://schemas.microsoft.com/office/drawing/2014/main" id="{A739148D-159F-6FB2-DF88-F9B62CE0CA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9143" y="818188"/>
            <a:ext cx="5221625" cy="5221625"/>
          </a:xfrm>
          <a:prstGeom prst="rect">
            <a:avLst/>
          </a:prstGeom>
          <a:noFill/>
          <a:extLst>
            <a:ext uri="{909E8E84-426E-40DD-AFC4-6F175D3DCCD1}">
              <a14:hiddenFill xmlns:a14="http://schemas.microsoft.com/office/drawing/2010/main">
                <a:solidFill>
                  <a:srgbClr val="FFFFFF"/>
                </a:solidFill>
              </a14:hiddenFill>
            </a:ext>
          </a:extLst>
        </p:spPr>
      </p:pic>
      <p:cxnSp>
        <p:nvCxnSpPr>
          <p:cNvPr id="4107" name="Straight Connector 410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336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3D7D7-D062-EF52-704E-EDAD85B446DB}"/>
              </a:ext>
            </a:extLst>
          </p:cNvPr>
          <p:cNvSpPr>
            <a:spLocks noGrp="1"/>
          </p:cNvSpPr>
          <p:nvPr>
            <p:ph type="title"/>
          </p:nvPr>
        </p:nvSpPr>
        <p:spPr/>
        <p:txBody>
          <a:bodyPr/>
          <a:lstStyle/>
          <a:p>
            <a:r>
              <a:rPr lang="en-GB"/>
              <a:t>Resources: </a:t>
            </a:r>
          </a:p>
        </p:txBody>
      </p:sp>
      <p:sp>
        <p:nvSpPr>
          <p:cNvPr id="3" name="Content Placeholder 2">
            <a:extLst>
              <a:ext uri="{FF2B5EF4-FFF2-40B4-BE49-F238E27FC236}">
                <a16:creationId xmlns:a16="http://schemas.microsoft.com/office/drawing/2014/main" id="{4E1D6120-982F-78D7-7BB9-61C343027A8F}"/>
              </a:ext>
            </a:extLst>
          </p:cNvPr>
          <p:cNvSpPr>
            <a:spLocks noGrp="1"/>
          </p:cNvSpPr>
          <p:nvPr>
            <p:ph idx="1"/>
          </p:nvPr>
        </p:nvSpPr>
        <p:spPr/>
        <p:txBody>
          <a:bodyPr vert="horz" lIns="91440" tIns="45720" rIns="91440" bIns="45720" rtlCol="0" anchor="t">
            <a:normAutofit/>
          </a:bodyPr>
          <a:lstStyle/>
          <a:p>
            <a:pPr marL="0" indent="0">
              <a:buNone/>
            </a:pPr>
            <a:endParaRPr lang="en-GB" sz="1400" b="1" dirty="0"/>
          </a:p>
          <a:p>
            <a:endParaRPr lang="en-GB" sz="1400" dirty="0"/>
          </a:p>
          <a:p>
            <a:endParaRPr lang="en-GB" sz="1400" dirty="0"/>
          </a:p>
          <a:p>
            <a:endParaRPr lang="en-GB"/>
          </a:p>
        </p:txBody>
      </p:sp>
      <p:pic>
        <p:nvPicPr>
          <p:cNvPr id="4" name="Picture 3" descr="A black text on a white background&#10;&#10;AI-generated content may be incorrect.">
            <a:extLst>
              <a:ext uri="{FF2B5EF4-FFF2-40B4-BE49-F238E27FC236}">
                <a16:creationId xmlns:a16="http://schemas.microsoft.com/office/drawing/2014/main" id="{D6BBA16E-F50F-9A93-B8EB-EC8BF7F5F2A0}"/>
              </a:ext>
            </a:extLst>
          </p:cNvPr>
          <p:cNvPicPr>
            <a:picLocks noChangeAspect="1"/>
          </p:cNvPicPr>
          <p:nvPr/>
        </p:nvPicPr>
        <p:blipFill>
          <a:blip r:embed="rId2"/>
          <a:stretch>
            <a:fillRect/>
          </a:stretch>
        </p:blipFill>
        <p:spPr>
          <a:xfrm>
            <a:off x="499132" y="1461654"/>
            <a:ext cx="10852385" cy="1352490"/>
          </a:xfrm>
          <a:prstGeom prst="rect">
            <a:avLst/>
          </a:prstGeom>
        </p:spPr>
      </p:pic>
      <p:sp>
        <p:nvSpPr>
          <p:cNvPr id="6" name="TextBox 5">
            <a:extLst>
              <a:ext uri="{FF2B5EF4-FFF2-40B4-BE49-F238E27FC236}">
                <a16:creationId xmlns:a16="http://schemas.microsoft.com/office/drawing/2014/main" id="{CD3158C1-D5E0-3061-E928-89E46A59861D}"/>
              </a:ext>
            </a:extLst>
          </p:cNvPr>
          <p:cNvSpPr txBox="1"/>
          <p:nvPr/>
        </p:nvSpPr>
        <p:spPr>
          <a:xfrm>
            <a:off x="496843" y="2818157"/>
            <a:ext cx="10855896" cy="11892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Figure (slide 11): </a:t>
            </a:r>
            <a:r>
              <a:rPr lang="en-US" dirty="0">
                <a:ea typeface="+mn-lt"/>
                <a:cs typeface="+mn-lt"/>
              </a:rPr>
              <a:t>Székely, D., </a:t>
            </a:r>
            <a:r>
              <a:rPr lang="en-US" dirty="0" err="1">
                <a:ea typeface="+mn-lt"/>
                <a:cs typeface="+mn-lt"/>
              </a:rPr>
              <a:t>Cammen</a:t>
            </a:r>
            <a:r>
              <a:rPr lang="en-US" dirty="0">
                <a:ea typeface="+mn-lt"/>
                <a:cs typeface="+mn-lt"/>
              </a:rPr>
              <a:t>, K., &amp; Olsen, M. T. (2022). </a:t>
            </a:r>
            <a:r>
              <a:rPr lang="en-US" i="1" dirty="0">
                <a:ea typeface="+mn-lt"/>
                <a:cs typeface="+mn-lt"/>
              </a:rPr>
              <a:t>Needles in an ocean haystack: Using environmental DNA to study marine mammals in the North Atlantic</a:t>
            </a:r>
            <a:r>
              <a:rPr lang="en-US" dirty="0">
                <a:ea typeface="+mn-lt"/>
                <a:cs typeface="+mn-lt"/>
              </a:rPr>
              <a:t>. NAMMCO Scientific Publications, 12. </a:t>
            </a:r>
            <a:r>
              <a:rPr lang="en-US" dirty="0">
                <a:ea typeface="+mn-lt"/>
                <a:cs typeface="+mn-lt"/>
                <a:hlinkClick r:id="rId3"/>
              </a:rPr>
              <a:t>https://doi.org/10.7557/3.6482</a:t>
            </a:r>
            <a:endParaRPr lang="en-US">
              <a:ea typeface="+mn-lt"/>
              <a:cs typeface="+mn-lt"/>
            </a:endParaRPr>
          </a:p>
          <a:p>
            <a:endParaRPr lang="en-US" dirty="0"/>
          </a:p>
        </p:txBody>
      </p:sp>
      <p:sp>
        <p:nvSpPr>
          <p:cNvPr id="7" name="TextBox 6">
            <a:extLst>
              <a:ext uri="{FF2B5EF4-FFF2-40B4-BE49-F238E27FC236}">
                <a16:creationId xmlns:a16="http://schemas.microsoft.com/office/drawing/2014/main" id="{C4F306C2-E299-DB0B-4546-07CC4C5B3659}"/>
              </a:ext>
            </a:extLst>
          </p:cNvPr>
          <p:cNvSpPr txBox="1"/>
          <p:nvPr/>
        </p:nvSpPr>
        <p:spPr>
          <a:xfrm>
            <a:off x="552049" y="4292179"/>
            <a:ext cx="11303200" cy="11455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F58DD838-61B3-F40A-2074-999902E7965B}"/>
              </a:ext>
            </a:extLst>
          </p:cNvPr>
          <p:cNvSpPr txBox="1"/>
          <p:nvPr/>
        </p:nvSpPr>
        <p:spPr>
          <a:xfrm>
            <a:off x="483017" y="3869757"/>
            <a:ext cx="111099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Figure  (slide 12):OpenAI. (2025). Fold-change calculations and data visualization generated using ChatGPT (Version GPT-5.1). </a:t>
            </a:r>
            <a:r>
              <a:rPr lang="en-US" dirty="0">
                <a:ea typeface="+mn-lt"/>
                <a:cs typeface="+mn-lt"/>
                <a:hlinkClick r:id="rId4"/>
              </a:rPr>
              <a:t>https://www.openai.com/chatgpt</a:t>
            </a:r>
            <a:endParaRPr lang="en-US"/>
          </a:p>
        </p:txBody>
      </p:sp>
    </p:spTree>
    <p:extLst>
      <p:ext uri="{BB962C8B-B14F-4D97-AF65-F5344CB8AC3E}">
        <p14:creationId xmlns:p14="http://schemas.microsoft.com/office/powerpoint/2010/main" val="3819651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12CB9-502A-42BD-35BE-21EF219213E9}"/>
              </a:ext>
            </a:extLst>
          </p:cNvPr>
          <p:cNvSpPr>
            <a:spLocks noGrp="1"/>
          </p:cNvSpPr>
          <p:nvPr>
            <p:ph type="title"/>
          </p:nvPr>
        </p:nvSpPr>
        <p:spPr/>
        <p:txBody>
          <a:bodyPr/>
          <a:lstStyle/>
          <a:p>
            <a:r>
              <a:rPr lang="en-US"/>
              <a:t>Who did what? </a:t>
            </a:r>
          </a:p>
        </p:txBody>
      </p:sp>
      <p:sp>
        <p:nvSpPr>
          <p:cNvPr id="3" name="Content Placeholder 2">
            <a:extLst>
              <a:ext uri="{FF2B5EF4-FFF2-40B4-BE49-F238E27FC236}">
                <a16:creationId xmlns:a16="http://schemas.microsoft.com/office/drawing/2014/main" id="{15D1FE1F-B1AD-FEF0-C361-DA4693978A8A}"/>
              </a:ext>
            </a:extLst>
          </p:cNvPr>
          <p:cNvSpPr>
            <a:spLocks noGrp="1"/>
          </p:cNvSpPr>
          <p:nvPr>
            <p:ph idx="1"/>
          </p:nvPr>
        </p:nvSpPr>
        <p:spPr/>
        <p:txBody>
          <a:bodyPr vert="horz" lIns="91440" tIns="45720" rIns="91440" bIns="45720" rtlCol="0" anchor="t">
            <a:normAutofit/>
          </a:bodyPr>
          <a:lstStyle/>
          <a:p>
            <a:r>
              <a:rPr lang="en-US" dirty="0"/>
              <a:t>Aibar Azat 1,2,3</a:t>
            </a:r>
          </a:p>
          <a:p>
            <a:r>
              <a:rPr lang="az-AZ" dirty="0"/>
              <a:t>Novruzov Elvin prepared slides 4 ,5,6,7</a:t>
            </a:r>
          </a:p>
          <a:p>
            <a:r>
              <a:rPr lang="en-US" dirty="0" err="1"/>
              <a:t>Inseo</a:t>
            </a:r>
            <a:r>
              <a:rPr lang="en-US" dirty="0"/>
              <a:t> Choi 8,9,10</a:t>
            </a:r>
          </a:p>
          <a:p>
            <a:r>
              <a:rPr lang="en-US" dirty="0"/>
              <a:t>Kindt Zoe prepared slides11,12,13,14,15,16,17</a:t>
            </a:r>
          </a:p>
          <a:p>
            <a:endParaRPr lang="en-US" dirty="0"/>
          </a:p>
        </p:txBody>
      </p:sp>
    </p:spTree>
    <p:extLst>
      <p:ext uri="{BB962C8B-B14F-4D97-AF65-F5344CB8AC3E}">
        <p14:creationId xmlns:p14="http://schemas.microsoft.com/office/powerpoint/2010/main" val="11879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11</Notes>
  <HiddenSlides>0</HiddenSlides>
  <ScaleCrop>false</ScaleCrop>
  <HeadingPairs>
    <vt:vector size="4" baseType="variant">
      <vt:variant>
        <vt:lpstr>Theme</vt:lpstr>
      </vt:variant>
      <vt:variant>
        <vt:i4>3</vt:i4>
      </vt:variant>
      <vt:variant>
        <vt:lpstr>Slide Titles</vt:lpstr>
      </vt:variant>
      <vt:variant>
        <vt:i4>17</vt:i4>
      </vt:variant>
    </vt:vector>
  </HeadingPairs>
  <TitlesOfParts>
    <vt:vector size="20" baseType="lpstr">
      <vt:lpstr>office theme</vt:lpstr>
      <vt:lpstr>Office Theme</vt:lpstr>
      <vt:lpstr>ChronicleVTI</vt:lpstr>
      <vt:lpstr>macroecology and biogeography 2</vt:lpstr>
      <vt:lpstr>PowerPoint Presentation</vt:lpstr>
      <vt:lpstr>Species concept</vt:lpstr>
      <vt:lpstr>PowerPoint Presentation</vt:lpstr>
      <vt:lpstr>PowerPoint Presentation</vt:lpstr>
      <vt:lpstr>PowerPoint Presentation</vt:lpstr>
      <vt:lpstr>PowerPoint Presentation</vt:lpstr>
      <vt:lpstr>How Many Species on Earth?  -Methods: The Taxonomic Pattern</vt:lpstr>
      <vt:lpstr>How Many Species on Earth?  -Results</vt:lpstr>
      <vt:lpstr>PowerPoint Presentation</vt:lpstr>
      <vt:lpstr>                           Modern DNA Methods Reveal Hidden Diversity</vt:lpstr>
      <vt:lpstr>        Contrasting Species Richness Estimates: Mora et al. (2011) vs. Modern Molecular Projections Wiens (2023)</vt:lpstr>
      <vt:lpstr>Comparison: Classic vs Modern</vt:lpstr>
      <vt:lpstr>Conclusion </vt:lpstr>
      <vt:lpstr>Thank you for your attention! </vt:lpstr>
      <vt:lpstr>Resources: </vt:lpstr>
      <vt:lpstr>Who did what?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Many Species Are on Earth &amp; Why Is It Hard to Estimate?</dc:title>
  <dc:creator/>
  <cp:lastModifiedBy>최 인서</cp:lastModifiedBy>
  <cp:revision>341</cp:revision>
  <dcterms:created xsi:type="dcterms:W3CDTF">2025-11-25T15:53:03Z</dcterms:created>
  <dcterms:modified xsi:type="dcterms:W3CDTF">2025-12-06T21:07:45Z</dcterms:modified>
</cp:coreProperties>
</file>