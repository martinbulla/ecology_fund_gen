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18"/>
  </p:notesMasterIdLst>
  <p:sldIdLst>
    <p:sldId id="256" r:id="rId5"/>
    <p:sldId id="261" r:id="rId6"/>
    <p:sldId id="267" r:id="rId7"/>
    <p:sldId id="268" r:id="rId8"/>
    <p:sldId id="269" r:id="rId9"/>
    <p:sldId id="270" r:id="rId10"/>
    <p:sldId id="271" r:id="rId11"/>
    <p:sldId id="272" r:id="rId12"/>
    <p:sldId id="262" r:id="rId13"/>
    <p:sldId id="263" r:id="rId14"/>
    <p:sldId id="264" r:id="rId15"/>
    <p:sldId id="265"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B56580-6C0C-4E25-AD2F-B69646FB15E7}" v="179" dt="2025-12-05T07:52:10.142"/>
    <p1510:client id="{7CB40E01-7781-4005-ABB7-7F3CD0909DF6}" v="23" dt="2025-12-04T15:42:32.036"/>
    <p1510:client id="{7EACB15C-DB70-4AE6-8ED6-3B1458C56719}" v="23" dt="2025-12-04T21:14:16.287"/>
    <p1510:client id="{9BC0B72B-1456-1CB2-B3EE-033818034F6E}" v="66" dt="2025-12-04T15:46:59.876"/>
    <p1510:client id="{B475C625-93CC-A486-0DD8-BCE028ABA743}" v="2149" dt="2025-12-03T21:26:53.263"/>
  </p1510:revLst>
</p1510:revInfo>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62936" autoAdjust="0"/>
  </p:normalViewPr>
  <p:slideViewPr>
    <p:cSldViewPr snapToGrid="0">
      <p:cViewPr varScale="1">
        <p:scale>
          <a:sx n="52" d="100"/>
          <a:sy n="52" d="100"/>
        </p:scale>
        <p:origin x="1824"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F2B74-1A8F-42AE-88CD-9EC8A7637C64}" type="datetimeFigureOut">
              <a:rPr lang="cs-CZ" smtClean="0"/>
              <a:t>05.12.2025</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D9F0A-9AE1-454F-B929-89BEA66E7B5C}" type="slidenum">
              <a:rPr lang="cs-CZ" smtClean="0"/>
              <a:t>‹#›</a:t>
            </a:fld>
            <a:endParaRPr lang="cs-CZ"/>
          </a:p>
        </p:txBody>
      </p:sp>
    </p:spTree>
    <p:extLst>
      <p:ext uri="{BB962C8B-B14F-4D97-AF65-F5344CB8AC3E}">
        <p14:creationId xmlns:p14="http://schemas.microsoft.com/office/powerpoint/2010/main" val="1187639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 mass extinction is defined as a relatively rapid, widespread event that leads to a sharp decrease in the number of species on Earth.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It’s characterized by the loss of 75% or more of all species within a geologically short period of time.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It’s usually caused by sudden, catastrophic global events resulting from major environmental upheaval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Mass extinctions are extremely rare events in Earth's history. There have been only five major mass extinction events over the past 540 million years, which are often cited as the “Big Five.”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These events fundamentally reset the course of evolution.</a:t>
            </a:r>
          </a:p>
        </p:txBody>
      </p:sp>
      <p:sp>
        <p:nvSpPr>
          <p:cNvPr id="4" name="Zástupný symbol pro číslo snímku 3"/>
          <p:cNvSpPr>
            <a:spLocks noGrp="1"/>
          </p:cNvSpPr>
          <p:nvPr>
            <p:ph type="sldNum" sz="quarter" idx="5"/>
          </p:nvPr>
        </p:nvSpPr>
        <p:spPr/>
        <p:txBody>
          <a:bodyPr/>
          <a:lstStyle/>
          <a:p>
            <a:fld id="{291D9F0A-9AE1-454F-B929-89BEA66E7B5C}" type="slidenum">
              <a:rPr lang="cs-CZ" smtClean="0"/>
              <a:t>3</a:t>
            </a:fld>
            <a:endParaRPr lang="cs-CZ"/>
          </a:p>
        </p:txBody>
      </p:sp>
    </p:spTree>
    <p:extLst>
      <p:ext uri="{BB962C8B-B14F-4D97-AF65-F5344CB8AC3E}">
        <p14:creationId xmlns:p14="http://schemas.microsoft.com/office/powerpoint/2010/main" val="3299162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Tx/>
              <a:buChar char="-"/>
            </a:pPr>
            <a:r>
              <a:rPr lang="en-US" sz="1200" b="1" dirty="0"/>
              <a:t>Main Goal: </a:t>
            </a:r>
            <a:r>
              <a:rPr lang="en-US" sz="1200" dirty="0"/>
              <a:t>To conservatively assess whether current extinction rates justify the claim that Earth's biota is entering a sixth “mass extinction”</a:t>
            </a:r>
            <a:endParaRPr lang="en-US" sz="1200" b="0" dirty="0"/>
          </a:p>
          <a:p>
            <a:pPr marL="171450" indent="-171450">
              <a:buFontTx/>
              <a:buChar char="-"/>
            </a:pPr>
            <a:r>
              <a:rPr lang="en-US" sz="1200" b="1" dirty="0"/>
              <a:t>Methodology:</a:t>
            </a:r>
            <a:r>
              <a:rPr lang="en-US" sz="1200" dirty="0"/>
              <a:t> Compared modern vertebrate extinction rates to a high, conservative background rate</a:t>
            </a:r>
            <a:endParaRPr lang="en-US" sz="1200" b="0" dirty="0"/>
          </a:p>
          <a:p>
            <a:pPr marL="171450" indent="-171450">
              <a:buFontTx/>
              <a:buChar char="-"/>
            </a:pPr>
            <a:r>
              <a:rPr lang="en-US" sz="1200" b="1" dirty="0"/>
              <a:t>Conservative Background Rate: </a:t>
            </a:r>
            <a:r>
              <a:rPr lang="en-US" sz="1200" dirty="0"/>
              <a:t>2 E/MSY (2 extinctions per 10.000 species per 100 years) this is double the previous highest estimate.</a:t>
            </a:r>
            <a:endParaRPr lang="en-US" sz="1200" b="0" dirty="0"/>
          </a:p>
          <a:p>
            <a:pPr marL="171450" indent="-171450">
              <a:buFontTx/>
              <a:buChar char="-"/>
            </a:pPr>
            <a:r>
              <a:rPr lang="en-US" sz="1200" b="1" dirty="0"/>
              <a:t>Key Findings: </a:t>
            </a:r>
            <a:r>
              <a:rPr lang="en-US" sz="1200" dirty="0"/>
              <a:t>Modern extinction rates for vertebrates are up to 100 times higher than the background rate.</a:t>
            </a:r>
            <a:endParaRPr lang="en-US" sz="1200" b="0" dirty="0"/>
          </a:p>
          <a:p>
            <a:pPr marL="171450" indent="-171450">
              <a:buFontTx/>
              <a:buChar char="-"/>
            </a:pPr>
            <a:r>
              <a:rPr lang="en-US" sz="1200" b="1" dirty="0"/>
              <a:t>Quantification: </a:t>
            </a:r>
            <a:r>
              <a:rPr lang="en-US" sz="1200" dirty="0"/>
              <a:t>The number of species that went extinct in the last century would have taken between 800 and 10.000 years to disappear under the background rate.</a:t>
            </a:r>
            <a:endParaRPr lang="en-US" sz="1200" b="0" dirty="0"/>
          </a:p>
          <a:p>
            <a:pPr marL="171450" indent="-171450">
              <a:buFontTx/>
              <a:buChar char="-"/>
            </a:pPr>
            <a:r>
              <a:rPr lang="en-US" sz="1200" b="1" dirty="0"/>
              <a:t>Conclusion</a:t>
            </a:r>
            <a:r>
              <a:rPr lang="en-US" sz="1200" dirty="0"/>
              <a:t>: An exceptionally rapid loss of biodiversity is underway, indicating that a sixth mass extinction is already occurring</a:t>
            </a:r>
            <a:endParaRPr lang="cs-CZ" dirty="0"/>
          </a:p>
        </p:txBody>
      </p:sp>
      <p:sp>
        <p:nvSpPr>
          <p:cNvPr id="4" name="Zástupný symbol pro číslo snímku 3"/>
          <p:cNvSpPr>
            <a:spLocks noGrp="1"/>
          </p:cNvSpPr>
          <p:nvPr>
            <p:ph type="sldNum" sz="quarter" idx="5"/>
          </p:nvPr>
        </p:nvSpPr>
        <p:spPr/>
        <p:txBody>
          <a:bodyPr/>
          <a:lstStyle/>
          <a:p>
            <a:fld id="{291D9F0A-9AE1-454F-B929-89BEA66E7B5C}" type="slidenum">
              <a:rPr lang="cs-CZ" smtClean="0"/>
              <a:t>5</a:t>
            </a:fld>
            <a:endParaRPr lang="cs-CZ"/>
          </a:p>
        </p:txBody>
      </p:sp>
    </p:spTree>
    <p:extLst>
      <p:ext uri="{BB962C8B-B14F-4D97-AF65-F5344CB8AC3E}">
        <p14:creationId xmlns:p14="http://schemas.microsoft.com/office/powerpoint/2010/main" val="189570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Tx/>
              <a:buChar char="-"/>
            </a:pPr>
            <a:r>
              <a:rPr lang="en-US" sz="1200" b="1" dirty="0"/>
              <a:t>Total Documented Vertebrate Extinctions: </a:t>
            </a:r>
            <a:r>
              <a:rPr lang="en-US" sz="1200" dirty="0"/>
              <a:t>338 species.</a:t>
            </a:r>
            <a:endParaRPr lang="en-US" sz="1200" b="0" dirty="0"/>
          </a:p>
          <a:p>
            <a:pPr marL="171450" indent="-171450">
              <a:buFontTx/>
              <a:buChar char="-"/>
            </a:pPr>
            <a:r>
              <a:rPr lang="en-US" sz="1200" b="1" dirty="0"/>
              <a:t>Total Vertebrate Extinctions: </a:t>
            </a:r>
            <a:r>
              <a:rPr lang="en-US" sz="1200" dirty="0"/>
              <a:t>617 species.</a:t>
            </a:r>
          </a:p>
          <a:p>
            <a:pPr marL="171450" indent="-171450">
              <a:buFontTx/>
              <a:buChar char="-"/>
            </a:pPr>
            <a:r>
              <a:rPr lang="en-US" sz="1200" dirty="0"/>
              <a:t>Most extinctions have occurred in the last 114 years (since 1900).</a:t>
            </a:r>
            <a:endParaRPr lang="en-US" sz="1200" b="0" dirty="0"/>
          </a:p>
          <a:p>
            <a:pPr marL="171450" indent="-171450">
              <a:buFontTx/>
              <a:buChar char="-"/>
            </a:pPr>
            <a:r>
              <a:rPr lang="en-US" sz="1200" b="1" dirty="0"/>
              <a:t>Consequence: </a:t>
            </a:r>
            <a:r>
              <a:rPr lang="en-US" sz="1200" dirty="0"/>
              <a:t>Loss of biodiversity threatens crucial ecosystem services and human well being.</a:t>
            </a:r>
            <a:endParaRPr lang="en-US" sz="1200" b="0" dirty="0"/>
          </a:p>
          <a:p>
            <a:pPr marL="171450" indent="-171450">
              <a:buFontTx/>
              <a:buChar char="-"/>
            </a:pPr>
            <a:r>
              <a:rPr lang="en-US" sz="1200" b="1" dirty="0"/>
              <a:t>Severity: </a:t>
            </a:r>
            <a:r>
              <a:rPr lang="en-US" sz="1200" dirty="0"/>
              <a:t>The analysis likely underestimates the crisis because it does not account for the widespread extirpation of populations or non-vertebrate species.</a:t>
            </a:r>
            <a:endParaRPr lang="en-US" sz="1200" b="0" dirty="0"/>
          </a:p>
          <a:p>
            <a:pPr marL="171450" indent="-171450">
              <a:buFontTx/>
              <a:buChar char="-"/>
            </a:pPr>
            <a:r>
              <a:rPr lang="en-US" sz="1200" b="1" dirty="0"/>
              <a:t>Urgency: </a:t>
            </a:r>
            <a:r>
              <a:rPr lang="en-US" sz="1200" dirty="0"/>
              <a:t>Avoiding a true sixth mass extinction requires rapid, greatly intensified conservation efforts to alleviate pressures like habitat loss, overexploitation, and climate change.</a:t>
            </a:r>
            <a:endParaRPr lang="en-US" sz="1200" b="0" dirty="0"/>
          </a:p>
          <a:p>
            <a:pPr marL="171450" indent="-171450">
              <a:buFontTx/>
              <a:buChar char="-"/>
            </a:pPr>
            <a:r>
              <a:rPr lang="en-US" sz="1200" b="1" dirty="0"/>
              <a:t>Opportunity: </a:t>
            </a:r>
            <a:r>
              <a:rPr lang="en-US" sz="1200" dirty="0"/>
              <a:t>Time to act is rapidly closing.</a:t>
            </a:r>
            <a:endParaRPr lang="en-US" dirty="0"/>
          </a:p>
          <a:p>
            <a:endParaRPr lang="cs-CZ" dirty="0"/>
          </a:p>
        </p:txBody>
      </p:sp>
      <p:sp>
        <p:nvSpPr>
          <p:cNvPr id="4" name="Zástupný symbol pro číslo snímku 3"/>
          <p:cNvSpPr>
            <a:spLocks noGrp="1"/>
          </p:cNvSpPr>
          <p:nvPr>
            <p:ph type="sldNum" sz="quarter" idx="5"/>
          </p:nvPr>
        </p:nvSpPr>
        <p:spPr/>
        <p:txBody>
          <a:bodyPr/>
          <a:lstStyle/>
          <a:p>
            <a:fld id="{291D9F0A-9AE1-454F-B929-89BEA66E7B5C}" type="slidenum">
              <a:rPr lang="cs-CZ" smtClean="0"/>
              <a:t>6</a:t>
            </a:fld>
            <a:endParaRPr lang="cs-CZ"/>
          </a:p>
        </p:txBody>
      </p:sp>
    </p:spTree>
    <p:extLst>
      <p:ext uri="{BB962C8B-B14F-4D97-AF65-F5344CB8AC3E}">
        <p14:creationId xmlns:p14="http://schemas.microsoft.com/office/powerpoint/2010/main" val="3886332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Tx/>
              <a:buChar char="-"/>
            </a:pPr>
            <a:r>
              <a:rPr lang="en-US" b="1" dirty="0"/>
              <a:t>Main goal</a:t>
            </a:r>
            <a:r>
              <a:rPr lang="en-US" dirty="0"/>
              <a:t>: While Earth faces a severe biodiversity crisis, the scientific evidence to strictly categorize it as a mass extinction event is questionable</a:t>
            </a:r>
          </a:p>
          <a:p>
            <a:pPr marL="171450" indent="-171450">
              <a:buFontTx/>
              <a:buChar char="-"/>
            </a:pPr>
            <a:endParaRPr lang="en-US" dirty="0"/>
          </a:p>
          <a:p>
            <a:pPr marL="171450" indent="-171450">
              <a:buFontTx/>
              <a:buChar char="-"/>
            </a:pPr>
            <a:r>
              <a:rPr lang="en-US" b="1" dirty="0"/>
              <a:t>Quantitative Criterion</a:t>
            </a:r>
            <a:r>
              <a:rPr lang="en-US" dirty="0"/>
              <a:t>: The primary threshold defined by proponents for a “mass extinction” is the loss of 75% of global species diversity</a:t>
            </a:r>
          </a:p>
          <a:p>
            <a:pPr marL="171450" indent="-171450">
              <a:buFontTx/>
              <a:buChar char="-"/>
            </a:pPr>
            <a:endParaRPr lang="en-US" b="1" dirty="0"/>
          </a:p>
          <a:p>
            <a:pPr marL="171450" indent="-171450">
              <a:buFontTx/>
              <a:buChar char="-"/>
            </a:pPr>
            <a:r>
              <a:rPr lang="en-US" b="1" dirty="0"/>
              <a:t>Current status</a:t>
            </a:r>
            <a:r>
              <a:rPr lang="en-US" dirty="0"/>
              <a:t>: Over the last 500 years, less than 0.1% of Earth’s known species have actually gone extinct</a:t>
            </a:r>
          </a:p>
          <a:p>
            <a:pPr marL="171450" indent="-171450">
              <a:buFontTx/>
              <a:buChar char="-"/>
            </a:pPr>
            <a:endParaRPr lang="en-US" b="1" dirty="0"/>
          </a:p>
          <a:p>
            <a:pPr marL="171450" indent="-171450">
              <a:buFontTx/>
              <a:buChar char="-"/>
            </a:pPr>
            <a:r>
              <a:rPr lang="en-US" b="1" dirty="0"/>
              <a:t>Future projections</a:t>
            </a:r>
            <a:r>
              <a:rPr lang="en-US" dirty="0"/>
              <a:t>: Analyses considering multiple major threats project a future species loss of ~12-40%, which is catastrophic but quantitatively far below the 75% threshold</a:t>
            </a:r>
          </a:p>
          <a:p>
            <a:pPr marL="171450" indent="-171450">
              <a:buFontTx/>
              <a:buChar char="-"/>
            </a:pPr>
            <a:endParaRPr lang="en-US" b="1" dirty="0"/>
          </a:p>
          <a:p>
            <a:pPr marL="171450" indent="-171450">
              <a:buFontTx/>
              <a:buChar char="-"/>
            </a:pPr>
            <a:r>
              <a:rPr lang="en-US" b="1" dirty="0"/>
              <a:t>Timeframe</a:t>
            </a:r>
            <a:r>
              <a:rPr lang="en-US" dirty="0"/>
              <a:t>: Reaching the 75% threshold would likely take thousands to millions of years, weakening the case for using “mass extinction” to justify immediate conservation action</a:t>
            </a:r>
          </a:p>
          <a:p>
            <a:endParaRPr lang="cs-CZ" dirty="0"/>
          </a:p>
        </p:txBody>
      </p:sp>
      <p:sp>
        <p:nvSpPr>
          <p:cNvPr id="4" name="Zástupný symbol pro číslo snímku 3"/>
          <p:cNvSpPr>
            <a:spLocks noGrp="1"/>
          </p:cNvSpPr>
          <p:nvPr>
            <p:ph type="sldNum" sz="quarter" idx="5"/>
          </p:nvPr>
        </p:nvSpPr>
        <p:spPr/>
        <p:txBody>
          <a:bodyPr/>
          <a:lstStyle/>
          <a:p>
            <a:fld id="{291D9F0A-9AE1-454F-B929-89BEA66E7B5C}" type="slidenum">
              <a:rPr lang="cs-CZ" smtClean="0"/>
              <a:t>7</a:t>
            </a:fld>
            <a:endParaRPr lang="cs-CZ"/>
          </a:p>
        </p:txBody>
      </p:sp>
    </p:spTree>
    <p:extLst>
      <p:ext uri="{BB962C8B-B14F-4D97-AF65-F5344CB8AC3E}">
        <p14:creationId xmlns:p14="http://schemas.microsoft.com/office/powerpoint/2010/main" val="688586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171450" indent="-171450">
              <a:buFontTx/>
              <a:buChar char="-"/>
            </a:pPr>
            <a:r>
              <a:rPr lang="en-US" b="1" dirty="0"/>
              <a:t>Timescale bias - </a:t>
            </a:r>
            <a:r>
              <a:rPr lang="en-US" dirty="0"/>
              <a:t>Studies often compare short-term rates (hundreds of years) to long-term fossil rates (millions of years), which artificially inflates the difference without proper correction</a:t>
            </a:r>
          </a:p>
          <a:p>
            <a:pPr marL="171450" indent="-171450">
              <a:buFontTx/>
              <a:buChar char="-"/>
            </a:pPr>
            <a:endParaRPr lang="en-US" dirty="0"/>
          </a:p>
          <a:p>
            <a:pPr marL="171450" indent="-171450">
              <a:buFontTx/>
              <a:buChar char="-"/>
            </a:pPr>
            <a:r>
              <a:rPr lang="en-US" b="1" dirty="0"/>
              <a:t>Historical Context - </a:t>
            </a:r>
            <a:r>
              <a:rPr lang="en-US" dirty="0"/>
              <a:t>High extinction rates alone are insufficient evidence; The fossil record shows many spikes in extinction rates that were not mass extinction events</a:t>
            </a:r>
          </a:p>
          <a:p>
            <a:pPr marL="171450" indent="-171450">
              <a:buFontTx/>
              <a:buChar char="-"/>
            </a:pPr>
            <a:endParaRPr lang="en-US" dirty="0"/>
          </a:p>
          <a:p>
            <a:pPr marL="171450" indent="-171450">
              <a:buFontTx/>
              <a:buChar char="-"/>
            </a:pPr>
            <a:r>
              <a:rPr lang="en-US" b="1" dirty="0"/>
              <a:t>Island</a:t>
            </a:r>
            <a:r>
              <a:rPr lang="en-US" dirty="0"/>
              <a:t> </a:t>
            </a:r>
            <a:r>
              <a:rPr lang="en-US" b="1" dirty="0"/>
              <a:t>Generalization -</a:t>
            </a:r>
            <a:r>
              <a:rPr lang="en-US" dirty="0"/>
              <a:t> Approximately 75% of recent extinction occurred on islands, but studies problematically project these rates onto mainland species which face different primary threats</a:t>
            </a:r>
          </a:p>
          <a:p>
            <a:pPr marL="171450" indent="-171450">
              <a:buFontTx/>
              <a:buChar char="-"/>
            </a:pPr>
            <a:endParaRPr lang="en-US" dirty="0"/>
          </a:p>
          <a:p>
            <a:pPr marL="171450" indent="-171450">
              <a:buFontTx/>
              <a:buChar char="-"/>
            </a:pPr>
            <a:r>
              <a:rPr lang="en-US" b="1" dirty="0"/>
              <a:t>Taxonomic</a:t>
            </a:r>
            <a:r>
              <a:rPr lang="en-US" dirty="0"/>
              <a:t> </a:t>
            </a:r>
            <a:r>
              <a:rPr lang="en-US" b="1" dirty="0"/>
              <a:t>Bias - </a:t>
            </a:r>
            <a:r>
              <a:rPr lang="en-US" dirty="0"/>
              <a:t>Supporting studies focus on land vertebrates (~2.4% of animal diversity) while generally ignoring insects, which make up half of all described species</a:t>
            </a:r>
          </a:p>
          <a:p>
            <a:pPr marL="171450" indent="-171450">
              <a:buFontTx/>
              <a:buChar char="-"/>
            </a:pPr>
            <a:endParaRPr lang="en-US" dirty="0"/>
          </a:p>
          <a:p>
            <a:pPr marL="171450" indent="-171450">
              <a:buFontTx/>
              <a:buChar char="-"/>
            </a:pPr>
            <a:r>
              <a:rPr lang="en-US" b="1" dirty="0"/>
              <a:t>Assumption</a:t>
            </a:r>
            <a:r>
              <a:rPr lang="en-US" dirty="0"/>
              <a:t> </a:t>
            </a:r>
            <a:r>
              <a:rPr lang="en-US" b="1" dirty="0"/>
              <a:t>Errors -</a:t>
            </a:r>
            <a:r>
              <a:rPr lang="en-US" dirty="0"/>
              <a:t> Projections often assume non-threatened species (currently &gt;50% of assessed groups) will disappear as quickly as threatened species without a specified cause</a:t>
            </a:r>
          </a:p>
          <a:p>
            <a:pPr marL="171450" indent="-171450">
              <a:buFontTx/>
              <a:buChar char="-"/>
            </a:pPr>
            <a:endParaRPr lang="en-US" dirty="0"/>
          </a:p>
          <a:p>
            <a:endParaRPr lang="cs-CZ" dirty="0"/>
          </a:p>
        </p:txBody>
      </p:sp>
      <p:sp>
        <p:nvSpPr>
          <p:cNvPr id="4" name="Zástupný symbol pro číslo snímku 3"/>
          <p:cNvSpPr>
            <a:spLocks noGrp="1"/>
          </p:cNvSpPr>
          <p:nvPr>
            <p:ph type="sldNum" sz="quarter" idx="5"/>
          </p:nvPr>
        </p:nvSpPr>
        <p:spPr/>
        <p:txBody>
          <a:bodyPr/>
          <a:lstStyle/>
          <a:p>
            <a:fld id="{291D9F0A-9AE1-454F-B929-89BEA66E7B5C}" type="slidenum">
              <a:rPr lang="cs-CZ" smtClean="0"/>
              <a:t>8</a:t>
            </a:fld>
            <a:endParaRPr lang="cs-CZ"/>
          </a:p>
        </p:txBody>
      </p:sp>
    </p:spTree>
    <p:extLst>
      <p:ext uri="{BB962C8B-B14F-4D97-AF65-F5344CB8AC3E}">
        <p14:creationId xmlns:p14="http://schemas.microsoft.com/office/powerpoint/2010/main" val="4060610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Comparison of conclusions (simplified)</a:t>
            </a:r>
          </a:p>
          <a:p>
            <a:endParaRPr lang="en-US" dirty="0">
              <a:latin typeface="Calibri"/>
              <a:ea typeface="Calibri"/>
              <a:cs typeface="Calibri"/>
            </a:endParaRPr>
          </a:p>
          <a:p>
            <a:r>
              <a:rPr lang="en-US">
                <a:latin typeface="Calibri"/>
                <a:ea typeface="Calibri"/>
                <a:cs typeface="Calibri"/>
              </a:rPr>
              <a:t>Ceballos et al.</a:t>
            </a:r>
          </a:p>
          <a:p>
            <a:pPr marL="171450" indent="-171450">
              <a:buFont typeface="Arial"/>
              <a:buChar char="•"/>
            </a:pPr>
            <a:r>
              <a:rPr lang="en-US" dirty="0">
                <a:latin typeface="Calibri"/>
                <a:ea typeface="Calibri"/>
                <a:cs typeface="Calibri"/>
              </a:rPr>
              <a:t>Took into account the elevated extinction rates and the widespread population decline</a:t>
            </a:r>
          </a:p>
          <a:p>
            <a:pPr marL="171450" indent="-171450">
              <a:buFont typeface="Arial"/>
              <a:buChar char="•"/>
            </a:pPr>
            <a:endParaRPr lang="en-US" dirty="0">
              <a:latin typeface="Calibri"/>
              <a:ea typeface="Calibri"/>
              <a:cs typeface="Calibri"/>
            </a:endParaRPr>
          </a:p>
          <a:p>
            <a:r>
              <a:rPr lang="en-US" dirty="0">
                <a:latin typeface="Calibri"/>
                <a:ea typeface="Calibri"/>
                <a:cs typeface="Calibri"/>
              </a:rPr>
              <a:t>Wiens.</a:t>
            </a:r>
          </a:p>
          <a:p>
            <a:pPr marL="171450" indent="-171450">
              <a:buFont typeface="Arial"/>
              <a:buChar char="•"/>
            </a:pPr>
            <a:r>
              <a:rPr lang="en-US">
                <a:latin typeface="Calibri"/>
                <a:ea typeface="Calibri"/>
                <a:cs typeface="Calibri"/>
              </a:rPr>
              <a:t>Only took into account the extinction rates in specific groups (not the widespread overall population decline) </a:t>
            </a:r>
          </a:p>
          <a:p>
            <a:pPr marL="171450" indent="-171450">
              <a:buFont typeface="Arial"/>
              <a:buChar char="•"/>
            </a:pPr>
            <a:r>
              <a:rPr lang="en-US" dirty="0">
                <a:latin typeface="Calibri"/>
                <a:ea typeface="Calibri"/>
                <a:cs typeface="Calibri"/>
              </a:rPr>
              <a:t>This decreases the studies validity and reliability as it is not taking important information into account. </a:t>
            </a:r>
          </a:p>
        </p:txBody>
      </p:sp>
      <p:sp>
        <p:nvSpPr>
          <p:cNvPr id="4" name="Slide Number Placeholder 3"/>
          <p:cNvSpPr>
            <a:spLocks noGrp="1"/>
          </p:cNvSpPr>
          <p:nvPr>
            <p:ph type="sldNum" sz="quarter" idx="5"/>
          </p:nvPr>
        </p:nvSpPr>
        <p:spPr/>
        <p:txBody>
          <a:bodyPr/>
          <a:lstStyle/>
          <a:p>
            <a:fld id="{291D9F0A-9AE1-454F-B929-89BEA66E7B5C}" type="slidenum">
              <a:rPr lang="cs-CZ" smtClean="0"/>
              <a:t>9</a:t>
            </a:fld>
            <a:endParaRPr lang="cs-CZ"/>
          </a:p>
        </p:txBody>
      </p:sp>
    </p:spTree>
    <p:extLst>
      <p:ext uri="{BB962C8B-B14F-4D97-AF65-F5344CB8AC3E}">
        <p14:creationId xmlns:p14="http://schemas.microsoft.com/office/powerpoint/2010/main" val="2208961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latin typeface="Calibri"/>
                <a:ea typeface="Calibri"/>
                <a:cs typeface="Calibri"/>
              </a:rPr>
              <a:t>Important: </a:t>
            </a:r>
          </a:p>
          <a:p>
            <a:r>
              <a:rPr lang="en-US" dirty="0">
                <a:latin typeface="Calibri"/>
                <a:ea typeface="Calibri"/>
                <a:cs typeface="Calibri"/>
              </a:rPr>
              <a:t>Both research papers address modern biodiversity loss and emphasize on its importance and possible negative effects!</a:t>
            </a:r>
          </a:p>
          <a:p>
            <a:endParaRPr lang="en-US" dirty="0">
              <a:latin typeface="Calibri"/>
              <a:ea typeface="Calibri"/>
              <a:cs typeface="Calibri"/>
            </a:endParaRPr>
          </a:p>
          <a:p>
            <a:r>
              <a:rPr lang="en-US" dirty="0">
                <a:highlight>
                  <a:srgbClr val="FFFF00"/>
                </a:highlight>
                <a:latin typeface="Calibri"/>
                <a:ea typeface="Calibri"/>
                <a:cs typeface="Calibri"/>
              </a:rPr>
              <a:t>Definitions</a:t>
            </a:r>
            <a:r>
              <a:rPr lang="en-US" dirty="0">
                <a:latin typeface="Calibri"/>
                <a:ea typeface="Calibri"/>
                <a:cs typeface="Calibri"/>
              </a:rPr>
              <a:t>;</a:t>
            </a:r>
          </a:p>
          <a:p>
            <a:pPr marL="171450" indent="-171450">
              <a:buFont typeface="Arial"/>
              <a:buChar char="•"/>
            </a:pPr>
            <a:r>
              <a:rPr lang="en-US" b="1" dirty="0">
                <a:latin typeface="Calibri"/>
                <a:ea typeface="Calibri"/>
                <a:cs typeface="Calibri"/>
              </a:rPr>
              <a:t>Empirical</a:t>
            </a:r>
            <a:r>
              <a:rPr lang="en-US" dirty="0">
                <a:latin typeface="Calibri"/>
                <a:ea typeface="Calibri"/>
                <a:cs typeface="Calibri"/>
              </a:rPr>
              <a:t>: non-theory, real world data</a:t>
            </a:r>
          </a:p>
          <a:p>
            <a:pPr marL="171450" indent="-171450">
              <a:buFont typeface="Arial"/>
              <a:buChar char="•"/>
            </a:pPr>
            <a:r>
              <a:rPr lang="en-US" b="1" dirty="0">
                <a:latin typeface="Calibri"/>
                <a:ea typeface="Calibri"/>
                <a:cs typeface="Calibri"/>
              </a:rPr>
              <a:t>Methodology</a:t>
            </a:r>
            <a:r>
              <a:rPr lang="en-US" dirty="0">
                <a:latin typeface="Calibri"/>
                <a:ea typeface="Calibri"/>
                <a:cs typeface="Calibri"/>
              </a:rPr>
              <a:t>: system of principles and methods used, the strategy. In this case the extinction criteria. (ideas, theories and models) </a:t>
            </a:r>
          </a:p>
          <a:p>
            <a:pPr marL="171450" indent="-171450">
              <a:buFont typeface="Arial"/>
              <a:buChar char="•"/>
            </a:pPr>
            <a:endParaRPr lang="en-US" dirty="0">
              <a:latin typeface="Calibri"/>
              <a:ea typeface="Calibri"/>
              <a:cs typeface="Calibri"/>
            </a:endParaRPr>
          </a:p>
          <a:p>
            <a:r>
              <a:rPr lang="en-US" dirty="0">
                <a:latin typeface="Calibri"/>
                <a:ea typeface="Calibri"/>
                <a:cs typeface="Calibri"/>
              </a:rPr>
              <a:t>In conclusion both papers state that there is a decline in biodiversity. While </a:t>
            </a:r>
            <a:r>
              <a:rPr lang="en-US" i="1" u="sng" dirty="0">
                <a:latin typeface="Calibri"/>
                <a:ea typeface="Calibri"/>
                <a:cs typeface="Calibri"/>
              </a:rPr>
              <a:t>Ceballos et al</a:t>
            </a:r>
            <a:r>
              <a:rPr lang="en-US" dirty="0">
                <a:latin typeface="Calibri"/>
                <a:ea typeface="Calibri"/>
                <a:cs typeface="Calibri"/>
              </a:rPr>
              <a:t>. uses empirical data from a very large sample to prove its point </a:t>
            </a:r>
            <a:r>
              <a:rPr lang="en-US" i="1" u="sng" dirty="0">
                <a:latin typeface="Calibri"/>
                <a:ea typeface="Calibri"/>
                <a:cs typeface="Calibri"/>
              </a:rPr>
              <a:t>Wiens </a:t>
            </a:r>
            <a:r>
              <a:rPr lang="en-US" dirty="0">
                <a:latin typeface="Calibri"/>
                <a:ea typeface="Calibri"/>
                <a:cs typeface="Calibri"/>
              </a:rPr>
              <a:t>focuses less on the quality and sample size of the data {doesn’t take into account the decline of widespread populations} rather focusing on if the results of their study are concordant with the extinction criteria. </a:t>
            </a: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highlight>
                <a:srgbClr val="FFFF00"/>
              </a:highlight>
              <a:latin typeface="Calibri"/>
              <a:ea typeface="Calibri"/>
              <a:cs typeface="Calibri"/>
            </a:endParaRPr>
          </a:p>
        </p:txBody>
      </p:sp>
      <p:sp>
        <p:nvSpPr>
          <p:cNvPr id="4" name="Slide Number Placeholder 3"/>
          <p:cNvSpPr>
            <a:spLocks noGrp="1"/>
          </p:cNvSpPr>
          <p:nvPr>
            <p:ph type="sldNum" sz="quarter" idx="5"/>
          </p:nvPr>
        </p:nvSpPr>
        <p:spPr/>
        <p:txBody>
          <a:bodyPr/>
          <a:lstStyle/>
          <a:p>
            <a:fld id="{291D9F0A-9AE1-454F-B929-89BEA66E7B5C}" type="slidenum">
              <a:rPr lang="cs-CZ" smtClean="0"/>
              <a:t>10</a:t>
            </a:fld>
            <a:endParaRPr lang="cs-CZ"/>
          </a:p>
        </p:txBody>
      </p:sp>
    </p:spTree>
    <p:extLst>
      <p:ext uri="{BB962C8B-B14F-4D97-AF65-F5344CB8AC3E}">
        <p14:creationId xmlns:p14="http://schemas.microsoft.com/office/powerpoint/2010/main" val="3794961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GB" dirty="0">
                <a:highlight>
                  <a:srgbClr val="FFFF00"/>
                </a:highlight>
              </a:rPr>
              <a:t>Ceballos et al.</a:t>
            </a:r>
            <a:endParaRPr lang="en-US" dirty="0"/>
          </a:p>
          <a:p>
            <a:pPr marL="342900" indent="-342900">
              <a:lnSpc>
                <a:spcPct val="90000"/>
              </a:lnSpc>
              <a:spcBef>
                <a:spcPts val="1000"/>
              </a:spcBef>
              <a:buFont typeface="Arial"/>
              <a:buChar char="•"/>
            </a:pPr>
            <a:r>
              <a:rPr lang="en-GB" dirty="0"/>
              <a:t>Use of real-world data showing many factors that prove </a:t>
            </a:r>
            <a:r>
              <a:rPr lang="en-GB" dirty="0" err="1"/>
              <a:t>theirpoint</a:t>
            </a:r>
            <a:r>
              <a:rPr lang="en-GB" dirty="0"/>
              <a:t> for ex.</a:t>
            </a:r>
            <a:r>
              <a:rPr lang="en-GB" b="1" u="sng" dirty="0"/>
              <a:t> Population loss</a:t>
            </a:r>
            <a:r>
              <a:rPr lang="en-GB" dirty="0"/>
              <a:t>, </a:t>
            </a:r>
            <a:r>
              <a:rPr lang="en-GB" b="1" dirty="0"/>
              <a:t>ecological impact</a:t>
            </a:r>
            <a:r>
              <a:rPr lang="en-GB" dirty="0"/>
              <a:t> (</a:t>
            </a:r>
            <a:r>
              <a:rPr lang="en-GB" dirty="0" err="1"/>
              <a:t>shrinkinghabitats</a:t>
            </a:r>
            <a:r>
              <a:rPr lang="en-GB" dirty="0"/>
              <a:t>, shrinking ecosystems)</a:t>
            </a:r>
            <a:endParaRPr lang="en-US" dirty="0"/>
          </a:p>
          <a:p>
            <a:pPr>
              <a:lnSpc>
                <a:spcPct val="90000"/>
              </a:lnSpc>
              <a:spcBef>
                <a:spcPts val="1000"/>
              </a:spcBef>
            </a:pPr>
            <a:endParaRPr lang="en-GB" dirty="0">
              <a:latin typeface="Aptos"/>
              <a:ea typeface="Calibri"/>
              <a:cs typeface="Calibri"/>
            </a:endParaRPr>
          </a:p>
          <a:p>
            <a:pPr>
              <a:lnSpc>
                <a:spcPct val="90000"/>
              </a:lnSpc>
              <a:spcBef>
                <a:spcPts val="1000"/>
              </a:spcBef>
            </a:pPr>
            <a:r>
              <a:rPr lang="en-GB" dirty="0">
                <a:latin typeface="Aptos"/>
                <a:ea typeface="Calibri"/>
                <a:cs typeface="Calibri"/>
              </a:rPr>
              <a:t>This means that their findings </a:t>
            </a:r>
            <a:r>
              <a:rPr lang="en-GB" b="1" dirty="0">
                <a:latin typeface="Aptos"/>
                <a:ea typeface="Calibri"/>
                <a:cs typeface="Calibri"/>
              </a:rPr>
              <a:t>increase</a:t>
            </a:r>
            <a:r>
              <a:rPr lang="en-GB" dirty="0">
                <a:latin typeface="Aptos"/>
                <a:ea typeface="Calibri"/>
                <a:cs typeface="Calibri"/>
              </a:rPr>
              <a:t> the studies </a:t>
            </a:r>
            <a:r>
              <a:rPr lang="en-GB" b="1" dirty="0">
                <a:latin typeface="Aptos"/>
                <a:ea typeface="Calibri"/>
                <a:cs typeface="Calibri"/>
              </a:rPr>
              <a:t>reliability </a:t>
            </a:r>
            <a:r>
              <a:rPr lang="en-GB" dirty="0">
                <a:latin typeface="Aptos"/>
                <a:ea typeface="Calibri"/>
                <a:cs typeface="Calibri"/>
              </a:rPr>
              <a:t>and </a:t>
            </a:r>
            <a:r>
              <a:rPr lang="en-GB" b="1" dirty="0">
                <a:latin typeface="Aptos"/>
                <a:ea typeface="Calibri"/>
                <a:cs typeface="Calibri"/>
              </a:rPr>
              <a:t>validity </a:t>
            </a:r>
            <a:r>
              <a:rPr lang="en-GB" dirty="0">
                <a:latin typeface="Aptos"/>
                <a:ea typeface="Calibri"/>
                <a:cs typeface="Calibri"/>
              </a:rPr>
              <a:t>as well as its </a:t>
            </a:r>
            <a:r>
              <a:rPr lang="en-GB" b="1" dirty="0">
                <a:latin typeface="Aptos"/>
                <a:ea typeface="Calibri"/>
                <a:cs typeface="Calibri"/>
              </a:rPr>
              <a:t>application to real world scenarios </a:t>
            </a:r>
            <a:r>
              <a:rPr lang="en-GB" dirty="0">
                <a:latin typeface="Aptos"/>
                <a:ea typeface="Calibri"/>
                <a:cs typeface="Calibri"/>
              </a:rPr>
              <a:t>as many factors were taken into account .</a:t>
            </a:r>
          </a:p>
          <a:p>
            <a:pPr>
              <a:lnSpc>
                <a:spcPct val="90000"/>
              </a:lnSpc>
              <a:spcBef>
                <a:spcPts val="1000"/>
              </a:spcBef>
            </a:pPr>
            <a:r>
              <a:rPr lang="en-GB" dirty="0">
                <a:latin typeface="Aptos"/>
                <a:ea typeface="Calibri"/>
                <a:cs typeface="Calibri"/>
              </a:rPr>
              <a:t>This makes </a:t>
            </a:r>
            <a:r>
              <a:rPr lang="en-GB" err="1">
                <a:latin typeface="Aptos"/>
                <a:ea typeface="Calibri"/>
                <a:cs typeface="Calibri"/>
              </a:rPr>
              <a:t>tge</a:t>
            </a:r>
            <a:r>
              <a:rPr lang="en-GB" dirty="0">
                <a:latin typeface="Aptos"/>
                <a:ea typeface="Calibri"/>
                <a:cs typeface="Calibri"/>
              </a:rPr>
              <a:t> paper powerful for things like: influencing policies, encouraging action and altering the publics opinion (numbers don’t lie!)</a:t>
            </a:r>
          </a:p>
          <a:p>
            <a:pPr>
              <a:lnSpc>
                <a:spcPct val="90000"/>
              </a:lnSpc>
              <a:spcBef>
                <a:spcPts val="1000"/>
              </a:spcBef>
            </a:pPr>
            <a:endParaRPr lang="en-GB" dirty="0">
              <a:latin typeface="Aptos"/>
              <a:ea typeface="Calibri"/>
              <a:cs typeface="Calibri"/>
            </a:endParaRPr>
          </a:p>
          <a:p>
            <a:pPr>
              <a:lnSpc>
                <a:spcPct val="90000"/>
              </a:lnSpc>
              <a:spcBef>
                <a:spcPts val="1000"/>
              </a:spcBef>
            </a:pPr>
            <a:endParaRPr lang="en-GB" dirty="0">
              <a:ea typeface="Calibri"/>
              <a:cs typeface="Calibri"/>
            </a:endParaRPr>
          </a:p>
          <a:p>
            <a:pPr>
              <a:lnSpc>
                <a:spcPct val="90000"/>
              </a:lnSpc>
              <a:spcBef>
                <a:spcPts val="1000"/>
              </a:spcBef>
            </a:pPr>
            <a:endParaRPr lang="en-GB" dirty="0">
              <a:ea typeface="Calibri"/>
              <a:cs typeface="Calibri"/>
            </a:endParaRPr>
          </a:p>
          <a:p>
            <a:pPr>
              <a:lnSpc>
                <a:spcPct val="90000"/>
              </a:lnSpc>
              <a:spcBef>
                <a:spcPts val="1000"/>
              </a:spcBef>
            </a:pPr>
            <a:endParaRPr lang="en-GB" dirty="0">
              <a:ea typeface="Calibri"/>
              <a:cs typeface="Calibri"/>
            </a:endParaRPr>
          </a:p>
          <a:p>
            <a:pPr>
              <a:lnSpc>
                <a:spcPct val="90000"/>
              </a:lnSpc>
              <a:spcBef>
                <a:spcPts val="1000"/>
              </a:spcBef>
            </a:pPr>
            <a:r>
              <a:rPr lang="en-GB" dirty="0">
                <a:highlight>
                  <a:srgbClr val="FFFF00"/>
                </a:highlight>
              </a:rPr>
              <a:t>Wiens.</a:t>
            </a:r>
            <a:endParaRPr lang="en-US" dirty="0"/>
          </a:p>
          <a:p>
            <a:pPr marL="342900" indent="-342900">
              <a:lnSpc>
                <a:spcPct val="90000"/>
              </a:lnSpc>
              <a:spcBef>
                <a:spcPts val="1000"/>
              </a:spcBef>
              <a:buFont typeface="Arial"/>
              <a:buChar char="•"/>
            </a:pPr>
            <a:r>
              <a:rPr lang="en-GB" dirty="0"/>
              <a:t>Use of </a:t>
            </a:r>
            <a:r>
              <a:rPr lang="en-GB" b="1" dirty="0"/>
              <a:t>methodological precision</a:t>
            </a:r>
            <a:r>
              <a:rPr lang="en-GB" dirty="0"/>
              <a:t> , meaning authors focused on whether the methods used to make this claim are logical and reliable. </a:t>
            </a:r>
            <a:endParaRPr lang="en-US" dirty="0"/>
          </a:p>
          <a:p>
            <a:pPr>
              <a:lnSpc>
                <a:spcPct val="90000"/>
              </a:lnSpc>
              <a:spcBef>
                <a:spcPts val="1000"/>
              </a:spcBef>
            </a:pPr>
            <a:endParaRPr lang="en-GB" dirty="0">
              <a:latin typeface="Aptos"/>
              <a:ea typeface="Calibri"/>
              <a:cs typeface="Calibri"/>
            </a:endParaRPr>
          </a:p>
          <a:p>
            <a:pPr>
              <a:lnSpc>
                <a:spcPct val="90000"/>
              </a:lnSpc>
              <a:spcBef>
                <a:spcPts val="1000"/>
              </a:spcBef>
            </a:pPr>
            <a:r>
              <a:rPr lang="en-GB" dirty="0">
                <a:latin typeface="Aptos"/>
                <a:ea typeface="Calibri"/>
                <a:cs typeface="Calibri"/>
              </a:rPr>
              <a:t>The use of such precision and focus on definition make this paper powerful when it comes to </a:t>
            </a:r>
            <a:r>
              <a:rPr lang="en-GB" b="1" dirty="0">
                <a:latin typeface="Aptos"/>
                <a:ea typeface="Calibri"/>
                <a:cs typeface="Calibri"/>
              </a:rPr>
              <a:t>making scientific claims more solid and trusted </a:t>
            </a:r>
            <a:r>
              <a:rPr lang="en-GB" dirty="0">
                <a:latin typeface="Aptos"/>
                <a:ea typeface="Calibri"/>
                <a:cs typeface="Calibri"/>
              </a:rPr>
              <a:t>(no grey are in science!)</a:t>
            </a:r>
          </a:p>
          <a:p>
            <a:pPr>
              <a:lnSpc>
                <a:spcPct val="90000"/>
              </a:lnSpc>
              <a:spcBef>
                <a:spcPts val="1000"/>
              </a:spcBef>
            </a:pPr>
            <a:endParaRPr lang="en-GB" dirty="0">
              <a:latin typeface="Aptos"/>
              <a:ea typeface="Calibri"/>
              <a:cs typeface="Calibri"/>
            </a:endParaRP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291D9F0A-9AE1-454F-B929-89BEA66E7B5C}" type="slidenum">
              <a:rPr lang="cs-CZ" smtClean="0"/>
              <a:t>11</a:t>
            </a:fld>
            <a:endParaRPr lang="cs-CZ"/>
          </a:p>
        </p:txBody>
      </p:sp>
    </p:spTree>
    <p:extLst>
      <p:ext uri="{BB962C8B-B14F-4D97-AF65-F5344CB8AC3E}">
        <p14:creationId xmlns:p14="http://schemas.microsoft.com/office/powerpoint/2010/main" val="3893281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GB">
                <a:highlight>
                  <a:srgbClr val="FFFF00"/>
                </a:highlight>
              </a:rPr>
              <a:t>Ceballos et al.</a:t>
            </a:r>
            <a:r>
              <a:rPr lang="en-GB" dirty="0"/>
              <a:t> </a:t>
            </a:r>
            <a:endParaRPr lang="en-US" dirty="0"/>
          </a:p>
          <a:p>
            <a:pPr marL="342900" indent="-342900">
              <a:lnSpc>
                <a:spcPct val="90000"/>
              </a:lnSpc>
              <a:spcBef>
                <a:spcPts val="1000"/>
              </a:spcBef>
              <a:buFont typeface="Arial"/>
              <a:buChar char="•"/>
            </a:pPr>
            <a:r>
              <a:rPr lang="en-GB" dirty="0"/>
              <a:t>May overreach in claiming this </a:t>
            </a:r>
            <a:r>
              <a:rPr lang="en-GB" dirty="0">
                <a:solidFill>
                  <a:srgbClr val="000000"/>
                </a:solidFill>
              </a:rPr>
              <a:t>– </a:t>
            </a:r>
            <a:r>
              <a:rPr lang="en-GB" dirty="0">
                <a:solidFill>
                  <a:srgbClr val="FF0000"/>
                </a:solidFill>
              </a:rPr>
              <a:t>decreases the studies reliability (how reliable are the findings if the conclusion is not statistically significant)</a:t>
            </a:r>
          </a:p>
          <a:p>
            <a:pPr marL="342900" indent="-342900">
              <a:lnSpc>
                <a:spcPct val="90000"/>
              </a:lnSpc>
              <a:spcBef>
                <a:spcPts val="1000"/>
              </a:spcBef>
              <a:buFont typeface="Arial"/>
              <a:buChar char="•"/>
            </a:pPr>
            <a:r>
              <a:rPr lang="en-GB" dirty="0"/>
              <a:t>Incomplete data (no insects or deep-sea life) </a:t>
            </a:r>
            <a:r>
              <a:rPr lang="en-GB" dirty="0">
                <a:solidFill>
                  <a:srgbClr val="FF0000"/>
                </a:solidFill>
              </a:rPr>
              <a:t>- slight decrease in application to real world </a:t>
            </a:r>
          </a:p>
          <a:p>
            <a:pPr marL="342900" indent="-342900">
              <a:lnSpc>
                <a:spcPct val="90000"/>
              </a:lnSpc>
              <a:spcBef>
                <a:spcPts val="1000"/>
              </a:spcBef>
              <a:buFont typeface="Arial"/>
              <a:buChar char="•"/>
            </a:pPr>
            <a:r>
              <a:rPr lang="en-GB"/>
              <a:t>Some areas of the world more studied than others </a:t>
            </a:r>
            <a:r>
              <a:rPr lang="en-GB">
                <a:solidFill>
                  <a:srgbClr val="FF0000"/>
                </a:solidFill>
              </a:rPr>
              <a:t>- slight decrease in application to real world </a:t>
            </a:r>
            <a:endParaRPr lang="en-GB"/>
          </a:p>
          <a:p>
            <a:pPr>
              <a:lnSpc>
                <a:spcPct val="90000"/>
              </a:lnSpc>
              <a:spcBef>
                <a:spcPts val="1000"/>
              </a:spcBef>
            </a:pPr>
            <a:endParaRPr lang="en-GB" dirty="0"/>
          </a:p>
          <a:p>
            <a:pPr>
              <a:lnSpc>
                <a:spcPct val="90000"/>
              </a:lnSpc>
              <a:spcBef>
                <a:spcPts val="1000"/>
              </a:spcBef>
            </a:pPr>
            <a:endParaRPr lang="en-GB" dirty="0">
              <a:solidFill>
                <a:srgbClr val="FF0000"/>
              </a:solidFill>
            </a:endParaRPr>
          </a:p>
          <a:p>
            <a:pPr marL="342900" indent="-342900">
              <a:lnSpc>
                <a:spcPct val="90000"/>
              </a:lnSpc>
              <a:spcBef>
                <a:spcPts val="1000"/>
              </a:spcBef>
              <a:buFont typeface="Arial"/>
              <a:buChar char="•"/>
            </a:pPr>
            <a:endParaRPr lang="en-GB" dirty="0"/>
          </a:p>
          <a:p>
            <a:pPr>
              <a:lnSpc>
                <a:spcPct val="90000"/>
              </a:lnSpc>
              <a:spcBef>
                <a:spcPts val="1000"/>
              </a:spcBef>
            </a:pPr>
            <a:r>
              <a:rPr lang="en-GB" dirty="0">
                <a:highlight>
                  <a:srgbClr val="FFFF00"/>
                </a:highlight>
              </a:rPr>
              <a:t>Wiens.</a:t>
            </a:r>
            <a:endParaRPr lang="en-US" dirty="0"/>
          </a:p>
          <a:p>
            <a:pPr marL="342900" indent="-342900">
              <a:lnSpc>
                <a:spcPct val="90000"/>
              </a:lnSpc>
              <a:spcBef>
                <a:spcPts val="1000"/>
              </a:spcBef>
              <a:buFont typeface="Arial"/>
              <a:buChar char="•"/>
            </a:pPr>
            <a:r>
              <a:rPr lang="en-GB" dirty="0"/>
              <a:t>Focuses strictly on documented species extinction </a:t>
            </a:r>
            <a:r>
              <a:rPr lang="en-GB" dirty="0">
                <a:solidFill>
                  <a:srgbClr val="000000"/>
                </a:solidFill>
              </a:rPr>
              <a:t>– </a:t>
            </a:r>
            <a:r>
              <a:rPr lang="en-GB" dirty="0">
                <a:solidFill>
                  <a:srgbClr val="FF0000"/>
                </a:solidFill>
              </a:rPr>
              <a:t>massive  decrease in application to real world </a:t>
            </a:r>
            <a:endParaRPr lang="en-GB" dirty="0"/>
          </a:p>
          <a:p>
            <a:pPr marL="342900" indent="-342900">
              <a:lnSpc>
                <a:spcPct val="90000"/>
              </a:lnSpc>
              <a:spcBef>
                <a:spcPts val="1000"/>
              </a:spcBef>
              <a:buFont typeface="Arial"/>
              <a:buChar char="•"/>
            </a:pPr>
            <a:r>
              <a:rPr lang="en-GB" dirty="0"/>
              <a:t>Underplay the severity of the situation and its effects – </a:t>
            </a:r>
            <a:r>
              <a:rPr lang="en-GB" dirty="0">
                <a:solidFill>
                  <a:srgbClr val="FF0000"/>
                </a:solidFill>
              </a:rPr>
              <a:t>can cause problems with how the </a:t>
            </a:r>
            <a:r>
              <a:rPr lang="en-GB" dirty="0" err="1">
                <a:solidFill>
                  <a:srgbClr val="FF0000"/>
                </a:solidFill>
              </a:rPr>
              <a:t>puplic</a:t>
            </a:r>
            <a:r>
              <a:rPr lang="en-GB" dirty="0">
                <a:solidFill>
                  <a:srgbClr val="FF0000"/>
                </a:solidFill>
              </a:rPr>
              <a:t> perception (people may use this as a way of downplaying the effects pf the problem at hand)</a:t>
            </a:r>
            <a:endParaRPr lang="en-US" dirty="0">
              <a:solidFill>
                <a:srgbClr val="FF0000"/>
              </a:solidFill>
            </a:endParaRP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291D9F0A-9AE1-454F-B929-89BEA66E7B5C}" type="slidenum">
              <a:rPr lang="cs-CZ" smtClean="0"/>
              <a:t>12</a:t>
            </a:fld>
            <a:endParaRPr lang="cs-CZ"/>
          </a:p>
        </p:txBody>
      </p:sp>
    </p:spTree>
    <p:extLst>
      <p:ext uri="{BB962C8B-B14F-4D97-AF65-F5344CB8AC3E}">
        <p14:creationId xmlns:p14="http://schemas.microsoft.com/office/powerpoint/2010/main" val="721577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cs-CZ"/>
              <a:t>Kliknutím lze upravit styl.</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Kliknutím můžete upravit styl předlohy.</a:t>
            </a:r>
            <a:endParaRPr lang="en-US" dirty="0"/>
          </a:p>
        </p:txBody>
      </p:sp>
      <p:sp>
        <p:nvSpPr>
          <p:cNvPr id="4" name="Date Placeholder 3"/>
          <p:cNvSpPr>
            <a:spLocks noGrp="1"/>
          </p:cNvSpPr>
          <p:nvPr>
            <p:ph type="dt" sz="half" idx="10"/>
          </p:nvPr>
        </p:nvSpPr>
        <p:spPr/>
        <p:txBody>
          <a:bodyPr/>
          <a:lstStyle/>
          <a:p>
            <a:fld id="{D70EB249-A9E5-4854-B024-73DAF45B4E7D}" type="datetimeFigureOut">
              <a:rPr lang="cs-CZ" smtClean="0"/>
              <a:t>05.12.2025</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114197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D70EB249-A9E5-4854-B024-73DAF45B4E7D}" type="datetimeFigureOut">
              <a:rPr lang="cs-CZ" smtClean="0"/>
              <a:t>05.12.2025</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105405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cs-CZ"/>
              <a:t>Kliknutím lze upravit styl.</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D70EB249-A9E5-4854-B024-73DAF45B4E7D}" type="datetimeFigureOut">
              <a:rPr lang="cs-CZ" smtClean="0"/>
              <a:t>05.12.2025</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3420811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Date Placeholder 4"/>
          <p:cNvSpPr>
            <a:spLocks noGrp="1"/>
          </p:cNvSpPr>
          <p:nvPr>
            <p:ph type="dt" sz="half" idx="10"/>
          </p:nvPr>
        </p:nvSpPr>
        <p:spPr/>
        <p:txBody>
          <a:bodyPr/>
          <a:lstStyle/>
          <a:p>
            <a:fld id="{D70EB249-A9E5-4854-B024-73DAF45B4E7D}" type="datetimeFigureOut">
              <a:rPr lang="cs-CZ" smtClean="0"/>
              <a:t>05.12.2025</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287410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cs-CZ"/>
              <a:t>Kliknutím lze upravit styl.</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7" name="Date Placeholder 6"/>
          <p:cNvSpPr>
            <a:spLocks noGrp="1"/>
          </p:cNvSpPr>
          <p:nvPr>
            <p:ph type="dt" sz="half" idx="10"/>
          </p:nvPr>
        </p:nvSpPr>
        <p:spPr/>
        <p:txBody>
          <a:bodyPr/>
          <a:lstStyle/>
          <a:p>
            <a:fld id="{D70EB249-A9E5-4854-B024-73DAF45B4E7D}" type="datetimeFigureOut">
              <a:rPr lang="cs-CZ" smtClean="0"/>
              <a:t>05.12.2025</a:t>
            </a:fld>
            <a:endParaRPr lang="cs-CZ"/>
          </a:p>
        </p:txBody>
      </p:sp>
      <p:sp>
        <p:nvSpPr>
          <p:cNvPr id="8" name="Footer Placeholder 7"/>
          <p:cNvSpPr>
            <a:spLocks noGrp="1"/>
          </p:cNvSpPr>
          <p:nvPr>
            <p:ph type="ftr" sz="quarter" idx="11"/>
          </p:nvPr>
        </p:nvSpPr>
        <p:spPr/>
        <p:txBody>
          <a:bodyPr/>
          <a:lstStyle/>
          <a:p>
            <a:endParaRPr lang="cs-CZ"/>
          </a:p>
        </p:txBody>
      </p:sp>
      <p:sp>
        <p:nvSpPr>
          <p:cNvPr id="9" name="Slide Number Placeholder 8"/>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69745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Date Placeholder 2"/>
          <p:cNvSpPr>
            <a:spLocks noGrp="1"/>
          </p:cNvSpPr>
          <p:nvPr>
            <p:ph type="dt" sz="half" idx="10"/>
          </p:nvPr>
        </p:nvSpPr>
        <p:spPr/>
        <p:txBody>
          <a:bodyPr/>
          <a:lstStyle/>
          <a:p>
            <a:fld id="{D70EB249-A9E5-4854-B024-73DAF45B4E7D}" type="datetimeFigureOut">
              <a:rPr lang="cs-CZ" smtClean="0"/>
              <a:t>05.12.2025</a:t>
            </a:fld>
            <a:endParaRPr lang="cs-CZ"/>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1762612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0EB249-A9E5-4854-B024-73DAF45B4E7D}" type="datetimeFigureOut">
              <a:rPr lang="cs-CZ" smtClean="0"/>
              <a:t>05.12.2025</a:t>
            </a:fld>
            <a:endParaRPr lang="cs-CZ"/>
          </a:p>
        </p:txBody>
      </p:sp>
      <p:sp>
        <p:nvSpPr>
          <p:cNvPr id="3" name="Footer Placeholder 2"/>
          <p:cNvSpPr>
            <a:spLocks noGrp="1"/>
          </p:cNvSpPr>
          <p:nvPr>
            <p:ph type="ftr" sz="quarter" idx="11"/>
          </p:nvPr>
        </p:nvSpPr>
        <p:spPr/>
        <p:txBody>
          <a:bodyPr/>
          <a:lstStyle/>
          <a:p>
            <a:endParaRPr lang="cs-CZ"/>
          </a:p>
        </p:txBody>
      </p:sp>
      <p:sp>
        <p:nvSpPr>
          <p:cNvPr id="4" name="Slide Number Placeholder 3"/>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4233737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cs-CZ"/>
              <a:t>Kliknutím lze upravit styl.</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D70EB249-A9E5-4854-B024-73DAF45B4E7D}" type="datetimeFigureOut">
              <a:rPr lang="cs-CZ" smtClean="0"/>
              <a:t>05.12.2025</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296776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cs-CZ"/>
              <a:t>Kliknutím lze upravit styl.</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D70EB249-A9E5-4854-B024-73DAF45B4E7D}" type="datetimeFigureOut">
              <a:rPr lang="cs-CZ" smtClean="0"/>
              <a:t>05.12.2025</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811594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tický obrázek s popiskem">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cs-CZ"/>
              <a:t>Kliknutím lze upravit styl.</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D70EB249-A9E5-4854-B024-73DAF45B4E7D}" type="datetimeFigureOut">
              <a:rPr lang="cs-CZ" smtClean="0"/>
              <a:t>05.12.2025</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215426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ázev a popisek">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cs-CZ"/>
              <a:t>Kliknutím lze upravit styl.</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D70EB249-A9E5-4854-B024-73DAF45B4E7D}" type="datetimeFigureOut">
              <a:rPr lang="cs-CZ" smtClean="0"/>
              <a:t>05.12.2025</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2821092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ce s popiskem">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cs-CZ"/>
              <a:t>Kliknutím lze upravit styl.</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D70EB249-A9E5-4854-B024-73DAF45B4E7D}" type="datetimeFigureOut">
              <a:rPr lang="cs-CZ" smtClean="0"/>
              <a:t>05.12.2025</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74F89F71-B5D4-4268-B5E0-604B12986E3D}" type="slidenum">
              <a:rPr lang="cs-CZ" smtClean="0"/>
              <a:t>‹#›</a:t>
            </a:fld>
            <a:endParaRPr lang="cs-CZ"/>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52148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Jmenovka">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cs-CZ"/>
              <a:t>Kliknutím lze upravit styl.</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D70EB249-A9E5-4854-B024-73DAF45B4E7D}" type="datetimeFigureOut">
              <a:rPr lang="cs-CZ" smtClean="0"/>
              <a:t>05.12.2025</a:t>
            </a:fld>
            <a:endParaRPr lang="cs-CZ"/>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3983457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loupce">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cs-CZ"/>
              <a:t>Kliknutím lze upravit styl.</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3" name="Date Placeholder 2"/>
          <p:cNvSpPr>
            <a:spLocks noGrp="1"/>
          </p:cNvSpPr>
          <p:nvPr>
            <p:ph type="dt" sz="half" idx="10"/>
          </p:nvPr>
        </p:nvSpPr>
        <p:spPr/>
        <p:txBody>
          <a:bodyPr/>
          <a:lstStyle/>
          <a:p>
            <a:fld id="{D70EB249-A9E5-4854-B024-73DAF45B4E7D}" type="datetimeFigureOut">
              <a:rPr lang="cs-CZ" smtClean="0"/>
              <a:t>05.12.2025</a:t>
            </a:fld>
            <a:endParaRPr lang="cs-CZ"/>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2566670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sloupce s obrázky">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cs-CZ"/>
              <a:t>Kliknutím lze upravit styl.</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3" name="Date Placeholder 2"/>
          <p:cNvSpPr>
            <a:spLocks noGrp="1"/>
          </p:cNvSpPr>
          <p:nvPr>
            <p:ph type="dt" sz="half" idx="10"/>
          </p:nvPr>
        </p:nvSpPr>
        <p:spPr/>
        <p:txBody>
          <a:bodyPr/>
          <a:lstStyle/>
          <a:p>
            <a:fld id="{D70EB249-A9E5-4854-B024-73DAF45B4E7D}" type="datetimeFigureOut">
              <a:rPr lang="cs-CZ" smtClean="0"/>
              <a:t>05.12.2025</a:t>
            </a:fld>
            <a:endParaRPr lang="cs-CZ"/>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2485376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Vertical Text Placeholder 2"/>
          <p:cNvSpPr>
            <a:spLocks noGrp="1"/>
          </p:cNvSpPr>
          <p:nvPr>
            <p:ph type="body" orient="vert" idx="1"/>
          </p:nvPr>
        </p:nvSpPr>
        <p:spPr/>
        <p:txBody>
          <a:bodyPr vert="eaVert" ancho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D70EB249-A9E5-4854-B024-73DAF45B4E7D}" type="datetimeFigureOut">
              <a:rPr lang="cs-CZ" smtClean="0"/>
              <a:t>05.12.2025</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1765326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cs-CZ"/>
              <a:t>Kliknutím lze upravit styl.</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D70EB249-A9E5-4854-B024-73DAF45B4E7D}" type="datetimeFigureOut">
              <a:rPr lang="cs-CZ" smtClean="0"/>
              <a:t>05.12.2025</a:t>
            </a:fld>
            <a:endParaRPr lang="cs-CZ"/>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74F89F71-B5D4-4268-B5E0-604B12986E3D}" type="slidenum">
              <a:rPr lang="cs-CZ" smtClean="0"/>
              <a:t>‹#›</a:t>
            </a:fld>
            <a:endParaRPr lang="cs-CZ"/>
          </a:p>
        </p:txBody>
      </p:sp>
    </p:spTree>
    <p:extLst>
      <p:ext uri="{BB962C8B-B14F-4D97-AF65-F5344CB8AC3E}">
        <p14:creationId xmlns:p14="http://schemas.microsoft.com/office/powerpoint/2010/main" val="3313129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cs-CZ"/>
              <a:t>Kliknutím lze upravit styl.</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70EB249-A9E5-4854-B024-73DAF45B4E7D}" type="datetimeFigureOut">
              <a:rPr lang="cs-CZ" smtClean="0"/>
              <a:t>05.12.2025</a:t>
            </a:fld>
            <a:endParaRPr lang="cs-CZ"/>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cs-CZ"/>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4F89F71-B5D4-4268-B5E0-604B12986E3D}" type="slidenum">
              <a:rPr lang="cs-CZ" smtClean="0"/>
              <a:t>‹#›</a:t>
            </a:fld>
            <a:endParaRPr lang="cs-CZ"/>
          </a:p>
        </p:txBody>
      </p:sp>
    </p:spTree>
    <p:extLst>
      <p:ext uri="{BB962C8B-B14F-4D97-AF65-F5344CB8AC3E}">
        <p14:creationId xmlns:p14="http://schemas.microsoft.com/office/powerpoint/2010/main" val="3756195123"/>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DCB5B2B-F911-87BC-B16F-59205C158F1B}"/>
              </a:ext>
            </a:extLst>
          </p:cNvPr>
          <p:cNvSpPr>
            <a:spLocks noGrp="1"/>
          </p:cNvSpPr>
          <p:nvPr>
            <p:ph type="ctrTitle"/>
          </p:nvPr>
        </p:nvSpPr>
        <p:spPr>
          <a:xfrm>
            <a:off x="1255059" y="2657569"/>
            <a:ext cx="9144000" cy="1049867"/>
          </a:xfrm>
        </p:spPr>
        <p:txBody>
          <a:bodyPr/>
          <a:lstStyle/>
          <a:p>
            <a:r>
              <a:rPr lang="en-US" dirty="0"/>
              <a:t>Global change ecology</a:t>
            </a:r>
            <a:endParaRPr lang="cs-CZ" dirty="0"/>
          </a:p>
        </p:txBody>
      </p:sp>
      <p:sp>
        <p:nvSpPr>
          <p:cNvPr id="3" name="Podnadpis 2">
            <a:extLst>
              <a:ext uri="{FF2B5EF4-FFF2-40B4-BE49-F238E27FC236}">
                <a16:creationId xmlns:a16="http://schemas.microsoft.com/office/drawing/2014/main" id="{EEDD7C9C-046D-6F4C-8D5D-9088ECC6204C}"/>
              </a:ext>
            </a:extLst>
          </p:cNvPr>
          <p:cNvSpPr>
            <a:spLocks noGrp="1"/>
          </p:cNvSpPr>
          <p:nvPr>
            <p:ph type="subTitle" idx="1"/>
          </p:nvPr>
        </p:nvSpPr>
        <p:spPr>
          <a:xfrm>
            <a:off x="1375983" y="3808336"/>
            <a:ext cx="9440034" cy="1049867"/>
          </a:xfrm>
        </p:spPr>
        <p:txBody>
          <a:bodyPr vert="horz" lIns="91440" tIns="45720" rIns="91440" bIns="45720" rtlCol="0" anchor="t">
            <a:normAutofit/>
          </a:bodyPr>
          <a:lstStyle/>
          <a:p>
            <a:r>
              <a:rPr lang="en-US" sz="1800" dirty="0"/>
              <a:t>Henriques Kaelin, Efe Egemen, </a:t>
            </a:r>
            <a:r>
              <a:rPr lang="en-US" sz="1800" dirty="0" err="1"/>
              <a:t>Skokanov</a:t>
            </a:r>
            <a:r>
              <a:rPr lang="cs-CZ" sz="1800" dirty="0"/>
              <a:t>á</a:t>
            </a:r>
            <a:r>
              <a:rPr lang="en-US" sz="1800" dirty="0"/>
              <a:t> Simona</a:t>
            </a:r>
            <a:endParaRPr lang="cs-CZ" sz="1800" dirty="0"/>
          </a:p>
        </p:txBody>
      </p:sp>
    </p:spTree>
    <p:extLst>
      <p:ext uri="{BB962C8B-B14F-4D97-AF65-F5344CB8AC3E}">
        <p14:creationId xmlns:p14="http://schemas.microsoft.com/office/powerpoint/2010/main" val="4127674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4649-8326-E36E-3601-7C9431CD99B2}"/>
              </a:ext>
            </a:extLst>
          </p:cNvPr>
          <p:cNvSpPr>
            <a:spLocks noGrp="1"/>
          </p:cNvSpPr>
          <p:nvPr>
            <p:ph type="title"/>
          </p:nvPr>
        </p:nvSpPr>
        <p:spPr/>
        <p:txBody>
          <a:bodyPr/>
          <a:lstStyle/>
          <a:p>
            <a:r>
              <a:rPr lang="en-GB" dirty="0"/>
              <a:t>Index</a:t>
            </a:r>
          </a:p>
        </p:txBody>
      </p:sp>
      <p:sp>
        <p:nvSpPr>
          <p:cNvPr id="3" name="Content Placeholder 2">
            <a:extLst>
              <a:ext uri="{FF2B5EF4-FFF2-40B4-BE49-F238E27FC236}">
                <a16:creationId xmlns:a16="http://schemas.microsoft.com/office/drawing/2014/main" id="{7AB0D5EB-F36F-F796-14E3-3C284600DFB8}"/>
              </a:ext>
            </a:extLst>
          </p:cNvPr>
          <p:cNvSpPr>
            <a:spLocks noGrp="1"/>
          </p:cNvSpPr>
          <p:nvPr>
            <p:ph idx="1"/>
          </p:nvPr>
        </p:nvSpPr>
        <p:spPr/>
        <p:txBody>
          <a:bodyPr vert="horz" lIns="91440" tIns="45720" rIns="91440" bIns="45720" rtlCol="0" anchor="t">
            <a:normAutofit/>
          </a:bodyPr>
          <a:lstStyle/>
          <a:p>
            <a:pPr marL="514350" indent="-514350">
              <a:buAutoNum type="arabicPeriod"/>
            </a:pPr>
            <a:r>
              <a:rPr lang="en-GB" dirty="0"/>
              <a:t>What is a mass extinction</a:t>
            </a:r>
          </a:p>
          <a:p>
            <a:pPr marL="514350" indent="-514350">
              <a:buAutoNum type="arabicPeriod"/>
            </a:pPr>
            <a:r>
              <a:rPr lang="en-GB" dirty="0"/>
              <a:t>1st Paper &amp; conclusion</a:t>
            </a:r>
          </a:p>
          <a:p>
            <a:pPr marL="514350" indent="-514350">
              <a:buAutoNum type="arabicPeriod"/>
            </a:pPr>
            <a:r>
              <a:rPr lang="en-GB" dirty="0"/>
              <a:t>2nd Paper &amp; conclusion</a:t>
            </a:r>
          </a:p>
          <a:p>
            <a:pPr marL="514350" indent="-514350">
              <a:buAutoNum type="arabicPeriod"/>
            </a:pPr>
            <a:r>
              <a:rPr lang="en-GB" dirty="0"/>
              <a:t>Comparing both papers &amp; our conclusion</a:t>
            </a:r>
          </a:p>
        </p:txBody>
      </p:sp>
    </p:spTree>
    <p:extLst>
      <p:ext uri="{BB962C8B-B14F-4D97-AF65-F5344CB8AC3E}">
        <p14:creationId xmlns:p14="http://schemas.microsoft.com/office/powerpoint/2010/main" val="2067987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E482A67-6CD8-49D7-9F85-52ECF9915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88A879-F3D4-DD91-DD95-82A19919ED2C}"/>
              </a:ext>
            </a:extLst>
          </p:cNvPr>
          <p:cNvSpPr>
            <a:spLocks noGrp="1"/>
          </p:cNvSpPr>
          <p:nvPr>
            <p:ph type="title"/>
          </p:nvPr>
        </p:nvSpPr>
        <p:spPr>
          <a:xfrm>
            <a:off x="8094617" y="965196"/>
            <a:ext cx="3137262" cy="2633146"/>
          </a:xfrm>
        </p:spPr>
        <p:txBody>
          <a:bodyPr vert="horz" lIns="91440" tIns="45720" rIns="91440" bIns="45720" rtlCol="0" anchor="b">
            <a:normAutofit/>
          </a:bodyPr>
          <a:lstStyle/>
          <a:p>
            <a:r>
              <a:rPr lang="en-US">
                <a:solidFill>
                  <a:srgbClr val="DADADA"/>
                </a:solidFill>
              </a:rPr>
              <a:t>Mass Extinciton</a:t>
            </a:r>
          </a:p>
        </p:txBody>
      </p:sp>
      <p:sp>
        <p:nvSpPr>
          <p:cNvPr id="12" name="Rectangle 11">
            <a:extLst>
              <a:ext uri="{FF2B5EF4-FFF2-40B4-BE49-F238E27FC236}">
                <a16:creationId xmlns:a16="http://schemas.microsoft.com/office/drawing/2014/main" id="{418F941B-B7E9-44F2-9A2C-5D35ACF9A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614" y="965196"/>
            <a:ext cx="6476539" cy="4781641"/>
          </a:xfrm>
          <a:prstGeom prst="rect">
            <a:avLst/>
          </a:prstGeom>
          <a:solidFill>
            <a:schemeClr val="bg1"/>
          </a:solidFill>
          <a:ln w="190500">
            <a:solidFill>
              <a:srgbClr val="FFFFFF">
                <a:alpha val="7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numbers and lines&#10;&#10;AI-generated content may be incorrect.">
            <a:extLst>
              <a:ext uri="{FF2B5EF4-FFF2-40B4-BE49-F238E27FC236}">
                <a16:creationId xmlns:a16="http://schemas.microsoft.com/office/drawing/2014/main" id="{0C8F91E5-FD41-F5B0-C610-B1C5FE8F2CFB}"/>
              </a:ext>
            </a:extLst>
          </p:cNvPr>
          <p:cNvPicPr>
            <a:picLocks noChangeAspect="1"/>
          </p:cNvPicPr>
          <p:nvPr/>
        </p:nvPicPr>
        <p:blipFill>
          <a:blip r:embed="rId3"/>
          <a:stretch>
            <a:fillRect/>
          </a:stretch>
        </p:blipFill>
        <p:spPr>
          <a:xfrm>
            <a:off x="1210792" y="1032331"/>
            <a:ext cx="5986675" cy="4714506"/>
          </a:xfrm>
          <a:prstGeom prst="rect">
            <a:avLst/>
          </a:prstGeom>
        </p:spPr>
      </p:pic>
    </p:spTree>
    <p:extLst>
      <p:ext uri="{BB962C8B-B14F-4D97-AF65-F5344CB8AC3E}">
        <p14:creationId xmlns:p14="http://schemas.microsoft.com/office/powerpoint/2010/main" val="268950429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299B9-068F-5166-01EE-6D1D2CEE01C4}"/>
              </a:ext>
            </a:extLst>
          </p:cNvPr>
          <p:cNvSpPr>
            <a:spLocks noGrp="1"/>
          </p:cNvSpPr>
          <p:nvPr>
            <p:ph type="title"/>
          </p:nvPr>
        </p:nvSpPr>
        <p:spPr>
          <a:xfrm>
            <a:off x="913795" y="609600"/>
            <a:ext cx="10353762" cy="970450"/>
          </a:xfrm>
        </p:spPr>
        <p:txBody>
          <a:bodyPr>
            <a:normAutofit/>
          </a:bodyPr>
          <a:lstStyle/>
          <a:p>
            <a:r>
              <a:rPr lang="en-US"/>
              <a:t>Mass Extinction vs. Background Extinction</a:t>
            </a:r>
          </a:p>
        </p:txBody>
      </p:sp>
      <p:pic>
        <p:nvPicPr>
          <p:cNvPr id="10" name="Picture 9">
            <a:extLst>
              <a:ext uri="{FF2B5EF4-FFF2-40B4-BE49-F238E27FC236}">
                <a16:creationId xmlns:a16="http://schemas.microsoft.com/office/drawing/2014/main" id="{A8D526D7-C782-4F65-A21F-A6B40D869B47}"/>
              </a:ext>
              <a:ext uri="{C183D7F6-B498-43B3-948B-1728B52AA6E4}">
                <adec:decorative xmlns:adec="http://schemas.microsoft.com/office/drawing/2017/decorative" val="1"/>
              </a:ext>
            </a:extLst>
          </p:cNvPr>
          <p:cNvPicPr preferRelativeResize="0">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98" t="2669" r="616"/>
          <a:stretch/>
        </p:blipFill>
        <p:spPr>
          <a:xfrm>
            <a:off x="-1" y="1731964"/>
            <a:ext cx="12192001" cy="5126036"/>
          </a:xfrm>
          <a:prstGeom prst="rect">
            <a:avLst/>
          </a:prstGeom>
          <a:effectLst>
            <a:innerShdw blurRad="63500" dist="50800" dir="16200000">
              <a:prstClr val="black">
                <a:alpha val="50000"/>
              </a:prstClr>
            </a:innerShdw>
          </a:effectLst>
        </p:spPr>
      </p:pic>
      <p:graphicFrame>
        <p:nvGraphicFramePr>
          <p:cNvPr id="5" name="Content Placeholder 4">
            <a:extLst>
              <a:ext uri="{FF2B5EF4-FFF2-40B4-BE49-F238E27FC236}">
                <a16:creationId xmlns:a16="http://schemas.microsoft.com/office/drawing/2014/main" id="{8BA75871-C8E1-AE9D-17F0-18B5AB31EE22}"/>
              </a:ext>
            </a:extLst>
          </p:cNvPr>
          <p:cNvGraphicFramePr>
            <a:graphicFrameLocks noGrp="1"/>
          </p:cNvGraphicFramePr>
          <p:nvPr>
            <p:ph idx="1"/>
            <p:extLst>
              <p:ext uri="{D42A27DB-BD31-4B8C-83A1-F6EECF244321}">
                <p14:modId xmlns:p14="http://schemas.microsoft.com/office/powerpoint/2010/main" val="3134521157"/>
              </p:ext>
            </p:extLst>
          </p:nvPr>
        </p:nvGraphicFramePr>
        <p:xfrm>
          <a:off x="914400" y="2192404"/>
          <a:ext cx="10353675" cy="3299224"/>
        </p:xfrm>
        <a:graphic>
          <a:graphicData uri="http://schemas.openxmlformats.org/drawingml/2006/table">
            <a:tbl>
              <a:tblPr firstRow="1" bandRow="1">
                <a:tableStyleId>{5C22544A-7EE6-4342-B048-85BDC9FD1C3A}</a:tableStyleId>
              </a:tblPr>
              <a:tblGrid>
                <a:gridCol w="2546875">
                  <a:extLst>
                    <a:ext uri="{9D8B030D-6E8A-4147-A177-3AD203B41FA5}">
                      <a16:colId xmlns:a16="http://schemas.microsoft.com/office/drawing/2014/main" val="2529557787"/>
                    </a:ext>
                  </a:extLst>
                </a:gridCol>
                <a:gridCol w="3903400">
                  <a:extLst>
                    <a:ext uri="{9D8B030D-6E8A-4147-A177-3AD203B41FA5}">
                      <a16:colId xmlns:a16="http://schemas.microsoft.com/office/drawing/2014/main" val="4235921693"/>
                    </a:ext>
                  </a:extLst>
                </a:gridCol>
                <a:gridCol w="3903400">
                  <a:extLst>
                    <a:ext uri="{9D8B030D-6E8A-4147-A177-3AD203B41FA5}">
                      <a16:colId xmlns:a16="http://schemas.microsoft.com/office/drawing/2014/main" val="650446256"/>
                    </a:ext>
                  </a:extLst>
                </a:gridCol>
              </a:tblGrid>
              <a:tr h="448043">
                <a:tc>
                  <a:txBody>
                    <a:bodyPr/>
                    <a:lstStyle/>
                    <a:p>
                      <a:pPr marL="0" algn="l" rtl="0" fontAlgn="t" latinLnBrk="0">
                        <a:buNone/>
                      </a:pPr>
                      <a:r>
                        <a:rPr lang="en-US" sz="2000" b="1" i="0" u="none" strike="noStrike" dirty="0">
                          <a:solidFill>
                            <a:srgbClr val="FFFFFF"/>
                          </a:solidFill>
                          <a:effectLst/>
                          <a:latin typeface="Aptos" panose="020B0004020202020204" pitchFamily="34" charset="0"/>
                        </a:rPr>
                        <a:t>Feature</a:t>
                      </a:r>
                      <a:endParaRPr lang="en-US" sz="2000" b="0" i="0" u="none" strike="noStrike" dirty="0">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algn="l" rtl="0" fontAlgn="t" latinLnBrk="0">
                        <a:buNone/>
                      </a:pPr>
                      <a:r>
                        <a:rPr lang="en-US" sz="2000" b="1" i="0" u="none" strike="noStrike">
                          <a:solidFill>
                            <a:srgbClr val="FFFFFF"/>
                          </a:solidFill>
                          <a:effectLst/>
                          <a:latin typeface="Aptos" panose="020B0004020202020204" pitchFamily="34" charset="0"/>
                        </a:rPr>
                        <a:t>Mass Extinction</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algn="l" rtl="0" fontAlgn="t" latinLnBrk="0">
                        <a:buNone/>
                      </a:pPr>
                      <a:r>
                        <a:rPr lang="en-US" sz="2000" b="1" i="0" u="none" strike="noStrike">
                          <a:solidFill>
                            <a:srgbClr val="FFFFFF"/>
                          </a:solidFill>
                          <a:effectLst/>
                          <a:latin typeface="Aptos" panose="020B0004020202020204" pitchFamily="34" charset="0"/>
                        </a:rPr>
                        <a:t>Background Extinction</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3463298676"/>
                  </a:ext>
                </a:extLst>
              </a:tr>
              <a:tr h="448043">
                <a:tc>
                  <a:txBody>
                    <a:bodyPr/>
                    <a:lstStyle/>
                    <a:p>
                      <a:pPr marL="0" algn="l" rtl="0" fontAlgn="t" latinLnBrk="0">
                        <a:buNone/>
                      </a:pPr>
                      <a:r>
                        <a:rPr lang="en-US" sz="2000" b="1" i="0" u="none" strike="noStrike">
                          <a:solidFill>
                            <a:srgbClr val="FFFFFF"/>
                          </a:solidFill>
                          <a:effectLst/>
                          <a:latin typeface="Aptos" panose="020B0004020202020204" pitchFamily="34" charset="0"/>
                        </a:rPr>
                        <a:t>Rate</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6082"/>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Extremely high</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Low</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770326331"/>
                  </a:ext>
                </a:extLst>
              </a:tr>
              <a:tr h="448043">
                <a:tc>
                  <a:txBody>
                    <a:bodyPr/>
                    <a:lstStyle/>
                    <a:p>
                      <a:pPr marL="0" algn="l" rtl="0" fontAlgn="t" latinLnBrk="0">
                        <a:buNone/>
                      </a:pPr>
                      <a:r>
                        <a:rPr lang="en-US" sz="2000" b="1" i="0" u="none" strike="noStrike">
                          <a:solidFill>
                            <a:srgbClr val="FFFFFF"/>
                          </a:solidFill>
                          <a:effectLst/>
                          <a:latin typeface="Aptos" panose="020B0004020202020204" pitchFamily="34" charset="0"/>
                        </a:rPr>
                        <a:t>Magnitude</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6082"/>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Widespread</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Localized</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851239717"/>
                  </a:ext>
                </a:extLst>
              </a:tr>
              <a:tr h="753526">
                <a:tc>
                  <a:txBody>
                    <a:bodyPr/>
                    <a:lstStyle/>
                    <a:p>
                      <a:pPr marL="0" algn="l" rtl="0" fontAlgn="t" latinLnBrk="0">
                        <a:buNone/>
                      </a:pPr>
                      <a:r>
                        <a:rPr lang="en-US" sz="2000" b="1" i="0" u="none" strike="noStrike">
                          <a:solidFill>
                            <a:srgbClr val="FFFFFF"/>
                          </a:solidFill>
                          <a:effectLst/>
                          <a:latin typeface="Aptos" panose="020B0004020202020204" pitchFamily="34" charset="0"/>
                        </a:rPr>
                        <a:t>Duration</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6082"/>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Geologically short</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Continuous over geological timescales</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852891716"/>
                  </a:ext>
                </a:extLst>
              </a:tr>
              <a:tr h="753526">
                <a:tc>
                  <a:txBody>
                    <a:bodyPr/>
                    <a:lstStyle/>
                    <a:p>
                      <a:pPr marL="0" algn="l" rtl="0" fontAlgn="t" latinLnBrk="0">
                        <a:buNone/>
                      </a:pPr>
                      <a:r>
                        <a:rPr lang="en-US" sz="2000" b="1" i="0" u="none" strike="noStrike">
                          <a:solidFill>
                            <a:srgbClr val="FFFFFF"/>
                          </a:solidFill>
                          <a:effectLst/>
                          <a:latin typeface="Aptos" panose="020B0004020202020204" pitchFamily="34" charset="0"/>
                        </a:rPr>
                        <a:t>Cause</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6082"/>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Catastrophic global events</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Normal ecological, evolutionary pressures</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445178364"/>
                  </a:ext>
                </a:extLst>
              </a:tr>
              <a:tr h="448043">
                <a:tc>
                  <a:txBody>
                    <a:bodyPr/>
                    <a:lstStyle/>
                    <a:p>
                      <a:pPr marL="0" algn="l" rtl="0" fontAlgn="t" latinLnBrk="0">
                        <a:buNone/>
                      </a:pPr>
                      <a:r>
                        <a:rPr lang="en-US" sz="2000" b="1" i="0" u="none" strike="noStrike">
                          <a:solidFill>
                            <a:srgbClr val="FFFFFF"/>
                          </a:solidFill>
                          <a:effectLst/>
                          <a:latin typeface="Aptos" panose="020B0004020202020204" pitchFamily="34" charset="0"/>
                        </a:rPr>
                        <a:t>Frequency</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56082"/>
                    </a:solidFill>
                  </a:tcPr>
                </a:tc>
                <a:tc>
                  <a:txBody>
                    <a:bodyPr/>
                    <a:lstStyle/>
                    <a:p>
                      <a:pPr marL="0" algn="l" rtl="0" fontAlgn="t" latinLnBrk="0">
                        <a:buNone/>
                      </a:pPr>
                      <a:r>
                        <a:rPr lang="en-US" sz="2000" b="0" i="0" u="none" strike="noStrike">
                          <a:solidFill>
                            <a:srgbClr val="000000"/>
                          </a:solidFill>
                          <a:effectLst/>
                          <a:latin typeface="Aptos" panose="020B0004020202020204" pitchFamily="34" charset="0"/>
                        </a:rPr>
                        <a:t>Very rare</a:t>
                      </a:r>
                      <a:endParaRPr lang="en-US" sz="2000" b="0" i="0" u="none" strike="noStrike">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algn="l" rtl="0" fontAlgn="t" latinLnBrk="0">
                        <a:buNone/>
                      </a:pPr>
                      <a:r>
                        <a:rPr lang="en-US" sz="2000" b="0" i="0" u="none" strike="noStrike" dirty="0">
                          <a:solidFill>
                            <a:srgbClr val="000000"/>
                          </a:solidFill>
                          <a:effectLst/>
                          <a:latin typeface="Aptos" panose="020B0004020202020204" pitchFamily="34" charset="0"/>
                        </a:rPr>
                        <a:t>Ongoing</a:t>
                      </a:r>
                      <a:endParaRPr lang="en-US" sz="2000" b="0" i="0" u="none" strike="noStrike" dirty="0">
                        <a:effectLst/>
                        <a:latin typeface="Arial" panose="020B0604020202020204" pitchFamily="34" charset="0"/>
                      </a:endParaRPr>
                    </a:p>
                  </a:txBody>
                  <a:tcPr marL="101828" marR="101828" marT="50914" marB="50914">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298047928"/>
                  </a:ext>
                </a:extLst>
              </a:tr>
            </a:tbl>
          </a:graphicData>
        </a:graphic>
      </p:graphicFrame>
    </p:spTree>
    <p:extLst>
      <p:ext uri="{BB962C8B-B14F-4D97-AF65-F5344CB8AC3E}">
        <p14:creationId xmlns:p14="http://schemas.microsoft.com/office/powerpoint/2010/main" val="2782371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FD3FF-AEDA-BE37-3A70-D07B379FA695}"/>
              </a:ext>
            </a:extLst>
          </p:cNvPr>
          <p:cNvSpPr>
            <a:spLocks noGrp="1"/>
          </p:cNvSpPr>
          <p:nvPr>
            <p:ph type="title"/>
          </p:nvPr>
        </p:nvSpPr>
        <p:spPr>
          <a:xfrm>
            <a:off x="913796" y="609600"/>
            <a:ext cx="5168052" cy="1117600"/>
          </a:xfrm>
        </p:spPr>
        <p:txBody>
          <a:bodyPr>
            <a:normAutofit/>
          </a:bodyPr>
          <a:lstStyle/>
          <a:p>
            <a:pPr>
              <a:lnSpc>
                <a:spcPct val="90000"/>
              </a:lnSpc>
            </a:pPr>
            <a:r>
              <a:rPr lang="en-US" sz="2800"/>
              <a:t>Accelerated Species Losses and the Sixth Mass Extinction</a:t>
            </a:r>
          </a:p>
        </p:txBody>
      </p:sp>
      <p:sp>
        <p:nvSpPr>
          <p:cNvPr id="3" name="Content Placeholder 2">
            <a:extLst>
              <a:ext uri="{FF2B5EF4-FFF2-40B4-BE49-F238E27FC236}">
                <a16:creationId xmlns:a16="http://schemas.microsoft.com/office/drawing/2014/main" id="{48E783B1-7149-100A-814C-4D0B54FB453D}"/>
              </a:ext>
            </a:extLst>
          </p:cNvPr>
          <p:cNvSpPr>
            <a:spLocks noGrp="1"/>
          </p:cNvSpPr>
          <p:nvPr>
            <p:ph idx="1"/>
          </p:nvPr>
        </p:nvSpPr>
        <p:spPr>
          <a:xfrm>
            <a:off x="913796" y="1828800"/>
            <a:ext cx="5168052" cy="3962400"/>
          </a:xfrm>
        </p:spPr>
        <p:txBody>
          <a:bodyPr vert="horz" lIns="91440" tIns="45720" rIns="91440" bIns="45720" rtlCol="0">
            <a:normAutofit/>
          </a:bodyPr>
          <a:lstStyle/>
          <a:p>
            <a:r>
              <a:rPr lang="en-US" sz="1800" dirty="0"/>
              <a:t>Main Goal</a:t>
            </a:r>
          </a:p>
          <a:p>
            <a:r>
              <a:rPr lang="en-US" sz="1800" dirty="0"/>
              <a:t>Methodology</a:t>
            </a:r>
          </a:p>
          <a:p>
            <a:r>
              <a:rPr lang="en-US" sz="1800" dirty="0"/>
              <a:t>Conservative Background Rate</a:t>
            </a:r>
          </a:p>
          <a:p>
            <a:r>
              <a:rPr lang="en-US" sz="1800" dirty="0"/>
              <a:t>Key Findings</a:t>
            </a:r>
          </a:p>
          <a:p>
            <a:r>
              <a:rPr lang="en-US" sz="1800" dirty="0"/>
              <a:t>Quantification</a:t>
            </a:r>
          </a:p>
          <a:p>
            <a:r>
              <a:rPr lang="en-US" sz="1800" dirty="0"/>
              <a:t>Conclusion</a:t>
            </a:r>
          </a:p>
        </p:txBody>
      </p:sp>
      <p:pic>
        <p:nvPicPr>
          <p:cNvPr id="12" name="Picture 9">
            <a:extLst>
              <a:ext uri="{FF2B5EF4-FFF2-40B4-BE49-F238E27FC236}">
                <a16:creationId xmlns:a16="http://schemas.microsoft.com/office/drawing/2014/main" id="{F15A1844-5CB8-438B-B90E-EF2A51CF87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6586695" y="1"/>
            <a:ext cx="5605305" cy="6858000"/>
          </a:xfrm>
          <a:prstGeom prst="rect">
            <a:avLst/>
          </a:prstGeom>
        </p:spPr>
      </p:pic>
      <p:pic>
        <p:nvPicPr>
          <p:cNvPr id="4" name="Picture 3" descr="A graph of different animals&#10;&#10;AI-generated content may be incorrect.">
            <a:extLst>
              <a:ext uri="{FF2B5EF4-FFF2-40B4-BE49-F238E27FC236}">
                <a16:creationId xmlns:a16="http://schemas.microsoft.com/office/drawing/2014/main" id="{4D6EFB1F-1824-6469-FF1C-EC0BBB2A8998}"/>
              </a:ext>
            </a:extLst>
          </p:cNvPr>
          <p:cNvPicPr>
            <a:picLocks noChangeAspect="1"/>
          </p:cNvPicPr>
          <p:nvPr/>
        </p:nvPicPr>
        <p:blipFill>
          <a:blip r:embed="rId5"/>
          <a:stretch>
            <a:fillRect/>
          </a:stretch>
        </p:blipFill>
        <p:spPr>
          <a:xfrm>
            <a:off x="7714300" y="457938"/>
            <a:ext cx="3468101" cy="2921875"/>
          </a:xfrm>
          <a:prstGeom prst="rect">
            <a:avLst/>
          </a:prstGeom>
        </p:spPr>
      </p:pic>
      <p:pic>
        <p:nvPicPr>
          <p:cNvPr id="5" name="Picture 4" descr="A graph of animals and birds&#10;&#10;AI-generated content may be incorrect.">
            <a:extLst>
              <a:ext uri="{FF2B5EF4-FFF2-40B4-BE49-F238E27FC236}">
                <a16:creationId xmlns:a16="http://schemas.microsoft.com/office/drawing/2014/main" id="{D97A83AC-8DE7-95F3-41CF-14D3A8D9678C}"/>
              </a:ext>
            </a:extLst>
          </p:cNvPr>
          <p:cNvPicPr>
            <a:picLocks noChangeAspect="1"/>
          </p:cNvPicPr>
          <p:nvPr/>
        </p:nvPicPr>
        <p:blipFill>
          <a:blip r:embed="rId6"/>
          <a:stretch>
            <a:fillRect/>
          </a:stretch>
        </p:blipFill>
        <p:spPr>
          <a:xfrm>
            <a:off x="7714300" y="3478187"/>
            <a:ext cx="3478422" cy="2921875"/>
          </a:xfrm>
          <a:prstGeom prst="rect">
            <a:avLst/>
          </a:prstGeom>
        </p:spPr>
      </p:pic>
    </p:spTree>
    <p:extLst>
      <p:ext uri="{BB962C8B-B14F-4D97-AF65-F5344CB8AC3E}">
        <p14:creationId xmlns:p14="http://schemas.microsoft.com/office/powerpoint/2010/main" val="2493943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F4636-5490-5B49-4BCD-1BB43AA487EF}"/>
              </a:ext>
            </a:extLst>
          </p:cNvPr>
          <p:cNvSpPr>
            <a:spLocks noGrp="1"/>
          </p:cNvSpPr>
          <p:nvPr>
            <p:ph type="title"/>
          </p:nvPr>
        </p:nvSpPr>
        <p:spPr>
          <a:xfrm>
            <a:off x="913795" y="609600"/>
            <a:ext cx="3405957" cy="970450"/>
          </a:xfrm>
        </p:spPr>
        <p:txBody>
          <a:bodyPr anchor="b">
            <a:noAutofit/>
          </a:bodyPr>
          <a:lstStyle/>
          <a:p>
            <a:pPr algn="l"/>
            <a:r>
              <a:rPr lang="en-US" sz="3600" dirty="0"/>
              <a:t>Extinction Data</a:t>
            </a:r>
          </a:p>
        </p:txBody>
      </p:sp>
      <p:sp>
        <p:nvSpPr>
          <p:cNvPr id="3" name="Content Placeholder 2">
            <a:extLst>
              <a:ext uri="{FF2B5EF4-FFF2-40B4-BE49-F238E27FC236}">
                <a16:creationId xmlns:a16="http://schemas.microsoft.com/office/drawing/2014/main" id="{BF4B4B04-1131-4E86-7464-DFFD56D506D9}"/>
              </a:ext>
            </a:extLst>
          </p:cNvPr>
          <p:cNvSpPr>
            <a:spLocks noGrp="1"/>
          </p:cNvSpPr>
          <p:nvPr>
            <p:ph idx="1"/>
          </p:nvPr>
        </p:nvSpPr>
        <p:spPr>
          <a:xfrm>
            <a:off x="913795" y="1732449"/>
            <a:ext cx="3078749" cy="4058751"/>
          </a:xfrm>
        </p:spPr>
        <p:txBody>
          <a:bodyPr vert="horz" lIns="91440" tIns="45720" rIns="91440" bIns="45720" rtlCol="0" anchor="t">
            <a:normAutofit/>
          </a:bodyPr>
          <a:lstStyle/>
          <a:p>
            <a:r>
              <a:rPr lang="en-US" sz="1800" dirty="0"/>
              <a:t>Total Documented Vertebrate Extinctions</a:t>
            </a:r>
          </a:p>
          <a:p>
            <a:r>
              <a:rPr lang="en-US" sz="1800" dirty="0"/>
              <a:t>Total Vertebrate Extinctions</a:t>
            </a:r>
          </a:p>
          <a:p>
            <a:r>
              <a:rPr lang="en-US" sz="1800" dirty="0"/>
              <a:t>Consequence</a:t>
            </a:r>
          </a:p>
          <a:p>
            <a:r>
              <a:rPr lang="en-US" sz="1800" dirty="0"/>
              <a:t>Severity</a:t>
            </a:r>
          </a:p>
          <a:p>
            <a:r>
              <a:rPr lang="en-US" sz="1800" dirty="0"/>
              <a:t>Urgency</a:t>
            </a:r>
          </a:p>
          <a:p>
            <a:r>
              <a:rPr lang="en-US" sz="1800" dirty="0"/>
              <a:t>Opportunity</a:t>
            </a:r>
          </a:p>
          <a:p>
            <a:endParaRPr lang="en-US" sz="1600" dirty="0">
              <a:latin typeface="Aptos" panose="02110004020202020204"/>
              <a:cs typeface="Arial"/>
            </a:endParaRPr>
          </a:p>
        </p:txBody>
      </p:sp>
      <p:sp>
        <p:nvSpPr>
          <p:cNvPr id="16" name="Rectangle 8">
            <a:extLst>
              <a:ext uri="{FF2B5EF4-FFF2-40B4-BE49-F238E27FC236}">
                <a16:creationId xmlns:a16="http://schemas.microsoft.com/office/drawing/2014/main" id="{0A22D114-11B7-46ED-94A9-18DC1C977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965196"/>
            <a:ext cx="6581364" cy="4781641"/>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hart with different animals&#10;&#10;AI-generated content may be incorrect.">
            <a:extLst>
              <a:ext uri="{FF2B5EF4-FFF2-40B4-BE49-F238E27FC236}">
                <a16:creationId xmlns:a16="http://schemas.microsoft.com/office/drawing/2014/main" id="{17EADFEC-5113-DB10-285B-50F14485E015}"/>
              </a:ext>
            </a:extLst>
          </p:cNvPr>
          <p:cNvPicPr>
            <a:picLocks noChangeAspect="1"/>
          </p:cNvPicPr>
          <p:nvPr/>
        </p:nvPicPr>
        <p:blipFill>
          <a:blip r:embed="rId4"/>
          <a:srcRect l="470" r="2" b="2"/>
          <a:stretch>
            <a:fillRect/>
          </a:stretch>
        </p:blipFill>
        <p:spPr>
          <a:xfrm>
            <a:off x="5120640" y="1438360"/>
            <a:ext cx="5676236" cy="3835314"/>
          </a:xfrm>
          <a:prstGeom prst="rect">
            <a:avLst/>
          </a:prstGeom>
        </p:spPr>
      </p:pic>
    </p:spTree>
    <p:extLst>
      <p:ext uri="{BB962C8B-B14F-4D97-AF65-F5344CB8AC3E}">
        <p14:creationId xmlns:p14="http://schemas.microsoft.com/office/powerpoint/2010/main" val="414386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6C2C86-63BF-47D5-AA3F-905111A238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C976D5-C8B2-6B46-3CC2-FC46CDB7327B}"/>
              </a:ext>
            </a:extLst>
          </p:cNvPr>
          <p:cNvSpPr>
            <a:spLocks noGrp="1"/>
          </p:cNvSpPr>
          <p:nvPr>
            <p:ph type="title"/>
          </p:nvPr>
        </p:nvSpPr>
        <p:spPr>
          <a:xfrm>
            <a:off x="834013" y="1115568"/>
            <a:ext cx="3487616" cy="4626864"/>
          </a:xfrm>
        </p:spPr>
        <p:txBody>
          <a:bodyPr>
            <a:normAutofit/>
          </a:bodyPr>
          <a:lstStyle/>
          <a:p>
            <a:pPr algn="l"/>
            <a:r>
              <a:rPr lang="en-US" sz="3600" dirty="0"/>
              <a:t>Questioning the sixth mass extinction</a:t>
            </a:r>
            <a:endParaRPr lang="en-GB" sz="3600" dirty="0"/>
          </a:p>
        </p:txBody>
      </p:sp>
      <p:cxnSp>
        <p:nvCxnSpPr>
          <p:cNvPr id="10" name="Straight Connector 9">
            <a:extLst>
              <a:ext uri="{FF2B5EF4-FFF2-40B4-BE49-F238E27FC236}">
                <a16:creationId xmlns:a16="http://schemas.microsoft.com/office/drawing/2014/main" id="{425A0768-3044-4AA9-A889-D2CAA68C51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400"/>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9803BCD-0A73-6FA0-5E7F-78AE2B787F32}"/>
              </a:ext>
            </a:extLst>
          </p:cNvPr>
          <p:cNvSpPr>
            <a:spLocks noGrp="1"/>
          </p:cNvSpPr>
          <p:nvPr>
            <p:ph idx="1"/>
          </p:nvPr>
        </p:nvSpPr>
        <p:spPr>
          <a:xfrm>
            <a:off x="5105398" y="1115568"/>
            <a:ext cx="6245352" cy="4626864"/>
          </a:xfrm>
        </p:spPr>
        <p:txBody>
          <a:bodyPr anchor="ctr">
            <a:normAutofit/>
          </a:bodyPr>
          <a:lstStyle/>
          <a:p>
            <a:endParaRPr lang="en-US" dirty="0"/>
          </a:p>
          <a:p>
            <a:endParaRPr lang="en-US" dirty="0"/>
          </a:p>
          <a:p>
            <a:endParaRPr lang="en-US" dirty="0"/>
          </a:p>
          <a:p>
            <a:r>
              <a:rPr lang="en-US" sz="1800" dirty="0"/>
              <a:t>Main goal</a:t>
            </a:r>
          </a:p>
          <a:p>
            <a:r>
              <a:rPr lang="en-US" sz="1800" dirty="0"/>
              <a:t>Quantitative Criterion</a:t>
            </a:r>
          </a:p>
          <a:p>
            <a:r>
              <a:rPr lang="en-US" sz="1800" dirty="0"/>
              <a:t>Current status</a:t>
            </a:r>
          </a:p>
          <a:p>
            <a:r>
              <a:rPr lang="en-US" sz="1800" dirty="0"/>
              <a:t>Future projections</a:t>
            </a:r>
          </a:p>
          <a:p>
            <a:r>
              <a:rPr lang="en-US" sz="1800" dirty="0"/>
              <a:t>Timeframe</a:t>
            </a:r>
          </a:p>
          <a:p>
            <a:endParaRPr lang="en-US" dirty="0"/>
          </a:p>
          <a:p>
            <a:endParaRPr lang="en-US" dirty="0"/>
          </a:p>
          <a:p>
            <a:endParaRPr lang="en-GB" dirty="0"/>
          </a:p>
        </p:txBody>
      </p:sp>
    </p:spTree>
    <p:extLst>
      <p:ext uri="{BB962C8B-B14F-4D97-AF65-F5344CB8AC3E}">
        <p14:creationId xmlns:p14="http://schemas.microsoft.com/office/powerpoint/2010/main" val="2236980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B1EC0-D479-D4FD-3373-0BEDA7594E3F}"/>
              </a:ext>
            </a:extLst>
          </p:cNvPr>
          <p:cNvSpPr>
            <a:spLocks noGrp="1"/>
          </p:cNvSpPr>
          <p:nvPr>
            <p:ph type="title"/>
          </p:nvPr>
        </p:nvSpPr>
        <p:spPr>
          <a:xfrm>
            <a:off x="913795" y="609600"/>
            <a:ext cx="5978072" cy="970450"/>
          </a:xfrm>
        </p:spPr>
        <p:txBody>
          <a:bodyPr>
            <a:normAutofit fontScale="90000"/>
          </a:bodyPr>
          <a:lstStyle/>
          <a:p>
            <a:pPr>
              <a:lnSpc>
                <a:spcPct val="90000"/>
              </a:lnSpc>
            </a:pPr>
            <a:r>
              <a:rPr lang="en-US" sz="3600" dirty="0"/>
              <a:t>Methodological Issues in extinction rate comparisons</a:t>
            </a:r>
            <a:endParaRPr lang="en-GB" sz="3600" dirty="0"/>
          </a:p>
        </p:txBody>
      </p:sp>
      <p:sp>
        <p:nvSpPr>
          <p:cNvPr id="3" name="Content Placeholder 2">
            <a:extLst>
              <a:ext uri="{FF2B5EF4-FFF2-40B4-BE49-F238E27FC236}">
                <a16:creationId xmlns:a16="http://schemas.microsoft.com/office/drawing/2014/main" id="{9537118C-F03F-72A3-E895-81F85B1F51C9}"/>
              </a:ext>
            </a:extLst>
          </p:cNvPr>
          <p:cNvSpPr>
            <a:spLocks noGrp="1"/>
          </p:cNvSpPr>
          <p:nvPr>
            <p:ph idx="1"/>
          </p:nvPr>
        </p:nvSpPr>
        <p:spPr>
          <a:xfrm>
            <a:off x="913795" y="1828801"/>
            <a:ext cx="5978072" cy="3866048"/>
          </a:xfrm>
        </p:spPr>
        <p:txBody>
          <a:bodyPr anchor="ctr">
            <a:normAutofit/>
          </a:bodyPr>
          <a:lstStyle/>
          <a:p>
            <a:r>
              <a:rPr lang="en-US" sz="1800" dirty="0"/>
              <a:t>Timescale bias</a:t>
            </a:r>
          </a:p>
          <a:p>
            <a:r>
              <a:rPr lang="en-US" sz="1800" dirty="0"/>
              <a:t>Historical Context</a:t>
            </a:r>
          </a:p>
          <a:p>
            <a:r>
              <a:rPr lang="en-US" sz="1800" dirty="0"/>
              <a:t>Island Generalization</a:t>
            </a:r>
          </a:p>
          <a:p>
            <a:r>
              <a:rPr lang="en-US" sz="1800" dirty="0"/>
              <a:t>Taxonomic Bias</a:t>
            </a:r>
          </a:p>
          <a:p>
            <a:r>
              <a:rPr lang="en-US" sz="1800" dirty="0"/>
              <a:t>Assumption Errors</a:t>
            </a:r>
            <a:endParaRPr lang="en-GB" sz="1800" dirty="0"/>
          </a:p>
        </p:txBody>
      </p:sp>
      <p:pic>
        <p:nvPicPr>
          <p:cNvPr id="18" name="Picture 9">
            <a:extLst>
              <a:ext uri="{FF2B5EF4-FFF2-40B4-BE49-F238E27FC236}">
                <a16:creationId xmlns:a16="http://schemas.microsoft.com/office/drawing/2014/main" id="{1CF706DA-13E8-4A4F-9260-551FB8127B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5" name="Obrázek 4">
            <a:extLst>
              <a:ext uri="{FF2B5EF4-FFF2-40B4-BE49-F238E27FC236}">
                <a16:creationId xmlns:a16="http://schemas.microsoft.com/office/drawing/2014/main" id="{93C859FA-7C0A-B6D0-9041-F1DC281D4E3F}"/>
              </a:ext>
            </a:extLst>
          </p:cNvPr>
          <p:cNvPicPr>
            <a:picLocks noChangeAspect="1"/>
          </p:cNvPicPr>
          <p:nvPr/>
        </p:nvPicPr>
        <p:blipFill>
          <a:blip r:embed="rId5"/>
          <a:srcRect l="-271" t="-1" r="-4" b="15489"/>
          <a:stretch>
            <a:fillRect/>
          </a:stretch>
        </p:blipFill>
        <p:spPr>
          <a:xfrm>
            <a:off x="7429335" y="1089513"/>
            <a:ext cx="4566233" cy="4678974"/>
          </a:xfrm>
          <a:prstGeom prst="rect">
            <a:avLst/>
          </a:prstGeom>
        </p:spPr>
      </p:pic>
      <p:sp>
        <p:nvSpPr>
          <p:cNvPr id="6" name="TextovéPole 5">
            <a:extLst>
              <a:ext uri="{FF2B5EF4-FFF2-40B4-BE49-F238E27FC236}">
                <a16:creationId xmlns:a16="http://schemas.microsoft.com/office/drawing/2014/main" id="{A5983820-D77E-E7EE-6A9E-3C6D8316C599}"/>
              </a:ext>
            </a:extLst>
          </p:cNvPr>
          <p:cNvSpPr txBox="1"/>
          <p:nvPr/>
        </p:nvSpPr>
        <p:spPr>
          <a:xfrm>
            <a:off x="10537090" y="5768487"/>
            <a:ext cx="1753126" cy="261610"/>
          </a:xfrm>
          <a:prstGeom prst="rect">
            <a:avLst/>
          </a:prstGeom>
          <a:noFill/>
        </p:spPr>
        <p:txBody>
          <a:bodyPr wrap="square" rtlCol="0">
            <a:spAutoFit/>
          </a:bodyPr>
          <a:lstStyle/>
          <a:p>
            <a:r>
              <a:rPr lang="en-US" sz="1100" dirty="0"/>
              <a:t>Wiens &amp; Saban (2025)</a:t>
            </a:r>
            <a:endParaRPr lang="cs-CZ" sz="1100" dirty="0"/>
          </a:p>
        </p:txBody>
      </p:sp>
      <p:sp>
        <p:nvSpPr>
          <p:cNvPr id="7" name="TextovéPole 6">
            <a:extLst>
              <a:ext uri="{FF2B5EF4-FFF2-40B4-BE49-F238E27FC236}">
                <a16:creationId xmlns:a16="http://schemas.microsoft.com/office/drawing/2014/main" id="{406BC5A3-41D7-62E0-7B4B-D159A9A3D0FB}"/>
              </a:ext>
            </a:extLst>
          </p:cNvPr>
          <p:cNvSpPr txBox="1"/>
          <p:nvPr/>
        </p:nvSpPr>
        <p:spPr>
          <a:xfrm>
            <a:off x="7429335" y="5768487"/>
            <a:ext cx="2370511" cy="646331"/>
          </a:xfrm>
          <a:prstGeom prst="rect">
            <a:avLst/>
          </a:prstGeom>
          <a:noFill/>
        </p:spPr>
        <p:txBody>
          <a:bodyPr wrap="square" rtlCol="0">
            <a:spAutoFit/>
          </a:bodyPr>
          <a:lstStyle/>
          <a:p>
            <a:r>
              <a:rPr lang="en-US" sz="1200" dirty="0"/>
              <a:t>Recent mammalian extinction rates estimated at different timescales</a:t>
            </a:r>
            <a:endParaRPr lang="cs-CZ" sz="1200" dirty="0"/>
          </a:p>
        </p:txBody>
      </p:sp>
    </p:spTree>
    <p:extLst>
      <p:ext uri="{BB962C8B-B14F-4D97-AF65-F5344CB8AC3E}">
        <p14:creationId xmlns:p14="http://schemas.microsoft.com/office/powerpoint/2010/main" val="127600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AF8F1-B950-6466-E4EE-266034A00F36}"/>
              </a:ext>
            </a:extLst>
          </p:cNvPr>
          <p:cNvSpPr>
            <a:spLocks noGrp="1"/>
          </p:cNvSpPr>
          <p:nvPr>
            <p:ph type="title"/>
          </p:nvPr>
        </p:nvSpPr>
        <p:spPr/>
        <p:txBody>
          <a:bodyPr/>
          <a:lstStyle/>
          <a:p>
            <a:r>
              <a:rPr lang="en-GB" dirty="0"/>
              <a:t>Comparison (conclusions)</a:t>
            </a:r>
          </a:p>
        </p:txBody>
      </p:sp>
      <p:sp>
        <p:nvSpPr>
          <p:cNvPr id="3" name="Content Placeholder 2">
            <a:extLst>
              <a:ext uri="{FF2B5EF4-FFF2-40B4-BE49-F238E27FC236}">
                <a16:creationId xmlns:a16="http://schemas.microsoft.com/office/drawing/2014/main" id="{707714EF-E406-D758-01A6-B24A8F6D54E9}"/>
              </a:ext>
            </a:extLst>
          </p:cNvPr>
          <p:cNvSpPr>
            <a:spLocks noGrp="1"/>
          </p:cNvSpPr>
          <p:nvPr>
            <p:ph idx="1"/>
          </p:nvPr>
        </p:nvSpPr>
        <p:spPr/>
        <p:txBody>
          <a:bodyPr vert="horz" lIns="91440" tIns="45720" rIns="91440" bIns="45720" rtlCol="0" anchor="t">
            <a:normAutofit/>
          </a:bodyPr>
          <a:lstStyle/>
          <a:p>
            <a:pPr marL="0" indent="0">
              <a:buNone/>
            </a:pPr>
            <a:r>
              <a:rPr lang="en-GB" dirty="0"/>
              <a:t>Ceballos et al.</a:t>
            </a:r>
          </a:p>
          <a:p>
            <a:pPr marL="342900" indent="-342900"/>
            <a:r>
              <a:rPr lang="en-GB" dirty="0">
                <a:solidFill>
                  <a:srgbClr val="92D050"/>
                </a:solidFill>
              </a:rPr>
              <a:t>Elevated extinction rates and widespread population decline </a:t>
            </a:r>
            <a:r>
              <a:rPr lang="en-GB" dirty="0"/>
              <a:t>&gt; "we are entering a 6th mass extinction"</a:t>
            </a:r>
          </a:p>
          <a:p>
            <a:pPr marL="342900" indent="-342900"/>
            <a:endParaRPr lang="en-GB" dirty="0"/>
          </a:p>
          <a:p>
            <a:pPr marL="0" indent="0">
              <a:buNone/>
            </a:pPr>
            <a:r>
              <a:rPr lang="en-GB" dirty="0"/>
              <a:t>Wiens</a:t>
            </a:r>
          </a:p>
          <a:p>
            <a:pPr marL="342900" indent="-342900"/>
            <a:r>
              <a:rPr lang="en-GB" dirty="0">
                <a:solidFill>
                  <a:srgbClr val="92D050"/>
                </a:solidFill>
              </a:rPr>
              <a:t>Extinction rates elevated in places + groups </a:t>
            </a:r>
            <a:r>
              <a:rPr lang="en-GB" dirty="0"/>
              <a:t>&gt; Formal mass extinction classification not reached globally.</a:t>
            </a:r>
          </a:p>
          <a:p>
            <a:pPr marL="342900" indent="-342900"/>
            <a:r>
              <a:rPr lang="en-GB" dirty="0"/>
              <a:t>This means that "we have not entered a 6th mass extinction".</a:t>
            </a:r>
          </a:p>
        </p:txBody>
      </p:sp>
    </p:spTree>
    <p:extLst>
      <p:ext uri="{BB962C8B-B14F-4D97-AF65-F5344CB8AC3E}">
        <p14:creationId xmlns:p14="http://schemas.microsoft.com/office/powerpoint/2010/main" val="2235161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1C28A-E541-6FCD-4CE9-85823F06C504}"/>
              </a:ext>
            </a:extLst>
          </p:cNvPr>
          <p:cNvSpPr>
            <a:spLocks noGrp="1"/>
          </p:cNvSpPr>
          <p:nvPr>
            <p:ph type="title"/>
          </p:nvPr>
        </p:nvSpPr>
        <p:spPr/>
        <p:txBody>
          <a:bodyPr/>
          <a:lstStyle/>
          <a:p>
            <a:r>
              <a:rPr lang="en-GB" dirty="0"/>
              <a:t>Comparison (methodology)</a:t>
            </a:r>
          </a:p>
        </p:txBody>
      </p:sp>
      <p:sp>
        <p:nvSpPr>
          <p:cNvPr id="3" name="Content Placeholder 2">
            <a:extLst>
              <a:ext uri="{FF2B5EF4-FFF2-40B4-BE49-F238E27FC236}">
                <a16:creationId xmlns:a16="http://schemas.microsoft.com/office/drawing/2014/main" id="{59C62E0A-457B-3CC1-3254-E8E8917E58C0}"/>
              </a:ext>
            </a:extLst>
          </p:cNvPr>
          <p:cNvSpPr>
            <a:spLocks noGrp="1"/>
          </p:cNvSpPr>
          <p:nvPr>
            <p:ph idx="1"/>
          </p:nvPr>
        </p:nvSpPr>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p:txBody>
      </p:sp>
      <p:sp>
        <p:nvSpPr>
          <p:cNvPr id="4" name="TextBox 3">
            <a:extLst>
              <a:ext uri="{FF2B5EF4-FFF2-40B4-BE49-F238E27FC236}">
                <a16:creationId xmlns:a16="http://schemas.microsoft.com/office/drawing/2014/main" id="{47EB1ACE-835E-2263-E9E7-92AF2E8DCC64}"/>
              </a:ext>
            </a:extLst>
          </p:cNvPr>
          <p:cNvSpPr txBox="1"/>
          <p:nvPr/>
        </p:nvSpPr>
        <p:spPr>
          <a:xfrm>
            <a:off x="864680" y="1848255"/>
            <a:ext cx="10484255" cy="58939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ct val="20000"/>
              </a:spcBef>
              <a:spcAft>
                <a:spcPts val="600"/>
              </a:spcAft>
              <a:buClr>
                <a:schemeClr val="tx2"/>
              </a:buClr>
              <a:buSzPct val="70000"/>
              <a:buFont typeface="Wingdings 2" charset="2"/>
            </a:pPr>
            <a:r>
              <a:rPr lang="en-GB" sz="2000" dirty="0">
                <a:ln>
                  <a:solidFill>
                    <a:schemeClr val="bg1">
                      <a:lumMod val="75000"/>
                      <a:lumOff val="25000"/>
                      <a:alpha val="10000"/>
                    </a:schemeClr>
                  </a:solidFill>
                </a:ln>
                <a:solidFill>
                  <a:srgbClr val="92D050"/>
                </a:solidFill>
                <a:effectLst>
                  <a:outerShdw blurRad="9525" dist="25400" dir="14640000" algn="tl" rotWithShape="0">
                    <a:schemeClr val="bg1">
                      <a:alpha val="30000"/>
                    </a:schemeClr>
                  </a:outerShdw>
                </a:effectLst>
              </a:rPr>
              <a:t>Ceballos et al.</a:t>
            </a:r>
          </a:p>
          <a:p>
            <a:pPr marL="342900" indent="-342900">
              <a:spcBef>
                <a:spcPct val="20000"/>
              </a:spcBef>
              <a:spcAft>
                <a:spcPts val="600"/>
              </a:spcAft>
              <a:buClr>
                <a:schemeClr val="tx2"/>
              </a:buClr>
              <a:buSzPct val="76000"/>
              <a:buFont typeface="Arial" panose="020B0604020202020204" pitchFamily="34" charset="0"/>
              <a:buChar char="•"/>
            </a:pPr>
            <a:r>
              <a:rPr lang="en-GB" sz="2000" dirty="0">
                <a:ln>
                  <a:solidFill>
                    <a:schemeClr val="bg1">
                      <a:lumMod val="75000"/>
                      <a:lumOff val="25000"/>
                      <a:alpha val="10000"/>
                    </a:schemeClr>
                  </a:solidFill>
                </a:ln>
                <a:effectLst>
                  <a:outerShdw blurRad="9525" dist="25400" dir="14640000" algn="tl" rotWithShape="0">
                    <a:schemeClr val="bg1">
                      <a:alpha val="30000"/>
                    </a:schemeClr>
                  </a:outerShdw>
                </a:effectLst>
              </a:rPr>
              <a:t>More broad empirical approach.</a:t>
            </a:r>
          </a:p>
          <a:p>
            <a:pPr marL="342900" indent="-342900">
              <a:spcBef>
                <a:spcPct val="20000"/>
              </a:spcBef>
              <a:spcAft>
                <a:spcPts val="600"/>
              </a:spcAft>
              <a:buClr>
                <a:schemeClr val="tx2"/>
              </a:buClr>
              <a:buSzPct val="70000"/>
              <a:buFont typeface="Arial" panose="020B0604020202020204" pitchFamily="34" charset="0"/>
              <a:buChar char="•"/>
            </a:pPr>
            <a:r>
              <a:rPr lang="en-GB" sz="2000" dirty="0">
                <a:ln>
                  <a:solidFill>
                    <a:schemeClr val="bg1">
                      <a:lumMod val="75000"/>
                      <a:lumOff val="25000"/>
                      <a:alpha val="10000"/>
                    </a:schemeClr>
                  </a:solidFill>
                </a:ln>
                <a:effectLst>
                  <a:outerShdw blurRad="9525" dist="25400" dir="14640000" algn="tl" rotWithShape="0">
                    <a:schemeClr val="bg1">
                      <a:alpha val="30000"/>
                    </a:schemeClr>
                  </a:outerShdw>
                </a:effectLst>
              </a:rPr>
              <a:t>Considering (extinctions + population collapse across taxa and regions)</a:t>
            </a:r>
          </a:p>
          <a:p>
            <a:pPr>
              <a:spcBef>
                <a:spcPct val="20000"/>
              </a:spcBef>
              <a:spcAft>
                <a:spcPts val="600"/>
              </a:spcAft>
              <a:buClr>
                <a:schemeClr val="tx2"/>
              </a:buClr>
              <a:buSzPct val="70000"/>
            </a:pPr>
            <a:r>
              <a:rPr lang="en-GB" sz="2000" dirty="0">
                <a:ln>
                  <a:solidFill>
                    <a:schemeClr val="bg1">
                      <a:lumMod val="75000"/>
                      <a:lumOff val="25000"/>
                      <a:alpha val="10000"/>
                    </a:schemeClr>
                  </a:solidFill>
                </a:ln>
                <a:effectLst>
                  <a:outerShdw blurRad="9525" dist="25400" dir="14640000" algn="tl" rotWithShape="0">
                    <a:schemeClr val="bg1">
                      <a:alpha val="30000"/>
                    </a:schemeClr>
                  </a:outerShdw>
                </a:effectLst>
              </a:rPr>
              <a:t>                  &gt; Mass extinction already in effect.</a:t>
            </a:r>
          </a:p>
          <a:p>
            <a:pPr>
              <a:spcBef>
                <a:spcPct val="20000"/>
              </a:spcBef>
              <a:spcAft>
                <a:spcPts val="600"/>
              </a:spcAft>
              <a:buClr>
                <a:schemeClr val="tx2"/>
              </a:buClr>
              <a:buSzPct val="70000"/>
            </a:pPr>
            <a:endParaRPr lang="en-GB" sz="2000" dirty="0">
              <a:ln>
                <a:solidFill>
                  <a:schemeClr val="bg1">
                    <a:lumMod val="75000"/>
                    <a:lumOff val="25000"/>
                    <a:alpha val="10000"/>
                  </a:schemeClr>
                </a:solidFill>
              </a:ln>
              <a:solidFill>
                <a:srgbClr val="92D050"/>
              </a:solidFill>
              <a:effectLst>
                <a:outerShdw blurRad="9525" dist="25400" dir="14640000" algn="tl" rotWithShape="0">
                  <a:schemeClr val="bg1">
                    <a:alpha val="30000"/>
                  </a:schemeClr>
                </a:outerShdw>
              </a:effectLst>
            </a:endParaRPr>
          </a:p>
          <a:p>
            <a:pPr>
              <a:spcBef>
                <a:spcPct val="20000"/>
              </a:spcBef>
              <a:spcAft>
                <a:spcPts val="600"/>
              </a:spcAft>
              <a:buClr>
                <a:schemeClr val="tx2"/>
              </a:buClr>
              <a:buSzPct val="70000"/>
            </a:pPr>
            <a:r>
              <a:rPr lang="en-GB" sz="2000" dirty="0">
                <a:ln>
                  <a:solidFill>
                    <a:schemeClr val="bg1">
                      <a:lumMod val="75000"/>
                      <a:lumOff val="25000"/>
                      <a:alpha val="10000"/>
                    </a:schemeClr>
                  </a:solidFill>
                </a:ln>
                <a:solidFill>
                  <a:srgbClr val="92D050"/>
                </a:solidFill>
                <a:effectLst>
                  <a:outerShdw blurRad="9525" dist="25400" dir="14640000" algn="tl" rotWithShape="0">
                    <a:schemeClr val="bg1">
                      <a:alpha val="30000"/>
                    </a:schemeClr>
                  </a:outerShdw>
                </a:effectLst>
              </a:rPr>
              <a:t>Wiens </a:t>
            </a:r>
          </a:p>
          <a:p>
            <a:pPr marL="342900" indent="-342900">
              <a:spcBef>
                <a:spcPct val="20000"/>
              </a:spcBef>
              <a:spcAft>
                <a:spcPts val="600"/>
              </a:spcAft>
              <a:buClr>
                <a:schemeClr val="tx2"/>
              </a:buClr>
              <a:buSzPct val="70000"/>
              <a:buFont typeface="Arial" panose="020B0604020202020204" pitchFamily="34" charset="0"/>
              <a:buChar char="•"/>
            </a:pPr>
            <a:r>
              <a:rPr lang="en-GB" sz="2000" dirty="0">
                <a:ln>
                  <a:solidFill>
                    <a:schemeClr val="bg1">
                      <a:lumMod val="75000"/>
                      <a:lumOff val="25000"/>
                      <a:alpha val="10000"/>
                    </a:schemeClr>
                  </a:solidFill>
                </a:ln>
                <a:effectLst>
                  <a:outerShdw blurRad="9525" dist="25400" dir="14640000" algn="tl" rotWithShape="0">
                    <a:schemeClr val="bg1">
                      <a:alpha val="30000"/>
                    </a:schemeClr>
                  </a:outerShdw>
                </a:effectLst>
              </a:rPr>
              <a:t>Conceptual + methodological approach</a:t>
            </a:r>
          </a:p>
          <a:p>
            <a:pPr marL="342900" indent="-342900">
              <a:spcBef>
                <a:spcPct val="20000"/>
              </a:spcBef>
              <a:spcAft>
                <a:spcPts val="600"/>
              </a:spcAft>
              <a:buClr>
                <a:schemeClr val="tx2"/>
              </a:buClr>
              <a:buSzPct val="70000"/>
              <a:buFont typeface="Arial" panose="020B0604020202020204" pitchFamily="34" charset="0"/>
              <a:buChar char="•"/>
            </a:pPr>
            <a:r>
              <a:rPr lang="en-GB" sz="2000" dirty="0">
                <a:ln>
                  <a:solidFill>
                    <a:schemeClr val="bg1">
                      <a:lumMod val="75000"/>
                      <a:lumOff val="25000"/>
                      <a:alpha val="10000"/>
                    </a:schemeClr>
                  </a:solidFill>
                </a:ln>
                <a:effectLst>
                  <a:outerShdw blurRad="9525" dist="25400" dir="14640000" algn="tl" rotWithShape="0">
                    <a:schemeClr val="bg1">
                      <a:alpha val="30000"/>
                    </a:schemeClr>
                  </a:outerShdw>
                </a:effectLst>
              </a:rPr>
              <a:t>Considering (if available evidence meets with the definitions thresholds)</a:t>
            </a:r>
          </a:p>
          <a:p>
            <a:pPr>
              <a:spcBef>
                <a:spcPct val="20000"/>
              </a:spcBef>
              <a:spcAft>
                <a:spcPts val="600"/>
              </a:spcAft>
              <a:buClr>
                <a:schemeClr val="tx2"/>
              </a:buClr>
              <a:buSzPct val="70000"/>
            </a:pPr>
            <a:r>
              <a:rPr lang="en-GB" sz="2000" dirty="0">
                <a:ln>
                  <a:solidFill>
                    <a:schemeClr val="bg1">
                      <a:lumMod val="75000"/>
                      <a:lumOff val="25000"/>
                      <a:alpha val="10000"/>
                    </a:schemeClr>
                  </a:solidFill>
                </a:ln>
                <a:effectLst>
                  <a:outerShdw blurRad="9525" dist="25400" dir="14640000" algn="tl" rotWithShape="0">
                    <a:schemeClr val="bg1">
                      <a:alpha val="30000"/>
                    </a:schemeClr>
                  </a:outerShdw>
                </a:effectLst>
              </a:rPr>
              <a:t>                 &gt; problem identified but extinction criteria not met (75%).</a:t>
            </a:r>
          </a:p>
          <a:p>
            <a:endParaRPr lang="en-GB" sz="2400" dirty="0"/>
          </a:p>
          <a:p>
            <a:r>
              <a:rPr lang="en-GB" sz="2400" dirty="0"/>
              <a:t>         </a:t>
            </a:r>
          </a:p>
          <a:p>
            <a:endParaRPr lang="en-GB" sz="2400" dirty="0"/>
          </a:p>
          <a:p>
            <a:pPr marL="285750" indent="-285750">
              <a:buFont typeface="Arial"/>
              <a:buChar char="•"/>
            </a:pPr>
            <a:endParaRPr lang="en-GB" sz="2400" dirty="0"/>
          </a:p>
          <a:p>
            <a:r>
              <a:rPr lang="en-GB" sz="2400" dirty="0"/>
              <a:t>                 </a:t>
            </a:r>
          </a:p>
        </p:txBody>
      </p:sp>
    </p:spTree>
    <p:extLst>
      <p:ext uri="{BB962C8B-B14F-4D97-AF65-F5344CB8AC3E}">
        <p14:creationId xmlns:p14="http://schemas.microsoft.com/office/powerpoint/2010/main" val="3418458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6D1CC-C304-AD1D-2EB8-00E2E95EC6C8}"/>
              </a:ext>
            </a:extLst>
          </p:cNvPr>
          <p:cNvSpPr>
            <a:spLocks noGrp="1"/>
          </p:cNvSpPr>
          <p:nvPr>
            <p:ph type="title"/>
          </p:nvPr>
        </p:nvSpPr>
        <p:spPr/>
        <p:txBody>
          <a:bodyPr/>
          <a:lstStyle/>
          <a:p>
            <a:r>
              <a:rPr lang="en-GB" dirty="0"/>
              <a:t>Comparison (</a:t>
            </a:r>
            <a:r>
              <a:rPr lang="en-GB" dirty="0" err="1"/>
              <a:t>strenghts</a:t>
            </a:r>
            <a:r>
              <a:rPr lang="en-GB" dirty="0"/>
              <a:t>)</a:t>
            </a:r>
          </a:p>
        </p:txBody>
      </p:sp>
      <p:sp>
        <p:nvSpPr>
          <p:cNvPr id="3" name="Content Placeholder 2">
            <a:extLst>
              <a:ext uri="{FF2B5EF4-FFF2-40B4-BE49-F238E27FC236}">
                <a16:creationId xmlns:a16="http://schemas.microsoft.com/office/drawing/2014/main" id="{09709887-D3F7-1B12-64B8-028FD0677FE4}"/>
              </a:ext>
            </a:extLst>
          </p:cNvPr>
          <p:cNvSpPr>
            <a:spLocks noGrp="1"/>
          </p:cNvSpPr>
          <p:nvPr>
            <p:ph idx="1"/>
          </p:nvPr>
        </p:nvSpPr>
        <p:spPr/>
        <p:txBody>
          <a:bodyPr vert="horz" lIns="91440" tIns="45720" rIns="91440" bIns="45720" rtlCol="0" anchor="t">
            <a:normAutofit/>
          </a:bodyPr>
          <a:lstStyle/>
          <a:p>
            <a:pPr marL="0" indent="0">
              <a:buNone/>
            </a:pPr>
            <a:r>
              <a:rPr lang="en-GB" dirty="0">
                <a:solidFill>
                  <a:srgbClr val="92D050"/>
                </a:solidFill>
              </a:rPr>
              <a:t>Ceballos et al.</a:t>
            </a:r>
          </a:p>
          <a:p>
            <a:pPr marL="342900" indent="-342900"/>
            <a:r>
              <a:rPr lang="en-GB" dirty="0"/>
              <a:t>Use of real-world data showing many factors that prove their point for ex.</a:t>
            </a:r>
            <a:r>
              <a:rPr lang="en-GB" b="1" u="sng" dirty="0"/>
              <a:t> Population loss</a:t>
            </a:r>
            <a:r>
              <a:rPr lang="en-GB" dirty="0"/>
              <a:t>, </a:t>
            </a:r>
            <a:r>
              <a:rPr lang="en-GB" b="1" dirty="0"/>
              <a:t>ecological impact</a:t>
            </a:r>
            <a:r>
              <a:rPr lang="en-GB" dirty="0"/>
              <a:t> (shrinking habitats, shrinking ecosystems)</a:t>
            </a:r>
          </a:p>
          <a:p>
            <a:pPr marL="0" indent="0">
              <a:buNone/>
            </a:pPr>
            <a:r>
              <a:rPr lang="en-GB" dirty="0">
                <a:solidFill>
                  <a:srgbClr val="92D050"/>
                </a:solidFill>
              </a:rPr>
              <a:t>Wiens.</a:t>
            </a:r>
          </a:p>
          <a:p>
            <a:pPr marL="342900" indent="-342900"/>
            <a:r>
              <a:rPr lang="en-GB" dirty="0"/>
              <a:t>Use of </a:t>
            </a:r>
            <a:r>
              <a:rPr lang="en-GB" b="1" dirty="0"/>
              <a:t>methodological precision</a:t>
            </a:r>
            <a:r>
              <a:rPr lang="en-GB" dirty="0"/>
              <a:t> , meaning authors focused on whether the methods used to make this claim are logical and reliable. </a:t>
            </a:r>
          </a:p>
        </p:txBody>
      </p:sp>
    </p:spTree>
    <p:extLst>
      <p:ext uri="{BB962C8B-B14F-4D97-AF65-F5344CB8AC3E}">
        <p14:creationId xmlns:p14="http://schemas.microsoft.com/office/powerpoint/2010/main" val="1321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593A8-6ED7-FD44-D606-84D3ADEAA2A7}"/>
              </a:ext>
            </a:extLst>
          </p:cNvPr>
          <p:cNvSpPr>
            <a:spLocks noGrp="1"/>
          </p:cNvSpPr>
          <p:nvPr>
            <p:ph type="title"/>
          </p:nvPr>
        </p:nvSpPr>
        <p:spPr/>
        <p:txBody>
          <a:bodyPr/>
          <a:lstStyle/>
          <a:p>
            <a:r>
              <a:rPr lang="en-GB" dirty="0"/>
              <a:t>Comparison (weaknesses)</a:t>
            </a:r>
          </a:p>
        </p:txBody>
      </p:sp>
      <p:sp>
        <p:nvSpPr>
          <p:cNvPr id="3" name="Content Placeholder 2">
            <a:extLst>
              <a:ext uri="{FF2B5EF4-FFF2-40B4-BE49-F238E27FC236}">
                <a16:creationId xmlns:a16="http://schemas.microsoft.com/office/drawing/2014/main" id="{D6D94498-E401-F367-BC5F-B4D9E1CA9599}"/>
              </a:ext>
            </a:extLst>
          </p:cNvPr>
          <p:cNvSpPr>
            <a:spLocks noGrp="1"/>
          </p:cNvSpPr>
          <p:nvPr>
            <p:ph idx="1"/>
          </p:nvPr>
        </p:nvSpPr>
        <p:spPr/>
        <p:txBody>
          <a:bodyPr vert="horz" lIns="91440" tIns="45720" rIns="91440" bIns="45720" rtlCol="0" anchor="t">
            <a:normAutofit/>
          </a:bodyPr>
          <a:lstStyle/>
          <a:p>
            <a:pPr marL="0" indent="0">
              <a:buNone/>
            </a:pPr>
            <a:r>
              <a:rPr lang="en-GB" dirty="0">
                <a:solidFill>
                  <a:srgbClr val="92D050"/>
                </a:solidFill>
              </a:rPr>
              <a:t>Ceballos et al. </a:t>
            </a:r>
          </a:p>
          <a:p>
            <a:pPr marL="342900" indent="-342900"/>
            <a:r>
              <a:rPr lang="en-GB" dirty="0"/>
              <a:t>May overreach in claiming this</a:t>
            </a:r>
          </a:p>
          <a:p>
            <a:pPr marL="342900" indent="-342900"/>
            <a:r>
              <a:rPr lang="en-GB" dirty="0"/>
              <a:t>Incomplete data (no insects or deep-sea life)</a:t>
            </a:r>
          </a:p>
          <a:p>
            <a:pPr marL="342900" indent="-342900"/>
            <a:r>
              <a:rPr lang="en-GB" dirty="0"/>
              <a:t>Some areas of the world more studied than others</a:t>
            </a:r>
          </a:p>
          <a:p>
            <a:pPr marL="342900" indent="-342900"/>
            <a:endParaRPr lang="en-GB" dirty="0"/>
          </a:p>
          <a:p>
            <a:pPr marL="0" indent="0">
              <a:buNone/>
            </a:pPr>
            <a:r>
              <a:rPr lang="en-GB" dirty="0">
                <a:solidFill>
                  <a:srgbClr val="92D050"/>
                </a:solidFill>
              </a:rPr>
              <a:t>Wiens.</a:t>
            </a:r>
          </a:p>
          <a:p>
            <a:pPr marL="342900" indent="-342900"/>
            <a:r>
              <a:rPr lang="en-GB" dirty="0"/>
              <a:t>Focuses strictly on documented species extinction</a:t>
            </a:r>
          </a:p>
          <a:p>
            <a:pPr marL="342900" indent="-342900"/>
            <a:r>
              <a:rPr lang="en-GB" dirty="0"/>
              <a:t>Underplay the severity of the situation and its effects</a:t>
            </a:r>
          </a:p>
        </p:txBody>
      </p:sp>
    </p:spTree>
    <p:extLst>
      <p:ext uri="{BB962C8B-B14F-4D97-AF65-F5344CB8AC3E}">
        <p14:creationId xmlns:p14="http://schemas.microsoft.com/office/powerpoint/2010/main" val="2938074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15D9C-F6BA-30C3-B2BA-69BBFF6BCE90}"/>
              </a:ext>
            </a:extLst>
          </p:cNvPr>
          <p:cNvSpPr>
            <a:spLocks noGrp="1"/>
          </p:cNvSpPr>
          <p:nvPr>
            <p:ph type="title"/>
          </p:nvPr>
        </p:nvSpPr>
        <p:spPr/>
        <p:txBody>
          <a:bodyPr/>
          <a:lstStyle/>
          <a:p>
            <a:r>
              <a:rPr lang="en-GB" dirty="0"/>
              <a:t>Implication and our opinion </a:t>
            </a:r>
          </a:p>
        </p:txBody>
      </p:sp>
      <p:sp>
        <p:nvSpPr>
          <p:cNvPr id="3" name="Content Placeholder 2">
            <a:extLst>
              <a:ext uri="{FF2B5EF4-FFF2-40B4-BE49-F238E27FC236}">
                <a16:creationId xmlns:a16="http://schemas.microsoft.com/office/drawing/2014/main" id="{F54C8FB2-2679-5114-2378-31B37F15B394}"/>
              </a:ext>
            </a:extLst>
          </p:cNvPr>
          <p:cNvSpPr>
            <a:spLocks noGrp="1"/>
          </p:cNvSpPr>
          <p:nvPr>
            <p:ph idx="1"/>
          </p:nvPr>
        </p:nvSpPr>
        <p:spPr/>
        <p:txBody>
          <a:bodyPr vert="horz" lIns="91440" tIns="45720" rIns="91440" bIns="45720" rtlCol="0" anchor="t">
            <a:normAutofit/>
          </a:bodyPr>
          <a:lstStyle/>
          <a:p>
            <a:pPr marL="0" indent="0">
              <a:buNone/>
            </a:pPr>
            <a:r>
              <a:rPr lang="en-GB" dirty="0"/>
              <a:t>! The findings of both papers are </a:t>
            </a:r>
            <a:r>
              <a:rPr lang="en-GB" b="1" dirty="0"/>
              <a:t>by no means contradictory</a:t>
            </a:r>
            <a:r>
              <a:rPr lang="en-GB" dirty="0"/>
              <a:t>, both agree on the severity of the loss of biodiversity and its implications</a:t>
            </a:r>
          </a:p>
          <a:p>
            <a:pPr marL="0" indent="0">
              <a:buNone/>
            </a:pPr>
            <a:endParaRPr lang="en-GB" dirty="0"/>
          </a:p>
          <a:p>
            <a:pPr marL="0" indent="0">
              <a:buNone/>
            </a:pPr>
            <a:r>
              <a:rPr lang="en-GB" dirty="0"/>
              <a:t>Where they disagree is on the </a:t>
            </a:r>
            <a:r>
              <a:rPr lang="en-GB" b="1" dirty="0"/>
              <a:t>label</a:t>
            </a:r>
            <a:r>
              <a:rPr lang="en-GB" dirty="0"/>
              <a:t> of a "6th mass extinction)</a:t>
            </a:r>
          </a:p>
        </p:txBody>
      </p:sp>
    </p:spTree>
    <p:extLst>
      <p:ext uri="{BB962C8B-B14F-4D97-AF65-F5344CB8AC3E}">
        <p14:creationId xmlns:p14="http://schemas.microsoft.com/office/powerpoint/2010/main" val="11235844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řidlice">
  <a:themeElements>
    <a:clrScheme name="Břidlic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Břidlic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řidlic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7B4E4BAFABD15043AB2DC4114CC529D8" ma:contentTypeVersion="6" ma:contentTypeDescription="Vytvoří nový dokument" ma:contentTypeScope="" ma:versionID="e3d638053c5004288c9e9e955e1041b6">
  <xsd:schema xmlns:xsd="http://www.w3.org/2001/XMLSchema" xmlns:xs="http://www.w3.org/2001/XMLSchema" xmlns:p="http://schemas.microsoft.com/office/2006/metadata/properties" xmlns:ns3="208104c0-d8fa-4511-97b2-740cc46d5542" targetNamespace="http://schemas.microsoft.com/office/2006/metadata/properties" ma:root="true" ma:fieldsID="d066aa5b3168f700010d0ef1f8367c9a" ns3:_="">
    <xsd:import namespace="208104c0-d8fa-4511-97b2-740cc46d554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8104c0-d8fa-4511-97b2-740cc46d554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08104c0-d8fa-4511-97b2-740cc46d5542" xsi:nil="true"/>
  </documentManagement>
</p:properties>
</file>

<file path=customXml/itemProps1.xml><?xml version="1.0" encoding="utf-8"?>
<ds:datastoreItem xmlns:ds="http://schemas.openxmlformats.org/officeDocument/2006/customXml" ds:itemID="{11E43F22-52CF-4834-A0CF-0369DB58D7DD}">
  <ds:schemaRefs>
    <ds:schemaRef ds:uri="http://schemas.microsoft.com/sharepoint/v3/contenttype/forms"/>
  </ds:schemaRefs>
</ds:datastoreItem>
</file>

<file path=customXml/itemProps2.xml><?xml version="1.0" encoding="utf-8"?>
<ds:datastoreItem xmlns:ds="http://schemas.openxmlformats.org/officeDocument/2006/customXml" ds:itemID="{41EF8E39-B31D-4D7B-B336-38FD8D8D95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8104c0-d8fa-4511-97b2-740cc46d55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8A423E-3E89-4DCB-BD3D-558A11DBB644}">
  <ds:schemaRefs>
    <ds:schemaRef ds:uri="http://purl.org/dc/dcmitype/"/>
    <ds:schemaRef ds:uri="http://schemas.openxmlformats.org/package/2006/metadata/core-properties"/>
    <ds:schemaRef ds:uri="http://www.w3.org/XML/1998/namespace"/>
    <ds:schemaRef ds:uri="208104c0-d8fa-4511-97b2-740cc46d5542"/>
    <ds:schemaRef ds:uri="http://schemas.microsoft.com/office/2006/documentManagement/types"/>
    <ds:schemaRef ds:uri="http://purl.org/dc/elements/1.1/"/>
    <ds:schemaRef ds:uri="http://purl.org/dc/terms/"/>
    <ds:schemaRef ds:uri="http://schemas.microsoft.com/office/infopath/2007/PartnerControls"/>
    <ds:schemaRef ds:uri="http://schemas.microsoft.com/office/2006/metadata/properties"/>
  </ds:schemaRefs>
</ds:datastoreItem>
</file>

<file path=docMetadata/LabelInfo.xml><?xml version="1.0" encoding="utf-8"?>
<clbl:labelList xmlns:clbl="http://schemas.microsoft.com/office/2020/mipLabelMetadata">
  <clbl:label id="{f26a48e1-fc21-461a-b97f-ac5bd535f341}" enabled="0" method="" siteId="{f26a48e1-fc21-461a-b97f-ac5bd535f341}" removed="1"/>
</clbl:labelList>
</file>

<file path=docProps/app.xml><?xml version="1.0" encoding="utf-8"?>
<Properties xmlns="http://schemas.openxmlformats.org/officeDocument/2006/extended-properties" xmlns:vt="http://schemas.openxmlformats.org/officeDocument/2006/docPropsVTypes">
  <Template>TM04033929[[fn=Břidlice]]</Template>
  <TotalTime>323</TotalTime>
  <Words>1461</Words>
  <Application>Microsoft Office PowerPoint</Application>
  <PresentationFormat>Widescreen</PresentationFormat>
  <Paragraphs>186</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Calisto MT</vt:lpstr>
      <vt:lpstr>Wingdings 2</vt:lpstr>
      <vt:lpstr>Břidlice</vt:lpstr>
      <vt:lpstr>Global change ecology</vt:lpstr>
      <vt:lpstr>Index</vt:lpstr>
      <vt:lpstr>Mass Extinciton</vt:lpstr>
      <vt:lpstr>Mass Extinction vs. Background Extinction</vt:lpstr>
      <vt:lpstr>Accelerated Species Losses and the Sixth Mass Extinction</vt:lpstr>
      <vt:lpstr>Extinction Data</vt:lpstr>
      <vt:lpstr>Questioning the sixth mass extinction</vt:lpstr>
      <vt:lpstr>Methodological Issues in extinction rate comparisons</vt:lpstr>
      <vt:lpstr>Comparison (conclusions)</vt:lpstr>
      <vt:lpstr>Comparison (methodology)</vt:lpstr>
      <vt:lpstr>Comparison (strenghts)</vt:lpstr>
      <vt:lpstr>Comparison (weaknesses)</vt:lpstr>
      <vt:lpstr>Implication and our opinion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Skokanová Simona (S-FŽP)</dc:creator>
  <cp:lastModifiedBy>Skokanová Simona (S-FŽP)</cp:lastModifiedBy>
  <cp:revision>494</cp:revision>
  <dcterms:created xsi:type="dcterms:W3CDTF">2025-11-28T09:36:35Z</dcterms:created>
  <dcterms:modified xsi:type="dcterms:W3CDTF">2025-12-05T07:52:10Z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0x0101007B4E4BAFABD15043AB2DC4114CC529D8</vt:lpwstr>
  </property>
</Properties>
</file>