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4A1951-17B0-4B85-9420-5A595F7EAEAA}">
  <a:tblStyle styleId="{714A1951-17B0-4B85-9420-5A595F7EAEA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126/science.aap8826"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ata.worldbank.org/" TargetMode="External"/><Relationship Id="rId3" Type="http://schemas.openxmlformats.org/officeDocument/2006/relationships/hyperlink" Target="http://www.linkedin.com/posts/sustainability-infographics_charted-the-economic-value-of-nature-vs-activity-7317396195935465473-IBC2"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126/science.aap8826"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093/biosci/biad109"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highlight>
                <a:srgbClr val="F4CCCC"/>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d88560ab7_3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d88560ab7_3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highlight>
                  <a:srgbClr val="D9D2E9"/>
                </a:highlight>
              </a:rPr>
              <a:t>CLARA</a:t>
            </a:r>
            <a:endParaRPr>
              <a:highlight>
                <a:srgbClr val="D9D2E9"/>
              </a:highlight>
            </a:endParaRPr>
          </a:p>
          <a:p>
            <a:pPr indent="0" lvl="0" marL="0" rtl="0" algn="l">
              <a:spcBef>
                <a:spcPts val="0"/>
              </a:spcBef>
              <a:spcAft>
                <a:spcPts val="0"/>
              </a:spcAft>
              <a:buNone/>
            </a:pPr>
            <a:r>
              <a:t/>
            </a:r>
            <a:endParaRPr>
              <a:highlight>
                <a:srgbClr val="D9D2E9"/>
              </a:highlight>
            </a:endParaRPr>
          </a:p>
          <a:p>
            <a:pPr indent="0" lvl="0" marL="0" rtl="0" algn="l">
              <a:lnSpc>
                <a:spcPct val="115000"/>
              </a:lnSpc>
              <a:spcBef>
                <a:spcPts val="0"/>
              </a:spcBef>
              <a:spcAft>
                <a:spcPts val="0"/>
              </a:spcAft>
              <a:buNone/>
            </a:pPr>
            <a:r>
              <a:rPr b="1" lang="es" sz="1200">
                <a:solidFill>
                  <a:schemeClr val="dk1"/>
                </a:solidFill>
              </a:rPr>
              <a:t>Ecosystem functions</a:t>
            </a:r>
            <a:r>
              <a:rPr lang="es" sz="1200">
                <a:solidFill>
                  <a:schemeClr val="dk1"/>
                </a:solidFill>
              </a:rPr>
              <a:t> are the habitat, biological or system properties or processes of ecosystems.</a:t>
            </a:r>
            <a:endParaRPr sz="1200">
              <a:solidFill>
                <a:schemeClr val="dk1"/>
              </a:solidFill>
            </a:endParaRPr>
          </a:p>
          <a:p>
            <a:pPr indent="0" lvl="0" marL="0" rtl="0" algn="l">
              <a:lnSpc>
                <a:spcPct val="115000"/>
              </a:lnSpc>
              <a:spcBef>
                <a:spcPts val="0"/>
              </a:spcBef>
              <a:spcAft>
                <a:spcPts val="0"/>
              </a:spcAft>
              <a:buNone/>
            </a:pPr>
            <a:r>
              <a:rPr b="1" lang="es" sz="1200">
                <a:solidFill>
                  <a:schemeClr val="dk1"/>
                </a:solidFill>
              </a:rPr>
              <a:t>Ecosystem goods and services</a:t>
            </a:r>
            <a:r>
              <a:rPr lang="es" sz="1200">
                <a:solidFill>
                  <a:schemeClr val="dk1"/>
                </a:solidFill>
              </a:rPr>
              <a:t> are the benefits humans get directly or indirectly from ecosystem functions. Not </a:t>
            </a:r>
            <a:r>
              <a:rPr lang="es" sz="1200">
                <a:solidFill>
                  <a:schemeClr val="dk1"/>
                </a:solidFill>
              </a:rPr>
              <a:t>necessarily</a:t>
            </a:r>
            <a:r>
              <a:rPr lang="es" sz="1200">
                <a:solidFill>
                  <a:schemeClr val="dk1"/>
                </a:solidFill>
              </a:rPr>
              <a:t> 1-1 ratio, one service and be the product of multiple functions, one function can contribute multiple resources</a:t>
            </a:r>
            <a:endParaRPr sz="1200">
              <a:solidFill>
                <a:schemeClr val="dk1"/>
              </a:solidFill>
            </a:endParaRPr>
          </a:p>
          <a:p>
            <a:pPr indent="0" lvl="0" marL="0" rtl="0" algn="l">
              <a:lnSpc>
                <a:spcPct val="115000"/>
              </a:lnSpc>
              <a:spcBef>
                <a:spcPts val="0"/>
              </a:spcBef>
              <a:spcAft>
                <a:spcPts val="0"/>
              </a:spcAft>
              <a:buNone/>
            </a:pPr>
            <a:r>
              <a:t/>
            </a:r>
            <a:endParaRPr sz="1500">
              <a:solidFill>
                <a:srgbClr val="333333"/>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s" sz="1500">
                <a:solidFill>
                  <a:srgbClr val="333333"/>
                </a:solidFill>
                <a:highlight>
                  <a:srgbClr val="FFFFFF"/>
                </a:highlight>
                <a:latin typeface="Times New Roman"/>
                <a:ea typeface="Times New Roman"/>
                <a:cs typeface="Times New Roman"/>
                <a:sym typeface="Times New Roman"/>
              </a:rPr>
              <a:t>Four main categories of ecosystem services:</a:t>
            </a:r>
            <a:endParaRPr sz="1500">
              <a:solidFill>
                <a:srgbClr val="333333"/>
              </a:solidFill>
              <a:highlight>
                <a:srgbClr val="FFFFFF"/>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33333"/>
              </a:buClr>
              <a:buSzPts val="1500"/>
              <a:buFont typeface="Times New Roman"/>
              <a:buChar char="-"/>
            </a:pPr>
            <a:r>
              <a:rPr lang="es" sz="1500">
                <a:solidFill>
                  <a:srgbClr val="333333"/>
                </a:solidFill>
                <a:highlight>
                  <a:srgbClr val="FFFFFF"/>
                </a:highlight>
                <a:latin typeface="Times New Roman"/>
                <a:ea typeface="Times New Roman"/>
                <a:cs typeface="Times New Roman"/>
                <a:sym typeface="Times New Roman"/>
              </a:rPr>
              <a:t>Provisioning services (products obtained from ecosystems)</a:t>
            </a:r>
            <a:endParaRPr sz="1500">
              <a:solidFill>
                <a:srgbClr val="333333"/>
              </a:solidFill>
              <a:highlight>
                <a:srgbClr val="FFFFFF"/>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33333"/>
              </a:buClr>
              <a:buSzPts val="1500"/>
              <a:buFont typeface="Times New Roman"/>
              <a:buChar char="-"/>
            </a:pPr>
            <a:r>
              <a:rPr lang="es" sz="1500">
                <a:solidFill>
                  <a:srgbClr val="333333"/>
                </a:solidFill>
                <a:highlight>
                  <a:srgbClr val="FFFFFF"/>
                </a:highlight>
                <a:latin typeface="Times New Roman"/>
                <a:ea typeface="Times New Roman"/>
                <a:cs typeface="Times New Roman"/>
                <a:sym typeface="Times New Roman"/>
              </a:rPr>
              <a:t>Regulating services (benefits derived from the regulation of ecosystem processes)</a:t>
            </a:r>
            <a:endParaRPr sz="1500">
              <a:solidFill>
                <a:srgbClr val="333333"/>
              </a:solidFill>
              <a:highlight>
                <a:srgbClr val="FFFFFF"/>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33333"/>
              </a:buClr>
              <a:buSzPts val="1500"/>
              <a:buFont typeface="Times New Roman"/>
              <a:buChar char="-"/>
            </a:pPr>
            <a:r>
              <a:rPr lang="es" sz="1500">
                <a:solidFill>
                  <a:srgbClr val="333333"/>
                </a:solidFill>
                <a:highlight>
                  <a:srgbClr val="FFFFFF"/>
                </a:highlight>
                <a:latin typeface="Times New Roman"/>
                <a:ea typeface="Times New Roman"/>
                <a:cs typeface="Times New Roman"/>
                <a:sym typeface="Times New Roman"/>
              </a:rPr>
              <a:t>Supporting services (which support other ecosystem services)</a:t>
            </a:r>
            <a:endParaRPr sz="1500">
              <a:solidFill>
                <a:srgbClr val="333333"/>
              </a:solidFill>
              <a:highlight>
                <a:srgbClr val="FFFFFF"/>
              </a:highlight>
              <a:latin typeface="Times New Roman"/>
              <a:ea typeface="Times New Roman"/>
              <a:cs typeface="Times New Roman"/>
              <a:sym typeface="Times New Roman"/>
            </a:endParaRPr>
          </a:p>
          <a:p>
            <a:pPr indent="-323850" lvl="0" marL="457200" rtl="0" algn="l">
              <a:lnSpc>
                <a:spcPct val="115000"/>
              </a:lnSpc>
              <a:spcBef>
                <a:spcPts val="0"/>
              </a:spcBef>
              <a:spcAft>
                <a:spcPts val="0"/>
              </a:spcAft>
              <a:buClr>
                <a:srgbClr val="333333"/>
              </a:buClr>
              <a:buSzPts val="1500"/>
              <a:buFont typeface="Times New Roman"/>
              <a:buChar char="-"/>
            </a:pPr>
            <a:r>
              <a:rPr lang="es" sz="1500">
                <a:solidFill>
                  <a:srgbClr val="333333"/>
                </a:solidFill>
                <a:highlight>
                  <a:srgbClr val="FFFFFF"/>
                </a:highlight>
                <a:latin typeface="Times New Roman"/>
                <a:ea typeface="Times New Roman"/>
                <a:cs typeface="Times New Roman"/>
                <a:sym typeface="Times New Roman"/>
              </a:rPr>
              <a:t>Cultural services (non-material benefits obtained from ecosystems)</a:t>
            </a:r>
            <a:endParaRPr sz="1500">
              <a:solidFill>
                <a:srgbClr val="333333"/>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500">
              <a:solidFill>
                <a:srgbClr val="333333"/>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s" sz="1500">
                <a:solidFill>
                  <a:srgbClr val="333333"/>
                </a:solidFill>
                <a:highlight>
                  <a:srgbClr val="FFFFFF"/>
                </a:highlight>
                <a:latin typeface="Times New Roman"/>
                <a:ea typeface="Times New Roman"/>
                <a:cs typeface="Times New Roman"/>
                <a:sym typeface="Times New Roman"/>
              </a:rPr>
              <a:t>Exploitation of ecosystem services leads to the following:</a:t>
            </a:r>
            <a:endParaRPr sz="1500">
              <a:solidFill>
                <a:srgbClr val="333333"/>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Lexend"/>
              <a:buChar char="-"/>
            </a:pPr>
            <a:r>
              <a:rPr lang="es" sz="1600">
                <a:solidFill>
                  <a:schemeClr val="dk1"/>
                </a:solidFill>
                <a:latin typeface="Lexend"/>
                <a:ea typeface="Lexend"/>
                <a:cs typeface="Lexend"/>
                <a:sym typeface="Lexend"/>
              </a:rPr>
              <a:t>Decrease in biodiversity</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s" sz="1600">
                <a:solidFill>
                  <a:schemeClr val="dk1"/>
                </a:solidFill>
                <a:latin typeface="Lexend"/>
                <a:ea typeface="Lexend"/>
                <a:cs typeface="Lexend"/>
                <a:sym typeface="Lexend"/>
              </a:rPr>
              <a:t>Less resilient ecosystems</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s" sz="1600">
                <a:solidFill>
                  <a:schemeClr val="dk1"/>
                </a:solidFill>
                <a:latin typeface="Lexend"/>
                <a:ea typeface="Lexend"/>
                <a:cs typeface="Lexend"/>
                <a:sym typeface="Lexend"/>
              </a:rPr>
              <a:t>Affected human welfare</a:t>
            </a:r>
            <a:endParaRPr sz="1500">
              <a:solidFill>
                <a:srgbClr val="333333"/>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a:highlight>
                <a:srgbClr val="D9D2E9"/>
              </a:highlight>
            </a:endParaRPr>
          </a:p>
          <a:p>
            <a:pPr indent="0" lvl="0" marL="0" rtl="0" algn="l">
              <a:spcBef>
                <a:spcPts val="0"/>
              </a:spcBef>
              <a:spcAft>
                <a:spcPts val="0"/>
              </a:spcAft>
              <a:buNone/>
            </a:pPr>
            <a:r>
              <a:rPr lang="es">
                <a:highlight>
                  <a:srgbClr val="D9D2E9"/>
                </a:highlight>
              </a:rPr>
              <a:t>Citations</a:t>
            </a:r>
            <a:endParaRPr>
              <a:highlight>
                <a:srgbClr val="D9D2E9"/>
              </a:highlight>
            </a:endParaRPr>
          </a:p>
          <a:p>
            <a:pPr indent="-457200" lvl="0" marL="45720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Bhagwat, Shalmali. “Ecosystem Integrity: Its Role, Challenges and Opportunities.” </a:t>
            </a:r>
            <a:r>
              <a:rPr i="1" lang="es" sz="1200">
                <a:solidFill>
                  <a:schemeClr val="dk1"/>
                </a:solidFill>
                <a:latin typeface="Times New Roman"/>
                <a:ea typeface="Times New Roman"/>
                <a:cs typeface="Times New Roman"/>
                <a:sym typeface="Times New Roman"/>
              </a:rPr>
              <a:t>Welcome to WOTR! - Watershed Organisation Trust (WOTR)</a:t>
            </a:r>
            <a:r>
              <a:rPr lang="es" sz="1200">
                <a:solidFill>
                  <a:schemeClr val="dk1"/>
                </a:solidFill>
                <a:latin typeface="Times New Roman"/>
                <a:ea typeface="Times New Roman"/>
                <a:cs typeface="Times New Roman"/>
                <a:sym typeface="Times New Roman"/>
              </a:rPr>
              <a:t>, 19 Feb. 2025, wotr.org/blog/maintaining-ecosystem-services-and-biodiversity-for-long-term-sustainability-of-ecosystem/. Accessed 5 Dec. 2025.</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highlight>
                <a:srgbClr val="D9D2E9"/>
              </a:highlight>
            </a:endParaRPr>
          </a:p>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Costanza, Robert, et al. “The Value of the World’s Ecosystem Services and Natural Capital.” </a:t>
            </a:r>
            <a:r>
              <a:rPr i="1" lang="es" sz="1200">
                <a:solidFill>
                  <a:schemeClr val="dk1"/>
                </a:solidFill>
                <a:latin typeface="Times New Roman"/>
                <a:ea typeface="Times New Roman"/>
                <a:cs typeface="Times New Roman"/>
                <a:sym typeface="Times New Roman"/>
              </a:rPr>
              <a:t>Nature</a:t>
            </a:r>
            <a:r>
              <a:rPr lang="es" sz="1200">
                <a:solidFill>
                  <a:schemeClr val="dk1"/>
                </a:solidFill>
                <a:latin typeface="Times New Roman"/>
                <a:ea typeface="Times New Roman"/>
                <a:cs typeface="Times New Roman"/>
                <a:sym typeface="Times New Roman"/>
              </a:rPr>
              <a:t>, vol. 387, no. 6630, 15 May 1997, pp. 253–260, https://doi.org/10.1038/387253a0.</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Holmes, Amelia. “Natural Capital: Valuing Wild Landscapes.” </a:t>
            </a:r>
            <a:r>
              <a:rPr i="1" lang="es" sz="1200">
                <a:solidFill>
                  <a:schemeClr val="dk1"/>
                </a:solidFill>
                <a:latin typeface="Times New Roman"/>
                <a:ea typeface="Times New Roman"/>
                <a:cs typeface="Times New Roman"/>
                <a:sym typeface="Times New Roman"/>
              </a:rPr>
              <a:t>The Lifescape Project</a:t>
            </a:r>
            <a:r>
              <a:rPr lang="es" sz="1200">
                <a:solidFill>
                  <a:schemeClr val="dk1"/>
                </a:solidFill>
                <a:latin typeface="Times New Roman"/>
                <a:ea typeface="Times New Roman"/>
                <a:cs typeface="Times New Roman"/>
                <a:sym typeface="Times New Roman"/>
              </a:rPr>
              <a:t>, 2024, lifescapeproject.org/the-natural-capital-framework/.</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highlight>
                <a:srgbClr val="D9D2E9"/>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cb6c2cf2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cb6c2cf2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CFE2F3"/>
                </a:highlight>
              </a:rPr>
              <a:t>Sasa</a:t>
            </a:r>
            <a:endParaRPr sz="1200">
              <a:solidFill>
                <a:schemeClr val="dk1"/>
              </a:solidFill>
              <a:highlight>
                <a:srgbClr val="CFE2F3"/>
              </a:highlight>
            </a:endParaRPr>
          </a:p>
          <a:p>
            <a:pPr indent="-304800" lvl="0" marL="457200" rtl="0" algn="l">
              <a:lnSpc>
                <a:spcPct val="115000"/>
              </a:lnSpc>
              <a:spcBef>
                <a:spcPts val="1200"/>
              </a:spcBef>
              <a:spcAft>
                <a:spcPts val="0"/>
              </a:spcAft>
              <a:buClr>
                <a:schemeClr val="dk1"/>
              </a:buClr>
              <a:buSzPts val="1200"/>
              <a:buChar char="-"/>
            </a:pPr>
            <a:r>
              <a:rPr lang="es" sz="1200">
                <a:solidFill>
                  <a:schemeClr val="dk1"/>
                </a:solidFill>
              </a:rPr>
              <a:t>Natural capital is a stock of materials or information that independently or interdependently enhance human life through a flow of services that affect materials.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stock - tangible (capital) and intangible (information)</a:t>
            </a:r>
            <a:endParaRPr sz="1200">
              <a:solidFill>
                <a:schemeClr val="dk1"/>
              </a:solidFill>
            </a:endParaRPr>
          </a:p>
          <a:p>
            <a:pPr indent="0" lvl="0" marL="45720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Valuation has a lot of ambiguities but it is inseparable from decision making because when you make a choice about ecological systems you place value on something whether explicitly or not</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Value should be infinite because you can’t reproduce it and its essential</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Effect of quantity and quality of natural capital and ecosystem services on human welfare -&gt;small changes at large scale and large changes at small scales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Costs/benefits of maintaining human welfare and activity in market and non market ways would be affected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Alternative method: How much would it cost to technologically reproduce ecosystem services? (e.g biosphere II or space missions)</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-&gt; for comparison, replacing the services of ecosystems at current margins means increasing GNP by 33 trillion to cover services existing in GNP and those which are not. Welfare would stay the same as we are just replacing existing services (but these services are literally irreplaceable anyway)</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Citations:</a:t>
            </a:r>
            <a:endParaRPr sz="1200">
              <a:solidFill>
                <a:schemeClr val="dk1"/>
              </a:solidFill>
            </a:endParaRPr>
          </a:p>
          <a:p>
            <a:pPr indent="-457200" lvl="0" marL="457200" rtl="0" algn="l">
              <a:lnSpc>
                <a:spcPct val="200000"/>
              </a:lnSpc>
              <a:spcBef>
                <a:spcPts val="1200"/>
              </a:spcBef>
              <a:spcAft>
                <a:spcPts val="0"/>
              </a:spcAft>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a:t>
            </a:r>
            <a:r>
              <a:rPr lang="es" sz="1200" u="sng">
                <a:solidFill>
                  <a:schemeClr val="hlink"/>
                </a:solidFill>
                <a:latin typeface="Times New Roman"/>
                <a:ea typeface="Times New Roman"/>
                <a:cs typeface="Times New Roman"/>
                <a:sym typeface="Times New Roman"/>
                <a:hlinkClick r:id="rId2"/>
              </a:rPr>
              <a:t>https://doi.org/10.1126/science.aap8826</a:t>
            </a:r>
            <a:r>
              <a:rPr lang="es"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Holmes, Amelia. “Natural Capital: Valuing Wild Landscapes.” </a:t>
            </a:r>
            <a:r>
              <a:rPr i="1" lang="es" sz="1200">
                <a:solidFill>
                  <a:schemeClr val="dk1"/>
                </a:solidFill>
                <a:latin typeface="Times New Roman"/>
                <a:ea typeface="Times New Roman"/>
                <a:cs typeface="Times New Roman"/>
                <a:sym typeface="Times New Roman"/>
              </a:rPr>
              <a:t>The Lifescape Project</a:t>
            </a:r>
            <a:r>
              <a:rPr lang="es" sz="1200">
                <a:solidFill>
                  <a:schemeClr val="dk1"/>
                </a:solidFill>
                <a:latin typeface="Times New Roman"/>
                <a:ea typeface="Times New Roman"/>
                <a:cs typeface="Times New Roman"/>
                <a:sym typeface="Times New Roman"/>
              </a:rPr>
              <a:t>, 2024, lifescapeproject.org/the-natural-capital-framework/.</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1200"/>
              </a:spcAft>
              <a:buNone/>
            </a:pPr>
            <a:r>
              <a:t/>
            </a: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cb6c2cf2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cb6c2cf2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200">
                <a:solidFill>
                  <a:schemeClr val="dk1"/>
                </a:solidFill>
                <a:highlight>
                  <a:srgbClr val="CFE2F3"/>
                </a:highlight>
              </a:rPr>
              <a:t>Sasa</a:t>
            </a:r>
            <a:endParaRPr sz="1200">
              <a:solidFill>
                <a:schemeClr val="dk1"/>
              </a:solidFill>
              <a:highlight>
                <a:srgbClr val="CFE2F3"/>
              </a:highlight>
            </a:endParaRPr>
          </a:p>
          <a:p>
            <a:pPr indent="-317500" lvl="0" marL="457200" rtl="0" algn="l">
              <a:lnSpc>
                <a:spcPct val="115000"/>
              </a:lnSpc>
              <a:spcBef>
                <a:spcPts val="1200"/>
              </a:spcBef>
              <a:spcAft>
                <a:spcPts val="0"/>
              </a:spcAft>
              <a:buClr>
                <a:schemeClr val="dk1"/>
              </a:buClr>
              <a:buSzPts val="1400"/>
              <a:buChar char="-"/>
            </a:pPr>
            <a:r>
              <a:rPr lang="es" sz="1400">
                <a:solidFill>
                  <a:schemeClr val="dk1"/>
                </a:solidFill>
              </a:rPr>
              <a:t>The study synthesized knowledge from literature and performed calculations to produce an estimate for global value of ecosystem services and natural capital</a:t>
            </a:r>
            <a:r>
              <a:rPr lang="es" sz="1200">
                <a:solidFill>
                  <a:schemeClr val="dk1"/>
                </a:solidFill>
              </a:rPr>
              <a:t> that was conducted at the National Center for Ecological Analysis and Synthesis (NCEAS) at UC Santa Barbara. </a:t>
            </a:r>
            <a:endParaRPr sz="1200">
              <a:solidFill>
                <a:schemeClr val="dk1"/>
              </a:solidFill>
            </a:endParaRPr>
          </a:p>
          <a:p>
            <a:pPr indent="-317500" lvl="0" marL="457200" rtl="0" algn="l">
              <a:lnSpc>
                <a:spcPct val="115000"/>
              </a:lnSpc>
              <a:spcBef>
                <a:spcPts val="0"/>
              </a:spcBef>
              <a:spcAft>
                <a:spcPts val="0"/>
              </a:spcAft>
              <a:buClr>
                <a:schemeClr val="dk1"/>
              </a:buClr>
              <a:buSzPts val="1400"/>
              <a:buChar char="-"/>
            </a:pPr>
            <a:r>
              <a:rPr lang="es" sz="1200">
                <a:solidFill>
                  <a:schemeClr val="dk1"/>
                </a:solidFill>
              </a:rPr>
              <a:t>Natural capital stock that produces ecosystem services needs to be considered in the decision-making process, otherwise welfare will suffer.</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s">
                <a:solidFill>
                  <a:schemeClr val="dk1"/>
                </a:solidFill>
              </a:rPr>
              <a:t>Goals of this study: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generate a first approximation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Framework that identifies research gaps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s">
                <a:solidFill>
                  <a:schemeClr val="dk1"/>
                </a:solidFill>
              </a:rPr>
              <a:t>Encourage further study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s">
                <a:solidFill>
                  <a:schemeClr val="dk1"/>
                </a:solidFill>
              </a:rPr>
              <a:t>How can we use the information discovered:</a:t>
            </a:r>
            <a:endParaRPr>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modify systems of national accounting to reflect value of ecosystem services and natural capital</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Project appraisal: ecosystem services lost must be weighed against the benefits of a project so they do not go ignored or undervalued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represents relative importance of Ecosystem Services and their impact on our whale fare if we continue diminishing them at this rate.</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s" sz="1200">
                <a:solidFill>
                  <a:schemeClr val="dk1"/>
                </a:solidFill>
              </a:rPr>
              <a:t>How to improve this study: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Include a broader range of ecosystem services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Represent ecosystem dynamics and interdependence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Study the effect of stress or scarcity of ecosystem services</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s" sz="1200">
                <a:solidFill>
                  <a:schemeClr val="dk1"/>
                </a:solidFill>
              </a:rPr>
              <a:t>To value services: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Distinguished 17 major categories of renewable resources (distinguishing joint/addable products or different aspects of the same service to avoid double counting).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value per unit area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unit area x surface area = global total</a:t>
            </a:r>
            <a:endParaRPr sz="1200">
              <a:solidFill>
                <a:schemeClr val="dk1"/>
              </a:solidFill>
            </a:endParaRPr>
          </a:p>
          <a:p>
            <a:pPr indent="0" lvl="0" marL="0" rtl="0" algn="l">
              <a:lnSpc>
                <a:spcPct val="200000"/>
              </a:lnSpc>
              <a:spcBef>
                <a:spcPts val="0"/>
              </a:spcBef>
              <a:spcAft>
                <a:spcPts val="0"/>
              </a:spcAft>
              <a:buNone/>
            </a:pPr>
            <a:r>
              <a:t/>
            </a:r>
            <a:endParaRPr sz="1400">
              <a:solidFill>
                <a:schemeClr val="dk1"/>
              </a:solidFill>
            </a:endParaRPr>
          </a:p>
          <a:p>
            <a:pPr indent="0" lvl="0" marL="0" rtl="0" algn="l">
              <a:lnSpc>
                <a:spcPct val="200000"/>
              </a:lnSpc>
              <a:spcBef>
                <a:spcPts val="0"/>
              </a:spcBef>
              <a:spcAft>
                <a:spcPts val="0"/>
              </a:spcAft>
              <a:buNone/>
            </a:pPr>
            <a:r>
              <a:rPr lang="es" sz="1400">
                <a:solidFill>
                  <a:schemeClr val="dk1"/>
                </a:solidFill>
              </a:rPr>
              <a:t>Citations:</a:t>
            </a:r>
            <a:endParaRPr sz="1400">
              <a:solidFill>
                <a:schemeClr val="dk1"/>
              </a:solidFill>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Costanza, Robert, et al. “The Value of the World’s Ecosystem Services and Natural Capital.” </a:t>
            </a:r>
            <a:r>
              <a:rPr i="1" lang="es" sz="1200">
                <a:solidFill>
                  <a:schemeClr val="dk1"/>
                </a:solidFill>
                <a:latin typeface="Times New Roman"/>
                <a:ea typeface="Times New Roman"/>
                <a:cs typeface="Times New Roman"/>
                <a:sym typeface="Times New Roman"/>
              </a:rPr>
              <a:t>Nature</a:t>
            </a:r>
            <a:r>
              <a:rPr lang="es" sz="1200">
                <a:solidFill>
                  <a:schemeClr val="dk1"/>
                </a:solidFill>
                <a:latin typeface="Times New Roman"/>
                <a:ea typeface="Times New Roman"/>
                <a:cs typeface="Times New Roman"/>
                <a:sym typeface="Times New Roman"/>
              </a:rPr>
              <a:t>, vol. 387, no. 6630, 15 May 1997, pp. 253–260, https://doi.org/10.1038/387253a0.</a:t>
            </a:r>
            <a:endParaRPr sz="14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d0e9b27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d0e9b27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CFE2F3"/>
                </a:highlight>
              </a:rPr>
              <a:t>SASA</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Arial"/>
              <a:buChar char="●"/>
            </a:pPr>
            <a:r>
              <a:rPr lang="es" sz="1200">
                <a:solidFill>
                  <a:schemeClr val="dk1"/>
                </a:solidFill>
              </a:rPr>
              <a:t>The first figure represents a human-made substitutable </a:t>
            </a:r>
            <a:r>
              <a:rPr lang="es" sz="1200">
                <a:solidFill>
                  <a:schemeClr val="dk1"/>
                </a:solidFill>
                <a:highlight>
                  <a:srgbClr val="EAEEFF"/>
                </a:highlight>
              </a:rPr>
              <a:t>good</a:t>
            </a:r>
            <a:endParaRPr sz="1200">
              <a:solidFill>
                <a:schemeClr val="dk1"/>
              </a:solidFill>
              <a:highlight>
                <a:srgbClr val="EAEEFF"/>
              </a:highlight>
            </a:endParaRPr>
          </a:p>
          <a:p>
            <a:pPr indent="-304800" lvl="0" marL="457200" rtl="0" algn="l">
              <a:lnSpc>
                <a:spcPct val="115000"/>
              </a:lnSpc>
              <a:spcBef>
                <a:spcPts val="0"/>
              </a:spcBef>
              <a:spcAft>
                <a:spcPts val="0"/>
              </a:spcAft>
              <a:buClr>
                <a:schemeClr val="dk1"/>
              </a:buClr>
              <a:buSzPts val="1200"/>
              <a:buFont typeface="Arial"/>
              <a:buChar char="●"/>
            </a:pPr>
            <a:r>
              <a:rPr lang="es" sz="1200">
                <a:solidFill>
                  <a:schemeClr val="dk1"/>
                </a:solidFill>
              </a:rPr>
              <a:t>Ecosystem services are only substitutable up to a certain point. </a:t>
            </a:r>
            <a:r>
              <a:rPr lang="es" sz="1200">
                <a:solidFill>
                  <a:schemeClr val="dk1"/>
                </a:solidFill>
              </a:rPr>
              <a:t>Ecosystem services look more like the second figure, demand reaches infinity, quantity available reaches close to zero, and consumer surplus and economic value nears infinity. </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Arial"/>
              <a:buChar char="●"/>
            </a:pPr>
            <a:r>
              <a:rPr lang="es" sz="1200">
                <a:solidFill>
                  <a:schemeClr val="dk1"/>
                </a:solidFill>
              </a:rPr>
              <a:t>Demand curves are nearly impossible to estimate and ecosystem services cannot be increased or decreased by effects of the economic system, their supply curves are close to vertical </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s" sz="1200">
                <a:solidFill>
                  <a:schemeClr val="dk1"/>
                </a:solidFill>
              </a:rPr>
              <a:t>Consumer surplus: </a:t>
            </a:r>
            <a:r>
              <a:rPr lang="es" sz="1200">
                <a:solidFill>
                  <a:schemeClr val="dk1"/>
                </a:solidFill>
                <a:latin typeface="Roboto"/>
                <a:ea typeface="Roboto"/>
                <a:cs typeface="Roboto"/>
                <a:sym typeface="Roboto"/>
              </a:rPr>
              <a:t>the economic benefit consumers get when the price they actually pay for a product is less than the maximum price they were willing to pay</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a:p>
            <a:pPr indent="0" lvl="0" marL="0" rtl="0" algn="l">
              <a:spcBef>
                <a:spcPts val="0"/>
              </a:spcBef>
              <a:spcAft>
                <a:spcPts val="0"/>
              </a:spcAft>
              <a:buNone/>
            </a:pPr>
            <a:r>
              <a:t/>
            </a:r>
            <a:endParaRPr/>
          </a:p>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Citation:</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https://doi.org/10.1126/science.aap8826.</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d7379caa7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d7379caa7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highlight>
                  <a:srgbClr val="F4CCCC"/>
                </a:highlight>
              </a:rPr>
              <a:t>HAO</a:t>
            </a:r>
            <a:endParaRPr>
              <a:solidFill>
                <a:schemeClr val="dk1"/>
              </a:solidFill>
              <a:highlight>
                <a:srgbClr val="F4CCCC"/>
              </a:highlight>
            </a:endParaRPr>
          </a:p>
          <a:p>
            <a:pPr indent="0" lvl="0" marL="0" rtl="0" algn="l">
              <a:spcBef>
                <a:spcPts val="0"/>
              </a:spcBef>
              <a:spcAft>
                <a:spcPts val="0"/>
              </a:spcAft>
              <a:buNone/>
            </a:pPr>
            <a:r>
              <a:rPr lang="es" u="sng">
                <a:solidFill>
                  <a:schemeClr val="hlink"/>
                </a:solidFill>
                <a:hlinkClick r:id="rId2"/>
              </a:rPr>
              <a:t>https://data.worldbank.org/</a:t>
            </a:r>
            <a:endParaRPr/>
          </a:p>
          <a:p>
            <a:pPr indent="0" lvl="0" marL="0" rtl="0" algn="l">
              <a:spcBef>
                <a:spcPts val="0"/>
              </a:spcBef>
              <a:spcAft>
                <a:spcPts val="0"/>
              </a:spcAft>
              <a:buNone/>
            </a:pPr>
            <a:r>
              <a:rPr lang="es" u="sng">
                <a:solidFill>
                  <a:schemeClr val="hlink"/>
                </a:solidFill>
                <a:hlinkClick r:id="rId3"/>
              </a:rPr>
              <a:t>www.linkedin.com/posts/sustainability-infographics_charted-the-economic-value-of-nature-vs-activity-7317396195935465473-IBC2</a:t>
            </a:r>
            <a:endParaRPr/>
          </a:p>
          <a:p>
            <a:pPr indent="0" lvl="0" marL="139700" rtl="0" algn="l">
              <a:lnSpc>
                <a:spcPct val="115000"/>
              </a:lnSpc>
              <a:spcBef>
                <a:spcPts val="0"/>
              </a:spcBef>
              <a:spcAft>
                <a:spcPts val="0"/>
              </a:spcAft>
              <a:buNone/>
            </a:pPr>
            <a:r>
              <a:rPr i="1" lang="es" sz="1050">
                <a:solidFill>
                  <a:srgbClr val="0E0E0E"/>
                </a:solidFill>
              </a:rPr>
              <a:t>The $179 trillion estimate comes from later expanded models, not from the 1997 paper.</a:t>
            </a:r>
            <a:endParaRPr i="1" sz="1050">
              <a:solidFill>
                <a:srgbClr val="0E0E0E"/>
              </a:solidFill>
            </a:endParaRPr>
          </a:p>
          <a:p>
            <a:pPr indent="0" lvl="0" marL="139700" rtl="0" algn="l">
              <a:lnSpc>
                <a:spcPct val="115000"/>
              </a:lnSpc>
              <a:spcBef>
                <a:spcPts val="0"/>
              </a:spcBef>
              <a:spcAft>
                <a:spcPts val="0"/>
              </a:spcAft>
              <a:buNone/>
            </a:pPr>
            <a:r>
              <a:t/>
            </a:r>
            <a:endParaRPr i="1" sz="1050">
              <a:solidFill>
                <a:srgbClr val="0E0E0E"/>
              </a:solidFill>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https://doi.org/10.1126/science.aap8826.</a:t>
            </a:r>
            <a:endParaRPr i="1" sz="1050">
              <a:solidFill>
                <a:srgbClr val="0E0E0E"/>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d88560ab7_3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d88560ab7_3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chemeClr val="dk1"/>
                </a:solidFill>
                <a:highlight>
                  <a:srgbClr val="D9D2E9"/>
                </a:highlight>
              </a:rPr>
              <a:t>CLARA</a:t>
            </a:r>
            <a:endParaRPr>
              <a:solidFill>
                <a:schemeClr val="dk1"/>
              </a:solidFill>
              <a:highlight>
                <a:srgbClr val="D9D2E9"/>
              </a:highlight>
            </a:endParaRPr>
          </a:p>
          <a:p>
            <a:pPr indent="0" lvl="0" marL="0" rtl="0" algn="l">
              <a:spcBef>
                <a:spcPts val="1200"/>
              </a:spcBef>
              <a:spcAft>
                <a:spcPts val="0"/>
              </a:spcAft>
              <a:buClr>
                <a:schemeClr val="dk1"/>
              </a:buClr>
              <a:buSzPts val="1100"/>
              <a:buFont typeface="Arial"/>
              <a:buNone/>
            </a:pPr>
            <a:r>
              <a:rPr lang="es" sz="1200">
                <a:solidFill>
                  <a:schemeClr val="dk1"/>
                </a:solidFill>
              </a:rPr>
              <a:t>-</a:t>
            </a:r>
            <a:r>
              <a:rPr lang="es" sz="1300">
                <a:solidFill>
                  <a:schemeClr val="dk1"/>
                </a:solidFill>
              </a:rPr>
              <a:t>The paper focuses on the need to sustain/improve nature’s beneficial contributions to human quality of life.</a:t>
            </a:r>
            <a:endParaRPr>
              <a:solidFill>
                <a:schemeClr val="dk1"/>
              </a:solidFill>
              <a:highlight>
                <a:srgbClr val="D9D2E9"/>
              </a:highlight>
            </a:endParaRPr>
          </a:p>
          <a:p>
            <a:pPr indent="0" lvl="0" marL="0" rtl="0" algn="l">
              <a:lnSpc>
                <a:spcPct val="115000"/>
              </a:lnSpc>
              <a:spcBef>
                <a:spcPts val="1200"/>
              </a:spcBef>
              <a:spcAft>
                <a:spcPts val="0"/>
              </a:spcAft>
              <a:buNone/>
            </a:pPr>
            <a:r>
              <a:rPr b="1" lang="es" sz="1200">
                <a:solidFill>
                  <a:schemeClr val="dk1"/>
                </a:solidFill>
              </a:rPr>
              <a:t>Intergovernmental Science-Policy Platform on Biodiversity and Ecosystem services</a:t>
            </a:r>
            <a:r>
              <a:rPr lang="es" sz="1200">
                <a:solidFill>
                  <a:schemeClr val="dk1"/>
                </a:solidFill>
              </a:rPr>
              <a:t> (IPBES) wanted to create framework to emphasize the effect of Earth’s Biodiversity and Ecosystems on human welfare to inform policy decision.</a:t>
            </a:r>
            <a:endParaRPr>
              <a:solidFill>
                <a:schemeClr val="dk1"/>
              </a:solidFill>
              <a:highlight>
                <a:srgbClr val="D9D2E9"/>
              </a:highlight>
            </a:endParaRPr>
          </a:p>
          <a:p>
            <a:pPr indent="0" lvl="0" marL="0" rtl="0" algn="l">
              <a:lnSpc>
                <a:spcPct val="115000"/>
              </a:lnSpc>
              <a:spcBef>
                <a:spcPts val="800"/>
              </a:spcBef>
              <a:spcAft>
                <a:spcPts val="0"/>
              </a:spcAft>
              <a:buNone/>
            </a:pPr>
            <a:r>
              <a:rPr lang="es" sz="1200">
                <a:solidFill>
                  <a:schemeClr val="dk1"/>
                </a:solidFill>
              </a:rPr>
              <a:t>Nature’s contributions to people (NCP) is a new concept building off the MA: </a:t>
            </a:r>
            <a:r>
              <a:rPr b="1" lang="es" sz="1200">
                <a:solidFill>
                  <a:schemeClr val="dk1"/>
                </a:solidFill>
              </a:rPr>
              <a:t>Millenium Ecosystem Assessment </a:t>
            </a:r>
            <a:endParaRPr b="1" sz="1300">
              <a:solidFill>
                <a:schemeClr val="dk1"/>
              </a:solidFill>
            </a:endParaRPr>
          </a:p>
          <a:p>
            <a:pPr indent="0" lvl="0" marL="0" rtl="0" algn="l">
              <a:spcBef>
                <a:spcPts val="1200"/>
              </a:spcBef>
              <a:spcAft>
                <a:spcPts val="0"/>
              </a:spcAft>
              <a:buNone/>
            </a:pPr>
            <a:r>
              <a:rPr lang="es" sz="1400">
                <a:solidFill>
                  <a:schemeClr val="dk1"/>
                </a:solidFill>
              </a:rPr>
              <a:t>Not suitable anymore, too focused on ecology+economics. Authors favour NCP instead. </a:t>
            </a:r>
            <a:r>
              <a:rPr lang="es" sz="1300">
                <a:solidFill>
                  <a:schemeClr val="dk1"/>
                </a:solidFill>
              </a:rPr>
              <a:t>NCP builds on MA and IPBES  NCP differs in important ways, expanding that framework.</a:t>
            </a:r>
            <a:endParaRPr sz="1300">
              <a:solidFill>
                <a:schemeClr val="dk1"/>
              </a:solidFill>
            </a:endParaRPr>
          </a:p>
          <a:p>
            <a:pPr indent="0" lvl="0" marL="0" rtl="0" algn="l">
              <a:spcBef>
                <a:spcPts val="1200"/>
              </a:spcBef>
              <a:spcAft>
                <a:spcPts val="0"/>
              </a:spcAft>
              <a:buNone/>
            </a:pPr>
            <a:r>
              <a:rPr lang="es" sz="1200">
                <a:solidFill>
                  <a:schemeClr val="dk1"/>
                </a:solidFill>
              </a:rPr>
              <a:t>Some cultural ecosystem services can’t have biophysical or monetary metrics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The main difference between the two is the role of culture linking people and nature and emphasis on indigenous and local knowledge in our understanding of NCPs. </a:t>
            </a:r>
            <a:endParaRPr sz="1200">
              <a:solidFill>
                <a:schemeClr val="dk1"/>
              </a:solidFill>
            </a:endParaRPr>
          </a:p>
          <a:p>
            <a:pPr indent="0" lvl="0" marL="0" rtl="0" algn="l">
              <a:lnSpc>
                <a:spcPct val="115000"/>
              </a:lnSpc>
              <a:spcBef>
                <a:spcPts val="800"/>
              </a:spcBef>
              <a:spcAft>
                <a:spcPts val="0"/>
              </a:spcAft>
              <a:buNone/>
            </a:pPr>
            <a:r>
              <a:rPr lang="es" sz="1200">
                <a:solidFill>
                  <a:schemeClr val="dk1"/>
                </a:solidFill>
              </a:rPr>
              <a:t>The goal was to increase political legitimacy of assessment findings and advance knowledge it is important to include a diverse group of people including natural, social, humanistic, engineering, indigenous and local etc.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Epistemologically diverse evidence can result in richer solutions that benefit nature and people even in large scale assessments.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Different knowledge systems makes IPBES procedures and outcomes increasingly equitable, helping counteract the power dynamic between local and indigenous knowledge and western science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Changing assessment procedures and outcomes -&gt; effort to get local and indigenous knowledge through literature and conversations (e.g. Europe and Central Asia revealing complex interactions of detrimental and beneficial NCP not previously considered (predation on livestock + carcass removal or protection from guard dogs)  Enhancing knowledge about the status and trends within the NCP categories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Some NCP defined as practices of care gifted to people (pollinators, pollination, food production example), even though concepts like this don’t fit into a typical category, they underpin messages to policy makers and strengthen the argument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NCP wanted better more legitimate products that are more likely to be incorporated into policy and practice,it emphasizes the importance of diverse perspectives and inclusion including knowledge and representation.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Range of views (human + nature reciprocal or separate)/Cultural lenses of viewing coproduction (human + nature) of NCPs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NCP – Natures contributions to people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Including both positive and negative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Positive eg. Food provision </a:t>
            </a:r>
            <a:endParaRPr sz="1200">
              <a:solidFill>
                <a:schemeClr val="dk1"/>
              </a:solidFill>
            </a:endParaRPr>
          </a:p>
          <a:p>
            <a:pPr indent="0" lvl="0" marL="0" rtl="0" algn="l">
              <a:lnSpc>
                <a:spcPct val="115000"/>
              </a:lnSpc>
              <a:spcBef>
                <a:spcPts val="0"/>
              </a:spcBef>
              <a:spcAft>
                <a:spcPts val="0"/>
              </a:spcAft>
              <a:buNone/>
            </a:pPr>
            <a:r>
              <a:rPr lang="es" sz="1200">
                <a:solidFill>
                  <a:schemeClr val="dk1"/>
                </a:solidFill>
              </a:rPr>
              <a:t>Negative eg. Disease transmission </a:t>
            </a:r>
            <a:endParaRPr sz="1200">
              <a:solidFill>
                <a:schemeClr val="dk1"/>
              </a:solidFill>
            </a:endParaRPr>
          </a:p>
          <a:p>
            <a:pPr indent="0" lvl="0" marL="0" rtl="0" algn="l">
              <a:lnSpc>
                <a:spcPct val="115000"/>
              </a:lnSpc>
              <a:spcBef>
                <a:spcPts val="1200"/>
              </a:spcBef>
              <a:spcAft>
                <a:spcPts val="0"/>
              </a:spcAft>
              <a:buNone/>
            </a:pPr>
            <a:r>
              <a:rPr lang="es" sz="1200">
                <a:solidFill>
                  <a:schemeClr val="dk1"/>
                </a:solidFill>
              </a:rPr>
              <a:t>Cultural, socioeconomic, temporal or spatial context can affect whether a contribution is seen as positive or negative. </a:t>
            </a:r>
            <a:endParaRPr sz="1200">
              <a:solidFill>
                <a:schemeClr val="dk1"/>
              </a:solidFill>
            </a:endParaRPr>
          </a:p>
          <a:p>
            <a:pPr indent="-457200" lvl="0" marL="457200" rtl="0" algn="l">
              <a:lnSpc>
                <a:spcPct val="115000"/>
              </a:lnSpc>
              <a:spcBef>
                <a:spcPts val="1200"/>
              </a:spcBef>
              <a:spcAft>
                <a:spcPts val="0"/>
              </a:spcAft>
              <a:buNone/>
            </a:pPr>
            <a:r>
              <a:rPr lang="es" sz="1200">
                <a:solidFill>
                  <a:schemeClr val="dk1"/>
                </a:solidFill>
              </a:rPr>
              <a:t>Eg. Carnivores – control wild ungulates but harm livestock </a:t>
            </a:r>
            <a:endParaRPr sz="1200">
              <a:solidFill>
                <a:schemeClr val="dk1"/>
              </a:solidFill>
            </a:endParaRPr>
          </a:p>
          <a:p>
            <a:pPr indent="-444500" lvl="0" marL="444500" rtl="0" algn="l">
              <a:lnSpc>
                <a:spcPct val="115000"/>
              </a:lnSpc>
              <a:spcBef>
                <a:spcPts val="0"/>
              </a:spcBef>
              <a:spcAft>
                <a:spcPts val="0"/>
              </a:spcAft>
              <a:buNone/>
            </a:pPr>
            <a:r>
              <a:rPr lang="es" sz="1200">
                <a:solidFill>
                  <a:schemeClr val="dk1"/>
                </a:solidFill>
              </a:rPr>
              <a:t>(i.e. high diversity agriculture) </a:t>
            </a:r>
            <a:endParaRPr sz="1200">
              <a:solidFill>
                <a:schemeClr val="dk1"/>
              </a:solidFill>
            </a:endParaRPr>
          </a:p>
          <a:p>
            <a:pPr indent="0" lvl="0" marL="0" rtl="0" algn="l">
              <a:lnSpc>
                <a:spcPct val="115000"/>
              </a:lnSpc>
              <a:spcBef>
                <a:spcPts val="1200"/>
              </a:spcBef>
              <a:spcAft>
                <a:spcPts val="0"/>
              </a:spcAft>
              <a:buNone/>
            </a:pPr>
            <a:r>
              <a:rPr lang="es">
                <a:solidFill>
                  <a:schemeClr val="dk1"/>
                </a:solidFill>
              </a:rPr>
              <a:t>Citation:</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457200" lvl="0" marL="457200" rtl="0" algn="l">
              <a:lnSpc>
                <a:spcPct val="200000"/>
              </a:lnSpc>
              <a:spcBef>
                <a:spcPts val="1200"/>
              </a:spcBef>
              <a:spcAft>
                <a:spcPts val="0"/>
              </a:spcAft>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https://doi.org/10.1126/science.aap8826.</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Citation:</a:t>
            </a:r>
            <a:endParaRPr>
              <a:solidFill>
                <a:schemeClr val="dk1"/>
              </a:solidFill>
            </a:endParaRPr>
          </a:p>
          <a:p>
            <a:pPr indent="-457200" lvl="0" marL="0" rtl="0" algn="l">
              <a:lnSpc>
                <a:spcPct val="200000"/>
              </a:lnSpc>
              <a:spcBef>
                <a:spcPts val="120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“A 	Metacoupling Lens on the Co-Production of Nature’s Contributions to People: Insights for Sustainability - Restauración Ecológica.” </a:t>
            </a:r>
            <a:r>
              <a:rPr i="1" lang="es" sz="1200">
                <a:solidFill>
                  <a:schemeClr val="dk1"/>
                </a:solidFill>
                <a:latin typeface="Times New Roman"/>
                <a:ea typeface="Times New Roman"/>
                <a:cs typeface="Times New Roman"/>
                <a:sym typeface="Times New Roman"/>
              </a:rPr>
              <a:t>Restauración Ecológica</a:t>
            </a:r>
            <a:r>
              <a:rPr lang="es" sz="1200">
                <a:solidFill>
                  <a:schemeClr val="dk1"/>
                </a:solidFill>
                <a:latin typeface="Times New Roman"/>
                <a:ea typeface="Times New Roman"/>
                <a:cs typeface="Times New Roman"/>
                <a:sym typeface="Times New Roman"/>
              </a:rPr>
              <a:t>, 25 July 2025, restauracionecologica.csic.es/2025/07/25/a-metacoupling-lens-on-the-co-production-of-natures-contributions-to-people-insights-for-sustainability/. Accessed 5 Dec. 2025.</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457200" lvl="0" marL="457200" rtl="0" algn="l">
              <a:lnSpc>
                <a:spcPct val="200000"/>
              </a:lnSpc>
              <a:spcBef>
                <a:spcPts val="120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a:t>
            </a:r>
            <a:r>
              <a:rPr lang="es" sz="1200" u="sng">
                <a:solidFill>
                  <a:schemeClr val="hlink"/>
                </a:solidFill>
                <a:latin typeface="Times New Roman"/>
                <a:ea typeface="Times New Roman"/>
                <a:cs typeface="Times New Roman"/>
                <a:sym typeface="Times New Roman"/>
                <a:hlinkClick r:id="rId2"/>
              </a:rPr>
              <a:t>https://doi.org/10.1126/science.aap8826</a:t>
            </a:r>
            <a:r>
              <a:rPr lang="es"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50000"/>
              </a:lnSpc>
              <a:spcBef>
                <a:spcPts val="0"/>
              </a:spcBef>
              <a:spcAft>
                <a:spcPts val="0"/>
              </a:spcAft>
              <a:buClr>
                <a:schemeClr val="dk1"/>
              </a:buClr>
              <a:buSzPts val="1100"/>
              <a:buFont typeface="Arial"/>
              <a:buNone/>
            </a:pPr>
            <a:r>
              <a:t/>
            </a:r>
            <a:endParaRPr sz="1246">
              <a:solidFill>
                <a:schemeClr val="dk1"/>
              </a:solidFill>
              <a:latin typeface="Verdana"/>
              <a:ea typeface="Verdana"/>
              <a:cs typeface="Verdana"/>
              <a:sym typeface="Verdana"/>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d88560ab7_3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d88560ab7_3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highlight>
                  <a:srgbClr val="D9D2E9"/>
                </a:highlight>
              </a:rPr>
              <a:t>CLARA</a:t>
            </a:r>
            <a:endParaRPr>
              <a:solidFill>
                <a:schemeClr val="dk1"/>
              </a:solidFill>
              <a:highlight>
                <a:srgbClr val="D9D2E9"/>
              </a:highlight>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Generalizing and context specific perspective despite seeming are interconnected within disciplines and </a:t>
            </a:r>
            <a:r>
              <a:rPr lang="es" sz="1200">
                <a:solidFill>
                  <a:schemeClr val="dk1"/>
                </a:solidFill>
              </a:rPr>
              <a:t>knowledge</a:t>
            </a:r>
            <a:r>
              <a:rPr lang="es" sz="1200">
                <a:solidFill>
                  <a:schemeClr val="dk1"/>
                </a:solidFill>
              </a:rPr>
              <a:t> systems</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18 categories organized in three overlapping groups depending on what </a:t>
            </a:r>
            <a:r>
              <a:rPr lang="es" sz="1200">
                <a:solidFill>
                  <a:schemeClr val="dk1"/>
                </a:solidFill>
              </a:rPr>
              <a:t>functions</a:t>
            </a:r>
            <a:r>
              <a:rPr lang="es" sz="1200">
                <a:solidFill>
                  <a:schemeClr val="dk1"/>
                </a:solidFill>
              </a:rPr>
              <a:t> they perform for human well-being.</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Generalizing Perspective -&gt; natural sciences and economics</a:t>
            </a:r>
            <a:endParaRPr sz="1200">
              <a:solidFill>
                <a:schemeClr val="dk1"/>
              </a:solidFill>
            </a:endParaRPr>
          </a:p>
          <a:p>
            <a:pPr indent="-304800" lvl="0" marL="457200" rtl="0" algn="l">
              <a:lnSpc>
                <a:spcPct val="115000"/>
              </a:lnSpc>
              <a:spcBef>
                <a:spcPts val="800"/>
              </a:spcBef>
              <a:spcAft>
                <a:spcPts val="0"/>
              </a:spcAft>
              <a:buClr>
                <a:schemeClr val="dk1"/>
              </a:buClr>
              <a:buSzPts val="1200"/>
              <a:buChar char="-"/>
            </a:pPr>
            <a:r>
              <a:rPr lang="es" sz="1200">
                <a:solidFill>
                  <a:schemeClr val="dk1"/>
                </a:solidFill>
              </a:rPr>
              <a:t>seeks categories for flows of nature to people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Sharp distinction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Only people have autonomy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A system comprised of 18 groups within regulating, material and nonmaterial NCP defined by effect on human welfare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200">
                <a:solidFill>
                  <a:schemeClr val="dk1"/>
                </a:solidFill>
              </a:rPr>
              <a:t>- Culture is included in all groups not just “cultural ecosystem services” like in MA.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 The categories overlap, grouped only for practicality (i.e. food is material but it has non material benefits too)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Context-Specific perspective -&gt; local and Indigenous </a:t>
            </a:r>
            <a:r>
              <a:rPr lang="es" sz="1200">
                <a:solidFill>
                  <a:schemeClr val="dk1"/>
                </a:solidFill>
              </a:rPr>
              <a:t>knowledge</a:t>
            </a:r>
            <a:r>
              <a:rPr lang="es" sz="1200">
                <a:solidFill>
                  <a:schemeClr val="dk1"/>
                </a:solidFill>
              </a:rPr>
              <a:t> systems</a:t>
            </a:r>
            <a:endParaRPr sz="1200">
              <a:solidFill>
                <a:schemeClr val="dk1"/>
              </a:solidFill>
            </a:endParaRPr>
          </a:p>
          <a:p>
            <a:pPr indent="0" lvl="0" marL="457200" rtl="0" algn="l">
              <a:lnSpc>
                <a:spcPct val="115000"/>
              </a:lnSpc>
              <a:spcBef>
                <a:spcPts val="1200"/>
              </a:spcBef>
              <a:spcAft>
                <a:spcPts val="0"/>
              </a:spcAft>
              <a:buNone/>
            </a:pPr>
            <a:r>
              <a:rPr lang="es" sz="1200">
                <a:solidFill>
                  <a:schemeClr val="dk1"/>
                </a:solidFill>
              </a:rPr>
              <a:t>-Context-Specific perspective </a:t>
            </a:r>
            <a:r>
              <a:rPr lang="es" sz="1200">
                <a:solidFill>
                  <a:schemeClr val="dk1"/>
                </a:solidFill>
              </a:rPr>
              <a:t>ensures</a:t>
            </a:r>
            <a:r>
              <a:rPr lang="es" sz="1200">
                <a:solidFill>
                  <a:schemeClr val="dk1"/>
                </a:solidFill>
              </a:rPr>
              <a:t> inclusion and no forced categorization allowing for </a:t>
            </a:r>
            <a:r>
              <a:rPr lang="es" sz="1200">
                <a:solidFill>
                  <a:schemeClr val="dk1"/>
                </a:solidFill>
              </a:rPr>
              <a:t>cooperation across knowledge systems in co-construction of knowledge for sustainability</a:t>
            </a:r>
            <a:endParaRPr sz="1200">
              <a:solidFill>
                <a:schemeClr val="dk1"/>
              </a:solidFill>
            </a:endParaRPr>
          </a:p>
          <a:p>
            <a:pPr indent="0" lvl="0" marL="457200" rtl="0" algn="l">
              <a:lnSpc>
                <a:spcPct val="115000"/>
              </a:lnSpc>
              <a:spcBef>
                <a:spcPts val="1200"/>
              </a:spcBef>
              <a:spcAft>
                <a:spcPts val="0"/>
              </a:spcAft>
              <a:buNone/>
            </a:pPr>
            <a:r>
              <a:rPr lang="es" sz="1200">
                <a:solidFill>
                  <a:schemeClr val="dk1"/>
                </a:solidFill>
              </a:rPr>
              <a:t>-Resist universally applicable schema, does not seek or validate itself beyond geographical or cultural context </a:t>
            </a:r>
            <a:endParaRPr sz="1200">
              <a:solidFill>
                <a:schemeClr val="dk1"/>
              </a:solidFill>
            </a:endParaRPr>
          </a:p>
          <a:p>
            <a:pPr indent="0" lvl="0" marL="457200" rtl="0" algn="l">
              <a:lnSpc>
                <a:spcPct val="115000"/>
              </a:lnSpc>
              <a:spcBef>
                <a:spcPts val="1200"/>
              </a:spcBef>
              <a:spcAft>
                <a:spcPts val="0"/>
              </a:spcAft>
              <a:buNone/>
            </a:pPr>
            <a:r>
              <a:rPr lang="es" sz="1200">
                <a:solidFill>
                  <a:schemeClr val="dk1"/>
                </a:solidFill>
              </a:rPr>
              <a:t>-NCPs are comprised of distinct lived experiences and </a:t>
            </a:r>
            <a:r>
              <a:rPr lang="es" sz="1200">
                <a:solidFill>
                  <a:schemeClr val="dk1"/>
                </a:solidFill>
              </a:rPr>
              <a:t>cultural incommensurability and resistance to universal perspectives on human-nature relationships makes them resilient to classification </a:t>
            </a:r>
            <a:endParaRPr>
              <a:solidFill>
                <a:schemeClr val="dk1"/>
              </a:solidFill>
            </a:endParaRPr>
          </a:p>
          <a:p>
            <a:pPr indent="0" lvl="0" marL="0" rtl="0" algn="l">
              <a:lnSpc>
                <a:spcPct val="115000"/>
              </a:lnSpc>
              <a:spcBef>
                <a:spcPts val="1200"/>
              </a:spcBef>
              <a:spcAft>
                <a:spcPts val="0"/>
              </a:spcAft>
              <a:buNone/>
            </a:pPr>
            <a:r>
              <a:rPr lang="es">
                <a:solidFill>
                  <a:schemeClr val="dk1"/>
                </a:solidFill>
              </a:rPr>
              <a:t>Citation:</a:t>
            </a:r>
            <a:endParaRPr>
              <a:solidFill>
                <a:schemeClr val="dk1"/>
              </a:solidFill>
            </a:endParaRPr>
          </a:p>
          <a:p>
            <a:pPr indent="-457200" lvl="0" marL="457200" rtl="0" algn="l">
              <a:lnSpc>
                <a:spcPct val="200000"/>
              </a:lnSpc>
              <a:spcBef>
                <a:spcPts val="120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https://doi.org/10.1126/science.aap8826.</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50000"/>
              </a:lnSpc>
              <a:spcBef>
                <a:spcPts val="0"/>
              </a:spcBef>
              <a:spcAft>
                <a:spcPts val="0"/>
              </a:spcAft>
              <a:buClr>
                <a:schemeClr val="dk1"/>
              </a:buClr>
              <a:buSzPts val="1100"/>
              <a:buFont typeface="Arial"/>
              <a:buNone/>
            </a:pPr>
            <a:r>
              <a:t/>
            </a:r>
            <a:endParaRPr sz="1246">
              <a:solidFill>
                <a:schemeClr val="dk1"/>
              </a:solidFill>
              <a:latin typeface="Verdana"/>
              <a:ea typeface="Verdana"/>
              <a:cs typeface="Verdana"/>
              <a:sym typeface="Verdana"/>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d88560ab7_3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d88560ab7_3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highlight>
                  <a:srgbClr val="D9D2E9"/>
                </a:highlight>
              </a:rPr>
              <a:t>CLARA</a:t>
            </a:r>
            <a:endParaRPr>
              <a:solidFill>
                <a:schemeClr val="dk1"/>
              </a:solidFill>
              <a:highlight>
                <a:srgbClr val="D9D2E9"/>
              </a:highlight>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Material -&gt; material elements that directly sustain life and assets, physically consumed while experienced (e.g. food into organisms or energy)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Nonmaterial -&gt; natures effects on subjective or psychological welfare individually and collectively, recreation and inspiration or spiritual/ social-cohesion experience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Regulating -&gt; functional and structural organisms and ecosystem factors the effect material and nonmaterial production or environmental conditions, </a:t>
            </a:r>
            <a:r>
              <a:rPr lang="es" sz="1200">
                <a:solidFill>
                  <a:schemeClr val="dk1"/>
                </a:solidFill>
              </a:rPr>
              <a:t>affect</a:t>
            </a:r>
            <a:r>
              <a:rPr lang="es" sz="1200">
                <a:solidFill>
                  <a:schemeClr val="dk1"/>
                </a:solidFill>
              </a:rPr>
              <a:t> quality of life in interdict ways (soil organisms providing nutrients for pretty plants)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a:solidFill>
                  <a:schemeClr val="dk1"/>
                </a:solidFill>
              </a:rPr>
              <a:t>Citation:</a:t>
            </a:r>
            <a:endParaRPr>
              <a:solidFill>
                <a:schemeClr val="dk1"/>
              </a:solidFill>
            </a:endParaRPr>
          </a:p>
          <a:p>
            <a:pPr indent="-457200" lvl="0" marL="457200" rtl="0" algn="l">
              <a:lnSpc>
                <a:spcPct val="200000"/>
              </a:lnSpc>
              <a:spcBef>
                <a:spcPts val="120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https://doi.org/10.1126/science.aap8826.</a:t>
            </a:r>
            <a:endParaRPr sz="1246">
              <a:solidFill>
                <a:schemeClr val="dk1"/>
              </a:solidFill>
              <a:latin typeface="Verdana"/>
              <a:ea typeface="Verdana"/>
              <a:cs typeface="Verdana"/>
              <a:sym typeface="Verdana"/>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d7379caa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d7379caa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CFE2F3"/>
                </a:highlight>
              </a:rPr>
              <a:t>SASA</a:t>
            </a:r>
            <a:endParaRPr sz="1200">
              <a:solidFill>
                <a:schemeClr val="dk1"/>
              </a:solidFill>
              <a:highlight>
                <a:srgbClr val="CFE2F3"/>
              </a:high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s" sz="1200">
                <a:solidFill>
                  <a:srgbClr val="595959"/>
                </a:solidFill>
                <a:latin typeface="Lexend"/>
                <a:ea typeface="Lexend"/>
                <a:cs typeface="Lexend"/>
                <a:sym typeface="Lexend"/>
              </a:rPr>
              <a:t>Intrinsic - The inherent value of nature independent of benefits it provides humans</a:t>
            </a:r>
            <a:endParaRPr sz="1200">
              <a:solidFill>
                <a:srgbClr val="595959"/>
              </a:solidFill>
              <a:latin typeface="Lexend"/>
              <a:ea typeface="Lexend"/>
              <a:cs typeface="Lexend"/>
              <a:sym typeface="Lexend"/>
            </a:endParaRPr>
          </a:p>
          <a:p>
            <a:pPr indent="0" lvl="0" marL="0" rtl="0" algn="l">
              <a:lnSpc>
                <a:spcPct val="115000"/>
              </a:lnSpc>
              <a:spcBef>
                <a:spcPts val="1200"/>
              </a:spcBef>
              <a:spcAft>
                <a:spcPts val="0"/>
              </a:spcAft>
              <a:buClr>
                <a:schemeClr val="dk1"/>
              </a:buClr>
              <a:buSzPts val="1100"/>
              <a:buFont typeface="Arial"/>
              <a:buNone/>
            </a:pPr>
            <a:r>
              <a:rPr lang="es" sz="1200">
                <a:solidFill>
                  <a:srgbClr val="595959"/>
                </a:solidFill>
                <a:latin typeface="Lexend"/>
                <a:ea typeface="Lexend"/>
                <a:cs typeface="Lexend"/>
                <a:sym typeface="Lexend"/>
              </a:rPr>
              <a:t>Instrumental - The benefits nature provides to human welfare</a:t>
            </a:r>
            <a:endParaRPr sz="1200">
              <a:solidFill>
                <a:srgbClr val="595959"/>
              </a:solidFill>
              <a:latin typeface="Lexend"/>
              <a:ea typeface="Lexend"/>
              <a:cs typeface="Lexend"/>
              <a:sym typeface="Lexend"/>
            </a:endParaRPr>
          </a:p>
          <a:p>
            <a:pPr indent="0" lvl="0" marL="0" rtl="0" algn="l">
              <a:lnSpc>
                <a:spcPct val="115000"/>
              </a:lnSpc>
              <a:spcBef>
                <a:spcPts val="1200"/>
              </a:spcBef>
              <a:spcAft>
                <a:spcPts val="0"/>
              </a:spcAft>
              <a:buNone/>
            </a:pPr>
            <a:r>
              <a:rPr lang="es" sz="1200">
                <a:solidFill>
                  <a:srgbClr val="595959"/>
                </a:solidFill>
                <a:latin typeface="Lexend"/>
                <a:ea typeface="Lexend"/>
                <a:cs typeface="Lexend"/>
                <a:sym typeface="Lexend"/>
              </a:rPr>
              <a:t>Relational - Reciprocal relationships between humans and nature</a:t>
            </a:r>
            <a:endParaRPr sz="1200">
              <a:solidFill>
                <a:srgbClr val="595959"/>
              </a:solidFill>
              <a:latin typeface="Lexend"/>
              <a:ea typeface="Lexend"/>
              <a:cs typeface="Lexend"/>
              <a:sym typeface="Lexend"/>
            </a:endParaRPr>
          </a:p>
          <a:p>
            <a:pPr indent="0" lvl="0" marL="0" rtl="0" algn="l">
              <a:lnSpc>
                <a:spcPct val="115000"/>
              </a:lnSpc>
              <a:spcBef>
                <a:spcPts val="1200"/>
              </a:spcBef>
              <a:spcAft>
                <a:spcPts val="0"/>
              </a:spcAft>
              <a:buNone/>
            </a:pPr>
            <a:r>
              <a:t/>
            </a:r>
            <a:endParaRPr sz="1200">
              <a:solidFill>
                <a:srgbClr val="595959"/>
              </a:solidFill>
              <a:latin typeface="Lexend"/>
              <a:ea typeface="Lexend"/>
              <a:cs typeface="Lexend"/>
              <a:sym typeface="Lexend"/>
            </a:endParaRPr>
          </a:p>
          <a:p>
            <a:pPr indent="0" lvl="0" marL="0" rtl="0" algn="l">
              <a:lnSpc>
                <a:spcPct val="115000"/>
              </a:lnSpc>
              <a:spcBef>
                <a:spcPts val="1200"/>
              </a:spcBef>
              <a:spcAft>
                <a:spcPts val="0"/>
              </a:spcAft>
              <a:buNone/>
            </a:pPr>
            <a:r>
              <a:rPr lang="es" sz="1200">
                <a:solidFill>
                  <a:srgbClr val="595959"/>
                </a:solidFill>
                <a:latin typeface="Lexend"/>
                <a:ea typeface="Lexend"/>
                <a:cs typeface="Lexend"/>
                <a:sym typeface="Lexend"/>
              </a:rPr>
              <a:t>Citation:</a:t>
            </a:r>
            <a:endParaRPr sz="1200">
              <a:solidFill>
                <a:srgbClr val="595959"/>
              </a:solidFill>
              <a:latin typeface="Lexend"/>
              <a:ea typeface="Lexend"/>
              <a:cs typeface="Lexend"/>
              <a:sym typeface="Lexend"/>
            </a:endParaRPr>
          </a:p>
          <a:p>
            <a:pPr indent="0" lvl="0" marL="0" rtl="0" algn="l">
              <a:lnSpc>
                <a:spcPct val="115000"/>
              </a:lnSpc>
              <a:spcBef>
                <a:spcPts val="1200"/>
              </a:spcBef>
              <a:spcAft>
                <a:spcPts val="1200"/>
              </a:spcAft>
              <a:buClr>
                <a:schemeClr val="dk1"/>
              </a:buClr>
              <a:buSzPts val="1100"/>
              <a:buFont typeface="Arial"/>
              <a:buNone/>
            </a:pPr>
            <a:r>
              <a:rPr lang="es" sz="1150">
                <a:solidFill>
                  <a:srgbClr val="2A2A2A"/>
                </a:solidFill>
                <a:highlight>
                  <a:srgbClr val="FFFFFF"/>
                </a:highlight>
              </a:rPr>
              <a:t>Austin Himes, Barbara Muraca, Christopher B Anderson, Simone Athayde, Thomas Beery, Mariana Cantú-Fernández, David González-Jiménez, Rachelle K Gould, A P Hejnowicz, Jasper Kenter, Dominic Lenzi, Ranjini Murali, Unai Pascual, Christopher Raymond, Annalie Ring, Kurt Russo, Aibek Samakov, Sanna Stålhammar, Henrik Thorén, Egleé Zent, Why nature matters: A systematic review of intrinsic, instrumental, and relational values, </a:t>
            </a:r>
            <a:r>
              <a:rPr i="1" lang="es" sz="1150">
                <a:solidFill>
                  <a:srgbClr val="2A2A2A"/>
                </a:solidFill>
              </a:rPr>
              <a:t>BioScience</a:t>
            </a:r>
            <a:r>
              <a:rPr lang="es" sz="1150">
                <a:solidFill>
                  <a:srgbClr val="2A2A2A"/>
                </a:solidFill>
                <a:highlight>
                  <a:srgbClr val="FFFFFF"/>
                </a:highlight>
              </a:rPr>
              <a:t>, Volume 74, Issue 1, January 2024, Pages 25–43, </a:t>
            </a:r>
            <a:r>
              <a:rPr lang="es" sz="1150">
                <a:solidFill>
                  <a:srgbClr val="006FB7"/>
                </a:solidFill>
                <a:uFill>
                  <a:noFill/>
                </a:uFill>
                <a:hlinkClick r:id="rId2">
                  <a:extLst>
                    <a:ext uri="{A12FA001-AC4F-418D-AE19-62706E023703}">
                      <ahyp:hlinkClr val="tx"/>
                    </a:ext>
                  </a:extLst>
                </a:hlinkClick>
              </a:rPr>
              <a:t>https://doi.org/10.1093/biosci/biad109</a:t>
            </a:r>
            <a:endParaRPr sz="1200">
              <a:solidFill>
                <a:srgbClr val="595959"/>
              </a:solidFill>
              <a:latin typeface="Lexend"/>
              <a:ea typeface="Lexend"/>
              <a:cs typeface="Lexend"/>
              <a:sym typeface="Lexen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d88560ab7_3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d88560ab7_3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CFE2F3"/>
                </a:highlight>
              </a:rPr>
              <a:t>SASA</a:t>
            </a:r>
            <a:endParaRPr sz="1200">
              <a:solidFill>
                <a:schemeClr val="dk1"/>
              </a:solidFill>
              <a:highlight>
                <a:srgbClr val="CFE2F3"/>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s"/>
              <a:t>Indigenous </a:t>
            </a:r>
            <a:r>
              <a:rPr lang="es"/>
              <a:t>knowledge</a:t>
            </a:r>
            <a:r>
              <a:rPr lang="es"/>
              <a:t> -&gt; </a:t>
            </a:r>
            <a:r>
              <a:rPr lang="es"/>
              <a:t>reciprocal/relational relationship</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Citation: </a:t>
            </a:r>
            <a:endParaRPr/>
          </a:p>
          <a:p>
            <a:pPr indent="0" lvl="0" marL="0" rtl="0" algn="l">
              <a:spcBef>
                <a:spcPts val="0"/>
              </a:spcBef>
              <a:spcAft>
                <a:spcPts val="0"/>
              </a:spcAft>
              <a:buNone/>
            </a:pPr>
            <a:r>
              <a:t/>
            </a:r>
            <a:endParaRPr/>
          </a:p>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Kimmerer, Robin Wall. </a:t>
            </a:r>
            <a:r>
              <a:rPr i="1" lang="es" sz="1200">
                <a:solidFill>
                  <a:schemeClr val="dk1"/>
                </a:solidFill>
                <a:latin typeface="Times New Roman"/>
                <a:ea typeface="Times New Roman"/>
                <a:cs typeface="Times New Roman"/>
                <a:sym typeface="Times New Roman"/>
              </a:rPr>
              <a:t>Braiding Sweetgrass</a:t>
            </a:r>
            <a:r>
              <a:rPr lang="es" sz="1200">
                <a:solidFill>
                  <a:schemeClr val="dk1"/>
                </a:solidFill>
                <a:latin typeface="Times New Roman"/>
                <a:ea typeface="Times New Roman"/>
                <a:cs typeface="Times New Roman"/>
                <a:sym typeface="Times New Roman"/>
              </a:rPr>
              <a:t>. </a:t>
            </a:r>
            <a:r>
              <a:rPr i="1" lang="es" sz="1200">
                <a:solidFill>
                  <a:schemeClr val="dk1"/>
                </a:solidFill>
                <a:latin typeface="Times New Roman"/>
                <a:ea typeface="Times New Roman"/>
                <a:cs typeface="Times New Roman"/>
                <a:sym typeface="Times New Roman"/>
              </a:rPr>
              <a:t>Braiding Sweetgrass: Indigenous Wisdom, Scientific Knowledge and the Teachings of Plants</a:t>
            </a:r>
            <a:r>
              <a:rPr lang="es" sz="1200">
                <a:solidFill>
                  <a:schemeClr val="dk1"/>
                </a:solidFill>
                <a:latin typeface="Times New Roman"/>
                <a:ea typeface="Times New Roman"/>
                <a:cs typeface="Times New Roman"/>
                <a:sym typeface="Times New Roman"/>
              </a:rPr>
              <a:t>, Minneapolis, Minnesota, Milkweed Editions, 2013.</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Roué, Marie, and Zsolt Molnar. </a:t>
            </a:r>
            <a:r>
              <a:rPr i="1" lang="es" sz="1200">
                <a:solidFill>
                  <a:schemeClr val="dk1"/>
                </a:solidFill>
                <a:latin typeface="Times New Roman"/>
                <a:ea typeface="Times New Roman"/>
                <a:cs typeface="Times New Roman"/>
                <a:sym typeface="Times New Roman"/>
              </a:rPr>
              <a:t>Knowing Our Lands and Resources</a:t>
            </a:r>
            <a:r>
              <a:rPr lang="es" sz="1200">
                <a:solidFill>
                  <a:schemeClr val="dk1"/>
                </a:solidFill>
                <a:latin typeface="Times New Roman"/>
                <a:ea typeface="Times New Roman"/>
                <a:cs typeface="Times New Roman"/>
                <a:sym typeface="Times New Roman"/>
              </a:rPr>
              <a:t>. UNESCO Publishing, 3 Apr. 2017.</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d88560ab7_3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d88560ab7_3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CFE2F3"/>
                </a:highlight>
              </a:rPr>
              <a:t>SASA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Invaluable contribution of local knowledge to data </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s" sz="1150" u="sng">
                <a:solidFill>
                  <a:schemeClr val="dk1"/>
                </a:solidFill>
                <a:latin typeface="Times New Roman"/>
                <a:ea typeface="Times New Roman"/>
                <a:cs typeface="Times New Roman"/>
                <a:sym typeface="Times New Roman"/>
              </a:rPr>
              <a:t>Hungarian herder ecological knowledge</a:t>
            </a:r>
            <a:endParaRPr sz="1150" u="sng">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deep ecological </a:t>
            </a:r>
            <a:r>
              <a:rPr lang="es" sz="1150">
                <a:solidFill>
                  <a:schemeClr val="dk1"/>
                </a:solidFill>
                <a:latin typeface="Times New Roman"/>
                <a:ea typeface="Times New Roman"/>
                <a:cs typeface="Times New Roman"/>
                <a:sym typeface="Times New Roman"/>
              </a:rPr>
              <a:t>knowledge</a:t>
            </a:r>
            <a:r>
              <a:rPr lang="es" sz="1150">
                <a:solidFill>
                  <a:schemeClr val="dk1"/>
                </a:solidFill>
                <a:latin typeface="Times New Roman"/>
                <a:ea typeface="Times New Roman"/>
                <a:cs typeface="Times New Roman"/>
                <a:sym typeface="Times New Roman"/>
              </a:rPr>
              <a:t> about nature -&gt; local habitat needs and biological properties of local organisms</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Effectively utilize and preserve and increase productivity of grasslands + restore degraded areas, contribute to survival of bird and plant species</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Shrubs,  pioneer  forests and  invasive  species  may  outcompete  threatened  species  from  areas  where  grazing  has  been abandoned.</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preserving </a:t>
            </a:r>
            <a:r>
              <a:rPr lang="es" sz="1150">
                <a:solidFill>
                  <a:schemeClr val="dk1"/>
                </a:solidFill>
                <a:latin typeface="Times New Roman"/>
                <a:ea typeface="Times New Roman"/>
                <a:cs typeface="Times New Roman"/>
                <a:sym typeface="Times New Roman"/>
              </a:rPr>
              <a:t>culture</a:t>
            </a:r>
            <a:r>
              <a:rPr lang="es" sz="1150">
                <a:solidFill>
                  <a:schemeClr val="dk1"/>
                </a:solidFill>
                <a:latin typeface="Times New Roman"/>
                <a:ea typeface="Times New Roman"/>
                <a:cs typeface="Times New Roman"/>
                <a:sym typeface="Times New Roman"/>
              </a:rPr>
              <a:t> and adapting new practices, sustainable use of ecosystem services and preserving biodiversity, while producing quality meat products</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Preservation of grassland diversity and ecosystem services</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Ecological herder job developed</a:t>
            </a:r>
            <a:endParaRPr sz="115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5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s" sz="1150" u="sng">
                <a:solidFill>
                  <a:schemeClr val="dk1"/>
                </a:solidFill>
                <a:latin typeface="Times New Roman"/>
                <a:ea typeface="Times New Roman"/>
                <a:cs typeface="Times New Roman"/>
                <a:sym typeface="Times New Roman"/>
              </a:rPr>
              <a:t>Ukrainian</a:t>
            </a:r>
            <a:r>
              <a:rPr lang="es" sz="1150" u="sng">
                <a:solidFill>
                  <a:schemeClr val="dk1"/>
                </a:solidFill>
                <a:latin typeface="Times New Roman"/>
                <a:ea typeface="Times New Roman"/>
                <a:cs typeface="Times New Roman"/>
                <a:sym typeface="Times New Roman"/>
              </a:rPr>
              <a:t> forest </a:t>
            </a:r>
            <a:r>
              <a:rPr lang="es" sz="1150" u="sng">
                <a:solidFill>
                  <a:schemeClr val="dk1"/>
                </a:solidFill>
                <a:latin typeface="Times New Roman"/>
                <a:ea typeface="Times New Roman"/>
                <a:cs typeface="Times New Roman"/>
                <a:sym typeface="Times New Roman"/>
              </a:rPr>
              <a:t>knowledge</a:t>
            </a:r>
            <a:endParaRPr sz="1150" u="sng">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forest resources are the livelihood of local community, locals understand the ecosystem services and biodiversity</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“Local  foresters  and  rangers  recognise  and  give  explanations  to  the  structural  and </a:t>
            </a:r>
            <a:endParaRPr sz="115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s" sz="1150">
                <a:solidFill>
                  <a:schemeClr val="dk1"/>
                </a:solidFill>
                <a:latin typeface="Times New Roman"/>
                <a:ea typeface="Times New Roman"/>
                <a:cs typeface="Times New Roman"/>
                <a:sym typeface="Times New Roman"/>
              </a:rPr>
              <a:t>species  compositional  changes  (proportion  of  mixture  species,  spread  of  invasive  species,  etc.) occurring in the forest, and their natural (e.g. climate change) and social-economic (migration, economic recession, etc.) driving forces.”</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“The local forester, under the influence of his traditional and  scientific  worldview  about  the  forest,  makes  his  decisions  often  as  a  kind  of  “resiliency manager”,  keeping  in  mind  the  interests  of  the  state,  the  forest  and  the  local  population.”</a:t>
            </a:r>
            <a:endParaRPr sz="1150">
              <a:solidFill>
                <a:schemeClr val="dk1"/>
              </a:solidFill>
              <a:latin typeface="Times New Roman"/>
              <a:ea typeface="Times New Roman"/>
              <a:cs typeface="Times New Roman"/>
              <a:sym typeface="Times New Roman"/>
            </a:endParaRPr>
          </a:p>
          <a:p>
            <a:pPr indent="-301625" lvl="0" marL="457200" rtl="0" algn="l">
              <a:lnSpc>
                <a:spcPct val="115000"/>
              </a:lnSpc>
              <a:spcBef>
                <a:spcPts val="0"/>
              </a:spcBef>
              <a:spcAft>
                <a:spcPts val="0"/>
              </a:spcAft>
              <a:buClr>
                <a:schemeClr val="dk1"/>
              </a:buClr>
              <a:buSzPts val="1150"/>
              <a:buFont typeface="Times New Roman"/>
              <a:buChar char="-"/>
            </a:pPr>
            <a:r>
              <a:rPr lang="es" sz="1150">
                <a:solidFill>
                  <a:schemeClr val="dk1"/>
                </a:solidFill>
                <a:latin typeface="Times New Roman"/>
                <a:ea typeface="Times New Roman"/>
                <a:cs typeface="Times New Roman"/>
                <a:sym typeface="Times New Roman"/>
              </a:rPr>
              <a:t>reforming the forestry sector to involve local communities in decisions about forest </a:t>
            </a:r>
            <a:r>
              <a:rPr lang="es" sz="1150">
                <a:solidFill>
                  <a:schemeClr val="dk1"/>
                </a:solidFill>
                <a:latin typeface="Times New Roman"/>
                <a:ea typeface="Times New Roman"/>
                <a:cs typeface="Times New Roman"/>
                <a:sym typeface="Times New Roman"/>
              </a:rPr>
              <a:t>management</a:t>
            </a:r>
            <a:r>
              <a:rPr lang="es" sz="1150">
                <a:solidFill>
                  <a:schemeClr val="dk1"/>
                </a:solidFill>
                <a:latin typeface="Times New Roman"/>
                <a:ea typeface="Times New Roman"/>
                <a:cs typeface="Times New Roman"/>
                <a:sym typeface="Times New Roman"/>
              </a:rPr>
              <a:t> </a:t>
            </a:r>
            <a:endParaRPr sz="115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5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5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s" sz="1150">
                <a:solidFill>
                  <a:schemeClr val="dk1"/>
                </a:solidFill>
                <a:latin typeface="Times New Roman"/>
                <a:ea typeface="Times New Roman"/>
                <a:cs typeface="Times New Roman"/>
                <a:sym typeface="Times New Roman"/>
              </a:rPr>
              <a:t> </a:t>
            </a:r>
            <a:endParaRPr sz="115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Citation: </a:t>
            </a:r>
            <a:endParaRPr/>
          </a:p>
          <a:p>
            <a:pPr indent="0" lvl="0" marL="0" rtl="0" algn="l">
              <a:spcBef>
                <a:spcPts val="0"/>
              </a:spcBef>
              <a:spcAft>
                <a:spcPts val="0"/>
              </a:spcAft>
              <a:buNone/>
            </a:pPr>
            <a:r>
              <a:t/>
            </a:r>
            <a:endParaRPr/>
          </a:p>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Kimmerer, Robin Wall. </a:t>
            </a:r>
            <a:r>
              <a:rPr i="1" lang="es" sz="1200">
                <a:solidFill>
                  <a:schemeClr val="dk1"/>
                </a:solidFill>
                <a:latin typeface="Times New Roman"/>
                <a:ea typeface="Times New Roman"/>
                <a:cs typeface="Times New Roman"/>
                <a:sym typeface="Times New Roman"/>
              </a:rPr>
              <a:t>Braiding Sweetgrass</a:t>
            </a:r>
            <a:r>
              <a:rPr lang="es" sz="1200">
                <a:solidFill>
                  <a:schemeClr val="dk1"/>
                </a:solidFill>
                <a:latin typeface="Times New Roman"/>
                <a:ea typeface="Times New Roman"/>
                <a:cs typeface="Times New Roman"/>
                <a:sym typeface="Times New Roman"/>
              </a:rPr>
              <a:t>. </a:t>
            </a:r>
            <a:r>
              <a:rPr i="1" lang="es" sz="1200">
                <a:solidFill>
                  <a:schemeClr val="dk1"/>
                </a:solidFill>
                <a:latin typeface="Times New Roman"/>
                <a:ea typeface="Times New Roman"/>
                <a:cs typeface="Times New Roman"/>
                <a:sym typeface="Times New Roman"/>
              </a:rPr>
              <a:t>Braiding Sweetgrass: Indigenous Wisdom, Scientific Knowledge and the Teachings of Plants</a:t>
            </a:r>
            <a:r>
              <a:rPr lang="es" sz="1200">
                <a:solidFill>
                  <a:schemeClr val="dk1"/>
                </a:solidFill>
                <a:latin typeface="Times New Roman"/>
                <a:ea typeface="Times New Roman"/>
                <a:cs typeface="Times New Roman"/>
                <a:sym typeface="Times New Roman"/>
              </a:rPr>
              <a:t>, Minneapolis, Minnesota, Milkweed Editions, 2013.</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Roué, Marie, and Zsolt Molnar. </a:t>
            </a:r>
            <a:r>
              <a:rPr i="1" lang="es" sz="1200">
                <a:solidFill>
                  <a:schemeClr val="dk1"/>
                </a:solidFill>
                <a:latin typeface="Times New Roman"/>
                <a:ea typeface="Times New Roman"/>
                <a:cs typeface="Times New Roman"/>
                <a:sym typeface="Times New Roman"/>
              </a:rPr>
              <a:t>Knowing Our Lands and Resources</a:t>
            </a:r>
            <a:r>
              <a:rPr lang="es" sz="1200">
                <a:solidFill>
                  <a:schemeClr val="dk1"/>
                </a:solidFill>
                <a:latin typeface="Times New Roman"/>
                <a:ea typeface="Times New Roman"/>
                <a:cs typeface="Times New Roman"/>
                <a:sym typeface="Times New Roman"/>
              </a:rPr>
              <a:t>. UNESCO Publishing, 3 Apr. 2017.</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d88560ab7_3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d88560ab7_3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CFE2F3"/>
                </a:highlight>
              </a:rPr>
              <a:t>SASA</a:t>
            </a:r>
            <a:endParaRPr sz="1200">
              <a:solidFill>
                <a:schemeClr val="dk1"/>
              </a:solidFill>
              <a:highlight>
                <a:srgbClr val="CFE2F3"/>
              </a:highlight>
            </a:endParaRPr>
          </a:p>
          <a:p>
            <a:pPr indent="0" lvl="0" marL="0" rtl="0" algn="l">
              <a:spcBef>
                <a:spcPts val="0"/>
              </a:spcBef>
              <a:spcAft>
                <a:spcPts val="0"/>
              </a:spcAft>
              <a:buNone/>
            </a:pPr>
            <a:r>
              <a:t/>
            </a:r>
            <a:endParaRPr sz="1200">
              <a:solidFill>
                <a:schemeClr val="dk1"/>
              </a:solidFill>
              <a:highlight>
                <a:srgbClr val="CFE2F3"/>
              </a:highlight>
            </a:endParaRPr>
          </a:p>
          <a:p>
            <a:pPr indent="-304800" lvl="0" marL="457200" rtl="0" algn="l">
              <a:lnSpc>
                <a:spcPct val="115000"/>
              </a:lnSpc>
              <a:spcBef>
                <a:spcPts val="0"/>
              </a:spcBef>
              <a:spcAft>
                <a:spcPts val="0"/>
              </a:spcAft>
              <a:buClr>
                <a:schemeClr val="dk1"/>
              </a:buClr>
              <a:buSzPts val="1200"/>
              <a:buChar char="-"/>
            </a:pPr>
            <a:r>
              <a:rPr lang="es" sz="1200">
                <a:solidFill>
                  <a:schemeClr val="dk1"/>
                </a:solidFill>
              </a:rPr>
              <a:t>Multiple worldviews and diverse expression, like aichi targets, show how inclusive framings improve political legitimacy and implementation of international objectives.</a:t>
            </a:r>
            <a:endParaRPr sz="1200">
              <a:solidFill>
                <a:schemeClr val="dk1"/>
              </a:solidFill>
            </a:endParaRPr>
          </a:p>
          <a:p>
            <a:pPr indent="0" lvl="0" marL="45720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s" sz="1200">
                <a:solidFill>
                  <a:srgbClr val="212529"/>
                </a:solidFill>
              </a:rPr>
              <a:t>20 targets set by UN convention of biodiversity to address and mitigate biodiversity loss. (2011) Working to meet five overarching goals </a:t>
            </a:r>
            <a:endParaRPr sz="1200">
              <a:solidFill>
                <a:srgbClr val="212529"/>
              </a:solidFill>
            </a:endParaRPr>
          </a:p>
          <a:p>
            <a:pPr indent="-304800" lvl="0" marL="457200" rtl="0" algn="l">
              <a:lnSpc>
                <a:spcPct val="115000"/>
              </a:lnSpc>
              <a:spcBef>
                <a:spcPts val="1200"/>
              </a:spcBef>
              <a:spcAft>
                <a:spcPts val="0"/>
              </a:spcAft>
              <a:buClr>
                <a:srgbClr val="212529"/>
              </a:buClr>
              <a:buSzPts val="1200"/>
              <a:buAutoNum type="arabicPeriod"/>
            </a:pPr>
            <a:r>
              <a:rPr lang="es" sz="1200">
                <a:solidFill>
                  <a:srgbClr val="212529"/>
                </a:solidFill>
              </a:rPr>
              <a:t>Address underlying causes in order to prioritize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education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local development and poverty reduction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harms eliminated and positive incentives promoted in policy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sustainable production and consumption </a:t>
            </a:r>
            <a:endParaRPr sz="1200">
              <a:solidFill>
                <a:srgbClr val="212529"/>
              </a:solidFill>
            </a:endParaRPr>
          </a:p>
          <a:p>
            <a:pPr indent="-304800" lvl="0" marL="457200" rtl="0" algn="l">
              <a:lnSpc>
                <a:spcPct val="115000"/>
              </a:lnSpc>
              <a:spcBef>
                <a:spcPts val="0"/>
              </a:spcBef>
              <a:spcAft>
                <a:spcPts val="0"/>
              </a:spcAft>
              <a:buClr>
                <a:srgbClr val="212529"/>
              </a:buClr>
              <a:buSzPts val="1200"/>
              <a:buAutoNum type="arabicPeriod"/>
            </a:pPr>
            <a:r>
              <a:rPr lang="es" sz="1200">
                <a:solidFill>
                  <a:srgbClr val="212529"/>
                </a:solidFill>
              </a:rPr>
              <a:t>Reduce direct pressures and promote sustainable use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Reduce natural habitat loss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Sustainable fish and invertebrate stocks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Sustainable agriculture, aquaculture, and forestry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Pollution decreased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Invasive species under control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Coral reefs/valuable ecosystems protected </a:t>
            </a:r>
            <a:endParaRPr sz="1200">
              <a:solidFill>
                <a:srgbClr val="212529"/>
              </a:solidFill>
            </a:endParaRPr>
          </a:p>
          <a:p>
            <a:pPr indent="-304800" lvl="0" marL="457200" rtl="0" algn="l">
              <a:lnSpc>
                <a:spcPct val="115000"/>
              </a:lnSpc>
              <a:spcBef>
                <a:spcPts val="0"/>
              </a:spcBef>
              <a:spcAft>
                <a:spcPts val="0"/>
              </a:spcAft>
              <a:buClr>
                <a:srgbClr val="212529"/>
              </a:buClr>
              <a:buSzPts val="1200"/>
              <a:buAutoNum type="arabicPeriod"/>
            </a:pPr>
            <a:r>
              <a:rPr lang="es" sz="1200">
                <a:solidFill>
                  <a:srgbClr val="212529"/>
                </a:solidFill>
              </a:rPr>
              <a:t>Safeguard ecosystems, species and diversity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Protected landscapes and Seascapes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Prevent extinction of threatened species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Genetic diversity of plants and animals sustained </a:t>
            </a:r>
            <a:endParaRPr sz="1200">
              <a:solidFill>
                <a:srgbClr val="212529"/>
              </a:solidFill>
            </a:endParaRPr>
          </a:p>
          <a:p>
            <a:pPr indent="-304800" lvl="0" marL="457200" rtl="0" algn="l">
              <a:lnSpc>
                <a:spcPct val="115000"/>
              </a:lnSpc>
              <a:spcBef>
                <a:spcPts val="0"/>
              </a:spcBef>
              <a:spcAft>
                <a:spcPts val="0"/>
              </a:spcAft>
              <a:buClr>
                <a:srgbClr val="212529"/>
              </a:buClr>
              <a:buSzPts val="1200"/>
              <a:buAutoNum type="arabicPeriod"/>
            </a:pPr>
            <a:r>
              <a:rPr lang="es" sz="1200">
                <a:solidFill>
                  <a:srgbClr val="212529"/>
                </a:solidFill>
              </a:rPr>
              <a:t>Highlight and improve benefits from ecosystem services</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restore and safeguard ecosystems that provide essential services</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climate change mitigation through ecosystem resilience and contributions to biodiversity</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genetic resources  </a:t>
            </a:r>
            <a:endParaRPr sz="1200">
              <a:solidFill>
                <a:srgbClr val="212529"/>
              </a:solidFill>
            </a:endParaRPr>
          </a:p>
          <a:p>
            <a:pPr indent="-304800" lvl="0" marL="457200" rtl="0" algn="l">
              <a:lnSpc>
                <a:spcPct val="115000"/>
              </a:lnSpc>
              <a:spcBef>
                <a:spcPts val="0"/>
              </a:spcBef>
              <a:spcAft>
                <a:spcPts val="0"/>
              </a:spcAft>
              <a:buClr>
                <a:srgbClr val="212529"/>
              </a:buClr>
              <a:buSzPts val="1200"/>
              <a:buAutoNum type="arabicPeriod"/>
            </a:pPr>
            <a:r>
              <a:rPr lang="es" sz="1200">
                <a:solidFill>
                  <a:srgbClr val="212529"/>
                </a:solidFill>
              </a:rPr>
              <a:t>Expand knowledge management and capacity building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Biodiversity strategy and action plan</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Participation of local and global communities</a:t>
            </a:r>
            <a:endParaRPr sz="1200">
              <a:solidFill>
                <a:srgbClr val="212529"/>
              </a:solidFill>
            </a:endParaRPr>
          </a:p>
          <a:p>
            <a:pPr indent="0" lvl="0" marL="0" rtl="0" algn="l">
              <a:lnSpc>
                <a:spcPct val="115000"/>
              </a:lnSpc>
              <a:spcBef>
                <a:spcPts val="1200"/>
              </a:spcBef>
              <a:spcAft>
                <a:spcPts val="0"/>
              </a:spcAft>
              <a:buNone/>
            </a:pPr>
            <a:r>
              <a:rPr lang="es" sz="1200">
                <a:solidFill>
                  <a:srgbClr val="212529"/>
                </a:solidFill>
              </a:rPr>
              <a:t>Extinction rates are rapidly increasing-1 million currently at risk, never been higher and it’s due to our activity that affects habitats. </a:t>
            </a:r>
            <a:endParaRPr sz="1200">
              <a:solidFill>
                <a:srgbClr val="212529"/>
              </a:solidFill>
            </a:endParaRPr>
          </a:p>
          <a:p>
            <a:pPr indent="0" lvl="0" marL="0" rtl="0" algn="l">
              <a:lnSpc>
                <a:spcPct val="115000"/>
              </a:lnSpc>
              <a:spcBef>
                <a:spcPts val="800"/>
              </a:spcBef>
              <a:spcAft>
                <a:spcPts val="0"/>
              </a:spcAft>
              <a:buNone/>
            </a:pPr>
            <a:r>
              <a:rPr lang="es" sz="1200">
                <a:solidFill>
                  <a:srgbClr val="212529"/>
                </a:solidFill>
              </a:rPr>
              <a:t>Some targets were set for 2015, others for 2020, the key summit to review the targets was pushed back due to covid so the review was not conducted until October 2021. </a:t>
            </a:r>
            <a:endParaRPr sz="1200">
              <a:solidFill>
                <a:srgbClr val="212529"/>
              </a:solidFill>
            </a:endParaRPr>
          </a:p>
          <a:p>
            <a:pPr indent="0" lvl="0" marL="0" rtl="0" algn="l">
              <a:lnSpc>
                <a:spcPct val="115000"/>
              </a:lnSpc>
              <a:spcBef>
                <a:spcPts val="800"/>
              </a:spcBef>
              <a:spcAft>
                <a:spcPts val="0"/>
              </a:spcAft>
              <a:buNone/>
            </a:pPr>
            <a:r>
              <a:rPr lang="es" sz="1200">
                <a:solidFill>
                  <a:srgbClr val="212529"/>
                </a:solidFill>
              </a:rPr>
              <a:t>Progress: 44% of biodiverse areas are now protected, which is an increase from the 29% in 2000, in addition 200 invasive species have been able to be eradicated. </a:t>
            </a:r>
            <a:endParaRPr sz="1200">
              <a:solidFill>
                <a:srgbClr val="212529"/>
              </a:solidFill>
            </a:endParaRPr>
          </a:p>
          <a:p>
            <a:pPr indent="0" lvl="0" marL="0" rtl="0" algn="l">
              <a:spcBef>
                <a:spcPts val="800"/>
              </a:spcBef>
              <a:spcAft>
                <a:spcPts val="0"/>
              </a:spcAft>
              <a:buNone/>
            </a:pPr>
            <a:r>
              <a:t/>
            </a:r>
            <a:endParaRPr sz="1200">
              <a:solidFill>
                <a:schemeClr val="dk1"/>
              </a:solidFill>
              <a:highlight>
                <a:srgbClr val="CFE2F3"/>
              </a:highlight>
            </a:endParaRPr>
          </a:p>
          <a:p>
            <a:pPr indent="0" lvl="0" marL="0" rtl="0" algn="l">
              <a:spcBef>
                <a:spcPts val="0"/>
              </a:spcBef>
              <a:spcAft>
                <a:spcPts val="0"/>
              </a:spcAft>
              <a:buNone/>
            </a:pPr>
            <a:r>
              <a:rPr lang="es" sz="1200">
                <a:solidFill>
                  <a:schemeClr val="dk1"/>
                </a:solidFill>
              </a:rPr>
              <a:t>Citations:</a:t>
            </a:r>
            <a:endParaRPr sz="1200">
              <a:solidFill>
                <a:schemeClr val="dk1"/>
              </a:solidFill>
            </a:endParaRPr>
          </a:p>
          <a:p>
            <a:pPr indent="-457200" lvl="0" marL="45720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Lai, Olivia. “What Are the Aichi Biodiversity Targets?” </a:t>
            </a:r>
            <a:r>
              <a:rPr i="1" lang="es" sz="1200">
                <a:solidFill>
                  <a:schemeClr val="dk1"/>
                </a:solidFill>
                <a:latin typeface="Times New Roman"/>
                <a:ea typeface="Times New Roman"/>
                <a:cs typeface="Times New Roman"/>
                <a:sym typeface="Times New Roman"/>
              </a:rPr>
              <a:t>Earth.org - Past | Present | Future</a:t>
            </a:r>
            <a:r>
              <a:rPr lang="es" sz="1200">
                <a:solidFill>
                  <a:schemeClr val="dk1"/>
                </a:solidFill>
                <a:latin typeface="Times New Roman"/>
                <a:ea typeface="Times New Roman"/>
                <a:cs typeface="Times New Roman"/>
                <a:sym typeface="Times New Roman"/>
              </a:rPr>
              <a:t>, 11 Oct. 2021, earth.org/what-are-the-aichi-biodiversity-targets/.</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t/>
            </a: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acb6c2cf2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acb6c2cf2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rgbClr val="F4CCCC"/>
                </a:highlight>
              </a:rPr>
              <a:t>HAO</a:t>
            </a:r>
            <a:endParaRPr sz="1500">
              <a:solidFill>
                <a:schemeClr val="dk1"/>
              </a:solidFill>
              <a:highlight>
                <a:schemeClr val="lt1"/>
              </a:highlight>
            </a:endParaRPr>
          </a:p>
          <a:p>
            <a:pPr indent="0" lvl="0" marL="0" rtl="0" algn="l">
              <a:lnSpc>
                <a:spcPct val="115000"/>
              </a:lnSpc>
              <a:spcBef>
                <a:spcPts val="0"/>
              </a:spcBef>
              <a:spcAft>
                <a:spcPts val="0"/>
              </a:spcAft>
              <a:buNone/>
            </a:pPr>
            <a:r>
              <a:t/>
            </a:r>
            <a:endParaRPr sz="1500">
              <a:solidFill>
                <a:schemeClr val="dk1"/>
              </a:solidFill>
              <a:highlight>
                <a:schemeClr val="lt1"/>
              </a:highlight>
            </a:endParaRPr>
          </a:p>
          <a:p>
            <a:pPr indent="0" lvl="0" marL="0" rtl="0" algn="l">
              <a:lnSpc>
                <a:spcPct val="115000"/>
              </a:lnSpc>
              <a:spcBef>
                <a:spcPts val="0"/>
              </a:spcBef>
              <a:spcAft>
                <a:spcPts val="0"/>
              </a:spcAft>
              <a:buNone/>
            </a:pPr>
            <a:r>
              <a:rPr lang="es" sz="1500">
                <a:solidFill>
                  <a:schemeClr val="dk1"/>
                </a:solidFill>
                <a:highlight>
                  <a:schemeClr val="lt1"/>
                </a:highlight>
              </a:rPr>
              <a:t>1997:</a:t>
            </a:r>
            <a:endParaRPr sz="1500">
              <a:solidFill>
                <a:schemeClr val="dk1"/>
              </a:solidFill>
              <a:highlight>
                <a:schemeClr val="lt1"/>
              </a:highlight>
            </a:endParaRPr>
          </a:p>
          <a:p>
            <a:pPr indent="0" lvl="0" marL="0" rtl="0" algn="l">
              <a:lnSpc>
                <a:spcPct val="115000"/>
              </a:lnSpc>
              <a:spcBef>
                <a:spcPts val="0"/>
              </a:spcBef>
              <a:spcAft>
                <a:spcPts val="0"/>
              </a:spcAft>
              <a:buNone/>
            </a:pPr>
            <a:r>
              <a:rPr lang="es" sz="1500">
                <a:solidFill>
                  <a:schemeClr val="dk1"/>
                </a:solidFill>
                <a:highlight>
                  <a:schemeClr val="lt1"/>
                </a:highlight>
              </a:rPr>
              <a:t>Stock and flow, mutual alienation of certain perspectives, voluntary self exclusion leading to less perspectives. </a:t>
            </a:r>
            <a:endParaRPr sz="1500">
              <a:solidFill>
                <a:schemeClr val="dk1"/>
              </a:solidFill>
              <a:highlight>
                <a:schemeClr val="lt1"/>
              </a:highlight>
            </a:endParaRPr>
          </a:p>
          <a:p>
            <a:pPr indent="0" lvl="0" marL="0" rtl="0" algn="l">
              <a:lnSpc>
                <a:spcPct val="115000"/>
              </a:lnSpc>
              <a:spcBef>
                <a:spcPts val="0"/>
              </a:spcBef>
              <a:spcAft>
                <a:spcPts val="0"/>
              </a:spcAft>
              <a:buClr>
                <a:schemeClr val="dk1"/>
              </a:buClr>
              <a:buSzPts val="1100"/>
              <a:buFont typeface="Arial"/>
              <a:buNone/>
            </a:pPr>
            <a:r>
              <a:rPr lang="es" sz="1200">
                <a:solidFill>
                  <a:schemeClr val="dk1"/>
                </a:solidFill>
              </a:rPr>
              <a:t>Natural</a:t>
            </a:r>
            <a:r>
              <a:rPr lang="es" sz="1200">
                <a:solidFill>
                  <a:schemeClr val="dk1"/>
                </a:solidFill>
              </a:rPr>
              <a:t> sciences- ecological production function to determine supply of services as flows from ecosystems </a:t>
            </a:r>
            <a:endParaRPr sz="1200">
              <a:solidFill>
                <a:schemeClr val="dk1"/>
              </a:solidFill>
            </a:endParaRPr>
          </a:p>
          <a:p>
            <a:pPr indent="0" lvl="0" marL="0" rtl="0" algn="l">
              <a:lnSpc>
                <a:spcPct val="115000"/>
              </a:lnSpc>
              <a:spcBef>
                <a:spcPts val="800"/>
              </a:spcBef>
              <a:spcAft>
                <a:spcPts val="0"/>
              </a:spcAft>
              <a:buNone/>
            </a:pPr>
            <a:r>
              <a:rPr lang="es" sz="1200">
                <a:solidFill>
                  <a:schemeClr val="dk1"/>
                </a:solidFill>
              </a:rPr>
              <a:t>Economics- monetary value to ecosystem services, identify trade-offs and impact on well-being </a:t>
            </a:r>
            <a:endParaRPr sz="1200">
              <a:solidFill>
                <a:schemeClr val="dk1"/>
              </a:solidFill>
            </a:endParaRPr>
          </a:p>
          <a:p>
            <a:pPr indent="0" lvl="0" marL="0" rtl="0" algn="l">
              <a:lnSpc>
                <a:spcPct val="115000"/>
              </a:lnSpc>
              <a:spcBef>
                <a:spcPts val="800"/>
              </a:spcBef>
              <a:spcAft>
                <a:spcPts val="0"/>
              </a:spcAft>
              <a:buNone/>
            </a:pPr>
            <a:r>
              <a:rPr lang="es" sz="1200">
                <a:solidFill>
                  <a:schemeClr val="dk1"/>
                </a:solidFill>
              </a:rPr>
              <a:t>Pushback due to concerns about the commodification of nature and Social Equity.</a:t>
            </a:r>
            <a:endParaRPr sz="1200">
              <a:solidFill>
                <a:schemeClr val="dk1"/>
              </a:solidFill>
            </a:endParaRPr>
          </a:p>
          <a:p>
            <a:pPr indent="0" lvl="0" marL="0" rtl="0" algn="l">
              <a:lnSpc>
                <a:spcPct val="115000"/>
              </a:lnSpc>
              <a:spcBef>
                <a:spcPts val="800"/>
              </a:spcBef>
              <a:spcAft>
                <a:spcPts val="0"/>
              </a:spcAft>
              <a:buNone/>
            </a:pPr>
            <a:r>
              <a:rPr lang="es" sz="1200">
                <a:solidFill>
                  <a:schemeClr val="dk1"/>
                </a:solidFill>
              </a:rPr>
              <a:t>More Narrow, market based</a:t>
            </a:r>
            <a:endParaRPr sz="1200">
              <a:solidFill>
                <a:schemeClr val="dk1"/>
              </a:solidFill>
            </a:endParaRPr>
          </a:p>
          <a:p>
            <a:pPr indent="0" lvl="0" marL="0" rtl="0" algn="l">
              <a:lnSpc>
                <a:spcPct val="115000"/>
              </a:lnSpc>
              <a:spcBef>
                <a:spcPts val="800"/>
              </a:spcBef>
              <a:spcAft>
                <a:spcPts val="0"/>
              </a:spcAft>
              <a:buNone/>
            </a:pPr>
            <a:r>
              <a:rPr lang="es" sz="1200">
                <a:solidFill>
                  <a:schemeClr val="dk1"/>
                </a:solidFill>
              </a:rPr>
              <a:t>2018:</a:t>
            </a:r>
            <a:endParaRPr sz="1200">
              <a:solidFill>
                <a:schemeClr val="dk1"/>
              </a:solidFill>
            </a:endParaRPr>
          </a:p>
          <a:p>
            <a:pPr indent="0" lvl="0" marL="0" rtl="0" algn="l">
              <a:lnSpc>
                <a:spcPct val="115000"/>
              </a:lnSpc>
              <a:spcBef>
                <a:spcPts val="800"/>
              </a:spcBef>
              <a:spcAft>
                <a:spcPts val="0"/>
              </a:spcAft>
              <a:buNone/>
            </a:pPr>
            <a:r>
              <a:rPr lang="es" sz="1200">
                <a:solidFill>
                  <a:schemeClr val="dk1"/>
                </a:solidFill>
              </a:rPr>
              <a:t>Social Science and humanities: Local and indigenous knowledge </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s" sz="1200">
                <a:solidFill>
                  <a:schemeClr val="dk1"/>
                </a:solidFill>
              </a:rPr>
              <a:t>Inclusive in terms of knowledge and representation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t/>
            </a:r>
            <a:endParaRPr sz="1500">
              <a:solidFill>
                <a:schemeClr val="dk1"/>
              </a:solidFill>
              <a:highlight>
                <a:schemeClr val="lt1"/>
              </a:highlight>
            </a:endParaRPr>
          </a:p>
          <a:p>
            <a:pPr indent="0" lvl="0" marL="0" rtl="0" algn="l">
              <a:lnSpc>
                <a:spcPct val="115000"/>
              </a:lnSpc>
              <a:spcBef>
                <a:spcPts val="0"/>
              </a:spcBef>
              <a:spcAft>
                <a:spcPts val="0"/>
              </a:spcAft>
              <a:buNone/>
            </a:pPr>
            <a:r>
              <a:t/>
            </a:r>
            <a:endParaRPr sz="1500">
              <a:solidFill>
                <a:schemeClr val="dk1"/>
              </a:solidFill>
              <a:highlight>
                <a:schemeClr val="lt1"/>
              </a:highlight>
            </a:endParaRPr>
          </a:p>
          <a:p>
            <a:pPr indent="0" lvl="0" marL="0" rtl="0" algn="l">
              <a:lnSpc>
                <a:spcPct val="115000"/>
              </a:lnSpc>
              <a:spcBef>
                <a:spcPts val="0"/>
              </a:spcBef>
              <a:spcAft>
                <a:spcPts val="0"/>
              </a:spcAft>
              <a:buNone/>
            </a:pPr>
            <a:r>
              <a:rPr lang="es" sz="1500">
                <a:solidFill>
                  <a:schemeClr val="dk1"/>
                </a:solidFill>
                <a:highlight>
                  <a:schemeClr val="lt1"/>
                </a:highlight>
              </a:rPr>
              <a:t>Citations:</a:t>
            </a:r>
            <a:endParaRPr sz="1500">
              <a:solidFill>
                <a:schemeClr val="dk1"/>
              </a:solidFill>
              <a:highlight>
                <a:schemeClr val="lt1"/>
              </a:highlight>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Costanza, Robert, et al. “The Value of the World’s Ecosystem Services and Natural Capital.” </a:t>
            </a:r>
            <a:r>
              <a:rPr i="1" lang="es" sz="1200">
                <a:solidFill>
                  <a:schemeClr val="dk1"/>
                </a:solidFill>
                <a:latin typeface="Times New Roman"/>
                <a:ea typeface="Times New Roman"/>
                <a:cs typeface="Times New Roman"/>
                <a:sym typeface="Times New Roman"/>
              </a:rPr>
              <a:t>Nature</a:t>
            </a:r>
            <a:r>
              <a:rPr lang="es" sz="1200">
                <a:solidFill>
                  <a:schemeClr val="dk1"/>
                </a:solidFill>
                <a:latin typeface="Times New Roman"/>
                <a:ea typeface="Times New Roman"/>
                <a:cs typeface="Times New Roman"/>
                <a:sym typeface="Times New Roman"/>
              </a:rPr>
              <a:t>, vol. 387, no. 6630, 15 May 1997, pp. 253–260, https://doi.org/10.1038/387253a0.</a:t>
            </a:r>
            <a:endParaRPr sz="1200">
              <a:solidFill>
                <a:schemeClr val="dk1"/>
              </a:solidFill>
              <a:latin typeface="Times New Roman"/>
              <a:ea typeface="Times New Roman"/>
              <a:cs typeface="Times New Roman"/>
              <a:sym typeface="Times New Roman"/>
            </a:endParaRPr>
          </a:p>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Díaz, Sandra, et al. “Assessing Nature’s Contributions to People.” </a:t>
            </a:r>
            <a:r>
              <a:rPr i="1" lang="es" sz="1200">
                <a:solidFill>
                  <a:schemeClr val="dk1"/>
                </a:solidFill>
                <a:latin typeface="Times New Roman"/>
                <a:ea typeface="Times New Roman"/>
                <a:cs typeface="Times New Roman"/>
                <a:sym typeface="Times New Roman"/>
              </a:rPr>
              <a:t>Science</a:t>
            </a:r>
            <a:r>
              <a:rPr lang="es" sz="1200">
                <a:solidFill>
                  <a:schemeClr val="dk1"/>
                </a:solidFill>
                <a:latin typeface="Times New Roman"/>
                <a:ea typeface="Times New Roman"/>
                <a:cs typeface="Times New Roman"/>
                <a:sym typeface="Times New Roman"/>
              </a:rPr>
              <a:t>, vol. 359, no. 6373, 18 Jan. 2018, pp. 270–272, https://doi.org/10.1126/science.aap8826.</a:t>
            </a:r>
            <a:endParaRPr sz="1500">
              <a:solidFill>
                <a:schemeClr val="dk1"/>
              </a:solidFill>
              <a:highlight>
                <a:schemeClr val="lt1"/>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d88560ab7_3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d88560ab7_3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200">
                <a:solidFill>
                  <a:schemeClr val="dk1"/>
                </a:solidFill>
              </a:rPr>
              <a:t>SASA</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800"/>
              </a:spcAft>
              <a:buNone/>
            </a:pPr>
            <a:r>
              <a:t/>
            </a:r>
            <a:endParaRPr sz="1200">
              <a:solidFill>
                <a:srgbClr val="212529"/>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cb6c2cf2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cb6c2cf2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200">
                <a:solidFill>
                  <a:schemeClr val="dk1"/>
                </a:solidFill>
                <a:highlight>
                  <a:srgbClr val="CFE2F3"/>
                </a:highlight>
              </a:rPr>
              <a:t>SASA</a:t>
            </a:r>
            <a:endParaRPr sz="1200">
              <a:solidFill>
                <a:schemeClr val="dk1"/>
              </a:solidFill>
              <a:highlight>
                <a:srgbClr val="CFE2F3"/>
              </a:highlight>
            </a:endParaRPr>
          </a:p>
          <a:p>
            <a:pPr indent="0" lvl="0" marL="0" rtl="0" algn="l">
              <a:lnSpc>
                <a:spcPct val="115000"/>
              </a:lnSpc>
              <a:spcBef>
                <a:spcPts val="0"/>
              </a:spcBef>
              <a:spcAft>
                <a:spcPts val="0"/>
              </a:spcAft>
              <a:buNone/>
            </a:pPr>
            <a:r>
              <a:rPr lang="es" sz="1200">
                <a:solidFill>
                  <a:srgbClr val="212529"/>
                </a:solidFill>
              </a:rPr>
              <a:t>International Union for Conservation of Nature approach on Nature Based Solutions</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Addressing societal challenges through protection, sustainable management and restoration of ecosystems to improve biodiversity and human welfare</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Address global challenges: climate change, human health, food and water security, natural disasters and biodiversity loss </a:t>
            </a:r>
            <a:endParaRPr sz="1200">
              <a:solidFill>
                <a:srgbClr val="212529"/>
              </a:solidFill>
            </a:endParaRPr>
          </a:p>
          <a:p>
            <a:pPr indent="-304800" lvl="0" marL="457200" rtl="0" algn="l">
              <a:lnSpc>
                <a:spcPct val="115000"/>
              </a:lnSpc>
              <a:spcBef>
                <a:spcPts val="0"/>
              </a:spcBef>
              <a:spcAft>
                <a:spcPts val="0"/>
              </a:spcAft>
              <a:buClr>
                <a:srgbClr val="212529"/>
              </a:buClr>
              <a:buSzPts val="1200"/>
              <a:buChar char="-"/>
            </a:pPr>
            <a:r>
              <a:rPr lang="es" sz="1200">
                <a:solidFill>
                  <a:srgbClr val="212529"/>
                </a:solidFill>
              </a:rPr>
              <a:t>Efficiency needs to increase because projects need to be large enough to be included in policy and be effective (could solve up to </a:t>
            </a:r>
            <a:r>
              <a:rPr lang="es" sz="1200">
                <a:solidFill>
                  <a:schemeClr val="dk1"/>
                </a:solidFill>
              </a:rPr>
              <a:t>37% of climate change mitigation needs!)</a:t>
            </a:r>
            <a:endParaRPr sz="1200">
              <a:solidFill>
                <a:schemeClr val="dk1"/>
              </a:solidFill>
            </a:endParaRPr>
          </a:p>
          <a:p>
            <a:pPr indent="-304800" lvl="0" marL="457200" rtl="0" algn="l">
              <a:lnSpc>
                <a:spcPct val="115000"/>
              </a:lnSpc>
              <a:spcBef>
                <a:spcPts val="0"/>
              </a:spcBef>
              <a:spcAft>
                <a:spcPts val="0"/>
              </a:spcAft>
              <a:buClr>
                <a:srgbClr val="212529"/>
              </a:buClr>
              <a:buSzPts val="1200"/>
              <a:buChar char="-"/>
            </a:pPr>
            <a:r>
              <a:rPr lang="es" sz="1200">
                <a:solidFill>
                  <a:schemeClr val="dk1"/>
                </a:solidFill>
              </a:rPr>
              <a:t>Nature based solutions can decrease the impact of disasters making communities more resilient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s" sz="1200">
                <a:solidFill>
                  <a:schemeClr val="dk1"/>
                </a:solidFill>
              </a:rPr>
              <a:t>Example: Mangroves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Application: 2/3 of governments that are in the Paris Climate agreement have nbs in their plans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Citation: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IUCN. “Ensuring Effective Nature-Based Solutions.” </a:t>
            </a:r>
            <a:r>
              <a:rPr i="1" lang="es" sz="1200">
                <a:solidFill>
                  <a:schemeClr val="dk1"/>
                </a:solidFill>
                <a:latin typeface="Times New Roman"/>
                <a:ea typeface="Times New Roman"/>
                <a:cs typeface="Times New Roman"/>
                <a:sym typeface="Times New Roman"/>
              </a:rPr>
              <a:t>Iucn.org</a:t>
            </a:r>
            <a:r>
              <a:rPr lang="es" sz="1200">
                <a:solidFill>
                  <a:schemeClr val="dk1"/>
                </a:solidFill>
                <a:latin typeface="Times New Roman"/>
                <a:ea typeface="Times New Roman"/>
                <a:cs typeface="Times New Roman"/>
                <a:sym typeface="Times New Roman"/>
              </a:rPr>
              <a:t>, July 2020, iucn.org/resources/issues-brief/ensuring-effective-nature-based-solutions.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8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800"/>
              </a:spcAft>
              <a:buNone/>
            </a:pPr>
            <a:r>
              <a:t/>
            </a:r>
            <a:endParaRPr sz="1200">
              <a:solidFill>
                <a:srgbClr val="212529"/>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d5cd5c170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d5cd5c170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200">
                <a:solidFill>
                  <a:schemeClr val="dk1"/>
                </a:solidFill>
                <a:highlight>
                  <a:srgbClr val="CFE2F3"/>
                </a:highlight>
              </a:rPr>
              <a:t>SASA</a:t>
            </a:r>
            <a:endParaRPr sz="1200">
              <a:solidFill>
                <a:srgbClr val="212529"/>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rgbClr val="212529"/>
              </a:solidFill>
            </a:endParaRPr>
          </a:p>
          <a:p>
            <a:pPr indent="0" lvl="0" marL="0" rtl="0" algn="l">
              <a:lnSpc>
                <a:spcPct val="115000"/>
              </a:lnSpc>
              <a:spcBef>
                <a:spcPts val="800"/>
              </a:spcBef>
              <a:spcAft>
                <a:spcPts val="0"/>
              </a:spcAft>
              <a:buClr>
                <a:schemeClr val="dk1"/>
              </a:buClr>
              <a:buSzPts val="1100"/>
              <a:buFont typeface="Arial"/>
              <a:buNone/>
            </a:pPr>
            <a:r>
              <a:rPr lang="es" sz="1200">
                <a:solidFill>
                  <a:srgbClr val="212529"/>
                </a:solidFill>
              </a:rPr>
              <a:t>Nature based solutions focus on safeguarding society while following conservation norms that safeguard biodiversity for its irreplaceable value. Not all conservation intentions are nature based solutions. Criteria for Nature Based Solutions addressing the pillars of sustainable development (biodiversity, economy and society) and resilient project management.</a:t>
            </a:r>
            <a:endParaRPr sz="1200">
              <a:solidFill>
                <a:srgbClr val="212529"/>
              </a:solidFill>
            </a:endParaRPr>
          </a:p>
          <a:p>
            <a:pPr indent="-304800" lvl="0" marL="685800" rtl="0" algn="l">
              <a:lnSpc>
                <a:spcPct val="115000"/>
              </a:lnSpc>
              <a:spcBef>
                <a:spcPts val="800"/>
              </a:spcBef>
              <a:spcAft>
                <a:spcPts val="0"/>
              </a:spcAft>
              <a:buClr>
                <a:schemeClr val="dk1"/>
              </a:buClr>
              <a:buSzPts val="1200"/>
              <a:buAutoNum type="arabicPeriod"/>
            </a:pPr>
            <a:r>
              <a:rPr lang="es" sz="1200">
                <a:solidFill>
                  <a:srgbClr val="212529"/>
                </a:solidFill>
              </a:rPr>
              <a:t> Effectively addresses societal changes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2"/>
            </a:pPr>
            <a:r>
              <a:rPr lang="es" sz="1200">
                <a:solidFill>
                  <a:srgbClr val="212529"/>
                </a:solidFill>
              </a:rPr>
              <a:t>Design informed by scale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3"/>
            </a:pPr>
            <a:r>
              <a:rPr lang="es" sz="1200">
                <a:solidFill>
                  <a:srgbClr val="212529"/>
                </a:solidFill>
              </a:rPr>
              <a:t>Results in a net gain of biodiversity and ecosystem integrity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4"/>
            </a:pPr>
            <a:r>
              <a:rPr lang="es" sz="1200">
                <a:solidFill>
                  <a:srgbClr val="212529"/>
                </a:solidFill>
              </a:rPr>
              <a:t>Economically viable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5"/>
            </a:pPr>
            <a:r>
              <a:rPr lang="es" sz="1200">
                <a:solidFill>
                  <a:srgbClr val="212529"/>
                </a:solidFill>
              </a:rPr>
              <a:t>Based on inclusive, transparent and empowering governance processes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6"/>
            </a:pPr>
            <a:r>
              <a:rPr lang="es" sz="1200">
                <a:solidFill>
                  <a:srgbClr val="212529"/>
                </a:solidFill>
              </a:rPr>
              <a:t>Equitably balance tradeoffs between achievement of goals and primary benefits and continued provisions of multiple benefits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7"/>
            </a:pPr>
            <a:r>
              <a:rPr lang="es" sz="1200">
                <a:solidFill>
                  <a:srgbClr val="212529"/>
                </a:solidFill>
              </a:rPr>
              <a:t>Managed adaptably and based on evidence </a:t>
            </a:r>
            <a:endParaRPr sz="1200">
              <a:solidFill>
                <a:srgbClr val="212529"/>
              </a:solidFill>
            </a:endParaRPr>
          </a:p>
          <a:p>
            <a:pPr indent="-304800" lvl="0" marL="685800" rtl="0" algn="l">
              <a:lnSpc>
                <a:spcPct val="115000"/>
              </a:lnSpc>
              <a:spcBef>
                <a:spcPts val="0"/>
              </a:spcBef>
              <a:spcAft>
                <a:spcPts val="0"/>
              </a:spcAft>
              <a:buClr>
                <a:schemeClr val="dk1"/>
              </a:buClr>
              <a:buSzPts val="1200"/>
              <a:buAutoNum type="arabicPeriod" startAt="8"/>
            </a:pPr>
            <a:r>
              <a:rPr lang="es" sz="1200">
                <a:solidFill>
                  <a:srgbClr val="212529"/>
                </a:solidFill>
              </a:rPr>
              <a:t>Sustained and mainstreamed with an appropriate jurisdictional context </a:t>
            </a:r>
            <a:endParaRPr sz="1200">
              <a:solidFill>
                <a:srgbClr val="212529"/>
              </a:solidFill>
            </a:endParaRPr>
          </a:p>
          <a:p>
            <a:pPr indent="0" lvl="0" marL="457200" rtl="0" algn="l">
              <a:lnSpc>
                <a:spcPct val="115000"/>
              </a:lnSpc>
              <a:spcBef>
                <a:spcPts val="0"/>
              </a:spcBef>
              <a:spcAft>
                <a:spcPts val="0"/>
              </a:spcAft>
              <a:buNone/>
            </a:pPr>
            <a:r>
              <a:t/>
            </a:r>
            <a:endParaRPr sz="1200">
              <a:solidFill>
                <a:srgbClr val="212529"/>
              </a:solidFill>
            </a:endParaRPr>
          </a:p>
          <a:p>
            <a:pPr indent="0" lvl="0" marL="0" rtl="0" algn="l">
              <a:lnSpc>
                <a:spcPct val="115000"/>
              </a:lnSpc>
              <a:spcBef>
                <a:spcPts val="0"/>
              </a:spcBef>
              <a:spcAft>
                <a:spcPts val="0"/>
              </a:spcAft>
              <a:buNone/>
            </a:pPr>
            <a:r>
              <a:rPr lang="es" sz="1200">
                <a:solidFill>
                  <a:srgbClr val="212529"/>
                </a:solidFill>
              </a:rPr>
              <a:t>Implementers of NBS-&gt; design effective NBS projects with appropriate scale and sustainability </a:t>
            </a:r>
            <a:endParaRPr sz="1200">
              <a:solidFill>
                <a:srgbClr val="212529"/>
              </a:solidFill>
            </a:endParaRPr>
          </a:p>
          <a:p>
            <a:pPr indent="0" lvl="0" marL="0" rtl="0" algn="l">
              <a:lnSpc>
                <a:spcPct val="115000"/>
              </a:lnSpc>
              <a:spcBef>
                <a:spcPts val="800"/>
              </a:spcBef>
              <a:spcAft>
                <a:spcPts val="0"/>
              </a:spcAft>
              <a:buNone/>
            </a:pPr>
            <a:r>
              <a:rPr lang="es" sz="1200">
                <a:solidFill>
                  <a:srgbClr val="212529"/>
                </a:solidFill>
              </a:rPr>
              <a:t>Donors and financiers -&gt; minimize risk and increase security </a:t>
            </a:r>
            <a:endParaRPr sz="1200">
              <a:solidFill>
                <a:srgbClr val="212529"/>
              </a:solidFill>
            </a:endParaRPr>
          </a:p>
          <a:p>
            <a:pPr indent="0" lvl="0" marL="0" rtl="0" algn="l">
              <a:lnSpc>
                <a:spcPct val="115000"/>
              </a:lnSpc>
              <a:spcBef>
                <a:spcPts val="800"/>
              </a:spcBef>
              <a:spcAft>
                <a:spcPts val="0"/>
              </a:spcAft>
              <a:buClr>
                <a:schemeClr val="dk1"/>
              </a:buClr>
              <a:buSzPts val="1100"/>
              <a:buFont typeface="Arial"/>
              <a:buNone/>
            </a:pPr>
            <a:r>
              <a:rPr lang="es" sz="1200">
                <a:solidFill>
                  <a:srgbClr val="212529"/>
                </a:solidFill>
              </a:rPr>
              <a:t>A poorly managed project can lead to mistrust in the NBS approach, with this criteria we can maximize potential and minimize harm.</a:t>
            </a:r>
            <a:endParaRPr sz="1200">
              <a:solidFill>
                <a:srgbClr val="212529"/>
              </a:solidFill>
            </a:endParaRPr>
          </a:p>
          <a:p>
            <a:pPr indent="0" lvl="0" marL="0" rtl="0" algn="l">
              <a:lnSpc>
                <a:spcPct val="115000"/>
              </a:lnSpc>
              <a:spcBef>
                <a:spcPts val="8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rPr>
              <a:t>Citation: </a:t>
            </a:r>
            <a:endParaRPr sz="12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IUCN. “Ensuring Effective Nature-Based Solutions.” </a:t>
            </a:r>
            <a:r>
              <a:rPr i="1" lang="es" sz="1200">
                <a:solidFill>
                  <a:schemeClr val="dk1"/>
                </a:solidFill>
                <a:latin typeface="Times New Roman"/>
                <a:ea typeface="Times New Roman"/>
                <a:cs typeface="Times New Roman"/>
                <a:sym typeface="Times New Roman"/>
              </a:rPr>
              <a:t>Iucn.org</a:t>
            </a:r>
            <a:r>
              <a:rPr lang="es" sz="1200">
                <a:solidFill>
                  <a:schemeClr val="dk1"/>
                </a:solidFill>
                <a:latin typeface="Times New Roman"/>
                <a:ea typeface="Times New Roman"/>
                <a:cs typeface="Times New Roman"/>
                <a:sym typeface="Times New Roman"/>
              </a:rPr>
              <a:t>, July 2020, iucn.org/resources/issues-brief/ensuring-effective-nature-based-solutions.</a:t>
            </a:r>
            <a:endParaRPr sz="1200">
              <a:solidFill>
                <a:srgbClr val="212529"/>
              </a:solidFill>
            </a:endParaRPr>
          </a:p>
          <a:p>
            <a:pPr indent="0" lvl="0" marL="0" rtl="0" algn="l">
              <a:lnSpc>
                <a:spcPct val="115000"/>
              </a:lnSpc>
              <a:spcBef>
                <a:spcPts val="800"/>
              </a:spcBef>
              <a:spcAft>
                <a:spcPts val="0"/>
              </a:spcAft>
              <a:buClr>
                <a:schemeClr val="dk1"/>
              </a:buClr>
              <a:buSzPts val="1100"/>
              <a:buFont typeface="Arial"/>
              <a:buNone/>
            </a:pPr>
            <a:r>
              <a:t/>
            </a:r>
            <a:endParaRPr sz="1200">
              <a:solidFill>
                <a:srgbClr val="212529"/>
              </a:solidFill>
            </a:endParaRPr>
          </a:p>
          <a:p>
            <a:pPr indent="0" lvl="0" marL="0" rtl="0" algn="l">
              <a:spcBef>
                <a:spcPts val="80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d88560ab7_3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d88560ab7_3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Hao</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cb6c2cf2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cb6c2cf2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highlight>
                  <a:srgbClr val="F4CCCC"/>
                </a:highlight>
              </a:rPr>
              <a:t>Hao</a:t>
            </a:r>
            <a:endParaRPr sz="1200">
              <a:solidFill>
                <a:schemeClr val="dk1"/>
              </a:solidFill>
              <a:highlight>
                <a:srgbClr val="F4CCCC"/>
              </a:highlight>
            </a:endParaRPr>
          </a:p>
          <a:p>
            <a:pPr indent="0" lvl="0" marL="0" rtl="0" algn="l">
              <a:spcBef>
                <a:spcPts val="0"/>
              </a:spcBef>
              <a:spcAft>
                <a:spcPts val="0"/>
              </a:spcAft>
              <a:buNone/>
            </a:pPr>
            <a:r>
              <a:t/>
            </a:r>
            <a:endParaRPr sz="1200">
              <a:solidFill>
                <a:schemeClr val="dk1"/>
              </a:solidFill>
              <a:highlight>
                <a:srgbClr val="CFE2F3"/>
              </a:highlight>
            </a:endParaRPr>
          </a:p>
          <a:p>
            <a:pPr indent="0" lvl="0" marL="0" rtl="0" algn="l">
              <a:spcBef>
                <a:spcPts val="0"/>
              </a:spcBef>
              <a:spcAft>
                <a:spcPts val="0"/>
              </a:spcAft>
              <a:buNone/>
            </a:pPr>
            <a:r>
              <a:t/>
            </a:r>
            <a:endParaRPr sz="1200">
              <a:solidFill>
                <a:schemeClr val="dk1"/>
              </a:solidFill>
              <a:highlight>
                <a:srgbClr val="CFE2F3"/>
              </a:highlight>
            </a:endParaRPr>
          </a:p>
          <a:p>
            <a:pPr indent="0" lvl="0" marL="0" rtl="0" algn="l">
              <a:spcBef>
                <a:spcPts val="0"/>
              </a:spcBef>
              <a:spcAft>
                <a:spcPts val="0"/>
              </a:spcAft>
              <a:buNone/>
            </a:pPr>
            <a:r>
              <a:t/>
            </a:r>
            <a:endParaRPr sz="1200">
              <a:solidFill>
                <a:schemeClr val="dk1"/>
              </a:solidFill>
              <a:highlight>
                <a:srgbClr val="CFE2F3"/>
              </a:highlight>
            </a:endParaRPr>
          </a:p>
          <a:p>
            <a:pPr indent="0" lvl="0" marL="0" rtl="0" algn="l">
              <a:spcBef>
                <a:spcPts val="0"/>
              </a:spcBef>
              <a:spcAft>
                <a:spcPts val="0"/>
              </a:spcAft>
              <a:buNone/>
            </a:pPr>
            <a:r>
              <a:rPr lang="es" sz="1200">
                <a:solidFill>
                  <a:schemeClr val="dk1"/>
                </a:solidFill>
                <a:highlight>
                  <a:srgbClr val="CFE2F3"/>
                </a:highlight>
              </a:rPr>
              <a:t>Image: </a:t>
            </a:r>
            <a:endParaRPr sz="1200">
              <a:solidFill>
                <a:schemeClr val="dk1"/>
              </a:solidFill>
              <a:highlight>
                <a:srgbClr val="CFE2F3"/>
              </a:highlight>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Dilworth, Amanda. </a:t>
            </a:r>
            <a:r>
              <a:rPr i="1" lang="es" sz="1200">
                <a:solidFill>
                  <a:schemeClr val="dk1"/>
                </a:solidFill>
                <a:latin typeface="Times New Roman"/>
                <a:ea typeface="Times New Roman"/>
                <a:cs typeface="Times New Roman"/>
                <a:sym typeface="Times New Roman"/>
              </a:rPr>
              <a:t>World Nature Conservation Day Artwork</a:t>
            </a:r>
            <a:r>
              <a:rPr lang="es" sz="1200">
                <a:solidFill>
                  <a:schemeClr val="dk1"/>
                </a:solidFill>
                <a:latin typeface="Times New Roman"/>
                <a:ea typeface="Times New Roman"/>
                <a:cs typeface="Times New Roman"/>
                <a:sym typeface="Times New Roman"/>
              </a:rPr>
              <a:t>, 2025, dribbble.com/shots/16007802-World-Nature-Conservation-Day-Artwork.</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CFE2F3"/>
              </a:high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cb6c2cf2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cb6c2cf2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d88560ab7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d88560ab7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d88560ab7_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d88560ab7_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3.jpg"/><Relationship Id="rId4" Type="http://schemas.openxmlformats.org/officeDocument/2006/relationships/image" Target="../media/image1.png"/><Relationship Id="rId5"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3.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3.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3.jpg"/><Relationship Id="rId4" Type="http://schemas.openxmlformats.org/officeDocument/2006/relationships/image" Target="../media/image16.jpg"/><Relationship Id="rId5" Type="http://schemas.openxmlformats.org/officeDocument/2006/relationships/image" Target="../media/image6.jpg"/><Relationship Id="rId6"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3.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4.jpg"/><Relationship Id="rId5" Type="http://schemas.openxmlformats.org/officeDocument/2006/relationships/image" Target="../media/image3.jp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3.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jpg"/><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3.jpg"/><Relationship Id="rId4" Type="http://schemas.openxmlformats.org/officeDocument/2006/relationships/image" Target="../media/image35.jpg"/><Relationship Id="rId5"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jpg"/><Relationship Id="rId4" Type="http://schemas.openxmlformats.org/officeDocument/2006/relationships/image" Target="../media/image2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3.jpg"/><Relationship Id="rId4" Type="http://schemas.openxmlformats.org/officeDocument/2006/relationships/image" Target="../media/image7.jpg"/><Relationship Id="rId5"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jpg"/><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jp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3.jpg"/><Relationship Id="rId4" Type="http://schemas.openxmlformats.org/officeDocument/2006/relationships/image" Target="../media/image2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jpg"/><Relationship Id="rId4" Type="http://schemas.openxmlformats.org/officeDocument/2006/relationships/image" Target="../media/image3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3.jpg"/><Relationship Id="rId4" Type="http://schemas.openxmlformats.org/officeDocument/2006/relationships/hyperlink" Target="http://dribbble.com/shots/16007802-World-Nature-Conservation-Day-Artwork" TargetMode="External"/><Relationship Id="rId5" Type="http://schemas.openxmlformats.org/officeDocument/2006/relationships/hyperlink" Target="http://lifescapeproject.org/the-natural-capital-framework/" TargetMode="External"/><Relationship Id="rId6" Type="http://schemas.openxmlformats.org/officeDocument/2006/relationships/hyperlink" Target="http://iucn.org/resources/issues-brief/ensuring-effective-nature-based-solutions" TargetMode="External"/><Relationship Id="rId7" Type="http://schemas.openxmlformats.org/officeDocument/2006/relationships/hyperlink" Target="http://earth.org/what-are-the-aichi-biodiversity-target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jpg"/><Relationship Id="rId4"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51850" y="744575"/>
            <a:ext cx="91959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s" sz="4480">
                <a:latin typeface="Lexend"/>
                <a:ea typeface="Lexend"/>
                <a:cs typeface="Lexend"/>
                <a:sym typeface="Lexend"/>
              </a:rPr>
              <a:t>Services and Contributions: valuing nature in a human world</a:t>
            </a:r>
            <a:endParaRPr sz="4480">
              <a:latin typeface="Lexend"/>
              <a:ea typeface="Lexend"/>
              <a:cs typeface="Lexend"/>
              <a:sym typeface="Lexend"/>
            </a:endParaRPr>
          </a:p>
        </p:txBody>
      </p:sp>
      <p:sp>
        <p:nvSpPr>
          <p:cNvPr id="55" name="Google Shape;55;p13"/>
          <p:cNvSpPr txBox="1"/>
          <p:nvPr>
            <p:ph idx="1" type="subTitle"/>
          </p:nvPr>
        </p:nvSpPr>
        <p:spPr>
          <a:xfrm>
            <a:off x="311700" y="27971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1600">
                <a:solidFill>
                  <a:schemeClr val="dk1"/>
                </a:solidFill>
                <a:latin typeface="Lexend Light"/>
                <a:ea typeface="Lexend Light"/>
                <a:cs typeface="Lexend Light"/>
                <a:sym typeface="Lexend Light"/>
              </a:rPr>
              <a:t>Clara Garcia Ramis, Alexie Kolowrat &amp; </a:t>
            </a:r>
            <a:r>
              <a:rPr lang="es" sz="1600">
                <a:solidFill>
                  <a:schemeClr val="dk1"/>
                </a:solidFill>
                <a:latin typeface="Lexend Light"/>
                <a:ea typeface="Lexend Light"/>
                <a:cs typeface="Lexend Light"/>
                <a:sym typeface="Lexend Light"/>
              </a:rPr>
              <a:t>Hao Tan</a:t>
            </a:r>
            <a:endParaRPr sz="3200">
              <a:solidFill>
                <a:schemeClr val="dk1"/>
              </a:solidFill>
              <a:latin typeface="Lexend Light"/>
              <a:ea typeface="Lexend Light"/>
              <a:cs typeface="Lexend Light"/>
              <a:sym typeface="Lexen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600100" y="230225"/>
            <a:ext cx="3698700" cy="65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latin typeface="Lexend"/>
                <a:ea typeface="Lexend"/>
                <a:cs typeface="Lexend"/>
                <a:sym typeface="Lexend"/>
              </a:rPr>
              <a:t>Ecosystem services</a:t>
            </a:r>
            <a:endParaRPr>
              <a:latin typeface="Lexend"/>
              <a:ea typeface="Lexend"/>
              <a:cs typeface="Lexend"/>
              <a:sym typeface="Lexend"/>
            </a:endParaRPr>
          </a:p>
        </p:txBody>
      </p:sp>
      <p:sp>
        <p:nvSpPr>
          <p:cNvPr id="61" name="Google Shape;61;p14"/>
          <p:cNvSpPr txBox="1"/>
          <p:nvPr/>
        </p:nvSpPr>
        <p:spPr>
          <a:xfrm>
            <a:off x="4572000" y="542225"/>
            <a:ext cx="26223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600">
                <a:solidFill>
                  <a:schemeClr val="dk1"/>
                </a:solidFill>
                <a:latin typeface="Lexend"/>
                <a:ea typeface="Lexend"/>
                <a:cs typeface="Lexend"/>
                <a:sym typeface="Lexend"/>
              </a:rPr>
              <a:t>Ecosystem Functions</a:t>
            </a:r>
            <a:endParaRPr sz="1600">
              <a:solidFill>
                <a:schemeClr val="dk2"/>
              </a:solidFill>
              <a:latin typeface="Lexend"/>
              <a:ea typeface="Lexend"/>
              <a:cs typeface="Lexend"/>
              <a:sym typeface="Lexend"/>
            </a:endParaRPr>
          </a:p>
        </p:txBody>
      </p:sp>
      <p:pic>
        <p:nvPicPr>
          <p:cNvPr id="62" name="Google Shape;62;p14"/>
          <p:cNvPicPr preferRelativeResize="0"/>
          <p:nvPr/>
        </p:nvPicPr>
        <p:blipFill>
          <a:blip r:embed="rId4">
            <a:alphaModFix/>
          </a:blip>
          <a:stretch>
            <a:fillRect/>
          </a:stretch>
        </p:blipFill>
        <p:spPr>
          <a:xfrm flipH="1" rot="10800000">
            <a:off x="6743834" y="656914"/>
            <a:ext cx="355302" cy="201725"/>
          </a:xfrm>
          <a:prstGeom prst="rect">
            <a:avLst/>
          </a:prstGeom>
          <a:noFill/>
          <a:ln>
            <a:noFill/>
          </a:ln>
        </p:spPr>
      </p:pic>
      <p:sp>
        <p:nvSpPr>
          <p:cNvPr id="63" name="Google Shape;63;p14"/>
          <p:cNvSpPr txBox="1"/>
          <p:nvPr/>
        </p:nvSpPr>
        <p:spPr>
          <a:xfrm>
            <a:off x="527875" y="3938625"/>
            <a:ext cx="4154100" cy="954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Lexend"/>
              <a:buChar char="-"/>
            </a:pPr>
            <a:r>
              <a:rPr lang="es" sz="1600">
                <a:solidFill>
                  <a:schemeClr val="dk1"/>
                </a:solidFill>
                <a:latin typeface="Lexend"/>
                <a:ea typeface="Lexend"/>
                <a:cs typeface="Lexend"/>
                <a:sym typeface="Lexend"/>
              </a:rPr>
              <a:t>Decrease in biodiversity</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s" sz="1600">
                <a:solidFill>
                  <a:schemeClr val="dk1"/>
                </a:solidFill>
                <a:latin typeface="Lexend"/>
                <a:ea typeface="Lexend"/>
                <a:cs typeface="Lexend"/>
                <a:sym typeface="Lexend"/>
              </a:rPr>
              <a:t>Less resilient ecosystems</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s" sz="1600">
                <a:solidFill>
                  <a:schemeClr val="dk1"/>
                </a:solidFill>
                <a:latin typeface="Lexend"/>
                <a:ea typeface="Lexend"/>
                <a:cs typeface="Lexend"/>
                <a:sym typeface="Lexend"/>
              </a:rPr>
              <a:t>Affected</a:t>
            </a:r>
            <a:r>
              <a:rPr lang="es" sz="1600">
                <a:solidFill>
                  <a:schemeClr val="dk1"/>
                </a:solidFill>
                <a:latin typeface="Lexend"/>
                <a:ea typeface="Lexend"/>
                <a:cs typeface="Lexend"/>
                <a:sym typeface="Lexend"/>
              </a:rPr>
              <a:t> human welfare</a:t>
            </a:r>
            <a:endParaRPr sz="1600">
              <a:solidFill>
                <a:schemeClr val="dk1"/>
              </a:solidFill>
              <a:latin typeface="Lexend"/>
              <a:ea typeface="Lexend"/>
              <a:cs typeface="Lexend"/>
              <a:sym typeface="Lexend"/>
            </a:endParaRPr>
          </a:p>
        </p:txBody>
      </p:sp>
      <p:pic>
        <p:nvPicPr>
          <p:cNvPr id="64" name="Google Shape;64;p14" title="IMG_1549.png"/>
          <p:cNvPicPr preferRelativeResize="0"/>
          <p:nvPr/>
        </p:nvPicPr>
        <p:blipFill>
          <a:blip r:embed="rId5">
            <a:alphaModFix/>
          </a:blip>
          <a:stretch>
            <a:fillRect/>
          </a:stretch>
        </p:blipFill>
        <p:spPr>
          <a:xfrm>
            <a:off x="4880650" y="1084460"/>
            <a:ext cx="3794026" cy="3722590"/>
          </a:xfrm>
          <a:prstGeom prst="rect">
            <a:avLst/>
          </a:prstGeom>
          <a:noFill/>
          <a:ln>
            <a:noFill/>
          </a:ln>
        </p:spPr>
      </p:pic>
      <p:sp>
        <p:nvSpPr>
          <p:cNvPr id="65" name="Google Shape;65;p14"/>
          <p:cNvSpPr txBox="1"/>
          <p:nvPr/>
        </p:nvSpPr>
        <p:spPr>
          <a:xfrm>
            <a:off x="-66950" y="1141350"/>
            <a:ext cx="5032800" cy="12006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Lexend"/>
              <a:buChar char="-"/>
            </a:pPr>
            <a:r>
              <a:rPr lang="es" sz="1600">
                <a:solidFill>
                  <a:schemeClr val="dk1"/>
                </a:solidFill>
                <a:latin typeface="Lexend"/>
                <a:ea typeface="Lexend"/>
                <a:cs typeface="Lexend"/>
                <a:sym typeface="Lexend"/>
              </a:rPr>
              <a:t>Direct or indirect impact on human welfare</a:t>
            </a:r>
            <a:endParaRPr sz="1600">
              <a:solidFill>
                <a:schemeClr val="dk1"/>
              </a:solidFill>
              <a:latin typeface="Lexend"/>
              <a:ea typeface="Lexend"/>
              <a:cs typeface="Lexend"/>
              <a:sym typeface="Lexend"/>
            </a:endParaRPr>
          </a:p>
          <a:p>
            <a:pPr indent="0" lvl="0" marL="457200" rtl="0" algn="l">
              <a:spcBef>
                <a:spcPts val="0"/>
              </a:spcBef>
              <a:spcAft>
                <a:spcPts val="0"/>
              </a:spcAft>
              <a:buNone/>
            </a:pPr>
            <a:r>
              <a:t/>
            </a:r>
            <a:endParaRPr sz="1600">
              <a:solidFill>
                <a:schemeClr val="dk1"/>
              </a:solidFill>
              <a:latin typeface="Lexend"/>
              <a:ea typeface="Lexend"/>
              <a:cs typeface="Lexend"/>
              <a:sym typeface="Lexend"/>
            </a:endParaRPr>
          </a:p>
          <a:p>
            <a:pPr indent="-330200" lvl="0" marL="457200" rtl="0" algn="l">
              <a:spcBef>
                <a:spcPts val="0"/>
              </a:spcBef>
              <a:spcAft>
                <a:spcPts val="0"/>
              </a:spcAft>
              <a:buClr>
                <a:schemeClr val="dk1"/>
              </a:buClr>
              <a:buSzPts val="1600"/>
              <a:buFont typeface="Lexend"/>
              <a:buChar char="-"/>
            </a:pPr>
            <a:r>
              <a:rPr lang="es" sz="1600">
                <a:solidFill>
                  <a:schemeClr val="dk1"/>
                </a:solidFill>
                <a:latin typeface="Lexend"/>
                <a:ea typeface="Lexend"/>
                <a:cs typeface="Lexend"/>
                <a:sym typeface="Lexend"/>
              </a:rPr>
              <a:t>Four categories of ecosystem services</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2"/>
              </a:solidFill>
            </a:endParaRPr>
          </a:p>
        </p:txBody>
      </p:sp>
      <p:sp>
        <p:nvSpPr>
          <p:cNvPr id="66" name="Google Shape;66;p14"/>
          <p:cNvSpPr txBox="1"/>
          <p:nvPr/>
        </p:nvSpPr>
        <p:spPr>
          <a:xfrm>
            <a:off x="6872425" y="4774200"/>
            <a:ext cx="8284500" cy="369300"/>
          </a:xfrm>
          <a:prstGeom prst="rect">
            <a:avLst/>
          </a:prstGeom>
          <a:noFill/>
          <a:ln>
            <a:noFill/>
          </a:ln>
        </p:spPr>
        <p:txBody>
          <a:bodyPr anchorCtr="0" anchor="t" bIns="91425" lIns="91425" spcFirstLastPara="1" rIns="91425" wrap="square" tIns="91425">
            <a:spAutoFit/>
          </a:bodyPr>
          <a:lstStyle/>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Bhagwat, Shalmali (2025). WOTR</a:t>
            </a:r>
            <a:endParaRPr sz="1800">
              <a:solidFill>
                <a:schemeClr val="dk2"/>
              </a:solidFill>
            </a:endParaRPr>
          </a:p>
        </p:txBody>
      </p:sp>
      <p:sp>
        <p:nvSpPr>
          <p:cNvPr id="67" name="Google Shape;67;p14"/>
          <p:cNvSpPr txBox="1"/>
          <p:nvPr/>
        </p:nvSpPr>
        <p:spPr>
          <a:xfrm>
            <a:off x="379050" y="2356200"/>
            <a:ext cx="3636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600">
                <a:solidFill>
                  <a:schemeClr val="dk1"/>
                </a:solidFill>
                <a:latin typeface="Lexend"/>
                <a:ea typeface="Lexend"/>
                <a:cs typeface="Lexend"/>
                <a:sym typeface="Lexend"/>
              </a:rPr>
              <a:t>Exploitation of Ecosystem Services</a:t>
            </a:r>
            <a:endParaRPr sz="1600">
              <a:solidFill>
                <a:schemeClr val="dk2"/>
              </a:solidFill>
              <a:latin typeface="Lexend"/>
              <a:ea typeface="Lexend"/>
              <a:cs typeface="Lexend"/>
              <a:sym typeface="Lexend"/>
            </a:endParaRPr>
          </a:p>
        </p:txBody>
      </p:sp>
      <p:pic>
        <p:nvPicPr>
          <p:cNvPr id="68" name="Google Shape;68;p14"/>
          <p:cNvPicPr preferRelativeResize="0"/>
          <p:nvPr/>
        </p:nvPicPr>
        <p:blipFill>
          <a:blip r:embed="rId4">
            <a:alphaModFix/>
          </a:blip>
          <a:stretch>
            <a:fillRect/>
          </a:stretch>
        </p:blipFill>
        <p:spPr>
          <a:xfrm rot="5400000">
            <a:off x="1540313" y="3137364"/>
            <a:ext cx="1022100" cy="580424"/>
          </a:xfrm>
          <a:prstGeom prst="rect">
            <a:avLst/>
          </a:prstGeom>
          <a:noFill/>
          <a:ln>
            <a:noFill/>
          </a:ln>
        </p:spPr>
      </p:pic>
      <p:sp>
        <p:nvSpPr>
          <p:cNvPr id="69" name="Google Shape;69;p14"/>
          <p:cNvSpPr txBox="1"/>
          <p:nvPr/>
        </p:nvSpPr>
        <p:spPr>
          <a:xfrm>
            <a:off x="6962240" y="542225"/>
            <a:ext cx="369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Lexend"/>
                <a:ea typeface="Lexend"/>
                <a:cs typeface="Lexend"/>
                <a:sym typeface="Lexend"/>
              </a:rPr>
              <a:t> Goods and Services</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2"/>
                                        </p:tgtEl>
                                        <p:attrNameLst>
                                          <p:attrName>style.visibility</p:attrName>
                                        </p:attrNameLst>
                                      </p:cBhvr>
                                      <p:to>
                                        <p:strVal val="visible"/>
                                      </p:to>
                                    </p:set>
                                    <p:anim calcmode="lin" valueType="num">
                                      <p:cBhvr additive="base">
                                        <p:cTn dur="1000"/>
                                        <p:tgtEl>
                                          <p:spTgt spid="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gtEl>
                                        <p:attrNameLst>
                                          <p:attrName>style.visibility</p:attrName>
                                        </p:attrNameLst>
                                      </p:cBhvr>
                                      <p:to>
                                        <p:strVal val="visible"/>
                                      </p:to>
                                    </p:set>
                                    <p:animEffect filter="fade" transition="in">
                                      <p:cBhvr>
                                        <p:cTn dur="1000"/>
                                        <p:tgtEl>
                                          <p:spTgt spid="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7"/>
                                        </p:tgtEl>
                                        <p:attrNameLst>
                                          <p:attrName>style.visibility</p:attrName>
                                        </p:attrNameLst>
                                      </p:cBhvr>
                                      <p:to>
                                        <p:strVal val="visible"/>
                                      </p:to>
                                    </p:set>
                                    <p:anim calcmode="lin" valueType="num">
                                      <p:cBhvr additive="base">
                                        <p:cTn dur="1000"/>
                                        <p:tgtEl>
                                          <p:spTgt spid="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8"/>
                                        </p:tgtEl>
                                        <p:attrNameLst>
                                          <p:attrName>style.visibility</p:attrName>
                                        </p:attrNameLst>
                                      </p:cBhvr>
                                      <p:to>
                                        <p:strVal val="visible"/>
                                      </p:to>
                                    </p:set>
                                    <p:anim calcmode="lin" valueType="num">
                                      <p:cBhvr additive="base">
                                        <p:cTn dur="1000"/>
                                        <p:tgtEl>
                                          <p:spTgt spid="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5"/>
          <p:cNvSpPr txBox="1"/>
          <p:nvPr>
            <p:ph idx="1" type="body"/>
          </p:nvPr>
        </p:nvSpPr>
        <p:spPr>
          <a:xfrm>
            <a:off x="343650" y="1649800"/>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sz="1200">
              <a:solidFill>
                <a:schemeClr val="dk1"/>
              </a:solidFill>
              <a:highlight>
                <a:srgbClr val="FFFFFF"/>
              </a:highlight>
            </a:endParaRPr>
          </a:p>
          <a:p>
            <a:pPr indent="0" lvl="0" marL="0" rtl="0" algn="l">
              <a:spcBef>
                <a:spcPts val="800"/>
              </a:spcBef>
              <a:spcAft>
                <a:spcPts val="1200"/>
              </a:spcAft>
              <a:buNone/>
            </a:pPr>
            <a:r>
              <a:t/>
            </a:r>
            <a:endParaRPr/>
          </a:p>
        </p:txBody>
      </p:sp>
      <p:sp>
        <p:nvSpPr>
          <p:cNvPr id="75" name="Google Shape;75;p15"/>
          <p:cNvSpPr txBox="1"/>
          <p:nvPr/>
        </p:nvSpPr>
        <p:spPr>
          <a:xfrm>
            <a:off x="268200" y="169700"/>
            <a:ext cx="8607600" cy="6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300">
                <a:solidFill>
                  <a:schemeClr val="dk1"/>
                </a:solidFill>
                <a:latin typeface="Lexend"/>
                <a:ea typeface="Lexend"/>
                <a:cs typeface="Lexend"/>
                <a:sym typeface="Lexend"/>
              </a:rPr>
              <a:t>Valuing Natural Capital and Ecosystem Services</a:t>
            </a:r>
            <a:endParaRPr sz="2300">
              <a:solidFill>
                <a:schemeClr val="dk1"/>
              </a:solidFill>
              <a:latin typeface="Lexend"/>
              <a:ea typeface="Lexend"/>
              <a:cs typeface="Lexend"/>
              <a:sym typeface="Lexend"/>
            </a:endParaRPr>
          </a:p>
        </p:txBody>
      </p:sp>
      <p:pic>
        <p:nvPicPr>
          <p:cNvPr id="76" name="Google Shape;76;p15" title="IMG_1537.jpeg"/>
          <p:cNvPicPr preferRelativeResize="0"/>
          <p:nvPr/>
        </p:nvPicPr>
        <p:blipFill>
          <a:blip r:embed="rId4">
            <a:alphaModFix/>
          </a:blip>
          <a:stretch>
            <a:fillRect/>
          </a:stretch>
        </p:blipFill>
        <p:spPr>
          <a:xfrm>
            <a:off x="639875" y="1016475"/>
            <a:ext cx="7864250" cy="3227101"/>
          </a:xfrm>
          <a:prstGeom prst="rect">
            <a:avLst/>
          </a:prstGeom>
          <a:noFill/>
          <a:ln>
            <a:noFill/>
          </a:ln>
        </p:spPr>
      </p:pic>
      <p:sp>
        <p:nvSpPr>
          <p:cNvPr id="77" name="Google Shape;77;p15"/>
          <p:cNvSpPr txBox="1"/>
          <p:nvPr/>
        </p:nvSpPr>
        <p:spPr>
          <a:xfrm>
            <a:off x="5815800" y="4774200"/>
            <a:ext cx="332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Holmes, Amelia (2024). The Lifescape Project </a:t>
            </a:r>
            <a:endParaRPr sz="1800">
              <a:solidFill>
                <a:schemeClr val="dk2"/>
              </a:solidFill>
            </a:endParaRPr>
          </a:p>
        </p:txBody>
      </p:sp>
      <p:sp>
        <p:nvSpPr>
          <p:cNvPr id="78" name="Google Shape;78;p15"/>
          <p:cNvSpPr txBox="1"/>
          <p:nvPr/>
        </p:nvSpPr>
        <p:spPr>
          <a:xfrm>
            <a:off x="913625" y="886800"/>
            <a:ext cx="8298900" cy="67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79" name="Google Shape;79;p15"/>
          <p:cNvSpPr txBox="1"/>
          <p:nvPr/>
        </p:nvSpPr>
        <p:spPr>
          <a:xfrm>
            <a:off x="178850" y="4343088"/>
            <a:ext cx="788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Lexend"/>
                <a:ea typeface="Lexend"/>
                <a:cs typeface="Lexend"/>
                <a:sym typeface="Lexend"/>
              </a:rPr>
              <a:t>-&gt; How much </a:t>
            </a:r>
            <a:r>
              <a:rPr lang="es" sz="1600">
                <a:solidFill>
                  <a:schemeClr val="dk1"/>
                </a:solidFill>
                <a:latin typeface="Lexend"/>
                <a:ea typeface="Lexend"/>
                <a:cs typeface="Lexend"/>
                <a:sym typeface="Lexend"/>
              </a:rPr>
              <a:t>would</a:t>
            </a:r>
            <a:r>
              <a:rPr lang="es" sz="1600">
                <a:solidFill>
                  <a:schemeClr val="dk1"/>
                </a:solidFill>
                <a:latin typeface="Lexend"/>
                <a:ea typeface="Lexend"/>
                <a:cs typeface="Lexend"/>
                <a:sym typeface="Lexend"/>
              </a:rPr>
              <a:t> it cost to technologically replace ecosystem services?</a:t>
            </a:r>
            <a:endParaRPr sz="16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pic>
        <p:nvPicPr>
          <p:cNvPr id="84" name="Google Shape;84;p16" title="IMG_1532.jpeg"/>
          <p:cNvPicPr preferRelativeResize="0"/>
          <p:nvPr/>
        </p:nvPicPr>
        <p:blipFill>
          <a:blip r:embed="rId4">
            <a:alphaModFix/>
          </a:blip>
          <a:stretch>
            <a:fillRect/>
          </a:stretch>
        </p:blipFill>
        <p:spPr>
          <a:xfrm>
            <a:off x="143750" y="63850"/>
            <a:ext cx="4151674" cy="1315050"/>
          </a:xfrm>
          <a:prstGeom prst="rect">
            <a:avLst/>
          </a:prstGeom>
          <a:noFill/>
          <a:ln>
            <a:noFill/>
          </a:ln>
        </p:spPr>
      </p:pic>
      <p:sp>
        <p:nvSpPr>
          <p:cNvPr id="85" name="Google Shape;85;p16"/>
          <p:cNvSpPr txBox="1"/>
          <p:nvPr/>
        </p:nvSpPr>
        <p:spPr>
          <a:xfrm>
            <a:off x="259275" y="0"/>
            <a:ext cx="184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dk2"/>
                </a:solidFill>
              </a:rPr>
              <a:t>May 15th 1997</a:t>
            </a:r>
            <a:endParaRPr sz="1300">
              <a:solidFill>
                <a:schemeClr val="dk2"/>
              </a:solidFill>
            </a:endParaRPr>
          </a:p>
        </p:txBody>
      </p:sp>
      <p:graphicFrame>
        <p:nvGraphicFramePr>
          <p:cNvPr id="86" name="Google Shape;86;p16"/>
          <p:cNvGraphicFramePr/>
          <p:nvPr/>
        </p:nvGraphicFramePr>
        <p:xfrm>
          <a:off x="6097050" y="1471375"/>
          <a:ext cx="3000000" cy="3000000"/>
        </p:xfrm>
        <a:graphic>
          <a:graphicData uri="http://schemas.openxmlformats.org/drawingml/2006/table">
            <a:tbl>
              <a:tblPr>
                <a:noFill/>
                <a:tableStyleId>{714A1951-17B0-4B85-9420-5A595F7EAEAA}</a:tableStyleId>
              </a:tblPr>
              <a:tblGrid>
                <a:gridCol w="2836000"/>
              </a:tblGrid>
              <a:tr h="913500">
                <a:tc>
                  <a:txBody>
                    <a:bodyPr/>
                    <a:lstStyle/>
                    <a:p>
                      <a:pPr indent="0" lvl="0" marL="0" rtl="0" algn="l">
                        <a:spcBef>
                          <a:spcPts val="0"/>
                        </a:spcBef>
                        <a:spcAft>
                          <a:spcPts val="0"/>
                        </a:spcAft>
                        <a:buNone/>
                      </a:pPr>
                      <a:r>
                        <a:rPr lang="es"/>
                        <a:t>Making future studies more accurate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EEFF"/>
                    </a:solidFill>
                  </a:tcPr>
                </a:tc>
              </a:tr>
              <a:tr h="913500">
                <a:tc>
                  <a:txBody>
                    <a:bodyPr/>
                    <a:lstStyle/>
                    <a:p>
                      <a:pPr indent="0" lvl="0" marL="0" rtl="0" algn="l">
                        <a:spcBef>
                          <a:spcPts val="0"/>
                        </a:spcBef>
                        <a:spcAft>
                          <a:spcPts val="0"/>
                        </a:spcAft>
                        <a:buNone/>
                      </a:pPr>
                      <a:r>
                        <a:rPr lang="es"/>
                        <a:t>Include a broader range of Ecosystem Services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13500">
                <a:tc>
                  <a:txBody>
                    <a:bodyPr/>
                    <a:lstStyle/>
                    <a:p>
                      <a:pPr indent="0" lvl="0" marL="0" rtl="0" algn="l">
                        <a:spcBef>
                          <a:spcPts val="0"/>
                        </a:spcBef>
                        <a:spcAft>
                          <a:spcPts val="0"/>
                        </a:spcAft>
                        <a:buNone/>
                      </a:pPr>
                      <a:r>
                        <a:rPr lang="es"/>
                        <a:t>Represent ecosystem dynamics and interdependence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93750">
                <a:tc>
                  <a:txBody>
                    <a:bodyPr/>
                    <a:lstStyle/>
                    <a:p>
                      <a:pPr indent="0" lvl="0" marL="0" rtl="0" algn="l">
                        <a:spcBef>
                          <a:spcPts val="0"/>
                        </a:spcBef>
                        <a:spcAft>
                          <a:spcPts val="0"/>
                        </a:spcAft>
                        <a:buNone/>
                      </a:pPr>
                      <a:r>
                        <a:rPr lang="es"/>
                        <a:t>Study the effect of stress or scarcity of ecosystem services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87" name="Google Shape;87;p16"/>
          <p:cNvGraphicFramePr/>
          <p:nvPr/>
        </p:nvGraphicFramePr>
        <p:xfrm>
          <a:off x="259275" y="2595775"/>
          <a:ext cx="3000000" cy="3000000"/>
        </p:xfrm>
        <a:graphic>
          <a:graphicData uri="http://schemas.openxmlformats.org/drawingml/2006/table">
            <a:tbl>
              <a:tblPr>
                <a:noFill/>
                <a:tableStyleId>{714A1951-17B0-4B85-9420-5A595F7EAEAA}</a:tableStyleId>
              </a:tblPr>
              <a:tblGrid>
                <a:gridCol w="2530925"/>
              </a:tblGrid>
              <a:tr h="331550">
                <a:tc>
                  <a:txBody>
                    <a:bodyPr/>
                    <a:lstStyle/>
                    <a:p>
                      <a:pPr indent="0" lvl="0" marL="0" rtl="0" algn="l">
                        <a:spcBef>
                          <a:spcPts val="0"/>
                        </a:spcBef>
                        <a:spcAft>
                          <a:spcPts val="0"/>
                        </a:spcAft>
                        <a:buNone/>
                      </a:pPr>
                      <a:r>
                        <a:rPr lang="es"/>
                        <a:t>Goals of the study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EEFF"/>
                    </a:solidFill>
                  </a:tcPr>
                </a:tc>
              </a:tr>
              <a:tr h="674200">
                <a:tc>
                  <a:txBody>
                    <a:bodyPr/>
                    <a:lstStyle/>
                    <a:p>
                      <a:pPr indent="0" lvl="0" marL="0" rtl="0" algn="l">
                        <a:spcBef>
                          <a:spcPts val="0"/>
                        </a:spcBef>
                        <a:spcAft>
                          <a:spcPts val="0"/>
                        </a:spcAft>
                        <a:buNone/>
                      </a:pPr>
                      <a:r>
                        <a:rPr lang="es"/>
                        <a:t>Provide a range of possible values/first approximation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74200">
                <a:tc>
                  <a:txBody>
                    <a:bodyPr/>
                    <a:lstStyle/>
                    <a:p>
                      <a:pPr indent="0" lvl="0" marL="0" rtl="0" algn="l">
                        <a:spcBef>
                          <a:spcPts val="0"/>
                        </a:spcBef>
                        <a:spcAft>
                          <a:spcPts val="0"/>
                        </a:spcAft>
                        <a:buNone/>
                      </a:pPr>
                      <a:r>
                        <a:rPr lang="es"/>
                        <a:t>Framework that identifies research gaps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38225">
                <a:tc>
                  <a:txBody>
                    <a:bodyPr/>
                    <a:lstStyle/>
                    <a:p>
                      <a:pPr indent="0" lvl="0" marL="0" rtl="0" algn="l">
                        <a:spcBef>
                          <a:spcPts val="0"/>
                        </a:spcBef>
                        <a:spcAft>
                          <a:spcPts val="0"/>
                        </a:spcAft>
                        <a:buNone/>
                      </a:pPr>
                      <a:r>
                        <a:rPr lang="es"/>
                        <a:t>Encourage further study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88" name="Google Shape;88;p16"/>
          <p:cNvGraphicFramePr/>
          <p:nvPr/>
        </p:nvGraphicFramePr>
        <p:xfrm>
          <a:off x="3207900" y="2595775"/>
          <a:ext cx="3000000" cy="3000000"/>
        </p:xfrm>
        <a:graphic>
          <a:graphicData uri="http://schemas.openxmlformats.org/drawingml/2006/table">
            <a:tbl>
              <a:tblPr>
                <a:noFill/>
                <a:tableStyleId>{714A1951-17B0-4B85-9420-5A595F7EAEAA}</a:tableStyleId>
              </a:tblPr>
              <a:tblGrid>
                <a:gridCol w="2347700"/>
              </a:tblGrid>
              <a:tr h="381000">
                <a:tc>
                  <a:txBody>
                    <a:bodyPr/>
                    <a:lstStyle/>
                    <a:p>
                      <a:pPr indent="0" lvl="0" marL="0" rtl="0" algn="l">
                        <a:spcBef>
                          <a:spcPts val="0"/>
                        </a:spcBef>
                        <a:spcAft>
                          <a:spcPts val="0"/>
                        </a:spcAft>
                        <a:buNone/>
                      </a:pPr>
                      <a:r>
                        <a:rPr lang="es"/>
                        <a:t>Use of information discovered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EEFF"/>
                    </a:solidFill>
                  </a:tcPr>
                </a:tc>
              </a:tr>
              <a:tr h="381000">
                <a:tc>
                  <a:txBody>
                    <a:bodyPr/>
                    <a:lstStyle/>
                    <a:p>
                      <a:pPr indent="0" lvl="0" marL="0" rtl="0" algn="l">
                        <a:spcBef>
                          <a:spcPts val="0"/>
                        </a:spcBef>
                        <a:spcAft>
                          <a:spcPts val="0"/>
                        </a:spcAft>
                        <a:buNone/>
                      </a:pPr>
                      <a:r>
                        <a:rPr lang="es"/>
                        <a:t>Modify systems to reflect value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s"/>
                        <a:t>Project Appraisal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s"/>
                        <a:t>Represent relative importance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9" name="Google Shape;89;p16"/>
          <p:cNvSpPr txBox="1"/>
          <p:nvPr/>
        </p:nvSpPr>
        <p:spPr>
          <a:xfrm>
            <a:off x="4361400" y="248050"/>
            <a:ext cx="4432500" cy="10158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s" sz="1800">
                <a:solidFill>
                  <a:schemeClr val="dk1"/>
                </a:solidFill>
                <a:latin typeface="Lexend"/>
                <a:ea typeface="Lexend"/>
                <a:cs typeface="Lexend"/>
                <a:sym typeface="Lexend"/>
              </a:rPr>
              <a:t>A synthesis of literature and calculations to produce a global value of ecosystem services</a:t>
            </a:r>
            <a:endParaRPr sz="1800">
              <a:solidFill>
                <a:schemeClr val="dk1"/>
              </a:solidFill>
              <a:latin typeface="Lexend"/>
              <a:ea typeface="Lexend"/>
              <a:cs typeface="Lexend"/>
              <a:sym typeface="Lexend"/>
            </a:endParaRPr>
          </a:p>
        </p:txBody>
      </p:sp>
      <p:sp>
        <p:nvSpPr>
          <p:cNvPr id="90" name="Google Shape;90;p16"/>
          <p:cNvSpPr txBox="1"/>
          <p:nvPr/>
        </p:nvSpPr>
        <p:spPr>
          <a:xfrm>
            <a:off x="0" y="1263850"/>
            <a:ext cx="5513400" cy="1293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s" sz="1800">
                <a:solidFill>
                  <a:schemeClr val="dk1"/>
                </a:solidFill>
                <a:latin typeface="Lexend"/>
                <a:ea typeface="Lexend"/>
                <a:cs typeface="Lexend"/>
                <a:sym typeface="Lexend"/>
              </a:rPr>
              <a:t>Method:</a:t>
            </a:r>
            <a:endParaRPr sz="1800">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17 ecosystem services from 16 biomes</a:t>
            </a:r>
            <a:endParaRPr sz="1800">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calculate value per unit area</a:t>
            </a:r>
            <a:endParaRPr sz="1800">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unit value x surface area = global total</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pic>
        <p:nvPicPr>
          <p:cNvPr id="95" name="Google Shape;95;p17" title="IMG_1510.jpeg"/>
          <p:cNvPicPr preferRelativeResize="0"/>
          <p:nvPr/>
        </p:nvPicPr>
        <p:blipFill>
          <a:blip r:embed="rId4">
            <a:alphaModFix/>
          </a:blip>
          <a:stretch>
            <a:fillRect/>
          </a:stretch>
        </p:blipFill>
        <p:spPr>
          <a:xfrm>
            <a:off x="347538" y="4229925"/>
            <a:ext cx="3953749" cy="637025"/>
          </a:xfrm>
          <a:prstGeom prst="rect">
            <a:avLst/>
          </a:prstGeom>
          <a:noFill/>
          <a:ln>
            <a:noFill/>
          </a:ln>
        </p:spPr>
      </p:pic>
      <p:sp>
        <p:nvSpPr>
          <p:cNvPr id="96" name="Google Shape;96;p17"/>
          <p:cNvSpPr txBox="1"/>
          <p:nvPr/>
        </p:nvSpPr>
        <p:spPr>
          <a:xfrm>
            <a:off x="6584264" y="4774200"/>
            <a:ext cx="3090300" cy="369300"/>
          </a:xfrm>
          <a:prstGeom prst="rect">
            <a:avLst/>
          </a:prstGeom>
          <a:noFill/>
          <a:ln>
            <a:noFill/>
          </a:ln>
        </p:spPr>
        <p:txBody>
          <a:bodyPr anchorCtr="0" anchor="t" bIns="91425" lIns="91425" spcFirstLastPara="1" rIns="91425" wrap="square" tIns="91425">
            <a:spAutoFit/>
          </a:bodyPr>
          <a:lstStyle/>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Costanza, Robert, et al. (1997). Nature</a:t>
            </a:r>
            <a:endParaRPr sz="1800">
              <a:solidFill>
                <a:schemeClr val="dk2"/>
              </a:solidFill>
            </a:endParaRPr>
          </a:p>
        </p:txBody>
      </p:sp>
      <p:pic>
        <p:nvPicPr>
          <p:cNvPr id="97" name="Google Shape;97;p17" title="IMG_1553.jpeg"/>
          <p:cNvPicPr preferRelativeResize="0"/>
          <p:nvPr/>
        </p:nvPicPr>
        <p:blipFill>
          <a:blip r:embed="rId5">
            <a:alphaModFix/>
          </a:blip>
          <a:stretch>
            <a:fillRect/>
          </a:stretch>
        </p:blipFill>
        <p:spPr>
          <a:xfrm>
            <a:off x="440550" y="1025625"/>
            <a:ext cx="3767717" cy="2928149"/>
          </a:xfrm>
          <a:prstGeom prst="rect">
            <a:avLst/>
          </a:prstGeom>
          <a:noFill/>
          <a:ln>
            <a:noFill/>
          </a:ln>
        </p:spPr>
      </p:pic>
      <p:pic>
        <p:nvPicPr>
          <p:cNvPr id="98" name="Google Shape;98;p17" title="IMG_1552.jpeg"/>
          <p:cNvPicPr preferRelativeResize="0"/>
          <p:nvPr/>
        </p:nvPicPr>
        <p:blipFill>
          <a:blip r:embed="rId6">
            <a:alphaModFix/>
          </a:blip>
          <a:stretch>
            <a:fillRect/>
          </a:stretch>
        </p:blipFill>
        <p:spPr>
          <a:xfrm>
            <a:off x="4836125" y="812627"/>
            <a:ext cx="3090300" cy="3852271"/>
          </a:xfrm>
          <a:prstGeom prst="rect">
            <a:avLst/>
          </a:prstGeom>
          <a:noFill/>
          <a:ln>
            <a:noFill/>
          </a:ln>
        </p:spPr>
      </p:pic>
      <p:sp>
        <p:nvSpPr>
          <p:cNvPr id="99" name="Google Shape;99;p17"/>
          <p:cNvSpPr txBox="1"/>
          <p:nvPr/>
        </p:nvSpPr>
        <p:spPr>
          <a:xfrm>
            <a:off x="506400" y="493675"/>
            <a:ext cx="3636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600">
                <a:solidFill>
                  <a:schemeClr val="dk1"/>
                </a:solidFill>
                <a:latin typeface="Lexend"/>
                <a:ea typeface="Lexend"/>
                <a:cs typeface="Lexend"/>
                <a:sym typeface="Lexend"/>
              </a:rPr>
              <a:t>Human-made substitutable good</a:t>
            </a:r>
            <a:endParaRPr sz="1600">
              <a:solidFill>
                <a:schemeClr val="dk2"/>
              </a:solidFill>
              <a:latin typeface="Lexend"/>
              <a:ea typeface="Lexend"/>
              <a:cs typeface="Lexend"/>
              <a:sym typeface="Lexend"/>
            </a:endParaRPr>
          </a:p>
        </p:txBody>
      </p:sp>
      <p:sp>
        <p:nvSpPr>
          <p:cNvPr id="100" name="Google Shape;100;p17"/>
          <p:cNvSpPr txBox="1"/>
          <p:nvPr/>
        </p:nvSpPr>
        <p:spPr>
          <a:xfrm>
            <a:off x="5341970" y="272225"/>
            <a:ext cx="2251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600">
                <a:solidFill>
                  <a:schemeClr val="dk1"/>
                </a:solidFill>
                <a:latin typeface="Lexend"/>
                <a:ea typeface="Lexend"/>
                <a:cs typeface="Lexend"/>
                <a:sym typeface="Lexend"/>
              </a:rPr>
              <a:t>Ecosystem service</a:t>
            </a:r>
            <a:endParaRPr sz="1600">
              <a:solidFill>
                <a:schemeClr val="dk2"/>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Lexend"/>
                <a:ea typeface="Lexend"/>
                <a:cs typeface="Lexend"/>
                <a:sym typeface="Lexend"/>
              </a:rPr>
              <a:t>Global Value</a:t>
            </a:r>
            <a:endParaRPr>
              <a:latin typeface="Lexend"/>
              <a:ea typeface="Lexend"/>
              <a:cs typeface="Lexend"/>
              <a:sym typeface="Lexend"/>
            </a:endParaRPr>
          </a:p>
        </p:txBody>
      </p:sp>
      <p:sp>
        <p:nvSpPr>
          <p:cNvPr id="106" name="Google Shape;106;p18"/>
          <p:cNvSpPr txBox="1"/>
          <p:nvPr>
            <p:ph idx="1" type="body"/>
          </p:nvPr>
        </p:nvSpPr>
        <p:spPr>
          <a:xfrm>
            <a:off x="311700" y="1152475"/>
            <a:ext cx="4743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1200"/>
              </a:spcBef>
              <a:spcAft>
                <a:spcPts val="0"/>
              </a:spcAft>
              <a:buNone/>
            </a:pPr>
            <a:r>
              <a:rPr lang="es" sz="1300">
                <a:solidFill>
                  <a:schemeClr val="dk1"/>
                </a:solidFill>
              </a:rPr>
              <a:t>Estimated global value: </a:t>
            </a:r>
            <a:endParaRPr sz="1300">
              <a:solidFill>
                <a:schemeClr val="dk1"/>
              </a:solidFill>
            </a:endParaRPr>
          </a:p>
          <a:p>
            <a:pPr indent="0" lvl="0" marL="0" rtl="0" algn="l">
              <a:lnSpc>
                <a:spcPct val="100000"/>
              </a:lnSpc>
              <a:spcBef>
                <a:spcPts val="1200"/>
              </a:spcBef>
              <a:spcAft>
                <a:spcPts val="0"/>
              </a:spcAft>
              <a:buNone/>
            </a:pPr>
            <a:r>
              <a:rPr b="1" lang="es" sz="1300">
                <a:solidFill>
                  <a:schemeClr val="dk1"/>
                </a:solidFill>
              </a:rPr>
              <a:t>$16–54 trillion/year</a:t>
            </a:r>
            <a:r>
              <a:rPr lang="es" sz="1300">
                <a:solidFill>
                  <a:schemeClr val="dk1"/>
                </a:solidFill>
              </a:rPr>
              <a:t>, average </a:t>
            </a:r>
            <a:r>
              <a:rPr b="1" lang="es" sz="1300">
                <a:solidFill>
                  <a:schemeClr val="dk1"/>
                </a:solidFill>
              </a:rPr>
              <a:t>$33 trillion </a:t>
            </a:r>
            <a:r>
              <a:rPr b="1" lang="es" sz="1600">
                <a:solidFill>
                  <a:schemeClr val="dk1"/>
                </a:solidFill>
              </a:rPr>
              <a:t>→</a:t>
            </a:r>
            <a:r>
              <a:rPr b="1" lang="es" sz="1300">
                <a:solidFill>
                  <a:schemeClr val="dk1"/>
                </a:solidFill>
              </a:rPr>
              <a:t> </a:t>
            </a:r>
            <a:r>
              <a:rPr b="1" lang="es" sz="1100">
                <a:solidFill>
                  <a:schemeClr val="dk1"/>
                </a:solidFill>
              </a:rPr>
              <a:t>~1.8× global GNP in 1997</a:t>
            </a:r>
            <a:endParaRPr b="1" sz="1100">
              <a:solidFill>
                <a:schemeClr val="dk1"/>
              </a:solidFill>
            </a:endParaRPr>
          </a:p>
          <a:p>
            <a:pPr indent="0" lvl="0" marL="0" rtl="0" algn="l">
              <a:lnSpc>
                <a:spcPct val="100000"/>
              </a:lnSpc>
              <a:spcBef>
                <a:spcPts val="1200"/>
              </a:spcBef>
              <a:spcAft>
                <a:spcPts val="0"/>
              </a:spcAft>
              <a:buNone/>
            </a:pPr>
            <a:r>
              <a:rPr lang="es" sz="1200">
                <a:solidFill>
                  <a:schemeClr val="dk1"/>
                </a:solidFill>
              </a:rPr>
              <a:t>Replacing ecosystem services would require increasing GNP by</a:t>
            </a:r>
            <a:r>
              <a:rPr b="1" lang="es" sz="1200">
                <a:solidFill>
                  <a:schemeClr val="dk1"/>
                </a:solidFill>
              </a:rPr>
              <a:t> ~$33 trillion</a:t>
            </a:r>
            <a:r>
              <a:rPr lang="es" sz="1200">
                <a:solidFill>
                  <a:schemeClr val="dk1"/>
                </a:solidFill>
              </a:rPr>
              <a:t> in 1997 just to maintain current welfare.</a:t>
            </a:r>
            <a:endParaRPr sz="1200">
              <a:solidFill>
                <a:schemeClr val="dk1"/>
              </a:solidFill>
            </a:endParaRPr>
          </a:p>
          <a:p>
            <a:pPr indent="0" lvl="0" marL="0" rtl="0" algn="l">
              <a:lnSpc>
                <a:spcPct val="100000"/>
              </a:lnSpc>
              <a:spcBef>
                <a:spcPts val="1200"/>
              </a:spcBef>
              <a:spcAft>
                <a:spcPts val="0"/>
              </a:spcAft>
              <a:buNone/>
            </a:pPr>
            <a:r>
              <a:rPr b="1" lang="es" sz="1300">
                <a:solidFill>
                  <a:schemeClr val="dk1"/>
                </a:solidFill>
              </a:rPr>
              <a:t>$179 trillion/year</a:t>
            </a:r>
            <a:r>
              <a:rPr lang="es" sz="1300">
                <a:solidFill>
                  <a:schemeClr val="dk1"/>
                </a:solidFill>
              </a:rPr>
              <a:t> </a:t>
            </a:r>
            <a:r>
              <a:rPr b="1" lang="es" sz="1300">
                <a:solidFill>
                  <a:schemeClr val="dk1"/>
                </a:solidFill>
              </a:rPr>
              <a:t> </a:t>
            </a:r>
            <a:r>
              <a:rPr b="1" lang="es" sz="1600">
                <a:solidFill>
                  <a:schemeClr val="dk1"/>
                </a:solidFill>
              </a:rPr>
              <a:t>→</a:t>
            </a:r>
            <a:r>
              <a:rPr b="1" lang="es" sz="1300">
                <a:solidFill>
                  <a:schemeClr val="dk1"/>
                </a:solidFill>
              </a:rPr>
              <a:t> </a:t>
            </a:r>
            <a:r>
              <a:rPr b="1" lang="es" sz="1100">
                <a:solidFill>
                  <a:schemeClr val="dk1"/>
                </a:solidFill>
              </a:rPr>
              <a:t>~1.7× global GDP in 2023, </a:t>
            </a:r>
            <a:r>
              <a:rPr lang="es" sz="1100">
                <a:solidFill>
                  <a:schemeClr val="dk1"/>
                </a:solidFill>
              </a:rPr>
              <a:t>based on 2019 ~2023 datas.</a:t>
            </a:r>
            <a:endParaRPr sz="1100">
              <a:solidFill>
                <a:schemeClr val="dk1"/>
              </a:solidFill>
            </a:endParaRPr>
          </a:p>
          <a:p>
            <a:pPr indent="0" lvl="0" marL="0" rtl="0" algn="l">
              <a:lnSpc>
                <a:spcPct val="100000"/>
              </a:lnSpc>
              <a:spcBef>
                <a:spcPts val="1200"/>
              </a:spcBef>
              <a:spcAft>
                <a:spcPts val="0"/>
              </a:spcAft>
              <a:buNone/>
            </a:pPr>
            <a:r>
              <a:rPr lang="es" sz="1200">
                <a:solidFill>
                  <a:schemeClr val="dk1"/>
                </a:solidFill>
              </a:rPr>
              <a:t>Replacing ecosystem services would require increasing GNP by</a:t>
            </a:r>
            <a:r>
              <a:rPr b="1" lang="es" sz="1200">
                <a:solidFill>
                  <a:schemeClr val="dk1"/>
                </a:solidFill>
              </a:rPr>
              <a:t> ~$179 trillion</a:t>
            </a:r>
            <a:r>
              <a:rPr lang="es" sz="1200">
                <a:solidFill>
                  <a:schemeClr val="dk1"/>
                </a:solidFill>
              </a:rPr>
              <a:t> in 2023 just to maintain current welfare.</a:t>
            </a:r>
            <a:endParaRPr sz="1100">
              <a:solidFill>
                <a:schemeClr val="dk1"/>
              </a:solidFill>
            </a:endParaRPr>
          </a:p>
          <a:p>
            <a:pPr indent="0" lvl="0" marL="0" rtl="0" algn="l">
              <a:lnSpc>
                <a:spcPct val="100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1200"/>
              </a:spcBef>
              <a:spcAft>
                <a:spcPts val="1200"/>
              </a:spcAft>
              <a:buNone/>
            </a:pPr>
            <a:r>
              <a:t/>
            </a:r>
            <a:endParaRPr b="1" sz="1300">
              <a:solidFill>
                <a:schemeClr val="dk1"/>
              </a:solidFill>
            </a:endParaRPr>
          </a:p>
        </p:txBody>
      </p:sp>
      <p:pic>
        <p:nvPicPr>
          <p:cNvPr id="107" name="Google Shape;107;p18" title="1744565666028.jpeg"/>
          <p:cNvPicPr preferRelativeResize="0"/>
          <p:nvPr/>
        </p:nvPicPr>
        <p:blipFill>
          <a:blip r:embed="rId4">
            <a:alphaModFix/>
          </a:blip>
          <a:stretch>
            <a:fillRect/>
          </a:stretch>
        </p:blipFill>
        <p:spPr>
          <a:xfrm>
            <a:off x="5146225" y="132325"/>
            <a:ext cx="3578766" cy="4771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19"/>
          <p:cNvSpPr txBox="1"/>
          <p:nvPr/>
        </p:nvSpPr>
        <p:spPr>
          <a:xfrm>
            <a:off x="195600" y="3894100"/>
            <a:ext cx="5376300" cy="144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s" sz="1600">
                <a:solidFill>
                  <a:schemeClr val="dk1"/>
                </a:solidFill>
                <a:latin typeface="Lexend"/>
                <a:ea typeface="Lexend"/>
                <a:cs typeface="Lexend"/>
                <a:sym typeface="Lexend"/>
              </a:rPr>
              <a:t>T</a:t>
            </a:r>
            <a:r>
              <a:rPr lang="es" sz="1600">
                <a:solidFill>
                  <a:schemeClr val="dk1"/>
                </a:solidFill>
                <a:latin typeface="Lexend"/>
                <a:ea typeface="Lexend"/>
                <a:cs typeface="Lexend"/>
                <a:sym typeface="Lexend"/>
              </a:rPr>
              <a:t>he role of culture and local </a:t>
            </a:r>
            <a:r>
              <a:rPr lang="es" sz="1600">
                <a:solidFill>
                  <a:schemeClr val="dk1"/>
                </a:solidFill>
                <a:latin typeface="Lexend"/>
                <a:ea typeface="Lexend"/>
                <a:cs typeface="Lexend"/>
                <a:sym typeface="Lexend"/>
              </a:rPr>
              <a:t>knowledge</a:t>
            </a:r>
            <a:r>
              <a:rPr lang="es" sz="1600">
                <a:solidFill>
                  <a:schemeClr val="dk1"/>
                </a:solidFill>
                <a:latin typeface="Lexend"/>
                <a:ea typeface="Lexend"/>
                <a:cs typeface="Lexend"/>
                <a:sym typeface="Lexend"/>
              </a:rPr>
              <a:t> in defining NCPs</a:t>
            </a:r>
            <a:endParaRPr sz="16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2"/>
              </a:solidFill>
            </a:endParaRPr>
          </a:p>
        </p:txBody>
      </p:sp>
      <p:sp>
        <p:nvSpPr>
          <p:cNvPr id="113" name="Google Shape;113;p19"/>
          <p:cNvSpPr txBox="1"/>
          <p:nvPr/>
        </p:nvSpPr>
        <p:spPr>
          <a:xfrm>
            <a:off x="6396375" y="4627075"/>
            <a:ext cx="2343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((2025) </a:t>
            </a:r>
            <a:r>
              <a:rPr lang="es" sz="1200">
                <a:solidFill>
                  <a:schemeClr val="dk1"/>
                </a:solidFill>
                <a:latin typeface="Times New Roman"/>
                <a:ea typeface="Times New Roman"/>
                <a:cs typeface="Times New Roman"/>
                <a:sym typeface="Times New Roman"/>
              </a:rPr>
              <a:t>Restauración Ecológica</a:t>
            </a:r>
            <a:r>
              <a:rPr lang="es" sz="1200">
                <a:solidFill>
                  <a:schemeClr val="dk1"/>
                </a:solidFill>
                <a:latin typeface="Times New Roman"/>
                <a:ea typeface="Times New Roman"/>
                <a:cs typeface="Times New Roman"/>
                <a:sym typeface="Times New Roman"/>
              </a:rPr>
              <a:t>.)</a:t>
            </a:r>
            <a:endParaRPr sz="1800">
              <a:solidFill>
                <a:schemeClr val="dk2"/>
              </a:solidFill>
            </a:endParaRPr>
          </a:p>
        </p:txBody>
      </p:sp>
      <p:pic>
        <p:nvPicPr>
          <p:cNvPr id="114" name="Google Shape;114;p19" title="IMG_1531.jpeg"/>
          <p:cNvPicPr preferRelativeResize="0"/>
          <p:nvPr/>
        </p:nvPicPr>
        <p:blipFill>
          <a:blip r:embed="rId4">
            <a:alphaModFix/>
          </a:blip>
          <a:stretch>
            <a:fillRect/>
          </a:stretch>
        </p:blipFill>
        <p:spPr>
          <a:xfrm>
            <a:off x="195600" y="102500"/>
            <a:ext cx="4372625" cy="1206125"/>
          </a:xfrm>
          <a:prstGeom prst="rect">
            <a:avLst/>
          </a:prstGeom>
          <a:noFill/>
          <a:ln>
            <a:noFill/>
          </a:ln>
        </p:spPr>
      </p:pic>
      <p:sp>
        <p:nvSpPr>
          <p:cNvPr id="115" name="Google Shape;115;p19"/>
          <p:cNvSpPr txBox="1"/>
          <p:nvPr/>
        </p:nvSpPr>
        <p:spPr>
          <a:xfrm>
            <a:off x="3067725" y="380025"/>
            <a:ext cx="1903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dk2"/>
                </a:solidFill>
              </a:rPr>
              <a:t>January 19th 2018</a:t>
            </a:r>
            <a:endParaRPr sz="1300">
              <a:solidFill>
                <a:schemeClr val="dk2"/>
              </a:solidFill>
            </a:endParaRPr>
          </a:p>
        </p:txBody>
      </p:sp>
      <p:sp>
        <p:nvSpPr>
          <p:cNvPr id="116" name="Google Shape;116;p19"/>
          <p:cNvSpPr txBox="1"/>
          <p:nvPr/>
        </p:nvSpPr>
        <p:spPr>
          <a:xfrm>
            <a:off x="4717450" y="102500"/>
            <a:ext cx="5195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latin typeface="Lexend"/>
                <a:ea typeface="Lexend"/>
                <a:cs typeface="Lexend"/>
                <a:sym typeface="Lexend"/>
              </a:rPr>
              <a:t>Nature’s contributions to people</a:t>
            </a:r>
            <a:endParaRPr>
              <a:solidFill>
                <a:schemeClr val="dk1"/>
              </a:solidFill>
              <a:latin typeface="Lexend"/>
              <a:ea typeface="Lexend"/>
              <a:cs typeface="Lexend"/>
              <a:sym typeface="Lexend"/>
            </a:endParaRPr>
          </a:p>
        </p:txBody>
      </p:sp>
      <p:pic>
        <p:nvPicPr>
          <p:cNvPr id="117" name="Google Shape;117;p19" title="IMG_1560.jpeg"/>
          <p:cNvPicPr preferRelativeResize="0"/>
          <p:nvPr/>
        </p:nvPicPr>
        <p:blipFill>
          <a:blip r:embed="rId5">
            <a:alphaModFix/>
          </a:blip>
          <a:stretch>
            <a:fillRect/>
          </a:stretch>
        </p:blipFill>
        <p:spPr>
          <a:xfrm>
            <a:off x="5798350" y="1750175"/>
            <a:ext cx="2698514" cy="2852724"/>
          </a:xfrm>
          <a:prstGeom prst="rect">
            <a:avLst/>
          </a:prstGeom>
          <a:noFill/>
          <a:ln>
            <a:noFill/>
          </a:ln>
        </p:spPr>
      </p:pic>
      <p:sp>
        <p:nvSpPr>
          <p:cNvPr id="118" name="Google Shape;118;p19"/>
          <p:cNvSpPr txBox="1"/>
          <p:nvPr/>
        </p:nvSpPr>
        <p:spPr>
          <a:xfrm>
            <a:off x="647996" y="1530049"/>
            <a:ext cx="4895700" cy="558300"/>
          </a:xfrm>
          <a:prstGeom prst="rect">
            <a:avLst/>
          </a:prstGeom>
          <a:noFill/>
          <a:ln>
            <a:noFill/>
          </a:ln>
        </p:spPr>
        <p:txBody>
          <a:bodyPr anchorCtr="0" anchor="t" bIns="87275" lIns="87275" spcFirstLastPara="1" rIns="87275" wrap="square" tIns="87275">
            <a:spAutoFit/>
          </a:bodyPr>
          <a:lstStyle/>
          <a:p>
            <a:pPr indent="0" lvl="0" marL="0" rtl="0" algn="l">
              <a:spcBef>
                <a:spcPts val="1146"/>
              </a:spcBef>
              <a:spcAft>
                <a:spcPts val="1146"/>
              </a:spcAft>
              <a:buNone/>
            </a:pPr>
            <a:r>
              <a:rPr lang="es" sz="1145">
                <a:solidFill>
                  <a:schemeClr val="dk1"/>
                </a:solidFill>
                <a:latin typeface="Lexend"/>
                <a:ea typeface="Lexend"/>
                <a:cs typeface="Lexend"/>
                <a:sym typeface="Lexend"/>
              </a:rPr>
              <a:t>-</a:t>
            </a:r>
            <a:r>
              <a:rPr lang="es" sz="1241">
                <a:solidFill>
                  <a:schemeClr val="dk1"/>
                </a:solidFill>
                <a:latin typeface="Lexend"/>
                <a:ea typeface="Lexend"/>
                <a:cs typeface="Lexend"/>
                <a:sym typeface="Lexend"/>
              </a:rPr>
              <a:t>P</a:t>
            </a:r>
            <a:r>
              <a:rPr lang="es" sz="1241">
                <a:solidFill>
                  <a:schemeClr val="dk1"/>
                </a:solidFill>
                <a:latin typeface="Lexend"/>
                <a:ea typeface="Lexend"/>
                <a:cs typeface="Lexend"/>
                <a:sym typeface="Lexend"/>
              </a:rPr>
              <a:t>aper focus: need to sustain/improve nature’s beneficial contributions to human quality of life.</a:t>
            </a:r>
            <a:endParaRPr sz="1527">
              <a:latin typeface="Lexend"/>
              <a:ea typeface="Lexend"/>
              <a:cs typeface="Lexend"/>
              <a:sym typeface="Lexend"/>
            </a:endParaRPr>
          </a:p>
        </p:txBody>
      </p:sp>
      <p:sp>
        <p:nvSpPr>
          <p:cNvPr id="119" name="Google Shape;119;p19"/>
          <p:cNvSpPr txBox="1"/>
          <p:nvPr/>
        </p:nvSpPr>
        <p:spPr>
          <a:xfrm>
            <a:off x="3577500" y="2176700"/>
            <a:ext cx="1690800" cy="1131300"/>
          </a:xfrm>
          <a:prstGeom prst="rect">
            <a:avLst/>
          </a:prstGeom>
          <a:noFill/>
          <a:ln>
            <a:noFill/>
          </a:ln>
        </p:spPr>
        <p:txBody>
          <a:bodyPr anchorCtr="0" anchor="t" bIns="87275" lIns="87275" spcFirstLastPara="1" rIns="87275" wrap="square" tIns="87275">
            <a:spAutoFit/>
          </a:bodyPr>
          <a:lstStyle/>
          <a:p>
            <a:pPr indent="0" lvl="0" marL="0" rtl="0" algn="l">
              <a:spcBef>
                <a:spcPts val="1146"/>
              </a:spcBef>
              <a:spcAft>
                <a:spcPts val="1146"/>
              </a:spcAft>
              <a:buNone/>
            </a:pPr>
            <a:r>
              <a:rPr lang="es" sz="1241">
                <a:solidFill>
                  <a:schemeClr val="dk1"/>
                </a:solidFill>
                <a:latin typeface="Lexend"/>
                <a:ea typeface="Lexend"/>
                <a:cs typeface="Lexend"/>
                <a:sym typeface="Lexend"/>
              </a:rPr>
              <a:t>The challenge motivated IPBES+MA, a science-policy framework</a:t>
            </a:r>
            <a:endParaRPr sz="1431">
              <a:latin typeface="Lexend"/>
              <a:ea typeface="Lexend"/>
              <a:cs typeface="Lexend"/>
              <a:sym typeface="Lexend"/>
            </a:endParaRPr>
          </a:p>
        </p:txBody>
      </p:sp>
      <p:sp>
        <p:nvSpPr>
          <p:cNvPr id="120" name="Google Shape;120;p19"/>
          <p:cNvSpPr txBox="1"/>
          <p:nvPr/>
        </p:nvSpPr>
        <p:spPr>
          <a:xfrm>
            <a:off x="183200" y="2088350"/>
            <a:ext cx="1635900" cy="1322400"/>
          </a:xfrm>
          <a:prstGeom prst="rect">
            <a:avLst/>
          </a:prstGeom>
          <a:noFill/>
          <a:ln>
            <a:noFill/>
          </a:ln>
        </p:spPr>
        <p:txBody>
          <a:bodyPr anchorCtr="0" anchor="t" bIns="87275" lIns="87275" spcFirstLastPara="1" rIns="87275" wrap="square" tIns="87275">
            <a:spAutoFit/>
          </a:bodyPr>
          <a:lstStyle/>
          <a:p>
            <a:pPr indent="0" lvl="0" marL="0" rtl="0" algn="l">
              <a:spcBef>
                <a:spcPts val="1146"/>
              </a:spcBef>
              <a:spcAft>
                <a:spcPts val="1146"/>
              </a:spcAft>
              <a:buNone/>
            </a:pPr>
            <a:r>
              <a:rPr lang="es" sz="1241">
                <a:solidFill>
                  <a:schemeClr val="dk1"/>
                </a:solidFill>
                <a:latin typeface="Lexend"/>
                <a:ea typeface="Lexend"/>
                <a:cs typeface="Lexend"/>
                <a:sym typeface="Lexend"/>
              </a:rPr>
              <a:t>Not suitable anymore, too focused on ecology+economy Authors favour NCP instead</a:t>
            </a:r>
            <a:endParaRPr sz="1241">
              <a:solidFill>
                <a:schemeClr val="dk1"/>
              </a:solidFill>
              <a:latin typeface="Lexend"/>
              <a:ea typeface="Lexend"/>
              <a:cs typeface="Lexend"/>
              <a:sym typeface="Lexend"/>
            </a:endParaRPr>
          </a:p>
        </p:txBody>
      </p:sp>
      <p:pic>
        <p:nvPicPr>
          <p:cNvPr id="121" name="Google Shape;121;p19"/>
          <p:cNvPicPr preferRelativeResize="0"/>
          <p:nvPr/>
        </p:nvPicPr>
        <p:blipFill>
          <a:blip r:embed="rId6">
            <a:alphaModFix/>
          </a:blip>
          <a:stretch>
            <a:fillRect/>
          </a:stretch>
        </p:blipFill>
        <p:spPr>
          <a:xfrm>
            <a:off x="1970953" y="2176712"/>
            <a:ext cx="960647" cy="1007324"/>
          </a:xfrm>
          <a:prstGeom prst="rect">
            <a:avLst/>
          </a:prstGeom>
          <a:noFill/>
          <a:ln>
            <a:noFill/>
          </a:ln>
        </p:spPr>
      </p:pic>
      <p:sp>
        <p:nvSpPr>
          <p:cNvPr id="122" name="Google Shape;122;p19"/>
          <p:cNvSpPr txBox="1"/>
          <p:nvPr/>
        </p:nvSpPr>
        <p:spPr>
          <a:xfrm>
            <a:off x="4717450" y="483350"/>
            <a:ext cx="40224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Lexend"/>
              <a:buChar char="-"/>
            </a:pPr>
            <a:r>
              <a:rPr lang="es">
                <a:solidFill>
                  <a:schemeClr val="dk1"/>
                </a:solidFill>
                <a:latin typeface="Lexend"/>
                <a:ea typeface="Lexend"/>
                <a:cs typeface="Lexend"/>
                <a:sym typeface="Lexend"/>
              </a:rPr>
              <a:t>both positive and negative </a:t>
            </a:r>
            <a:r>
              <a:rPr lang="es">
                <a:solidFill>
                  <a:schemeClr val="dk1"/>
                </a:solidFill>
              </a:rPr>
              <a:t>(Eg. Food provision/Disease transmission)</a:t>
            </a:r>
            <a:endParaRPr>
              <a:solidFill>
                <a:schemeClr val="dk1"/>
              </a:solidFill>
              <a:latin typeface="Lexend"/>
              <a:ea typeface="Lexend"/>
              <a:cs typeface="Lexend"/>
              <a:sym typeface="Lexend"/>
            </a:endParaRPr>
          </a:p>
          <a:p>
            <a:pPr indent="-317500" lvl="0" marL="457200" rtl="0" algn="l">
              <a:spcBef>
                <a:spcPts val="0"/>
              </a:spcBef>
              <a:spcAft>
                <a:spcPts val="0"/>
              </a:spcAft>
              <a:buClr>
                <a:schemeClr val="dk1"/>
              </a:buClr>
              <a:buSzPts val="1400"/>
              <a:buFont typeface="Lexend"/>
              <a:buChar char="-"/>
            </a:pPr>
            <a:r>
              <a:rPr lang="es">
                <a:solidFill>
                  <a:schemeClr val="dk1"/>
                </a:solidFill>
                <a:latin typeface="Lexend"/>
                <a:ea typeface="Lexend"/>
                <a:cs typeface="Lexend"/>
                <a:sym typeface="Lexend"/>
              </a:rPr>
              <a:t>Cultural context can affect connotation</a:t>
            </a:r>
            <a:endParaRPr/>
          </a:p>
        </p:txBody>
      </p:sp>
      <p:sp>
        <p:nvSpPr>
          <p:cNvPr id="123" name="Google Shape;123;p19"/>
          <p:cNvSpPr txBox="1"/>
          <p:nvPr/>
        </p:nvSpPr>
        <p:spPr>
          <a:xfrm>
            <a:off x="195600" y="3820825"/>
            <a:ext cx="300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Lexend"/>
                <a:ea typeface="Lexend"/>
                <a:cs typeface="Lexend"/>
                <a:sym typeface="Lexend"/>
              </a:rPr>
              <a:t>Primary Difference 1997 vs. 2018: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0"/>
          <p:cNvSpPr txBox="1"/>
          <p:nvPr/>
        </p:nvSpPr>
        <p:spPr>
          <a:xfrm>
            <a:off x="292100" y="219100"/>
            <a:ext cx="600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Lexend"/>
                <a:ea typeface="Lexend"/>
                <a:cs typeface="Lexend"/>
                <a:sym typeface="Lexend"/>
              </a:rPr>
              <a:t>Generalizing and Context Specific perspective</a:t>
            </a:r>
            <a:endParaRPr sz="1800">
              <a:solidFill>
                <a:schemeClr val="dk1"/>
              </a:solidFill>
              <a:latin typeface="Lexend"/>
              <a:ea typeface="Lexend"/>
              <a:cs typeface="Lexend"/>
              <a:sym typeface="Lexend"/>
            </a:endParaRPr>
          </a:p>
        </p:txBody>
      </p:sp>
      <p:pic>
        <p:nvPicPr>
          <p:cNvPr id="129" name="Google Shape;129;p20" title="IMG_1545.jpeg"/>
          <p:cNvPicPr preferRelativeResize="0"/>
          <p:nvPr/>
        </p:nvPicPr>
        <p:blipFill>
          <a:blip r:embed="rId4">
            <a:alphaModFix/>
          </a:blip>
          <a:stretch>
            <a:fillRect/>
          </a:stretch>
        </p:blipFill>
        <p:spPr>
          <a:xfrm>
            <a:off x="163200" y="834575"/>
            <a:ext cx="5871877" cy="4177419"/>
          </a:xfrm>
          <a:prstGeom prst="rect">
            <a:avLst/>
          </a:prstGeom>
          <a:noFill/>
          <a:ln>
            <a:noFill/>
          </a:ln>
        </p:spPr>
      </p:pic>
      <p:sp>
        <p:nvSpPr>
          <p:cNvPr id="130" name="Google Shape;130;p20"/>
          <p:cNvSpPr txBox="1"/>
          <p:nvPr/>
        </p:nvSpPr>
        <p:spPr>
          <a:xfrm>
            <a:off x="7195175" y="4642700"/>
            <a:ext cx="1839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Díaz et al. (2018). Science</a:t>
            </a:r>
            <a:endParaRPr sz="1800">
              <a:solidFill>
                <a:schemeClr val="dk2"/>
              </a:solidFill>
            </a:endParaRPr>
          </a:p>
        </p:txBody>
      </p:sp>
      <p:sp>
        <p:nvSpPr>
          <p:cNvPr id="131" name="Google Shape;131;p20"/>
          <p:cNvSpPr txBox="1"/>
          <p:nvPr/>
        </p:nvSpPr>
        <p:spPr>
          <a:xfrm>
            <a:off x="6035075" y="937625"/>
            <a:ext cx="3000000" cy="302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500">
                <a:solidFill>
                  <a:schemeClr val="dk1"/>
                </a:solidFill>
                <a:latin typeface="Lexend"/>
                <a:ea typeface="Lexend"/>
                <a:cs typeface="Lexend"/>
                <a:sym typeface="Lexend"/>
              </a:rPr>
              <a:t>Generalizing (18):</a:t>
            </a:r>
            <a:endParaRPr sz="15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s" sz="1500">
                <a:solidFill>
                  <a:schemeClr val="dk1"/>
                </a:solidFill>
                <a:latin typeface="Lexend"/>
                <a:ea typeface="Lexend"/>
                <a:cs typeface="Lexend"/>
                <a:sym typeface="Lexend"/>
              </a:rPr>
              <a:t>Material                                       </a:t>
            </a:r>
            <a:r>
              <a:rPr lang="es" sz="1500">
                <a:solidFill>
                  <a:schemeClr val="dk1"/>
                </a:solidFill>
                <a:latin typeface="Lexend"/>
                <a:ea typeface="Lexend"/>
                <a:cs typeface="Lexend"/>
                <a:sym typeface="Lexend"/>
              </a:rPr>
              <a:t>Non-Material</a:t>
            </a:r>
            <a:r>
              <a:rPr lang="es" sz="1500">
                <a:solidFill>
                  <a:schemeClr val="dk1"/>
                </a:solidFill>
                <a:latin typeface="Lexend"/>
                <a:ea typeface="Lexend"/>
                <a:cs typeface="Lexend"/>
                <a:sym typeface="Lexend"/>
              </a:rPr>
              <a:t>                                                Regulating</a:t>
            </a:r>
            <a:endParaRPr sz="15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1500">
              <a:solidFill>
                <a:schemeClr val="dk1"/>
              </a:solidFill>
              <a:highlight>
                <a:schemeClr val="lt1"/>
              </a:highlight>
              <a:latin typeface="Lexend"/>
              <a:ea typeface="Lexend"/>
              <a:cs typeface="Lexend"/>
              <a:sym typeface="Lexend"/>
            </a:endParaRPr>
          </a:p>
          <a:p>
            <a:pPr indent="0" lvl="0" marL="0" rtl="0" algn="l">
              <a:lnSpc>
                <a:spcPct val="115000"/>
              </a:lnSpc>
              <a:spcBef>
                <a:spcPts val="0"/>
              </a:spcBef>
              <a:spcAft>
                <a:spcPts val="0"/>
              </a:spcAft>
              <a:buNone/>
            </a:pPr>
            <a:r>
              <a:rPr lang="es" sz="1500">
                <a:solidFill>
                  <a:schemeClr val="dk1"/>
                </a:solidFill>
                <a:latin typeface="Lexend"/>
                <a:ea typeface="Lexend"/>
                <a:cs typeface="Lexend"/>
                <a:sym typeface="Lexend"/>
              </a:rPr>
              <a:t>Context-specific</a:t>
            </a:r>
            <a:r>
              <a:rPr lang="es" sz="1500">
                <a:solidFill>
                  <a:schemeClr val="dk1"/>
                </a:solidFill>
                <a:latin typeface="Lexend"/>
                <a:ea typeface="Lexend"/>
                <a:cs typeface="Lexend"/>
                <a:sym typeface="Lexend"/>
              </a:rPr>
              <a:t>: Other human-nature relationships. Distinct lived experiences (farming, fishing etc)</a:t>
            </a:r>
            <a:endParaRPr sz="15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es">
                <a:solidFill>
                  <a:schemeClr val="dk1"/>
                </a:solidFill>
                <a:highlight>
                  <a:schemeClr val="lt1"/>
                </a:highlight>
              </a:rPr>
              <a:t>                           </a:t>
            </a:r>
            <a:endParaRPr>
              <a:solidFill>
                <a:schemeClr val="dk1"/>
              </a:solidFill>
              <a:highlight>
                <a:schemeClr val="lt1"/>
              </a:highlight>
            </a:endParaRPr>
          </a:p>
          <a:p>
            <a:pPr indent="0" lvl="0" marL="0" rtl="0" algn="l">
              <a:lnSpc>
                <a:spcPct val="115000"/>
              </a:lnSpc>
              <a:spcBef>
                <a:spcPts val="0"/>
              </a:spcBef>
              <a:spcAft>
                <a:spcPts val="0"/>
              </a:spcAft>
              <a:buNone/>
            </a:pPr>
            <a:r>
              <a:t/>
            </a:r>
            <a:endParaRPr sz="1300">
              <a:solidFill>
                <a:schemeClr val="dk1"/>
              </a:solidFill>
              <a:highlight>
                <a:schemeClr val="lt1"/>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21"/>
          <p:cNvSpPr txBox="1"/>
          <p:nvPr/>
        </p:nvSpPr>
        <p:spPr>
          <a:xfrm>
            <a:off x="6157200" y="5065250"/>
            <a:ext cx="2456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37" name="Google Shape;137;p21" title="IMG_1543.jpeg"/>
          <p:cNvPicPr preferRelativeResize="0"/>
          <p:nvPr/>
        </p:nvPicPr>
        <p:blipFill>
          <a:blip r:embed="rId4">
            <a:alphaModFix/>
          </a:blip>
          <a:stretch>
            <a:fillRect/>
          </a:stretch>
        </p:blipFill>
        <p:spPr>
          <a:xfrm>
            <a:off x="351050" y="645825"/>
            <a:ext cx="4842070" cy="3996875"/>
          </a:xfrm>
          <a:prstGeom prst="rect">
            <a:avLst/>
          </a:prstGeom>
          <a:noFill/>
          <a:ln>
            <a:noFill/>
          </a:ln>
        </p:spPr>
      </p:pic>
      <p:sp>
        <p:nvSpPr>
          <p:cNvPr id="138" name="Google Shape;138;p21"/>
          <p:cNvSpPr txBox="1"/>
          <p:nvPr/>
        </p:nvSpPr>
        <p:spPr>
          <a:xfrm>
            <a:off x="5608100" y="645825"/>
            <a:ext cx="30777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latin typeface="Lexend"/>
                <a:ea typeface="Lexend"/>
                <a:cs typeface="Lexend"/>
                <a:sym typeface="Lexend"/>
              </a:rPr>
              <a:t>Material: material elements physically consumed and directly sustaining welfare</a:t>
            </a:r>
            <a:endParaRPr sz="1700">
              <a:solidFill>
                <a:schemeClr val="dk1"/>
              </a:solidFill>
              <a:latin typeface="Lexend"/>
              <a:ea typeface="Lexend"/>
              <a:cs typeface="Lexend"/>
              <a:sym typeface="Lexend"/>
            </a:endParaRPr>
          </a:p>
        </p:txBody>
      </p:sp>
      <p:sp>
        <p:nvSpPr>
          <p:cNvPr id="139" name="Google Shape;139;p21"/>
          <p:cNvSpPr txBox="1"/>
          <p:nvPr/>
        </p:nvSpPr>
        <p:spPr>
          <a:xfrm>
            <a:off x="5656150" y="1936100"/>
            <a:ext cx="3077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latin typeface="Lexend"/>
                <a:ea typeface="Lexend"/>
                <a:cs typeface="Lexend"/>
                <a:sym typeface="Lexend"/>
              </a:rPr>
              <a:t>Non-material: subjective or psychological welfare</a:t>
            </a:r>
            <a:endParaRPr sz="1700">
              <a:solidFill>
                <a:schemeClr val="dk1"/>
              </a:solidFill>
              <a:latin typeface="Lexend"/>
              <a:ea typeface="Lexend"/>
              <a:cs typeface="Lexend"/>
              <a:sym typeface="Lexend"/>
            </a:endParaRPr>
          </a:p>
        </p:txBody>
      </p:sp>
      <p:sp>
        <p:nvSpPr>
          <p:cNvPr id="140" name="Google Shape;140;p21"/>
          <p:cNvSpPr txBox="1"/>
          <p:nvPr/>
        </p:nvSpPr>
        <p:spPr>
          <a:xfrm>
            <a:off x="5656150" y="2949475"/>
            <a:ext cx="3077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latin typeface="Lexend"/>
                <a:ea typeface="Lexend"/>
                <a:cs typeface="Lexend"/>
                <a:sym typeface="Lexend"/>
              </a:rPr>
              <a:t>Regulating: affect welfare in indirect ways</a:t>
            </a:r>
            <a:endParaRPr sz="1700">
              <a:solidFill>
                <a:schemeClr val="dk1"/>
              </a:solidFill>
              <a:latin typeface="Lexend"/>
              <a:ea typeface="Lexend"/>
              <a:cs typeface="Lexend"/>
              <a:sym typeface="Lexend"/>
            </a:endParaRPr>
          </a:p>
        </p:txBody>
      </p:sp>
      <p:sp>
        <p:nvSpPr>
          <p:cNvPr id="141" name="Google Shape;141;p21"/>
          <p:cNvSpPr txBox="1"/>
          <p:nvPr/>
        </p:nvSpPr>
        <p:spPr>
          <a:xfrm>
            <a:off x="292100" y="86400"/>
            <a:ext cx="60093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solidFill>
                  <a:schemeClr val="dk1"/>
                </a:solidFill>
                <a:latin typeface="Lexend"/>
                <a:ea typeface="Lexend"/>
                <a:cs typeface="Lexend"/>
                <a:sym typeface="Lexend"/>
              </a:rPr>
              <a:t>Generalizing c</a:t>
            </a:r>
            <a:r>
              <a:rPr lang="es" sz="1900">
                <a:solidFill>
                  <a:schemeClr val="dk1"/>
                </a:solidFill>
                <a:latin typeface="Lexend"/>
                <a:ea typeface="Lexend"/>
                <a:cs typeface="Lexend"/>
                <a:sym typeface="Lexend"/>
              </a:rPr>
              <a:t>ategories of the NCP System</a:t>
            </a:r>
            <a:endParaRPr sz="1900">
              <a:solidFill>
                <a:schemeClr val="dk1"/>
              </a:solidFill>
              <a:latin typeface="Lexend"/>
              <a:ea typeface="Lexend"/>
              <a:cs typeface="Lexend"/>
              <a:sym typeface="Lexend"/>
            </a:endParaRPr>
          </a:p>
        </p:txBody>
      </p:sp>
      <p:sp>
        <p:nvSpPr>
          <p:cNvPr id="142" name="Google Shape;142;p21"/>
          <p:cNvSpPr txBox="1"/>
          <p:nvPr/>
        </p:nvSpPr>
        <p:spPr>
          <a:xfrm>
            <a:off x="292100" y="4220100"/>
            <a:ext cx="7646400" cy="923400"/>
          </a:xfrm>
          <a:prstGeom prst="rect">
            <a:avLst/>
          </a:prstGeom>
          <a:solidFill>
            <a:srgbClr val="F9F7EA"/>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Lexend"/>
                <a:ea typeface="Lexend"/>
                <a:cs typeface="Lexend"/>
                <a:sym typeface="Lexend"/>
              </a:rPr>
              <a:t>Goal of these developments:</a:t>
            </a:r>
            <a:endParaRPr sz="1600">
              <a:solidFill>
                <a:schemeClr val="dk1"/>
              </a:solidFill>
              <a:latin typeface="Lexend"/>
              <a:ea typeface="Lexend"/>
              <a:cs typeface="Lexend"/>
              <a:sym typeface="Lexend"/>
            </a:endParaRPr>
          </a:p>
          <a:p>
            <a:pPr indent="0" lvl="0" marL="0" rtl="0" algn="l">
              <a:spcBef>
                <a:spcPts val="0"/>
              </a:spcBef>
              <a:spcAft>
                <a:spcPts val="0"/>
              </a:spcAft>
              <a:buNone/>
            </a:pPr>
            <a:r>
              <a:rPr lang="es" sz="1600">
                <a:solidFill>
                  <a:schemeClr val="dk1"/>
                </a:solidFill>
                <a:latin typeface="Lexend"/>
                <a:ea typeface="Lexend"/>
                <a:cs typeface="Lexend"/>
                <a:sym typeface="Lexend"/>
              </a:rPr>
              <a:t>Increase political legitimacy and knowledge in policy through diverse perspectives</a:t>
            </a:r>
            <a:endParaRPr/>
          </a:p>
        </p:txBody>
      </p:sp>
      <p:sp>
        <p:nvSpPr>
          <p:cNvPr id="143" name="Google Shape;143;p21"/>
          <p:cNvSpPr txBox="1"/>
          <p:nvPr/>
        </p:nvSpPr>
        <p:spPr>
          <a:xfrm>
            <a:off x="7304100" y="4642688"/>
            <a:ext cx="1839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Díaz et al. (2018). Science</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1000"/>
                                        <p:tgtEl>
                                          <p:spTgt spid="1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1000"/>
                                        <p:tgtEl>
                                          <p:spTgt spid="13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1000"/>
                                        <p:tgtEl>
                                          <p:spTgt spid="1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22"/>
          <p:cNvSpPr txBox="1"/>
          <p:nvPr>
            <p:ph type="title"/>
          </p:nvPr>
        </p:nvSpPr>
        <p:spPr>
          <a:xfrm>
            <a:off x="31170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latin typeface="Lexend"/>
                <a:ea typeface="Lexend"/>
                <a:cs typeface="Lexend"/>
                <a:sym typeface="Lexend"/>
              </a:rPr>
              <a:t>Intrinsic, instrumental and relational value</a:t>
            </a:r>
            <a:endParaRPr/>
          </a:p>
        </p:txBody>
      </p:sp>
      <p:sp>
        <p:nvSpPr>
          <p:cNvPr id="149" name="Google Shape;149;p22"/>
          <p:cNvSpPr txBox="1"/>
          <p:nvPr>
            <p:ph idx="1" type="body"/>
          </p:nvPr>
        </p:nvSpPr>
        <p:spPr>
          <a:xfrm>
            <a:off x="353100" y="863550"/>
            <a:ext cx="3222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300">
                <a:solidFill>
                  <a:schemeClr val="dk1"/>
                </a:solidFill>
                <a:latin typeface="Lexend"/>
                <a:ea typeface="Lexend"/>
                <a:cs typeface="Lexend"/>
                <a:sym typeface="Lexend"/>
              </a:rPr>
              <a:t>Intrinsic - The inherent value of nature independent of </a:t>
            </a:r>
            <a:r>
              <a:rPr lang="es" sz="1300">
                <a:solidFill>
                  <a:schemeClr val="dk1"/>
                </a:solidFill>
                <a:latin typeface="Lexend"/>
                <a:ea typeface="Lexend"/>
                <a:cs typeface="Lexend"/>
                <a:sym typeface="Lexend"/>
              </a:rPr>
              <a:t>benefits</a:t>
            </a:r>
            <a:r>
              <a:rPr lang="es" sz="1300">
                <a:solidFill>
                  <a:schemeClr val="dk1"/>
                </a:solidFill>
                <a:latin typeface="Lexend"/>
                <a:ea typeface="Lexend"/>
                <a:cs typeface="Lexend"/>
                <a:sym typeface="Lexend"/>
              </a:rPr>
              <a:t> it provides humans</a:t>
            </a:r>
            <a:endParaRPr sz="1300">
              <a:solidFill>
                <a:schemeClr val="dk1"/>
              </a:solidFill>
              <a:latin typeface="Lexend"/>
              <a:ea typeface="Lexend"/>
              <a:cs typeface="Lexend"/>
              <a:sym typeface="Lexend"/>
            </a:endParaRPr>
          </a:p>
          <a:p>
            <a:pPr indent="0" lvl="0" marL="0" rtl="0" algn="l">
              <a:spcBef>
                <a:spcPts val="1200"/>
              </a:spcBef>
              <a:spcAft>
                <a:spcPts val="0"/>
              </a:spcAft>
              <a:buNone/>
            </a:pPr>
            <a:r>
              <a:t/>
            </a:r>
            <a:endParaRPr sz="1300">
              <a:solidFill>
                <a:schemeClr val="dk1"/>
              </a:solidFill>
              <a:latin typeface="Lexend"/>
              <a:ea typeface="Lexend"/>
              <a:cs typeface="Lexend"/>
              <a:sym typeface="Lexend"/>
            </a:endParaRPr>
          </a:p>
          <a:p>
            <a:pPr indent="0" lvl="0" marL="0" rtl="0" algn="l">
              <a:spcBef>
                <a:spcPts val="1200"/>
              </a:spcBef>
              <a:spcAft>
                <a:spcPts val="0"/>
              </a:spcAft>
              <a:buNone/>
            </a:pPr>
            <a:r>
              <a:rPr lang="es" sz="1300">
                <a:solidFill>
                  <a:schemeClr val="dk1"/>
                </a:solidFill>
                <a:latin typeface="Lexend"/>
                <a:ea typeface="Lexend"/>
                <a:cs typeface="Lexend"/>
                <a:sym typeface="Lexend"/>
              </a:rPr>
              <a:t>Instrumental - The benefits nature </a:t>
            </a:r>
            <a:r>
              <a:rPr lang="es" sz="1300">
                <a:solidFill>
                  <a:schemeClr val="dk1"/>
                </a:solidFill>
                <a:latin typeface="Lexend"/>
                <a:ea typeface="Lexend"/>
                <a:cs typeface="Lexend"/>
                <a:sym typeface="Lexend"/>
              </a:rPr>
              <a:t>provides</a:t>
            </a:r>
            <a:r>
              <a:rPr lang="es" sz="1300">
                <a:solidFill>
                  <a:schemeClr val="dk1"/>
                </a:solidFill>
                <a:latin typeface="Lexend"/>
                <a:ea typeface="Lexend"/>
                <a:cs typeface="Lexend"/>
                <a:sym typeface="Lexend"/>
              </a:rPr>
              <a:t> to human welfare</a:t>
            </a:r>
            <a:endParaRPr sz="1300">
              <a:solidFill>
                <a:schemeClr val="dk1"/>
              </a:solidFill>
              <a:latin typeface="Lexend"/>
              <a:ea typeface="Lexend"/>
              <a:cs typeface="Lexend"/>
              <a:sym typeface="Lexend"/>
            </a:endParaRPr>
          </a:p>
          <a:p>
            <a:pPr indent="0" lvl="0" marL="0" rtl="0" algn="l">
              <a:spcBef>
                <a:spcPts val="1200"/>
              </a:spcBef>
              <a:spcAft>
                <a:spcPts val="0"/>
              </a:spcAft>
              <a:buNone/>
            </a:pPr>
            <a:r>
              <a:t/>
            </a:r>
            <a:endParaRPr sz="1300">
              <a:solidFill>
                <a:schemeClr val="dk1"/>
              </a:solidFill>
              <a:latin typeface="Lexend"/>
              <a:ea typeface="Lexend"/>
              <a:cs typeface="Lexend"/>
              <a:sym typeface="Lexend"/>
            </a:endParaRPr>
          </a:p>
          <a:p>
            <a:pPr indent="0" lvl="0" marL="0" rtl="0" algn="l">
              <a:spcBef>
                <a:spcPts val="1200"/>
              </a:spcBef>
              <a:spcAft>
                <a:spcPts val="1200"/>
              </a:spcAft>
              <a:buNone/>
            </a:pPr>
            <a:r>
              <a:rPr lang="es" sz="1300">
                <a:solidFill>
                  <a:schemeClr val="dk1"/>
                </a:solidFill>
                <a:latin typeface="Lexend"/>
                <a:ea typeface="Lexend"/>
                <a:cs typeface="Lexend"/>
                <a:sym typeface="Lexend"/>
              </a:rPr>
              <a:t>Relational - </a:t>
            </a:r>
            <a:r>
              <a:rPr lang="es" sz="1300">
                <a:solidFill>
                  <a:schemeClr val="dk1"/>
                </a:solidFill>
                <a:latin typeface="Lexend"/>
                <a:ea typeface="Lexend"/>
                <a:cs typeface="Lexend"/>
                <a:sym typeface="Lexend"/>
              </a:rPr>
              <a:t>Reciprocal</a:t>
            </a:r>
            <a:r>
              <a:rPr lang="es" sz="1300">
                <a:solidFill>
                  <a:schemeClr val="dk1"/>
                </a:solidFill>
                <a:latin typeface="Lexend"/>
                <a:ea typeface="Lexend"/>
                <a:cs typeface="Lexend"/>
                <a:sym typeface="Lexend"/>
              </a:rPr>
              <a:t> relationships between humans and nature</a:t>
            </a:r>
            <a:endParaRPr sz="1300">
              <a:solidFill>
                <a:schemeClr val="dk1"/>
              </a:solidFill>
              <a:latin typeface="Lexend"/>
              <a:ea typeface="Lexend"/>
              <a:cs typeface="Lexend"/>
              <a:sym typeface="Lexend"/>
            </a:endParaRPr>
          </a:p>
        </p:txBody>
      </p:sp>
      <p:sp>
        <p:nvSpPr>
          <p:cNvPr id="150" name="Google Shape;150;p22"/>
          <p:cNvSpPr txBox="1"/>
          <p:nvPr/>
        </p:nvSpPr>
        <p:spPr>
          <a:xfrm>
            <a:off x="2855281"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latin typeface="Roboto"/>
                <a:ea typeface="Roboto"/>
                <a:cs typeface="Roboto"/>
                <a:sym typeface="Roboto"/>
              </a:rPr>
              <a:t>Vestibulum congue </a:t>
            </a:r>
            <a:endParaRPr sz="1000">
              <a:solidFill>
                <a:srgbClr val="FFFFFF"/>
              </a:solidFill>
              <a:latin typeface="Roboto"/>
              <a:ea typeface="Roboto"/>
              <a:cs typeface="Roboto"/>
              <a:sym typeface="Roboto"/>
            </a:endParaRPr>
          </a:p>
        </p:txBody>
      </p:sp>
      <p:pic>
        <p:nvPicPr>
          <p:cNvPr id="151" name="Google Shape;151;p22" title="IMG_1546.jpeg"/>
          <p:cNvPicPr preferRelativeResize="0"/>
          <p:nvPr/>
        </p:nvPicPr>
        <p:blipFill>
          <a:blip r:embed="rId4">
            <a:alphaModFix/>
          </a:blip>
          <a:stretch>
            <a:fillRect/>
          </a:stretch>
        </p:blipFill>
        <p:spPr>
          <a:xfrm>
            <a:off x="3875025" y="424638"/>
            <a:ext cx="4581700" cy="4294225"/>
          </a:xfrm>
          <a:prstGeom prst="rect">
            <a:avLst/>
          </a:prstGeom>
          <a:noFill/>
          <a:ln>
            <a:noFill/>
          </a:ln>
        </p:spPr>
      </p:pic>
      <p:sp>
        <p:nvSpPr>
          <p:cNvPr id="152" name="Google Shape;152;p22"/>
          <p:cNvSpPr txBox="1"/>
          <p:nvPr/>
        </p:nvSpPr>
        <p:spPr>
          <a:xfrm>
            <a:off x="6483225" y="4774200"/>
            <a:ext cx="322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2024 Why Nature Matters , </a:t>
            </a:r>
            <a:r>
              <a:rPr lang="es" sz="1200">
                <a:solidFill>
                  <a:schemeClr val="dk1"/>
                </a:solidFill>
                <a:latin typeface="Times New Roman"/>
                <a:ea typeface="Times New Roman"/>
                <a:cs typeface="Times New Roman"/>
                <a:sym typeface="Times New Roman"/>
              </a:rPr>
              <a:t>Bioscience</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9"/>
                                        </p:tgtEl>
                                        <p:attrNameLst>
                                          <p:attrName>style.visibility</p:attrName>
                                        </p:attrNameLst>
                                      </p:cBhvr>
                                      <p:to>
                                        <p:strVal val="visible"/>
                                      </p:to>
                                    </p:set>
                                    <p:anim calcmode="lin" valueType="num">
                                      <p:cBhvr additive="base">
                                        <p:cTn dur="1000"/>
                                        <p:tgtEl>
                                          <p:spTgt spid="14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23"/>
          <p:cNvSpPr txBox="1"/>
          <p:nvPr>
            <p:ph type="title"/>
          </p:nvPr>
        </p:nvSpPr>
        <p:spPr>
          <a:xfrm>
            <a:off x="31170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latin typeface="Lexend"/>
                <a:ea typeface="Lexend"/>
                <a:cs typeface="Lexend"/>
                <a:sym typeface="Lexend"/>
              </a:rPr>
              <a:t>Indigenous and Local </a:t>
            </a:r>
            <a:r>
              <a:rPr lang="es" sz="2400">
                <a:latin typeface="Lexend"/>
                <a:ea typeface="Lexend"/>
                <a:cs typeface="Lexend"/>
                <a:sym typeface="Lexend"/>
              </a:rPr>
              <a:t>Knowledge</a:t>
            </a:r>
            <a:endParaRPr/>
          </a:p>
        </p:txBody>
      </p:sp>
      <p:sp>
        <p:nvSpPr>
          <p:cNvPr id="158" name="Google Shape;158;p23"/>
          <p:cNvSpPr txBox="1"/>
          <p:nvPr>
            <p:ph idx="1" type="body"/>
          </p:nvPr>
        </p:nvSpPr>
        <p:spPr>
          <a:xfrm>
            <a:off x="4240800" y="993175"/>
            <a:ext cx="3817800" cy="220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rgbClr val="181818"/>
                </a:solidFill>
                <a:latin typeface="Lexend"/>
                <a:ea typeface="Lexend"/>
                <a:cs typeface="Lexend"/>
                <a:sym typeface="Lexend"/>
              </a:rPr>
              <a:t>“Action on behalf of life transforms. Because the relationship between self and the world is </a:t>
            </a:r>
            <a:r>
              <a:rPr b="1" lang="es" sz="1200">
                <a:solidFill>
                  <a:srgbClr val="181818"/>
                </a:solidFill>
                <a:latin typeface="Lexend"/>
                <a:ea typeface="Lexend"/>
                <a:cs typeface="Lexend"/>
                <a:sym typeface="Lexend"/>
              </a:rPr>
              <a:t>reciprocal</a:t>
            </a:r>
            <a:r>
              <a:rPr lang="es" sz="1200">
                <a:solidFill>
                  <a:srgbClr val="181818"/>
                </a:solidFill>
                <a:latin typeface="Lexend"/>
                <a:ea typeface="Lexend"/>
                <a:cs typeface="Lexend"/>
                <a:sym typeface="Lexend"/>
              </a:rPr>
              <a:t>, it is not a question of first getting enlightened or saved and then acting. As we work to heal the earth, the earth heals us.”</a:t>
            </a:r>
            <a:endParaRPr sz="1200">
              <a:solidFill>
                <a:srgbClr val="181818"/>
              </a:solidFill>
              <a:latin typeface="Lexend"/>
              <a:ea typeface="Lexend"/>
              <a:cs typeface="Lexend"/>
              <a:sym typeface="Lexend"/>
            </a:endParaRPr>
          </a:p>
          <a:p>
            <a:pPr indent="0" lvl="0" marL="0" rtl="0" algn="l">
              <a:spcBef>
                <a:spcPts val="1200"/>
              </a:spcBef>
              <a:spcAft>
                <a:spcPts val="0"/>
              </a:spcAft>
              <a:buNone/>
            </a:pPr>
            <a:r>
              <a:t/>
            </a:r>
            <a:endParaRPr sz="1200">
              <a:solidFill>
                <a:srgbClr val="181818"/>
              </a:solidFill>
              <a:latin typeface="Lexend"/>
              <a:ea typeface="Lexend"/>
              <a:cs typeface="Lexend"/>
              <a:sym typeface="Lexend"/>
            </a:endParaRPr>
          </a:p>
          <a:p>
            <a:pPr indent="0" lvl="0" marL="0" rtl="0" algn="l">
              <a:spcBef>
                <a:spcPts val="1200"/>
              </a:spcBef>
              <a:spcAft>
                <a:spcPts val="0"/>
              </a:spcAft>
              <a:buNone/>
            </a:pPr>
            <a:r>
              <a:t/>
            </a:r>
            <a:endParaRPr sz="1200">
              <a:solidFill>
                <a:srgbClr val="181818"/>
              </a:solidFill>
              <a:latin typeface="Lexend"/>
              <a:ea typeface="Lexend"/>
              <a:cs typeface="Lexend"/>
              <a:sym typeface="Lexend"/>
            </a:endParaRPr>
          </a:p>
          <a:p>
            <a:pPr indent="0" lvl="0" marL="0" rtl="0" algn="l">
              <a:spcBef>
                <a:spcPts val="1200"/>
              </a:spcBef>
              <a:spcAft>
                <a:spcPts val="1200"/>
              </a:spcAft>
              <a:buNone/>
            </a:pPr>
            <a:r>
              <a:rPr lang="es" sz="1200">
                <a:solidFill>
                  <a:srgbClr val="181818"/>
                </a:solidFill>
                <a:latin typeface="Lexend"/>
                <a:ea typeface="Lexend"/>
                <a:cs typeface="Lexend"/>
                <a:sym typeface="Lexend"/>
              </a:rPr>
              <a:t>"Give a gift, in </a:t>
            </a:r>
            <a:r>
              <a:rPr b="1" lang="es" sz="1200">
                <a:solidFill>
                  <a:srgbClr val="181818"/>
                </a:solidFill>
                <a:latin typeface="Lexend"/>
                <a:ea typeface="Lexend"/>
                <a:cs typeface="Lexend"/>
                <a:sym typeface="Lexend"/>
              </a:rPr>
              <a:t>reciprocity</a:t>
            </a:r>
            <a:r>
              <a:rPr lang="es" sz="1200">
                <a:solidFill>
                  <a:srgbClr val="181818"/>
                </a:solidFill>
                <a:latin typeface="Lexend"/>
                <a:ea typeface="Lexend"/>
                <a:cs typeface="Lexend"/>
                <a:sym typeface="Lexend"/>
              </a:rPr>
              <a:t> for what you have taken. Sustain the ones who sustain you and the earth will last forever...”</a:t>
            </a:r>
            <a:endParaRPr sz="1200">
              <a:solidFill>
                <a:srgbClr val="181818"/>
              </a:solidFill>
              <a:latin typeface="Lexend"/>
              <a:ea typeface="Lexend"/>
              <a:cs typeface="Lexend"/>
              <a:sym typeface="Lexend"/>
            </a:endParaRPr>
          </a:p>
        </p:txBody>
      </p:sp>
      <p:sp>
        <p:nvSpPr>
          <p:cNvPr id="159" name="Google Shape;159;p23"/>
          <p:cNvSpPr txBox="1"/>
          <p:nvPr/>
        </p:nvSpPr>
        <p:spPr>
          <a:xfrm>
            <a:off x="2855281" y="28347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latin typeface="Roboto"/>
                <a:ea typeface="Roboto"/>
                <a:cs typeface="Roboto"/>
                <a:sym typeface="Roboto"/>
              </a:rPr>
              <a:t>Vestibulum congue </a:t>
            </a:r>
            <a:endParaRPr sz="1000">
              <a:solidFill>
                <a:srgbClr val="FFFFFF"/>
              </a:solidFill>
              <a:latin typeface="Roboto"/>
              <a:ea typeface="Roboto"/>
              <a:cs typeface="Roboto"/>
              <a:sym typeface="Roboto"/>
            </a:endParaRPr>
          </a:p>
        </p:txBody>
      </p:sp>
      <p:pic>
        <p:nvPicPr>
          <p:cNvPr id="160" name="Google Shape;160;p23" title="IMG_1554.jpeg"/>
          <p:cNvPicPr preferRelativeResize="0"/>
          <p:nvPr/>
        </p:nvPicPr>
        <p:blipFill>
          <a:blip r:embed="rId4">
            <a:alphaModFix/>
          </a:blip>
          <a:stretch>
            <a:fillRect/>
          </a:stretch>
        </p:blipFill>
        <p:spPr>
          <a:xfrm>
            <a:off x="852623" y="736225"/>
            <a:ext cx="2407247" cy="3722888"/>
          </a:xfrm>
          <a:prstGeom prst="rect">
            <a:avLst/>
          </a:prstGeom>
          <a:noFill/>
          <a:ln>
            <a:noFill/>
          </a:ln>
        </p:spPr>
      </p:pic>
      <p:sp>
        <p:nvSpPr>
          <p:cNvPr id="161" name="Google Shape;161;p23"/>
          <p:cNvSpPr txBox="1"/>
          <p:nvPr/>
        </p:nvSpPr>
        <p:spPr>
          <a:xfrm>
            <a:off x="4572000" y="4459125"/>
            <a:ext cx="3486600" cy="369300"/>
          </a:xfrm>
          <a:prstGeom prst="rect">
            <a:avLst/>
          </a:prstGeom>
          <a:noFill/>
          <a:ln>
            <a:noFill/>
          </a:ln>
        </p:spPr>
        <p:txBody>
          <a:bodyPr anchorCtr="0" anchor="t" bIns="91425" lIns="91425" spcFirstLastPara="1" rIns="91425" wrap="square" tIns="91425">
            <a:spAutoFit/>
          </a:bodyPr>
          <a:lstStyle/>
          <a:p>
            <a:pPr indent="-457200" lvl="0" marL="457200" rtl="0" algn="l">
              <a:lnSpc>
                <a:spcPct val="200000"/>
              </a:lnSpc>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Kimmerer, Robin Wall (2013). Braiding Sweetgrass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8"/>
                                        </p:tgtEl>
                                        <p:attrNameLst>
                                          <p:attrName>style.visibility</p:attrName>
                                        </p:attrNameLst>
                                      </p:cBhvr>
                                      <p:to>
                                        <p:strVal val="visible"/>
                                      </p:to>
                                    </p:set>
                                    <p:anim calcmode="lin" valueType="num">
                                      <p:cBhvr additive="base">
                                        <p:cTn dur="1000"/>
                                        <p:tgtEl>
                                          <p:spTgt spid="15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24"/>
          <p:cNvSpPr txBox="1"/>
          <p:nvPr>
            <p:ph type="title"/>
          </p:nvPr>
        </p:nvSpPr>
        <p:spPr>
          <a:xfrm>
            <a:off x="311700" y="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latin typeface="Lexend"/>
                <a:ea typeface="Lexend"/>
                <a:cs typeface="Lexend"/>
                <a:sym typeface="Lexend"/>
              </a:rPr>
              <a:t>Indigenous and Local Knowledge</a:t>
            </a:r>
            <a:endParaRPr/>
          </a:p>
        </p:txBody>
      </p:sp>
      <p:sp>
        <p:nvSpPr>
          <p:cNvPr id="167" name="Google Shape;167;p24"/>
          <p:cNvSpPr txBox="1"/>
          <p:nvPr/>
        </p:nvSpPr>
        <p:spPr>
          <a:xfrm>
            <a:off x="-745169" y="2273628"/>
            <a:ext cx="1496100" cy="70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s" sz="1000">
                <a:solidFill>
                  <a:srgbClr val="FFFFFF"/>
                </a:solidFill>
                <a:latin typeface="Roboto"/>
                <a:ea typeface="Roboto"/>
                <a:cs typeface="Roboto"/>
                <a:sym typeface="Roboto"/>
              </a:rPr>
              <a:t>Vestibulum congue </a:t>
            </a:r>
            <a:endParaRPr sz="1000">
              <a:solidFill>
                <a:srgbClr val="FFFFFF"/>
              </a:solidFill>
              <a:latin typeface="Roboto"/>
              <a:ea typeface="Roboto"/>
              <a:cs typeface="Roboto"/>
              <a:sym typeface="Roboto"/>
            </a:endParaRPr>
          </a:p>
        </p:txBody>
      </p:sp>
      <p:pic>
        <p:nvPicPr>
          <p:cNvPr id="168" name="Google Shape;168;p24" title="IMG_1555.jpeg"/>
          <p:cNvPicPr preferRelativeResize="0"/>
          <p:nvPr/>
        </p:nvPicPr>
        <p:blipFill>
          <a:blip r:embed="rId4">
            <a:alphaModFix/>
          </a:blip>
          <a:stretch>
            <a:fillRect/>
          </a:stretch>
        </p:blipFill>
        <p:spPr>
          <a:xfrm>
            <a:off x="406625" y="1092325"/>
            <a:ext cx="4009576" cy="3065499"/>
          </a:xfrm>
          <a:prstGeom prst="rect">
            <a:avLst/>
          </a:prstGeom>
          <a:noFill/>
          <a:ln>
            <a:noFill/>
          </a:ln>
        </p:spPr>
      </p:pic>
      <p:sp>
        <p:nvSpPr>
          <p:cNvPr id="169" name="Google Shape;169;p24"/>
          <p:cNvSpPr txBox="1"/>
          <p:nvPr/>
        </p:nvSpPr>
        <p:spPr>
          <a:xfrm>
            <a:off x="304000" y="2450075"/>
            <a:ext cx="527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70" name="Google Shape;170;p24"/>
          <p:cNvSpPr txBox="1"/>
          <p:nvPr/>
        </p:nvSpPr>
        <p:spPr>
          <a:xfrm>
            <a:off x="2011800" y="4391450"/>
            <a:ext cx="5120400" cy="369300"/>
          </a:xfrm>
          <a:prstGeom prst="rect">
            <a:avLst/>
          </a:prstGeom>
          <a:noFill/>
          <a:ln>
            <a:noFill/>
          </a:ln>
        </p:spPr>
        <p:txBody>
          <a:bodyPr anchorCtr="0" anchor="t" bIns="91425" lIns="91425" spcFirstLastPara="1" rIns="91425" wrap="square" tIns="91425">
            <a:spAutoFit/>
          </a:bodyPr>
          <a:lstStyle/>
          <a:p>
            <a:pPr indent="-457200" lvl="0" marL="457200" rtl="0" algn="l">
              <a:lnSpc>
                <a:spcPct val="200000"/>
              </a:lnSpc>
              <a:spcBef>
                <a:spcPts val="0"/>
              </a:spcBef>
              <a:spcAft>
                <a:spcPts val="0"/>
              </a:spcAft>
              <a:buNone/>
            </a:pPr>
            <a:r>
              <a:rPr lang="es" sz="1200">
                <a:solidFill>
                  <a:schemeClr val="dk1"/>
                </a:solidFill>
                <a:latin typeface="Times New Roman"/>
                <a:ea typeface="Times New Roman"/>
                <a:cs typeface="Times New Roman"/>
                <a:sym typeface="Times New Roman"/>
              </a:rPr>
              <a:t>Roué, Marie, and Zsolt Molnar (2017). Knowing Our Lands and Resources</a:t>
            </a:r>
            <a:endParaRPr sz="1800">
              <a:solidFill>
                <a:schemeClr val="dk2"/>
              </a:solidFill>
            </a:endParaRPr>
          </a:p>
        </p:txBody>
      </p:sp>
      <p:pic>
        <p:nvPicPr>
          <p:cNvPr id="171" name="Google Shape;171;p24" title="IMG_1563.jpeg"/>
          <p:cNvPicPr preferRelativeResize="0"/>
          <p:nvPr/>
        </p:nvPicPr>
        <p:blipFill>
          <a:blip r:embed="rId5">
            <a:alphaModFix/>
          </a:blip>
          <a:stretch>
            <a:fillRect/>
          </a:stretch>
        </p:blipFill>
        <p:spPr>
          <a:xfrm>
            <a:off x="4724400" y="1312513"/>
            <a:ext cx="4419600" cy="26251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80000"/>
              </a:lnSpc>
              <a:spcBef>
                <a:spcPts val="0"/>
              </a:spcBef>
              <a:spcAft>
                <a:spcPts val="1200"/>
              </a:spcAft>
              <a:buClr>
                <a:schemeClr val="dk1"/>
              </a:buClr>
              <a:buSzPct val="28205"/>
              <a:buFont typeface="Arial"/>
              <a:buNone/>
            </a:pPr>
            <a:r>
              <a:rPr lang="es" sz="3900">
                <a:latin typeface="Lexend"/>
                <a:ea typeface="Lexend"/>
                <a:cs typeface="Lexend"/>
                <a:sym typeface="Lexend"/>
              </a:rPr>
              <a:t>Aichi Targets </a:t>
            </a:r>
            <a:endParaRPr sz="3900">
              <a:latin typeface="Lexend"/>
              <a:ea typeface="Lexend"/>
              <a:cs typeface="Lexend"/>
              <a:sym typeface="Lexend"/>
            </a:endParaRPr>
          </a:p>
        </p:txBody>
      </p:sp>
      <p:sp>
        <p:nvSpPr>
          <p:cNvPr id="177" name="Google Shape;177;p25"/>
          <p:cNvSpPr txBox="1"/>
          <p:nvPr>
            <p:ph idx="1" type="body"/>
          </p:nvPr>
        </p:nvSpPr>
        <p:spPr>
          <a:xfrm>
            <a:off x="311700" y="1017725"/>
            <a:ext cx="6075300" cy="4938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1200"/>
              </a:spcAft>
              <a:buClr>
                <a:schemeClr val="dk1"/>
              </a:buClr>
              <a:buSzPts val="1100"/>
              <a:buFont typeface="Arial"/>
              <a:buNone/>
            </a:pPr>
            <a:r>
              <a:rPr lang="es">
                <a:solidFill>
                  <a:schemeClr val="dk1"/>
                </a:solidFill>
                <a:latin typeface="Lexend"/>
                <a:ea typeface="Lexend"/>
                <a:cs typeface="Lexend"/>
                <a:sym typeface="Lexend"/>
              </a:rPr>
              <a:t>20 targets aiming to meet 5 overarching goals</a:t>
            </a:r>
            <a:endParaRPr>
              <a:solidFill>
                <a:schemeClr val="dk1"/>
              </a:solidFill>
              <a:latin typeface="Lexend"/>
              <a:ea typeface="Lexend"/>
              <a:cs typeface="Lexend"/>
              <a:sym typeface="Lexend"/>
            </a:endParaRPr>
          </a:p>
        </p:txBody>
      </p:sp>
      <p:pic>
        <p:nvPicPr>
          <p:cNvPr id="178" name="Google Shape;178;p25" title="IMG_1530.jpeg"/>
          <p:cNvPicPr preferRelativeResize="0"/>
          <p:nvPr/>
        </p:nvPicPr>
        <p:blipFill>
          <a:blip r:embed="rId4">
            <a:alphaModFix/>
          </a:blip>
          <a:stretch>
            <a:fillRect/>
          </a:stretch>
        </p:blipFill>
        <p:spPr>
          <a:xfrm>
            <a:off x="311697" y="1551076"/>
            <a:ext cx="3919575" cy="3289925"/>
          </a:xfrm>
          <a:prstGeom prst="rect">
            <a:avLst/>
          </a:prstGeom>
          <a:noFill/>
          <a:ln>
            <a:noFill/>
          </a:ln>
        </p:spPr>
      </p:pic>
      <p:sp>
        <p:nvSpPr>
          <p:cNvPr id="179" name="Google Shape;179;p25"/>
          <p:cNvSpPr txBox="1"/>
          <p:nvPr/>
        </p:nvSpPr>
        <p:spPr>
          <a:xfrm>
            <a:off x="4425075" y="1434200"/>
            <a:ext cx="39579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Address underlying causes</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2"/>
              </a:solidFill>
            </a:endParaRPr>
          </a:p>
        </p:txBody>
      </p:sp>
      <p:sp>
        <p:nvSpPr>
          <p:cNvPr id="180" name="Google Shape;180;p25"/>
          <p:cNvSpPr txBox="1"/>
          <p:nvPr/>
        </p:nvSpPr>
        <p:spPr>
          <a:xfrm>
            <a:off x="4456225" y="1880925"/>
            <a:ext cx="48711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Reduce pressure, promote sustainability</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2"/>
              </a:solidFill>
            </a:endParaRPr>
          </a:p>
        </p:txBody>
      </p:sp>
      <p:sp>
        <p:nvSpPr>
          <p:cNvPr id="181" name="Google Shape;181;p25"/>
          <p:cNvSpPr txBox="1"/>
          <p:nvPr/>
        </p:nvSpPr>
        <p:spPr>
          <a:xfrm>
            <a:off x="4364575" y="2589575"/>
            <a:ext cx="50544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Safeguard ecosystems, species and diversity</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2"/>
              </a:solidFill>
            </a:endParaRPr>
          </a:p>
        </p:txBody>
      </p:sp>
      <p:sp>
        <p:nvSpPr>
          <p:cNvPr id="182" name="Google Shape;182;p25"/>
          <p:cNvSpPr txBox="1"/>
          <p:nvPr/>
        </p:nvSpPr>
        <p:spPr>
          <a:xfrm>
            <a:off x="4425075" y="3266125"/>
            <a:ext cx="3957900" cy="1293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Highlight and improve benefits of ecosystem services</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2"/>
              </a:solidFill>
            </a:endParaRPr>
          </a:p>
        </p:txBody>
      </p:sp>
      <p:sp>
        <p:nvSpPr>
          <p:cNvPr id="183" name="Google Shape;183;p25"/>
          <p:cNvSpPr txBox="1"/>
          <p:nvPr/>
        </p:nvSpPr>
        <p:spPr>
          <a:xfrm>
            <a:off x="4364575" y="4263750"/>
            <a:ext cx="48264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Expand knowledge management and capacity building</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2"/>
              </a:solidFill>
            </a:endParaRPr>
          </a:p>
        </p:txBody>
      </p:sp>
      <p:sp>
        <p:nvSpPr>
          <p:cNvPr id="184" name="Google Shape;184;p25"/>
          <p:cNvSpPr txBox="1"/>
          <p:nvPr/>
        </p:nvSpPr>
        <p:spPr>
          <a:xfrm>
            <a:off x="311700" y="4734875"/>
            <a:ext cx="248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Lai, Olivia (2021). Earth.org</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pic>
        <p:nvPicPr>
          <p:cNvPr id="189" name="Google Shape;189;p26" title="IMG_1532.jpeg"/>
          <p:cNvPicPr preferRelativeResize="0"/>
          <p:nvPr/>
        </p:nvPicPr>
        <p:blipFill>
          <a:blip r:embed="rId4">
            <a:alphaModFix/>
          </a:blip>
          <a:stretch>
            <a:fillRect/>
          </a:stretch>
        </p:blipFill>
        <p:spPr>
          <a:xfrm>
            <a:off x="143750" y="98425"/>
            <a:ext cx="4151674" cy="1315050"/>
          </a:xfrm>
          <a:prstGeom prst="rect">
            <a:avLst/>
          </a:prstGeom>
          <a:noFill/>
          <a:ln>
            <a:noFill/>
          </a:ln>
        </p:spPr>
      </p:pic>
      <p:sp>
        <p:nvSpPr>
          <p:cNvPr id="190" name="Google Shape;190;p26"/>
          <p:cNvSpPr txBox="1"/>
          <p:nvPr/>
        </p:nvSpPr>
        <p:spPr>
          <a:xfrm>
            <a:off x="259275" y="34575"/>
            <a:ext cx="184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dk2"/>
                </a:solidFill>
              </a:rPr>
              <a:t>May 15th 1997</a:t>
            </a:r>
            <a:endParaRPr sz="1300">
              <a:solidFill>
                <a:schemeClr val="dk2"/>
              </a:solidFill>
            </a:endParaRPr>
          </a:p>
        </p:txBody>
      </p:sp>
      <p:pic>
        <p:nvPicPr>
          <p:cNvPr id="191" name="Google Shape;191;p26" title="IMG_1531.jpeg"/>
          <p:cNvPicPr preferRelativeResize="0"/>
          <p:nvPr/>
        </p:nvPicPr>
        <p:blipFill>
          <a:blip r:embed="rId5">
            <a:alphaModFix/>
          </a:blip>
          <a:stretch>
            <a:fillRect/>
          </a:stretch>
        </p:blipFill>
        <p:spPr>
          <a:xfrm>
            <a:off x="4404625" y="30450"/>
            <a:ext cx="4385026" cy="1451000"/>
          </a:xfrm>
          <a:prstGeom prst="rect">
            <a:avLst/>
          </a:prstGeom>
          <a:noFill/>
          <a:ln>
            <a:noFill/>
          </a:ln>
        </p:spPr>
      </p:pic>
      <p:sp>
        <p:nvSpPr>
          <p:cNvPr id="192" name="Google Shape;192;p26"/>
          <p:cNvSpPr txBox="1"/>
          <p:nvPr/>
        </p:nvSpPr>
        <p:spPr>
          <a:xfrm>
            <a:off x="7343125" y="307975"/>
            <a:ext cx="1849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00">
                <a:solidFill>
                  <a:schemeClr val="dk2"/>
                </a:solidFill>
              </a:rPr>
              <a:t>January 19th 2018</a:t>
            </a:r>
            <a:endParaRPr sz="1300">
              <a:solidFill>
                <a:schemeClr val="dk2"/>
              </a:solidFill>
            </a:endParaRPr>
          </a:p>
        </p:txBody>
      </p:sp>
      <p:graphicFrame>
        <p:nvGraphicFramePr>
          <p:cNvPr id="193" name="Google Shape;193;p26"/>
          <p:cNvGraphicFramePr/>
          <p:nvPr/>
        </p:nvGraphicFramePr>
        <p:xfrm>
          <a:off x="540250" y="1674550"/>
          <a:ext cx="3000000" cy="3000000"/>
        </p:xfrm>
        <a:graphic>
          <a:graphicData uri="http://schemas.openxmlformats.org/drawingml/2006/table">
            <a:tbl>
              <a:tblPr>
                <a:noFill/>
                <a:tableStyleId>{714A1951-17B0-4B85-9420-5A595F7EAEAA}</a:tableStyleId>
              </a:tblPr>
              <a:tblGrid>
                <a:gridCol w="2635875"/>
                <a:gridCol w="2635875"/>
                <a:gridCol w="2635875"/>
              </a:tblGrid>
              <a:tr h="725350">
                <a:tc>
                  <a:txBody>
                    <a:bodyPr/>
                    <a:lstStyle/>
                    <a:p>
                      <a:pPr indent="0" lvl="0" marL="0" rtl="0" algn="l">
                        <a:spcBef>
                          <a:spcPts val="0"/>
                        </a:spcBef>
                        <a:spcAft>
                          <a:spcPts val="0"/>
                        </a:spcAft>
                        <a:buNone/>
                      </a:pPr>
                      <a:r>
                        <a:rPr lang="es"/>
                        <a:t>Goals of the paper/study</a:t>
                      </a:r>
                      <a:endParaRPr/>
                    </a:p>
                  </a:txBody>
                  <a:tcPr marT="91425" marB="91425" marR="91425" marL="91425"/>
                </a:tc>
                <a:tc>
                  <a:txBody>
                    <a:bodyPr/>
                    <a:lstStyle/>
                    <a:p>
                      <a:pPr indent="0" lvl="0" marL="0" rtl="0" algn="l">
                        <a:spcBef>
                          <a:spcPts val="0"/>
                        </a:spcBef>
                        <a:spcAft>
                          <a:spcPts val="0"/>
                        </a:spcAft>
                        <a:buNone/>
                      </a:pPr>
                      <a:r>
                        <a:rPr lang="es"/>
                        <a:t>Attempting to place value on nature, general framework</a:t>
                      </a:r>
                      <a:endParaRPr/>
                    </a:p>
                  </a:txBody>
                  <a:tcPr marT="91425" marB="91425" marR="91425" marL="91425"/>
                </a:tc>
                <a:tc>
                  <a:txBody>
                    <a:bodyPr/>
                    <a:lstStyle/>
                    <a:p>
                      <a:pPr indent="0" lvl="0" marL="0" rtl="0" algn="l">
                        <a:spcBef>
                          <a:spcPts val="0"/>
                        </a:spcBef>
                        <a:spcAft>
                          <a:spcPts val="0"/>
                        </a:spcAft>
                        <a:buNone/>
                      </a:pPr>
                      <a:r>
                        <a:rPr lang="es"/>
                        <a:t>Rework the framework to include diverse perspectives to improve assessments</a:t>
                      </a:r>
                      <a:endParaRPr/>
                    </a:p>
                  </a:txBody>
                  <a:tcPr marT="91425" marB="91425" marR="91425" marL="91425"/>
                </a:tc>
              </a:tr>
              <a:tr h="537275">
                <a:tc>
                  <a:txBody>
                    <a:bodyPr/>
                    <a:lstStyle/>
                    <a:p>
                      <a:pPr indent="0" lvl="0" marL="0" rtl="0" algn="l">
                        <a:spcBef>
                          <a:spcPts val="0"/>
                        </a:spcBef>
                        <a:spcAft>
                          <a:spcPts val="0"/>
                        </a:spcAft>
                        <a:buNone/>
                      </a:pPr>
                      <a:r>
                        <a:rPr lang="es"/>
                        <a:t>Type of study </a:t>
                      </a:r>
                      <a:endParaRPr/>
                    </a:p>
                  </a:txBody>
                  <a:tcPr marT="91425" marB="91425" marR="91425" marL="91425"/>
                </a:tc>
                <a:tc>
                  <a:txBody>
                    <a:bodyPr/>
                    <a:lstStyle/>
                    <a:p>
                      <a:pPr indent="0" lvl="0" marL="0" rtl="0" algn="l">
                        <a:spcBef>
                          <a:spcPts val="0"/>
                        </a:spcBef>
                        <a:spcAft>
                          <a:spcPts val="0"/>
                        </a:spcAft>
                        <a:buNone/>
                      </a:pPr>
                      <a:r>
                        <a:rPr lang="es"/>
                        <a:t>Literature review with additional calculations</a:t>
                      </a:r>
                      <a:endParaRPr/>
                    </a:p>
                  </a:txBody>
                  <a:tcPr marT="91425" marB="91425" marR="91425" marL="91425"/>
                </a:tc>
                <a:tc>
                  <a:txBody>
                    <a:bodyPr/>
                    <a:lstStyle/>
                    <a:p>
                      <a:pPr indent="0" lvl="0" marL="0" rtl="0" algn="l">
                        <a:spcBef>
                          <a:spcPts val="0"/>
                        </a:spcBef>
                        <a:spcAft>
                          <a:spcPts val="0"/>
                        </a:spcAft>
                        <a:buNone/>
                      </a:pPr>
                      <a:r>
                        <a:rPr lang="es"/>
                        <a:t>Conceptual work / </a:t>
                      </a:r>
                      <a:endParaRPr/>
                    </a:p>
                    <a:p>
                      <a:pPr indent="0" lvl="0" marL="0" rtl="0" algn="l">
                        <a:spcBef>
                          <a:spcPts val="0"/>
                        </a:spcBef>
                        <a:spcAft>
                          <a:spcPts val="0"/>
                        </a:spcAft>
                        <a:buNone/>
                      </a:pPr>
                      <a:r>
                        <a:rPr lang="es"/>
                        <a:t>Theory paper</a:t>
                      </a:r>
                      <a:endParaRPr/>
                    </a:p>
                  </a:txBody>
                  <a:tcPr marT="91425" marB="91425" marR="91425" marL="91425"/>
                </a:tc>
              </a:tr>
              <a:tr h="537275">
                <a:tc>
                  <a:txBody>
                    <a:bodyPr/>
                    <a:lstStyle/>
                    <a:p>
                      <a:pPr indent="0" lvl="0" marL="0" rtl="0" algn="l">
                        <a:spcBef>
                          <a:spcPts val="0"/>
                        </a:spcBef>
                        <a:spcAft>
                          <a:spcPts val="0"/>
                        </a:spcAft>
                        <a:buNone/>
                      </a:pPr>
                      <a:r>
                        <a:rPr lang="es"/>
                        <a:t>Treatments on ecosystem goods and services</a:t>
                      </a:r>
                      <a:endParaRPr/>
                    </a:p>
                  </a:txBody>
                  <a:tcPr marT="91425" marB="91425" marR="91425" marL="91425"/>
                </a:tc>
                <a:tc>
                  <a:txBody>
                    <a:bodyPr/>
                    <a:lstStyle/>
                    <a:p>
                      <a:pPr indent="0" lvl="0" marL="0" rtl="0" algn="l">
                        <a:spcBef>
                          <a:spcPts val="0"/>
                        </a:spcBef>
                        <a:spcAft>
                          <a:spcPts val="0"/>
                        </a:spcAft>
                        <a:buNone/>
                      </a:pPr>
                      <a:r>
                        <a:rPr lang="es"/>
                        <a:t>Grouped goods and services together </a:t>
                      </a:r>
                      <a:endParaRPr/>
                    </a:p>
                  </a:txBody>
                  <a:tcPr marT="91425" marB="91425" marR="91425" marL="91425"/>
                </a:tc>
                <a:tc>
                  <a:txBody>
                    <a:bodyPr/>
                    <a:lstStyle/>
                    <a:p>
                      <a:pPr indent="0" lvl="0" marL="0" rtl="0" algn="l">
                        <a:spcBef>
                          <a:spcPts val="0"/>
                        </a:spcBef>
                        <a:spcAft>
                          <a:spcPts val="0"/>
                        </a:spcAft>
                        <a:buNone/>
                      </a:pPr>
                      <a:r>
                        <a:rPr lang="es"/>
                        <a:t>Separating goods and services</a:t>
                      </a:r>
                      <a:endParaRPr/>
                    </a:p>
                  </a:txBody>
                  <a:tcPr marT="91425" marB="91425" marR="91425" marL="91425"/>
                </a:tc>
              </a:tr>
              <a:tr h="537275">
                <a:tc>
                  <a:txBody>
                    <a:bodyPr/>
                    <a:lstStyle/>
                    <a:p>
                      <a:pPr indent="0" lvl="0" marL="0" rtl="0" algn="l">
                        <a:spcBef>
                          <a:spcPts val="0"/>
                        </a:spcBef>
                        <a:spcAft>
                          <a:spcPts val="0"/>
                        </a:spcAft>
                        <a:buNone/>
                      </a:pPr>
                      <a:r>
                        <a:rPr lang="es"/>
                        <a:t>Emphasis</a:t>
                      </a:r>
                      <a:endParaRPr/>
                    </a:p>
                  </a:txBody>
                  <a:tcPr marT="91425" marB="91425" marR="91425" marL="91425"/>
                </a:tc>
                <a:tc>
                  <a:txBody>
                    <a:bodyPr/>
                    <a:lstStyle/>
                    <a:p>
                      <a:pPr indent="0" lvl="0" marL="0" rtl="0" algn="l">
                        <a:spcBef>
                          <a:spcPts val="0"/>
                        </a:spcBef>
                        <a:spcAft>
                          <a:spcPts val="0"/>
                        </a:spcAft>
                        <a:buNone/>
                      </a:pPr>
                      <a:r>
                        <a:rPr lang="es"/>
                        <a:t>Natural Science and Economics</a:t>
                      </a:r>
                      <a:endParaRPr/>
                    </a:p>
                  </a:txBody>
                  <a:tcPr marT="91425" marB="91425" marR="91425" marL="91425"/>
                </a:tc>
                <a:tc>
                  <a:txBody>
                    <a:bodyPr/>
                    <a:lstStyle/>
                    <a:p>
                      <a:pPr indent="0" lvl="0" marL="0" rtl="0" algn="l">
                        <a:spcBef>
                          <a:spcPts val="0"/>
                        </a:spcBef>
                        <a:spcAft>
                          <a:spcPts val="0"/>
                        </a:spcAft>
                        <a:buNone/>
                      </a:pPr>
                      <a:r>
                        <a:rPr lang="es"/>
                        <a:t>Social Sciences and Humanities</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 name="Shape 197"/>
        <p:cNvGrpSpPr/>
        <p:nvPr/>
      </p:nvGrpSpPr>
      <p:grpSpPr>
        <a:xfrm>
          <a:off x="0" y="0"/>
          <a:ext cx="0" cy="0"/>
          <a:chOff x="0" y="0"/>
          <a:chExt cx="0" cy="0"/>
        </a:xfrm>
      </p:grpSpPr>
      <p:pic>
        <p:nvPicPr>
          <p:cNvPr id="198" name="Google Shape;198;p27" title="IMG_1547.jpeg"/>
          <p:cNvPicPr preferRelativeResize="0"/>
          <p:nvPr/>
        </p:nvPicPr>
        <p:blipFill rotWithShape="1">
          <a:blip r:embed="rId4">
            <a:alphaModFix/>
          </a:blip>
          <a:srcRect b="0" l="0" r="0" t="0"/>
          <a:stretch/>
        </p:blipFill>
        <p:spPr>
          <a:xfrm>
            <a:off x="1565425" y="0"/>
            <a:ext cx="6013140" cy="4838699"/>
          </a:xfrm>
          <a:prstGeom prst="rect">
            <a:avLst/>
          </a:prstGeom>
          <a:noFill/>
          <a:ln>
            <a:noFill/>
          </a:ln>
        </p:spPr>
      </p:pic>
      <p:sp>
        <p:nvSpPr>
          <p:cNvPr id="199" name="Google Shape;199;p27"/>
          <p:cNvSpPr txBox="1"/>
          <p:nvPr/>
        </p:nvSpPr>
        <p:spPr>
          <a:xfrm>
            <a:off x="6483225" y="4774200"/>
            <a:ext cx="322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2024 Why Nature Matters , Bioscience</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28"/>
          <p:cNvSpPr txBox="1"/>
          <p:nvPr>
            <p:ph type="title"/>
          </p:nvPr>
        </p:nvSpPr>
        <p:spPr>
          <a:xfrm>
            <a:off x="239350" y="2114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latin typeface="Lexend"/>
                <a:ea typeface="Lexend"/>
                <a:cs typeface="Lexend"/>
                <a:sym typeface="Lexend"/>
              </a:rPr>
              <a:t>Nature-based solutions (NbS)</a:t>
            </a:r>
            <a:endParaRPr sz="2400">
              <a:latin typeface="Lexend"/>
              <a:ea typeface="Lexend"/>
              <a:cs typeface="Lexend"/>
              <a:sym typeface="Lexend"/>
            </a:endParaRPr>
          </a:p>
        </p:txBody>
      </p:sp>
      <p:sp>
        <p:nvSpPr>
          <p:cNvPr id="205" name="Google Shape;205;p28"/>
          <p:cNvSpPr txBox="1"/>
          <p:nvPr>
            <p:ph idx="1" type="body"/>
          </p:nvPr>
        </p:nvSpPr>
        <p:spPr>
          <a:xfrm>
            <a:off x="-98425" y="1477300"/>
            <a:ext cx="4781100" cy="2646000"/>
          </a:xfrm>
          <a:prstGeom prst="rect">
            <a:avLst/>
          </a:prstGeom>
        </p:spPr>
        <p:txBody>
          <a:bodyPr anchorCtr="0" anchor="t" bIns="91425" lIns="91425" spcFirstLastPara="1" rIns="91425" wrap="square" tIns="91425">
            <a:normAutofit fontScale="25000"/>
          </a:bodyPr>
          <a:lstStyle/>
          <a:p>
            <a:pPr indent="0" lvl="0" marL="457200" rtl="0" algn="ctr">
              <a:spcBef>
                <a:spcPts val="0"/>
              </a:spcBef>
              <a:spcAft>
                <a:spcPts val="0"/>
              </a:spcAft>
              <a:buNone/>
            </a:pPr>
            <a:r>
              <a:t/>
            </a:r>
            <a:endParaRPr sz="8867">
              <a:solidFill>
                <a:srgbClr val="212529"/>
              </a:solidFill>
              <a:highlight>
                <a:srgbClr val="FFFFFF"/>
              </a:highlight>
              <a:latin typeface="Lexend"/>
              <a:ea typeface="Lexend"/>
              <a:cs typeface="Lexend"/>
              <a:sym typeface="Lexend"/>
            </a:endParaRPr>
          </a:p>
          <a:p>
            <a:pPr indent="0" lvl="0" marL="457200" rtl="0" algn="ctr">
              <a:spcBef>
                <a:spcPts val="0"/>
              </a:spcBef>
              <a:spcAft>
                <a:spcPts val="0"/>
              </a:spcAft>
              <a:buNone/>
            </a:pPr>
            <a:r>
              <a:rPr lang="es" sz="8867">
                <a:solidFill>
                  <a:srgbClr val="212529"/>
                </a:solidFill>
                <a:latin typeface="Lexend"/>
                <a:ea typeface="Lexend"/>
                <a:cs typeface="Lexend"/>
                <a:sym typeface="Lexend"/>
              </a:rPr>
              <a:t>The use of Ecosystem-based approaches to </a:t>
            </a:r>
            <a:r>
              <a:rPr lang="es" sz="8867">
                <a:solidFill>
                  <a:srgbClr val="212529"/>
                </a:solidFill>
                <a:latin typeface="Lexend"/>
                <a:ea typeface="Lexend"/>
                <a:cs typeface="Lexend"/>
                <a:sym typeface="Lexend"/>
              </a:rPr>
              <a:t>address</a:t>
            </a:r>
            <a:r>
              <a:rPr lang="es" sz="8867">
                <a:solidFill>
                  <a:srgbClr val="212529"/>
                </a:solidFill>
                <a:latin typeface="Lexend"/>
                <a:ea typeface="Lexend"/>
                <a:cs typeface="Lexend"/>
                <a:sym typeface="Lexend"/>
              </a:rPr>
              <a:t> societal challenges to improve biodiversity and human welfare.</a:t>
            </a:r>
            <a:endParaRPr sz="8867">
              <a:solidFill>
                <a:srgbClr val="212529"/>
              </a:solidFill>
              <a:latin typeface="Lexend"/>
              <a:ea typeface="Lexend"/>
              <a:cs typeface="Lexend"/>
              <a:sym typeface="Lexend"/>
            </a:endParaRPr>
          </a:p>
          <a:p>
            <a:pPr indent="0" lvl="0" marL="0" rtl="0" algn="l">
              <a:spcBef>
                <a:spcPts val="0"/>
              </a:spcBef>
              <a:spcAft>
                <a:spcPts val="1200"/>
              </a:spcAft>
              <a:buNone/>
            </a:pPr>
            <a:r>
              <a:t/>
            </a:r>
            <a:endParaRPr/>
          </a:p>
        </p:txBody>
      </p:sp>
      <p:pic>
        <p:nvPicPr>
          <p:cNvPr id="206" name="Google Shape;206;p28" title="IMG_1518.png"/>
          <p:cNvPicPr preferRelativeResize="0"/>
          <p:nvPr/>
        </p:nvPicPr>
        <p:blipFill rotWithShape="1">
          <a:blip r:embed="rId4">
            <a:alphaModFix/>
          </a:blip>
          <a:srcRect b="0" l="17876" r="20584" t="0"/>
          <a:stretch/>
        </p:blipFill>
        <p:spPr>
          <a:xfrm>
            <a:off x="4682525" y="784100"/>
            <a:ext cx="4218601" cy="4032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pic>
        <p:nvPicPr>
          <p:cNvPr id="211" name="Google Shape;211;p29" title="IMG_1520.jpeg"/>
          <p:cNvPicPr preferRelativeResize="0"/>
          <p:nvPr/>
        </p:nvPicPr>
        <p:blipFill>
          <a:blip r:embed="rId4">
            <a:alphaModFix/>
          </a:blip>
          <a:stretch>
            <a:fillRect/>
          </a:stretch>
        </p:blipFill>
        <p:spPr>
          <a:xfrm>
            <a:off x="370250" y="764400"/>
            <a:ext cx="3538725" cy="4292701"/>
          </a:xfrm>
          <a:prstGeom prst="rect">
            <a:avLst/>
          </a:prstGeom>
          <a:noFill/>
          <a:ln>
            <a:noFill/>
          </a:ln>
        </p:spPr>
      </p:pic>
      <p:sp>
        <p:nvSpPr>
          <p:cNvPr id="212" name="Google Shape;212;p29"/>
          <p:cNvSpPr txBox="1"/>
          <p:nvPr>
            <p:ph type="title"/>
          </p:nvPr>
        </p:nvSpPr>
        <p:spPr>
          <a:xfrm>
            <a:off x="311700" y="1917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2400">
                <a:latin typeface="Lexend"/>
                <a:ea typeface="Lexend"/>
                <a:cs typeface="Lexend"/>
                <a:sym typeface="Lexend"/>
              </a:rPr>
              <a:t>Criteria</a:t>
            </a:r>
            <a:r>
              <a:rPr lang="es" sz="2400">
                <a:latin typeface="Lexend"/>
                <a:ea typeface="Lexend"/>
                <a:cs typeface="Lexend"/>
                <a:sym typeface="Lexend"/>
              </a:rPr>
              <a:t> for </a:t>
            </a:r>
            <a:r>
              <a:rPr lang="es" sz="2400">
                <a:latin typeface="Lexend"/>
                <a:ea typeface="Lexend"/>
                <a:cs typeface="Lexend"/>
                <a:sym typeface="Lexend"/>
              </a:rPr>
              <a:t>Nature-based solutions (NbS)</a:t>
            </a:r>
            <a:endParaRPr sz="2400">
              <a:latin typeface="Lexend"/>
              <a:ea typeface="Lexend"/>
              <a:cs typeface="Lexend"/>
              <a:sym typeface="Lexend"/>
            </a:endParaRPr>
          </a:p>
        </p:txBody>
      </p:sp>
      <p:sp>
        <p:nvSpPr>
          <p:cNvPr id="213" name="Google Shape;213;p29"/>
          <p:cNvSpPr txBox="1"/>
          <p:nvPr/>
        </p:nvSpPr>
        <p:spPr>
          <a:xfrm>
            <a:off x="4392000" y="1447575"/>
            <a:ext cx="4752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latin typeface="Lexend"/>
                <a:ea typeface="Lexend"/>
                <a:cs typeface="Lexend"/>
                <a:sym typeface="Lexend"/>
              </a:rPr>
              <a:t>Importance</a:t>
            </a:r>
            <a:r>
              <a:rPr lang="es" sz="1800">
                <a:solidFill>
                  <a:schemeClr val="dk1"/>
                </a:solidFill>
                <a:latin typeface="Lexend"/>
                <a:ea typeface="Lexend"/>
                <a:cs typeface="Lexend"/>
                <a:sym typeface="Lexend"/>
              </a:rPr>
              <a:t> of </a:t>
            </a:r>
            <a:r>
              <a:rPr lang="es" sz="1800">
                <a:solidFill>
                  <a:schemeClr val="dk1"/>
                </a:solidFill>
                <a:latin typeface="Lexend"/>
                <a:ea typeface="Lexend"/>
                <a:cs typeface="Lexend"/>
                <a:sym typeface="Lexend"/>
              </a:rPr>
              <a:t>criteria</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Implementers design effective projects with reasonable scale and sustainability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342900" lvl="0" marL="457200" rtl="0" algn="l">
              <a:spcBef>
                <a:spcPts val="0"/>
              </a:spcBef>
              <a:spcAft>
                <a:spcPts val="0"/>
              </a:spcAft>
              <a:buClr>
                <a:schemeClr val="dk1"/>
              </a:buClr>
              <a:buSzPts val="1800"/>
              <a:buFont typeface="Lexend"/>
              <a:buChar char="-"/>
            </a:pPr>
            <a:r>
              <a:rPr lang="es" sz="1800">
                <a:solidFill>
                  <a:schemeClr val="dk1"/>
                </a:solidFill>
                <a:latin typeface="Lexend"/>
                <a:ea typeface="Lexend"/>
                <a:cs typeface="Lexend"/>
                <a:sym typeface="Lexend"/>
              </a:rPr>
              <a:t>Investors minimize risk and increase security.</a:t>
            </a:r>
            <a:endParaRPr sz="1800">
              <a:solidFill>
                <a:schemeClr val="dk1"/>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Conclusions</a:t>
            </a:r>
            <a:endParaRPr/>
          </a:p>
        </p:txBody>
      </p:sp>
      <p:sp>
        <p:nvSpPr>
          <p:cNvPr id="219" name="Google Shape;21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solidFill>
                  <a:schemeClr val="dk1"/>
                </a:solidFill>
              </a:rPr>
              <a:t>Nature values both in the economic field and social levels. </a:t>
            </a:r>
            <a:endParaRPr>
              <a:solidFill>
                <a:schemeClr val="dk1"/>
              </a:solidFill>
            </a:endParaRPr>
          </a:p>
          <a:p>
            <a:pPr indent="0" lvl="0" marL="0" rtl="0" algn="l">
              <a:spcBef>
                <a:spcPts val="1200"/>
              </a:spcBef>
              <a:spcAft>
                <a:spcPts val="0"/>
              </a:spcAft>
              <a:buNone/>
            </a:pPr>
            <a:r>
              <a:rPr lang="es">
                <a:solidFill>
                  <a:schemeClr val="dk1"/>
                </a:solidFill>
              </a:rPr>
              <a:t>The older paper takes the notion of natural services and emphasis the importance of nature’s contribution on human welfare. This notion was pioneering for the society which still seems nature’s contribution as free backgrounds, and introduce the concept of </a:t>
            </a:r>
            <a:r>
              <a:rPr lang="es">
                <a:solidFill>
                  <a:schemeClr val="dk1"/>
                </a:solidFill>
              </a:rPr>
              <a:t>natural</a:t>
            </a:r>
            <a:r>
              <a:rPr lang="es">
                <a:solidFill>
                  <a:schemeClr val="dk1"/>
                </a:solidFill>
              </a:rPr>
              <a:t> value to </a:t>
            </a:r>
            <a:r>
              <a:rPr lang="es">
                <a:solidFill>
                  <a:schemeClr val="dk1"/>
                </a:solidFill>
              </a:rPr>
              <a:t>economic</a:t>
            </a:r>
            <a:r>
              <a:rPr lang="es">
                <a:solidFill>
                  <a:schemeClr val="dk1"/>
                </a:solidFill>
              </a:rPr>
              <a:t> </a:t>
            </a:r>
            <a:r>
              <a:rPr lang="es">
                <a:solidFill>
                  <a:schemeClr val="dk1"/>
                </a:solidFill>
              </a:rPr>
              <a:t>consideration</a:t>
            </a:r>
            <a:r>
              <a:rPr lang="es">
                <a:solidFill>
                  <a:schemeClr val="dk1"/>
                </a:solidFill>
              </a:rPr>
              <a:t>.</a:t>
            </a:r>
            <a:endParaRPr>
              <a:solidFill>
                <a:schemeClr val="dk1"/>
              </a:solidFill>
            </a:endParaRPr>
          </a:p>
          <a:p>
            <a:pPr indent="0" lvl="0" marL="0" rtl="0" algn="l">
              <a:spcBef>
                <a:spcPts val="1200"/>
              </a:spcBef>
              <a:spcAft>
                <a:spcPts val="1200"/>
              </a:spcAft>
              <a:buNone/>
            </a:pPr>
            <a:r>
              <a:rPr lang="es">
                <a:solidFill>
                  <a:schemeClr val="dk1"/>
                </a:solidFill>
              </a:rPr>
              <a:t>The later paper emphasizes that nature’s contributions cannot be captured by economic metrics alone; they include relational, cultural, and indigenous knowledge perspectives that are essential to human well-being. This approach transcends a few body of knowledge, expands ecology’s interdisciplinarity in </a:t>
            </a:r>
            <a:r>
              <a:rPr lang="es">
                <a:solidFill>
                  <a:schemeClr val="dk1"/>
                </a:solidFill>
              </a:rPr>
              <a:t>sociology domain.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Synthesis </a:t>
            </a:r>
            <a:endParaRPr/>
          </a:p>
        </p:txBody>
      </p:sp>
      <p:sp>
        <p:nvSpPr>
          <p:cNvPr id="225" name="Google Shape;225;p31"/>
          <p:cNvSpPr txBox="1"/>
          <p:nvPr>
            <p:ph idx="1" type="body"/>
          </p:nvPr>
        </p:nvSpPr>
        <p:spPr>
          <a:xfrm>
            <a:off x="311700" y="1017725"/>
            <a:ext cx="3261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Lexend"/>
              <a:buChar char="-"/>
            </a:pPr>
            <a:r>
              <a:rPr lang="es">
                <a:solidFill>
                  <a:schemeClr val="dk1"/>
                </a:solidFill>
                <a:latin typeface="Lexend"/>
                <a:ea typeface="Lexend"/>
                <a:cs typeface="Lexend"/>
                <a:sym typeface="Lexend"/>
              </a:rPr>
              <a:t>It’s essential to </a:t>
            </a:r>
            <a:r>
              <a:rPr lang="es">
                <a:solidFill>
                  <a:schemeClr val="dk1"/>
                </a:solidFill>
                <a:latin typeface="Lexend"/>
                <a:ea typeface="Lexend"/>
                <a:cs typeface="Lexend"/>
                <a:sym typeface="Lexend"/>
              </a:rPr>
              <a:t>acknowledge</a:t>
            </a:r>
            <a:r>
              <a:rPr lang="es">
                <a:solidFill>
                  <a:schemeClr val="dk1"/>
                </a:solidFill>
                <a:latin typeface="Lexend"/>
                <a:ea typeface="Lexend"/>
                <a:cs typeface="Lexend"/>
                <a:sym typeface="Lexend"/>
              </a:rPr>
              <a:t> the incomparable value of ecosystems and their services</a:t>
            </a:r>
            <a:endParaRPr sz="1700">
              <a:solidFill>
                <a:schemeClr val="dk1"/>
              </a:solidFill>
              <a:latin typeface="Lexend"/>
              <a:ea typeface="Lexend"/>
              <a:cs typeface="Lexend"/>
              <a:sym typeface="Lexend"/>
            </a:endParaRPr>
          </a:p>
        </p:txBody>
      </p:sp>
      <p:pic>
        <p:nvPicPr>
          <p:cNvPr id="226" name="Google Shape;226;p31" title="IMG_1558.jpeg"/>
          <p:cNvPicPr preferRelativeResize="0"/>
          <p:nvPr/>
        </p:nvPicPr>
        <p:blipFill>
          <a:blip r:embed="rId4">
            <a:alphaModFix/>
          </a:blip>
          <a:stretch>
            <a:fillRect/>
          </a:stretch>
        </p:blipFill>
        <p:spPr>
          <a:xfrm>
            <a:off x="3849525" y="194500"/>
            <a:ext cx="5058908" cy="4579700"/>
          </a:xfrm>
          <a:prstGeom prst="rect">
            <a:avLst/>
          </a:prstGeom>
          <a:noFill/>
          <a:ln>
            <a:noFill/>
          </a:ln>
        </p:spPr>
      </p:pic>
      <p:sp>
        <p:nvSpPr>
          <p:cNvPr id="227" name="Google Shape;227;p31"/>
          <p:cNvSpPr txBox="1"/>
          <p:nvPr/>
        </p:nvSpPr>
        <p:spPr>
          <a:xfrm>
            <a:off x="6757150" y="4774200"/>
            <a:ext cx="448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Dilworth, Amanda (2025). Dribbble</a:t>
            </a:r>
            <a:endParaRPr sz="1200">
              <a:solidFill>
                <a:schemeClr val="dk1"/>
              </a:solidFill>
              <a:latin typeface="Times New Roman"/>
              <a:ea typeface="Times New Roman"/>
              <a:cs typeface="Times New Roman"/>
              <a:sym typeface="Times New Roman"/>
            </a:endParaRPr>
          </a:p>
        </p:txBody>
      </p:sp>
      <p:sp>
        <p:nvSpPr>
          <p:cNvPr id="228" name="Google Shape;228;p31"/>
          <p:cNvSpPr txBox="1"/>
          <p:nvPr/>
        </p:nvSpPr>
        <p:spPr>
          <a:xfrm>
            <a:off x="442350" y="2746525"/>
            <a:ext cx="3000000" cy="2016300"/>
          </a:xfrm>
          <a:prstGeom prst="rect">
            <a:avLst/>
          </a:prstGeom>
          <a:noFill/>
          <a:ln>
            <a:noFill/>
          </a:ln>
        </p:spPr>
        <p:txBody>
          <a:bodyPr anchorCtr="0" anchor="t" bIns="91425" lIns="91425" spcFirstLastPara="1" rIns="91425" wrap="square" tIns="91425">
            <a:spAutoFit/>
          </a:bodyPr>
          <a:lstStyle/>
          <a:p>
            <a:pPr indent="-336550" lvl="0" marL="457200" rtl="0" algn="l">
              <a:spcBef>
                <a:spcPts val="1200"/>
              </a:spcBef>
              <a:spcAft>
                <a:spcPts val="0"/>
              </a:spcAft>
              <a:buClr>
                <a:schemeClr val="dk1"/>
              </a:buClr>
              <a:buSzPts val="1700"/>
              <a:buFont typeface="Lexend"/>
              <a:buChar char="-"/>
            </a:pPr>
            <a:r>
              <a:rPr lang="es" sz="1700">
                <a:solidFill>
                  <a:schemeClr val="dk1"/>
                </a:solidFill>
                <a:latin typeface="Lexend"/>
                <a:ea typeface="Lexend"/>
                <a:cs typeface="Lexend"/>
                <a:sym typeface="Lexend"/>
              </a:rPr>
              <a:t>NCP produces results that are both scientifically accurate and more socially accepted, increasing the chance of policy adoption.</a:t>
            </a:r>
            <a:endParaRPr sz="1700">
              <a:solidFill>
                <a:schemeClr val="dk1"/>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2" name="Shape 232"/>
        <p:cNvGrpSpPr/>
        <p:nvPr/>
      </p:nvGrpSpPr>
      <p:grpSpPr>
        <a:xfrm>
          <a:off x="0" y="0"/>
          <a:ext cx="0" cy="0"/>
          <a:chOff x="0" y="0"/>
          <a:chExt cx="0" cy="0"/>
        </a:xfrm>
      </p:grpSpPr>
      <p:sp>
        <p:nvSpPr>
          <p:cNvPr id="233" name="Google Shape;23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Lexend"/>
                <a:ea typeface="Lexend"/>
                <a:cs typeface="Lexend"/>
                <a:sym typeface="Lexend"/>
              </a:rPr>
              <a:t>Sources</a:t>
            </a:r>
            <a:endParaRPr>
              <a:latin typeface="Lexend"/>
              <a:ea typeface="Lexend"/>
              <a:cs typeface="Lexend"/>
              <a:sym typeface="Lexend"/>
            </a:endParaRPr>
          </a:p>
        </p:txBody>
      </p:sp>
      <p:sp>
        <p:nvSpPr>
          <p:cNvPr id="234" name="Google Shape;234;p32"/>
          <p:cNvSpPr txBox="1"/>
          <p:nvPr>
            <p:ph idx="1" type="body"/>
          </p:nvPr>
        </p:nvSpPr>
        <p:spPr>
          <a:xfrm>
            <a:off x="239950" y="1094700"/>
            <a:ext cx="9041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600">
                <a:solidFill>
                  <a:schemeClr val="dk1"/>
                </a:solidFill>
                <a:latin typeface="Lexend"/>
                <a:ea typeface="Lexend"/>
                <a:cs typeface="Lexend"/>
                <a:sym typeface="Lexend"/>
              </a:rPr>
              <a:t>Scientific Papers provided:</a:t>
            </a:r>
            <a:endParaRPr sz="1600">
              <a:solidFill>
                <a:schemeClr val="dk1"/>
              </a:solidFill>
              <a:latin typeface="Lexend"/>
              <a:ea typeface="Lexend"/>
              <a:cs typeface="Lexend"/>
              <a:sym typeface="Lexend"/>
            </a:endParaRPr>
          </a:p>
          <a:p>
            <a:pPr indent="-457200" lvl="0" marL="457200" rtl="0" algn="l">
              <a:lnSpc>
                <a:spcPct val="200000"/>
              </a:lnSpc>
              <a:spcBef>
                <a:spcPts val="1200"/>
              </a:spcBef>
              <a:spcAft>
                <a:spcPts val="0"/>
              </a:spcAft>
              <a:buNone/>
            </a:pPr>
            <a:r>
              <a:rPr lang="es" sz="1200">
                <a:solidFill>
                  <a:schemeClr val="dk1"/>
                </a:solidFill>
                <a:latin typeface="Lexend"/>
                <a:ea typeface="Lexend"/>
                <a:cs typeface="Lexend"/>
                <a:sym typeface="Lexend"/>
              </a:rPr>
              <a:t>Costanza, Robert, et al. “The Value of the World’s Ecosystem Services and Natural Capital.” </a:t>
            </a:r>
            <a:r>
              <a:rPr i="1" lang="es" sz="1200">
                <a:solidFill>
                  <a:schemeClr val="dk1"/>
                </a:solidFill>
                <a:latin typeface="Lexend"/>
                <a:ea typeface="Lexend"/>
                <a:cs typeface="Lexend"/>
                <a:sym typeface="Lexend"/>
              </a:rPr>
              <a:t>Nature</a:t>
            </a:r>
            <a:r>
              <a:rPr lang="es" sz="1200">
                <a:solidFill>
                  <a:schemeClr val="dk1"/>
                </a:solidFill>
                <a:latin typeface="Lexend"/>
                <a:ea typeface="Lexend"/>
                <a:cs typeface="Lexend"/>
                <a:sym typeface="Lexend"/>
              </a:rPr>
              <a:t>, vol. 387, no. 6630, 15 May 1997, pp. 253–260, https://doi.org/10.1038/387253a0.</a:t>
            </a:r>
            <a:endParaRPr sz="1200">
              <a:solidFill>
                <a:schemeClr val="dk1"/>
              </a:solidFill>
              <a:latin typeface="Lexend"/>
              <a:ea typeface="Lexend"/>
              <a:cs typeface="Lexend"/>
              <a:sym typeface="Lexend"/>
            </a:endParaRPr>
          </a:p>
          <a:p>
            <a:pPr indent="-457200" lvl="0" marL="457200" rtl="0" algn="l">
              <a:lnSpc>
                <a:spcPct val="200000"/>
              </a:lnSpc>
              <a:spcBef>
                <a:spcPts val="0"/>
              </a:spcBef>
              <a:spcAft>
                <a:spcPts val="0"/>
              </a:spcAft>
              <a:buNone/>
            </a:pPr>
            <a:r>
              <a:rPr lang="es" sz="1200">
                <a:solidFill>
                  <a:schemeClr val="dk1"/>
                </a:solidFill>
                <a:latin typeface="Lexend"/>
                <a:ea typeface="Lexend"/>
                <a:cs typeface="Lexend"/>
                <a:sym typeface="Lexend"/>
              </a:rPr>
              <a:t>Díaz, Sandra, et al. “Assessing Nature’s Contributions to People.” </a:t>
            </a:r>
            <a:r>
              <a:rPr i="1" lang="es" sz="1200">
                <a:solidFill>
                  <a:schemeClr val="dk1"/>
                </a:solidFill>
                <a:latin typeface="Lexend"/>
                <a:ea typeface="Lexend"/>
                <a:cs typeface="Lexend"/>
                <a:sym typeface="Lexend"/>
              </a:rPr>
              <a:t>Science</a:t>
            </a:r>
            <a:r>
              <a:rPr lang="es" sz="1200">
                <a:solidFill>
                  <a:schemeClr val="dk1"/>
                </a:solidFill>
                <a:latin typeface="Lexend"/>
                <a:ea typeface="Lexend"/>
                <a:cs typeface="Lexend"/>
                <a:sym typeface="Lexend"/>
              </a:rPr>
              <a:t>, vol. 359, no. 6373, 18 Jan. 2018, pp. 270–272, https://doi.org/10.1126/science.aap8826.</a:t>
            </a:r>
            <a:endParaRPr>
              <a:solidFill>
                <a:schemeClr val="dk1"/>
              </a:solidFill>
              <a:latin typeface="Lexend"/>
              <a:ea typeface="Lexend"/>
              <a:cs typeface="Lexend"/>
              <a:sym typeface="Lexend"/>
            </a:endParaRPr>
          </a:p>
          <a:p>
            <a:pPr indent="0" lvl="0" marL="0" rtl="0" algn="l">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33"/>
          <p:cNvSpPr txBox="1"/>
          <p:nvPr>
            <p:ph type="title"/>
          </p:nvPr>
        </p:nvSpPr>
        <p:spPr>
          <a:xfrm>
            <a:off x="311700" y="211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Lexend"/>
                <a:ea typeface="Lexend"/>
                <a:cs typeface="Lexend"/>
                <a:sym typeface="Lexend"/>
              </a:rPr>
              <a:t>Supplementary Sources:</a:t>
            </a:r>
            <a:endParaRPr>
              <a:latin typeface="Lexend"/>
              <a:ea typeface="Lexend"/>
              <a:cs typeface="Lexend"/>
              <a:sym typeface="Lexend"/>
            </a:endParaRPr>
          </a:p>
        </p:txBody>
      </p:sp>
      <p:sp>
        <p:nvSpPr>
          <p:cNvPr id="240" name="Google Shape;240;p33"/>
          <p:cNvSpPr txBox="1"/>
          <p:nvPr>
            <p:ph idx="1" type="body"/>
          </p:nvPr>
        </p:nvSpPr>
        <p:spPr>
          <a:xfrm>
            <a:off x="311700" y="50332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1200"/>
              </a:spcBef>
              <a:spcAft>
                <a:spcPts val="0"/>
              </a:spcAft>
              <a:buNone/>
            </a:pPr>
            <a:r>
              <a:rPr lang="es" sz="4000">
                <a:solidFill>
                  <a:schemeClr val="dk1"/>
                </a:solidFill>
                <a:latin typeface="Lexend"/>
                <a:ea typeface="Lexend"/>
                <a:cs typeface="Lexend"/>
                <a:sym typeface="Lexend"/>
              </a:rPr>
              <a:t>“A Metacoupling Lens on the Co-Production of Nature’s Contributions to People: Insights for Sustainability - Restauración Ecológica.” Restauración Ecológica, 25 July 2025, restauracionecologica.csic.es/2025/07/25/a-metacoupling-lens-on-the-co-production-of-natures-contributions-to-people-insights-for-sustainability/. Accessed 5 Dec. 2025.</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Bhagwat, Shalmali. “Ecosystem Integrity: Its Role, Challenges and Opportunities.” Welcome to WOTR! - Watershed Organisation Trust (WOTR), 19 Feb. 2025, wotr.org/blog/maintaining-ecosystem-services-and-biodiversity-for-long-term-sustainability-of-ecosystem/. Accessed 5 Dec. 2025.</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Dilworth, Amanda. World Nature Conservation Day Artwork, 2025, </a:t>
            </a:r>
            <a:r>
              <a:rPr lang="es" sz="4000" u="sng">
                <a:solidFill>
                  <a:schemeClr val="hlink"/>
                </a:solidFill>
                <a:latin typeface="Lexend"/>
                <a:ea typeface="Lexend"/>
                <a:cs typeface="Lexend"/>
                <a:sym typeface="Lexend"/>
                <a:hlinkClick r:id="rId4"/>
              </a:rPr>
              <a:t>dribbble.com/shots/16007802-World-Nature-Conservation-Day-Artwork</a:t>
            </a:r>
            <a:r>
              <a:rPr lang="es" sz="4000">
                <a:solidFill>
                  <a:schemeClr val="dk1"/>
                </a:solidFill>
                <a:latin typeface="Lexend"/>
                <a:ea typeface="Lexend"/>
                <a:cs typeface="Lexend"/>
                <a:sym typeface="Lexend"/>
              </a:rPr>
              <a:t>.</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Holmes, Amelia. “Natural Capital: Valuing Wild Landscapes.” The Lifescape Project, 2024, </a:t>
            </a:r>
            <a:r>
              <a:rPr lang="es" sz="4000" u="sng">
                <a:solidFill>
                  <a:schemeClr val="hlink"/>
                </a:solidFill>
                <a:latin typeface="Lexend"/>
                <a:ea typeface="Lexend"/>
                <a:cs typeface="Lexend"/>
                <a:sym typeface="Lexend"/>
                <a:hlinkClick r:id="rId5"/>
              </a:rPr>
              <a:t>lifescapeproject.org/the-natural-capital-framework/</a:t>
            </a:r>
            <a:r>
              <a:rPr lang="es" sz="4000">
                <a:solidFill>
                  <a:schemeClr val="dk1"/>
                </a:solidFill>
                <a:latin typeface="Lexend"/>
                <a:ea typeface="Lexend"/>
                <a:cs typeface="Lexend"/>
                <a:sym typeface="Lexend"/>
              </a:rPr>
              <a:t>.</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IUCN. “Ensuring Effective Nature-Based Solutions.” Iucn.org, July 2020, </a:t>
            </a:r>
            <a:r>
              <a:rPr lang="es" sz="4000" u="sng">
                <a:solidFill>
                  <a:schemeClr val="hlink"/>
                </a:solidFill>
                <a:latin typeface="Lexend"/>
                <a:ea typeface="Lexend"/>
                <a:cs typeface="Lexend"/>
                <a:sym typeface="Lexend"/>
                <a:hlinkClick r:id="rId6"/>
              </a:rPr>
              <a:t>iucn.org/resources/issues-brief/ensuring-effective-nature-based-solutions</a:t>
            </a:r>
            <a:r>
              <a:rPr lang="es" sz="4000">
                <a:solidFill>
                  <a:schemeClr val="dk1"/>
                </a:solidFill>
                <a:latin typeface="Lexend"/>
                <a:ea typeface="Lexend"/>
                <a:cs typeface="Lexend"/>
                <a:sym typeface="Lexend"/>
              </a:rPr>
              <a:t>.</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Kimmerer, Robin Wall. Braiding Sweetgrass. Braiding Sweetgrass: Indigenous Wisdom, Scientific Knowledge and the Teachings of Plants, Minneapolis, Minnesota, Milkweed Editions, 2013.</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Lai, Olivia. “What Are the Aichi Biodiversity Targets?” Earth.org - Past | Present | Future, 11 Oct. 2021, </a:t>
            </a:r>
            <a:r>
              <a:rPr lang="es" sz="4000" u="sng">
                <a:solidFill>
                  <a:schemeClr val="hlink"/>
                </a:solidFill>
                <a:latin typeface="Lexend"/>
                <a:ea typeface="Lexend"/>
                <a:cs typeface="Lexend"/>
                <a:sym typeface="Lexend"/>
                <a:hlinkClick r:id="rId7"/>
              </a:rPr>
              <a:t>earth.org/what-are-the-aichi-biodiversity-targets/</a:t>
            </a:r>
            <a:r>
              <a:rPr lang="es" sz="4000">
                <a:solidFill>
                  <a:schemeClr val="dk1"/>
                </a:solidFill>
                <a:latin typeface="Lexend"/>
                <a:ea typeface="Lexend"/>
                <a:cs typeface="Lexend"/>
                <a:sym typeface="Lexend"/>
              </a:rPr>
              <a:t>.</a:t>
            </a:r>
            <a:endParaRPr sz="4000">
              <a:solidFill>
                <a:schemeClr val="dk1"/>
              </a:solidFill>
              <a:latin typeface="Lexend"/>
              <a:ea typeface="Lexend"/>
              <a:cs typeface="Lexend"/>
              <a:sym typeface="Lexend"/>
            </a:endParaRPr>
          </a:p>
          <a:p>
            <a:pPr indent="0" lvl="0" marL="0" rtl="0" algn="l">
              <a:spcBef>
                <a:spcPts val="0"/>
              </a:spcBef>
              <a:spcAft>
                <a:spcPts val="0"/>
              </a:spcAft>
              <a:buNone/>
            </a:pPr>
            <a:r>
              <a:t/>
            </a:r>
            <a:endParaRPr sz="4000">
              <a:solidFill>
                <a:schemeClr val="dk1"/>
              </a:solidFill>
              <a:latin typeface="Lexend"/>
              <a:ea typeface="Lexend"/>
              <a:cs typeface="Lexend"/>
              <a:sym typeface="Lexend"/>
            </a:endParaRPr>
          </a:p>
          <a:p>
            <a:pPr indent="0" lvl="0" marL="0" rtl="0" algn="l">
              <a:spcBef>
                <a:spcPts val="0"/>
              </a:spcBef>
              <a:spcAft>
                <a:spcPts val="0"/>
              </a:spcAft>
              <a:buNone/>
            </a:pPr>
            <a:r>
              <a:rPr lang="es" sz="4000">
                <a:solidFill>
                  <a:schemeClr val="dk1"/>
                </a:solidFill>
                <a:latin typeface="Lexend"/>
                <a:ea typeface="Lexend"/>
                <a:cs typeface="Lexend"/>
                <a:sym typeface="Lexend"/>
              </a:rPr>
              <a:t>Roué, Marie, and Zsolt Molnar. Knowing Our Lands and Resources. UNESCO Publishing, 3 Apr. 2017.</a:t>
            </a:r>
            <a:endParaRPr sz="4000">
              <a:solidFill>
                <a:schemeClr val="dk1"/>
              </a:solidFill>
              <a:latin typeface="Lexend"/>
              <a:ea typeface="Lexend"/>
              <a:cs typeface="Lexend"/>
              <a:sym typeface="Lexend"/>
            </a:endParaRPr>
          </a:p>
          <a:p>
            <a:pPr indent="0" lvl="0" marL="0" rtl="0" algn="l">
              <a:spcBef>
                <a:spcPts val="0"/>
              </a:spcBef>
              <a:spcAft>
                <a:spcPts val="0"/>
              </a:spcAft>
              <a:buClr>
                <a:schemeClr val="dk1"/>
              </a:buClr>
              <a:buSzPct val="27500"/>
              <a:buFont typeface="Arial"/>
              <a:buNone/>
            </a:pPr>
            <a:r>
              <a:t/>
            </a:r>
            <a:endParaRPr sz="4000">
              <a:solidFill>
                <a:schemeClr val="dk1"/>
              </a:solidFill>
              <a:latin typeface="Lexend"/>
              <a:ea typeface="Lexend"/>
              <a:cs typeface="Lexend"/>
              <a:sym typeface="Lexend"/>
            </a:endParaRPr>
          </a:p>
          <a:p>
            <a:pPr indent="0" lvl="0" marL="0" rtl="0" algn="l">
              <a:spcBef>
                <a:spcPts val="0"/>
              </a:spcBef>
              <a:spcAft>
                <a:spcPts val="0"/>
              </a:spcAft>
              <a:buClr>
                <a:schemeClr val="dk1"/>
              </a:buClr>
              <a:buSzPct val="27500"/>
              <a:buFont typeface="Arial"/>
              <a:buNone/>
            </a:pPr>
            <a:r>
              <a:t/>
            </a:r>
            <a:endParaRPr sz="4000"/>
          </a:p>
          <a:p>
            <a:pPr indent="0" lvl="0" marL="0" rtl="0" algn="l">
              <a:spcBef>
                <a:spcPts val="0"/>
              </a:spcBef>
              <a:spcAft>
                <a:spcPts val="1200"/>
              </a:spcAft>
              <a:buNone/>
            </a:pPr>
            <a:r>
              <a:t/>
            </a:r>
            <a:endParaRPr sz="4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 name="Shape 244"/>
        <p:cNvGrpSpPr/>
        <p:nvPr/>
      </p:nvGrpSpPr>
      <p:grpSpPr>
        <a:xfrm>
          <a:off x="0" y="0"/>
          <a:ext cx="0" cy="0"/>
          <a:chOff x="0" y="0"/>
          <a:chExt cx="0" cy="0"/>
        </a:xfrm>
      </p:grpSpPr>
      <p:sp>
        <p:nvSpPr>
          <p:cNvPr id="245" name="Google Shape;24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Lexend"/>
                <a:ea typeface="Lexend"/>
                <a:cs typeface="Lexend"/>
                <a:sym typeface="Lexend"/>
              </a:rPr>
              <a:t>Contributions:</a:t>
            </a:r>
            <a:endParaRPr>
              <a:latin typeface="Lexend"/>
              <a:ea typeface="Lexend"/>
              <a:cs typeface="Lexend"/>
              <a:sym typeface="Lexend"/>
            </a:endParaRPr>
          </a:p>
        </p:txBody>
      </p:sp>
      <p:sp>
        <p:nvSpPr>
          <p:cNvPr id="246" name="Google Shape;246;p34"/>
          <p:cNvSpPr txBox="1"/>
          <p:nvPr>
            <p:ph idx="1" type="body"/>
          </p:nvPr>
        </p:nvSpPr>
        <p:spPr>
          <a:xfrm>
            <a:off x="311700" y="1230325"/>
            <a:ext cx="3819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chemeClr val="dk1"/>
                </a:solidFill>
                <a:latin typeface="Lexend"/>
                <a:ea typeface="Lexend"/>
                <a:cs typeface="Lexend"/>
                <a:sym typeface="Lexend"/>
              </a:rPr>
              <a:t>Clara - Ecosystem services, modern and classic paper review and valuation process</a:t>
            </a:r>
            <a:endParaRPr>
              <a:solidFill>
                <a:schemeClr val="dk1"/>
              </a:solidFill>
              <a:latin typeface="Lexend"/>
              <a:ea typeface="Lexend"/>
              <a:cs typeface="Lexend"/>
              <a:sym typeface="Lexend"/>
            </a:endParaRPr>
          </a:p>
          <a:p>
            <a:pPr indent="0" lvl="0" marL="0" rtl="0" algn="l">
              <a:spcBef>
                <a:spcPts val="1200"/>
              </a:spcBef>
              <a:spcAft>
                <a:spcPts val="0"/>
              </a:spcAft>
              <a:buNone/>
            </a:pPr>
            <a:r>
              <a:rPr lang="es">
                <a:solidFill>
                  <a:schemeClr val="dk1"/>
                </a:solidFill>
                <a:latin typeface="Lexend"/>
                <a:ea typeface="Lexend"/>
                <a:cs typeface="Lexend"/>
                <a:sym typeface="Lexend"/>
              </a:rPr>
              <a:t>Alexie - Slides &amp; Citations </a:t>
            </a:r>
            <a:endParaRPr>
              <a:solidFill>
                <a:schemeClr val="dk1"/>
              </a:solidFill>
              <a:latin typeface="Lexend"/>
              <a:ea typeface="Lexend"/>
              <a:cs typeface="Lexend"/>
              <a:sym typeface="Lexend"/>
            </a:endParaRPr>
          </a:p>
          <a:p>
            <a:pPr indent="0" lvl="0" marL="0" rtl="0" algn="l">
              <a:spcBef>
                <a:spcPts val="1200"/>
              </a:spcBef>
              <a:spcAft>
                <a:spcPts val="0"/>
              </a:spcAft>
              <a:buNone/>
            </a:pPr>
            <a:r>
              <a:rPr lang="es">
                <a:solidFill>
                  <a:schemeClr val="dk1"/>
                </a:solidFill>
                <a:latin typeface="Lexend"/>
                <a:ea typeface="Lexend"/>
                <a:cs typeface="Lexend"/>
                <a:sym typeface="Lexend"/>
              </a:rPr>
              <a:t>Hao - Global Value, literature c</a:t>
            </a:r>
            <a:r>
              <a:rPr lang="es">
                <a:solidFill>
                  <a:schemeClr val="dk1"/>
                </a:solidFill>
                <a:latin typeface="Lexend"/>
                <a:ea typeface="Lexend"/>
                <a:cs typeface="Lexend"/>
                <a:sym typeface="Lexend"/>
              </a:rPr>
              <a:t>omparison</a:t>
            </a:r>
            <a:r>
              <a:rPr lang="es">
                <a:solidFill>
                  <a:schemeClr val="dk1"/>
                </a:solidFill>
                <a:latin typeface="Lexend"/>
                <a:ea typeface="Lexend"/>
                <a:cs typeface="Lexend"/>
                <a:sym typeface="Lexend"/>
              </a:rPr>
              <a:t>, conclusion</a:t>
            </a:r>
            <a:endParaRPr>
              <a:solidFill>
                <a:schemeClr val="dk1"/>
              </a:solidFill>
              <a:latin typeface="Lexend"/>
              <a:ea typeface="Lexend"/>
              <a:cs typeface="Lexend"/>
              <a:sym typeface="Lexend"/>
            </a:endParaRPr>
          </a:p>
          <a:p>
            <a:pPr indent="-342900" lvl="0" marL="457200" rtl="0" algn="l">
              <a:spcBef>
                <a:spcPts val="1200"/>
              </a:spcBef>
              <a:spcAft>
                <a:spcPts val="0"/>
              </a:spcAft>
              <a:buClr>
                <a:schemeClr val="dk1"/>
              </a:buClr>
              <a:buSzPts val="1800"/>
              <a:buFont typeface="Lexend"/>
              <a:buChar char="●"/>
            </a:pPr>
            <a:r>
              <a:rPr lang="es">
                <a:solidFill>
                  <a:schemeClr val="dk1"/>
                </a:solidFill>
                <a:latin typeface="Lexend"/>
                <a:ea typeface="Lexend"/>
                <a:cs typeface="Lexend"/>
                <a:sym typeface="Lexend"/>
              </a:rPr>
              <a:t>No AI was used in the making of this presentation</a:t>
            </a:r>
            <a:endParaRPr>
              <a:solidFill>
                <a:schemeClr val="dk1"/>
              </a:solidFill>
              <a:latin typeface="Lexend"/>
              <a:ea typeface="Lexend"/>
              <a:cs typeface="Lexend"/>
              <a:sym typeface="Lexend"/>
            </a:endParaRPr>
          </a:p>
        </p:txBody>
      </p:sp>
      <p:pic>
        <p:nvPicPr>
          <p:cNvPr id="247" name="Google Shape;247;p34" title="IMG_1538.jpeg"/>
          <p:cNvPicPr preferRelativeResize="0"/>
          <p:nvPr/>
        </p:nvPicPr>
        <p:blipFill>
          <a:blip r:embed="rId4">
            <a:alphaModFix/>
          </a:blip>
          <a:stretch>
            <a:fillRect/>
          </a:stretch>
        </p:blipFill>
        <p:spPr>
          <a:xfrm>
            <a:off x="4572000" y="1382238"/>
            <a:ext cx="4206925" cy="2914425"/>
          </a:xfrm>
          <a:prstGeom prst="rect">
            <a:avLst/>
          </a:prstGeom>
          <a:noFill/>
          <a:ln>
            <a:noFill/>
          </a:ln>
        </p:spPr>
      </p:pic>
      <p:sp>
        <p:nvSpPr>
          <p:cNvPr id="248" name="Google Shape;248;p34"/>
          <p:cNvSpPr txBox="1"/>
          <p:nvPr/>
        </p:nvSpPr>
        <p:spPr>
          <a:xfrm>
            <a:off x="5892700" y="4296650"/>
            <a:ext cx="3342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Dan Engler (2018). Charlotte Lozier Institute</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