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Merriweather Black"/>
      <p:bold r:id="rId22"/>
      <p:boldItalic r:id="rId23"/>
    </p:embeddedFont>
    <p:embeddedFont>
      <p:font typeface="Merriweather"/>
      <p:regular r:id="rId24"/>
      <p:bold r:id="rId25"/>
      <p:italic r:id="rId26"/>
      <p:boldItalic r:id="rId27"/>
    </p:embeddedFont>
    <p:embeddedFont>
      <p:font typeface="Merriweather ExtraBold"/>
      <p:bold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C50CC4A-3CF3-4992-AA57-8AD2D35A3048}">
  <a:tblStyle styleId="{4C50CC4A-3CF3-4992-AA57-8AD2D35A3048}" styleName="Table_0">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MerriweatherBlack-bold.fntdata"/><Relationship Id="rId21" Type="http://schemas.openxmlformats.org/officeDocument/2006/relationships/slide" Target="slides/slide15.xml"/><Relationship Id="rId24" Type="http://schemas.openxmlformats.org/officeDocument/2006/relationships/font" Target="fonts/Merriweather-regular.fntdata"/><Relationship Id="rId23" Type="http://schemas.openxmlformats.org/officeDocument/2006/relationships/font" Target="fonts/MerriweatherBlack-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Merriweather-italic.fntdata"/><Relationship Id="rId25" Type="http://schemas.openxmlformats.org/officeDocument/2006/relationships/font" Target="fonts/Merriweather-bold.fntdata"/><Relationship Id="rId28" Type="http://schemas.openxmlformats.org/officeDocument/2006/relationships/font" Target="fonts/MerriweatherExtraBold-bold.fntdata"/><Relationship Id="rId27" Type="http://schemas.openxmlformats.org/officeDocument/2006/relationships/font" Target="fonts/Merriweather-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MerriweatherExtraBold-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aa63bb4b49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aa63bb4b49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aa63bb4b49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aa63bb4b49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Eco-evolutionary dynamics </a:t>
            </a:r>
            <a:r>
              <a:rPr lang="en"/>
              <a:t>are the </a:t>
            </a:r>
            <a:r>
              <a:rPr lang="en"/>
              <a:t>study of </a:t>
            </a:r>
            <a:r>
              <a:rPr lang="en"/>
              <a:t>how ecological</a:t>
            </a:r>
            <a:r>
              <a:rPr lang="en">
                <a:solidFill>
                  <a:schemeClr val="dk1"/>
                </a:solidFill>
              </a:rPr>
              <a:t> processes</a:t>
            </a:r>
            <a:r>
              <a:rPr lang="en"/>
              <a:t> </a:t>
            </a:r>
            <a:r>
              <a:rPr lang="en"/>
              <a:t>&amp; evolutionary processes</a:t>
            </a:r>
            <a:r>
              <a:rPr lang="en"/>
              <a:t>, interact &amp; influence each other in a reciprocal feedback loop.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idea that evolutionary processes can occur quickly alongside with ecological processes led scientists to begin studying the influence evolution has on ecology along with the affects ecology has on evolution.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Example: Beavers and ponds. </a:t>
            </a:r>
            <a:endParaRPr/>
          </a:p>
          <a:p>
            <a:pPr indent="0" lvl="0" marL="0" rtl="0" algn="l">
              <a:spcBef>
                <a:spcPts val="0"/>
              </a:spcBef>
              <a:spcAft>
                <a:spcPts val="0"/>
              </a:spcAft>
              <a:buNone/>
            </a:pPr>
            <a:r>
              <a:rPr lang="en"/>
              <a:t>Beavers posses behavioral patterns and physical traits that enable the construction of ponds. Once constructed, these ponds alter the local ecological conditions which further hone the evolution of those traits and behaviors, which lead to further change in the environment. Thus beavers and ponds play off one another in a eco-evolutionary feedback loop, where the species modifies its surroundings and those environmental changes in turn further influence the species</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a:r>
            <a:r>
              <a:rPr lang="en">
                <a:solidFill>
                  <a:schemeClr val="dk1"/>
                </a:solidFill>
              </a:rPr>
              <a:t>Def e</a:t>
            </a:r>
            <a:r>
              <a:rPr lang="en">
                <a:solidFill>
                  <a:schemeClr val="dk1"/>
                </a:solidFill>
              </a:rPr>
              <a:t>cological processes</a:t>
            </a:r>
            <a:r>
              <a:rPr lang="en">
                <a:solidFill>
                  <a:schemeClr val="dk1"/>
                </a:solidFill>
              </a:rPr>
              <a:t> (biological, physical, &amp; chemical interactions that sustain the ecosystems, linking living organisms with their non-living environment)</a:t>
            </a:r>
            <a:r>
              <a:rPr lang="en">
                <a:solidFill>
                  <a:schemeClr val="dk1"/>
                </a:solidFill>
              </a:rPr>
              <a:t>.</a:t>
            </a:r>
            <a:endParaRPr>
              <a:solidFill>
                <a:schemeClr val="dk1"/>
              </a:solidFill>
            </a:endParaRPr>
          </a:p>
          <a:p>
            <a:pPr indent="0" lvl="0" marL="0" rtl="0" algn="l">
              <a:spcBef>
                <a:spcPts val="0"/>
              </a:spcBef>
              <a:spcAft>
                <a:spcPts val="0"/>
              </a:spcAft>
              <a:buNone/>
            </a:pPr>
            <a:r>
              <a:rPr lang="en">
                <a:solidFill>
                  <a:schemeClr val="dk1"/>
                </a:solidFill>
              </a:rPr>
              <a:t>*Def </a:t>
            </a:r>
            <a:r>
              <a:rPr lang="en">
                <a:solidFill>
                  <a:schemeClr val="dk1"/>
                </a:solidFill>
              </a:rPr>
              <a:t>evolutionary processes (the mechanisms that lead to changes in the heritable traits of populations over generations)</a:t>
            </a:r>
            <a:r>
              <a:rPr lang="en">
                <a:solidFill>
                  <a:schemeClr val="dk1"/>
                </a:solidFill>
              </a:rPr>
              <a:t>.</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aa6d86345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aa6d86345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do we need a survivorship curve ? </a:t>
            </a:r>
            <a:endParaRPr/>
          </a:p>
          <a:p>
            <a:pPr indent="0" lvl="0" marL="0" rtl="0" algn="l">
              <a:spcBef>
                <a:spcPts val="0"/>
              </a:spcBef>
              <a:spcAft>
                <a:spcPts val="0"/>
              </a:spcAft>
              <a:buNone/>
            </a:pPr>
            <a:r>
              <a:rPr lang="en"/>
              <a:t>To answer questions like how long do individuals of diff species live ? How many individuals reach maturity ? How many individuals die young ? The survivorship curve is a graphical representation that gives answers to these questions.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What is a survivorship curve  ?</a:t>
            </a:r>
            <a:endParaRPr>
              <a:solidFill>
                <a:schemeClr val="dk1"/>
              </a:solidFill>
            </a:endParaRPr>
          </a:p>
          <a:p>
            <a:pPr indent="0" lvl="0" marL="0" rtl="0" algn="l">
              <a:spcBef>
                <a:spcPts val="0"/>
              </a:spcBef>
              <a:spcAft>
                <a:spcPts val="0"/>
              </a:spcAft>
              <a:buNone/>
            </a:pPr>
            <a:r>
              <a:rPr lang="en"/>
              <a:t>It’s a graph showing the number or proportion of individuals surviving to each age for a given species or group.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diff types of survivorship curves.</a:t>
            </a:r>
            <a:endParaRPr/>
          </a:p>
          <a:p>
            <a:pPr indent="-298450" lvl="0" marL="457200" rtl="0" algn="l">
              <a:spcBef>
                <a:spcPts val="0"/>
              </a:spcBef>
              <a:spcAft>
                <a:spcPts val="0"/>
              </a:spcAft>
              <a:buSzPts val="1100"/>
              <a:buAutoNum type="arabicPeriod"/>
            </a:pPr>
            <a:r>
              <a:rPr lang="en"/>
              <a:t>Convex curve : High survivorship throughout life, majority reach maturity, typically k-selected species, late loss (ex: humans, elephants).</a:t>
            </a:r>
            <a:endParaRPr/>
          </a:p>
          <a:p>
            <a:pPr indent="-298450" lvl="0" marL="457200" rtl="0" algn="l">
              <a:spcBef>
                <a:spcPts val="0"/>
              </a:spcBef>
              <a:spcAft>
                <a:spcPts val="0"/>
              </a:spcAft>
              <a:buSzPts val="1100"/>
              <a:buAutoNum type="arabicPeriod"/>
            </a:pPr>
            <a:r>
              <a:rPr lang="en"/>
              <a:t>Diagonal curve : Constant loss, independent of age (ex: birds, rodents).</a:t>
            </a:r>
            <a:endParaRPr/>
          </a:p>
          <a:p>
            <a:pPr indent="-298450" lvl="0" marL="457200" rtl="0" algn="l">
              <a:spcBef>
                <a:spcPts val="0"/>
              </a:spcBef>
              <a:spcAft>
                <a:spcPts val="0"/>
              </a:spcAft>
              <a:buSzPts val="1100"/>
              <a:buAutoNum type="arabicPeriod"/>
            </a:pPr>
            <a:r>
              <a:rPr lang="en"/>
              <a:t>Concave curve : Early loss, low mortality after maturity, typical of r-selected species (ex: oysters, small fish).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a:r>
            <a:r>
              <a:rPr lang="en">
                <a:solidFill>
                  <a:schemeClr val="dk1"/>
                </a:solidFill>
              </a:rPr>
              <a:t>k-selection (density dependant selection) &amp; r-selection (density independent selection).</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aa63bb4b49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aa63bb4b49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Life history theory is understanding how organisms allocate </a:t>
            </a:r>
            <a:r>
              <a:rPr lang="en"/>
              <a:t>their limited time and resources across growth, reproduction, and survival. It delves into the trade-offs they may encounter like the need to invest more energy into reproduction that will reduce the resources for growth and survival, which can affect their chances of survival. This explains why different species evolved a different life cycle and strategies to maximise time and energy in their specific environment.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Life history are the traits that affect an organism's schedule of reproduction and survival.</a:t>
            </a:r>
            <a:endParaRPr>
              <a:solidFill>
                <a:schemeClr val="dk1"/>
              </a:solidFill>
              <a:latin typeface="Georgia"/>
              <a:ea typeface="Georgia"/>
              <a:cs typeface="Georgia"/>
              <a:sym typeface="Georgia"/>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Georgia"/>
                <a:ea typeface="Georgia"/>
                <a:cs typeface="Georgia"/>
                <a:sym typeface="Georgia"/>
              </a:rPr>
              <a:t>Different types of life history strategies, like semelparity (1 time reproduction, ex: salmon) and iteroparity (multiple reproductions; most vertebrates).</a:t>
            </a:r>
            <a:endParaRPr>
              <a:solidFill>
                <a:schemeClr val="dk1"/>
              </a:solidFill>
              <a:latin typeface="Georgia"/>
              <a:ea typeface="Georgia"/>
              <a:cs typeface="Georgia"/>
              <a:sym typeface="Georgia"/>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Georgia"/>
                <a:ea typeface="Georgia"/>
                <a:cs typeface="Georgia"/>
                <a:sym typeface="Georgia"/>
              </a:rPr>
              <a:t>Understanding life history helps predict favored traits in various environments and evolutionary impacts on lifespan and reproduction.</a:t>
            </a:r>
            <a:endParaRPr>
              <a:solidFill>
                <a:schemeClr val="dk1"/>
              </a:solidFill>
              <a:latin typeface="Georgia"/>
              <a:ea typeface="Georgia"/>
              <a:cs typeface="Georgia"/>
              <a:sym typeface="Georgia"/>
            </a:endParaRPr>
          </a:p>
          <a:p>
            <a:pPr indent="0" lvl="0" marL="0" rtl="0" algn="l">
              <a:spcBef>
                <a:spcPts val="1200"/>
              </a:spcBef>
              <a:spcAft>
                <a:spcPts val="0"/>
              </a:spcAft>
              <a:buClr>
                <a:schemeClr val="dk1"/>
              </a:buClr>
              <a:buSzPts val="1100"/>
              <a:buFont typeface="Arial"/>
              <a:buNone/>
            </a:pPr>
            <a:r>
              <a:rPr lang="en">
                <a:solidFill>
                  <a:schemeClr val="dk1"/>
                </a:solidFill>
              </a:rPr>
              <a:t>2 ways we characterize life history</a:t>
            </a:r>
            <a:r>
              <a:rPr lang="en">
                <a:solidFill>
                  <a:schemeClr val="dk1"/>
                </a:solidFill>
              </a:rPr>
              <a:t>, r and r selected species.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aa63bb4b49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aa63bb4b49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The picture above </a:t>
            </a:r>
            <a:r>
              <a:rPr lang="en"/>
              <a:t>shows that very different species can share the same life-history strategy. </a:t>
            </a:r>
            <a:endParaRPr/>
          </a:p>
          <a:p>
            <a:pPr indent="0" lvl="0" marL="0" rtl="0" algn="l">
              <a:lnSpc>
                <a:spcPct val="115000"/>
              </a:lnSpc>
              <a:spcBef>
                <a:spcPts val="1200"/>
              </a:spcBef>
              <a:spcAft>
                <a:spcPts val="0"/>
              </a:spcAft>
              <a:buClr>
                <a:schemeClr val="dk1"/>
              </a:buClr>
              <a:buSzPts val="1100"/>
              <a:buFont typeface="Arial"/>
              <a:buNone/>
            </a:pPr>
            <a:r>
              <a:rPr lang="en"/>
              <a:t>For example, carrots and blue-ringed octopuses both start small, grow fast, most die young, and the survivors reproduce once at around two years old and then die.</a:t>
            </a:r>
            <a:br>
              <a:rPr lang="en"/>
            </a:br>
            <a:r>
              <a:rPr lang="en"/>
              <a:t> In contrast, humans and blue whales grow slowly, mature late, live a long time, and have one offspring every few years.</a:t>
            </a:r>
            <a:endParaRPr/>
          </a:p>
          <a:p>
            <a:pPr indent="0" lvl="0" marL="0" rtl="0" algn="l">
              <a:lnSpc>
                <a:spcPct val="115000"/>
              </a:lnSpc>
              <a:spcBef>
                <a:spcPts val="1200"/>
              </a:spcBef>
              <a:spcAft>
                <a:spcPts val="0"/>
              </a:spcAft>
              <a:buClr>
                <a:schemeClr val="dk1"/>
              </a:buClr>
              <a:buSzPts val="1100"/>
              <a:buFont typeface="Arial"/>
              <a:buNone/>
            </a:pPr>
            <a:r>
              <a:rPr lang="en"/>
              <a:t>Life-history strategies don’t depend on how similar species look, distant species can share the same strategy, and close relatives can differ a lot</a:t>
            </a:r>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a63bb4b49_4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a63bb4b49_4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Darwin was the first to specify that </a:t>
            </a:r>
            <a:r>
              <a:rPr lang="en">
                <a:solidFill>
                  <a:schemeClr val="dk1"/>
                </a:solidFill>
              </a:rPr>
              <a:t>an organism's ecology acts as the selective pressure that drives evolutionary change.</a:t>
            </a:r>
            <a:endParaRPr>
              <a:solidFill>
                <a:schemeClr val="dk1"/>
              </a:solidFill>
            </a:endParaRPr>
          </a:p>
          <a:p>
            <a:pPr indent="0" lvl="0" marL="0" rtl="0" algn="l">
              <a:lnSpc>
                <a:spcPct val="115000"/>
              </a:lnSpc>
              <a:spcBef>
                <a:spcPts val="1200"/>
              </a:spcBef>
              <a:spcAft>
                <a:spcPts val="0"/>
              </a:spcAft>
              <a:buClr>
                <a:srgbClr val="000000"/>
              </a:buClr>
              <a:buSzPts val="1100"/>
              <a:buFont typeface="Arial"/>
              <a:buNone/>
            </a:pPr>
            <a:r>
              <a:rPr lang="en">
                <a:solidFill>
                  <a:schemeClr val="dk1"/>
                </a:solidFill>
              </a:rPr>
              <a:t>In order to explain the evolution of aging, G. C. Williams rejected the widely accepted theories of group selection in favor of the idea that a single gene can have both beneficial effects early in life and harmful effects later in life. He proposed that organisms must balance different genetic traits that determine their fitness, such as current versus future reproduction, which can then end up constraining their evolutionary potential.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aa63bb4b4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aa63bb4b4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000">
                <a:solidFill>
                  <a:schemeClr val="dk1"/>
                </a:solidFill>
                <a:latin typeface="Times New Roman"/>
                <a:ea typeface="Times New Roman"/>
                <a:cs typeface="Times New Roman"/>
                <a:sym typeface="Times New Roman"/>
              </a:rPr>
              <a:t>Next up the Fast slow life history continuum</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2000">
                <a:solidFill>
                  <a:schemeClr val="dk1"/>
                </a:solidFill>
                <a:latin typeface="Times New Roman"/>
                <a:ea typeface="Times New Roman"/>
                <a:cs typeface="Times New Roman"/>
                <a:sym typeface="Times New Roman"/>
              </a:rPr>
              <a:t>It is a spectrum of life history strategies and it illustrates the strategies of each species when it comes to reproduction, survival </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2000">
                <a:solidFill>
                  <a:schemeClr val="dk1"/>
                </a:solidFill>
                <a:latin typeface="Times New Roman"/>
                <a:ea typeface="Times New Roman"/>
                <a:cs typeface="Times New Roman"/>
                <a:sym typeface="Times New Roman"/>
              </a:rPr>
              <a:t>Fast = Reproduce early, many offsprings, short lifespans and small in size</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 sz="2000">
                <a:solidFill>
                  <a:schemeClr val="dk1"/>
                </a:solidFill>
                <a:latin typeface="Times New Roman"/>
                <a:ea typeface="Times New Roman"/>
                <a:cs typeface="Times New Roman"/>
                <a:sym typeface="Times New Roman"/>
              </a:rPr>
              <a:t>Example: rabbit, mouse</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2000">
                <a:solidFill>
                  <a:schemeClr val="dk1"/>
                </a:solidFill>
                <a:latin typeface="Times New Roman"/>
                <a:ea typeface="Times New Roman"/>
                <a:cs typeface="Times New Roman"/>
                <a:sym typeface="Times New Roman"/>
              </a:rPr>
              <a:t>Slow - few offsprings, grow slowly, live longer, bigger, reproduce later</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2000">
                <a:solidFill>
                  <a:schemeClr val="dk1"/>
                </a:solidFill>
                <a:latin typeface="Times New Roman"/>
                <a:ea typeface="Times New Roman"/>
                <a:cs typeface="Times New Roman"/>
                <a:sym typeface="Times New Roman"/>
              </a:rPr>
              <a:t>Examples: whales, elephants</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2000">
                <a:solidFill>
                  <a:schemeClr val="dk1"/>
                </a:solidFill>
                <a:latin typeface="Times New Roman"/>
                <a:ea typeface="Times New Roman"/>
                <a:cs typeface="Times New Roman"/>
                <a:sym typeface="Times New Roman"/>
              </a:rPr>
              <a:t>Humans fall into the slow category as they have long lifespans, few offsprings etc.</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Concept of fast or slow life history continuum is oversimplified and in real life are much more complex. As there are bigger variations within species rather then between species.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Example: Salmon -different species of salmon may have similar average size but individual salmons in one species may be much bigger, live longer than the average or even go further upstream to spawn than is usual for the specific species.</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a63bb4b49_6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aa63bb4b49_6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Stephen C, Stearns</a:t>
            </a:r>
            <a:endParaRPr/>
          </a:p>
          <a:p>
            <a:pPr indent="0" lvl="0" marL="0" rtl="0" algn="l">
              <a:lnSpc>
                <a:spcPct val="115000"/>
              </a:lnSpc>
              <a:spcBef>
                <a:spcPts val="1200"/>
              </a:spcBef>
              <a:spcAft>
                <a:spcPts val="0"/>
              </a:spcAft>
              <a:buClr>
                <a:schemeClr val="dk1"/>
              </a:buClr>
              <a:buSzPts val="1100"/>
              <a:buFont typeface="Arial"/>
              <a:buNone/>
            </a:pPr>
            <a:r>
              <a:rPr lang="en"/>
              <a:t>Helped established Life history theory as a framework to help us understand how organisms divide energy between </a:t>
            </a:r>
            <a:r>
              <a:rPr lang="en"/>
              <a:t>surviving</a:t>
            </a:r>
            <a:r>
              <a:rPr lang="en"/>
              <a:t> and reproducing and everything comes down to trade offs</a:t>
            </a:r>
            <a:endParaRPr/>
          </a:p>
          <a:p>
            <a:pPr indent="0" lvl="0" marL="0" rtl="0" algn="l">
              <a:lnSpc>
                <a:spcPct val="115000"/>
              </a:lnSpc>
              <a:spcBef>
                <a:spcPts val="1200"/>
              </a:spcBef>
              <a:spcAft>
                <a:spcPts val="0"/>
              </a:spcAft>
              <a:buClr>
                <a:schemeClr val="dk1"/>
              </a:buClr>
              <a:buSzPts val="1100"/>
              <a:buFont typeface="Arial"/>
              <a:buNone/>
            </a:pPr>
            <a:r>
              <a:rPr lang="en"/>
              <a:t>What is a trade off? When an organism cant increase one trait like their lifespan without decreasing </a:t>
            </a:r>
            <a:r>
              <a:rPr lang="en"/>
              <a:t>another like the frequency of reproduction</a:t>
            </a:r>
            <a:r>
              <a:rPr lang="en"/>
              <a:t> because its energy and resources are limited</a:t>
            </a:r>
            <a:endParaRPr/>
          </a:p>
          <a:p>
            <a:pPr indent="0" lvl="0" marL="0" rtl="0" algn="l">
              <a:lnSpc>
                <a:spcPct val="115000"/>
              </a:lnSpc>
              <a:spcBef>
                <a:spcPts val="1200"/>
              </a:spcBef>
              <a:spcAft>
                <a:spcPts val="0"/>
              </a:spcAft>
              <a:buClr>
                <a:schemeClr val="dk1"/>
              </a:buClr>
              <a:buSzPts val="1100"/>
              <a:buFont typeface="Arial"/>
              <a:buNone/>
            </a:pPr>
            <a:r>
              <a:rPr lang="en"/>
              <a:t>He argues that early-life history models are unrealistic as they </a:t>
            </a:r>
            <a:r>
              <a:rPr lang="en"/>
              <a:t>assume</a:t>
            </a:r>
            <a:r>
              <a:rPr lang="en"/>
              <a:t> environments are stable and there are not changes in competition over resources and also dont take randomness into consideration and assume the environment is </a:t>
            </a:r>
            <a:r>
              <a:rPr lang="en"/>
              <a:t>predictable</a:t>
            </a:r>
            <a:r>
              <a:rPr lang="en"/>
              <a:t> which it is not.</a:t>
            </a:r>
            <a:endParaRPr/>
          </a:p>
          <a:p>
            <a:pPr indent="0" lvl="0" marL="0" rtl="0" algn="l">
              <a:lnSpc>
                <a:spcPct val="115000"/>
              </a:lnSpc>
              <a:spcBef>
                <a:spcPts val="1200"/>
              </a:spcBef>
              <a:spcAft>
                <a:spcPts val="0"/>
              </a:spcAft>
              <a:buClr>
                <a:schemeClr val="dk1"/>
              </a:buClr>
              <a:buSzPts val="1100"/>
              <a:buFont typeface="Arial"/>
              <a:buNone/>
            </a:pPr>
            <a:r>
              <a:rPr lang="en"/>
              <a:t>Concept of trade offs is </a:t>
            </a:r>
            <a:r>
              <a:rPr lang="en"/>
              <a:t>oversimplified and in real life are much more complex as trade offs may differ based on age, environment and species. </a:t>
            </a:r>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Most species lacked a complete life history datasets so comparative studies could be trusted as they relied on averages in species that were not showing the whole picture of individual variation</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Incomplete life records, criteria not met for the vast majority</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Species lack full records on growth, reproduction etc.</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 in the end comparative conclusions are less trustworthy because they rely on datasets that dont meet scientific standars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And so Stearns was not expanding on the old theory but rather exposing it and showing us what's missing like the high quality data, measured trade offs etc. and it is because of him that the field expanded into better data and better models making Stearns and his 1977 paper the groundwork for modern life history research</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Lepus=hare/zajic has 2 as the only one</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aa63bb4b49_6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aa63bb4b49_6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paper is a meta analysis on the current research based state of life history theory. It points out how the field currently struggles with unclear links between theory and real-world patterns. The authors lay out recommendations to help the field evolve into a more hypothesis-driven science. </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
                <a:solidFill>
                  <a:schemeClr val="dk1"/>
                </a:solidFill>
              </a:rPr>
              <a:t>Standardize measurements of life history traits as a “currency” expressed as rates per unit time.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Create accurate family trees reflecting realistic forms of evolution</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Adopt statistical methods that are phylogenetically aware to include shared ancestries.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Account for the macroevolution of life histories, such as how organisms allocate resources to growth, how multiple life history strategies can jointly be successful and how life histories change between different life stages.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Fill gaps in data for understudied organisms as current data favors vertebrates and completely neglects huge groups like microbes and fungi that tend to have unusual life cycles or modular structures.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Acknowledge that cross-taxon comparisons are possible, and suggest that life history variation is more universal than expected.</a:t>
            </a:r>
            <a:endParaRPr>
              <a:solidFill>
                <a:schemeClr val="dk1"/>
              </a:solidFill>
              <a:latin typeface="Georgia"/>
              <a:ea typeface="Georgia"/>
              <a:cs typeface="Georgia"/>
              <a:sym typeface="Georgia"/>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a6d86345e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aa6d86345e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aa63bb4b49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aa63bb4b4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solidFill>
                  <a:schemeClr val="dk1"/>
                </a:solidFill>
              </a:rPr>
              <a:t>What we really want to focus on in this table is how the </a:t>
            </a:r>
            <a:r>
              <a:rPr lang="en">
                <a:solidFill>
                  <a:schemeClr val="dk1"/>
                </a:solidFill>
              </a:rPr>
              <a:t>advancement</a:t>
            </a:r>
            <a:r>
              <a:rPr lang="en">
                <a:solidFill>
                  <a:schemeClr val="dk1"/>
                </a:solidFill>
              </a:rPr>
              <a:t> in data processing and ecological database strength affected what conclusions were able to be made regarding life history theory. Ecologists are now able to formally </a:t>
            </a:r>
            <a:r>
              <a:rPr lang="en">
                <a:solidFill>
                  <a:schemeClr val="dk1"/>
                </a:solidFill>
              </a:rPr>
              <a:t>detect multiple axes of life-history variation with modern technology. Patterns that were invisible in 1977 due to poor data availability and trait measurement show up clearly today. </a:t>
            </a:r>
            <a:endParaRPr b="1" sz="13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a6d86345e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aa6d86345e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Merriweather"/>
                <a:ea typeface="Merriweather"/>
                <a:cs typeface="Merriweather"/>
                <a:sym typeface="Merriweather"/>
              </a:rPr>
              <a:t>So overall, the main takeaway from both papers is that life histories are much more multidimensional than we used to think — they can’t be reduced to just fast versus slow. </a:t>
            </a:r>
            <a:r>
              <a:rPr lang="en">
                <a:solidFill>
                  <a:schemeClr val="dk1"/>
                </a:solidFill>
                <a:latin typeface="Merriweather"/>
                <a:ea typeface="Merriweather"/>
                <a:cs typeface="Merriweather"/>
                <a:sym typeface="Merriweather"/>
              </a:rPr>
              <a:t>Over time, the field has shifted from very simple ideas about trade-offs to more complex and integrated frameworks.</a:t>
            </a:r>
            <a:endParaRPr>
              <a:solidFill>
                <a:schemeClr val="dk1"/>
              </a:solidFill>
              <a:latin typeface="Merriweather"/>
              <a:ea typeface="Merriweather"/>
              <a:cs typeface="Merriweather"/>
              <a:sym typeface="Merriweather"/>
            </a:endParaRPr>
          </a:p>
          <a:p>
            <a:pPr indent="0" lvl="0" marL="0" rtl="0" algn="l">
              <a:lnSpc>
                <a:spcPct val="115000"/>
              </a:lnSpc>
              <a:spcBef>
                <a:spcPts val="1200"/>
              </a:spcBef>
              <a:spcAft>
                <a:spcPts val="0"/>
              </a:spcAft>
              <a:buNone/>
            </a:pPr>
            <a:r>
              <a:rPr lang="en">
                <a:solidFill>
                  <a:schemeClr val="dk1"/>
                </a:solidFill>
                <a:latin typeface="Merriweather"/>
                <a:ea typeface="Merriweather"/>
                <a:cs typeface="Merriweather"/>
                <a:sym typeface="Merriweather"/>
              </a:rPr>
              <a:t>Modern life-history theory builds directly on the early critiques, and because of better data and better tools, we now have stronger explanations for why species differ the way they do. And finally, both papers emphasize that life-history evolution isn’t shaped by one factor alone — it’s the combined influence of environment, development, and evolutionary ancestry working together. Life history biology is becoming more standardized, more comparative, and more universal than ever before.</a:t>
            </a:r>
            <a:endParaRPr>
              <a:solidFill>
                <a:schemeClr val="dk1"/>
              </a:solidFill>
              <a:latin typeface="Merriweather"/>
              <a:ea typeface="Merriweather"/>
              <a:cs typeface="Merriweather"/>
              <a:sym typeface="Merriweather"/>
            </a:endParaRPr>
          </a:p>
          <a:p>
            <a:pPr indent="0" lvl="0" marL="0" rtl="0" algn="l">
              <a:lnSpc>
                <a:spcPct val="115000"/>
              </a:lnSpc>
              <a:spcBef>
                <a:spcPts val="1200"/>
              </a:spcBef>
              <a:spcAft>
                <a:spcPts val="0"/>
              </a:spcAft>
              <a:buNone/>
            </a:pPr>
            <a:r>
              <a:t/>
            </a:r>
            <a:endParaRPr sz="1300">
              <a:solidFill>
                <a:schemeClr val="dk1"/>
              </a:solidFill>
              <a:latin typeface="Merriweather"/>
              <a:ea typeface="Merriweather"/>
              <a:cs typeface="Merriweather"/>
              <a:sym typeface="Merriweather"/>
            </a:endParaRPr>
          </a:p>
          <a:p>
            <a:pPr indent="0" lvl="0" marL="0" rtl="0" algn="l">
              <a:lnSpc>
                <a:spcPct val="115000"/>
              </a:lnSpc>
              <a:spcBef>
                <a:spcPts val="1200"/>
              </a:spcBef>
              <a:spcAft>
                <a:spcPts val="0"/>
              </a:spcAft>
              <a:buNone/>
            </a:pPr>
            <a:r>
              <a:t/>
            </a:r>
            <a:endParaRPr sz="1300">
              <a:solidFill>
                <a:schemeClr val="dk1"/>
              </a:solidFill>
              <a:latin typeface="Merriweather"/>
              <a:ea typeface="Merriweather"/>
              <a:cs typeface="Merriweather"/>
              <a:sym typeface="Merriweather"/>
            </a:endParaRPr>
          </a:p>
          <a:p>
            <a:pPr indent="0" lvl="0" marL="0" rtl="0" algn="l">
              <a:lnSpc>
                <a:spcPct val="115000"/>
              </a:lnSpc>
              <a:spcBef>
                <a:spcPts val="1200"/>
              </a:spcBef>
              <a:spcAft>
                <a:spcPts val="0"/>
              </a:spcAft>
              <a:buClr>
                <a:schemeClr val="dk1"/>
              </a:buClr>
              <a:buSzPts val="1100"/>
              <a:buFont typeface="Arial"/>
              <a:buNone/>
            </a:pPr>
            <a:r>
              <a:t/>
            </a:r>
            <a:endParaRPr sz="1300">
              <a:solidFill>
                <a:schemeClr val="dk1"/>
              </a:solidFill>
              <a:latin typeface="Merriweather"/>
              <a:ea typeface="Merriweather"/>
              <a:cs typeface="Merriweather"/>
              <a:sym typeface="Merriweather"/>
            </a:endParaRPr>
          </a:p>
          <a:p>
            <a:pPr indent="0" lvl="0" marL="0" rtl="0" algn="l">
              <a:lnSpc>
                <a:spcPct val="115000"/>
              </a:lnSpc>
              <a:spcBef>
                <a:spcPts val="1200"/>
              </a:spcBef>
              <a:spcAft>
                <a:spcPts val="0"/>
              </a:spcAft>
              <a:buNone/>
            </a:pPr>
            <a:r>
              <a:rPr lang="en" sz="1300">
                <a:solidFill>
                  <a:schemeClr val="dk1"/>
                </a:solidFill>
                <a:latin typeface="Merriweather"/>
                <a:ea typeface="Merriweather"/>
                <a:cs typeface="Merriweather"/>
                <a:sym typeface="Merriweather"/>
              </a:rPr>
              <a:t>(</a:t>
            </a:r>
            <a:r>
              <a:rPr lang="en" sz="1300">
                <a:solidFill>
                  <a:schemeClr val="dk1"/>
                </a:solidFill>
                <a:latin typeface="Merriweather"/>
                <a:ea typeface="Merriweather"/>
                <a:cs typeface="Merriweather"/>
                <a:sym typeface="Merriweather"/>
              </a:rPr>
              <a:t>Scale of taxonomic data increased</a:t>
            </a:r>
            <a:endParaRPr sz="1300">
              <a:solidFill>
                <a:schemeClr val="dk1"/>
              </a:solidFill>
              <a:latin typeface="Merriweather"/>
              <a:ea typeface="Merriweather"/>
              <a:cs typeface="Merriweather"/>
              <a:sym typeface="Merriweather"/>
            </a:endParaRPr>
          </a:p>
          <a:p>
            <a:pPr indent="0" lvl="0" marL="0" rtl="0" algn="l">
              <a:lnSpc>
                <a:spcPct val="115000"/>
              </a:lnSpc>
              <a:spcBef>
                <a:spcPts val="1200"/>
              </a:spcBef>
              <a:spcAft>
                <a:spcPts val="0"/>
              </a:spcAft>
              <a:buNone/>
            </a:pPr>
            <a:r>
              <a:rPr lang="en" sz="1300">
                <a:solidFill>
                  <a:schemeClr val="dk1"/>
                </a:solidFill>
                <a:latin typeface="Merriweather"/>
                <a:ea typeface="Merriweather"/>
                <a:cs typeface="Merriweather"/>
                <a:sym typeface="Merriweather"/>
              </a:rPr>
              <a:t>Analytical tools are able to capture the biological complexity of organisms</a:t>
            </a:r>
            <a:endParaRPr sz="1300">
              <a:solidFill>
                <a:schemeClr val="dk1"/>
              </a:solidFill>
              <a:latin typeface="Merriweather"/>
              <a:ea typeface="Merriweather"/>
              <a:cs typeface="Merriweather"/>
              <a:sym typeface="Merriweather"/>
            </a:endParaRPr>
          </a:p>
          <a:p>
            <a:pPr indent="0" lvl="0" marL="0" rtl="0" algn="l">
              <a:lnSpc>
                <a:spcPct val="115000"/>
              </a:lnSpc>
              <a:spcBef>
                <a:spcPts val="1200"/>
              </a:spcBef>
              <a:spcAft>
                <a:spcPts val="0"/>
              </a:spcAft>
              <a:buNone/>
            </a:pPr>
            <a:r>
              <a:rPr lang="en" sz="1300">
                <a:solidFill>
                  <a:schemeClr val="dk1"/>
                </a:solidFill>
                <a:latin typeface="Merriweather"/>
                <a:ea typeface="Merriweather"/>
                <a:cs typeface="Merriweather"/>
                <a:sym typeface="Merriweather"/>
              </a:rPr>
              <a:t>Conceptual evolution transitioned from thinking on a single axis to multidimensions</a:t>
            </a:r>
            <a:endParaRPr sz="1300">
              <a:solidFill>
                <a:schemeClr val="dk1"/>
              </a:solidFill>
              <a:latin typeface="Merriweather"/>
              <a:ea typeface="Merriweather"/>
              <a:cs typeface="Merriweather"/>
              <a:sym typeface="Merriweather"/>
            </a:endParaRPr>
          </a:p>
          <a:p>
            <a:pPr indent="0" lvl="0" marL="0" rtl="0" algn="l">
              <a:lnSpc>
                <a:spcPct val="115000"/>
              </a:lnSpc>
              <a:spcBef>
                <a:spcPts val="1200"/>
              </a:spcBef>
              <a:spcAft>
                <a:spcPts val="0"/>
              </a:spcAft>
              <a:buNone/>
            </a:pPr>
            <a:r>
              <a:rPr lang="en" sz="1300">
                <a:solidFill>
                  <a:schemeClr val="dk1"/>
                </a:solidFill>
                <a:latin typeface="Merriweather"/>
                <a:ea typeface="Merriweather"/>
                <a:cs typeface="Merriweather"/>
                <a:sym typeface="Merriweather"/>
              </a:rPr>
              <a:t>“Is this theory correct” (1977) → “what does high-dimensional variation look like, and why?” (2024)</a:t>
            </a:r>
            <a:endParaRPr>
              <a:solidFill>
                <a:schemeClr val="dk1"/>
              </a:solidFill>
            </a:endParaRPr>
          </a:p>
          <a:p>
            <a:pPr indent="0" lvl="0" marL="0" rtl="0" algn="l">
              <a:lnSpc>
                <a:spcPct val="115000"/>
              </a:lnSpc>
              <a:spcBef>
                <a:spcPts val="2400"/>
              </a:spcBef>
              <a:spcAft>
                <a:spcPts val="0"/>
              </a:spcAft>
              <a:buClr>
                <a:schemeClr val="dk1"/>
              </a:buClr>
              <a:buSzPts val="1100"/>
              <a:buFont typeface="Arial"/>
              <a:buNone/>
            </a:pPr>
            <a:r>
              <a:rPr lang="en">
                <a:solidFill>
                  <a:schemeClr val="dk1"/>
                </a:solidFill>
              </a:rPr>
              <a:t>Life-history theory has undergone almost 50 years of development between Stearns’ 1977 critique and Stott et al.’s 2024 synthesis. The transformation is profound: the 1977 paper was written at a time when data were sparse, theory was embryonic, and analytical methods were limited; the 2024 paper emerges from an era of massive cross-taxonomic datasets and sophisticated statistical, phylogenetic, and conceptual tools. )</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br>
              <a:rPr lang="en">
                <a:solidFill>
                  <a:schemeClr val="dk1"/>
                </a:solidFill>
              </a:rPr>
            </a:b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aa63bb4b49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aa63bb4b49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a63bb4b49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aa63bb4b49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aa63bb4b49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aa63bb4b49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6.jp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0.jp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5.jpg"/><Relationship Id="rId5"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hyperlink" Target="https://www.youtube.com/watch?v=eMYuapm-BgY" TargetMode="External"/><Relationship Id="rId4" Type="http://schemas.openxmlformats.org/officeDocument/2006/relationships/hyperlink" Target="https://en.wikipedia.org/wiki/Life_history_theory" TargetMode="External"/><Relationship Id="rId5" Type="http://schemas.openxmlformats.org/officeDocument/2006/relationships/hyperlink" Target="https://en.wikipedia.org/wiki/Eco-evolutionary_dynamics" TargetMode="External"/><Relationship Id="rId6" Type="http://schemas.openxmlformats.org/officeDocument/2006/relationships/hyperlink" Target="https://www.youtube.com/watch?v=XsnRil3mg4Q" TargetMode="External"/><Relationship Id="rId7" Type="http://schemas.openxmlformats.org/officeDocument/2006/relationships/hyperlink" Target="https://www.sciencedirect.com/science/article/pii/S0960982223008576"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104013" y="-125350"/>
            <a:ext cx="9352026" cy="5394200"/>
          </a:xfrm>
          <a:prstGeom prst="rect">
            <a:avLst/>
          </a:prstGeom>
          <a:noFill/>
          <a:ln>
            <a:noFill/>
          </a:ln>
        </p:spPr>
      </p:pic>
      <p:sp>
        <p:nvSpPr>
          <p:cNvPr id="55" name="Google Shape;55;p13"/>
          <p:cNvSpPr txBox="1"/>
          <p:nvPr>
            <p:ph idx="1" type="subTitle"/>
          </p:nvPr>
        </p:nvSpPr>
        <p:spPr>
          <a:xfrm>
            <a:off x="2503362" y="3124400"/>
            <a:ext cx="41373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800">
                <a:solidFill>
                  <a:srgbClr val="274E13"/>
                </a:solidFill>
                <a:latin typeface="Times New Roman"/>
                <a:ea typeface="Times New Roman"/>
                <a:cs typeface="Times New Roman"/>
                <a:sym typeface="Times New Roman"/>
              </a:rPr>
              <a:t>By</a:t>
            </a:r>
            <a:r>
              <a:rPr lang="en" sz="1800">
                <a:solidFill>
                  <a:srgbClr val="274E13"/>
                </a:solidFill>
                <a:latin typeface="Times New Roman"/>
                <a:ea typeface="Times New Roman"/>
                <a:cs typeface="Times New Roman"/>
                <a:sym typeface="Times New Roman"/>
              </a:rPr>
              <a:t> Evelyn K, Nicole J, Ladio J, Saran A</a:t>
            </a:r>
            <a:endParaRPr sz="1800">
              <a:solidFill>
                <a:srgbClr val="274E13"/>
              </a:solidFill>
              <a:latin typeface="Times New Roman"/>
              <a:ea typeface="Times New Roman"/>
              <a:cs typeface="Times New Roman"/>
              <a:sym typeface="Times New Roman"/>
            </a:endParaRPr>
          </a:p>
        </p:txBody>
      </p:sp>
      <p:sp>
        <p:nvSpPr>
          <p:cNvPr id="56" name="Google Shape;56;p13"/>
          <p:cNvSpPr txBox="1"/>
          <p:nvPr>
            <p:ph type="ctrTitle"/>
          </p:nvPr>
        </p:nvSpPr>
        <p:spPr>
          <a:xfrm>
            <a:off x="2427600" y="1133300"/>
            <a:ext cx="4288800" cy="1991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sz="3700" u="sng">
                <a:solidFill>
                  <a:srgbClr val="274E13"/>
                </a:solidFill>
                <a:latin typeface="Merriweather"/>
                <a:ea typeface="Merriweather"/>
                <a:cs typeface="Merriweather"/>
                <a:sym typeface="Merriweather"/>
              </a:rPr>
              <a:t>Eco-evolutionary </a:t>
            </a:r>
            <a:r>
              <a:rPr b="1" lang="en" sz="3700" u="sng">
                <a:solidFill>
                  <a:srgbClr val="274E13"/>
                </a:solidFill>
                <a:latin typeface="Merriweather"/>
                <a:ea typeface="Merriweather"/>
                <a:cs typeface="Merriweather"/>
                <a:sym typeface="Merriweather"/>
              </a:rPr>
              <a:t>dynamics</a:t>
            </a:r>
            <a:r>
              <a:rPr b="1" lang="en" sz="3700" u="sng">
                <a:solidFill>
                  <a:srgbClr val="274E13"/>
                </a:solidFill>
                <a:latin typeface="Merriweather"/>
                <a:ea typeface="Merriweather"/>
                <a:cs typeface="Merriweather"/>
                <a:sym typeface="Merriweather"/>
              </a:rPr>
              <a:t> &amp; life history</a:t>
            </a:r>
            <a:endParaRPr b="1" sz="3700" u="sng">
              <a:solidFill>
                <a:srgbClr val="274E13"/>
              </a:solidFill>
              <a:latin typeface="Merriweather"/>
              <a:ea typeface="Merriweather"/>
              <a:cs typeface="Merriweather"/>
              <a:sym typeface="Merriweath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ctrTitle"/>
          </p:nvPr>
        </p:nvSpPr>
        <p:spPr>
          <a:xfrm>
            <a:off x="114163" y="-111125"/>
            <a:ext cx="8915700" cy="1061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sz="3300" u="sng">
                <a:latin typeface="Merriweather"/>
                <a:ea typeface="Merriweather"/>
                <a:cs typeface="Merriweather"/>
                <a:sym typeface="Merriweather"/>
              </a:rPr>
              <a:t>What are eco-evolutionary dynamics ?</a:t>
            </a:r>
            <a:endParaRPr b="1" sz="3300" u="sng">
              <a:latin typeface="Merriweather"/>
              <a:ea typeface="Merriweather"/>
              <a:cs typeface="Merriweather"/>
              <a:sym typeface="Merriweather"/>
            </a:endParaRPr>
          </a:p>
        </p:txBody>
      </p:sp>
      <p:sp>
        <p:nvSpPr>
          <p:cNvPr id="62" name="Google Shape;62;p14"/>
          <p:cNvSpPr txBox="1"/>
          <p:nvPr>
            <p:ph idx="4294967295" type="body"/>
          </p:nvPr>
        </p:nvSpPr>
        <p:spPr>
          <a:xfrm>
            <a:off x="313500" y="950575"/>
            <a:ext cx="8517000" cy="885000"/>
          </a:xfrm>
          <a:prstGeom prst="rect">
            <a:avLst/>
          </a:prstGeom>
        </p:spPr>
        <p:txBody>
          <a:bodyPr anchorCtr="0" anchor="t" bIns="91425" lIns="91425" spcFirstLastPara="1" rIns="91425" wrap="square" tIns="91425">
            <a:noAutofit/>
          </a:bodyPr>
          <a:lstStyle/>
          <a:p>
            <a:pPr indent="0" lvl="0" marL="0" rtl="0" algn="ctr">
              <a:lnSpc>
                <a:spcPct val="105000"/>
              </a:lnSpc>
              <a:spcBef>
                <a:spcPts val="0"/>
              </a:spcBef>
              <a:spcAft>
                <a:spcPts val="1200"/>
              </a:spcAft>
              <a:buNone/>
            </a:pPr>
            <a:r>
              <a:rPr lang="en" sz="2215">
                <a:solidFill>
                  <a:schemeClr val="dk1"/>
                </a:solidFill>
                <a:latin typeface="Times New Roman"/>
                <a:ea typeface="Times New Roman"/>
                <a:cs typeface="Times New Roman"/>
                <a:sym typeface="Times New Roman"/>
              </a:rPr>
              <a:t>The reciprocal effects that ecology &amp; </a:t>
            </a:r>
            <a:r>
              <a:rPr lang="en" sz="2215">
                <a:solidFill>
                  <a:schemeClr val="dk1"/>
                </a:solidFill>
                <a:latin typeface="Times New Roman"/>
                <a:ea typeface="Times New Roman"/>
                <a:cs typeface="Times New Roman"/>
                <a:sym typeface="Times New Roman"/>
              </a:rPr>
              <a:t>evolution</a:t>
            </a:r>
            <a:r>
              <a:rPr lang="en" sz="2215">
                <a:solidFill>
                  <a:schemeClr val="dk1"/>
                </a:solidFill>
                <a:latin typeface="Times New Roman"/>
                <a:ea typeface="Times New Roman"/>
                <a:cs typeface="Times New Roman"/>
                <a:sym typeface="Times New Roman"/>
              </a:rPr>
              <a:t> have on each other.</a:t>
            </a:r>
            <a:r>
              <a:rPr b="1" i="1" lang="en" sz="2215">
                <a:solidFill>
                  <a:schemeClr val="dk1"/>
                </a:solidFill>
                <a:latin typeface="Times New Roman"/>
                <a:ea typeface="Times New Roman"/>
                <a:cs typeface="Times New Roman"/>
                <a:sym typeface="Times New Roman"/>
              </a:rPr>
              <a:t> </a:t>
            </a:r>
            <a:endParaRPr b="1" i="1" sz="2215">
              <a:solidFill>
                <a:schemeClr val="dk1"/>
              </a:solidFill>
              <a:latin typeface="Times New Roman"/>
              <a:ea typeface="Times New Roman"/>
              <a:cs typeface="Times New Roman"/>
              <a:sym typeface="Times New Roman"/>
            </a:endParaRPr>
          </a:p>
        </p:txBody>
      </p:sp>
      <p:grpSp>
        <p:nvGrpSpPr>
          <p:cNvPr id="63" name="Google Shape;63;p14"/>
          <p:cNvGrpSpPr/>
          <p:nvPr/>
        </p:nvGrpSpPr>
        <p:grpSpPr>
          <a:xfrm>
            <a:off x="1834581" y="1528154"/>
            <a:ext cx="5474871" cy="3615345"/>
            <a:chOff x="1964463" y="1896525"/>
            <a:chExt cx="4408818" cy="2911375"/>
          </a:xfrm>
        </p:grpSpPr>
        <p:pic>
          <p:nvPicPr>
            <p:cNvPr id="64" name="Google Shape;64;p14"/>
            <p:cNvPicPr preferRelativeResize="0"/>
            <p:nvPr/>
          </p:nvPicPr>
          <p:blipFill>
            <a:blip r:embed="rId3">
              <a:alphaModFix/>
            </a:blip>
            <a:stretch>
              <a:fillRect/>
            </a:stretch>
          </p:blipFill>
          <p:spPr>
            <a:xfrm>
              <a:off x="1964462" y="1896525"/>
              <a:ext cx="4408818" cy="2572675"/>
            </a:xfrm>
            <a:prstGeom prst="rect">
              <a:avLst/>
            </a:prstGeom>
            <a:noFill/>
            <a:ln>
              <a:noFill/>
            </a:ln>
          </p:spPr>
        </p:pic>
        <p:sp>
          <p:nvSpPr>
            <p:cNvPr id="65" name="Google Shape;65;p14"/>
            <p:cNvSpPr txBox="1"/>
            <p:nvPr/>
          </p:nvSpPr>
          <p:spPr>
            <a:xfrm>
              <a:off x="2020275" y="4469200"/>
              <a:ext cx="4297200" cy="338700"/>
            </a:xfrm>
            <a:prstGeom prst="rect">
              <a:avLst/>
            </a:prstGeom>
            <a:noFill/>
            <a:ln>
              <a:noFill/>
            </a:ln>
          </p:spPr>
          <p:txBody>
            <a:bodyPr anchorCtr="0" anchor="t" bIns="113525" lIns="113525" spcFirstLastPara="1" rIns="113525" wrap="square" tIns="113525">
              <a:spAutoFit/>
            </a:bodyPr>
            <a:lstStyle/>
            <a:p>
              <a:pPr indent="0" lvl="0" marL="0" rtl="0" algn="l">
                <a:spcBef>
                  <a:spcPts val="0"/>
                </a:spcBef>
                <a:spcAft>
                  <a:spcPts val="0"/>
                </a:spcAft>
                <a:buNone/>
              </a:pPr>
              <a:r>
                <a:rPr lang="en" sz="1241"/>
                <a:t>https://www.researchgate.net</a:t>
              </a:r>
              <a:endParaRPr sz="1241"/>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descr="Survivorship curve | Population Dynamics, Life Expectancy &amp; Mortality |  Britannica" id="70" name="Google Shape;70;p15"/>
          <p:cNvPicPr preferRelativeResize="0"/>
          <p:nvPr/>
        </p:nvPicPr>
        <p:blipFill>
          <a:blip r:embed="rId3">
            <a:alphaModFix/>
          </a:blip>
          <a:stretch>
            <a:fillRect/>
          </a:stretch>
        </p:blipFill>
        <p:spPr>
          <a:xfrm>
            <a:off x="1849434" y="415313"/>
            <a:ext cx="5445126" cy="4312875"/>
          </a:xfrm>
          <a:prstGeom prst="rect">
            <a:avLst/>
          </a:prstGeom>
          <a:noFill/>
          <a:ln>
            <a:noFill/>
          </a:ln>
        </p:spPr>
      </p:pic>
      <p:sp>
        <p:nvSpPr>
          <p:cNvPr id="71" name="Google Shape;71;p15"/>
          <p:cNvSpPr txBox="1"/>
          <p:nvPr/>
        </p:nvSpPr>
        <p:spPr>
          <a:xfrm>
            <a:off x="7149050" y="4804800"/>
            <a:ext cx="199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https://www.britannica.com</a:t>
            </a:r>
            <a:endParaRPr sz="1000"/>
          </a:p>
        </p:txBody>
      </p:sp>
      <p:pic>
        <p:nvPicPr>
          <p:cNvPr descr="Chapter 2: Life History Strategies – Applied Ecology" id="72" name="Google Shape;72;p15"/>
          <p:cNvPicPr preferRelativeResize="0"/>
          <p:nvPr/>
        </p:nvPicPr>
        <p:blipFill rotWithShape="1">
          <a:blip r:embed="rId4">
            <a:alphaModFix/>
          </a:blip>
          <a:srcRect b="-90" l="0" r="0" t="0"/>
          <a:stretch/>
        </p:blipFill>
        <p:spPr>
          <a:xfrm>
            <a:off x="1793675" y="260012"/>
            <a:ext cx="5556662" cy="4623475"/>
          </a:xfrm>
          <a:prstGeom prst="rect">
            <a:avLst/>
          </a:prstGeom>
          <a:noFill/>
          <a:ln cap="flat" cmpd="sng" w="9525">
            <a:solidFill>
              <a:schemeClr val="lt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ctrTitle"/>
          </p:nvPr>
        </p:nvSpPr>
        <p:spPr>
          <a:xfrm>
            <a:off x="114156" y="0"/>
            <a:ext cx="8915700" cy="1061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sz="3300" u="sng">
                <a:latin typeface="Merriweather"/>
                <a:ea typeface="Merriweather"/>
                <a:cs typeface="Merriweather"/>
                <a:sym typeface="Merriweather"/>
              </a:rPr>
              <a:t>What is life history theory?</a:t>
            </a:r>
            <a:endParaRPr b="1" sz="3300" u="sng">
              <a:latin typeface="Merriweather"/>
              <a:ea typeface="Merriweather"/>
              <a:cs typeface="Merriweather"/>
              <a:sym typeface="Merriweather"/>
            </a:endParaRPr>
          </a:p>
        </p:txBody>
      </p:sp>
      <p:sp>
        <p:nvSpPr>
          <p:cNvPr id="78" name="Google Shape;78;p16"/>
          <p:cNvSpPr txBox="1"/>
          <p:nvPr>
            <p:ph idx="4294967295" type="body"/>
          </p:nvPr>
        </p:nvSpPr>
        <p:spPr>
          <a:xfrm>
            <a:off x="1951200" y="1546200"/>
            <a:ext cx="5241600" cy="2051100"/>
          </a:xfrm>
          <a:prstGeom prst="rect">
            <a:avLst/>
          </a:prstGeom>
        </p:spPr>
        <p:txBody>
          <a:bodyPr anchorCtr="0" anchor="t" bIns="91425" lIns="91425" spcFirstLastPara="1" rIns="91425" wrap="square" tIns="91425">
            <a:noAutofit/>
          </a:bodyPr>
          <a:lstStyle/>
          <a:p>
            <a:pPr indent="0" lvl="0" marL="0" rtl="0" algn="ctr">
              <a:lnSpc>
                <a:spcPct val="105000"/>
              </a:lnSpc>
              <a:spcBef>
                <a:spcPts val="0"/>
              </a:spcBef>
              <a:spcAft>
                <a:spcPts val="0"/>
              </a:spcAft>
              <a:buNone/>
            </a:pPr>
            <a:r>
              <a:rPr b="1" lang="en" sz="2215">
                <a:solidFill>
                  <a:schemeClr val="dk1"/>
                </a:solidFill>
                <a:latin typeface="Times New Roman"/>
                <a:ea typeface="Times New Roman"/>
                <a:cs typeface="Times New Roman"/>
                <a:sym typeface="Times New Roman"/>
              </a:rPr>
              <a:t>Def. - </a:t>
            </a:r>
            <a:r>
              <a:rPr lang="en" sz="2215">
                <a:solidFill>
                  <a:schemeClr val="dk1"/>
                </a:solidFill>
                <a:latin typeface="Times New Roman"/>
                <a:ea typeface="Times New Roman"/>
                <a:cs typeface="Times New Roman"/>
                <a:sym typeface="Times New Roman"/>
              </a:rPr>
              <a:t>A framework for studying how organisms allocate time and energy to growth, reproduction, and survival and how these trade offs define their life cycles and evolution</a:t>
            </a:r>
            <a:r>
              <a:rPr lang="en" sz="1900">
                <a:solidFill>
                  <a:schemeClr val="dk1"/>
                </a:solidFill>
                <a:latin typeface="Times New Roman"/>
                <a:ea typeface="Times New Roman"/>
                <a:cs typeface="Times New Roman"/>
                <a:sym typeface="Times New Roman"/>
              </a:rPr>
              <a:t>.  </a:t>
            </a:r>
            <a:endParaRPr sz="1900">
              <a:solidFill>
                <a:schemeClr val="dk1"/>
              </a:solidFill>
              <a:latin typeface="Times New Roman"/>
              <a:ea typeface="Times New Roman"/>
              <a:cs typeface="Times New Roman"/>
              <a:sym typeface="Times New Roman"/>
            </a:endParaRPr>
          </a:p>
          <a:p>
            <a:pPr indent="0" lvl="0" marL="0" rtl="0" algn="ctr">
              <a:lnSpc>
                <a:spcPct val="10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ctr">
              <a:lnSpc>
                <a:spcPct val="105000"/>
              </a:lnSpc>
              <a:spcBef>
                <a:spcPts val="1200"/>
              </a:spcBef>
              <a:spcAft>
                <a:spcPts val="1200"/>
              </a:spcAft>
              <a:buNone/>
            </a:pPr>
            <a:r>
              <a:t/>
            </a:r>
            <a:endParaRPr b="1" i="1" sz="2215">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p17" title="PHOTO-2025-11-27-12-28-52.jpg"/>
          <p:cNvPicPr preferRelativeResize="0"/>
          <p:nvPr/>
        </p:nvPicPr>
        <p:blipFill rotWithShape="1">
          <a:blip r:embed="rId3">
            <a:alphaModFix/>
          </a:blip>
          <a:srcRect b="17688" l="0" r="1719" t="0"/>
          <a:stretch/>
        </p:blipFill>
        <p:spPr>
          <a:xfrm>
            <a:off x="1951200" y="171850"/>
            <a:ext cx="5241600" cy="4799801"/>
          </a:xfrm>
          <a:prstGeom prst="rect">
            <a:avLst/>
          </a:prstGeom>
          <a:noFill/>
          <a:ln>
            <a:noFill/>
          </a:ln>
        </p:spPr>
      </p:pic>
      <p:sp>
        <p:nvSpPr>
          <p:cNvPr id="84" name="Google Shape;84;p17"/>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Scott Lain, (2024) Trends in Ecology &amp; Evolution</a:t>
            </a:r>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210550"/>
            <a:ext cx="35595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n" u="sng">
                <a:latin typeface="Merriweather"/>
                <a:ea typeface="Merriweather"/>
                <a:cs typeface="Merriweather"/>
                <a:sym typeface="Merriweather"/>
              </a:rPr>
              <a:t>History + </a:t>
            </a:r>
            <a:r>
              <a:rPr b="1" lang="en" u="sng">
                <a:latin typeface="Merriweather"/>
                <a:ea typeface="Merriweather"/>
                <a:cs typeface="Merriweather"/>
                <a:sym typeface="Merriweather"/>
              </a:rPr>
              <a:t>Main Figures</a:t>
            </a:r>
            <a:endParaRPr b="1" u="sng">
              <a:latin typeface="Merriweather"/>
              <a:ea typeface="Merriweather"/>
              <a:cs typeface="Merriweather"/>
              <a:sym typeface="Merriweather"/>
            </a:endParaRPr>
          </a:p>
        </p:txBody>
      </p:sp>
      <p:sp>
        <p:nvSpPr>
          <p:cNvPr id="90" name="Google Shape;90;p18"/>
          <p:cNvSpPr txBox="1"/>
          <p:nvPr>
            <p:ph idx="1" type="body"/>
          </p:nvPr>
        </p:nvSpPr>
        <p:spPr>
          <a:xfrm>
            <a:off x="311700" y="1217200"/>
            <a:ext cx="3465900" cy="8958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lang="en" sz="1300">
                <a:solidFill>
                  <a:schemeClr val="dk1"/>
                </a:solidFill>
                <a:latin typeface="Merriweather"/>
                <a:ea typeface="Merriweather"/>
                <a:cs typeface="Merriweather"/>
                <a:sym typeface="Merriweather"/>
              </a:rPr>
              <a:t>Charle</a:t>
            </a:r>
            <a:r>
              <a:rPr lang="en" sz="1300">
                <a:solidFill>
                  <a:schemeClr val="dk1"/>
                </a:solidFill>
                <a:latin typeface="Merriweather"/>
                <a:ea typeface="Merriweather"/>
                <a:cs typeface="Merriweather"/>
                <a:sym typeface="Merriweather"/>
              </a:rPr>
              <a:t>s Darwin  - 1859 - Relation between ecological and evolutionary processes</a:t>
            </a:r>
            <a:endParaRPr sz="1300">
              <a:solidFill>
                <a:schemeClr val="dk1"/>
              </a:solidFill>
              <a:latin typeface="Merriweather"/>
              <a:ea typeface="Merriweather"/>
              <a:cs typeface="Merriweather"/>
              <a:sym typeface="Merriweather"/>
            </a:endParaRPr>
          </a:p>
        </p:txBody>
      </p:sp>
      <p:grpSp>
        <p:nvGrpSpPr>
          <p:cNvPr id="91" name="Google Shape;91;p18"/>
          <p:cNvGrpSpPr/>
          <p:nvPr/>
        </p:nvGrpSpPr>
        <p:grpSpPr>
          <a:xfrm>
            <a:off x="6417202" y="1217237"/>
            <a:ext cx="2305055" cy="3593872"/>
            <a:chOff x="5610125" y="1225825"/>
            <a:chExt cx="1672026" cy="2606900"/>
          </a:xfrm>
        </p:grpSpPr>
        <p:pic>
          <p:nvPicPr>
            <p:cNvPr id="92" name="Google Shape;92;p18"/>
            <p:cNvPicPr preferRelativeResize="0"/>
            <p:nvPr/>
          </p:nvPicPr>
          <p:blipFill>
            <a:blip r:embed="rId3">
              <a:alphaModFix/>
            </a:blip>
            <a:stretch>
              <a:fillRect/>
            </a:stretch>
          </p:blipFill>
          <p:spPr>
            <a:xfrm>
              <a:off x="5610126" y="1225825"/>
              <a:ext cx="1672024" cy="2398992"/>
            </a:xfrm>
            <a:prstGeom prst="rect">
              <a:avLst/>
            </a:prstGeom>
            <a:noFill/>
            <a:ln>
              <a:noFill/>
            </a:ln>
          </p:spPr>
        </p:pic>
        <p:sp>
          <p:nvSpPr>
            <p:cNvPr id="93" name="Google Shape;93;p18"/>
            <p:cNvSpPr txBox="1"/>
            <p:nvPr/>
          </p:nvSpPr>
          <p:spPr>
            <a:xfrm>
              <a:off x="5610125" y="3624825"/>
              <a:ext cx="1671900" cy="207900"/>
            </a:xfrm>
            <a:prstGeom prst="rect">
              <a:avLst/>
            </a:prstGeom>
            <a:noFill/>
            <a:ln>
              <a:noFill/>
            </a:ln>
          </p:spPr>
          <p:txBody>
            <a:bodyPr anchorCtr="0" anchor="t" bIns="73975" lIns="73975" spcFirstLastPara="1" rIns="73975" wrap="square" tIns="73975">
              <a:spAutoFit/>
            </a:bodyPr>
            <a:lstStyle/>
            <a:p>
              <a:pPr indent="0" lvl="0" marL="0" rtl="0" algn="l">
                <a:spcBef>
                  <a:spcPts val="0"/>
                </a:spcBef>
                <a:spcAft>
                  <a:spcPts val="0"/>
                </a:spcAft>
                <a:buNone/>
              </a:pPr>
              <a:r>
                <a:rPr lang="en" sz="890">
                  <a:solidFill>
                    <a:schemeClr val="dk2"/>
                  </a:solidFill>
                </a:rPr>
                <a:t>https://blog.alandotchin.com</a:t>
              </a:r>
              <a:endParaRPr sz="890">
                <a:solidFill>
                  <a:schemeClr val="dk2"/>
                </a:solidFill>
              </a:endParaRPr>
            </a:p>
          </p:txBody>
        </p:sp>
      </p:grpSp>
      <p:grpSp>
        <p:nvGrpSpPr>
          <p:cNvPr id="94" name="Google Shape;94;p18"/>
          <p:cNvGrpSpPr/>
          <p:nvPr/>
        </p:nvGrpSpPr>
        <p:grpSpPr>
          <a:xfrm>
            <a:off x="3871191" y="1217208"/>
            <a:ext cx="2381287" cy="3593918"/>
            <a:chOff x="7434550" y="152400"/>
            <a:chExt cx="1671900" cy="2523288"/>
          </a:xfrm>
        </p:grpSpPr>
        <p:pic>
          <p:nvPicPr>
            <p:cNvPr id="95" name="Google Shape;95;p18"/>
            <p:cNvPicPr preferRelativeResize="0"/>
            <p:nvPr/>
          </p:nvPicPr>
          <p:blipFill>
            <a:blip r:embed="rId4">
              <a:alphaModFix/>
            </a:blip>
            <a:stretch>
              <a:fillRect/>
            </a:stretch>
          </p:blipFill>
          <p:spPr>
            <a:xfrm>
              <a:off x="7434551" y="152400"/>
              <a:ext cx="1557049" cy="2335574"/>
            </a:xfrm>
            <a:prstGeom prst="rect">
              <a:avLst/>
            </a:prstGeom>
            <a:noFill/>
            <a:ln>
              <a:noFill/>
            </a:ln>
          </p:spPr>
        </p:pic>
        <p:sp>
          <p:nvSpPr>
            <p:cNvPr id="96" name="Google Shape;96;p18"/>
            <p:cNvSpPr txBox="1"/>
            <p:nvPr/>
          </p:nvSpPr>
          <p:spPr>
            <a:xfrm>
              <a:off x="7434550" y="2467788"/>
              <a:ext cx="1671900" cy="207900"/>
            </a:xfrm>
            <a:prstGeom prst="rect">
              <a:avLst/>
            </a:prstGeom>
            <a:noFill/>
            <a:ln>
              <a:noFill/>
            </a:ln>
          </p:spPr>
          <p:txBody>
            <a:bodyPr anchorCtr="0" anchor="t" bIns="76425" lIns="76425" spcFirstLastPara="1" rIns="76425" wrap="square" tIns="76425">
              <a:spAutoFit/>
            </a:bodyPr>
            <a:lstStyle/>
            <a:p>
              <a:pPr indent="0" lvl="0" marL="0" rtl="0" algn="l">
                <a:spcBef>
                  <a:spcPts val="0"/>
                </a:spcBef>
                <a:spcAft>
                  <a:spcPts val="0"/>
                </a:spcAft>
                <a:buNone/>
              </a:pPr>
              <a:r>
                <a:rPr lang="en" sz="919">
                  <a:solidFill>
                    <a:schemeClr val="dk2"/>
                  </a:solidFill>
                </a:rPr>
                <a:t>https://www.nature.com</a:t>
              </a:r>
              <a:endParaRPr sz="919">
                <a:solidFill>
                  <a:schemeClr val="dk2"/>
                </a:solidFill>
              </a:endParaRPr>
            </a:p>
          </p:txBody>
        </p:sp>
      </p:grpSp>
      <p:sp>
        <p:nvSpPr>
          <p:cNvPr id="97" name="Google Shape;97;p18"/>
          <p:cNvSpPr txBox="1"/>
          <p:nvPr/>
        </p:nvSpPr>
        <p:spPr>
          <a:xfrm>
            <a:off x="311700" y="2113000"/>
            <a:ext cx="3000000" cy="61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300">
                <a:solidFill>
                  <a:schemeClr val="dk1"/>
                </a:solidFill>
                <a:latin typeface="Merriweather"/>
                <a:ea typeface="Merriweather"/>
                <a:cs typeface="Merriweather"/>
                <a:sym typeface="Merriweather"/>
              </a:rPr>
              <a:t>G. C. Williams - 1966 - Gene-centered view of evolution</a:t>
            </a:r>
            <a:endParaRPr sz="13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19"/>
          <p:cNvPicPr preferRelativeResize="0"/>
          <p:nvPr/>
        </p:nvPicPr>
        <p:blipFill>
          <a:blip r:embed="rId3">
            <a:alphaModFix/>
          </a:blip>
          <a:stretch>
            <a:fillRect/>
          </a:stretch>
        </p:blipFill>
        <p:spPr>
          <a:xfrm>
            <a:off x="80113" y="1186364"/>
            <a:ext cx="8983775" cy="2378058"/>
          </a:xfrm>
          <a:prstGeom prst="rect">
            <a:avLst/>
          </a:prstGeom>
          <a:noFill/>
          <a:ln>
            <a:noFill/>
          </a:ln>
        </p:spPr>
      </p:pic>
      <p:sp>
        <p:nvSpPr>
          <p:cNvPr id="103" name="Google Shape;103;p19"/>
          <p:cNvSpPr txBox="1"/>
          <p:nvPr/>
        </p:nvSpPr>
        <p:spPr>
          <a:xfrm>
            <a:off x="80113" y="3564431"/>
            <a:ext cx="2214600" cy="392700"/>
          </a:xfrm>
          <a:prstGeom prst="rect">
            <a:avLst/>
          </a:prstGeom>
          <a:noFill/>
          <a:ln>
            <a:noFill/>
          </a:ln>
        </p:spPr>
        <p:txBody>
          <a:bodyPr anchorCtr="0" anchor="t" bIns="101450" lIns="101450" spcFirstLastPara="1" rIns="101450" wrap="square" tIns="101450">
            <a:spAutoFit/>
          </a:bodyPr>
          <a:lstStyle/>
          <a:p>
            <a:pPr indent="0" lvl="0" marL="0" rtl="0" algn="l">
              <a:spcBef>
                <a:spcPts val="0"/>
              </a:spcBef>
              <a:spcAft>
                <a:spcPts val="0"/>
              </a:spcAft>
              <a:buNone/>
            </a:pPr>
            <a:r>
              <a:rPr lang="en" sz="1220">
                <a:solidFill>
                  <a:schemeClr val="dk2"/>
                </a:solidFill>
              </a:rPr>
              <a:t>https://www.researchgate.net</a:t>
            </a:r>
            <a:endParaRPr sz="122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type="ctrTitle"/>
          </p:nvPr>
        </p:nvSpPr>
        <p:spPr>
          <a:xfrm>
            <a:off x="114150" y="130425"/>
            <a:ext cx="8915700" cy="1061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sz="3300" u="sng">
                <a:latin typeface="Merriweather"/>
                <a:ea typeface="Merriweather"/>
                <a:cs typeface="Merriweather"/>
                <a:sym typeface="Merriweather"/>
              </a:rPr>
              <a:t>Stearns 1977 Paper</a:t>
            </a:r>
            <a:endParaRPr b="1" sz="3300" u="sng">
              <a:latin typeface="Merriweather"/>
              <a:ea typeface="Merriweather"/>
              <a:cs typeface="Merriweather"/>
              <a:sym typeface="Merriweather"/>
            </a:endParaRPr>
          </a:p>
        </p:txBody>
      </p:sp>
      <p:pic>
        <p:nvPicPr>
          <p:cNvPr id="109" name="Google Shape;109;p20"/>
          <p:cNvPicPr preferRelativeResize="0"/>
          <p:nvPr/>
        </p:nvPicPr>
        <p:blipFill>
          <a:blip r:embed="rId3">
            <a:alphaModFix/>
          </a:blip>
          <a:stretch>
            <a:fillRect/>
          </a:stretch>
        </p:blipFill>
        <p:spPr>
          <a:xfrm>
            <a:off x="3656875" y="1444025"/>
            <a:ext cx="3629022" cy="1451600"/>
          </a:xfrm>
          <a:prstGeom prst="rect">
            <a:avLst/>
          </a:prstGeom>
          <a:noFill/>
          <a:ln>
            <a:noFill/>
          </a:ln>
        </p:spPr>
      </p:pic>
      <p:pic>
        <p:nvPicPr>
          <p:cNvPr id="110" name="Google Shape;110;p20"/>
          <p:cNvPicPr preferRelativeResize="0"/>
          <p:nvPr/>
        </p:nvPicPr>
        <p:blipFill>
          <a:blip r:embed="rId4">
            <a:alphaModFix/>
          </a:blip>
          <a:stretch>
            <a:fillRect/>
          </a:stretch>
        </p:blipFill>
        <p:spPr>
          <a:xfrm>
            <a:off x="1113308" y="1444025"/>
            <a:ext cx="1917192" cy="2891125"/>
          </a:xfrm>
          <a:prstGeom prst="rect">
            <a:avLst/>
          </a:prstGeom>
          <a:noFill/>
          <a:ln>
            <a:noFill/>
          </a:ln>
        </p:spPr>
      </p:pic>
      <p:pic>
        <p:nvPicPr>
          <p:cNvPr id="111" name="Google Shape;111;p20" title="Screenshot 2025-11-28 105253.png"/>
          <p:cNvPicPr preferRelativeResize="0"/>
          <p:nvPr/>
        </p:nvPicPr>
        <p:blipFill>
          <a:blip r:embed="rId5">
            <a:alphaModFix/>
          </a:blip>
          <a:stretch>
            <a:fillRect/>
          </a:stretch>
        </p:blipFill>
        <p:spPr>
          <a:xfrm>
            <a:off x="3656870" y="2895625"/>
            <a:ext cx="4849330" cy="2118350"/>
          </a:xfrm>
          <a:prstGeom prst="rect">
            <a:avLst/>
          </a:prstGeom>
          <a:noFill/>
          <a:ln>
            <a:noFill/>
          </a:ln>
        </p:spPr>
      </p:pic>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ctrTitle"/>
          </p:nvPr>
        </p:nvSpPr>
        <p:spPr>
          <a:xfrm>
            <a:off x="114150" y="130425"/>
            <a:ext cx="8915700" cy="1061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sz="3300" u="sng">
                <a:latin typeface="Merriweather"/>
                <a:ea typeface="Merriweather"/>
                <a:cs typeface="Merriweather"/>
                <a:sym typeface="Merriweather"/>
              </a:rPr>
              <a:t>Stott et. al 2024 Paper</a:t>
            </a:r>
            <a:endParaRPr b="1" sz="3300" u="sng">
              <a:latin typeface="Merriweather"/>
              <a:ea typeface="Merriweather"/>
              <a:cs typeface="Merriweather"/>
              <a:sym typeface="Merriweather"/>
            </a:endParaRPr>
          </a:p>
        </p:txBody>
      </p:sp>
      <p:pic>
        <p:nvPicPr>
          <p:cNvPr id="117" name="Google Shape;117;p21"/>
          <p:cNvPicPr preferRelativeResize="0"/>
          <p:nvPr/>
        </p:nvPicPr>
        <p:blipFill>
          <a:blip r:embed="rId3">
            <a:alphaModFix/>
          </a:blip>
          <a:stretch>
            <a:fillRect/>
          </a:stretch>
        </p:blipFill>
        <p:spPr>
          <a:xfrm>
            <a:off x="1238250" y="1426650"/>
            <a:ext cx="6667500" cy="685800"/>
          </a:xfrm>
          <a:prstGeom prst="rect">
            <a:avLst/>
          </a:prstGeom>
          <a:noFill/>
          <a:ln>
            <a:noFill/>
          </a:ln>
        </p:spPr>
      </p:pic>
      <p:pic>
        <p:nvPicPr>
          <p:cNvPr id="118" name="Google Shape;118;p21"/>
          <p:cNvPicPr preferRelativeResize="0"/>
          <p:nvPr/>
        </p:nvPicPr>
        <p:blipFill>
          <a:blip r:embed="rId4">
            <a:alphaModFix/>
          </a:blip>
          <a:stretch>
            <a:fillRect/>
          </a:stretch>
        </p:blipFill>
        <p:spPr>
          <a:xfrm>
            <a:off x="3257163" y="2112450"/>
            <a:ext cx="2629664" cy="26168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ctrTitle"/>
          </p:nvPr>
        </p:nvSpPr>
        <p:spPr>
          <a:xfrm>
            <a:off x="114150" y="1510050"/>
            <a:ext cx="8915700" cy="1061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sz="3300" u="sng">
                <a:latin typeface="Merriweather"/>
                <a:ea typeface="Merriweather"/>
                <a:cs typeface="Merriweather"/>
                <a:sym typeface="Merriweather"/>
              </a:rPr>
              <a:t>Comparisons</a:t>
            </a:r>
            <a:endParaRPr b="1" sz="3300" u="sng">
              <a:latin typeface="Merriweather"/>
              <a:ea typeface="Merriweather"/>
              <a:cs typeface="Merriweather"/>
              <a:sym typeface="Merriweather"/>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graphicFrame>
        <p:nvGraphicFramePr>
          <p:cNvPr id="128" name="Google Shape;128;p23"/>
          <p:cNvGraphicFramePr/>
          <p:nvPr/>
        </p:nvGraphicFramePr>
        <p:xfrm>
          <a:off x="75113" y="67675"/>
          <a:ext cx="3000000" cy="3000000"/>
        </p:xfrm>
        <a:graphic>
          <a:graphicData uri="http://schemas.openxmlformats.org/drawingml/2006/table">
            <a:tbl>
              <a:tblPr>
                <a:noFill/>
                <a:tableStyleId>{4C50CC4A-3CF3-4992-AA57-8AD2D35A3048}</a:tableStyleId>
              </a:tblPr>
              <a:tblGrid>
                <a:gridCol w="2207500"/>
                <a:gridCol w="3259825"/>
                <a:gridCol w="3526425"/>
              </a:tblGrid>
              <a:tr h="384825">
                <a:tc>
                  <a:txBody>
                    <a:bodyPr/>
                    <a:lstStyle/>
                    <a:p>
                      <a:pPr indent="0" lvl="0" marL="0" rtl="0" algn="ctr">
                        <a:lnSpc>
                          <a:spcPct val="115000"/>
                        </a:lnSpc>
                        <a:spcBef>
                          <a:spcPts val="0"/>
                        </a:spcBef>
                        <a:spcAft>
                          <a:spcPts val="0"/>
                        </a:spcAft>
                        <a:buNone/>
                      </a:pPr>
                      <a:r>
                        <a:t/>
                      </a:r>
                      <a:endParaRPr sz="1200"/>
                    </a:p>
                  </a:txBody>
                  <a:tcPr marT="63500" marB="63500" marR="63500" marL="63500">
                    <a:lnB cap="flat" cmpd="sng">
                      <a:solidFill>
                        <a:srgbClr val="FF0000">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t>1977 Stearns</a:t>
                      </a:r>
                      <a:endParaRPr sz="1200"/>
                    </a:p>
                  </a:txBody>
                  <a:tcPr marT="63500" marB="63500" marR="63500" marL="63500">
                    <a:lnB cap="flat" cmpd="sng">
                      <a:solidFill>
                        <a:srgbClr val="FF0000">
                          <a:alpha val="0"/>
                        </a:srgbClr>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b="1" lang="en" sz="1200"/>
                        <a:t>2024 Stott et al.</a:t>
                      </a:r>
                      <a:endParaRPr sz="1200"/>
                    </a:p>
                  </a:txBody>
                  <a:tcPr marT="63500" marB="63500" marR="63500" marL="63500">
                    <a:lnB cap="flat" cmpd="sng">
                      <a:solidFill>
                        <a:srgbClr val="FF0000">
                          <a:alpha val="0"/>
                        </a:srgbClr>
                      </a:solidFill>
                      <a:prstDash val="solid"/>
                      <a:round/>
                      <a:headEnd len="sm" w="sm" type="none"/>
                      <a:tailEnd len="sm" w="sm" type="none"/>
                    </a:lnB>
                    <a:solidFill>
                      <a:srgbClr val="CFE2F3"/>
                    </a:solidFill>
                  </a:tcPr>
                </a:tc>
              </a:tr>
              <a:tr h="615725">
                <a:tc>
                  <a:txBody>
                    <a:bodyPr/>
                    <a:lstStyle/>
                    <a:p>
                      <a:pPr indent="0" lvl="0" marL="0" rtl="0" algn="l">
                        <a:lnSpc>
                          <a:spcPct val="115000"/>
                        </a:lnSpc>
                        <a:spcBef>
                          <a:spcPts val="0"/>
                        </a:spcBef>
                        <a:spcAft>
                          <a:spcPts val="0"/>
                        </a:spcAft>
                        <a:buNone/>
                      </a:pPr>
                      <a:r>
                        <a:rPr b="1" lang="en" sz="1300"/>
                        <a:t>Data availability</a:t>
                      </a:r>
                      <a:endParaRPr sz="1300"/>
                    </a:p>
                  </a:txBody>
                  <a:tcPr marT="63500" marB="63500" marR="63500" marL="63500">
                    <a:lnL cap="flat" cmpd="sng">
                      <a:solidFill>
                        <a:srgbClr val="FF0000">
                          <a:alpha val="0"/>
                        </a:srgbClr>
                      </a:solidFill>
                      <a:prstDash val="solid"/>
                      <a:round/>
                      <a:headEnd len="sm" w="sm" type="none"/>
                      <a:tailEnd len="sm" w="sm" type="none"/>
                    </a:lnL>
                    <a:lnR cap="flat" cmpd="sng">
                      <a:solidFill>
                        <a:srgbClr val="FF0000">
                          <a:alpha val="0"/>
                        </a:srgbClr>
                      </a:solidFill>
                      <a:prstDash val="solid"/>
                      <a:round/>
                      <a:headEnd len="sm" w="sm" type="none"/>
                      <a:tailEnd len="sm" w="sm" type="none"/>
                    </a:lnR>
                    <a:lnT cap="flat" cmpd="sng">
                      <a:solidFill>
                        <a:srgbClr val="FF0000">
                          <a:alpha val="0"/>
                        </a:srgbClr>
                      </a:solidFill>
                      <a:prstDash val="solid"/>
                      <a:round/>
                      <a:headEnd len="sm" w="sm" type="none"/>
                      <a:tailEnd len="sm" w="sm" type="none"/>
                    </a:lnT>
                    <a:lnB cap="flat" cmpd="sng">
                      <a:solidFill>
                        <a:srgbClr val="FF0000">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300"/>
                        <a:t>Species/population specific datasets, vertebrate-focused</a:t>
                      </a:r>
                      <a:r>
                        <a:rPr lang="en" sz="1300"/>
                        <a:t>, poorly measured data</a:t>
                      </a:r>
                      <a:endParaRPr sz="1300"/>
                    </a:p>
                  </a:txBody>
                  <a:tcPr marT="63500" marB="63500" marR="63500" marL="63500">
                    <a:lnL cap="flat" cmpd="sng">
                      <a:solidFill>
                        <a:srgbClr val="FF0000">
                          <a:alpha val="0"/>
                        </a:srgbClr>
                      </a:solidFill>
                      <a:prstDash val="solid"/>
                      <a:round/>
                      <a:headEnd len="sm" w="sm" type="none"/>
                      <a:tailEnd len="sm" w="sm" type="none"/>
                    </a:lnL>
                    <a:lnR cap="flat" cmpd="sng">
                      <a:solidFill>
                        <a:srgbClr val="FF0000">
                          <a:alpha val="0"/>
                        </a:srgbClr>
                      </a:solidFill>
                      <a:prstDash val="solid"/>
                      <a:round/>
                      <a:headEnd len="sm" w="sm" type="none"/>
                      <a:tailEnd len="sm" w="sm" type="none"/>
                    </a:lnR>
                    <a:lnT cap="flat" cmpd="sng">
                      <a:solidFill>
                        <a:srgbClr val="FF0000">
                          <a:alpha val="0"/>
                        </a:srgbClr>
                      </a:solidFill>
                      <a:prstDash val="solid"/>
                      <a:round/>
                      <a:headEnd len="sm" w="sm" type="none"/>
                      <a:tailEnd len="sm" w="sm" type="none"/>
                    </a:lnT>
                    <a:lnB cap="flat" cmpd="sng">
                      <a:solidFill>
                        <a:srgbClr val="FF0000">
                          <a:alpha val="0"/>
                        </a:srgbClr>
                      </a:solidFill>
                      <a:prstDash val="solid"/>
                      <a:round/>
                      <a:headEnd len="sm" w="sm" type="none"/>
                      <a:tailEnd len="sm" w="sm" type="none"/>
                    </a:lnB>
                    <a:solidFill>
                      <a:srgbClr val="FFF2CC"/>
                    </a:solidFill>
                  </a:tcPr>
                </a:tc>
                <a:tc>
                  <a:txBody>
                    <a:bodyPr/>
                    <a:lstStyle/>
                    <a:p>
                      <a:pPr indent="0" lvl="0" marL="0" rtl="0" algn="l">
                        <a:lnSpc>
                          <a:spcPct val="115000"/>
                        </a:lnSpc>
                        <a:spcBef>
                          <a:spcPts val="0"/>
                        </a:spcBef>
                        <a:spcAft>
                          <a:spcPts val="0"/>
                        </a:spcAft>
                        <a:buNone/>
                      </a:pPr>
                      <a:r>
                        <a:rPr lang="en" sz="1300"/>
                        <a:t>Vast datasets, standardized databases</a:t>
                      </a:r>
                      <a:endParaRPr sz="1300"/>
                    </a:p>
                  </a:txBody>
                  <a:tcPr marT="63500" marB="63500" marR="63500" marL="63500">
                    <a:lnL cap="flat" cmpd="sng">
                      <a:solidFill>
                        <a:srgbClr val="FF0000">
                          <a:alpha val="0"/>
                        </a:srgbClr>
                      </a:solidFill>
                      <a:prstDash val="solid"/>
                      <a:round/>
                      <a:headEnd len="sm" w="sm" type="none"/>
                      <a:tailEnd len="sm" w="sm" type="none"/>
                    </a:lnL>
                    <a:lnR cap="flat" cmpd="sng">
                      <a:solidFill>
                        <a:srgbClr val="FF0000">
                          <a:alpha val="0"/>
                        </a:srgbClr>
                      </a:solidFill>
                      <a:prstDash val="solid"/>
                      <a:round/>
                      <a:headEnd len="sm" w="sm" type="none"/>
                      <a:tailEnd len="sm" w="sm" type="none"/>
                    </a:lnR>
                    <a:lnT cap="flat" cmpd="sng">
                      <a:solidFill>
                        <a:srgbClr val="FF0000">
                          <a:alpha val="0"/>
                        </a:srgbClr>
                      </a:solidFill>
                      <a:prstDash val="solid"/>
                      <a:round/>
                      <a:headEnd len="sm" w="sm" type="none"/>
                      <a:tailEnd len="sm" w="sm" type="none"/>
                    </a:lnT>
                    <a:lnB cap="flat" cmpd="sng">
                      <a:solidFill>
                        <a:srgbClr val="FF0000">
                          <a:alpha val="0"/>
                        </a:srgbClr>
                      </a:solidFill>
                      <a:prstDash val="solid"/>
                      <a:round/>
                      <a:headEnd len="sm" w="sm" type="none"/>
                      <a:tailEnd len="sm" w="sm" type="none"/>
                    </a:lnB>
                    <a:solidFill>
                      <a:srgbClr val="CFE2F3"/>
                    </a:solidFill>
                  </a:tcPr>
                </a:tc>
              </a:tr>
              <a:tr h="595550">
                <a:tc>
                  <a:txBody>
                    <a:bodyPr/>
                    <a:lstStyle/>
                    <a:p>
                      <a:pPr indent="0" lvl="0" marL="0" rtl="0" algn="l">
                        <a:lnSpc>
                          <a:spcPct val="115000"/>
                        </a:lnSpc>
                        <a:spcBef>
                          <a:spcPts val="0"/>
                        </a:spcBef>
                        <a:spcAft>
                          <a:spcPts val="0"/>
                        </a:spcAft>
                        <a:buNone/>
                      </a:pPr>
                      <a:r>
                        <a:rPr b="1" lang="en" sz="1300"/>
                        <a:t>Trait measurement</a:t>
                      </a:r>
                      <a:endParaRPr sz="1300"/>
                    </a:p>
                  </a:txBody>
                  <a:tcPr marT="63500" marB="63500" marR="63500" marL="63500">
                    <a:lnT cap="flat" cmpd="sng">
                      <a:solidFill>
                        <a:srgbClr val="FF0000">
                          <a:alpha val="0"/>
                        </a:srgbClr>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en" sz="1300"/>
                        <a:t>Incomparable, simple models and statistics, analysis through intuition</a:t>
                      </a:r>
                      <a:endParaRPr sz="1300"/>
                    </a:p>
                  </a:txBody>
                  <a:tcPr marT="63500" marB="63500" marR="63500" marL="63500">
                    <a:lnT cap="flat" cmpd="sng">
                      <a:solidFill>
                        <a:srgbClr val="FF0000">
                          <a:alpha val="0"/>
                        </a:srgbClr>
                      </a:solidFill>
                      <a:prstDash val="solid"/>
                      <a:round/>
                      <a:headEnd len="sm" w="sm" type="none"/>
                      <a:tailEnd len="sm" w="sm" type="none"/>
                    </a:lnT>
                    <a:solidFill>
                      <a:srgbClr val="FFF2CC"/>
                    </a:solidFill>
                  </a:tcPr>
                </a:tc>
                <a:tc>
                  <a:txBody>
                    <a:bodyPr/>
                    <a:lstStyle/>
                    <a:p>
                      <a:pPr indent="0" lvl="0" marL="0" rtl="0" algn="l">
                        <a:lnSpc>
                          <a:spcPct val="115000"/>
                        </a:lnSpc>
                        <a:spcBef>
                          <a:spcPts val="0"/>
                        </a:spcBef>
                        <a:spcAft>
                          <a:spcPts val="0"/>
                        </a:spcAft>
                        <a:buNone/>
                      </a:pPr>
                      <a:r>
                        <a:rPr lang="en" sz="1300"/>
                        <a:t>Standardized definitions, </a:t>
                      </a:r>
                      <a:r>
                        <a:rPr lang="en" sz="1300">
                          <a:solidFill>
                            <a:schemeClr val="dk1"/>
                          </a:solidFill>
                        </a:rPr>
                        <a:t>structured demographic matrices</a:t>
                      </a:r>
                      <a:endParaRPr sz="1300"/>
                    </a:p>
                  </a:txBody>
                  <a:tcPr marT="63500" marB="63500" marR="63500" marL="63500">
                    <a:lnT cap="flat" cmpd="sng">
                      <a:solidFill>
                        <a:srgbClr val="FF0000">
                          <a:alpha val="0"/>
                        </a:srgbClr>
                      </a:solidFill>
                      <a:prstDash val="solid"/>
                      <a:round/>
                      <a:headEnd len="sm" w="sm" type="none"/>
                      <a:tailEnd len="sm" w="sm" type="none"/>
                    </a:lnT>
                    <a:solidFill>
                      <a:srgbClr val="CFE2F3"/>
                    </a:solidFill>
                  </a:tcPr>
                </a:tc>
              </a:tr>
              <a:tr h="563500">
                <a:tc>
                  <a:txBody>
                    <a:bodyPr/>
                    <a:lstStyle/>
                    <a:p>
                      <a:pPr indent="0" lvl="0" marL="0" rtl="0" algn="l">
                        <a:lnSpc>
                          <a:spcPct val="115000"/>
                        </a:lnSpc>
                        <a:spcBef>
                          <a:spcPts val="0"/>
                        </a:spcBef>
                        <a:spcAft>
                          <a:spcPts val="0"/>
                        </a:spcAft>
                        <a:buNone/>
                      </a:pPr>
                      <a:r>
                        <a:rPr b="1" lang="en" sz="1300"/>
                        <a:t>Comparative scope</a:t>
                      </a:r>
                      <a:endParaRPr sz="1300"/>
                    </a:p>
                  </a:txBody>
                  <a:tcPr marT="63500" marB="63500" marR="63500" marL="63500"/>
                </a:tc>
                <a:tc>
                  <a:txBody>
                    <a:bodyPr/>
                    <a:lstStyle/>
                    <a:p>
                      <a:pPr indent="0" lvl="0" marL="0" rtl="0" algn="l">
                        <a:lnSpc>
                          <a:spcPct val="115000"/>
                        </a:lnSpc>
                        <a:spcBef>
                          <a:spcPts val="0"/>
                        </a:spcBef>
                        <a:spcAft>
                          <a:spcPts val="0"/>
                        </a:spcAft>
                        <a:buNone/>
                      </a:pPr>
                      <a:r>
                        <a:rPr lang="en" sz="1300"/>
                        <a:t>Few species; limited cross-taxon comparisons</a:t>
                      </a:r>
                      <a:endParaRPr sz="1300"/>
                    </a:p>
                  </a:txBody>
                  <a:tcPr marT="63500" marB="63500" marR="63500" marL="63500">
                    <a:solidFill>
                      <a:srgbClr val="FFF2CC"/>
                    </a:solidFill>
                  </a:tcPr>
                </a:tc>
                <a:tc>
                  <a:txBody>
                    <a:bodyPr/>
                    <a:lstStyle/>
                    <a:p>
                      <a:pPr indent="0" lvl="0" marL="0" rtl="0" algn="l">
                        <a:lnSpc>
                          <a:spcPct val="115000"/>
                        </a:lnSpc>
                        <a:spcBef>
                          <a:spcPts val="0"/>
                        </a:spcBef>
                        <a:spcAft>
                          <a:spcPts val="0"/>
                        </a:spcAft>
                        <a:buNone/>
                      </a:pPr>
                      <a:r>
                        <a:rPr lang="en" sz="1300"/>
                        <a:t>Thousands of species; broad taxonomic integration</a:t>
                      </a:r>
                      <a:endParaRPr sz="1300"/>
                    </a:p>
                  </a:txBody>
                  <a:tcPr marT="63500" marB="63500" marR="63500" marL="63500">
                    <a:solidFill>
                      <a:srgbClr val="CFE2F3"/>
                    </a:solidFill>
                  </a:tcPr>
                </a:tc>
              </a:tr>
              <a:tr h="563500">
                <a:tc>
                  <a:txBody>
                    <a:bodyPr/>
                    <a:lstStyle/>
                    <a:p>
                      <a:pPr indent="0" lvl="0" marL="0" rtl="0" algn="l">
                        <a:lnSpc>
                          <a:spcPct val="115000"/>
                        </a:lnSpc>
                        <a:spcBef>
                          <a:spcPts val="0"/>
                        </a:spcBef>
                        <a:spcAft>
                          <a:spcPts val="0"/>
                        </a:spcAft>
                        <a:buNone/>
                      </a:pPr>
                      <a:r>
                        <a:rPr b="1" lang="en" sz="1300"/>
                        <a:t>Analytical methods</a:t>
                      </a:r>
                      <a:endParaRPr sz="1300"/>
                    </a:p>
                  </a:txBody>
                  <a:tcPr marT="63500" marB="63500" marR="63500" marL="63500">
                    <a:solidFill>
                      <a:srgbClr val="F4CCCC"/>
                    </a:solidFill>
                  </a:tcPr>
                </a:tc>
                <a:tc>
                  <a:txBody>
                    <a:bodyPr/>
                    <a:lstStyle/>
                    <a:p>
                      <a:pPr indent="0" lvl="0" marL="0" rtl="0" algn="l">
                        <a:lnSpc>
                          <a:spcPct val="115000"/>
                        </a:lnSpc>
                        <a:spcBef>
                          <a:spcPts val="0"/>
                        </a:spcBef>
                        <a:spcAft>
                          <a:spcPts val="0"/>
                        </a:spcAft>
                        <a:buNone/>
                      </a:pPr>
                      <a:r>
                        <a:rPr lang="en" sz="1300"/>
                        <a:t>Basic statistics; no phylogenetics</a:t>
                      </a:r>
                      <a:endParaRPr sz="1300"/>
                    </a:p>
                  </a:txBody>
                  <a:tcPr marT="63500" marB="63500" marR="63500" marL="63500">
                    <a:solidFill>
                      <a:srgbClr val="F4CCCC"/>
                    </a:solidFill>
                  </a:tcPr>
                </a:tc>
                <a:tc>
                  <a:txBody>
                    <a:bodyPr/>
                    <a:lstStyle/>
                    <a:p>
                      <a:pPr indent="0" lvl="0" marL="0" rtl="0" algn="l">
                        <a:lnSpc>
                          <a:spcPct val="115000"/>
                        </a:lnSpc>
                        <a:spcBef>
                          <a:spcPts val="0"/>
                        </a:spcBef>
                        <a:spcAft>
                          <a:spcPts val="0"/>
                        </a:spcAft>
                        <a:buNone/>
                      </a:pPr>
                      <a:r>
                        <a:rPr lang="en" sz="1300"/>
                        <a:t>PCMs, multivariate models, Bayesian analyses</a:t>
                      </a:r>
                      <a:endParaRPr sz="1300"/>
                    </a:p>
                  </a:txBody>
                  <a:tcPr marT="63500" marB="63500" marR="63500" marL="63500">
                    <a:solidFill>
                      <a:srgbClr val="F4CCCC"/>
                    </a:solidFill>
                  </a:tcPr>
                </a:tc>
              </a:tr>
              <a:tr h="784000">
                <a:tc>
                  <a:txBody>
                    <a:bodyPr/>
                    <a:lstStyle/>
                    <a:p>
                      <a:pPr indent="0" lvl="0" marL="0" rtl="0" algn="l">
                        <a:lnSpc>
                          <a:spcPct val="115000"/>
                        </a:lnSpc>
                        <a:spcBef>
                          <a:spcPts val="0"/>
                        </a:spcBef>
                        <a:spcAft>
                          <a:spcPts val="0"/>
                        </a:spcAft>
                        <a:buNone/>
                      </a:pPr>
                      <a:r>
                        <a:rPr b="1" lang="en" sz="1300"/>
                        <a:t>View of life-history variation</a:t>
                      </a:r>
                      <a:endParaRPr sz="1300"/>
                    </a:p>
                  </a:txBody>
                  <a:tcPr marT="63500" marB="63500" marR="63500" marL="63500"/>
                </a:tc>
                <a:tc>
                  <a:txBody>
                    <a:bodyPr/>
                    <a:lstStyle/>
                    <a:p>
                      <a:pPr indent="0" lvl="0" marL="0" rtl="0" algn="l">
                        <a:lnSpc>
                          <a:spcPct val="115000"/>
                        </a:lnSpc>
                        <a:spcBef>
                          <a:spcPts val="0"/>
                        </a:spcBef>
                        <a:spcAft>
                          <a:spcPts val="0"/>
                        </a:spcAft>
                        <a:buNone/>
                      </a:pPr>
                      <a:r>
                        <a:rPr lang="en" sz="1300"/>
                        <a:t>Multiple traits, but conceptual uncertainty; trade-off emphasis</a:t>
                      </a:r>
                      <a:endParaRPr sz="1300"/>
                    </a:p>
                  </a:txBody>
                  <a:tcPr marT="63500" marB="63500" marR="63500" marL="63500">
                    <a:solidFill>
                      <a:srgbClr val="FFF2CC"/>
                    </a:solidFill>
                  </a:tcPr>
                </a:tc>
                <a:tc>
                  <a:txBody>
                    <a:bodyPr/>
                    <a:lstStyle/>
                    <a:p>
                      <a:pPr indent="0" lvl="0" marL="0" rtl="0" algn="l">
                        <a:lnSpc>
                          <a:spcPct val="115000"/>
                        </a:lnSpc>
                        <a:spcBef>
                          <a:spcPts val="0"/>
                        </a:spcBef>
                        <a:spcAft>
                          <a:spcPts val="0"/>
                        </a:spcAft>
                        <a:buNone/>
                      </a:pPr>
                      <a:r>
                        <a:rPr lang="en" sz="1300"/>
                        <a:t>Multidimensional; variation in reproductive strategy, developmental timing, lifespan and pace of life</a:t>
                      </a:r>
                      <a:endParaRPr sz="1300"/>
                    </a:p>
                  </a:txBody>
                  <a:tcPr marT="63500" marB="63500" marR="63500" marL="63500">
                    <a:solidFill>
                      <a:srgbClr val="CFE2F3"/>
                    </a:solidFill>
                  </a:tcPr>
                </a:tc>
              </a:tr>
              <a:tr h="563500">
                <a:tc>
                  <a:txBody>
                    <a:bodyPr/>
                    <a:lstStyle/>
                    <a:p>
                      <a:pPr indent="0" lvl="0" marL="0" rtl="0" algn="l">
                        <a:lnSpc>
                          <a:spcPct val="115000"/>
                        </a:lnSpc>
                        <a:spcBef>
                          <a:spcPts val="0"/>
                        </a:spcBef>
                        <a:spcAft>
                          <a:spcPts val="0"/>
                        </a:spcAft>
                        <a:buNone/>
                      </a:pPr>
                      <a:r>
                        <a:rPr b="1" lang="en" sz="1300"/>
                        <a:t>Explanatory power</a:t>
                      </a:r>
                      <a:endParaRPr sz="1300"/>
                    </a:p>
                  </a:txBody>
                  <a:tcPr marT="63500" marB="63500" marR="63500" marL="63500">
                    <a:solidFill>
                      <a:srgbClr val="F4CCCC"/>
                    </a:solidFill>
                  </a:tcPr>
                </a:tc>
                <a:tc>
                  <a:txBody>
                    <a:bodyPr/>
                    <a:lstStyle/>
                    <a:p>
                      <a:pPr indent="0" lvl="0" marL="0" rtl="0" algn="l">
                        <a:lnSpc>
                          <a:spcPct val="115000"/>
                        </a:lnSpc>
                        <a:spcBef>
                          <a:spcPts val="0"/>
                        </a:spcBef>
                        <a:spcAft>
                          <a:spcPts val="0"/>
                        </a:spcAft>
                        <a:buNone/>
                      </a:pPr>
                      <a:r>
                        <a:rPr lang="en" sz="1300"/>
                        <a:t>Limited by weak empirical support, </a:t>
                      </a:r>
                      <a:r>
                        <a:rPr lang="en" sz="1300"/>
                        <a:t>inconsistencies</a:t>
                      </a:r>
                      <a:r>
                        <a:rPr lang="en" sz="1300"/>
                        <a:t> between data and theory</a:t>
                      </a:r>
                      <a:endParaRPr sz="1300"/>
                    </a:p>
                  </a:txBody>
                  <a:tcPr marT="63500" marB="63500" marR="63500" marL="63500">
                    <a:solidFill>
                      <a:srgbClr val="F4CCCC"/>
                    </a:solidFill>
                  </a:tcPr>
                </a:tc>
                <a:tc>
                  <a:txBody>
                    <a:bodyPr/>
                    <a:lstStyle/>
                    <a:p>
                      <a:pPr indent="0" lvl="0" marL="0" rtl="0" algn="l">
                        <a:lnSpc>
                          <a:spcPct val="115000"/>
                        </a:lnSpc>
                        <a:spcBef>
                          <a:spcPts val="0"/>
                        </a:spcBef>
                        <a:spcAft>
                          <a:spcPts val="0"/>
                        </a:spcAft>
                        <a:buNone/>
                      </a:pPr>
                      <a:r>
                        <a:rPr lang="en" sz="1300"/>
                        <a:t>High explanatory power; complex models possible</a:t>
                      </a:r>
                      <a:endParaRPr sz="1300"/>
                    </a:p>
                  </a:txBody>
                  <a:tcPr marT="63500" marB="63500" marR="63500" marL="63500">
                    <a:solidFill>
                      <a:srgbClr val="F4CCCC"/>
                    </a:solidFill>
                  </a:tcPr>
                </a:tc>
              </a:tr>
              <a:tr h="846650">
                <a:tc>
                  <a:txBody>
                    <a:bodyPr/>
                    <a:lstStyle/>
                    <a:p>
                      <a:pPr indent="0" lvl="0" marL="0" rtl="0" algn="l">
                        <a:lnSpc>
                          <a:spcPct val="115000"/>
                        </a:lnSpc>
                        <a:spcBef>
                          <a:spcPts val="0"/>
                        </a:spcBef>
                        <a:spcAft>
                          <a:spcPts val="0"/>
                        </a:spcAft>
                        <a:buNone/>
                      </a:pPr>
                      <a:r>
                        <a:rPr b="1" lang="en" sz="1300"/>
                        <a:t>Major critique</a:t>
                      </a:r>
                      <a:endParaRPr sz="1300"/>
                    </a:p>
                  </a:txBody>
                  <a:tcPr marT="63500" marB="63500" marR="63500" marL="63500"/>
                </a:tc>
                <a:tc>
                  <a:txBody>
                    <a:bodyPr/>
                    <a:lstStyle/>
                    <a:p>
                      <a:pPr indent="0" lvl="0" marL="0" rtl="0" algn="l">
                        <a:lnSpc>
                          <a:spcPct val="115000"/>
                        </a:lnSpc>
                        <a:spcBef>
                          <a:spcPts val="0"/>
                        </a:spcBef>
                        <a:spcAft>
                          <a:spcPts val="0"/>
                        </a:spcAft>
                        <a:buNone/>
                      </a:pPr>
                      <a:r>
                        <a:rPr lang="en" sz="1300"/>
                        <a:t>Empirical tests too weak to confirm theory</a:t>
                      </a:r>
                      <a:endParaRPr sz="1300"/>
                    </a:p>
                  </a:txBody>
                  <a:tcPr marT="63500" marB="63500" marR="63500" marL="63500">
                    <a:solidFill>
                      <a:srgbClr val="FFF2CC"/>
                    </a:solidFill>
                  </a:tcPr>
                </a:tc>
                <a:tc>
                  <a:txBody>
                    <a:bodyPr/>
                    <a:lstStyle/>
                    <a:p>
                      <a:pPr indent="0" lvl="0" marL="0" rtl="0" algn="l">
                        <a:lnSpc>
                          <a:spcPct val="115000"/>
                        </a:lnSpc>
                        <a:spcBef>
                          <a:spcPts val="0"/>
                        </a:spcBef>
                        <a:spcAft>
                          <a:spcPts val="0"/>
                        </a:spcAft>
                        <a:buNone/>
                      </a:pPr>
                      <a:r>
                        <a:rPr lang="en" sz="1300"/>
                        <a:t>Comparative studies are descriptive, argues that we need to return to stronger theory integration with modern tools</a:t>
                      </a:r>
                      <a:endParaRPr sz="1300"/>
                    </a:p>
                  </a:txBody>
                  <a:tcPr marT="63500" marB="63500" marR="63500" marL="63500">
                    <a:solidFill>
                      <a:srgbClr val="CFE2F3"/>
                    </a:solidFill>
                  </a:tcPr>
                </a:tc>
              </a:tr>
            </a:tbl>
          </a:graphicData>
        </a:graphic>
      </p:graphicFrame>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500"/>
                                        <p:tgtEl>
                                          <p:spTgt spid="1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type="title"/>
          </p:nvPr>
        </p:nvSpPr>
        <p:spPr>
          <a:xfrm>
            <a:off x="2017950" y="259925"/>
            <a:ext cx="5108100" cy="755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3300" u="sng">
                <a:latin typeface="Merriweather"/>
                <a:ea typeface="Merriweather"/>
                <a:cs typeface="Merriweather"/>
                <a:sym typeface="Merriweather"/>
              </a:rPr>
              <a:t>Main Takeaways</a:t>
            </a:r>
            <a:endParaRPr b="1" sz="3300" u="sng">
              <a:latin typeface="Merriweather"/>
              <a:ea typeface="Merriweather"/>
              <a:cs typeface="Merriweather"/>
              <a:sym typeface="Merriweather"/>
            </a:endParaRPr>
          </a:p>
        </p:txBody>
      </p:sp>
      <p:sp>
        <p:nvSpPr>
          <p:cNvPr id="134" name="Google Shape;134;p24"/>
          <p:cNvSpPr txBox="1"/>
          <p:nvPr/>
        </p:nvSpPr>
        <p:spPr>
          <a:xfrm>
            <a:off x="620250" y="1635675"/>
            <a:ext cx="7504200" cy="2047200"/>
          </a:xfrm>
          <a:prstGeom prst="rect">
            <a:avLst/>
          </a:prstGeom>
          <a:noFill/>
          <a:ln>
            <a:noFill/>
          </a:ln>
        </p:spPr>
        <p:txBody>
          <a:bodyPr anchorCtr="0" anchor="t" bIns="91425" lIns="91425" spcFirstLastPara="1" rIns="91425" wrap="square" tIns="91425">
            <a:spAutoFit/>
          </a:bodyPr>
          <a:lstStyle/>
          <a:p>
            <a:pPr indent="-368300" lvl="0" marL="457200" rtl="0" algn="l">
              <a:lnSpc>
                <a:spcPct val="150000"/>
              </a:lnSpc>
              <a:spcBef>
                <a:spcPts val="1200"/>
              </a:spcBef>
              <a:spcAft>
                <a:spcPts val="0"/>
              </a:spcAft>
              <a:buSzPts val="2200"/>
              <a:buFont typeface="Times New Roman"/>
              <a:buChar char="●"/>
            </a:pPr>
            <a:r>
              <a:rPr lang="en" sz="2200">
                <a:solidFill>
                  <a:schemeClr val="dk1"/>
                </a:solidFill>
                <a:latin typeface="Times New Roman"/>
                <a:ea typeface="Times New Roman"/>
                <a:cs typeface="Times New Roman"/>
                <a:sym typeface="Times New Roman"/>
              </a:rPr>
              <a:t>Life histories follow many </a:t>
            </a:r>
            <a:r>
              <a:rPr lang="en" sz="2200">
                <a:solidFill>
                  <a:schemeClr val="dk1"/>
                </a:solidFill>
                <a:latin typeface="Times New Roman"/>
                <a:ea typeface="Times New Roman"/>
                <a:cs typeface="Times New Roman"/>
                <a:sym typeface="Times New Roman"/>
              </a:rPr>
              <a:t>dimensions.</a:t>
            </a:r>
            <a:endParaRPr sz="2200">
              <a:solidFill>
                <a:schemeClr val="dk1"/>
              </a:solidFill>
              <a:latin typeface="Times New Roman"/>
              <a:ea typeface="Times New Roman"/>
              <a:cs typeface="Times New Roman"/>
              <a:sym typeface="Times New Roman"/>
            </a:endParaRPr>
          </a:p>
          <a:p>
            <a:pPr indent="-368300" lvl="0" marL="457200" rtl="0" algn="l">
              <a:lnSpc>
                <a:spcPct val="150000"/>
              </a:lnSpc>
              <a:spcBef>
                <a:spcPts val="0"/>
              </a:spcBef>
              <a:spcAft>
                <a:spcPts val="0"/>
              </a:spcAft>
              <a:buSzPts val="2200"/>
              <a:buFont typeface="Times New Roman"/>
              <a:buChar char="●"/>
            </a:pPr>
            <a:r>
              <a:rPr lang="en" sz="2200">
                <a:solidFill>
                  <a:schemeClr val="dk1"/>
                </a:solidFill>
                <a:latin typeface="Times New Roman"/>
                <a:ea typeface="Times New Roman"/>
                <a:cs typeface="Times New Roman"/>
                <a:sym typeface="Times New Roman"/>
              </a:rPr>
              <a:t>Theory has become deeper and more integrative.</a:t>
            </a:r>
            <a:endParaRPr sz="2200">
              <a:solidFill>
                <a:schemeClr val="dk1"/>
              </a:solidFill>
              <a:latin typeface="Times New Roman"/>
              <a:ea typeface="Times New Roman"/>
              <a:cs typeface="Times New Roman"/>
              <a:sym typeface="Times New Roman"/>
            </a:endParaRPr>
          </a:p>
          <a:p>
            <a:pPr indent="-368300" lvl="0" marL="457200" rtl="0" algn="l">
              <a:lnSpc>
                <a:spcPct val="150000"/>
              </a:lnSpc>
              <a:spcBef>
                <a:spcPts val="0"/>
              </a:spcBef>
              <a:spcAft>
                <a:spcPts val="0"/>
              </a:spcAft>
              <a:buSzPts val="2200"/>
              <a:buFont typeface="Times New Roman"/>
              <a:buChar char="●"/>
            </a:pPr>
            <a:r>
              <a:rPr lang="en" sz="2200">
                <a:solidFill>
                  <a:schemeClr val="dk1"/>
                </a:solidFill>
                <a:latin typeface="Times New Roman"/>
                <a:ea typeface="Times New Roman"/>
                <a:cs typeface="Times New Roman"/>
                <a:sym typeface="Times New Roman"/>
              </a:rPr>
              <a:t>Modern work strengthens earlier ideas.</a:t>
            </a:r>
            <a:endParaRPr sz="2200">
              <a:solidFill>
                <a:schemeClr val="dk1"/>
              </a:solidFill>
              <a:latin typeface="Times New Roman"/>
              <a:ea typeface="Times New Roman"/>
              <a:cs typeface="Times New Roman"/>
              <a:sym typeface="Times New Roman"/>
            </a:endParaRPr>
          </a:p>
          <a:p>
            <a:pPr indent="-368300" lvl="0" marL="457200" rtl="0" algn="l">
              <a:lnSpc>
                <a:spcPct val="150000"/>
              </a:lnSpc>
              <a:spcBef>
                <a:spcPts val="0"/>
              </a:spcBef>
              <a:spcAft>
                <a:spcPts val="0"/>
              </a:spcAft>
              <a:buSzPts val="2200"/>
              <a:buFont typeface="Times New Roman"/>
              <a:buChar char="●"/>
            </a:pPr>
            <a:r>
              <a:rPr lang="en" sz="2200">
                <a:solidFill>
                  <a:schemeClr val="dk1"/>
                </a:solidFill>
                <a:latin typeface="Times New Roman"/>
                <a:ea typeface="Times New Roman"/>
                <a:cs typeface="Times New Roman"/>
                <a:sym typeface="Times New Roman"/>
              </a:rPr>
              <a:t>Strategies shaped by multiple influences.</a:t>
            </a:r>
            <a:endParaRPr sz="2200">
              <a:solidFill>
                <a:schemeClr val="dk1"/>
              </a:solidFill>
              <a:latin typeface="Times New Roman"/>
              <a:ea typeface="Times New Roman"/>
              <a:cs typeface="Times New Roman"/>
              <a:sym typeface="Times New Roman"/>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5"/>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40" name="Google Shape;140;p25"/>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Any Questions PowerPoint template background in Symbols PowerPoint ppt slide  design category | The best PowerPoint templates and backgrounds at  PresentationPro.com" id="141" name="Google Shape;141;p25"/>
          <p:cNvPicPr preferRelativeResize="0"/>
          <p:nvPr/>
        </p:nvPicPr>
        <p:blipFill>
          <a:blip r:embed="rId3">
            <a:alphaModFix/>
          </a:blip>
          <a:stretch>
            <a:fillRect/>
          </a:stretch>
        </p:blipFill>
        <p:spPr>
          <a:xfrm>
            <a:off x="15604" y="-5"/>
            <a:ext cx="9128396"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descr="1920x1080 Light Blue Solid Color Background" id="146" name="Google Shape;146;p26"/>
          <p:cNvPicPr preferRelativeResize="0"/>
          <p:nvPr/>
        </p:nvPicPr>
        <p:blipFill>
          <a:blip r:embed="rId3">
            <a:alphaModFix/>
          </a:blip>
          <a:stretch>
            <a:fillRect/>
          </a:stretch>
        </p:blipFill>
        <p:spPr>
          <a:xfrm>
            <a:off x="0" y="-81850"/>
            <a:ext cx="9331000" cy="5225350"/>
          </a:xfrm>
          <a:prstGeom prst="rect">
            <a:avLst/>
          </a:prstGeom>
          <a:noFill/>
          <a:ln>
            <a:noFill/>
          </a:ln>
        </p:spPr>
      </p:pic>
      <p:pic>
        <p:nvPicPr>
          <p:cNvPr descr="thx - Rainbow SpongeBob Meme Generator" id="147" name="Google Shape;147;p26"/>
          <p:cNvPicPr preferRelativeResize="0"/>
          <p:nvPr/>
        </p:nvPicPr>
        <p:blipFill rotWithShape="1">
          <a:blip r:embed="rId4">
            <a:alphaModFix/>
          </a:blip>
          <a:srcRect b="5258" l="0" r="0" t="0"/>
          <a:stretch/>
        </p:blipFill>
        <p:spPr>
          <a:xfrm>
            <a:off x="0" y="-81850"/>
            <a:ext cx="6211001" cy="5225350"/>
          </a:xfrm>
          <a:prstGeom prst="rect">
            <a:avLst/>
          </a:prstGeom>
          <a:noFill/>
          <a:ln>
            <a:noFill/>
          </a:ln>
        </p:spPr>
      </p:pic>
      <p:sp>
        <p:nvSpPr>
          <p:cNvPr id="148" name="Google Shape;148;p26"/>
          <p:cNvSpPr txBox="1"/>
          <p:nvPr>
            <p:ph type="title"/>
          </p:nvPr>
        </p:nvSpPr>
        <p:spPr>
          <a:xfrm>
            <a:off x="5690875" y="1649400"/>
            <a:ext cx="39837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6120">
                <a:solidFill>
                  <a:srgbClr val="38761D"/>
                </a:solidFill>
                <a:latin typeface="Merriweather Black"/>
                <a:ea typeface="Merriweather Black"/>
                <a:cs typeface="Merriweather Black"/>
                <a:sym typeface="Merriweather Black"/>
              </a:rPr>
              <a:t>Thank You :D !</a:t>
            </a:r>
            <a:endParaRPr sz="6120">
              <a:solidFill>
                <a:srgbClr val="38761D"/>
              </a:solidFill>
              <a:latin typeface="Merriweather Black"/>
              <a:ea typeface="Merriweather Black"/>
              <a:cs typeface="Merriweather Black"/>
              <a:sym typeface="Merriweather Black"/>
            </a:endParaRPr>
          </a:p>
        </p:txBody>
      </p:sp>
      <p:pic>
        <p:nvPicPr>
          <p:cNvPr id="149" name="Google Shape;149;p26"/>
          <p:cNvPicPr preferRelativeResize="0"/>
          <p:nvPr/>
        </p:nvPicPr>
        <p:blipFill>
          <a:blip r:embed="rId5">
            <a:alphaModFix/>
          </a:blip>
          <a:stretch>
            <a:fillRect/>
          </a:stretch>
        </p:blipFill>
        <p:spPr>
          <a:xfrm>
            <a:off x="6268600" y="-81850"/>
            <a:ext cx="1856150" cy="1949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1000" fill="hold"/>
                                        <p:tgtEl>
                                          <p:spTgt spid="147"/>
                                        </p:tgtEl>
                                        <p:attrNameLst>
                                          <p:attrName>r</p:attrName>
                                        </p:attrNameLst>
                                      </p:cBhvr>
                                    </p:animRot>
                                  </p:childTnLst>
                                </p:cTn>
                              </p:par>
                            </p:childTnLst>
                          </p:cTn>
                        </p:par>
                        <p:par>
                          <p:cTn fill="hold">
                            <p:stCondLst>
                              <p:cond delay="1000"/>
                            </p:stCondLst>
                            <p:childTnLst>
                              <p:par>
                                <p:cTn fill="hold" nodeType="afterEffect" presetClass="entr" presetID="2" presetSubtype="1">
                                  <p:stCondLst>
                                    <p:cond delay="0"/>
                                  </p:stCondLst>
                                  <p:childTnLst>
                                    <p:set>
                                      <p:cBhvr>
                                        <p:cTn dur="1" fill="hold">
                                          <p:stCondLst>
                                            <p:cond delay="0"/>
                                          </p:stCondLst>
                                        </p:cTn>
                                        <p:tgtEl>
                                          <p:spTgt spid="149"/>
                                        </p:tgtEl>
                                        <p:attrNameLst>
                                          <p:attrName>style.visibility</p:attrName>
                                        </p:attrNameLst>
                                      </p:cBhvr>
                                      <p:to>
                                        <p:strVal val="visible"/>
                                      </p:to>
                                    </p:set>
                                    <p:anim calcmode="lin" valueType="num">
                                      <p:cBhvr additive="base">
                                        <p:cTn dur="2400"/>
                                        <p:tgtEl>
                                          <p:spTgt spid="149"/>
                                        </p:tgtEl>
                                        <p:attrNameLst>
                                          <p:attrName>ppt_y</p:attrName>
                                        </p:attrNameLst>
                                      </p:cBhvr>
                                      <p:tavLst>
                                        <p:tav fmla="" tm="0">
                                          <p:val>
                                            <p:strVal val="#ppt_y-1"/>
                                          </p:val>
                                        </p:tav>
                                        <p:tav fmla="" tm="100000">
                                          <p:val>
                                            <p:strVal val="#ppt_y"/>
                                          </p:val>
                                        </p:tav>
                                      </p:tavLst>
                                    </p:anim>
                                  </p:childTnLst>
                                </p:cTn>
                              </p:par>
                            </p:childTnLst>
                          </p:cTn>
                        </p:par>
                        <p:par>
                          <p:cTn fill="hold">
                            <p:stCondLst>
                              <p:cond delay="3400"/>
                            </p:stCondLst>
                            <p:childTnLst>
                              <p:par>
                                <p:cTn fill="hold" nodeType="afterEffect" presetClass="exit" presetID="2" presetSubtype="4">
                                  <p:stCondLst>
                                    <p:cond delay="0"/>
                                  </p:stCondLst>
                                  <p:childTnLst>
                                    <p:anim calcmode="lin" valueType="num">
                                      <p:cBhvr additive="base">
                                        <p:cTn dur="2300"/>
                                        <p:tgtEl>
                                          <p:spTgt spid="149"/>
                                        </p:tgtEl>
                                        <p:attrNameLst>
                                          <p:attrName>ppt_y</p:attrName>
                                        </p:attrNameLst>
                                      </p:cBhvr>
                                      <p:tavLst>
                                        <p:tav fmla="" tm="0">
                                          <p:val>
                                            <p:strVal val="#ppt_y"/>
                                          </p:val>
                                        </p:tav>
                                        <p:tav fmla="" tm="100000">
                                          <p:val>
                                            <p:strVal val="#ppt_y+1"/>
                                          </p:val>
                                        </p:tav>
                                      </p:tavLst>
                                    </p:anim>
                                    <p:set>
                                      <p:cBhvr>
                                        <p:cTn dur="1" fill="hold">
                                          <p:stCondLst>
                                            <p:cond delay="2300"/>
                                          </p:stCondLst>
                                        </p:cTn>
                                        <p:tgtEl>
                                          <p:spTgt spid="14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ph type="title"/>
          </p:nvPr>
        </p:nvSpPr>
        <p:spPr>
          <a:xfrm>
            <a:off x="311700" y="555600"/>
            <a:ext cx="3309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700">
                <a:latin typeface="Merriweather ExtraBold"/>
                <a:ea typeface="Merriweather ExtraBold"/>
                <a:cs typeface="Merriweather ExtraBold"/>
                <a:sym typeface="Merriweather ExtraBold"/>
              </a:rPr>
              <a:t>Resources</a:t>
            </a:r>
            <a:endParaRPr sz="3700">
              <a:latin typeface="Merriweather ExtraBold"/>
              <a:ea typeface="Merriweather ExtraBold"/>
              <a:cs typeface="Merriweather ExtraBold"/>
              <a:sym typeface="Merriweather ExtraBold"/>
            </a:endParaRPr>
          </a:p>
        </p:txBody>
      </p:sp>
      <p:sp>
        <p:nvSpPr>
          <p:cNvPr id="155" name="Google Shape;155;p27"/>
          <p:cNvSpPr txBox="1"/>
          <p:nvPr>
            <p:ph idx="1" type="body"/>
          </p:nvPr>
        </p:nvSpPr>
        <p:spPr>
          <a:xfrm>
            <a:off x="311700" y="884250"/>
            <a:ext cx="8592300" cy="4140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355600" lvl="0" marL="457200" rtl="0" algn="l">
              <a:spcBef>
                <a:spcPts val="120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Scott Lain, (2024) </a:t>
            </a:r>
            <a:r>
              <a:rPr i="1" lang="en" sz="2000" u="sng">
                <a:solidFill>
                  <a:schemeClr val="dk1"/>
                </a:solidFill>
                <a:latin typeface="Times New Roman"/>
                <a:ea typeface="Times New Roman"/>
                <a:cs typeface="Times New Roman"/>
                <a:sym typeface="Times New Roman"/>
              </a:rPr>
              <a:t>Trends in Ecology &amp; Evolution</a:t>
            </a:r>
            <a:r>
              <a:rPr lang="en" sz="2000">
                <a:solidFill>
                  <a:schemeClr val="dk1"/>
                </a:solidFill>
                <a:latin typeface="Times New Roman"/>
                <a:ea typeface="Times New Roman"/>
                <a:cs typeface="Times New Roman"/>
                <a:sym typeface="Times New Roman"/>
              </a:rPr>
              <a:t>, Nature </a:t>
            </a:r>
            <a:r>
              <a:rPr lang="en" sz="2000">
                <a:solidFill>
                  <a:schemeClr val="dk1"/>
                </a:solidFill>
                <a:latin typeface="Times New Roman"/>
                <a:ea typeface="Times New Roman"/>
                <a:cs typeface="Times New Roman"/>
                <a:sym typeface="Times New Roman"/>
              </a:rPr>
              <a:t>reviews</a:t>
            </a:r>
            <a:r>
              <a:rPr lang="en" sz="2000">
                <a:solidFill>
                  <a:schemeClr val="dk1"/>
                </a:solidFill>
                <a:latin typeface="Times New Roman"/>
                <a:ea typeface="Times New Roman"/>
                <a:cs typeface="Times New Roman"/>
                <a:sym typeface="Times New Roman"/>
              </a:rPr>
              <a:t> </a:t>
            </a:r>
            <a:r>
              <a:rPr lang="en" sz="2000">
                <a:solidFill>
                  <a:schemeClr val="dk1"/>
                </a:solidFill>
                <a:latin typeface="Times New Roman"/>
                <a:ea typeface="Times New Roman"/>
                <a:cs typeface="Times New Roman"/>
                <a:sym typeface="Times New Roman"/>
              </a:rPr>
              <a:t>genetics vol</a:t>
            </a:r>
            <a:r>
              <a:rPr lang="en" sz="2000">
                <a:solidFill>
                  <a:schemeClr val="dk1"/>
                </a:solidFill>
                <a:latin typeface="Times New Roman"/>
                <a:ea typeface="Times New Roman"/>
                <a:cs typeface="Times New Roman"/>
                <a:sym typeface="Times New Roman"/>
              </a:rPr>
              <a:t>. 39, No. 9 </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Stephen C Stearns, (1977), </a:t>
            </a:r>
            <a:r>
              <a:rPr i="1" lang="en" sz="2000" u="sng">
                <a:solidFill>
                  <a:schemeClr val="dk1"/>
                </a:solidFill>
                <a:latin typeface="Times New Roman"/>
                <a:ea typeface="Times New Roman"/>
                <a:cs typeface="Times New Roman"/>
                <a:sym typeface="Times New Roman"/>
              </a:rPr>
              <a:t>The Evolution of Life History Traits: A Critique of the Theory and a Review of the Data,</a:t>
            </a:r>
            <a:r>
              <a:rPr lang="en" sz="2000">
                <a:solidFill>
                  <a:schemeClr val="dk1"/>
                </a:solidFill>
                <a:latin typeface="Times New Roman"/>
                <a:ea typeface="Times New Roman"/>
                <a:cs typeface="Times New Roman"/>
                <a:sym typeface="Times New Roman"/>
              </a:rPr>
              <a:t> </a:t>
            </a:r>
            <a:r>
              <a:rPr lang="en" sz="2000">
                <a:solidFill>
                  <a:schemeClr val="dk1"/>
                </a:solidFill>
                <a:latin typeface="Times New Roman"/>
                <a:ea typeface="Times New Roman"/>
                <a:cs typeface="Times New Roman"/>
                <a:sym typeface="Times New Roman"/>
              </a:rPr>
              <a:t>Annual</a:t>
            </a:r>
            <a:r>
              <a:rPr lang="en" sz="2000">
                <a:solidFill>
                  <a:schemeClr val="dk1"/>
                </a:solidFill>
                <a:latin typeface="Times New Roman"/>
                <a:ea typeface="Times New Roman"/>
                <a:cs typeface="Times New Roman"/>
                <a:sym typeface="Times New Roman"/>
              </a:rPr>
              <a:t> review of Ecology &amp; Systematics</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Char char="●"/>
            </a:pPr>
            <a:r>
              <a:rPr lang="en" sz="2000" u="sng">
                <a:solidFill>
                  <a:schemeClr val="accent5"/>
                </a:solidFill>
                <a:latin typeface="Times New Roman"/>
                <a:ea typeface="Times New Roman"/>
                <a:cs typeface="Times New Roman"/>
                <a:sym typeface="Times New Roman"/>
                <a:hlinkClick r:id="rId3">
                  <a:extLst>
                    <a:ext uri="{A12FA001-AC4F-418D-AE19-62706E023703}">
                      <ahyp:hlinkClr val="tx"/>
                    </a:ext>
                  </a:extLst>
                </a:hlinkClick>
              </a:rPr>
              <a:t>https://www.youtube.com/watch?v=eMYuapm-BgY</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Char char="●"/>
            </a:pPr>
            <a:r>
              <a:rPr lang="en" sz="2000" u="sng">
                <a:solidFill>
                  <a:schemeClr val="hlink"/>
                </a:solidFill>
                <a:latin typeface="Times New Roman"/>
                <a:ea typeface="Times New Roman"/>
                <a:cs typeface="Times New Roman"/>
                <a:sym typeface="Times New Roman"/>
                <a:hlinkClick r:id="rId4"/>
              </a:rPr>
              <a:t>https://en.wikipedia.org/wiki/Life_history_theory</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Char char="●"/>
            </a:pPr>
            <a:r>
              <a:rPr lang="en" sz="2000" u="sng">
                <a:solidFill>
                  <a:schemeClr val="hlink"/>
                </a:solidFill>
                <a:latin typeface="Times New Roman"/>
                <a:ea typeface="Times New Roman"/>
                <a:cs typeface="Times New Roman"/>
                <a:sym typeface="Times New Roman"/>
                <a:hlinkClick r:id="rId5"/>
              </a:rPr>
              <a:t>https://en.wikipedia.org/wiki/Eco-evolutionary_dynamics</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Char char="●"/>
            </a:pPr>
            <a:r>
              <a:rPr lang="en" sz="2000" u="sng">
                <a:solidFill>
                  <a:schemeClr val="hlink"/>
                </a:solidFill>
                <a:latin typeface="Times New Roman"/>
                <a:ea typeface="Times New Roman"/>
                <a:cs typeface="Times New Roman"/>
                <a:sym typeface="Times New Roman"/>
                <a:hlinkClick r:id="rId6"/>
              </a:rPr>
              <a:t>https://www.youtube.com/watch?v=XsnRil3mg4Q</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Char char="●"/>
            </a:pPr>
            <a:r>
              <a:rPr lang="en" sz="2000" u="sng">
                <a:solidFill>
                  <a:schemeClr val="hlink"/>
                </a:solidFill>
                <a:latin typeface="Times New Roman"/>
                <a:ea typeface="Times New Roman"/>
                <a:cs typeface="Times New Roman"/>
                <a:sym typeface="Times New Roman"/>
                <a:hlinkClick r:id="rId7"/>
              </a:rPr>
              <a:t>https://www.sciencedirect.com/science/article/pii/S0960982223008576</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