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4"/>
  </p:notesMasterIdLst>
  <p:sldIdLst>
    <p:sldId id="334" r:id="rId2"/>
    <p:sldId id="337" r:id="rId3"/>
    <p:sldId id="425" r:id="rId4"/>
    <p:sldId id="409" r:id="rId5"/>
    <p:sldId id="421" r:id="rId6"/>
    <p:sldId id="423" r:id="rId7"/>
    <p:sldId id="258" r:id="rId8"/>
    <p:sldId id="275" r:id="rId9"/>
    <p:sldId id="338" r:id="rId10"/>
    <p:sldId id="410" r:id="rId11"/>
    <p:sldId id="340" r:id="rId12"/>
    <p:sldId id="424" r:id="rId13"/>
    <p:sldId id="335" r:id="rId14"/>
    <p:sldId id="342" r:id="rId15"/>
    <p:sldId id="341" r:id="rId16"/>
    <p:sldId id="384" r:id="rId17"/>
    <p:sldId id="397" r:id="rId18"/>
    <p:sldId id="261" r:id="rId19"/>
    <p:sldId id="398" r:id="rId20"/>
    <p:sldId id="271" r:id="rId21"/>
    <p:sldId id="273" r:id="rId22"/>
    <p:sldId id="266" r:id="rId23"/>
    <p:sldId id="270" r:id="rId24"/>
    <p:sldId id="268" r:id="rId25"/>
    <p:sldId id="426" r:id="rId26"/>
    <p:sldId id="411" r:id="rId27"/>
    <p:sldId id="265" r:id="rId28"/>
    <p:sldId id="427" r:id="rId29"/>
    <p:sldId id="296" r:id="rId30"/>
    <p:sldId id="430" r:id="rId31"/>
    <p:sldId id="386" r:id="rId32"/>
    <p:sldId id="394" r:id="rId33"/>
    <p:sldId id="388" r:id="rId34"/>
    <p:sldId id="389" r:id="rId35"/>
    <p:sldId id="416" r:id="rId36"/>
    <p:sldId id="390" r:id="rId37"/>
    <p:sldId id="391" r:id="rId38"/>
    <p:sldId id="417" r:id="rId39"/>
    <p:sldId id="419" r:id="rId40"/>
    <p:sldId id="343" r:id="rId41"/>
    <p:sldId id="344" r:id="rId42"/>
    <p:sldId id="428" r:id="rId43"/>
    <p:sldId id="400" r:id="rId44"/>
    <p:sldId id="401" r:id="rId45"/>
    <p:sldId id="402" r:id="rId46"/>
    <p:sldId id="403" r:id="rId47"/>
    <p:sldId id="404" r:id="rId48"/>
    <p:sldId id="405" r:id="rId49"/>
    <p:sldId id="406" r:id="rId50"/>
    <p:sldId id="420" r:id="rId51"/>
    <p:sldId id="429" r:id="rId52"/>
    <p:sldId id="329"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iL9Xj15XU9he5mrulg/WcRW6b+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A3D"/>
    <a:srgbClr val="16B0A6"/>
    <a:srgbClr val="16C1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96" autoAdjust="0"/>
    <p:restoredTop sz="81847" autoAdjust="0"/>
  </p:normalViewPr>
  <p:slideViewPr>
    <p:cSldViewPr snapToGrid="0" snapToObjects="1">
      <p:cViewPr varScale="1">
        <p:scale>
          <a:sx n="67" d="100"/>
          <a:sy n="67" d="100"/>
        </p:scale>
        <p:origin x="200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6"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74"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7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1</a:t>
            </a:fld>
            <a:endParaRPr lang="en-GB"/>
          </a:p>
        </p:txBody>
      </p:sp>
    </p:spTree>
    <p:extLst>
      <p:ext uri="{BB962C8B-B14F-4D97-AF65-F5344CB8AC3E}">
        <p14:creationId xmlns:p14="http://schemas.microsoft.com/office/powerpoint/2010/main" val="1043722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61970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3</a:t>
            </a:fld>
            <a:endParaRPr lang="en-GB"/>
          </a:p>
        </p:txBody>
      </p:sp>
    </p:spTree>
    <p:extLst>
      <p:ext uri="{BB962C8B-B14F-4D97-AF65-F5344CB8AC3E}">
        <p14:creationId xmlns:p14="http://schemas.microsoft.com/office/powerpoint/2010/main" val="3336540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1CB290C-64DE-6795-10E8-EA6F88D01B0C}"/>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14219396-BA6C-4DDF-D6B7-A082F43AF4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dirty="0">
                <a:solidFill>
                  <a:srgbClr val="007A3D"/>
                </a:solidFill>
                <a:latin typeface="Calibri"/>
                <a:ea typeface="Calibri"/>
                <a:cs typeface="Calibri"/>
                <a:sym typeface="Calibri"/>
              </a:rPr>
              <a:t>What is the “island rule“?</a:t>
            </a:r>
            <a:endParaRPr lang="cs-CZ"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cs-CZ"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cs-CZ" dirty="0" err="1"/>
              <a:t>Example</a:t>
            </a:r>
            <a:r>
              <a:rPr lang="cs-CZ" dirty="0"/>
              <a:t> </a:t>
            </a:r>
            <a:r>
              <a:rPr lang="cs-CZ" dirty="0" err="1"/>
              <a:t>of</a:t>
            </a:r>
            <a:r>
              <a:rPr lang="cs-CZ" dirty="0"/>
              <a:t> </a:t>
            </a:r>
            <a:r>
              <a:rPr lang="cs-CZ" dirty="0" err="1"/>
              <a:t>island</a:t>
            </a:r>
            <a:r>
              <a:rPr lang="cs-CZ" dirty="0"/>
              <a:t> </a:t>
            </a:r>
            <a:r>
              <a:rPr lang="cs-CZ" dirty="0" err="1"/>
              <a:t>dwarfism</a:t>
            </a:r>
            <a:r>
              <a:rPr lang="cs-CZ" dirty="0"/>
              <a:t> - „Mini“ </a:t>
            </a:r>
            <a:r>
              <a:rPr lang="cs-CZ" dirty="0" err="1"/>
              <a:t>mammoth</a:t>
            </a:r>
            <a:r>
              <a:rPr lang="cs-CZ" dirty="0"/>
              <a:t> </a:t>
            </a:r>
            <a:r>
              <a:rPr lang="en-GB" sz="1100" b="0" i="1" u="none" strike="noStrike" kern="1200" cap="none" dirty="0">
                <a:solidFill>
                  <a:schemeClr val="tx1"/>
                </a:solidFill>
                <a:effectLst/>
                <a:latin typeface="Arial"/>
                <a:ea typeface="Arial"/>
                <a:cs typeface="Arial"/>
                <a:sym typeface="Arial"/>
              </a:rPr>
              <a:t>Mammuthus </a:t>
            </a:r>
            <a:r>
              <a:rPr lang="en-GB" sz="1100" b="0" i="1" u="none" strike="noStrike" kern="1200" cap="none" dirty="0" err="1">
                <a:solidFill>
                  <a:schemeClr val="tx1"/>
                </a:solidFill>
                <a:effectLst/>
                <a:latin typeface="Arial"/>
                <a:ea typeface="Arial"/>
                <a:cs typeface="Arial"/>
                <a:sym typeface="Arial"/>
              </a:rPr>
              <a:t>creticus</a:t>
            </a:r>
            <a:r>
              <a:rPr lang="cs-CZ" sz="1100" b="0" i="1" u="none" strike="noStrike" kern="1200" cap="none" dirty="0">
                <a:solidFill>
                  <a:schemeClr val="tx1"/>
                </a:solidFill>
                <a:effectLst/>
                <a:latin typeface="Arial"/>
                <a:ea typeface="Arial"/>
                <a:cs typeface="Arial"/>
                <a:sym typeface="Arial"/>
              </a:rPr>
              <a:t> </a:t>
            </a:r>
            <a:r>
              <a:rPr lang="cs-CZ" dirty="0" err="1"/>
              <a:t>from</a:t>
            </a:r>
            <a:r>
              <a:rPr lang="cs-CZ" dirty="0"/>
              <a:t> </a:t>
            </a:r>
            <a:r>
              <a:rPr lang="cs-CZ" dirty="0" err="1"/>
              <a:t>Crete</a:t>
            </a:r>
            <a:r>
              <a:rPr lang="cs-CZ" dirty="0"/>
              <a:t>, </a:t>
            </a:r>
            <a:r>
              <a:rPr lang="cs-CZ" dirty="0" err="1"/>
              <a:t>other</a:t>
            </a:r>
            <a:r>
              <a:rPr lang="cs-CZ" dirty="0"/>
              <a:t> </a:t>
            </a:r>
            <a:r>
              <a:rPr lang="cs-CZ" dirty="0" err="1"/>
              <a:t>examples</a:t>
            </a:r>
            <a:r>
              <a:rPr lang="cs-CZ" dirty="0"/>
              <a:t> are </a:t>
            </a:r>
            <a:r>
              <a:rPr lang="cs-CZ" dirty="0" err="1"/>
              <a:t>mammoths</a:t>
            </a:r>
            <a:r>
              <a:rPr lang="cs-CZ" dirty="0"/>
              <a:t> </a:t>
            </a:r>
            <a:r>
              <a:rPr lang="cs-CZ" dirty="0" err="1"/>
              <a:t>from</a:t>
            </a:r>
            <a:r>
              <a:rPr lang="cs-CZ" dirty="0"/>
              <a:t> </a:t>
            </a:r>
            <a:r>
              <a:rPr lang="cs-CZ" dirty="0" err="1"/>
              <a:t>Channel</a:t>
            </a:r>
            <a:r>
              <a:rPr lang="cs-CZ" dirty="0"/>
              <a:t> </a:t>
            </a:r>
            <a:r>
              <a:rPr lang="cs-CZ" dirty="0" err="1"/>
              <a:t>islands</a:t>
            </a:r>
            <a:r>
              <a:rPr lang="cs-CZ" dirty="0"/>
              <a:t> (US) </a:t>
            </a:r>
            <a:r>
              <a:rPr lang="cs-CZ" dirty="0" err="1"/>
              <a:t>or</a:t>
            </a:r>
            <a:r>
              <a:rPr lang="cs-CZ" dirty="0"/>
              <a:t> </a:t>
            </a:r>
            <a:r>
              <a:rPr lang="cs-CZ" dirty="0" err="1"/>
              <a:t>Wrangel</a:t>
            </a:r>
            <a:r>
              <a:rPr lang="cs-CZ" dirty="0"/>
              <a:t> Island (</a:t>
            </a:r>
            <a:r>
              <a:rPr lang="cs-CZ" dirty="0" err="1"/>
              <a:t>Russia</a:t>
            </a:r>
            <a:r>
              <a:rPr lang="cs-CZ" dirty="0"/>
              <a:t>)</a:t>
            </a:r>
            <a:endParaRPr lang="en-US" dirty="0"/>
          </a:p>
        </p:txBody>
      </p:sp>
      <p:sp>
        <p:nvSpPr>
          <p:cNvPr id="82" name="Google Shape;82;p1:notes">
            <a:extLst>
              <a:ext uri="{FF2B5EF4-FFF2-40B4-BE49-F238E27FC236}">
                <a16:creationId xmlns:a16="http://schemas.microsoft.com/office/drawing/2014/main" id="{A9A0CBCB-E3BA-EDD5-14B5-02220986580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5911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Examples</a:t>
            </a:r>
            <a:r>
              <a:rPr lang="cs-CZ" dirty="0"/>
              <a:t> </a:t>
            </a:r>
            <a:r>
              <a:rPr lang="cs-CZ" dirty="0" err="1"/>
              <a:t>of</a:t>
            </a:r>
            <a:r>
              <a:rPr lang="cs-CZ" dirty="0"/>
              <a:t> </a:t>
            </a:r>
            <a:r>
              <a:rPr lang="cs-CZ" dirty="0" err="1"/>
              <a:t>island</a:t>
            </a:r>
            <a:r>
              <a:rPr lang="cs-CZ" dirty="0"/>
              <a:t> </a:t>
            </a:r>
            <a:r>
              <a:rPr lang="cs-CZ" dirty="0" err="1"/>
              <a:t>gigantism</a:t>
            </a:r>
            <a:r>
              <a:rPr lang="cs-CZ" dirty="0"/>
              <a:t> – </a:t>
            </a:r>
            <a:r>
              <a:rPr lang="cs-CZ" dirty="0" err="1"/>
              <a:t>elephants</a:t>
            </a:r>
            <a:r>
              <a:rPr lang="cs-CZ" dirty="0"/>
              <a:t> </a:t>
            </a:r>
            <a:r>
              <a:rPr lang="cs-CZ" dirty="0" err="1"/>
              <a:t>bird</a:t>
            </a:r>
            <a:r>
              <a:rPr lang="cs-CZ" dirty="0"/>
              <a:t> and moa are </a:t>
            </a:r>
            <a:r>
              <a:rPr lang="cs-CZ" dirty="0" err="1"/>
              <a:t>island</a:t>
            </a:r>
            <a:r>
              <a:rPr lang="cs-CZ" dirty="0"/>
              <a:t> species</a:t>
            </a:r>
          </a:p>
        </p:txBody>
      </p:sp>
    </p:spTree>
    <p:extLst>
      <p:ext uri="{BB962C8B-B14F-4D97-AF65-F5344CB8AC3E}">
        <p14:creationId xmlns:p14="http://schemas.microsoft.com/office/powerpoint/2010/main" val="3606624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cs-CZ" sz="1100" dirty="0"/>
              <a:t>A</a:t>
            </a:r>
            <a:r>
              <a:rPr lang="en-GB" sz="1100" dirty="0"/>
              <a:t> biogeographical hypothesis that states that small-bodied animals tend to evolve larger body sizes on islands (gigantism), while large-bodied animals tend to evolve smaller body sizes (dwarfism)</a:t>
            </a:r>
            <a:r>
              <a:rPr lang="en-GB" sz="1050" b="0" i="0" u="none" strike="noStrike" cap="none" dirty="0">
                <a:solidFill>
                  <a:srgbClr val="000000"/>
                </a:solidFill>
                <a:effectLst/>
                <a:latin typeface="Arial"/>
                <a:ea typeface="Arial"/>
                <a:cs typeface="Arial"/>
                <a:sym typeface="Arial"/>
              </a:rPr>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050" dirty="0"/>
              <a:t>In </a:t>
            </a:r>
            <a:r>
              <a:rPr lang="cs-CZ" sz="1050" dirty="0" err="1"/>
              <a:t>other</a:t>
            </a:r>
            <a:r>
              <a:rPr lang="cs-CZ" sz="1050" dirty="0"/>
              <a:t> </a:t>
            </a:r>
            <a:r>
              <a:rPr lang="cs-CZ" sz="1050" dirty="0" err="1"/>
              <a:t>words</a:t>
            </a:r>
            <a:r>
              <a:rPr lang="cs-CZ" sz="1050" dirty="0"/>
              <a:t>. body </a:t>
            </a:r>
            <a:r>
              <a:rPr lang="cs-CZ" sz="1050" dirty="0" err="1"/>
              <a:t>size</a:t>
            </a:r>
            <a:r>
              <a:rPr lang="cs-CZ" sz="1050" dirty="0"/>
              <a:t> </a:t>
            </a:r>
            <a:r>
              <a:rPr lang="cs-CZ" sz="1050" dirty="0" err="1"/>
              <a:t>of</a:t>
            </a:r>
            <a:r>
              <a:rPr lang="cs-CZ" sz="1050" dirty="0"/>
              <a:t> </a:t>
            </a:r>
            <a:r>
              <a:rPr lang="cs-CZ" sz="1050" dirty="0" err="1"/>
              <a:t>large</a:t>
            </a:r>
            <a:r>
              <a:rPr lang="cs-CZ" sz="1050" dirty="0"/>
              <a:t> animal species </a:t>
            </a:r>
            <a:r>
              <a:rPr lang="cs-CZ" sz="1050" dirty="0" err="1"/>
              <a:t>tend</a:t>
            </a:r>
            <a:r>
              <a:rPr lang="cs-CZ" sz="1050" dirty="0"/>
              <a:t> to </a:t>
            </a:r>
            <a:r>
              <a:rPr lang="cs-CZ" sz="1050" dirty="0" err="1"/>
              <a:t>decrease</a:t>
            </a:r>
            <a:r>
              <a:rPr lang="cs-CZ" sz="1050" dirty="0"/>
              <a:t> on </a:t>
            </a:r>
            <a:r>
              <a:rPr lang="cs-CZ" sz="1050" dirty="0" err="1"/>
              <a:t>islands</a:t>
            </a:r>
            <a:r>
              <a:rPr lang="cs-CZ" sz="1050" dirty="0"/>
              <a:t> (</a:t>
            </a:r>
            <a:r>
              <a:rPr lang="cs-CZ" sz="1050" dirty="0" err="1"/>
              <a:t>dwarfism</a:t>
            </a:r>
            <a:r>
              <a:rPr lang="cs-CZ" sz="1050" dirty="0"/>
              <a:t>), </a:t>
            </a:r>
            <a:r>
              <a:rPr lang="cs-CZ" sz="1050" dirty="0" err="1"/>
              <a:t>whereas</a:t>
            </a:r>
            <a:r>
              <a:rPr lang="cs-CZ" sz="1050" dirty="0"/>
              <a:t> body </a:t>
            </a:r>
            <a:r>
              <a:rPr lang="cs-CZ" sz="1050" dirty="0" err="1"/>
              <a:t>size</a:t>
            </a:r>
            <a:r>
              <a:rPr lang="cs-CZ" sz="1050" dirty="0"/>
              <a:t> </a:t>
            </a:r>
            <a:r>
              <a:rPr lang="cs-CZ" sz="1050" dirty="0" err="1"/>
              <a:t>of</a:t>
            </a:r>
            <a:r>
              <a:rPr lang="cs-CZ" sz="1050" dirty="0"/>
              <a:t> </a:t>
            </a:r>
            <a:r>
              <a:rPr lang="cs-CZ" sz="1050" dirty="0" err="1"/>
              <a:t>small</a:t>
            </a:r>
            <a:r>
              <a:rPr lang="cs-CZ" sz="1050" dirty="0"/>
              <a:t> animal species </a:t>
            </a:r>
            <a:r>
              <a:rPr lang="cs-CZ" sz="1050" dirty="0" err="1"/>
              <a:t>tend</a:t>
            </a:r>
            <a:r>
              <a:rPr lang="cs-CZ" sz="1050" dirty="0"/>
              <a:t> to </a:t>
            </a:r>
            <a:r>
              <a:rPr lang="cs-CZ" sz="1050" dirty="0" err="1"/>
              <a:t>increase</a:t>
            </a:r>
            <a:r>
              <a:rPr lang="cs-CZ" sz="1050" dirty="0"/>
              <a:t> on </a:t>
            </a:r>
            <a:r>
              <a:rPr lang="cs-CZ" sz="1050" dirty="0" err="1"/>
              <a:t>islands</a:t>
            </a:r>
            <a:r>
              <a:rPr lang="cs-CZ" sz="1050" dirty="0"/>
              <a:t> (</a:t>
            </a:r>
            <a:r>
              <a:rPr lang="cs-CZ" sz="1050" dirty="0" err="1"/>
              <a:t>gigantism</a:t>
            </a:r>
            <a:r>
              <a:rPr lang="cs-CZ" sz="1050" dirty="0"/>
              <a:t>)</a:t>
            </a:r>
          </a:p>
          <a:p>
            <a:pPr marL="158750" indent="0">
              <a:buNone/>
            </a:pPr>
            <a:endParaRPr lang="en-GB" sz="105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348742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sz="1200" dirty="0" err="1"/>
              <a:t>Formulated</a:t>
            </a:r>
            <a:r>
              <a:rPr lang="cs-CZ" sz="1200" dirty="0"/>
              <a:t> by </a:t>
            </a:r>
            <a:r>
              <a:rPr lang="nl-NL" sz="1200" dirty="0" err="1"/>
              <a:t>Leigh</a:t>
            </a:r>
            <a:r>
              <a:rPr lang="nl-NL" sz="1200" dirty="0"/>
              <a:t> Van </a:t>
            </a:r>
            <a:r>
              <a:rPr lang="nl-NL" sz="1200" dirty="0" err="1"/>
              <a:t>Valen</a:t>
            </a:r>
            <a:r>
              <a:rPr lang="nl-NL" sz="1200" dirty="0"/>
              <a:t> </a:t>
            </a:r>
            <a:r>
              <a:rPr lang="cs-CZ" sz="1200" dirty="0"/>
              <a:t>(</a:t>
            </a:r>
            <a:r>
              <a:rPr lang="cs-CZ" sz="1200" dirty="0" err="1"/>
              <a:t>evolutionary</a:t>
            </a:r>
            <a:r>
              <a:rPr lang="cs-CZ" sz="1200" dirty="0"/>
              <a:t> </a:t>
            </a:r>
            <a:r>
              <a:rPr lang="cs-CZ" sz="1200" dirty="0" err="1"/>
              <a:t>biologist</a:t>
            </a:r>
            <a:r>
              <a:rPr lang="cs-CZ" sz="1200" dirty="0"/>
              <a:t>; </a:t>
            </a:r>
            <a:r>
              <a:rPr lang="cs-CZ" sz="1200" dirty="0" err="1"/>
              <a:t>right</a:t>
            </a:r>
            <a:r>
              <a:rPr lang="cs-CZ" sz="1200" dirty="0"/>
              <a:t> </a:t>
            </a:r>
            <a:r>
              <a:rPr lang="cs-CZ" sz="1200" dirty="0" err="1"/>
              <a:t>down</a:t>
            </a:r>
            <a:r>
              <a:rPr lang="cs-CZ" sz="1200" dirty="0"/>
              <a:t> </a:t>
            </a:r>
            <a:r>
              <a:rPr lang="cs-CZ" sz="1200" dirty="0" err="1"/>
              <a:t>picture</a:t>
            </a:r>
            <a:r>
              <a:rPr lang="cs-CZ" sz="1200" dirty="0"/>
              <a:t>) </a:t>
            </a:r>
            <a:r>
              <a:rPr lang="nl-NL" sz="1200" dirty="0"/>
              <a:t>in 1973</a:t>
            </a:r>
            <a:r>
              <a:rPr lang="cs-CZ" sz="1200" dirty="0"/>
              <a:t> </a:t>
            </a:r>
            <a:r>
              <a:rPr lang="cs-CZ" sz="1200" dirty="0" err="1"/>
              <a:t>based</a:t>
            </a:r>
            <a:r>
              <a:rPr lang="cs-CZ" sz="1200" dirty="0"/>
              <a:t> on study </a:t>
            </a:r>
            <a:r>
              <a:rPr lang="cs-CZ" sz="1200" dirty="0" err="1"/>
              <a:t>of</a:t>
            </a:r>
            <a:r>
              <a:rPr lang="cs-CZ" sz="1200" dirty="0"/>
              <a:t> Bristol </a:t>
            </a:r>
            <a:r>
              <a:rPr lang="cs-CZ" sz="1200" dirty="0" err="1"/>
              <a:t>Foster</a:t>
            </a:r>
            <a:r>
              <a:rPr lang="cs-CZ" sz="1200" dirty="0"/>
              <a:t> (</a:t>
            </a:r>
            <a:r>
              <a:rPr lang="cs-CZ" sz="1200" dirty="0" err="1"/>
              <a:t>mammalogist</a:t>
            </a:r>
            <a:r>
              <a:rPr lang="cs-CZ" sz="1200" dirty="0"/>
              <a:t>; </a:t>
            </a:r>
            <a:r>
              <a:rPr lang="cs-CZ" sz="1200" dirty="0" err="1"/>
              <a:t>upper</a:t>
            </a:r>
            <a:r>
              <a:rPr lang="cs-CZ" sz="1200" dirty="0"/>
              <a:t> </a:t>
            </a:r>
            <a:r>
              <a:rPr lang="cs-CZ" sz="1200" dirty="0" err="1"/>
              <a:t>left</a:t>
            </a:r>
            <a:r>
              <a:rPr lang="cs-CZ" sz="1200" dirty="0"/>
              <a:t> </a:t>
            </a:r>
            <a:r>
              <a:rPr lang="cs-CZ" sz="1200" dirty="0" err="1"/>
              <a:t>picture</a:t>
            </a:r>
            <a:r>
              <a:rPr lang="cs-CZ" sz="1200" dirty="0"/>
              <a:t>)</a:t>
            </a:r>
          </a:p>
          <a:p>
            <a:endParaRPr lang="en-GB"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7</a:t>
            </a:fld>
            <a:endParaRPr lang="en-GB"/>
          </a:p>
        </p:txBody>
      </p:sp>
    </p:spTree>
    <p:extLst>
      <p:ext uri="{BB962C8B-B14F-4D97-AF65-F5344CB8AC3E}">
        <p14:creationId xmlns:p14="http://schemas.microsoft.com/office/powerpoint/2010/main" val="3818956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cs-CZ" dirty="0" err="1"/>
              <a:t>Foster</a:t>
            </a:r>
            <a:r>
              <a:rPr lang="cs-CZ" dirty="0"/>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dirty="0" err="1"/>
              <a:t>noticed</a:t>
            </a:r>
            <a:r>
              <a:rPr lang="cs-CZ" dirty="0"/>
              <a:t> </a:t>
            </a:r>
            <a:r>
              <a:rPr lang="cs-CZ" dirty="0" err="1"/>
              <a:t>that</a:t>
            </a:r>
            <a:r>
              <a:rPr lang="cs-CZ" dirty="0"/>
              <a:t> </a:t>
            </a:r>
            <a:r>
              <a:rPr lang="cs-CZ" dirty="0" err="1"/>
              <a:t>animals</a:t>
            </a:r>
            <a:r>
              <a:rPr lang="cs-CZ" dirty="0"/>
              <a:t> </a:t>
            </a:r>
            <a:r>
              <a:rPr lang="cs-CZ" dirty="0" err="1"/>
              <a:t>often</a:t>
            </a:r>
            <a:r>
              <a:rPr lang="cs-CZ" dirty="0"/>
              <a:t> </a:t>
            </a:r>
            <a:r>
              <a:rPr lang="cs-CZ" dirty="0" err="1"/>
              <a:t>change</a:t>
            </a:r>
            <a:r>
              <a:rPr lang="cs-CZ" dirty="0"/>
              <a:t> </a:t>
            </a:r>
            <a:r>
              <a:rPr lang="cs-CZ" dirty="0" err="1"/>
              <a:t>their</a:t>
            </a:r>
            <a:r>
              <a:rPr lang="cs-CZ" dirty="0"/>
              <a:t> body </a:t>
            </a:r>
            <a:r>
              <a:rPr lang="cs-CZ" dirty="0" err="1"/>
              <a:t>size</a:t>
            </a:r>
            <a:r>
              <a:rPr lang="cs-CZ" dirty="0"/>
              <a:t> </a:t>
            </a:r>
            <a:r>
              <a:rPr lang="cs-CZ" dirty="0" err="1"/>
              <a:t>compare</a:t>
            </a:r>
            <a:r>
              <a:rPr lang="cs-CZ" dirty="0"/>
              <a:t> to </a:t>
            </a:r>
            <a:r>
              <a:rPr lang="cs-CZ" dirty="0" err="1"/>
              <a:t>their</a:t>
            </a:r>
            <a:r>
              <a:rPr lang="cs-CZ" dirty="0"/>
              <a:t> </a:t>
            </a:r>
            <a:r>
              <a:rPr lang="cs-CZ" dirty="0" err="1"/>
              <a:t>presumed</a:t>
            </a:r>
            <a:r>
              <a:rPr lang="cs-CZ" dirty="0"/>
              <a:t> </a:t>
            </a:r>
            <a:r>
              <a:rPr lang="cs-CZ" dirty="0" err="1"/>
              <a:t>mainland</a:t>
            </a:r>
            <a:r>
              <a:rPr lang="cs-CZ" dirty="0"/>
              <a:t> </a:t>
            </a:r>
            <a:r>
              <a:rPr lang="cs-CZ" dirty="0" err="1"/>
              <a:t>ancestors</a:t>
            </a:r>
            <a:endParaRPr lang="en-GB" sz="1100" dirty="0"/>
          </a:p>
          <a:p>
            <a:r>
              <a:rPr lang="en-GB" sz="1100" dirty="0"/>
              <a:t>compared 116 island </a:t>
            </a:r>
            <a:r>
              <a:rPr lang="cs-CZ" sz="1100" dirty="0" err="1"/>
              <a:t>mammal</a:t>
            </a:r>
            <a:r>
              <a:rPr lang="cs-CZ" sz="1100" dirty="0"/>
              <a:t> </a:t>
            </a:r>
            <a:r>
              <a:rPr lang="en-GB" sz="1100" dirty="0"/>
              <a:t>species with mainland </a:t>
            </a:r>
            <a:r>
              <a:rPr lang="cs-CZ" sz="1100" dirty="0" err="1"/>
              <a:t>relatives</a:t>
            </a:r>
            <a:r>
              <a:rPr lang="en-GB" sz="1100" dirty="0"/>
              <a:t> and found consistent gigantism and dwarfism</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dirty="0"/>
              <a:t>„</a:t>
            </a:r>
            <a:r>
              <a:rPr lang="en-GB" dirty="0"/>
              <a:t>I made a survey of 116 insular races or species of 6 orders mostly living on the islands of Western North America and Europe. The results are shown in the Table, which indicates whether the insular form is smaller, the same size, or larger than the presumed adjacent mainland ancestor</a:t>
            </a:r>
            <a:r>
              <a:rPr lang="cs-CZ" dirty="0"/>
              <a:t>“</a:t>
            </a:r>
            <a:endParaRPr lang="cs-CZ" sz="1100" dirty="0"/>
          </a:p>
          <a:p>
            <a:r>
              <a:rPr lang="en-GB" sz="1100" dirty="0"/>
              <a:t>attributed this to relaxed predation enlarging small species and limited island resources shrinking large ones</a:t>
            </a:r>
          </a:p>
          <a:p>
            <a:endParaRPr lang="cs-CZ"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8</a:t>
            </a:fld>
            <a:endParaRPr lang="en-GB"/>
          </a:p>
        </p:txBody>
      </p:sp>
    </p:spTree>
    <p:extLst>
      <p:ext uri="{BB962C8B-B14F-4D97-AF65-F5344CB8AC3E}">
        <p14:creationId xmlns:p14="http://schemas.microsoft.com/office/powerpoint/2010/main" val="2777003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Island faunas </a:t>
            </a:r>
            <a:r>
              <a:rPr lang="cs-CZ" dirty="0"/>
              <a:t>are</a:t>
            </a:r>
            <a:r>
              <a:rPr lang="en-GB" dirty="0"/>
              <a:t> characterized by gigantism in small animals and dwarfism in large animals</a:t>
            </a:r>
          </a:p>
          <a:p>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p:txBody>
      </p:sp>
    </p:spTree>
    <p:extLst>
      <p:ext uri="{BB962C8B-B14F-4D97-AF65-F5344CB8AC3E}">
        <p14:creationId xmlns:p14="http://schemas.microsoft.com/office/powerpoint/2010/main" val="4234699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cs-CZ" dirty="0" err="1"/>
              <a:t>Dwarfism</a:t>
            </a:r>
            <a:r>
              <a:rPr lang="cs-CZ" dirty="0"/>
              <a:t> on </a:t>
            </a:r>
            <a:r>
              <a:rPr lang="cs-CZ" dirty="0" err="1"/>
              <a:t>Phillippines</a:t>
            </a:r>
            <a:endParaRPr lang="en-GB" dirty="0"/>
          </a:p>
        </p:txBody>
      </p:sp>
    </p:spTree>
    <p:extLst>
      <p:ext uri="{BB962C8B-B14F-4D97-AF65-F5344CB8AC3E}">
        <p14:creationId xmlns:p14="http://schemas.microsoft.com/office/powerpoint/2010/main" val="3469077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100" b="0" noProof="0" dirty="0">
                <a:solidFill>
                  <a:srgbClr val="007A3D"/>
                </a:solidFill>
                <a:latin typeface="Arial" panose="020B0604020202020204" pitchFamily="34" charset="0"/>
              </a:rPr>
              <a:t>Island rule has </a:t>
            </a:r>
            <a:r>
              <a:rPr lang="cs-CZ" sz="1100" b="0" noProof="0" dirty="0" err="1">
                <a:solidFill>
                  <a:srgbClr val="007A3D"/>
                </a:solidFill>
                <a:latin typeface="Arial" panose="020B0604020202020204" pitchFamily="34" charset="0"/>
              </a:rPr>
              <a:t>been</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claimed</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even</a:t>
            </a:r>
            <a:r>
              <a:rPr lang="cs-CZ" sz="1100" b="0" noProof="0" dirty="0">
                <a:solidFill>
                  <a:srgbClr val="007A3D"/>
                </a:solidFill>
                <a:latin typeface="Arial" panose="020B0604020202020204" pitchFamily="34" charset="0"/>
              </a:rPr>
              <a:t> in a </a:t>
            </a:r>
            <a:r>
              <a:rPr lang="cs-CZ" sz="1100" b="0" noProof="0" dirty="0" err="1">
                <a:solidFill>
                  <a:srgbClr val="007A3D"/>
                </a:solidFill>
                <a:latin typeface="Arial" panose="020B0604020202020204" pitchFamily="34" charset="0"/>
              </a:rPr>
              <a:t>book</a:t>
            </a:r>
            <a:r>
              <a:rPr lang="cs-CZ" sz="1100" b="0" noProof="0" dirty="0">
                <a:solidFill>
                  <a:srgbClr val="007A3D"/>
                </a:solidFill>
                <a:latin typeface="Arial" panose="020B0604020202020204" pitchFamily="34" charset="0"/>
              </a:rPr>
              <a:t>) to </a:t>
            </a:r>
            <a:r>
              <a:rPr lang="cs-CZ" sz="1100" b="0" noProof="0" dirty="0" err="1">
                <a:solidFill>
                  <a:srgbClr val="007A3D"/>
                </a:solidFill>
                <a:latin typeface="Arial" panose="020B0604020202020204" pitchFamily="34" charset="0"/>
              </a:rPr>
              <a:t>apply</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also</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for</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plants</a:t>
            </a:r>
            <a:r>
              <a:rPr lang="cs-CZ" sz="1100" b="0" noProof="0" dirty="0">
                <a:solidFill>
                  <a:srgbClr val="007A3D"/>
                </a:solidFill>
                <a:latin typeface="Arial" panose="020B0604020202020204" pitchFamily="34" charset="0"/>
              </a:rPr>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Note that the y-axis here shows the ratio of island to mainland plant size, which makes the pattern look reversed compared to the previous slides (where raw island size was on the y-axis, not the ratio). The relationship is essentially the same: a high ratio means plants are larger on islands than on the mainland.</a:t>
            </a:r>
            <a:endParaRPr lang="en-DE"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100" b="0" noProof="0" dirty="0">
                <a:solidFill>
                  <a:srgbClr val="007A3D"/>
                </a:solidFill>
                <a:latin typeface="Arial" panose="020B0604020202020204" pitchFamily="34" charset="0"/>
              </a:rPr>
              <a:t>But </a:t>
            </a:r>
            <a:r>
              <a:rPr lang="cs-CZ" sz="1100" b="0" noProof="0" dirty="0" err="1">
                <a:solidFill>
                  <a:srgbClr val="007A3D"/>
                </a:solidFill>
                <a:latin typeface="Arial" panose="020B0604020202020204" pitchFamily="34" charset="0"/>
              </a:rPr>
              <a:t>that</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is</a:t>
            </a:r>
            <a:r>
              <a:rPr lang="cs-CZ" sz="1100" b="0" noProof="0" dirty="0">
                <a:solidFill>
                  <a:srgbClr val="007A3D"/>
                </a:solidFill>
                <a:latin typeface="Arial" panose="020B0604020202020204" pitchFamily="34" charset="0"/>
              </a:rPr>
              <a:t> a </a:t>
            </a:r>
            <a:r>
              <a:rPr lang="cs-CZ" sz="1100" b="0" noProof="0" dirty="0" err="1">
                <a:solidFill>
                  <a:srgbClr val="007A3D"/>
                </a:solidFill>
                <a:latin typeface="Arial" panose="020B0604020202020204" pitchFamily="34" charset="0"/>
              </a:rPr>
              <a:t>statistical</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artifact</a:t>
            </a:r>
            <a:r>
              <a:rPr lang="cs-CZ" sz="1100" b="0" noProof="0" dirty="0">
                <a:solidFill>
                  <a:srgbClr val="007A3D"/>
                </a:solidFill>
                <a:latin typeface="Arial" panose="020B0604020202020204" pitchFamily="34" charset="0"/>
              </a:rPr>
              <a:t> – </a:t>
            </a:r>
            <a:r>
              <a:rPr lang="cs-CZ" sz="1100" b="0" noProof="0" dirty="0" err="1">
                <a:solidFill>
                  <a:srgbClr val="007A3D"/>
                </a:solidFill>
                <a:latin typeface="Arial" panose="020B0604020202020204" pitchFamily="34" charset="0"/>
              </a:rPr>
              <a:t>see</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our</a:t>
            </a:r>
            <a:r>
              <a:rPr lang="cs-CZ" sz="1100" b="0" noProof="0" dirty="0">
                <a:solidFill>
                  <a:srgbClr val="007A3D"/>
                </a:solidFill>
                <a:latin typeface="Arial" panose="020B0604020202020204" pitchFamily="34" charset="0"/>
              </a:rPr>
              <a:t> </a:t>
            </a:r>
            <a:r>
              <a:rPr lang="cs-CZ" sz="1100" b="0" noProof="0" dirty="0" err="1">
                <a:solidFill>
                  <a:srgbClr val="007A3D"/>
                </a:solidFill>
                <a:latin typeface="Arial" panose="020B0604020202020204" pitchFamily="34" charset="0"/>
              </a:rPr>
              <a:t>simulated</a:t>
            </a:r>
            <a:r>
              <a:rPr lang="cs-CZ" sz="1100" b="0" noProof="0" dirty="0">
                <a:solidFill>
                  <a:srgbClr val="007A3D"/>
                </a:solidFill>
                <a:latin typeface="Arial" panose="020B0604020202020204" pitchFamily="34" charset="0"/>
              </a:rPr>
              <a:t> data.</a:t>
            </a:r>
          </a:p>
        </p:txBody>
      </p:sp>
    </p:spTree>
    <p:extLst>
      <p:ext uri="{BB962C8B-B14F-4D97-AF65-F5344CB8AC3E}">
        <p14:creationId xmlns:p14="http://schemas.microsoft.com/office/powerpoint/2010/main" val="2062827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cs-CZ" dirty="0" err="1"/>
              <a:t>Explanations</a:t>
            </a:r>
            <a:r>
              <a:rPr lang="cs-CZ" dirty="0"/>
              <a:t>: </a:t>
            </a:r>
          </a:p>
          <a:p>
            <a:pPr lvl="0"/>
            <a:r>
              <a:rPr lang="en-GB" b="1" dirty="0"/>
              <a:t>Reduced predation (predator release):</a:t>
            </a:r>
            <a:r>
              <a:rPr lang="en-GB" dirty="0"/>
              <a:t> fewer/absent predators relax selection for vigilance, </a:t>
            </a:r>
            <a:r>
              <a:rPr lang="en-GB" dirty="0" err="1"/>
              <a:t>favo</a:t>
            </a:r>
            <a:r>
              <a:rPr lang="cs-CZ" dirty="0"/>
              <a:t>u</a:t>
            </a:r>
            <a:r>
              <a:rPr lang="en-GB" dirty="0"/>
              <a:t>ring larger size and slower life histories in small taxa.</a:t>
            </a:r>
          </a:p>
          <a:p>
            <a:pPr lvl="0"/>
            <a:r>
              <a:rPr lang="en-GB" b="1" dirty="0"/>
              <a:t>Relaxed interspecific competition:</a:t>
            </a:r>
            <a:r>
              <a:rPr lang="en-GB" dirty="0"/>
              <a:t> </a:t>
            </a:r>
            <a:r>
              <a:rPr lang="cs-CZ" dirty="0" err="1"/>
              <a:t>simplified</a:t>
            </a:r>
            <a:r>
              <a:rPr lang="en-GB" dirty="0"/>
              <a:t> communities broaden niches; body size shifts to fill missing guilds.</a:t>
            </a:r>
          </a:p>
          <a:p>
            <a:pPr lvl="0"/>
            <a:r>
              <a:rPr lang="en-GB" b="1" dirty="0"/>
              <a:t>Resource (energy) limitation:</a:t>
            </a:r>
            <a:r>
              <a:rPr lang="en-GB" dirty="0"/>
              <a:t> chronic, low/stable productivity selects for smaller bodies in large, high-energy taxa (dwarfism) and caps extremes.</a:t>
            </a:r>
          </a:p>
          <a:p>
            <a:endParaRPr lang="cs-CZ" sz="1100"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dirty="0"/>
              <a:t>Burns, K. C. (2019). Cambridge University Press</a:t>
            </a:r>
          </a:p>
          <a:p>
            <a:endParaRPr lang="en-GB" dirty="0"/>
          </a:p>
          <a:p>
            <a:endParaRPr lang="en-DE" dirty="0"/>
          </a:p>
        </p:txBody>
      </p:sp>
    </p:spTree>
    <p:extLst>
      <p:ext uri="{BB962C8B-B14F-4D97-AF65-F5344CB8AC3E}">
        <p14:creationId xmlns:p14="http://schemas.microsoft.com/office/powerpoint/2010/main" val="113396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13</a:t>
            </a:fld>
            <a:endParaRPr lang="en-GB"/>
          </a:p>
        </p:txBody>
      </p:sp>
    </p:spTree>
    <p:extLst>
      <p:ext uri="{BB962C8B-B14F-4D97-AF65-F5344CB8AC3E}">
        <p14:creationId xmlns:p14="http://schemas.microsoft.com/office/powerpoint/2010/main" val="468713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en-GB" sz="1100" b="0" i="0" u="none" strike="noStrike" cap="none" dirty="0">
                <a:solidFill>
                  <a:srgbClr val="000000"/>
                </a:solidFill>
                <a:effectLst/>
                <a:latin typeface="Arial"/>
                <a:ea typeface="Arial"/>
                <a:cs typeface="Arial"/>
                <a:sym typeface="Arial"/>
              </a:rPr>
              <a:t>Proportions of studies supporting (in green), questioning (in red) or being undecided about (in yellow) the island rule. </a:t>
            </a:r>
          </a:p>
          <a:p>
            <a:pPr marL="158750" indent="0">
              <a:buNone/>
            </a:pPr>
            <a:endParaRPr lang="en-GB" sz="1100" b="0" i="0" u="none" strike="noStrike" cap="none" dirty="0">
              <a:solidFill>
                <a:srgbClr val="000000"/>
              </a:solidFill>
              <a:effectLst/>
              <a:latin typeface="Arial"/>
              <a:ea typeface="Arial"/>
              <a:cs typeface="Arial"/>
              <a:sym typeface="Arial"/>
            </a:endParaRPr>
          </a:p>
          <a:p>
            <a:pPr marL="158750" indent="0">
              <a:buNone/>
            </a:pPr>
            <a:r>
              <a:rPr lang="en-GB" sz="1100" b="1" i="0" u="none" strike="noStrike" cap="none" dirty="0">
                <a:solidFill>
                  <a:srgbClr val="000000"/>
                </a:solidFill>
                <a:effectLst/>
                <a:latin typeface="Arial"/>
                <a:ea typeface="Arial"/>
                <a:cs typeface="Arial"/>
                <a:sym typeface="Arial"/>
              </a:rPr>
              <a:t>Original authors: </a:t>
            </a:r>
            <a:r>
              <a:rPr lang="en-GB" sz="1100" b="0" i="0" u="none" strike="noStrike" cap="none" dirty="0">
                <a:solidFill>
                  <a:srgbClr val="000000"/>
                </a:solidFill>
                <a:effectLst/>
                <a:latin typeface="Arial"/>
                <a:ea typeface="Arial"/>
                <a:cs typeface="Arial"/>
                <a:sym typeface="Arial"/>
              </a:rPr>
              <a:t>interpretations of the results of their study </a:t>
            </a:r>
          </a:p>
          <a:p>
            <a:pPr marL="158750" indent="0">
              <a:buNone/>
            </a:pPr>
            <a:r>
              <a:rPr lang="en-GB" sz="1100" b="1" i="0" u="none" strike="noStrike" cap="none" dirty="0" err="1">
                <a:solidFill>
                  <a:srgbClr val="000000"/>
                </a:solidFill>
                <a:effectLst/>
                <a:latin typeface="Arial"/>
                <a:ea typeface="Arial"/>
                <a:cs typeface="Arial"/>
                <a:sym typeface="Arial"/>
              </a:rPr>
              <a:t>Lokatis</a:t>
            </a:r>
            <a:r>
              <a:rPr lang="en-GB" sz="1100" b="1" i="0" u="none" strike="noStrike" cap="none" dirty="0">
                <a:solidFill>
                  <a:srgbClr val="000000"/>
                </a:solidFill>
                <a:effectLst/>
                <a:latin typeface="Arial"/>
                <a:ea typeface="Arial"/>
                <a:cs typeface="Arial"/>
                <a:sym typeface="Arial"/>
              </a:rPr>
              <a:t> &amp; J</a:t>
            </a:r>
            <a:r>
              <a:rPr lang="cs-CZ" sz="1100" b="1" i="0" u="none" strike="noStrike" cap="none" dirty="0">
                <a:solidFill>
                  <a:srgbClr val="000000"/>
                </a:solidFill>
                <a:effectLst/>
                <a:latin typeface="Arial"/>
                <a:ea typeface="Arial"/>
                <a:cs typeface="Arial"/>
                <a:sym typeface="Arial"/>
              </a:rPr>
              <a:t>e</a:t>
            </a:r>
            <a:r>
              <a:rPr lang="en-GB" sz="1100" b="1" i="0" u="none" strike="noStrike" cap="none" dirty="0" err="1">
                <a:solidFill>
                  <a:srgbClr val="000000"/>
                </a:solidFill>
                <a:effectLst/>
                <a:latin typeface="Arial"/>
                <a:ea typeface="Arial"/>
                <a:cs typeface="Arial"/>
                <a:sym typeface="Arial"/>
              </a:rPr>
              <a:t>sch</a:t>
            </a:r>
            <a:r>
              <a:rPr lang="cs-CZ" sz="1100" b="1" i="0" u="none" strike="noStrike" cap="none" dirty="0">
                <a:solidFill>
                  <a:srgbClr val="000000"/>
                </a:solidFill>
                <a:effectLst/>
                <a:latin typeface="Arial"/>
                <a:ea typeface="Arial"/>
                <a:cs typeface="Arial"/>
                <a:sym typeface="Arial"/>
              </a:rPr>
              <a:t>k</a:t>
            </a:r>
            <a:r>
              <a:rPr lang="en-GB" sz="1100" b="1" i="0" u="none" strike="noStrike" cap="none" dirty="0">
                <a:solidFill>
                  <a:srgbClr val="000000"/>
                </a:solidFill>
                <a:effectLst/>
                <a:latin typeface="Arial"/>
                <a:ea typeface="Arial"/>
                <a:cs typeface="Arial"/>
                <a:sym typeface="Arial"/>
              </a:rPr>
              <a:t>e</a:t>
            </a:r>
            <a:r>
              <a:rPr lang="en-GB" sz="1100" b="0" i="0" u="none" strike="noStrike" cap="none" dirty="0">
                <a:solidFill>
                  <a:srgbClr val="000000"/>
                </a:solidFill>
                <a:effectLst/>
                <a:latin typeface="Arial"/>
                <a:ea typeface="Arial"/>
                <a:cs typeface="Arial"/>
                <a:sym typeface="Arial"/>
              </a:rPr>
              <a:t>: re-evaluated results from original authors according to the criteria defined in the main text and additional studies included where authors did not necessarily draw conclusions about the island rule themselves but that reported data to test the island rule; thus, the sample size is larger here.</a:t>
            </a:r>
          </a:p>
          <a:p>
            <a:pPr marL="158750" indent="0">
              <a:buNone/>
            </a:pPr>
            <a:endParaRPr lang="en-GB" sz="1100" b="0" i="0" u="none" strike="noStrike" cap="none" dirty="0">
              <a:solidFill>
                <a:srgbClr val="000000"/>
              </a:solidFill>
              <a:effectLst/>
              <a:latin typeface="Arial"/>
              <a:ea typeface="Arial"/>
              <a:cs typeface="Arial"/>
              <a:sym typeface="Arial"/>
            </a:endParaRPr>
          </a:p>
          <a:p>
            <a:pPr marL="158750" indent="0">
              <a:buNone/>
            </a:pPr>
            <a:r>
              <a:rPr lang="en-GB" sz="1100" b="0" i="0" u="none" strike="noStrike" cap="none" dirty="0">
                <a:solidFill>
                  <a:srgbClr val="000000"/>
                </a:solidFill>
                <a:effectLst/>
                <a:latin typeface="Arial"/>
                <a:ea typeface="Arial"/>
                <a:cs typeface="Arial"/>
                <a:sym typeface="Arial"/>
              </a:rPr>
              <a:t>Note that the re-evaluated evidence is equivocal.</a:t>
            </a:r>
          </a:p>
        </p:txBody>
      </p:sp>
    </p:spTree>
    <p:extLst>
      <p:ext uri="{BB962C8B-B14F-4D97-AF65-F5344CB8AC3E}">
        <p14:creationId xmlns:p14="http://schemas.microsoft.com/office/powerpoint/2010/main" val="3975236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en-GB" sz="1100" b="0" i="0" u="none" strike="noStrike" cap="none" dirty="0">
                <a:solidFill>
                  <a:srgbClr val="000000"/>
                </a:solidFill>
                <a:effectLst/>
                <a:latin typeface="Arial"/>
                <a:ea typeface="Arial"/>
                <a:cs typeface="Arial"/>
                <a:sym typeface="Arial"/>
              </a:rPr>
              <a:t>Authorship network of researchers that have published articles on the island rule. Colours indicate that an author's studies are, according to the original author interpretation, largely supporting (in green), questioning (in red), or undecided (in yellow) about the island rule, taking the median across studies; grey (not assignable) was mainly due to authors not interpreting their results in light of the island rule. Each author was assigned to an anonymous ID number shown in the figure. Black lines connect authors that have co-authored a scientific publication. Grey lines indicate that one or both connected researchers have mentioned the other in the acknowledgement section of one of their articles. Black circles indicate the author groups that encompass at least four articles; </a:t>
            </a:r>
            <a:r>
              <a:rPr lang="en-GB" sz="1100" b="0" i="1" u="none" strike="noStrike" cap="none" dirty="0">
                <a:solidFill>
                  <a:srgbClr val="000000"/>
                </a:solidFill>
                <a:effectLst/>
                <a:latin typeface="Arial"/>
                <a:ea typeface="Arial"/>
                <a:cs typeface="Arial"/>
                <a:sym typeface="Arial"/>
              </a:rPr>
              <a:t>n</a:t>
            </a:r>
            <a:r>
              <a:rPr lang="en-GB" sz="1100" b="0" i="0" u="none" strike="noStrike" cap="none" dirty="0">
                <a:solidFill>
                  <a:srgbClr val="000000"/>
                </a:solidFill>
                <a:effectLst/>
                <a:latin typeface="Arial"/>
                <a:ea typeface="Arial"/>
                <a:cs typeface="Arial"/>
                <a:sym typeface="Arial"/>
              </a:rPr>
              <a:t> is the exact number of publications by each author group. Group A and B were selected for in-depth analysis (group A: 24 authors, 15 articles; group B: 10 authors, 9 articles) </a:t>
            </a:r>
            <a:endParaRPr lang="en-GB" dirty="0"/>
          </a:p>
        </p:txBody>
      </p:sp>
    </p:spTree>
    <p:extLst>
      <p:ext uri="{BB962C8B-B14F-4D97-AF65-F5344CB8AC3E}">
        <p14:creationId xmlns:p14="http://schemas.microsoft.com/office/powerpoint/2010/main" val="3259972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100" dirty="0"/>
              <a:t>Converting diverse size indices to mass via allometry → error propagation possible</a:t>
            </a:r>
            <a:endParaRPr lang="cs-CZ" sz="1100"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sz="1100" dirty="0" err="1"/>
              <a:t>Meiri</a:t>
            </a:r>
            <a:r>
              <a:rPr lang="cs-CZ" sz="1100" dirty="0"/>
              <a:t> – </a:t>
            </a:r>
            <a:r>
              <a:rPr lang="cs-CZ" sz="1100" dirty="0" err="1"/>
              <a:t>preferred</a:t>
            </a:r>
            <a:r>
              <a:rPr lang="cs-CZ" sz="1100" dirty="0"/>
              <a:t> </a:t>
            </a:r>
            <a:r>
              <a:rPr lang="cs-CZ" sz="1100" dirty="0" err="1"/>
              <a:t>indexes</a:t>
            </a:r>
            <a:r>
              <a:rPr lang="cs-CZ" sz="1100" dirty="0"/>
              <a:t> </a:t>
            </a:r>
            <a:r>
              <a:rPr lang="cs-CZ" sz="1100" dirty="0" err="1"/>
              <a:t>for</a:t>
            </a:r>
            <a:r>
              <a:rPr lang="cs-CZ" sz="1100" dirty="0"/>
              <a:t> body </a:t>
            </a:r>
            <a:r>
              <a:rPr lang="cs-CZ" sz="1100" dirty="0" err="1"/>
              <a:t>mass</a:t>
            </a:r>
            <a:r>
              <a:rPr lang="cs-CZ" sz="1100" dirty="0"/>
              <a:t>, but </a:t>
            </a:r>
            <a:r>
              <a:rPr lang="cs-CZ" sz="1100" dirty="0" err="1"/>
              <a:t>calculated</a:t>
            </a:r>
            <a:r>
              <a:rPr lang="cs-CZ" sz="1100" dirty="0"/>
              <a:t> </a:t>
            </a:r>
            <a:r>
              <a:rPr lang="cs-CZ" sz="1100" dirty="0" err="1"/>
              <a:t>ratios</a:t>
            </a:r>
            <a:r>
              <a:rPr lang="cs-CZ" sz="1100" dirty="0"/>
              <a:t> </a:t>
            </a:r>
            <a:r>
              <a:rPr lang="cs-CZ" sz="1100" dirty="0" err="1"/>
              <a:t>also</a:t>
            </a:r>
            <a:r>
              <a:rPr lang="cs-CZ" sz="1100" dirty="0"/>
              <a:t> </a:t>
            </a:r>
            <a:r>
              <a:rPr lang="cs-CZ" sz="1100" dirty="0" err="1"/>
              <a:t>for</a:t>
            </a:r>
            <a:r>
              <a:rPr lang="cs-CZ" sz="1100" dirty="0"/>
              <a:t> </a:t>
            </a:r>
            <a:r>
              <a:rPr lang="cs-CZ" sz="1100" dirty="0" err="1"/>
              <a:t>other</a:t>
            </a:r>
            <a:r>
              <a:rPr lang="cs-CZ" sz="1100" dirty="0"/>
              <a:t> </a:t>
            </a:r>
            <a:r>
              <a:rPr lang="cs-CZ" sz="1100" dirty="0" err="1"/>
              <a:t>size</a:t>
            </a:r>
            <a:r>
              <a:rPr lang="cs-CZ" sz="1100" dirty="0"/>
              <a:t> </a:t>
            </a:r>
            <a:r>
              <a:rPr lang="cs-CZ" sz="1100" dirty="0" err="1"/>
              <a:t>indices</a:t>
            </a:r>
            <a:r>
              <a:rPr lang="cs-CZ" sz="1100" dirty="0"/>
              <a:t> – </a:t>
            </a:r>
            <a:r>
              <a:rPr lang="cs-CZ" sz="1100" dirty="0" err="1"/>
              <a:t>this</a:t>
            </a:r>
            <a:r>
              <a:rPr lang="cs-CZ" sz="1100" dirty="0"/>
              <a:t> </a:t>
            </a:r>
            <a:r>
              <a:rPr lang="cs-CZ" sz="1100" dirty="0" err="1"/>
              <a:t>may</a:t>
            </a:r>
            <a:r>
              <a:rPr lang="cs-CZ" sz="1100" dirty="0"/>
              <a:t> </a:t>
            </a:r>
            <a:r>
              <a:rPr lang="cs-CZ" sz="1100" dirty="0" err="1"/>
              <a:t>introduce</a:t>
            </a:r>
            <a:r>
              <a:rPr lang="cs-CZ" sz="1100" dirty="0"/>
              <a:t> </a:t>
            </a:r>
            <a:r>
              <a:rPr lang="cs-CZ" sz="1100" dirty="0" err="1"/>
              <a:t>serious</a:t>
            </a:r>
            <a:r>
              <a:rPr lang="cs-CZ" sz="1100" dirty="0"/>
              <a:t> </a:t>
            </a:r>
            <a:r>
              <a:rPr lang="cs-CZ" sz="1100" dirty="0" err="1"/>
              <a:t>error</a:t>
            </a:r>
            <a:r>
              <a:rPr lang="cs-CZ" sz="1100" dirty="0"/>
              <a:t> </a:t>
            </a:r>
            <a:r>
              <a:rPr lang="cs-CZ" sz="1100" dirty="0" err="1"/>
              <a:t>if</a:t>
            </a:r>
            <a:r>
              <a:rPr lang="cs-CZ" sz="1100" dirty="0"/>
              <a:t> </a:t>
            </a:r>
            <a:r>
              <a:rPr lang="cs-CZ" sz="1100" dirty="0" err="1"/>
              <a:t>island</a:t>
            </a:r>
            <a:r>
              <a:rPr lang="cs-CZ" sz="1100" dirty="0"/>
              <a:t> rule </a:t>
            </a:r>
            <a:r>
              <a:rPr lang="cs-CZ" sz="1100" dirty="0" err="1"/>
              <a:t>creates</a:t>
            </a:r>
            <a:r>
              <a:rPr lang="cs-CZ" sz="1100" dirty="0"/>
              <a:t> </a:t>
            </a:r>
            <a:r>
              <a:rPr lang="cs-CZ" sz="1100" dirty="0" err="1"/>
              <a:t>different</a:t>
            </a:r>
            <a:r>
              <a:rPr lang="cs-CZ" sz="1100" dirty="0"/>
              <a:t> </a:t>
            </a:r>
            <a:r>
              <a:rPr lang="cs-CZ" sz="1100" dirty="0" err="1"/>
              <a:t>allometry</a:t>
            </a:r>
            <a:r>
              <a:rPr lang="cs-CZ" sz="1100" dirty="0"/>
              <a:t> </a:t>
            </a:r>
            <a:r>
              <a:rPr lang="cs-CZ" sz="1100" dirty="0" err="1"/>
              <a:t>for</a:t>
            </a:r>
            <a:r>
              <a:rPr lang="cs-CZ" sz="1100" dirty="0"/>
              <a:t> </a:t>
            </a:r>
            <a:r>
              <a:rPr lang="cs-CZ" sz="1100" dirty="0" err="1"/>
              <a:t>different</a:t>
            </a:r>
            <a:r>
              <a:rPr lang="cs-CZ" sz="1100" dirty="0"/>
              <a:t> </a:t>
            </a:r>
            <a:r>
              <a:rPr lang="cs-CZ" sz="1100" dirty="0" err="1"/>
              <a:t>size</a:t>
            </a:r>
            <a:r>
              <a:rPr lang="cs-CZ" sz="1100" dirty="0"/>
              <a:t> </a:t>
            </a:r>
            <a:r>
              <a:rPr lang="cs-CZ" sz="1100" dirty="0" err="1"/>
              <a:t>metrics</a:t>
            </a:r>
            <a:endParaRPr lang="cs-CZ" sz="1100" dirty="0"/>
          </a:p>
          <a:p>
            <a:endParaRPr lang="en-GB" dirty="0"/>
          </a:p>
        </p:txBody>
      </p:sp>
    </p:spTree>
    <p:extLst>
      <p:ext uri="{BB962C8B-B14F-4D97-AF65-F5344CB8AC3E}">
        <p14:creationId xmlns:p14="http://schemas.microsoft.com/office/powerpoint/2010/main" val="428847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en-GB" dirty="0"/>
              <a:t>No general island‑rule signal once phylogeny is controlled (slopes ≈ 0)</a:t>
            </a:r>
            <a:endParaRPr lang="cs-CZ" dirty="0"/>
          </a:p>
          <a:p>
            <a:r>
              <a:rPr lang="en-GB" dirty="0"/>
              <a:t>Non‑phylogenetic slopes weakly negative but tiny (R² ≈ 0.02–0.05)</a:t>
            </a:r>
            <a:endParaRPr lang="cs-CZ" dirty="0"/>
          </a:p>
          <a:p>
            <a:r>
              <a:rPr lang="en-GB" dirty="0"/>
              <a:t>Clade‑specific patterns: murids → gigantism; artiodactyls &amp; some carnivores/heteromyids → dwarfism</a:t>
            </a:r>
            <a:endParaRPr lang="cs-CZ" dirty="0"/>
          </a:p>
          <a:p>
            <a:r>
              <a:rPr lang="en-GB" dirty="0"/>
              <a:t>Island area, isolation, trophic level, carnivore richness: generally non‑significant</a:t>
            </a:r>
          </a:p>
          <a:p>
            <a:endParaRPr lang="en-GB"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20</a:t>
            </a:fld>
            <a:endParaRPr lang="en-GB"/>
          </a:p>
        </p:txBody>
      </p:sp>
    </p:spTree>
    <p:extLst>
      <p:ext uri="{BB962C8B-B14F-4D97-AF65-F5344CB8AC3E}">
        <p14:creationId xmlns:p14="http://schemas.microsoft.com/office/powerpoint/2010/main" val="3535387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en-GB" dirty="0"/>
              <a:t>No general island‑rule signal once phylogeny is controlled (slopes ≈ 0)</a:t>
            </a:r>
            <a:endParaRPr lang="cs-CZ" dirty="0"/>
          </a:p>
          <a:p>
            <a:r>
              <a:rPr lang="en-GB" dirty="0"/>
              <a:t>Non‑phylogenetic slopes weakly negative but tiny (R² ≈ 0.02–0.05)</a:t>
            </a:r>
            <a:endParaRPr lang="cs-CZ" dirty="0"/>
          </a:p>
          <a:p>
            <a:r>
              <a:rPr lang="en-GB" dirty="0"/>
              <a:t>Clade‑specific patterns: murids → gigantism; artiodactyls &amp; some carnivores/heteromyids → dwarfism</a:t>
            </a:r>
            <a:endParaRPr lang="cs-CZ" dirty="0"/>
          </a:p>
          <a:p>
            <a:r>
              <a:rPr lang="en-GB" dirty="0"/>
              <a:t>Island area, isolation, trophic level, carnivore richness: generally non‑significant</a:t>
            </a:r>
          </a:p>
          <a:p>
            <a:endParaRPr lang="en-GB"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21</a:t>
            </a:fld>
            <a:endParaRPr lang="en-GB"/>
          </a:p>
        </p:txBody>
      </p:sp>
    </p:spTree>
    <p:extLst>
      <p:ext uri="{BB962C8B-B14F-4D97-AF65-F5344CB8AC3E}">
        <p14:creationId xmlns:p14="http://schemas.microsoft.com/office/powerpoint/2010/main" val="3950452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en-GB" dirty="0"/>
              <a:t>Island rule supported for mammals, birds and reptiles </a:t>
            </a:r>
            <a:endParaRPr lang="cs-CZ" dirty="0"/>
          </a:p>
          <a:p>
            <a:r>
              <a:rPr lang="en-GB" dirty="0"/>
              <a:t>Amphibians: weak/non‑significant slope; general tendency to gigantism</a:t>
            </a:r>
            <a:endParaRPr lang="cs-CZ" dirty="0"/>
          </a:p>
        </p:txBody>
      </p:sp>
    </p:spTree>
    <p:extLst>
      <p:ext uri="{BB962C8B-B14F-4D97-AF65-F5344CB8AC3E}">
        <p14:creationId xmlns:p14="http://schemas.microsoft.com/office/powerpoint/2010/main" val="2295650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en-GB" dirty="0"/>
              <a:t>Effects stronger on small and remote islands (especially mammals, reptiles)</a:t>
            </a:r>
            <a:endParaRPr lang="cs-CZ" dirty="0"/>
          </a:p>
          <a:p>
            <a:r>
              <a:rPr lang="en-GB" dirty="0"/>
              <a:t>Climate matters: larger bodies on cooler islands (endotherms); seasonality &amp; productivity shape ectotherms</a:t>
            </a:r>
            <a:endParaRPr lang="cs-CZ" dirty="0"/>
          </a:p>
        </p:txBody>
      </p:sp>
      <p:sp>
        <p:nvSpPr>
          <p:cNvPr id="4" name="Zástupný symbol pro číslo snímku 3"/>
          <p:cNvSpPr>
            <a:spLocks noGrp="1"/>
          </p:cNvSpPr>
          <p:nvPr>
            <p:ph type="sldNum" sz="quarter" idx="5"/>
          </p:nvPr>
        </p:nvSpPr>
        <p:spPr/>
        <p:txBody>
          <a:bodyPr/>
          <a:lstStyle/>
          <a:p>
            <a:fld id="{3A0742E7-3970-4B5C-B293-BA8601B5E114}" type="slidenum">
              <a:rPr lang="en-GB" smtClean="0"/>
              <a:t>23</a:t>
            </a:fld>
            <a:endParaRPr lang="en-GB"/>
          </a:p>
        </p:txBody>
      </p:sp>
    </p:spTree>
    <p:extLst>
      <p:ext uri="{BB962C8B-B14F-4D97-AF65-F5344CB8AC3E}">
        <p14:creationId xmlns:p14="http://schemas.microsoft.com/office/powerpoint/2010/main" val="138146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285750" indent="-171450" algn="l"/>
            <a:r>
              <a:rPr lang="en-GB" dirty="0"/>
              <a:t>The ‘island rule’ broadly holds across vertebrates when data are pooled and modelled hierarchically</a:t>
            </a:r>
            <a:endParaRPr lang="cs-CZ" dirty="0"/>
          </a:p>
          <a:p>
            <a:pPr marL="285750" indent="-171450" algn="l"/>
            <a:r>
              <a:rPr lang="en-GB" dirty="0"/>
              <a:t>Strength and direction are context‑dependent (island size/isolation, climate, productivity) and taxon‑dependent</a:t>
            </a:r>
            <a:endParaRPr lang="cs-CZ" dirty="0"/>
          </a:p>
          <a:p>
            <a:pPr marL="285750" indent="-171450" algn="l"/>
            <a:r>
              <a:rPr lang="en-GB" dirty="0"/>
              <a:t>Within mammals alone and under stricter pairing/phylogenetic control, signals </a:t>
            </a:r>
            <a:r>
              <a:rPr lang="cs-CZ" dirty="0" err="1"/>
              <a:t>may</a:t>
            </a:r>
            <a:r>
              <a:rPr lang="cs-CZ" dirty="0"/>
              <a:t> </a:t>
            </a:r>
            <a:r>
              <a:rPr lang="en-GB" dirty="0"/>
              <a:t>weaken to clade‑specific patterns</a:t>
            </a:r>
            <a:endParaRPr lang="cs-CZ" dirty="0"/>
          </a:p>
          <a:p>
            <a:pPr marL="285750" indent="-171450" algn="l"/>
            <a:r>
              <a:rPr lang="en-GB" dirty="0"/>
              <a:t>Methodology critically shapes conclusions</a:t>
            </a:r>
          </a:p>
          <a:p>
            <a:pPr algn="l"/>
            <a:endParaRPr lang="en-GB" dirty="0"/>
          </a:p>
        </p:txBody>
      </p:sp>
    </p:spTree>
    <p:extLst>
      <p:ext uri="{BB962C8B-B14F-4D97-AF65-F5344CB8AC3E}">
        <p14:creationId xmlns:p14="http://schemas.microsoft.com/office/powerpoint/2010/main" val="59910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25</a:t>
            </a:fld>
            <a:endParaRPr lang="en-GB"/>
          </a:p>
        </p:txBody>
      </p:sp>
    </p:spTree>
    <p:extLst>
      <p:ext uri="{BB962C8B-B14F-4D97-AF65-F5344CB8AC3E}">
        <p14:creationId xmlns:p14="http://schemas.microsoft.com/office/powerpoint/2010/main" val="41556473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26</a:t>
            </a:fld>
            <a:endParaRPr lang="en-GB"/>
          </a:p>
        </p:txBody>
      </p:sp>
    </p:spTree>
    <p:extLst>
      <p:ext uri="{BB962C8B-B14F-4D97-AF65-F5344CB8AC3E}">
        <p14:creationId xmlns:p14="http://schemas.microsoft.com/office/powerpoint/2010/main" val="3581810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27</a:t>
            </a:fld>
            <a:endParaRPr lang="en-GB"/>
          </a:p>
        </p:txBody>
      </p:sp>
    </p:spTree>
    <p:extLst>
      <p:ext uri="{BB962C8B-B14F-4D97-AF65-F5344CB8AC3E}">
        <p14:creationId xmlns:p14="http://schemas.microsoft.com/office/powerpoint/2010/main" val="9829233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28</a:t>
            </a:fld>
            <a:endParaRPr lang="en-GB"/>
          </a:p>
        </p:txBody>
      </p:sp>
    </p:spTree>
    <p:extLst>
      <p:ext uri="{BB962C8B-B14F-4D97-AF65-F5344CB8AC3E}">
        <p14:creationId xmlns:p14="http://schemas.microsoft.com/office/powerpoint/2010/main" val="4402479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29</a:t>
            </a:fld>
            <a:endParaRPr lang="en-GB"/>
          </a:p>
        </p:txBody>
      </p:sp>
    </p:spTree>
    <p:extLst>
      <p:ext uri="{BB962C8B-B14F-4D97-AF65-F5344CB8AC3E}">
        <p14:creationId xmlns:p14="http://schemas.microsoft.com/office/powerpoint/2010/main" val="32169528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30</a:t>
            </a:fld>
            <a:endParaRPr lang="en-GB"/>
          </a:p>
        </p:txBody>
      </p:sp>
    </p:spTree>
    <p:extLst>
      <p:ext uri="{BB962C8B-B14F-4D97-AF65-F5344CB8AC3E}">
        <p14:creationId xmlns:p14="http://schemas.microsoft.com/office/powerpoint/2010/main" val="9260935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a:t>Google </a:t>
            </a:r>
            <a:r>
              <a:rPr lang="cs-CZ" dirty="0" err="1"/>
              <a:t>it</a:t>
            </a:r>
            <a:r>
              <a:rPr lang="cs-CZ" dirty="0"/>
              <a:t> </a:t>
            </a:r>
            <a:r>
              <a:rPr lang="cs-CZ" dirty="0" err="1"/>
              <a:t>first</a:t>
            </a:r>
            <a:endParaRPr lang="en-GB" dirty="0"/>
          </a:p>
        </p:txBody>
      </p:sp>
    </p:spTree>
    <p:extLst>
      <p:ext uri="{BB962C8B-B14F-4D97-AF65-F5344CB8AC3E}">
        <p14:creationId xmlns:p14="http://schemas.microsoft.com/office/powerpoint/2010/main" val="32326662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Notice</a:t>
            </a:r>
            <a:r>
              <a:rPr lang="cs-CZ" dirty="0"/>
              <a:t> </a:t>
            </a:r>
            <a:r>
              <a:rPr lang="cs-CZ" dirty="0" err="1"/>
              <a:t>that</a:t>
            </a:r>
            <a:r>
              <a:rPr lang="cs-CZ" dirty="0"/>
              <a:t> Google </a:t>
            </a:r>
            <a:r>
              <a:rPr lang="cs-CZ" dirty="0" err="1"/>
              <a:t>now</a:t>
            </a:r>
            <a:r>
              <a:rPr lang="cs-CZ" dirty="0"/>
              <a:t> </a:t>
            </a:r>
            <a:r>
              <a:rPr lang="cs-CZ" dirty="0" err="1"/>
              <a:t>shows</a:t>
            </a:r>
            <a:r>
              <a:rPr lang="cs-CZ" dirty="0"/>
              <a:t> AI </a:t>
            </a:r>
            <a:r>
              <a:rPr lang="cs-CZ" dirty="0" err="1"/>
              <a:t>first</a:t>
            </a:r>
            <a:r>
              <a:rPr lang="cs-CZ" dirty="0"/>
              <a:t>, </a:t>
            </a:r>
            <a:r>
              <a:rPr lang="cs-CZ" dirty="0" err="1"/>
              <a:t>it</a:t>
            </a:r>
            <a:r>
              <a:rPr lang="cs-CZ" dirty="0"/>
              <a:t> </a:t>
            </a:r>
            <a:r>
              <a:rPr lang="cs-CZ" dirty="0" err="1"/>
              <a:t>was</a:t>
            </a:r>
            <a:r>
              <a:rPr lang="cs-CZ" dirty="0"/>
              <a:t> Wikipedia </a:t>
            </a:r>
            <a:r>
              <a:rPr lang="cs-CZ" dirty="0" err="1"/>
              <a:t>until</a:t>
            </a:r>
            <a:r>
              <a:rPr lang="cs-CZ" dirty="0"/>
              <a:t> </a:t>
            </a:r>
            <a:r>
              <a:rPr lang="cs-CZ" dirty="0" err="1"/>
              <a:t>recently</a:t>
            </a:r>
            <a:r>
              <a:rPr lang="cs-CZ" dirty="0"/>
              <a:t>; start </a:t>
            </a:r>
            <a:r>
              <a:rPr lang="cs-CZ" dirty="0" err="1"/>
              <a:t>with</a:t>
            </a:r>
            <a:r>
              <a:rPr lang="cs-CZ" dirty="0"/>
              <a:t> Wiki</a:t>
            </a:r>
          </a:p>
          <a:p>
            <a:r>
              <a:rPr lang="cs-CZ" dirty="0" err="1"/>
              <a:t>Put</a:t>
            </a:r>
            <a:r>
              <a:rPr lang="cs-CZ" dirty="0"/>
              <a:t> </a:t>
            </a:r>
            <a:r>
              <a:rPr lang="cs-CZ" dirty="0" err="1"/>
              <a:t>your</a:t>
            </a:r>
            <a:r>
              <a:rPr lang="cs-CZ" dirty="0"/>
              <a:t> </a:t>
            </a:r>
            <a:r>
              <a:rPr lang="cs-CZ" dirty="0" err="1"/>
              <a:t>searching</a:t>
            </a:r>
            <a:r>
              <a:rPr lang="cs-CZ" dirty="0"/>
              <a:t> term in ““ </a:t>
            </a:r>
            <a:r>
              <a:rPr lang="cs-CZ" dirty="0" err="1"/>
              <a:t>if</a:t>
            </a:r>
            <a:r>
              <a:rPr lang="cs-CZ" dirty="0"/>
              <a:t> </a:t>
            </a:r>
            <a:r>
              <a:rPr lang="cs-CZ" dirty="0" err="1"/>
              <a:t>you</a:t>
            </a:r>
            <a:r>
              <a:rPr lang="cs-CZ" dirty="0"/>
              <a:t> </a:t>
            </a:r>
            <a:r>
              <a:rPr lang="cs-CZ" dirty="0" err="1"/>
              <a:t>wanna</a:t>
            </a:r>
            <a:r>
              <a:rPr lang="cs-CZ" dirty="0"/>
              <a:t> </a:t>
            </a:r>
            <a:r>
              <a:rPr lang="cs-CZ" dirty="0" err="1"/>
              <a:t>find</a:t>
            </a:r>
            <a:r>
              <a:rPr lang="cs-CZ" dirty="0"/>
              <a:t> </a:t>
            </a:r>
            <a:r>
              <a:rPr lang="cs-CZ" dirty="0" err="1"/>
              <a:t>exact</a:t>
            </a:r>
            <a:r>
              <a:rPr lang="cs-CZ" dirty="0"/>
              <a:t> </a:t>
            </a:r>
            <a:r>
              <a:rPr lang="cs-CZ" dirty="0" err="1"/>
              <a:t>match</a:t>
            </a:r>
            <a:r>
              <a:rPr lang="cs-CZ" dirty="0"/>
              <a:t> and </a:t>
            </a:r>
            <a:r>
              <a:rPr lang="cs-CZ" dirty="0" err="1"/>
              <a:t>word</a:t>
            </a:r>
            <a:r>
              <a:rPr lang="cs-CZ" dirty="0"/>
              <a:t> </a:t>
            </a:r>
            <a:r>
              <a:rPr lang="cs-CZ" dirty="0" err="1"/>
              <a:t>combination</a:t>
            </a:r>
            <a:endParaRPr lang="cs-CZ" dirty="0"/>
          </a:p>
          <a:p>
            <a:r>
              <a:rPr lang="cs-CZ" dirty="0" err="1"/>
              <a:t>Try</a:t>
            </a:r>
            <a:r>
              <a:rPr lang="cs-CZ" dirty="0"/>
              <a:t> to </a:t>
            </a:r>
            <a:r>
              <a:rPr lang="cs-CZ" dirty="0" err="1"/>
              <a:t>google</a:t>
            </a:r>
            <a:r>
              <a:rPr lang="cs-CZ" dirty="0"/>
              <a:t> </a:t>
            </a:r>
            <a:r>
              <a:rPr lang="cs-CZ" dirty="0" err="1"/>
              <a:t>different</a:t>
            </a:r>
            <a:r>
              <a:rPr lang="cs-CZ" dirty="0"/>
              <a:t> </a:t>
            </a:r>
            <a:r>
              <a:rPr lang="cs-CZ" dirty="0" err="1"/>
              <a:t>terms</a:t>
            </a:r>
            <a:r>
              <a:rPr lang="cs-CZ" dirty="0"/>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cs-CZ" dirty="0" err="1"/>
              <a:t>You</a:t>
            </a:r>
            <a:r>
              <a:rPr lang="cs-CZ" dirty="0"/>
              <a:t> </a:t>
            </a:r>
            <a:r>
              <a:rPr lang="cs-CZ" dirty="0" err="1"/>
              <a:t>may</a:t>
            </a:r>
            <a:r>
              <a:rPr lang="cs-CZ" dirty="0"/>
              <a:t> </a:t>
            </a:r>
            <a:r>
              <a:rPr lang="cs-CZ" dirty="0" err="1"/>
              <a:t>search</a:t>
            </a:r>
            <a:r>
              <a:rPr lang="cs-CZ" dirty="0"/>
              <a:t> </a:t>
            </a:r>
            <a:r>
              <a:rPr lang="cs-CZ" dirty="0" err="1"/>
              <a:t>for</a:t>
            </a:r>
            <a:r>
              <a:rPr lang="cs-CZ" dirty="0"/>
              <a:t> online university </a:t>
            </a:r>
            <a:r>
              <a:rPr lang="cs-CZ" dirty="0" err="1"/>
              <a:t>courses</a:t>
            </a:r>
            <a:r>
              <a:rPr lang="cs-CZ" dirty="0"/>
              <a:t> (</a:t>
            </a:r>
            <a:r>
              <a:rPr lang="cs-CZ" dirty="0" err="1"/>
              <a:t>e.g</a:t>
            </a:r>
            <a:r>
              <a:rPr lang="cs-CZ" dirty="0"/>
              <a:t>. https://evolution.berkeley.edu/</a:t>
            </a:r>
            <a:r>
              <a:rPr lang="cs-CZ" dirty="0" err="1"/>
              <a:t>search</a:t>
            </a:r>
            <a:r>
              <a:rPr lang="cs-CZ" dirty="0"/>
              <a:t>/?q=%22island+rule%22), </a:t>
            </a:r>
          </a:p>
          <a:p>
            <a:endParaRPr lang="en-GB" dirty="0"/>
          </a:p>
        </p:txBody>
      </p:sp>
    </p:spTree>
    <p:extLst>
      <p:ext uri="{BB962C8B-B14F-4D97-AF65-F5344CB8AC3E}">
        <p14:creationId xmlns:p14="http://schemas.microsoft.com/office/powerpoint/2010/main" val="17526732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Be</a:t>
            </a:r>
            <a:r>
              <a:rPr lang="cs-CZ" dirty="0"/>
              <a:t> </a:t>
            </a:r>
            <a:r>
              <a:rPr lang="cs-CZ" dirty="0" err="1"/>
              <a:t>aware</a:t>
            </a:r>
            <a:r>
              <a:rPr lang="cs-CZ" dirty="0"/>
              <a:t> </a:t>
            </a:r>
            <a:r>
              <a:rPr lang="cs-CZ" dirty="0" err="1"/>
              <a:t>of</a:t>
            </a:r>
            <a:r>
              <a:rPr lang="cs-CZ" dirty="0"/>
              <a:t> </a:t>
            </a:r>
            <a:r>
              <a:rPr lang="cs-CZ" dirty="0" err="1"/>
              <a:t>different</a:t>
            </a:r>
            <a:r>
              <a:rPr lang="cs-CZ" dirty="0"/>
              <a:t> </a:t>
            </a:r>
            <a:r>
              <a:rPr lang="cs-CZ" dirty="0" err="1"/>
              <a:t>topic</a:t>
            </a:r>
            <a:r>
              <a:rPr lang="cs-CZ" dirty="0"/>
              <a:t> </a:t>
            </a:r>
            <a:r>
              <a:rPr lang="cs-CZ" dirty="0" err="1"/>
              <a:t>coverage</a:t>
            </a:r>
            <a:r>
              <a:rPr lang="cs-CZ" dirty="0"/>
              <a:t> </a:t>
            </a:r>
            <a:r>
              <a:rPr lang="cs-CZ" dirty="0" err="1"/>
              <a:t>among</a:t>
            </a:r>
            <a:r>
              <a:rPr lang="cs-CZ" dirty="0"/>
              <a:t> </a:t>
            </a:r>
            <a:r>
              <a:rPr lang="cs-CZ" dirty="0" err="1"/>
              <a:t>languages</a:t>
            </a:r>
            <a:endParaRPr lang="en-GB" dirty="0"/>
          </a:p>
        </p:txBody>
      </p:sp>
    </p:spTree>
    <p:extLst>
      <p:ext uri="{BB962C8B-B14F-4D97-AF65-F5344CB8AC3E}">
        <p14:creationId xmlns:p14="http://schemas.microsoft.com/office/powerpoint/2010/main" val="18206275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a:t>Wiki </a:t>
            </a:r>
            <a:r>
              <a:rPr lang="cs-CZ" dirty="0" err="1"/>
              <a:t>offers</a:t>
            </a:r>
            <a:r>
              <a:rPr lang="cs-CZ" dirty="0"/>
              <a:t> </a:t>
            </a:r>
            <a:r>
              <a:rPr lang="cs-CZ" dirty="0" err="1"/>
              <a:t>references</a:t>
            </a:r>
            <a:r>
              <a:rPr lang="cs-CZ" dirty="0"/>
              <a:t>, </a:t>
            </a:r>
            <a:r>
              <a:rPr lang="cs-CZ" dirty="0" err="1"/>
              <a:t>thats</a:t>
            </a:r>
            <a:r>
              <a:rPr lang="cs-CZ" dirty="0"/>
              <a:t> </a:t>
            </a:r>
            <a:r>
              <a:rPr lang="cs-CZ" dirty="0" err="1"/>
              <a:t>great</a:t>
            </a:r>
            <a:r>
              <a:rPr lang="cs-CZ" dirty="0"/>
              <a:t>, </a:t>
            </a:r>
            <a:r>
              <a:rPr lang="cs-CZ" dirty="0" err="1"/>
              <a:t>you</a:t>
            </a:r>
            <a:r>
              <a:rPr lang="cs-CZ" dirty="0"/>
              <a:t> </a:t>
            </a:r>
            <a:r>
              <a:rPr lang="cs-CZ" dirty="0" err="1"/>
              <a:t>may</a:t>
            </a:r>
            <a:r>
              <a:rPr lang="cs-CZ" dirty="0"/>
              <a:t> </a:t>
            </a:r>
            <a:r>
              <a:rPr lang="cs-CZ" dirty="0" err="1"/>
              <a:t>directly</a:t>
            </a:r>
            <a:r>
              <a:rPr lang="cs-CZ" dirty="0"/>
              <a:t> </a:t>
            </a:r>
            <a:r>
              <a:rPr lang="cs-CZ" dirty="0" err="1"/>
              <a:t>click</a:t>
            </a:r>
            <a:r>
              <a:rPr lang="cs-CZ" dirty="0"/>
              <a:t> on </a:t>
            </a:r>
            <a:r>
              <a:rPr lang="cs-CZ" dirty="0" err="1"/>
              <a:t>them</a:t>
            </a:r>
            <a:endParaRPr lang="en-GB" dirty="0"/>
          </a:p>
        </p:txBody>
      </p:sp>
    </p:spTree>
    <p:extLst>
      <p:ext uri="{BB962C8B-B14F-4D97-AF65-F5344CB8AC3E}">
        <p14:creationId xmlns:p14="http://schemas.microsoft.com/office/powerpoint/2010/main" val="28441708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We</a:t>
            </a:r>
            <a:r>
              <a:rPr lang="cs-CZ" dirty="0"/>
              <a:t> </a:t>
            </a:r>
            <a:r>
              <a:rPr lang="cs-CZ" dirty="0" err="1"/>
              <a:t>may</a:t>
            </a:r>
            <a:r>
              <a:rPr lang="cs-CZ" dirty="0"/>
              <a:t> </a:t>
            </a:r>
            <a:r>
              <a:rPr lang="cs-CZ" dirty="0" err="1"/>
              <a:t>ask</a:t>
            </a:r>
            <a:r>
              <a:rPr lang="cs-CZ" dirty="0"/>
              <a:t> </a:t>
            </a:r>
            <a:r>
              <a:rPr lang="cs-CZ" dirty="0" err="1"/>
              <a:t>also</a:t>
            </a:r>
            <a:r>
              <a:rPr lang="cs-CZ" dirty="0"/>
              <a:t> </a:t>
            </a:r>
            <a:r>
              <a:rPr lang="cs-CZ" dirty="0" err="1"/>
              <a:t>differently</a:t>
            </a:r>
            <a:r>
              <a:rPr lang="cs-CZ" dirty="0"/>
              <a:t>, </a:t>
            </a:r>
            <a:r>
              <a:rPr lang="cs-CZ" dirty="0" err="1"/>
              <a:t>e.g</a:t>
            </a:r>
            <a:r>
              <a:rPr lang="cs-CZ" dirty="0"/>
              <a:t>. more </a:t>
            </a:r>
            <a:r>
              <a:rPr lang="cs-CZ" dirty="0" err="1"/>
              <a:t>generally</a:t>
            </a:r>
            <a:r>
              <a:rPr lang="cs-CZ" dirty="0"/>
              <a:t> – </a:t>
            </a:r>
            <a:r>
              <a:rPr lang="cs-CZ" dirty="0" err="1"/>
              <a:t>lets</a:t>
            </a:r>
            <a:r>
              <a:rPr lang="cs-CZ" dirty="0"/>
              <a:t> </a:t>
            </a:r>
            <a:r>
              <a:rPr lang="cs-CZ" dirty="0" err="1"/>
              <a:t>try</a:t>
            </a:r>
            <a:r>
              <a:rPr lang="cs-CZ" dirty="0"/>
              <a:t> </a:t>
            </a:r>
            <a:r>
              <a:rPr lang="en-GB" dirty="0"/>
              <a:t>ecology rules - island vs mainland</a:t>
            </a:r>
            <a:endParaRPr lang="cs-CZ" dirty="0"/>
          </a:p>
          <a:p>
            <a:r>
              <a:rPr lang="cs-CZ" dirty="0" err="1"/>
              <a:t>It</a:t>
            </a:r>
            <a:r>
              <a:rPr lang="cs-CZ" dirty="0"/>
              <a:t> </a:t>
            </a:r>
            <a:r>
              <a:rPr lang="cs-CZ" dirty="0" err="1"/>
              <a:t>sets</a:t>
            </a:r>
            <a:r>
              <a:rPr lang="cs-CZ" dirty="0"/>
              <a:t> up </a:t>
            </a:r>
            <a:r>
              <a:rPr lang="cs-CZ" dirty="0" err="1"/>
              <a:t>your</a:t>
            </a:r>
            <a:r>
              <a:rPr lang="cs-CZ" dirty="0"/>
              <a:t> </a:t>
            </a:r>
            <a:r>
              <a:rPr lang="cs-CZ" dirty="0" err="1"/>
              <a:t>target</a:t>
            </a:r>
            <a:r>
              <a:rPr lang="cs-CZ" dirty="0"/>
              <a:t> </a:t>
            </a:r>
            <a:r>
              <a:rPr lang="cs-CZ" dirty="0" err="1"/>
              <a:t>topic</a:t>
            </a:r>
            <a:r>
              <a:rPr lang="cs-CZ" dirty="0"/>
              <a:t> to </a:t>
            </a:r>
            <a:r>
              <a:rPr lang="cs-CZ" dirty="0" err="1"/>
              <a:t>the</a:t>
            </a:r>
            <a:r>
              <a:rPr lang="cs-CZ" dirty="0"/>
              <a:t> </a:t>
            </a:r>
            <a:r>
              <a:rPr lang="cs-CZ" dirty="0" err="1"/>
              <a:t>wider</a:t>
            </a:r>
            <a:r>
              <a:rPr lang="cs-CZ" dirty="0"/>
              <a:t> </a:t>
            </a:r>
            <a:r>
              <a:rPr lang="cs-CZ" dirty="0" err="1"/>
              <a:t>conceptual</a:t>
            </a:r>
            <a:r>
              <a:rPr lang="cs-CZ" dirty="0"/>
              <a:t> </a:t>
            </a:r>
            <a:r>
              <a:rPr lang="cs-CZ" dirty="0" err="1"/>
              <a:t>frame</a:t>
            </a:r>
            <a:endParaRPr lang="en-GB" dirty="0"/>
          </a:p>
        </p:txBody>
      </p:sp>
    </p:spTree>
    <p:extLst>
      <p:ext uri="{BB962C8B-B14F-4D97-AF65-F5344CB8AC3E}">
        <p14:creationId xmlns:p14="http://schemas.microsoft.com/office/powerpoint/2010/main" val="42193995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en-GB" dirty="0"/>
              <a:t>Google Scholar</a:t>
            </a:r>
          </a:p>
        </p:txBody>
      </p:sp>
    </p:spTree>
    <p:extLst>
      <p:ext uri="{BB962C8B-B14F-4D97-AF65-F5344CB8AC3E}">
        <p14:creationId xmlns:p14="http://schemas.microsoft.com/office/powerpoint/2010/main" val="2262470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First</a:t>
            </a:r>
            <a:r>
              <a:rPr lang="cs-CZ" dirty="0"/>
              <a:t> </a:t>
            </a:r>
            <a:r>
              <a:rPr lang="cs-CZ" dirty="0" err="1"/>
              <a:t>try</a:t>
            </a:r>
            <a:r>
              <a:rPr lang="cs-CZ" dirty="0"/>
              <a:t> to </a:t>
            </a:r>
            <a:r>
              <a:rPr lang="cs-CZ" dirty="0" err="1"/>
              <a:t>google</a:t>
            </a:r>
            <a:r>
              <a:rPr lang="cs-CZ" dirty="0"/>
              <a:t> </a:t>
            </a:r>
            <a:r>
              <a:rPr lang="cs-CZ" dirty="0" err="1"/>
              <a:t>it</a:t>
            </a:r>
            <a:r>
              <a:rPr lang="cs-CZ" dirty="0"/>
              <a:t> and </a:t>
            </a:r>
            <a:r>
              <a:rPr lang="cs-CZ" dirty="0" err="1"/>
              <a:t>gather</a:t>
            </a:r>
            <a:r>
              <a:rPr lang="cs-CZ" dirty="0"/>
              <a:t> </a:t>
            </a:r>
            <a:r>
              <a:rPr lang="cs-CZ" dirty="0" err="1"/>
              <a:t>information</a:t>
            </a:r>
            <a:r>
              <a:rPr lang="cs-CZ" dirty="0"/>
              <a:t> on </a:t>
            </a:r>
            <a:r>
              <a:rPr lang="cs-CZ" dirty="0" err="1"/>
              <a:t>your</a:t>
            </a:r>
            <a:r>
              <a:rPr lang="cs-CZ" dirty="0"/>
              <a:t> </a:t>
            </a:r>
            <a:r>
              <a:rPr lang="cs-CZ" dirty="0" err="1"/>
              <a:t>own</a:t>
            </a:r>
            <a:r>
              <a:rPr lang="cs-CZ" dirty="0"/>
              <a:t> </a:t>
            </a:r>
          </a:p>
          <a:p>
            <a:r>
              <a:rPr lang="cs-CZ" dirty="0" err="1"/>
              <a:t>Only</a:t>
            </a:r>
            <a:r>
              <a:rPr lang="cs-CZ" dirty="0"/>
              <a:t> </a:t>
            </a:r>
            <a:r>
              <a:rPr lang="cs-CZ" dirty="0" err="1"/>
              <a:t>then</a:t>
            </a:r>
            <a:r>
              <a:rPr lang="cs-CZ" dirty="0"/>
              <a:t> </a:t>
            </a:r>
            <a:r>
              <a:rPr lang="cs-CZ" dirty="0" err="1"/>
              <a:t>chatgpt</a:t>
            </a:r>
            <a:r>
              <a:rPr lang="cs-CZ" dirty="0"/>
              <a:t> </a:t>
            </a:r>
            <a:r>
              <a:rPr lang="cs-CZ" dirty="0" err="1"/>
              <a:t>is</a:t>
            </a:r>
            <a:r>
              <a:rPr lang="cs-CZ" dirty="0"/>
              <a:t> </a:t>
            </a:r>
            <a:r>
              <a:rPr lang="cs-CZ" dirty="0" err="1"/>
              <a:t>decreasing</a:t>
            </a:r>
            <a:r>
              <a:rPr lang="cs-CZ" dirty="0"/>
              <a:t> </a:t>
            </a:r>
            <a:r>
              <a:rPr lang="cs-CZ" dirty="0" err="1"/>
              <a:t>your</a:t>
            </a:r>
            <a:r>
              <a:rPr lang="cs-CZ" dirty="0"/>
              <a:t> </a:t>
            </a:r>
            <a:r>
              <a:rPr lang="cs-CZ" dirty="0" err="1"/>
              <a:t>ability</a:t>
            </a:r>
            <a:r>
              <a:rPr lang="cs-CZ" dirty="0"/>
              <a:t> to </a:t>
            </a:r>
            <a:r>
              <a:rPr lang="cs-CZ" dirty="0" err="1"/>
              <a:t>critically</a:t>
            </a:r>
            <a:r>
              <a:rPr lang="cs-CZ" dirty="0"/>
              <a:t> </a:t>
            </a:r>
            <a:r>
              <a:rPr lang="cs-CZ" dirty="0" err="1"/>
              <a:t>review</a:t>
            </a:r>
            <a:r>
              <a:rPr lang="cs-CZ" dirty="0"/>
              <a:t> </a:t>
            </a:r>
            <a:r>
              <a:rPr lang="cs-CZ" dirty="0" err="1"/>
              <a:t>information</a:t>
            </a:r>
            <a:r>
              <a:rPr lang="cs-CZ" dirty="0"/>
              <a:t> and </a:t>
            </a:r>
            <a:r>
              <a:rPr lang="cs-CZ" dirty="0" err="1"/>
              <a:t>hampering</a:t>
            </a:r>
            <a:r>
              <a:rPr lang="cs-CZ" dirty="0"/>
              <a:t> </a:t>
            </a:r>
            <a:r>
              <a:rPr lang="cs-CZ" dirty="0" err="1"/>
              <a:t>your</a:t>
            </a:r>
            <a:r>
              <a:rPr lang="cs-CZ" dirty="0"/>
              <a:t> learning </a:t>
            </a:r>
            <a:r>
              <a:rPr lang="cs-CZ" dirty="0" err="1"/>
              <a:t>process</a:t>
            </a:r>
            <a:endParaRPr lang="en-GB" dirty="0"/>
          </a:p>
        </p:txBody>
      </p:sp>
    </p:spTree>
    <p:extLst>
      <p:ext uri="{BB962C8B-B14F-4D97-AF65-F5344CB8AC3E}">
        <p14:creationId xmlns:p14="http://schemas.microsoft.com/office/powerpoint/2010/main" val="10466238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pPr marL="158750" indent="0">
              <a:buNone/>
            </a:pPr>
            <a:r>
              <a:rPr lang="cs-CZ" dirty="0" err="1"/>
              <a:t>You</a:t>
            </a:r>
            <a:r>
              <a:rPr lang="cs-CZ" dirty="0"/>
              <a:t> </a:t>
            </a:r>
            <a:r>
              <a:rPr lang="cs-CZ" dirty="0" err="1"/>
              <a:t>may</a:t>
            </a:r>
            <a:r>
              <a:rPr lang="cs-CZ" dirty="0"/>
              <a:t> play a bit </a:t>
            </a:r>
            <a:r>
              <a:rPr lang="cs-CZ" dirty="0" err="1"/>
              <a:t>with</a:t>
            </a:r>
            <a:r>
              <a:rPr lang="cs-CZ" dirty="0"/>
              <a:t> </a:t>
            </a:r>
            <a:r>
              <a:rPr lang="cs-CZ" dirty="0" err="1"/>
              <a:t>searching</a:t>
            </a:r>
            <a:r>
              <a:rPr lang="cs-CZ" dirty="0"/>
              <a:t> </a:t>
            </a:r>
            <a:r>
              <a:rPr lang="cs-CZ" dirty="0" err="1"/>
              <a:t>query</a:t>
            </a:r>
            <a:r>
              <a:rPr lang="cs-CZ" dirty="0"/>
              <a:t>, </a:t>
            </a:r>
            <a:r>
              <a:rPr lang="cs-CZ" dirty="0" err="1"/>
              <a:t>or</a:t>
            </a:r>
            <a:r>
              <a:rPr lang="cs-CZ" dirty="0"/>
              <a:t> </a:t>
            </a:r>
            <a:r>
              <a:rPr lang="cs-CZ" dirty="0" err="1"/>
              <a:t>develop</a:t>
            </a:r>
            <a:r>
              <a:rPr lang="cs-CZ" dirty="0"/>
              <a:t> </a:t>
            </a:r>
            <a:r>
              <a:rPr lang="en-GB" dirty="0"/>
              <a:t>predefined </a:t>
            </a:r>
            <a:r>
              <a:rPr lang="en-GB" dirty="0" err="1"/>
              <a:t>assistent</a:t>
            </a:r>
            <a:r>
              <a:rPr lang="cs-CZ" dirty="0"/>
              <a:t> </a:t>
            </a:r>
            <a:r>
              <a:rPr lang="cs-CZ" dirty="0" err="1"/>
              <a:t>specififally</a:t>
            </a:r>
            <a:r>
              <a:rPr lang="cs-CZ" dirty="0"/>
              <a:t> </a:t>
            </a:r>
            <a:r>
              <a:rPr lang="cs-CZ" dirty="0" err="1"/>
              <a:t>for</a:t>
            </a:r>
            <a:r>
              <a:rPr lang="cs-CZ" dirty="0"/>
              <a:t> </a:t>
            </a:r>
            <a:r>
              <a:rPr lang="cs-CZ" dirty="0" err="1"/>
              <a:t>this</a:t>
            </a:r>
            <a:r>
              <a:rPr lang="cs-CZ" dirty="0"/>
              <a:t> </a:t>
            </a:r>
            <a:r>
              <a:rPr lang="cs-CZ" dirty="0" err="1"/>
              <a:t>purpose</a:t>
            </a:r>
            <a:r>
              <a:rPr lang="cs-CZ" dirty="0"/>
              <a:t>.</a:t>
            </a:r>
          </a:p>
          <a:p>
            <a:pPr marL="158750" indent="0">
              <a:buNone/>
            </a:pPr>
            <a:endParaRPr lang="en-GB" dirty="0"/>
          </a:p>
          <a:p>
            <a:pPr marL="158750" indent="0">
              <a:buNone/>
            </a:pPr>
            <a:r>
              <a:rPr lang="en-GB" dirty="0"/>
              <a:t>Read and pondered upon the two example papers for your topic without AI first.</a:t>
            </a:r>
            <a:endParaRPr lang="cs-CZ" dirty="0"/>
          </a:p>
        </p:txBody>
      </p:sp>
    </p:spTree>
    <p:extLst>
      <p:ext uri="{BB962C8B-B14F-4D97-AF65-F5344CB8AC3E}">
        <p14:creationId xmlns:p14="http://schemas.microsoft.com/office/powerpoint/2010/main" val="9868189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177A9-08CC-FBF3-A409-CA7F6584D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EB32A-BFEC-CC1D-B6A3-61A1237545D5}"/>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C1F97E72-F789-D492-2E7B-1DBDD252D53E}"/>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14363675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cs-CZ" dirty="0" err="1"/>
              <a:t>For</a:t>
            </a:r>
            <a:r>
              <a:rPr lang="cs-CZ" dirty="0"/>
              <a:t> </a:t>
            </a:r>
            <a:r>
              <a:rPr lang="cs-CZ" dirty="0" err="1"/>
              <a:t>the</a:t>
            </a:r>
            <a:r>
              <a:rPr lang="cs-CZ" dirty="0"/>
              <a:t> </a:t>
            </a:r>
            <a:r>
              <a:rPr lang="cs-CZ" dirty="0" err="1"/>
              <a:t>analysis</a:t>
            </a:r>
            <a:r>
              <a:rPr lang="cs-CZ" dirty="0"/>
              <a:t> </a:t>
            </a:r>
            <a:r>
              <a:rPr lang="cs-CZ" dirty="0" err="1"/>
              <a:t>of</a:t>
            </a:r>
            <a:r>
              <a:rPr lang="cs-CZ" dirty="0"/>
              <a:t> </a:t>
            </a:r>
            <a:r>
              <a:rPr lang="cs-CZ" dirty="0" err="1"/>
              <a:t>the</a:t>
            </a:r>
            <a:r>
              <a:rPr lang="cs-CZ" dirty="0"/>
              <a:t> </a:t>
            </a:r>
            <a:r>
              <a:rPr lang="cs-CZ" dirty="0" err="1"/>
              <a:t>main</a:t>
            </a:r>
            <a:r>
              <a:rPr lang="cs-CZ" dirty="0"/>
              <a:t> text, </a:t>
            </a:r>
            <a:r>
              <a:rPr lang="cs-CZ" dirty="0" err="1"/>
              <a:t>see</a:t>
            </a:r>
            <a:r>
              <a:rPr lang="cs-CZ" dirty="0"/>
              <a:t> </a:t>
            </a:r>
            <a:r>
              <a:rPr lang="cs-CZ" dirty="0" err="1"/>
              <a:t>pdf</a:t>
            </a:r>
            <a:r>
              <a:rPr lang="cs-CZ" dirty="0"/>
              <a:t> on </a:t>
            </a:r>
            <a:r>
              <a:rPr lang="cs-CZ" dirty="0" err="1"/>
              <a:t>github</a:t>
            </a:r>
            <a:r>
              <a:rPr lang="cs-CZ" dirty="0"/>
              <a:t> </a:t>
            </a:r>
            <a:r>
              <a:rPr lang="cs-CZ" dirty="0" err="1"/>
              <a:t>where</a:t>
            </a:r>
            <a:r>
              <a:rPr lang="cs-CZ" dirty="0"/>
              <a:t> </a:t>
            </a:r>
            <a:r>
              <a:rPr lang="cs-CZ" dirty="0" err="1"/>
              <a:t>the</a:t>
            </a:r>
            <a:r>
              <a:rPr lang="cs-CZ" dirty="0"/>
              <a:t> </a:t>
            </a:r>
            <a:r>
              <a:rPr lang="cs-CZ" dirty="0" err="1"/>
              <a:t>sections</a:t>
            </a:r>
            <a:r>
              <a:rPr lang="cs-CZ" dirty="0"/>
              <a:t> </a:t>
            </a:r>
            <a:r>
              <a:rPr lang="cs-CZ" dirty="0" err="1"/>
              <a:t>discussing</a:t>
            </a:r>
            <a:r>
              <a:rPr lang="cs-CZ" dirty="0"/>
              <a:t> </a:t>
            </a:r>
            <a:r>
              <a:rPr lang="cs-CZ" dirty="0" err="1"/>
              <a:t>the</a:t>
            </a:r>
            <a:r>
              <a:rPr lang="cs-CZ" dirty="0"/>
              <a:t> </a:t>
            </a:r>
            <a:r>
              <a:rPr lang="cs-CZ" dirty="0" err="1"/>
              <a:t>similar</a:t>
            </a:r>
            <a:r>
              <a:rPr lang="cs-CZ" dirty="0"/>
              <a:t> </a:t>
            </a:r>
            <a:r>
              <a:rPr lang="cs-CZ" dirty="0" err="1"/>
              <a:t>parts</a:t>
            </a:r>
            <a:r>
              <a:rPr lang="cs-CZ" dirty="0"/>
              <a:t> as in </a:t>
            </a:r>
            <a:r>
              <a:rPr lang="cs-CZ" dirty="0" err="1"/>
              <a:t>the</a:t>
            </a:r>
            <a:r>
              <a:rPr lang="cs-CZ" dirty="0"/>
              <a:t> </a:t>
            </a:r>
            <a:r>
              <a:rPr lang="cs-CZ" dirty="0" err="1"/>
              <a:t>Abstract</a:t>
            </a:r>
            <a:r>
              <a:rPr lang="cs-CZ" dirty="0"/>
              <a:t> are </a:t>
            </a:r>
            <a:r>
              <a:rPr lang="cs-CZ" dirty="0" err="1"/>
              <a:t>highlighted</a:t>
            </a:r>
            <a:r>
              <a:rPr lang="cs-CZ" dirty="0"/>
              <a:t>. </a:t>
            </a:r>
            <a:r>
              <a:rPr lang="cs-CZ" dirty="0" err="1"/>
              <a:t>Can</a:t>
            </a:r>
            <a:r>
              <a:rPr lang="cs-CZ" dirty="0"/>
              <a:t> </a:t>
            </a:r>
            <a:r>
              <a:rPr lang="cs-CZ" dirty="0" err="1"/>
              <a:t>you</a:t>
            </a:r>
            <a:r>
              <a:rPr lang="cs-CZ" dirty="0"/>
              <a:t> </a:t>
            </a:r>
            <a:r>
              <a:rPr lang="cs-CZ" dirty="0" err="1"/>
              <a:t>see</a:t>
            </a:r>
            <a:r>
              <a:rPr lang="cs-CZ" dirty="0"/>
              <a:t> </a:t>
            </a:r>
            <a:r>
              <a:rPr lang="cs-CZ" dirty="0" err="1"/>
              <a:t>how</a:t>
            </a:r>
            <a:r>
              <a:rPr lang="cs-CZ" dirty="0"/>
              <a:t> </a:t>
            </a:r>
            <a:r>
              <a:rPr lang="cs-CZ" dirty="0" err="1"/>
              <a:t>we</a:t>
            </a:r>
            <a:r>
              <a:rPr lang="cs-CZ" dirty="0"/>
              <a:t> </a:t>
            </a:r>
            <a:r>
              <a:rPr lang="cs-CZ" dirty="0" err="1"/>
              <a:t>used</a:t>
            </a:r>
            <a:r>
              <a:rPr lang="cs-CZ" dirty="0"/>
              <a:t> </a:t>
            </a:r>
            <a:r>
              <a:rPr lang="cs-CZ" dirty="0" err="1"/>
              <a:t>the</a:t>
            </a:r>
            <a:r>
              <a:rPr lang="cs-CZ" dirty="0"/>
              <a:t> </a:t>
            </a:r>
            <a:r>
              <a:rPr lang="cs-CZ" dirty="0" err="1"/>
              <a:t>paper</a:t>
            </a:r>
            <a:r>
              <a:rPr lang="cs-CZ" dirty="0"/>
              <a:t> </a:t>
            </a:r>
            <a:r>
              <a:rPr lang="cs-CZ" dirty="0" err="1"/>
              <a:t>information</a:t>
            </a:r>
            <a:r>
              <a:rPr lang="cs-CZ" dirty="0"/>
              <a:t> to </a:t>
            </a:r>
            <a:r>
              <a:rPr lang="cs-CZ" dirty="0" err="1"/>
              <a:t>generate</a:t>
            </a:r>
            <a:r>
              <a:rPr lang="cs-CZ" dirty="0"/>
              <a:t> </a:t>
            </a:r>
            <a:r>
              <a:rPr lang="cs-CZ" dirty="0" err="1"/>
              <a:t>our</a:t>
            </a:r>
            <a:r>
              <a:rPr lang="cs-CZ" dirty="0"/>
              <a:t> </a:t>
            </a:r>
            <a:r>
              <a:rPr lang="cs-CZ" dirty="0" err="1"/>
              <a:t>lecture</a:t>
            </a:r>
            <a:r>
              <a:rPr lang="cs-CZ" dirty="0"/>
              <a:t>?</a:t>
            </a:r>
            <a:endParaRPr lang="en-DE" dirty="0"/>
          </a:p>
        </p:txBody>
      </p:sp>
    </p:spTree>
    <p:extLst>
      <p:ext uri="{BB962C8B-B14F-4D97-AF65-F5344CB8AC3E}">
        <p14:creationId xmlns:p14="http://schemas.microsoft.com/office/powerpoint/2010/main" val="28621226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08C3EA25-13DA-4AF5-82A1-CDC866AD2346}" type="slidenum">
              <a:rPr lang="en-GB" smtClean="0"/>
              <a:t>42</a:t>
            </a:fld>
            <a:endParaRPr lang="en-GB"/>
          </a:p>
        </p:txBody>
      </p:sp>
    </p:spTree>
    <p:extLst>
      <p:ext uri="{BB962C8B-B14F-4D97-AF65-F5344CB8AC3E}">
        <p14:creationId xmlns:p14="http://schemas.microsoft.com/office/powerpoint/2010/main" val="26196348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Bird</a:t>
            </a:r>
            <a:r>
              <a:rPr lang="cs-CZ" dirty="0"/>
              <a:t> </a:t>
            </a:r>
            <a:r>
              <a:rPr lang="cs-CZ" dirty="0" err="1"/>
              <a:t>identifications</a:t>
            </a:r>
            <a:r>
              <a:rPr lang="cs-CZ" dirty="0"/>
              <a:t> </a:t>
            </a:r>
            <a:r>
              <a:rPr lang="cs-CZ" dirty="0" err="1"/>
              <a:t>from</a:t>
            </a:r>
            <a:r>
              <a:rPr lang="cs-CZ" dirty="0"/>
              <a:t> </a:t>
            </a:r>
            <a:r>
              <a:rPr lang="cs-CZ" dirty="0" err="1"/>
              <a:t>sounds</a:t>
            </a:r>
            <a:r>
              <a:rPr lang="cs-CZ" dirty="0"/>
              <a:t> and </a:t>
            </a:r>
            <a:r>
              <a:rPr lang="cs-CZ" dirty="0" err="1"/>
              <a:t>photos</a:t>
            </a:r>
            <a:endParaRPr lang="en-GB" dirty="0"/>
          </a:p>
        </p:txBody>
      </p:sp>
    </p:spTree>
    <p:extLst>
      <p:ext uri="{BB962C8B-B14F-4D97-AF65-F5344CB8AC3E}">
        <p14:creationId xmlns:p14="http://schemas.microsoft.com/office/powerpoint/2010/main" val="27181825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1143000" y="685800"/>
            <a:ext cx="4572000" cy="3429000"/>
          </a:xfrm>
        </p:spPr>
      </p:sp>
      <p:sp>
        <p:nvSpPr>
          <p:cNvPr id="3" name="Zástupný symbol pro poznámky 2"/>
          <p:cNvSpPr>
            <a:spLocks noGrp="1"/>
          </p:cNvSpPr>
          <p:nvPr>
            <p:ph type="body" idx="1"/>
          </p:nvPr>
        </p:nvSpPr>
        <p:spPr/>
        <p:txBody>
          <a:bodyPr/>
          <a:lstStyle/>
          <a:p>
            <a:r>
              <a:rPr lang="cs-CZ" dirty="0" err="1"/>
              <a:t>App</a:t>
            </a:r>
            <a:r>
              <a:rPr lang="cs-CZ" dirty="0"/>
              <a:t> </a:t>
            </a:r>
            <a:r>
              <a:rPr lang="cs-CZ" dirty="0" err="1"/>
              <a:t>for</a:t>
            </a:r>
            <a:r>
              <a:rPr lang="cs-CZ" dirty="0"/>
              <a:t> </a:t>
            </a:r>
            <a:r>
              <a:rPr lang="cs-CZ" dirty="0" err="1"/>
              <a:t>escape</a:t>
            </a:r>
            <a:r>
              <a:rPr lang="cs-CZ" dirty="0"/>
              <a:t> distance data </a:t>
            </a:r>
            <a:r>
              <a:rPr lang="cs-CZ" dirty="0" err="1"/>
              <a:t>collection</a:t>
            </a:r>
            <a:endParaRPr lang="cs-CZ" dirty="0"/>
          </a:p>
          <a:p>
            <a:r>
              <a:rPr lang="cs-CZ" dirty="0"/>
              <a:t>Project </a:t>
            </a:r>
            <a:r>
              <a:rPr lang="cs-CZ" sz="1100" b="1" dirty="0" err="1">
                <a:solidFill>
                  <a:schemeClr val="bg1">
                    <a:lumMod val="50000"/>
                  </a:schemeClr>
                </a:solidFill>
              </a:rPr>
              <a:t>escapecollector-teaching</a:t>
            </a:r>
            <a:endParaRPr lang="en-GB" dirty="0"/>
          </a:p>
        </p:txBody>
      </p:sp>
    </p:spTree>
    <p:extLst>
      <p:ext uri="{BB962C8B-B14F-4D97-AF65-F5344CB8AC3E}">
        <p14:creationId xmlns:p14="http://schemas.microsoft.com/office/powerpoint/2010/main" val="17559253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36695878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361583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0" name="Google Shape;27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347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Záhlaví oddílu"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7"/>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va obsahy" type="twoObj">
  <p:cSld name="TWO_OBJECTS">
    <p:spTree>
      <p:nvGrpSpPr>
        <p:cNvPr id="1" name="Shape 29"/>
        <p:cNvGrpSpPr/>
        <p:nvPr/>
      </p:nvGrpSpPr>
      <p:grpSpPr>
        <a:xfrm>
          <a:off x="0" y="0"/>
          <a:ext cx="0" cy="0"/>
          <a:chOff x="0" y="0"/>
          <a:chExt cx="0" cy="0"/>
        </a:xfrm>
      </p:grpSpPr>
      <p:sp>
        <p:nvSpPr>
          <p:cNvPr id="30" name="Google Shape;30;p2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8"/>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8"/>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orovnání" type="twoTxTwoObj">
  <p:cSld name="TWO_OBJECTS_WITH_TEXT">
    <p:spTree>
      <p:nvGrpSpPr>
        <p:cNvPr id="1" name="Shape 36"/>
        <p:cNvGrpSpPr/>
        <p:nvPr/>
      </p:nvGrpSpPr>
      <p:grpSpPr>
        <a:xfrm>
          <a:off x="0" y="0"/>
          <a:ext cx="0" cy="0"/>
          <a:chOff x="0" y="0"/>
          <a:chExt cx="0" cy="0"/>
        </a:xfrm>
      </p:grpSpPr>
      <p:sp>
        <p:nvSpPr>
          <p:cNvPr id="37" name="Google Shape;37;p29"/>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9"/>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9"/>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9"/>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9"/>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Jenom nadpis" type="titleOnly">
  <p:cSld name="TITLE_ONLY">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ázdný" type="blank">
  <p:cSld name="BLANK">
    <p:spTree>
      <p:nvGrpSpPr>
        <p:cNvPr id="1" name="Shape 50"/>
        <p:cNvGrpSpPr/>
        <p:nvPr/>
      </p:nvGrpSpPr>
      <p:grpSpPr>
        <a:xfrm>
          <a:off x="0" y="0"/>
          <a:ext cx="0" cy="0"/>
          <a:chOff x="0" y="0"/>
          <a:chExt cx="0" cy="0"/>
        </a:xfrm>
      </p:grpSpPr>
      <p:sp>
        <p:nvSpPr>
          <p:cNvPr id="51" name="Google Shape;51;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bsah s titulkem"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rázek s titulkem"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3"/>
          <p:cNvSpPr>
            <a:spLocks noGrp="1"/>
          </p:cNvSpPr>
          <p:nvPr>
            <p:ph type="pic" idx="2"/>
          </p:nvPr>
        </p:nvSpPr>
        <p:spPr>
          <a:xfrm>
            <a:off x="3887391" y="987426"/>
            <a:ext cx="4629150" cy="4873625"/>
          </a:xfrm>
          <a:prstGeom prst="rect">
            <a:avLst/>
          </a:prstGeom>
          <a:noFill/>
          <a:ln>
            <a:noFill/>
          </a:ln>
        </p:spPr>
      </p:sp>
      <p:sp>
        <p:nvSpPr>
          <p:cNvPr id="64" name="Google Shape;64;p3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adpis a svislý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vislý nadpis a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Úvodní snímek">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cs-CZ"/>
              <a:t>Kliknutím lze upravit styl.</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en-US" dirty="0"/>
          </a:p>
        </p:txBody>
      </p:sp>
      <p:sp>
        <p:nvSpPr>
          <p:cNvPr id="4" name="Date Placeholder 3"/>
          <p:cNvSpPr>
            <a:spLocks noGrp="1"/>
          </p:cNvSpPr>
          <p:nvPr>
            <p:ph type="dt" sz="half" idx="10"/>
          </p:nvPr>
        </p:nvSpPr>
        <p:spPr/>
        <p:txBody>
          <a:bodyPr/>
          <a:lstStyle/>
          <a:p>
            <a:fld id="{7703BA41-4C32-439D-A654-41C9473AC832}" type="datetimeFigureOut">
              <a:rPr lang="en-GB" smtClean="0"/>
              <a:t>18/11/2025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11C3CA-4D38-402C-BC51-ADCDC763E40B}" type="slidenum">
              <a:rPr lang="en-GB" smtClean="0"/>
              <a:t>‹#›</a:t>
            </a:fld>
            <a:endParaRPr lang="en-GB"/>
          </a:p>
        </p:txBody>
      </p:sp>
    </p:spTree>
    <p:extLst>
      <p:ext uri="{BB962C8B-B14F-4D97-AF65-F5344CB8AC3E}">
        <p14:creationId xmlns:p14="http://schemas.microsoft.com/office/powerpoint/2010/main" val="3710991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png"/><Relationship Id="rId7"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4.png"/><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hyperlink" Target="https://mapy.com/s/kalokepuma"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www.zoopraha.cz/en"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139238"/>
            <a:ext cx="7772400" cy="1362075"/>
          </a:xfrm>
        </p:spPr>
        <p:txBody>
          <a:bodyPr>
            <a:normAutofit/>
          </a:bodyPr>
          <a:lstStyle/>
          <a:p>
            <a:pPr>
              <a:defRPr sz="4400"/>
            </a:pPr>
            <a:r>
              <a:rPr lang="en-GB" sz="3600" b="1" dirty="0">
                <a:solidFill>
                  <a:srgbClr val="007A3D"/>
                </a:solidFill>
                <a:latin typeface="Calibri" panose="020F0502020204030204" pitchFamily="34" charset="0"/>
                <a:cs typeface="Calibri" panose="020F0502020204030204" pitchFamily="34" charset="0"/>
              </a:rPr>
              <a:t>FUND</a:t>
            </a:r>
            <a:r>
              <a:rPr lang="cs-CZ" sz="3600" b="1" dirty="0">
                <a:solidFill>
                  <a:srgbClr val="007A3D"/>
                </a:solidFill>
                <a:latin typeface="Calibri" panose="020F0502020204030204" pitchFamily="34" charset="0"/>
                <a:cs typeface="Calibri" panose="020F0502020204030204" pitchFamily="34" charset="0"/>
              </a:rPr>
              <a:t>A</a:t>
            </a:r>
            <a:r>
              <a:rPr lang="en-GB" sz="3600" b="1" dirty="0">
                <a:solidFill>
                  <a:srgbClr val="007A3D"/>
                </a:solidFill>
                <a:latin typeface="Calibri" panose="020F0502020204030204" pitchFamily="34" charset="0"/>
                <a:cs typeface="Calibri" panose="020F0502020204030204" pitchFamily="34" charset="0"/>
              </a:rPr>
              <a:t>MENTALS OF ECOLOGY</a:t>
            </a:r>
            <a:br>
              <a:rPr lang="en-GB" sz="3600" b="1" dirty="0">
                <a:solidFill>
                  <a:srgbClr val="007A3D"/>
                </a:solidFill>
                <a:latin typeface="Calibri" panose="020F0502020204030204" pitchFamily="34" charset="0"/>
                <a:cs typeface="Calibri" panose="020F0502020204030204" pitchFamily="34" charset="0"/>
              </a:rPr>
            </a:br>
            <a:r>
              <a:rPr lang="en-GB" sz="3600" b="1" dirty="0">
                <a:solidFill>
                  <a:srgbClr val="007A3D"/>
                </a:solidFill>
                <a:latin typeface="Calibri" panose="020F0502020204030204" pitchFamily="34" charset="0"/>
                <a:cs typeface="Calibri" panose="020F0502020204030204" pitchFamily="34" charset="0"/>
              </a:rPr>
              <a:t>GENERAL ECOLOGY</a:t>
            </a: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5" name="Title 1">
            <a:extLst>
              <a:ext uri="{FF2B5EF4-FFF2-40B4-BE49-F238E27FC236}">
                <a16:creationId xmlns:a16="http://schemas.microsoft.com/office/drawing/2014/main" id="{DF11E535-7BDD-3746-8BC7-C10327BBEF05}"/>
              </a:ext>
            </a:extLst>
          </p:cNvPr>
          <p:cNvSpPr txBox="1">
            <a:spLocks/>
          </p:cNvSpPr>
          <p:nvPr/>
        </p:nvSpPr>
        <p:spPr>
          <a:xfrm>
            <a:off x="726661" y="2820689"/>
            <a:ext cx="7772400" cy="61704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algn="r"/>
            <a:r>
              <a:rPr lang="cs-CZ" sz="2800" b="0" cap="none" dirty="0">
                <a:solidFill>
                  <a:schemeClr val="tx1">
                    <a:lumMod val="50000"/>
                    <a:lumOff val="50000"/>
                  </a:schemeClr>
                </a:solidFill>
              </a:rPr>
              <a:t>HANDS ON</a:t>
            </a:r>
            <a:endParaRPr lang="en-GB" sz="2800" b="0" cap="none" dirty="0">
              <a:solidFill>
                <a:schemeClr val="tx1">
                  <a:lumMod val="50000"/>
                  <a:lumOff val="50000"/>
                </a:schemeClr>
              </a:solidFill>
            </a:endParaRPr>
          </a:p>
        </p:txBody>
      </p:sp>
      <p:sp>
        <p:nvSpPr>
          <p:cNvPr id="7" name="TextBox 6">
            <a:extLst>
              <a:ext uri="{FF2B5EF4-FFF2-40B4-BE49-F238E27FC236}">
                <a16:creationId xmlns:a16="http://schemas.microsoft.com/office/drawing/2014/main" id="{6ED71A50-3DEA-BE4D-8DA7-DCCA4CEBCF91}"/>
              </a:ext>
            </a:extLst>
          </p:cNvPr>
          <p:cNvSpPr txBox="1"/>
          <p:nvPr/>
        </p:nvSpPr>
        <p:spPr>
          <a:xfrm>
            <a:off x="3879171" y="3834610"/>
            <a:ext cx="4615542" cy="646331"/>
          </a:xfrm>
          <a:prstGeom prst="rect">
            <a:avLst/>
          </a:prstGeom>
          <a:noFill/>
        </p:spPr>
        <p:txBody>
          <a:bodyPr wrap="square">
            <a:spAutoFit/>
          </a:bodyPr>
          <a:lstStyle/>
          <a:p>
            <a:pPr algn="r">
              <a:defRPr sz="2000">
                <a:solidFill>
                  <a:srgbClr val="222222"/>
                </a:solidFill>
              </a:defRPr>
            </a:pPr>
            <a:r>
              <a:rPr lang="en-GB" sz="1800" dirty="0">
                <a:solidFill>
                  <a:srgbClr val="007A3D"/>
                </a:solidFill>
                <a:latin typeface="Helvetica" pitchFamily="2" charset="0"/>
                <a:cs typeface="Calibri" panose="020F0502020204030204" pitchFamily="34" charset="0"/>
              </a:rPr>
              <a:t>Peter Mikula</a:t>
            </a:r>
            <a:endParaRPr lang="cs-CZ" sz="1800" dirty="0">
              <a:solidFill>
                <a:srgbClr val="007A3D"/>
              </a:solidFill>
              <a:latin typeface="Helvetica" pitchFamily="2" charset="0"/>
              <a:cs typeface="Calibri" panose="020F0502020204030204" pitchFamily="34" charset="0"/>
            </a:endParaRPr>
          </a:p>
          <a:p>
            <a:pPr algn="r">
              <a:defRPr sz="2000">
                <a:solidFill>
                  <a:srgbClr val="222222"/>
                </a:solidFill>
              </a:defRPr>
            </a:pPr>
            <a:r>
              <a:rPr lang="en-GB" sz="1800" dirty="0">
                <a:solidFill>
                  <a:srgbClr val="007A3D"/>
                </a:solidFill>
                <a:latin typeface="Helvetica" pitchFamily="2" charset="0"/>
                <a:cs typeface="Calibri" panose="020F0502020204030204" pitchFamily="34" charset="0"/>
              </a:rPr>
              <a:t>Martin Bulla </a:t>
            </a:r>
          </a:p>
        </p:txBody>
      </p:sp>
      <p:sp>
        <p:nvSpPr>
          <p:cNvPr id="10" name="Rectangle 9">
            <a:extLst>
              <a:ext uri="{FF2B5EF4-FFF2-40B4-BE49-F238E27FC236}">
                <a16:creationId xmlns:a16="http://schemas.microsoft.com/office/drawing/2014/main" id="{1441F69B-4AE7-2A49-99BA-22AEA73B0C9B}"/>
              </a:ext>
            </a:extLst>
          </p:cNvPr>
          <p:cNvSpPr/>
          <p:nvPr/>
        </p:nvSpPr>
        <p:spPr>
          <a:xfrm>
            <a:off x="-13065" y="6605445"/>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rPr lang="en-US" dirty="0">
                <a:solidFill>
                  <a:schemeClr val="bg1">
                    <a:lumMod val="65000"/>
                  </a:schemeClr>
                </a:solidFill>
                <a:latin typeface="Helvetica Light" panose="020B0403020202020204" pitchFamily="34" charset="0"/>
              </a:rPr>
              <a:t>Czech University of Life Sciences Prague</a:t>
            </a:r>
            <a:endParaRPr dirty="0">
              <a:solidFill>
                <a:schemeClr val="bg1">
                  <a:lumMod val="65000"/>
                </a:schemeClr>
              </a:solidFill>
              <a:latin typeface="Helvetica Light" panose="020B0403020202020204" pitchFamily="34" charset="0"/>
            </a:endParaRPr>
          </a:p>
        </p:txBody>
      </p:sp>
    </p:spTree>
    <p:extLst>
      <p:ext uri="{BB962C8B-B14F-4D97-AF65-F5344CB8AC3E}">
        <p14:creationId xmlns:p14="http://schemas.microsoft.com/office/powerpoint/2010/main" val="215978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3732" y="274638"/>
            <a:ext cx="3605514" cy="1143000"/>
          </a:xfrm>
        </p:spPr>
        <p:txBody>
          <a:bodyPr>
            <a:normAutofit/>
          </a:bodyPr>
          <a:lstStyle/>
          <a:p>
            <a:pPr algn="l">
              <a:defRPr sz="3400"/>
            </a:pPr>
            <a:r>
              <a:rPr lang="en-DE" sz="3600" dirty="0">
                <a:solidFill>
                  <a:schemeClr val="bg1">
                    <a:lumMod val="50000"/>
                  </a:schemeClr>
                </a:solidFill>
              </a:rPr>
              <a:t>Course</a:t>
            </a:r>
            <a:r>
              <a:rPr lang="en-DE" sz="3600" dirty="0">
                <a:solidFill>
                  <a:srgbClr val="007A3D"/>
                </a:solidFill>
              </a:rPr>
              <a:t> format</a:t>
            </a:r>
            <a:endParaRPr sz="3600" dirty="0">
              <a:solidFill>
                <a:srgbClr val="007A3D"/>
              </a:solidFill>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7" name="TextBox 6">
            <a:extLst>
              <a:ext uri="{FF2B5EF4-FFF2-40B4-BE49-F238E27FC236}">
                <a16:creationId xmlns:a16="http://schemas.microsoft.com/office/drawing/2014/main" id="{C82CEB46-FC51-E34E-8D6B-EBF3949ECAE4}"/>
              </a:ext>
            </a:extLst>
          </p:cNvPr>
          <p:cNvSpPr txBox="1"/>
          <p:nvPr/>
        </p:nvSpPr>
        <p:spPr>
          <a:xfrm>
            <a:off x="1313732" y="1457896"/>
            <a:ext cx="7511969" cy="1946687"/>
          </a:xfrm>
          <a:prstGeom prst="rect">
            <a:avLst/>
          </a:prstGeom>
          <a:noFill/>
        </p:spPr>
        <p:txBody>
          <a:bodyPr wrap="square">
            <a:spAutoFit/>
          </a:bodyPr>
          <a:lstStyle/>
          <a:p>
            <a:pPr rtl="0">
              <a:spcBef>
                <a:spcPts val="0"/>
              </a:spcBef>
              <a:spcAft>
                <a:spcPts val="300"/>
              </a:spcAft>
            </a:pPr>
            <a:r>
              <a:rPr lang="en-GB" sz="1800" b="0" i="0" u="none" strike="noStrike" dirty="0">
                <a:solidFill>
                  <a:schemeClr val="bg1">
                    <a:lumMod val="50000"/>
                  </a:schemeClr>
                </a:solidFill>
                <a:effectLst/>
                <a:latin typeface="Arial" panose="020B0604020202020204" pitchFamily="34" charset="0"/>
              </a:rPr>
              <a:t>21.10. 10:30 - 12:00 	(Z118) 	Course intro</a:t>
            </a:r>
            <a:endParaRPr lang="en-GB" b="0" dirty="0">
              <a:solidFill>
                <a:schemeClr val="bg1">
                  <a:lumMod val="50000"/>
                </a:schemeClr>
              </a:solidFill>
              <a:effectLst/>
            </a:endParaRPr>
          </a:p>
          <a:p>
            <a:pPr rtl="0">
              <a:spcBef>
                <a:spcPts val="0"/>
              </a:spcBef>
              <a:spcAft>
                <a:spcPts val="300"/>
              </a:spcAft>
            </a:pPr>
            <a:r>
              <a:rPr lang="en-GB" sz="1800" b="0" i="0" u="none" strike="noStrike" dirty="0">
                <a:solidFill>
                  <a:schemeClr val="bg1">
                    <a:lumMod val="50000"/>
                  </a:schemeClr>
                </a:solidFill>
                <a:effectLst/>
                <a:latin typeface="Arial" panose="020B0604020202020204" pitchFamily="34" charset="0"/>
              </a:rPr>
              <a:t>04.11. 10:30 - 12:00  	(Z118) 	</a:t>
            </a:r>
            <a:r>
              <a:rPr lang="en-GB" sz="1800" dirty="0">
                <a:solidFill>
                  <a:schemeClr val="bg1">
                    <a:lumMod val="50000"/>
                  </a:schemeClr>
                </a:solidFill>
                <a:latin typeface="Arial" panose="020B0604020202020204" pitchFamily="34" charset="0"/>
              </a:rPr>
              <a:t>Intro</a:t>
            </a:r>
            <a:r>
              <a:rPr lang="en-GB" dirty="0">
                <a:solidFill>
                  <a:schemeClr val="bg1">
                    <a:lumMod val="50000"/>
                  </a:schemeClr>
                </a:solidFill>
                <a:latin typeface="Arial" panose="020B0604020202020204" pitchFamily="34" charset="0"/>
              </a:rPr>
              <a:t> </a:t>
            </a:r>
            <a:r>
              <a:rPr lang="en-GB" sz="1800" b="0" i="0" u="none" strike="noStrike" dirty="0">
                <a:solidFill>
                  <a:schemeClr val="bg1">
                    <a:lumMod val="50000"/>
                  </a:schemeClr>
                </a:solidFill>
                <a:effectLst/>
                <a:latin typeface="Arial" panose="020B0604020202020204" pitchFamily="34" charset="0"/>
              </a:rPr>
              <a:t>to ecology</a:t>
            </a:r>
            <a:endParaRPr lang="en-GB" b="0" dirty="0">
              <a:solidFill>
                <a:schemeClr val="bg1">
                  <a:lumMod val="50000"/>
                </a:schemeClr>
              </a:solidFill>
              <a:effectLst/>
            </a:endParaRPr>
          </a:p>
          <a:p>
            <a:pPr rtl="0">
              <a:spcBef>
                <a:spcPts val="0"/>
              </a:spcBef>
              <a:spcAft>
                <a:spcPts val="300"/>
              </a:spcAft>
            </a:pPr>
            <a:r>
              <a:rPr lang="en-GB" sz="1800" dirty="0">
                <a:solidFill>
                  <a:schemeClr val="tx1"/>
                </a:solidFill>
                <a:latin typeface="Arial" panose="020B0604020202020204" pitchFamily="34" charset="0"/>
              </a:rPr>
              <a:t>1</a:t>
            </a:r>
            <a:r>
              <a:rPr lang="en-GB" sz="1800" b="0" i="0" u="none" strike="noStrike" dirty="0">
                <a:solidFill>
                  <a:schemeClr val="tx1"/>
                </a:solidFill>
                <a:effectLst/>
                <a:latin typeface="Arial" panose="020B0604020202020204" pitchFamily="34" charset="0"/>
              </a:rPr>
              <a:t>8</a:t>
            </a:r>
            <a:r>
              <a:rPr lang="en-GB" sz="1800" b="0" i="0" u="none" strike="noStrike" dirty="0">
                <a:solidFill>
                  <a:srgbClr val="000000"/>
                </a:solidFill>
                <a:effectLst/>
                <a:latin typeface="Arial" panose="020B0604020202020204" pitchFamily="34" charset="0"/>
              </a:rPr>
              <a:t>.11. 10:30 - 12:00 	(Z118)	Intro to hands on</a:t>
            </a:r>
            <a:endParaRPr lang="en-GB" b="0" dirty="0">
              <a:effectLst/>
            </a:endParaRPr>
          </a:p>
          <a:p>
            <a:pPr rtl="0">
              <a:spcBef>
                <a:spcPts val="0"/>
              </a:spcBef>
              <a:spcAft>
                <a:spcPts val="300"/>
              </a:spcAft>
            </a:pPr>
            <a:r>
              <a:rPr lang="en-GB" sz="1800" b="0" i="0" u="none" strike="noStrike" dirty="0">
                <a:solidFill>
                  <a:srgbClr val="007A3D"/>
                </a:solidFill>
                <a:effectLst/>
                <a:latin typeface="Arial" panose="020B0604020202020204" pitchFamily="34" charset="0"/>
              </a:rPr>
              <a:t>21.11.   8:</a:t>
            </a:r>
            <a:r>
              <a:rPr lang="cs-CZ" sz="1800" b="0" i="0" u="none" strike="noStrike" dirty="0">
                <a:solidFill>
                  <a:srgbClr val="007A3D"/>
                </a:solidFill>
                <a:effectLst/>
                <a:latin typeface="Arial" panose="020B0604020202020204" pitchFamily="34" charset="0"/>
              </a:rPr>
              <a:t>0</a:t>
            </a:r>
            <a:r>
              <a:rPr lang="en-GB" sz="1800" b="0" i="0" u="none" strike="noStrike" dirty="0">
                <a:solidFill>
                  <a:srgbClr val="007A3D"/>
                </a:solidFill>
                <a:effectLst/>
                <a:latin typeface="Arial" panose="020B0604020202020204" pitchFamily="34" charset="0"/>
              </a:rPr>
              <a:t>0 - 17:00 		Excursion</a:t>
            </a:r>
            <a:endParaRPr lang="en-GB" b="0" dirty="0">
              <a:solidFill>
                <a:srgbClr val="007A3D"/>
              </a:solidFill>
              <a:effectLst/>
            </a:endParaRPr>
          </a:p>
          <a:p>
            <a:pPr rtl="0">
              <a:spcBef>
                <a:spcPts val="0"/>
              </a:spcBef>
              <a:spcAft>
                <a:spcPts val="300"/>
              </a:spcAft>
            </a:pPr>
            <a:r>
              <a:rPr lang="en-GB" sz="1800" b="0" i="0" u="none" strike="noStrike" dirty="0">
                <a:solidFill>
                  <a:srgbClr val="007A3D"/>
                </a:solidFill>
                <a:effectLst/>
                <a:latin typeface="Arial" panose="020B0604020202020204" pitchFamily="34" charset="0"/>
              </a:rPr>
              <a:t>28.11.   8:30 - 17:00 	(VN306)	Home-work on the topics</a:t>
            </a:r>
            <a:endParaRPr lang="en-GB" b="0" dirty="0">
              <a:solidFill>
                <a:srgbClr val="007A3D"/>
              </a:solidFill>
              <a:effectLst/>
            </a:endParaRPr>
          </a:p>
          <a:p>
            <a:pPr rtl="0">
              <a:spcBef>
                <a:spcPts val="0"/>
              </a:spcBef>
              <a:spcAft>
                <a:spcPts val="300"/>
              </a:spcAft>
            </a:pPr>
            <a:r>
              <a:rPr lang="en-GB" sz="1800" b="1" i="0" u="none" strike="noStrike" dirty="0">
                <a:solidFill>
                  <a:srgbClr val="007A3D"/>
                </a:solidFill>
                <a:effectLst/>
                <a:latin typeface="Arial" panose="020B0604020202020204" pitchFamily="34" charset="0"/>
              </a:rPr>
              <a:t>05.12.   8:30 - 17:00	</a:t>
            </a:r>
            <a:r>
              <a:rPr lang="en-GB" sz="1800" i="0" u="none" strike="noStrike" dirty="0">
                <a:solidFill>
                  <a:srgbClr val="007A3D"/>
                </a:solidFill>
                <a:effectLst/>
                <a:latin typeface="Arial" panose="020B0604020202020204" pitchFamily="34" charset="0"/>
              </a:rPr>
              <a:t>(VN306)</a:t>
            </a:r>
            <a:r>
              <a:rPr lang="en-GB" sz="1800" b="1" i="0" u="none" strike="noStrike" dirty="0">
                <a:solidFill>
                  <a:srgbClr val="007A3D"/>
                </a:solidFill>
                <a:effectLst/>
                <a:latin typeface="Arial" panose="020B0604020202020204" pitchFamily="34" charset="0"/>
              </a:rPr>
              <a:t>	Symposium </a:t>
            </a:r>
            <a:r>
              <a:rPr lang="en-GB" sz="1800" i="0" u="none" strike="noStrike" dirty="0">
                <a:solidFill>
                  <a:srgbClr val="007A3D"/>
                </a:solidFill>
                <a:effectLst/>
                <a:latin typeface="Arial" panose="020B0604020202020204" pitchFamily="34" charset="0"/>
              </a:rPr>
              <a:t>(presentations)</a:t>
            </a:r>
          </a:p>
        </p:txBody>
      </p:sp>
      <p:sp>
        <p:nvSpPr>
          <p:cNvPr id="6" name="TextBox 5">
            <a:extLst>
              <a:ext uri="{FF2B5EF4-FFF2-40B4-BE49-F238E27FC236}">
                <a16:creationId xmlns:a16="http://schemas.microsoft.com/office/drawing/2014/main" id="{6389228C-4B29-7A46-8986-1BA6A5F3C02C}"/>
              </a:ext>
            </a:extLst>
          </p:cNvPr>
          <p:cNvSpPr txBox="1"/>
          <p:nvPr/>
        </p:nvSpPr>
        <p:spPr>
          <a:xfrm>
            <a:off x="1313732" y="4810490"/>
            <a:ext cx="5835213" cy="369332"/>
          </a:xfrm>
          <a:prstGeom prst="rect">
            <a:avLst/>
          </a:prstGeom>
          <a:noFill/>
        </p:spPr>
        <p:txBody>
          <a:bodyPr wrap="square">
            <a:spAutoFit/>
          </a:bodyPr>
          <a:lstStyle/>
          <a:p>
            <a:r>
              <a:rPr lang="en-DE" dirty="0">
                <a:latin typeface="Arial" panose="020B0604020202020204" pitchFamily="34" charset="0"/>
                <a:cs typeface="Arial" panose="020B0604020202020204" pitchFamily="34" charset="0"/>
              </a:rPr>
              <a:t>https://github.com/MartinBulla/Ecology_Fund_Gen</a:t>
            </a:r>
          </a:p>
        </p:txBody>
      </p:sp>
      <p:sp>
        <p:nvSpPr>
          <p:cNvPr id="8" name="Title 1">
            <a:extLst>
              <a:ext uri="{FF2B5EF4-FFF2-40B4-BE49-F238E27FC236}">
                <a16:creationId xmlns:a16="http://schemas.microsoft.com/office/drawing/2014/main" id="{F872A9A8-5D46-5946-A739-A938C5E1D923}"/>
              </a:ext>
            </a:extLst>
          </p:cNvPr>
          <p:cNvSpPr txBox="1">
            <a:spLocks/>
          </p:cNvSpPr>
          <p:nvPr/>
        </p:nvSpPr>
        <p:spPr>
          <a:xfrm>
            <a:off x="1313732" y="3688815"/>
            <a:ext cx="3605514"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sz="3400"/>
            </a:pPr>
            <a:r>
              <a:rPr lang="en-GB" sz="3600" dirty="0">
                <a:solidFill>
                  <a:schemeClr val="bg1">
                    <a:lumMod val="50000"/>
                  </a:schemeClr>
                </a:solidFill>
              </a:rPr>
              <a:t>Course</a:t>
            </a:r>
            <a:r>
              <a:rPr lang="en-GB" sz="3600" dirty="0">
                <a:solidFill>
                  <a:srgbClr val="007A3D"/>
                </a:solidFill>
              </a:rPr>
              <a:t> material</a:t>
            </a:r>
          </a:p>
        </p:txBody>
      </p:sp>
      <p:pic>
        <p:nvPicPr>
          <p:cNvPr id="5" name="Picture 4">
            <a:extLst>
              <a:ext uri="{FF2B5EF4-FFF2-40B4-BE49-F238E27FC236}">
                <a16:creationId xmlns:a16="http://schemas.microsoft.com/office/drawing/2014/main" id="{63E5CEA7-D825-2040-B681-C2A5856F2A2F}"/>
              </a:ext>
            </a:extLst>
          </p:cNvPr>
          <p:cNvPicPr>
            <a:picLocks noChangeAspect="1"/>
          </p:cNvPicPr>
          <p:nvPr/>
        </p:nvPicPr>
        <p:blipFill>
          <a:blip r:embed="rId3"/>
          <a:stretch>
            <a:fillRect/>
          </a:stretch>
        </p:blipFill>
        <p:spPr>
          <a:xfrm>
            <a:off x="6916738" y="4217270"/>
            <a:ext cx="913530" cy="910291"/>
          </a:xfrm>
          <a:prstGeom prst="rect">
            <a:avLst/>
          </a:prstGeom>
        </p:spPr>
      </p:pic>
    </p:spTree>
    <p:extLst>
      <p:ext uri="{BB962C8B-B14F-4D97-AF65-F5344CB8AC3E}">
        <p14:creationId xmlns:p14="http://schemas.microsoft.com/office/powerpoint/2010/main" val="124267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50690"/>
            <a:ext cx="7772400" cy="1362075"/>
          </a:xfrm>
        </p:spPr>
        <p:txBody>
          <a:bodyPr>
            <a:normAutofit/>
          </a:bodyPr>
          <a:lstStyle/>
          <a:p>
            <a:pPr>
              <a:defRPr sz="4400"/>
            </a:pPr>
            <a:r>
              <a:rPr lang="en-US" sz="3600" b="1" dirty="0">
                <a:solidFill>
                  <a:srgbClr val="007A3D"/>
                </a:solidFill>
                <a:latin typeface="Calibri" panose="020F0502020204030204" pitchFamily="34" charset="0"/>
                <a:cs typeface="Calibri" panose="020F0502020204030204" pitchFamily="34" charset="0"/>
              </a:rPr>
              <a:t>OUTLINE</a:t>
            </a:r>
            <a:endParaRPr lang="en-GB" sz="3600" b="1" dirty="0">
              <a:solidFill>
                <a:srgbClr val="007A3D"/>
              </a:solidFill>
              <a:latin typeface="Calibri" panose="020F0502020204030204" pitchFamily="34" charset="0"/>
              <a:cs typeface="Calibri" panose="020F0502020204030204" pitchFamily="34" charset="0"/>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5" name="Title 1">
            <a:extLst>
              <a:ext uri="{FF2B5EF4-FFF2-40B4-BE49-F238E27FC236}">
                <a16:creationId xmlns:a16="http://schemas.microsoft.com/office/drawing/2014/main" id="{DF11E535-7BDD-3746-8BC7-C10327BBEF05}"/>
              </a:ext>
            </a:extLst>
          </p:cNvPr>
          <p:cNvSpPr txBox="1">
            <a:spLocks/>
          </p:cNvSpPr>
          <p:nvPr/>
        </p:nvSpPr>
        <p:spPr>
          <a:xfrm>
            <a:off x="726661" y="1832141"/>
            <a:ext cx="7772400" cy="25915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marL="514350" indent="-514350">
              <a:buAutoNum type="arabicParenR"/>
            </a:pPr>
            <a:r>
              <a:rPr lang="cs-CZ" sz="2800" b="0" cap="none" dirty="0">
                <a:solidFill>
                  <a:schemeClr val="tx1">
                    <a:lumMod val="50000"/>
                    <a:lumOff val="50000"/>
                  </a:schemeClr>
                </a:solidFill>
              </a:rPr>
              <a:t>SAMPLE PRESENTATION</a:t>
            </a:r>
          </a:p>
          <a:p>
            <a:pPr marL="514350" indent="-514350">
              <a:buAutoNum type="arabicParenR"/>
            </a:pPr>
            <a:r>
              <a:rPr lang="cs-CZ" sz="2800" b="0" cap="none" dirty="0">
                <a:solidFill>
                  <a:schemeClr val="tx1">
                    <a:lumMod val="50000"/>
                    <a:lumOff val="50000"/>
                  </a:schemeClr>
                </a:solidFill>
              </a:rPr>
              <a:t>HANDS ON</a:t>
            </a:r>
          </a:p>
          <a:p>
            <a:pPr marL="514350" indent="-514350">
              <a:buAutoNum type="arabicParenR"/>
            </a:pPr>
            <a:r>
              <a:rPr lang="cs-CZ" sz="2800" b="0" cap="none" dirty="0">
                <a:solidFill>
                  <a:schemeClr val="tx1">
                    <a:lumMod val="50000"/>
                    <a:lumOff val="50000"/>
                  </a:schemeClr>
                </a:solidFill>
              </a:rPr>
              <a:t>INFO ABOUT EXCURSION/HOMEWORK</a:t>
            </a:r>
            <a:endParaRPr lang="en-GB" sz="2800" b="0" cap="none" dirty="0">
              <a:solidFill>
                <a:schemeClr val="tx1">
                  <a:lumMod val="50000"/>
                  <a:lumOff val="50000"/>
                </a:schemeClr>
              </a:solidFill>
            </a:endParaRPr>
          </a:p>
        </p:txBody>
      </p:sp>
    </p:spTree>
    <p:extLst>
      <p:ext uri="{BB962C8B-B14F-4D97-AF65-F5344CB8AC3E}">
        <p14:creationId xmlns:p14="http://schemas.microsoft.com/office/powerpoint/2010/main" val="152073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nodeType="withEffect">
                                  <p:stCondLst>
                                    <p:cond delay="0"/>
                                  </p:stCondLst>
                                  <p:childTnLst>
                                    <p:animClr clrSpc="rgb" dir="cw">
                                      <p:cBhvr override="childStyle">
                                        <p:cTn id="6" dur="500" fill="hold"/>
                                        <p:tgtEl>
                                          <p:spTgt spid="5">
                                            <p:txEl>
                                              <p:pRg st="0" end="0"/>
                                            </p:txEl>
                                          </p:spTgt>
                                        </p:tgtEl>
                                        <p:attrNameLst>
                                          <p:attrName>style.color</p:attrName>
                                        </p:attrNameLst>
                                      </p:cBhvr>
                                      <p:to>
                                        <a:schemeClr val="accent2"/>
                                      </p:to>
                                    </p:animClr>
                                    <p:animClr clrSpc="rgb" dir="cw">
                                      <p:cBhvr>
                                        <p:cTn id="7" dur="500" fill="hold"/>
                                        <p:tgtEl>
                                          <p:spTgt spid="5">
                                            <p:txEl>
                                              <p:pRg st="0" end="0"/>
                                            </p:txEl>
                                          </p:spTgt>
                                        </p:tgtEl>
                                        <p:attrNameLst>
                                          <p:attrName>fillcolor</p:attrName>
                                        </p:attrNameLst>
                                      </p:cBhvr>
                                      <p:to>
                                        <a:schemeClr val="accent2"/>
                                      </p:to>
                                    </p:animClr>
                                    <p:set>
                                      <p:cBhvr>
                                        <p:cTn id="8" dur="500" fill="hold"/>
                                        <p:tgtEl>
                                          <p:spTgt spid="5">
                                            <p:txEl>
                                              <p:pRg st="0" end="0"/>
                                            </p:txEl>
                                          </p:spTgt>
                                        </p:tgtEl>
                                        <p:attrNameLst>
                                          <p:attrName>fill.type</p:attrName>
                                        </p:attrNameLst>
                                      </p:cBhvr>
                                      <p:to>
                                        <p:strVal val="solid"/>
                                      </p:to>
                                    </p:set>
                                    <p:set>
                                      <p:cBhvr>
                                        <p:cTn id="9" dur="500" fill="hold"/>
                                        <p:tgtEl>
                                          <p:spTgt spid="5">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56E85B15-28D0-0A1E-785B-5FFB57C55070}"/>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F211EAC1-C9AE-E273-71C4-17EA486C1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47088"/>
            <a:ext cx="9144000" cy="5163823"/>
          </a:xfrm>
          <a:prstGeom prst="rect">
            <a:avLst/>
          </a:prstGeom>
          <a:noFill/>
          <a:extLst>
            <a:ext uri="{909E8E84-426E-40DD-AFC4-6F175D3DCCD1}">
              <a14:hiddenFill xmlns:a14="http://schemas.microsoft.com/office/drawing/2010/main">
                <a:solidFill>
                  <a:srgbClr val="FFFFFF"/>
                </a:solidFill>
              </a14:hiddenFill>
            </a:ext>
          </a:extLst>
        </p:spPr>
      </p:pic>
      <p:sp>
        <p:nvSpPr>
          <p:cNvPr id="2" name="TextovéPole 1">
            <a:extLst>
              <a:ext uri="{FF2B5EF4-FFF2-40B4-BE49-F238E27FC236}">
                <a16:creationId xmlns:a16="http://schemas.microsoft.com/office/drawing/2014/main" id="{AA666F8D-D94C-83B1-E4D6-A313F61D97D2}"/>
              </a:ext>
            </a:extLst>
          </p:cNvPr>
          <p:cNvSpPr txBox="1"/>
          <p:nvPr/>
        </p:nvSpPr>
        <p:spPr>
          <a:xfrm>
            <a:off x="7675328" y="6584053"/>
            <a:ext cx="1468672" cy="246221"/>
          </a:xfrm>
          <a:prstGeom prst="rect">
            <a:avLst/>
          </a:prstGeom>
          <a:noFill/>
        </p:spPr>
        <p:txBody>
          <a:bodyPr wrap="none" rtlCol="0">
            <a:spAutoFit/>
          </a:bodyPr>
          <a:lstStyle/>
          <a:p>
            <a:pPr algn="r"/>
            <a:r>
              <a:rPr lang="en-GB" sz="1000" dirty="0"/>
              <a:t>Perkins, </a:t>
            </a:r>
            <a:r>
              <a:rPr lang="en-GB" sz="1000" i="1" dirty="0"/>
              <a:t>Nature</a:t>
            </a:r>
            <a:r>
              <a:rPr lang="en-GB" sz="1000" dirty="0"/>
              <a:t> (2012)</a:t>
            </a:r>
          </a:p>
        </p:txBody>
      </p:sp>
    </p:spTree>
    <p:extLst>
      <p:ext uri="{BB962C8B-B14F-4D97-AF65-F5344CB8AC3E}">
        <p14:creationId xmlns:p14="http://schemas.microsoft.com/office/powerpoint/2010/main" val="240729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3D6D160-3B9C-E681-5FEF-30AD118B07C8}"/>
              </a:ext>
            </a:extLst>
          </p:cNvPr>
          <p:cNvSpPr>
            <a:spLocks noGrp="1"/>
          </p:cNvSpPr>
          <p:nvPr>
            <p:ph type="title"/>
          </p:nvPr>
        </p:nvSpPr>
        <p:spPr/>
        <p:txBody>
          <a:bodyPr/>
          <a:lstStyle/>
          <a:p>
            <a:endParaRPr lang="en-GB"/>
          </a:p>
        </p:txBody>
      </p:sp>
      <p:pic>
        <p:nvPicPr>
          <p:cNvPr id="1026" name="Picture 2" descr="Ratite birds | Moa">
            <a:extLst>
              <a:ext uri="{FF2B5EF4-FFF2-40B4-BE49-F238E27FC236}">
                <a16:creationId xmlns:a16="http://schemas.microsoft.com/office/drawing/2014/main" id="{AED1E23A-7EF4-9107-036F-8DC3909DF8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0" y="1236187"/>
            <a:ext cx="9151595" cy="4103370"/>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5C47847D-1686-E56D-D520-FE7205BC435F}"/>
              </a:ext>
            </a:extLst>
          </p:cNvPr>
          <p:cNvSpPr txBox="1"/>
          <p:nvPr/>
        </p:nvSpPr>
        <p:spPr>
          <a:xfrm>
            <a:off x="5463540" y="6611779"/>
            <a:ext cx="4594860" cy="246221"/>
          </a:xfrm>
          <a:prstGeom prst="rect">
            <a:avLst/>
          </a:prstGeom>
          <a:noFill/>
        </p:spPr>
        <p:txBody>
          <a:bodyPr wrap="square">
            <a:spAutoFit/>
          </a:bodyPr>
          <a:lstStyle/>
          <a:p>
            <a:r>
              <a:rPr lang="en-GB" sz="1000" dirty="0"/>
              <a:t>https://jp.pinterest.com/pin/ratite-birds--849421179738330234/</a:t>
            </a:r>
          </a:p>
        </p:txBody>
      </p:sp>
    </p:spTree>
    <p:extLst>
      <p:ext uri="{BB962C8B-B14F-4D97-AF65-F5344CB8AC3E}">
        <p14:creationId xmlns:p14="http://schemas.microsoft.com/office/powerpoint/2010/main" val="318371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7;p6">
            <a:extLst>
              <a:ext uri="{FF2B5EF4-FFF2-40B4-BE49-F238E27FC236}">
                <a16:creationId xmlns:a16="http://schemas.microsoft.com/office/drawing/2014/main" id="{F9B62165-1DE4-D349-9B5D-C2C23F8FD966}"/>
              </a:ext>
            </a:extLst>
          </p:cNvPr>
          <p:cNvSpPr txBox="1">
            <a:spLocks/>
          </p:cNvSpPr>
          <p:nvPr/>
        </p:nvSpPr>
        <p:spPr>
          <a:xfrm>
            <a:off x="1091916" y="182297"/>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rgbClr val="C55A11"/>
              </a:buClr>
              <a:buSzPts val="2600"/>
              <a:buFont typeface="Arial"/>
              <a:buNone/>
            </a:pPr>
            <a:r>
              <a:rPr lang="en-GB" sz="2600" dirty="0">
                <a:solidFill>
                  <a:srgbClr val="007A3D"/>
                </a:solidFill>
              </a:rPr>
              <a:t>Island rule</a:t>
            </a:r>
            <a:endParaRPr lang="en-GB" dirty="0">
              <a:solidFill>
                <a:srgbClr val="007A3D"/>
              </a:solidFill>
            </a:endParaRPr>
          </a:p>
        </p:txBody>
      </p:sp>
      <p:pic>
        <p:nvPicPr>
          <p:cNvPr id="9" name="Picture 2">
            <a:extLst>
              <a:ext uri="{FF2B5EF4-FFF2-40B4-BE49-F238E27FC236}">
                <a16:creationId xmlns:a16="http://schemas.microsoft.com/office/drawing/2014/main" id="{7A092AF5-DD62-3648-B15C-9944F7C1E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22"/>
          <a:stretch>
            <a:fillRect/>
          </a:stretch>
        </p:blipFill>
        <p:spPr bwMode="auto">
          <a:xfrm>
            <a:off x="1232299" y="732103"/>
            <a:ext cx="5916518" cy="5940937"/>
          </a:xfrm>
          <a:prstGeom prst="rect">
            <a:avLst/>
          </a:prstGeom>
          <a:noFill/>
          <a:extLst>
            <a:ext uri="{909E8E84-426E-40DD-AFC4-6F175D3DCCD1}">
              <a14:hiddenFill xmlns:a14="http://schemas.microsoft.com/office/drawing/2010/main">
                <a:solidFill>
                  <a:srgbClr val="FFFFFF"/>
                </a:solidFill>
              </a14:hiddenFill>
            </a:ext>
          </a:extLst>
        </p:spPr>
      </p:pic>
      <p:sp>
        <p:nvSpPr>
          <p:cNvPr id="10" name="TextovéPole 4">
            <a:extLst>
              <a:ext uri="{FF2B5EF4-FFF2-40B4-BE49-F238E27FC236}">
                <a16:creationId xmlns:a16="http://schemas.microsoft.com/office/drawing/2014/main" id="{7E6F0ECE-ACFD-4C43-B16C-D091F7F24508}"/>
              </a:ext>
            </a:extLst>
          </p:cNvPr>
          <p:cNvSpPr txBox="1"/>
          <p:nvPr/>
        </p:nvSpPr>
        <p:spPr>
          <a:xfrm>
            <a:off x="6268937" y="6611779"/>
            <a:ext cx="2932213" cy="246221"/>
          </a:xfrm>
          <a:prstGeom prst="rect">
            <a:avLst/>
          </a:prstGeom>
          <a:noFill/>
        </p:spPr>
        <p:txBody>
          <a:bodyPr wrap="none" rtlCol="0">
            <a:spAutoFit/>
          </a:bodyPr>
          <a:lstStyle/>
          <a:p>
            <a:r>
              <a:rPr lang="en-GB" sz="1000" dirty="0"/>
              <a:t>Burns, K. C. (2019). Cambridge University Press</a:t>
            </a:r>
          </a:p>
        </p:txBody>
      </p:sp>
    </p:spTree>
    <p:extLst>
      <p:ext uri="{BB962C8B-B14F-4D97-AF65-F5344CB8AC3E}">
        <p14:creationId xmlns:p14="http://schemas.microsoft.com/office/powerpoint/2010/main" val="3274313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Leigh Van Valen - Wikipedia">
            <a:extLst>
              <a:ext uri="{FF2B5EF4-FFF2-40B4-BE49-F238E27FC236}">
                <a16:creationId xmlns:a16="http://schemas.microsoft.com/office/drawing/2014/main" id="{F4954942-A72E-CE3D-EC91-3AD9BF6A9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637" y="1156317"/>
            <a:ext cx="2403324" cy="3470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ovéPole 1">
            <a:extLst>
              <a:ext uri="{FF2B5EF4-FFF2-40B4-BE49-F238E27FC236}">
                <a16:creationId xmlns:a16="http://schemas.microsoft.com/office/drawing/2014/main" id="{1DBCE09C-D255-FFB9-D360-8A1262A59DB8}"/>
              </a:ext>
            </a:extLst>
          </p:cNvPr>
          <p:cNvSpPr txBox="1"/>
          <p:nvPr/>
        </p:nvSpPr>
        <p:spPr>
          <a:xfrm>
            <a:off x="986784" y="4626717"/>
            <a:ext cx="4196983" cy="246221"/>
          </a:xfrm>
          <a:prstGeom prst="rect">
            <a:avLst/>
          </a:prstGeom>
          <a:noFill/>
        </p:spPr>
        <p:txBody>
          <a:bodyPr wrap="none" rtlCol="0">
            <a:spAutoFit/>
          </a:bodyPr>
          <a:lstStyle/>
          <a:p>
            <a:r>
              <a:rPr lang="en-GB" sz="1000" dirty="0"/>
              <a:t>https://ecoreserves.bc.ca/2012/03/17/a-conversation-with-bristol-foster/</a:t>
            </a:r>
          </a:p>
        </p:txBody>
      </p:sp>
      <p:pic>
        <p:nvPicPr>
          <p:cNvPr id="4098" name="Picture 2">
            <a:extLst>
              <a:ext uri="{FF2B5EF4-FFF2-40B4-BE49-F238E27FC236}">
                <a16:creationId xmlns:a16="http://schemas.microsoft.com/office/drawing/2014/main" id="{B78F90AC-E168-BFB0-8BA3-BBC4851355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204" r="10182"/>
          <a:stretch/>
        </p:blipFill>
        <p:spPr bwMode="auto">
          <a:xfrm>
            <a:off x="1041530" y="1150448"/>
            <a:ext cx="4045515" cy="3469467"/>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283B8D9E-CECE-2483-BF0A-8A379F9E01A2}"/>
              </a:ext>
            </a:extLst>
          </p:cNvPr>
          <p:cNvSpPr txBox="1"/>
          <p:nvPr/>
        </p:nvSpPr>
        <p:spPr>
          <a:xfrm>
            <a:off x="5630246" y="4626000"/>
            <a:ext cx="2011681" cy="246221"/>
          </a:xfrm>
          <a:prstGeom prst="rect">
            <a:avLst/>
          </a:prstGeom>
          <a:noFill/>
        </p:spPr>
        <p:txBody>
          <a:bodyPr wrap="square">
            <a:spAutoFit/>
          </a:bodyPr>
          <a:lstStyle/>
          <a:p>
            <a:r>
              <a:rPr lang="en-GB" sz="1000" dirty="0"/>
              <a:t>https://wikipedia.org/</a:t>
            </a:r>
          </a:p>
        </p:txBody>
      </p:sp>
      <p:sp>
        <p:nvSpPr>
          <p:cNvPr id="6" name="TextovéPole 5">
            <a:extLst>
              <a:ext uri="{FF2B5EF4-FFF2-40B4-BE49-F238E27FC236}">
                <a16:creationId xmlns:a16="http://schemas.microsoft.com/office/drawing/2014/main" id="{4558CA50-81F1-6CAD-E778-5D6262AF1E1B}"/>
              </a:ext>
            </a:extLst>
          </p:cNvPr>
          <p:cNvSpPr txBox="1"/>
          <p:nvPr/>
        </p:nvSpPr>
        <p:spPr>
          <a:xfrm>
            <a:off x="5630246" y="842656"/>
            <a:ext cx="4572000" cy="338554"/>
          </a:xfrm>
          <a:prstGeom prst="rect">
            <a:avLst/>
          </a:prstGeom>
          <a:noFill/>
        </p:spPr>
        <p:txBody>
          <a:bodyPr wrap="square">
            <a:spAutoFit/>
          </a:bodyPr>
          <a:lstStyle/>
          <a:p>
            <a:r>
              <a:rPr lang="nl-NL" sz="1600" dirty="0">
                <a:solidFill>
                  <a:schemeClr val="bg1">
                    <a:lumMod val="50000"/>
                  </a:schemeClr>
                </a:solidFill>
              </a:rPr>
              <a:t>Leigh Van Valen </a:t>
            </a:r>
            <a:endParaRPr lang="en-GB" sz="1600" dirty="0">
              <a:solidFill>
                <a:schemeClr val="bg1">
                  <a:lumMod val="50000"/>
                </a:schemeClr>
              </a:solidFill>
            </a:endParaRPr>
          </a:p>
        </p:txBody>
      </p:sp>
      <p:sp>
        <p:nvSpPr>
          <p:cNvPr id="9" name="TextovéPole 8">
            <a:extLst>
              <a:ext uri="{FF2B5EF4-FFF2-40B4-BE49-F238E27FC236}">
                <a16:creationId xmlns:a16="http://schemas.microsoft.com/office/drawing/2014/main" id="{1E83940E-6CF7-7B3E-C8C7-66420F8EF43F}"/>
              </a:ext>
            </a:extLst>
          </p:cNvPr>
          <p:cNvSpPr txBox="1"/>
          <p:nvPr/>
        </p:nvSpPr>
        <p:spPr>
          <a:xfrm>
            <a:off x="1028467" y="842400"/>
            <a:ext cx="5537834" cy="338554"/>
          </a:xfrm>
          <a:prstGeom prst="rect">
            <a:avLst/>
          </a:prstGeom>
          <a:noFill/>
        </p:spPr>
        <p:txBody>
          <a:bodyPr wrap="square">
            <a:spAutoFit/>
          </a:bodyPr>
          <a:lstStyle/>
          <a:p>
            <a:r>
              <a:rPr lang="cs-CZ" sz="1600" dirty="0">
                <a:solidFill>
                  <a:schemeClr val="bg1">
                    <a:lumMod val="50000"/>
                  </a:schemeClr>
                </a:solidFill>
              </a:rPr>
              <a:t>Bristol </a:t>
            </a:r>
            <a:r>
              <a:rPr lang="cs-CZ" sz="1600" dirty="0" err="1">
                <a:solidFill>
                  <a:schemeClr val="bg1">
                    <a:lumMod val="50000"/>
                  </a:schemeClr>
                </a:solidFill>
              </a:rPr>
              <a:t>Foster</a:t>
            </a:r>
            <a:r>
              <a:rPr lang="cs-CZ" sz="1600" dirty="0">
                <a:solidFill>
                  <a:schemeClr val="bg1">
                    <a:lumMod val="50000"/>
                  </a:schemeClr>
                </a:solidFill>
              </a:rPr>
              <a:t> </a:t>
            </a:r>
            <a:endParaRPr lang="en-GB" sz="1600" dirty="0">
              <a:solidFill>
                <a:schemeClr val="bg1">
                  <a:lumMod val="50000"/>
                </a:schemeClr>
              </a:solidFill>
            </a:endParaRPr>
          </a:p>
        </p:txBody>
      </p:sp>
      <p:sp>
        <p:nvSpPr>
          <p:cNvPr id="4" name="Google Shape;127;p6">
            <a:extLst>
              <a:ext uri="{FF2B5EF4-FFF2-40B4-BE49-F238E27FC236}">
                <a16:creationId xmlns:a16="http://schemas.microsoft.com/office/drawing/2014/main" id="{B9CC6146-1B3B-BB7F-2009-96F710D687CF}"/>
              </a:ext>
            </a:extLst>
          </p:cNvPr>
          <p:cNvSpPr txBox="1">
            <a:spLocks/>
          </p:cNvSpPr>
          <p:nvPr/>
        </p:nvSpPr>
        <p:spPr>
          <a:xfrm>
            <a:off x="968348" y="219368"/>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rgbClr val="C55A11"/>
              </a:buClr>
              <a:buSzPts val="2600"/>
              <a:buFont typeface="Arial"/>
              <a:buNone/>
            </a:pPr>
            <a:r>
              <a:rPr lang="en-GB" sz="2600" dirty="0">
                <a:solidFill>
                  <a:srgbClr val="007A3D"/>
                </a:solidFill>
              </a:rPr>
              <a:t>Island (Foster‘s) rule</a:t>
            </a:r>
            <a:endParaRPr lang="en-GB" dirty="0">
              <a:solidFill>
                <a:srgbClr val="007A3D"/>
              </a:solidFill>
            </a:endParaRPr>
          </a:p>
        </p:txBody>
      </p:sp>
    </p:spTree>
    <p:extLst>
      <p:ext uri="{BB962C8B-B14F-4D97-AF65-F5344CB8AC3E}">
        <p14:creationId xmlns:p14="http://schemas.microsoft.com/office/powerpoint/2010/main" val="945364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66B1066-45BB-AC70-C366-0457C6BCAE54}"/>
              </a:ext>
            </a:extLst>
          </p:cNvPr>
          <p:cNvSpPr>
            <a:spLocks noGrp="1"/>
          </p:cNvSpPr>
          <p:nvPr>
            <p:ph type="title"/>
          </p:nvPr>
        </p:nvSpPr>
        <p:spPr/>
        <p:txBody>
          <a:bodyPr/>
          <a:lstStyle/>
          <a:p>
            <a:endParaRPr lang="en-GB"/>
          </a:p>
        </p:txBody>
      </p:sp>
      <p:sp>
        <p:nvSpPr>
          <p:cNvPr id="3" name="Zástupný obsah 2">
            <a:extLst>
              <a:ext uri="{FF2B5EF4-FFF2-40B4-BE49-F238E27FC236}">
                <a16:creationId xmlns:a16="http://schemas.microsoft.com/office/drawing/2014/main" id="{85E3D807-EC36-D123-BC56-B05C40E46345}"/>
              </a:ext>
            </a:extLst>
          </p:cNvPr>
          <p:cNvSpPr>
            <a:spLocks noGrp="1"/>
          </p:cNvSpPr>
          <p:nvPr>
            <p:ph idx="1"/>
          </p:nvPr>
        </p:nvSpPr>
        <p:spPr/>
        <p:txBody>
          <a:bodyPr/>
          <a:lstStyle/>
          <a:p>
            <a:endParaRPr lang="en-GB"/>
          </a:p>
        </p:txBody>
      </p:sp>
      <p:grpSp>
        <p:nvGrpSpPr>
          <p:cNvPr id="7" name="Skupina 6">
            <a:extLst>
              <a:ext uri="{FF2B5EF4-FFF2-40B4-BE49-F238E27FC236}">
                <a16:creationId xmlns:a16="http://schemas.microsoft.com/office/drawing/2014/main" id="{BA83411D-9007-98A2-83B5-2D96A37601F9}"/>
              </a:ext>
            </a:extLst>
          </p:cNvPr>
          <p:cNvGrpSpPr/>
          <p:nvPr/>
        </p:nvGrpSpPr>
        <p:grpSpPr>
          <a:xfrm>
            <a:off x="53157" y="415645"/>
            <a:ext cx="9053480" cy="5555664"/>
            <a:chOff x="53157" y="415645"/>
            <a:chExt cx="9053480" cy="5555664"/>
          </a:xfrm>
        </p:grpSpPr>
        <p:pic>
          <p:nvPicPr>
            <p:cNvPr id="5" name="Obrázek 4">
              <a:extLst>
                <a:ext uri="{FF2B5EF4-FFF2-40B4-BE49-F238E27FC236}">
                  <a16:creationId xmlns:a16="http://schemas.microsoft.com/office/drawing/2014/main" id="{AC3C7BDF-875E-FAF4-A949-77722B7BAABA}"/>
                </a:ext>
              </a:extLst>
            </p:cNvPr>
            <p:cNvPicPr>
              <a:picLocks noChangeAspect="1"/>
            </p:cNvPicPr>
            <p:nvPr/>
          </p:nvPicPr>
          <p:blipFill>
            <a:blip r:embed="rId3"/>
            <a:stretch>
              <a:fillRect/>
            </a:stretch>
          </p:blipFill>
          <p:spPr>
            <a:xfrm>
              <a:off x="53157" y="415645"/>
              <a:ext cx="9053480" cy="2161308"/>
            </a:xfrm>
            <a:prstGeom prst="rect">
              <a:avLst/>
            </a:prstGeom>
          </p:spPr>
        </p:pic>
        <p:pic>
          <p:nvPicPr>
            <p:cNvPr id="6" name="Obrázek 5">
              <a:extLst>
                <a:ext uri="{FF2B5EF4-FFF2-40B4-BE49-F238E27FC236}">
                  <a16:creationId xmlns:a16="http://schemas.microsoft.com/office/drawing/2014/main" id="{96349592-EF21-B451-DACC-DF66ABCB25E5}"/>
                </a:ext>
              </a:extLst>
            </p:cNvPr>
            <p:cNvPicPr>
              <a:picLocks noChangeAspect="1"/>
            </p:cNvPicPr>
            <p:nvPr/>
          </p:nvPicPr>
          <p:blipFill>
            <a:blip r:embed="rId4"/>
            <a:stretch>
              <a:fillRect/>
            </a:stretch>
          </p:blipFill>
          <p:spPr>
            <a:xfrm>
              <a:off x="628650" y="3309814"/>
              <a:ext cx="7998871" cy="2661495"/>
            </a:xfrm>
            <a:prstGeom prst="rect">
              <a:avLst/>
            </a:prstGeom>
          </p:spPr>
        </p:pic>
      </p:grpSp>
      <p:sp>
        <p:nvSpPr>
          <p:cNvPr id="8" name="Obdélník 7">
            <a:extLst>
              <a:ext uri="{FF2B5EF4-FFF2-40B4-BE49-F238E27FC236}">
                <a16:creationId xmlns:a16="http://schemas.microsoft.com/office/drawing/2014/main" id="{E4E7AA76-6CD1-8A47-3A0F-264ED550D1C0}"/>
              </a:ext>
            </a:extLst>
          </p:cNvPr>
          <p:cNvSpPr/>
          <p:nvPr/>
        </p:nvSpPr>
        <p:spPr>
          <a:xfrm>
            <a:off x="3519055" y="3823855"/>
            <a:ext cx="1676400" cy="20227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bdélník 8">
            <a:extLst>
              <a:ext uri="{FF2B5EF4-FFF2-40B4-BE49-F238E27FC236}">
                <a16:creationId xmlns:a16="http://schemas.microsoft.com/office/drawing/2014/main" id="{C92DC9C6-CAB9-7C76-23B6-C4005DB97845}"/>
              </a:ext>
            </a:extLst>
          </p:cNvPr>
          <p:cNvSpPr/>
          <p:nvPr/>
        </p:nvSpPr>
        <p:spPr>
          <a:xfrm>
            <a:off x="7027321" y="3823854"/>
            <a:ext cx="1676400" cy="20227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4306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Examples of island gigantism">
            <a:extLst>
              <a:ext uri="{FF2B5EF4-FFF2-40B4-BE49-F238E27FC236}">
                <a16:creationId xmlns:a16="http://schemas.microsoft.com/office/drawing/2014/main" id="{583B0699-747D-7C01-490C-7E6B15AD01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a:fillRect/>
          </a:stretch>
        </p:blipFill>
        <p:spPr bwMode="auto">
          <a:xfrm>
            <a:off x="2057400" y="518153"/>
            <a:ext cx="5417820" cy="6145842"/>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27;p6">
            <a:extLst>
              <a:ext uri="{FF2B5EF4-FFF2-40B4-BE49-F238E27FC236}">
                <a16:creationId xmlns:a16="http://schemas.microsoft.com/office/drawing/2014/main" id="{326F131F-00C4-B8E4-EF39-BA96EF339916}"/>
              </a:ext>
            </a:extLst>
          </p:cNvPr>
          <p:cNvSpPr txBox="1">
            <a:spLocks noGrp="1"/>
          </p:cNvSpPr>
          <p:nvPr>
            <p:ph type="body" idx="1"/>
          </p:nvPr>
        </p:nvSpPr>
        <p:spPr>
          <a:xfrm>
            <a:off x="78658" y="108155"/>
            <a:ext cx="8986683" cy="698090"/>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rgbClr val="C55A11"/>
              </a:buClr>
              <a:buSzPts val="2600"/>
              <a:buNone/>
            </a:pPr>
            <a:r>
              <a:rPr lang="cs-CZ" sz="2600" dirty="0" err="1">
                <a:solidFill>
                  <a:srgbClr val="007A3D"/>
                </a:solidFill>
              </a:rPr>
              <a:t>Gigantism</a:t>
            </a:r>
            <a:endParaRPr dirty="0">
              <a:solidFill>
                <a:srgbClr val="007A3D"/>
              </a:solidFill>
            </a:endParaRPr>
          </a:p>
        </p:txBody>
      </p:sp>
      <p:sp>
        <p:nvSpPr>
          <p:cNvPr id="6" name="TextovéPole 5">
            <a:extLst>
              <a:ext uri="{FF2B5EF4-FFF2-40B4-BE49-F238E27FC236}">
                <a16:creationId xmlns:a16="http://schemas.microsoft.com/office/drawing/2014/main" id="{FBC01397-3DC1-A746-986A-4884DA709B9E}"/>
              </a:ext>
            </a:extLst>
          </p:cNvPr>
          <p:cNvSpPr txBox="1"/>
          <p:nvPr/>
        </p:nvSpPr>
        <p:spPr>
          <a:xfrm>
            <a:off x="4428309" y="6626734"/>
            <a:ext cx="4831772" cy="246221"/>
          </a:xfrm>
          <a:prstGeom prst="rect">
            <a:avLst/>
          </a:prstGeom>
          <a:noFill/>
        </p:spPr>
        <p:txBody>
          <a:bodyPr wrap="none" rtlCol="0">
            <a:spAutoFit/>
          </a:bodyPr>
          <a:lstStyle/>
          <a:p>
            <a:r>
              <a:rPr lang="en-GB" sz="1000" dirty="0"/>
              <a:t>https://www.zoochat.com/community/media/examples-of-island-gigantism.546759/</a:t>
            </a:r>
          </a:p>
        </p:txBody>
      </p:sp>
    </p:spTree>
    <p:extLst>
      <p:ext uri="{BB962C8B-B14F-4D97-AF65-F5344CB8AC3E}">
        <p14:creationId xmlns:p14="http://schemas.microsoft.com/office/powerpoint/2010/main" val="495114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7;p6">
            <a:extLst>
              <a:ext uri="{FF2B5EF4-FFF2-40B4-BE49-F238E27FC236}">
                <a16:creationId xmlns:a16="http://schemas.microsoft.com/office/drawing/2014/main" id="{615C6E0B-CEE6-1619-B09B-1205FC6D94CE}"/>
              </a:ext>
            </a:extLst>
          </p:cNvPr>
          <p:cNvSpPr txBox="1">
            <a:spLocks/>
          </p:cNvSpPr>
          <p:nvPr/>
        </p:nvSpPr>
        <p:spPr>
          <a:xfrm>
            <a:off x="0" y="69835"/>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marL="0" indent="0">
              <a:spcBef>
                <a:spcPts val="0"/>
              </a:spcBef>
              <a:buClr>
                <a:srgbClr val="C55A11"/>
              </a:buClr>
              <a:buSzPts val="2600"/>
            </a:pPr>
            <a:r>
              <a:rPr lang="cs-CZ" sz="2600" dirty="0" err="1">
                <a:solidFill>
                  <a:srgbClr val="007A3D"/>
                </a:solidFill>
              </a:rPr>
              <a:t>Dwarfism</a:t>
            </a:r>
            <a:endParaRPr lang="cs-CZ" dirty="0">
              <a:solidFill>
                <a:srgbClr val="007A3D"/>
              </a:solidFill>
            </a:endParaRPr>
          </a:p>
        </p:txBody>
      </p:sp>
      <p:grpSp>
        <p:nvGrpSpPr>
          <p:cNvPr id="11" name="Skupina 10">
            <a:extLst>
              <a:ext uri="{FF2B5EF4-FFF2-40B4-BE49-F238E27FC236}">
                <a16:creationId xmlns:a16="http://schemas.microsoft.com/office/drawing/2014/main" id="{1C2A6A50-3977-3BD6-B3A4-1FD501AD7354}"/>
              </a:ext>
            </a:extLst>
          </p:cNvPr>
          <p:cNvGrpSpPr/>
          <p:nvPr/>
        </p:nvGrpSpPr>
        <p:grpSpPr>
          <a:xfrm>
            <a:off x="1255395" y="670350"/>
            <a:ext cx="6633210" cy="5419725"/>
            <a:chOff x="236220" y="1085850"/>
            <a:chExt cx="8671560" cy="7762875"/>
          </a:xfrm>
        </p:grpSpPr>
        <p:pic>
          <p:nvPicPr>
            <p:cNvPr id="6" name="Obrázek 5">
              <a:extLst>
                <a:ext uri="{FF2B5EF4-FFF2-40B4-BE49-F238E27FC236}">
                  <a16:creationId xmlns:a16="http://schemas.microsoft.com/office/drawing/2014/main" id="{667586F4-4180-C974-748F-13317E2539A7}"/>
                </a:ext>
              </a:extLst>
            </p:cNvPr>
            <p:cNvPicPr>
              <a:picLocks noChangeAspect="1"/>
            </p:cNvPicPr>
            <p:nvPr/>
          </p:nvPicPr>
          <p:blipFill>
            <a:blip r:embed="rId3"/>
            <a:stretch>
              <a:fillRect/>
            </a:stretch>
          </p:blipFill>
          <p:spPr>
            <a:xfrm>
              <a:off x="236220" y="1085850"/>
              <a:ext cx="6019800" cy="4000500"/>
            </a:xfrm>
            <a:prstGeom prst="rect">
              <a:avLst/>
            </a:prstGeom>
          </p:spPr>
        </p:pic>
        <p:pic>
          <p:nvPicPr>
            <p:cNvPr id="8" name="Obrázek 7">
              <a:extLst>
                <a:ext uri="{FF2B5EF4-FFF2-40B4-BE49-F238E27FC236}">
                  <a16:creationId xmlns:a16="http://schemas.microsoft.com/office/drawing/2014/main" id="{2453F4F5-58B6-0A71-7115-3DCAB5D5BFD6}"/>
                </a:ext>
              </a:extLst>
            </p:cNvPr>
            <p:cNvPicPr>
              <a:picLocks noChangeAspect="1"/>
            </p:cNvPicPr>
            <p:nvPr/>
          </p:nvPicPr>
          <p:blipFill>
            <a:blip r:embed="rId4"/>
            <a:stretch>
              <a:fillRect/>
            </a:stretch>
          </p:blipFill>
          <p:spPr>
            <a:xfrm>
              <a:off x="6256020" y="2752725"/>
              <a:ext cx="2390775" cy="2333625"/>
            </a:xfrm>
            <a:prstGeom prst="rect">
              <a:avLst/>
            </a:prstGeom>
          </p:spPr>
        </p:pic>
        <p:pic>
          <p:nvPicPr>
            <p:cNvPr id="10" name="Obrázek 9">
              <a:extLst>
                <a:ext uri="{FF2B5EF4-FFF2-40B4-BE49-F238E27FC236}">
                  <a16:creationId xmlns:a16="http://schemas.microsoft.com/office/drawing/2014/main" id="{F14FF106-FE49-70B4-E8CA-55F1FCF25F92}"/>
                </a:ext>
              </a:extLst>
            </p:cNvPr>
            <p:cNvPicPr>
              <a:picLocks noChangeAspect="1"/>
            </p:cNvPicPr>
            <p:nvPr/>
          </p:nvPicPr>
          <p:blipFill>
            <a:blip r:embed="rId5"/>
            <a:stretch>
              <a:fillRect/>
            </a:stretch>
          </p:blipFill>
          <p:spPr>
            <a:xfrm>
              <a:off x="1783080" y="4867275"/>
              <a:ext cx="7124700" cy="3981450"/>
            </a:xfrm>
            <a:prstGeom prst="rect">
              <a:avLst/>
            </a:prstGeom>
          </p:spPr>
        </p:pic>
      </p:grpSp>
      <p:sp>
        <p:nvSpPr>
          <p:cNvPr id="13" name="TextovéPole 12">
            <a:extLst>
              <a:ext uri="{FF2B5EF4-FFF2-40B4-BE49-F238E27FC236}">
                <a16:creationId xmlns:a16="http://schemas.microsoft.com/office/drawing/2014/main" id="{2034D5A2-6257-0DA6-1790-D03C72CF2F99}"/>
              </a:ext>
            </a:extLst>
          </p:cNvPr>
          <p:cNvSpPr txBox="1"/>
          <p:nvPr/>
        </p:nvSpPr>
        <p:spPr>
          <a:xfrm>
            <a:off x="2978381" y="6561069"/>
            <a:ext cx="7592377" cy="246221"/>
          </a:xfrm>
          <a:prstGeom prst="rect">
            <a:avLst/>
          </a:prstGeom>
          <a:noFill/>
        </p:spPr>
        <p:txBody>
          <a:bodyPr wrap="square">
            <a:spAutoFit/>
          </a:bodyPr>
          <a:lstStyle/>
          <a:p>
            <a:r>
              <a:rPr lang="en-GB" sz="1000" dirty="0"/>
              <a:t>https://www.reddit.com/r/Dinosaurs/comments/1gtpnz3/should_skull_islands_fauna_be_affected_by_insular/</a:t>
            </a:r>
          </a:p>
        </p:txBody>
      </p:sp>
    </p:spTree>
    <p:extLst>
      <p:ext uri="{BB962C8B-B14F-4D97-AF65-F5344CB8AC3E}">
        <p14:creationId xmlns:p14="http://schemas.microsoft.com/office/powerpoint/2010/main" val="988553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DF8D2B-D59C-7A44-BEDB-9C180C9AF766}"/>
              </a:ext>
            </a:extLst>
          </p:cNvPr>
          <p:cNvPicPr>
            <a:picLocks noChangeAspect="1"/>
          </p:cNvPicPr>
          <p:nvPr/>
        </p:nvPicPr>
        <p:blipFill rotWithShape="1">
          <a:blip r:embed="rId3"/>
          <a:srcRect r="50000"/>
          <a:stretch/>
        </p:blipFill>
        <p:spPr>
          <a:xfrm>
            <a:off x="3495447" y="1553590"/>
            <a:ext cx="2808419" cy="2756731"/>
          </a:xfrm>
          <a:prstGeom prst="rect">
            <a:avLst/>
          </a:prstGeom>
        </p:spPr>
      </p:pic>
      <p:grpSp>
        <p:nvGrpSpPr>
          <p:cNvPr id="7" name="Skupina 6">
            <a:extLst>
              <a:ext uri="{FF2B5EF4-FFF2-40B4-BE49-F238E27FC236}">
                <a16:creationId xmlns:a16="http://schemas.microsoft.com/office/drawing/2014/main" id="{9AA371B0-94BC-1D2E-04D0-85E63DA3E482}"/>
              </a:ext>
            </a:extLst>
          </p:cNvPr>
          <p:cNvGrpSpPr/>
          <p:nvPr/>
        </p:nvGrpSpPr>
        <p:grpSpPr>
          <a:xfrm>
            <a:off x="480896" y="1165618"/>
            <a:ext cx="2861671" cy="3238645"/>
            <a:chOff x="1854812" y="0"/>
            <a:chExt cx="5863517" cy="6635931"/>
          </a:xfrm>
        </p:grpSpPr>
        <p:pic>
          <p:nvPicPr>
            <p:cNvPr id="2050" name="Picture 2">
              <a:extLst>
                <a:ext uri="{FF2B5EF4-FFF2-40B4-BE49-F238E27FC236}">
                  <a16:creationId xmlns:a16="http://schemas.microsoft.com/office/drawing/2014/main" id="{4A66D063-891C-6677-2FBA-0126C121E61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857"/>
            <a:stretch>
              <a:fillRect/>
            </a:stretch>
          </p:blipFill>
          <p:spPr bwMode="auto">
            <a:xfrm>
              <a:off x="1854812" y="1101463"/>
              <a:ext cx="5434376" cy="55344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4,466 Big Tree Small Trees Stock Vectors and Vector Art | Shutterstock">
              <a:extLst>
                <a:ext uri="{FF2B5EF4-FFF2-40B4-BE49-F238E27FC236}">
                  <a16:creationId xmlns:a16="http://schemas.microsoft.com/office/drawing/2014/main" id="{5AF408B0-F3A9-F2B1-9160-24505E3CEE2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1657" t="37284" r="12743" b="23762"/>
            <a:stretch>
              <a:fillRect/>
            </a:stretch>
          </p:blipFill>
          <p:spPr bwMode="auto">
            <a:xfrm>
              <a:off x="2604090" y="4957353"/>
              <a:ext cx="882661" cy="95358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4,466 Big Tree Small Trees Stock Vectors and Vector Art | Shutterstock">
              <a:extLst>
                <a:ext uri="{FF2B5EF4-FFF2-40B4-BE49-F238E27FC236}">
                  <a16:creationId xmlns:a16="http://schemas.microsoft.com/office/drawing/2014/main" id="{DBA2B0C0-F9EC-774E-CA60-61A5405D02C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828" t="3803" r="62800" b="24406"/>
            <a:stretch>
              <a:fillRect/>
            </a:stretch>
          </p:blipFill>
          <p:spPr bwMode="auto">
            <a:xfrm>
              <a:off x="6860046" y="4173581"/>
              <a:ext cx="858283" cy="17242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4,466 Big Tree Small Trees Stock Vectors and Vector Art | Shutterstock">
              <a:extLst>
                <a:ext uri="{FF2B5EF4-FFF2-40B4-BE49-F238E27FC236}">
                  <a16:creationId xmlns:a16="http://schemas.microsoft.com/office/drawing/2014/main" id="{7EE43FBA-9C0D-C7E2-E237-0E68C8830CC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828" t="3803" r="62800" b="24406"/>
            <a:stretch>
              <a:fillRect/>
            </a:stretch>
          </p:blipFill>
          <p:spPr bwMode="auto">
            <a:xfrm>
              <a:off x="2597201" y="0"/>
              <a:ext cx="858283" cy="1724298"/>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ovéPole 5">
            <a:extLst>
              <a:ext uri="{FF2B5EF4-FFF2-40B4-BE49-F238E27FC236}">
                <a16:creationId xmlns:a16="http://schemas.microsoft.com/office/drawing/2014/main" id="{781F0A06-7D9E-2D50-E839-47259967EE2D}"/>
              </a:ext>
            </a:extLst>
          </p:cNvPr>
          <p:cNvSpPr txBox="1"/>
          <p:nvPr/>
        </p:nvSpPr>
        <p:spPr>
          <a:xfrm>
            <a:off x="6268937" y="6611779"/>
            <a:ext cx="2932213" cy="246221"/>
          </a:xfrm>
          <a:prstGeom prst="rect">
            <a:avLst/>
          </a:prstGeom>
          <a:noFill/>
        </p:spPr>
        <p:txBody>
          <a:bodyPr wrap="none" rtlCol="0">
            <a:spAutoFit/>
          </a:bodyPr>
          <a:lstStyle/>
          <a:p>
            <a:r>
              <a:rPr lang="en-GB" sz="1000" dirty="0"/>
              <a:t>Burns, K. C. (2019). Cambridge University Press</a:t>
            </a:r>
          </a:p>
        </p:txBody>
      </p:sp>
      <p:sp>
        <p:nvSpPr>
          <p:cNvPr id="8" name="TextovéPole 7">
            <a:extLst>
              <a:ext uri="{FF2B5EF4-FFF2-40B4-BE49-F238E27FC236}">
                <a16:creationId xmlns:a16="http://schemas.microsoft.com/office/drawing/2014/main" id="{8CF83461-8095-8320-8AAD-8C2BC946A3CB}"/>
              </a:ext>
            </a:extLst>
          </p:cNvPr>
          <p:cNvSpPr txBox="1"/>
          <p:nvPr/>
        </p:nvSpPr>
        <p:spPr>
          <a:xfrm>
            <a:off x="6159061" y="-88762"/>
            <a:ext cx="8381117" cy="553998"/>
          </a:xfrm>
          <a:prstGeom prst="rect">
            <a:avLst/>
          </a:prstGeom>
          <a:noFill/>
        </p:spPr>
        <p:txBody>
          <a:bodyPr wrap="square">
            <a:spAutoFit/>
          </a:bodyPr>
          <a:lstStyle/>
          <a:p>
            <a:endParaRPr lang="en-GB" sz="1200" b="1" dirty="0">
              <a:solidFill>
                <a:srgbClr val="007A3D"/>
              </a:solidFill>
              <a:latin typeface="Calibri" panose="020F0502020204030204" pitchFamily="34" charset="0"/>
              <a:cs typeface="Calibri" panose="020F0502020204030204" pitchFamily="34" charset="0"/>
            </a:endParaRPr>
          </a:p>
          <a:p>
            <a:pPr marL="285750" lvl="0" indent="-285750" eaLnBrk="0" fontAlgn="base" hangingPunct="0">
              <a:spcBef>
                <a:spcPct val="0"/>
              </a:spcBef>
              <a:spcAft>
                <a:spcPct val="0"/>
              </a:spcAft>
              <a:buClrTx/>
              <a:buFont typeface="Arial" panose="020B0604020202020204" pitchFamily="34" charset="0"/>
              <a:buChar char="•"/>
            </a:pPr>
            <a:endParaRPr lang="en-GB" sz="1800" noProof="0" dirty="0">
              <a:solidFill>
                <a:srgbClr val="007A3D"/>
              </a:solidFill>
            </a:endParaRPr>
          </a:p>
        </p:txBody>
      </p:sp>
      <p:sp>
        <p:nvSpPr>
          <p:cNvPr id="11" name="Google Shape;127;p6">
            <a:extLst>
              <a:ext uri="{FF2B5EF4-FFF2-40B4-BE49-F238E27FC236}">
                <a16:creationId xmlns:a16="http://schemas.microsoft.com/office/drawing/2014/main" id="{4A44D7A1-8FC0-FC43-84B2-755BAD702626}"/>
              </a:ext>
            </a:extLst>
          </p:cNvPr>
          <p:cNvSpPr txBox="1">
            <a:spLocks/>
          </p:cNvSpPr>
          <p:nvPr/>
        </p:nvSpPr>
        <p:spPr>
          <a:xfrm>
            <a:off x="622355" y="360482"/>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marL="0" indent="0">
              <a:spcBef>
                <a:spcPts val="0"/>
              </a:spcBef>
              <a:buClr>
                <a:srgbClr val="C55A11"/>
              </a:buClr>
              <a:buSzPts val="2600"/>
            </a:pPr>
            <a:r>
              <a:rPr lang="cs-CZ" sz="2600" dirty="0" err="1">
                <a:solidFill>
                  <a:srgbClr val="007A3D"/>
                </a:solidFill>
              </a:rPr>
              <a:t>How</a:t>
            </a:r>
            <a:r>
              <a:rPr lang="cs-CZ" sz="2600" dirty="0">
                <a:solidFill>
                  <a:srgbClr val="007A3D"/>
                </a:solidFill>
              </a:rPr>
              <a:t> </a:t>
            </a:r>
            <a:r>
              <a:rPr lang="cs-CZ" sz="2600" dirty="0" err="1">
                <a:solidFill>
                  <a:srgbClr val="007A3D"/>
                </a:solidFill>
              </a:rPr>
              <a:t>about</a:t>
            </a:r>
            <a:r>
              <a:rPr lang="cs-CZ" sz="2600" dirty="0">
                <a:solidFill>
                  <a:srgbClr val="007A3D"/>
                </a:solidFill>
              </a:rPr>
              <a:t> </a:t>
            </a:r>
            <a:r>
              <a:rPr lang="cs-CZ" sz="2600" dirty="0" err="1">
                <a:solidFill>
                  <a:srgbClr val="007A3D"/>
                </a:solidFill>
              </a:rPr>
              <a:t>plants</a:t>
            </a:r>
            <a:r>
              <a:rPr lang="cs-CZ" sz="2600" dirty="0">
                <a:solidFill>
                  <a:srgbClr val="007A3D"/>
                </a:solidFill>
              </a:rPr>
              <a:t>?</a:t>
            </a:r>
            <a:endParaRPr lang="cs-CZ" dirty="0">
              <a:solidFill>
                <a:srgbClr val="007A3D"/>
              </a:solidFill>
            </a:endParaRPr>
          </a:p>
        </p:txBody>
      </p:sp>
      <p:pic>
        <p:nvPicPr>
          <p:cNvPr id="12" name="Picture 11">
            <a:extLst>
              <a:ext uri="{FF2B5EF4-FFF2-40B4-BE49-F238E27FC236}">
                <a16:creationId xmlns:a16="http://schemas.microsoft.com/office/drawing/2014/main" id="{B6A85D9E-686C-4F4F-AD16-19622AC505F3}"/>
              </a:ext>
            </a:extLst>
          </p:cNvPr>
          <p:cNvPicPr>
            <a:picLocks noChangeAspect="1"/>
          </p:cNvPicPr>
          <p:nvPr/>
        </p:nvPicPr>
        <p:blipFill rotWithShape="1">
          <a:blip r:embed="rId3"/>
          <a:srcRect l="50000"/>
          <a:stretch/>
        </p:blipFill>
        <p:spPr>
          <a:xfrm>
            <a:off x="6268937" y="1571796"/>
            <a:ext cx="2808419" cy="2756731"/>
          </a:xfrm>
          <a:prstGeom prst="rect">
            <a:avLst/>
          </a:prstGeom>
        </p:spPr>
      </p:pic>
    </p:spTree>
    <p:extLst>
      <p:ext uri="{BB962C8B-B14F-4D97-AF65-F5344CB8AC3E}">
        <p14:creationId xmlns:p14="http://schemas.microsoft.com/office/powerpoint/2010/main" val="224060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7;p6">
            <a:extLst>
              <a:ext uri="{FF2B5EF4-FFF2-40B4-BE49-F238E27FC236}">
                <a16:creationId xmlns:a16="http://schemas.microsoft.com/office/drawing/2014/main" id="{F9B62165-1DE4-D349-9B5D-C2C23F8FD966}"/>
              </a:ext>
            </a:extLst>
          </p:cNvPr>
          <p:cNvSpPr txBox="1">
            <a:spLocks/>
          </p:cNvSpPr>
          <p:nvPr/>
        </p:nvSpPr>
        <p:spPr>
          <a:xfrm>
            <a:off x="1091916" y="182297"/>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rgbClr val="C55A11"/>
              </a:buClr>
              <a:buSzPts val="2600"/>
              <a:buFont typeface="Arial"/>
              <a:buNone/>
            </a:pPr>
            <a:r>
              <a:rPr lang="en-GB" sz="2600" dirty="0">
                <a:solidFill>
                  <a:srgbClr val="007A3D"/>
                </a:solidFill>
              </a:rPr>
              <a:t>Why?</a:t>
            </a:r>
            <a:endParaRPr lang="en-GB" dirty="0">
              <a:solidFill>
                <a:srgbClr val="007A3D"/>
              </a:solidFill>
            </a:endParaRPr>
          </a:p>
        </p:txBody>
      </p:sp>
      <p:pic>
        <p:nvPicPr>
          <p:cNvPr id="9" name="Picture 2">
            <a:extLst>
              <a:ext uri="{FF2B5EF4-FFF2-40B4-BE49-F238E27FC236}">
                <a16:creationId xmlns:a16="http://schemas.microsoft.com/office/drawing/2014/main" id="{7A092AF5-DD62-3648-B15C-9944F7C1E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22"/>
          <a:stretch>
            <a:fillRect/>
          </a:stretch>
        </p:blipFill>
        <p:spPr bwMode="auto">
          <a:xfrm>
            <a:off x="1232299" y="732103"/>
            <a:ext cx="5916518" cy="5940937"/>
          </a:xfrm>
          <a:prstGeom prst="rect">
            <a:avLst/>
          </a:prstGeom>
          <a:noFill/>
          <a:extLst>
            <a:ext uri="{909E8E84-426E-40DD-AFC4-6F175D3DCCD1}">
              <a14:hiddenFill xmlns:a14="http://schemas.microsoft.com/office/drawing/2010/main">
                <a:solidFill>
                  <a:srgbClr val="FFFFFF"/>
                </a:solidFill>
              </a14:hiddenFill>
            </a:ext>
          </a:extLst>
        </p:spPr>
      </p:pic>
      <p:sp>
        <p:nvSpPr>
          <p:cNvPr id="4" name="TextovéPole 4">
            <a:extLst>
              <a:ext uri="{FF2B5EF4-FFF2-40B4-BE49-F238E27FC236}">
                <a16:creationId xmlns:a16="http://schemas.microsoft.com/office/drawing/2014/main" id="{9C15D9AC-924A-F649-952E-EAA4379CC6EF}"/>
              </a:ext>
            </a:extLst>
          </p:cNvPr>
          <p:cNvSpPr txBox="1"/>
          <p:nvPr/>
        </p:nvSpPr>
        <p:spPr>
          <a:xfrm>
            <a:off x="6268937" y="6611779"/>
            <a:ext cx="2932213" cy="246221"/>
          </a:xfrm>
          <a:prstGeom prst="rect">
            <a:avLst/>
          </a:prstGeom>
          <a:noFill/>
        </p:spPr>
        <p:txBody>
          <a:bodyPr wrap="none" rtlCol="0">
            <a:spAutoFit/>
          </a:bodyPr>
          <a:lstStyle/>
          <a:p>
            <a:r>
              <a:rPr lang="en-GB" sz="1000" dirty="0"/>
              <a:t>Burns, K. C. (2019). Cambridge University Press</a:t>
            </a:r>
          </a:p>
        </p:txBody>
      </p:sp>
    </p:spTree>
    <p:extLst>
      <p:ext uri="{BB962C8B-B14F-4D97-AF65-F5344CB8AC3E}">
        <p14:creationId xmlns:p14="http://schemas.microsoft.com/office/powerpoint/2010/main" val="579576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661" y="1139238"/>
            <a:ext cx="7772400" cy="617045"/>
          </a:xfrm>
        </p:spPr>
        <p:txBody>
          <a:bodyPr>
            <a:normAutofit/>
          </a:bodyPr>
          <a:lstStyle/>
          <a:p>
            <a:pPr>
              <a:defRPr sz="4400"/>
            </a:pPr>
            <a:r>
              <a:rPr lang="cs-CZ" sz="3600" b="1" dirty="0">
                <a:solidFill>
                  <a:srgbClr val="007A3D"/>
                </a:solidFill>
                <a:latin typeface="Calibri" panose="020F0502020204030204" pitchFamily="34" charset="0"/>
                <a:cs typeface="Calibri" panose="020F0502020204030204" pitchFamily="34" charset="0"/>
              </a:rPr>
              <a:t>IS</a:t>
            </a:r>
            <a:r>
              <a:rPr lang="en-GB" sz="3600" b="1" dirty="0">
                <a:solidFill>
                  <a:srgbClr val="007A3D"/>
                </a:solidFill>
                <a:latin typeface="Calibri" panose="020F0502020204030204" pitchFamily="34" charset="0"/>
                <a:cs typeface="Calibri" panose="020F0502020204030204" pitchFamily="34" charset="0"/>
              </a:rPr>
              <a:t> IT REALLY THAT SIMPLE?</a:t>
            </a:r>
          </a:p>
        </p:txBody>
      </p:sp>
      <p:sp>
        <p:nvSpPr>
          <p:cNvPr id="3" name="Title 1">
            <a:extLst>
              <a:ext uri="{FF2B5EF4-FFF2-40B4-BE49-F238E27FC236}">
                <a16:creationId xmlns:a16="http://schemas.microsoft.com/office/drawing/2014/main" id="{D7F9AF97-ADE2-912B-3AEB-F2A4AD3DEE9E}"/>
              </a:ext>
            </a:extLst>
          </p:cNvPr>
          <p:cNvSpPr txBox="1">
            <a:spLocks/>
          </p:cNvSpPr>
          <p:nvPr/>
        </p:nvSpPr>
        <p:spPr>
          <a:xfrm>
            <a:off x="726661" y="2820689"/>
            <a:ext cx="7772400" cy="61704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algn="r"/>
            <a:r>
              <a:rPr lang="cs-CZ" sz="2800" b="0" cap="none" dirty="0">
                <a:solidFill>
                  <a:schemeClr val="tx1">
                    <a:lumMod val="50000"/>
                    <a:lumOff val="50000"/>
                  </a:schemeClr>
                </a:solidFill>
              </a:rPr>
              <a:t>EMPIRICAL EVIDENCE</a:t>
            </a:r>
            <a:endParaRPr lang="en-GB" sz="2800" b="0" cap="none" dirty="0">
              <a:solidFill>
                <a:schemeClr val="tx1">
                  <a:lumMod val="50000"/>
                  <a:lumOff val="50000"/>
                </a:schemeClr>
              </a:solidFill>
            </a:endParaRPr>
          </a:p>
        </p:txBody>
      </p:sp>
    </p:spTree>
    <p:extLst>
      <p:ext uri="{BB962C8B-B14F-4D97-AF65-F5344CB8AC3E}">
        <p14:creationId xmlns:p14="http://schemas.microsoft.com/office/powerpoint/2010/main" val="433610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BEA6C2BF-3DA9-2F2C-BB99-F38BBC4D8845}"/>
              </a:ext>
            </a:extLst>
          </p:cNvPr>
          <p:cNvPicPr>
            <a:picLocks noChangeAspect="1"/>
          </p:cNvPicPr>
          <p:nvPr/>
        </p:nvPicPr>
        <p:blipFill>
          <a:blip r:embed="rId3"/>
          <a:srcRect t="7601"/>
          <a:stretch>
            <a:fillRect/>
          </a:stretch>
        </p:blipFill>
        <p:spPr>
          <a:xfrm>
            <a:off x="1492086" y="502920"/>
            <a:ext cx="5942857" cy="6113518"/>
          </a:xfrm>
          <a:prstGeom prst="rect">
            <a:avLst/>
          </a:prstGeom>
        </p:spPr>
      </p:pic>
      <p:sp>
        <p:nvSpPr>
          <p:cNvPr id="7" name="TextovéPole 6">
            <a:extLst>
              <a:ext uri="{FF2B5EF4-FFF2-40B4-BE49-F238E27FC236}">
                <a16:creationId xmlns:a16="http://schemas.microsoft.com/office/drawing/2014/main" id="{DEB03405-A7EF-6B40-FD4A-05FC47D5D430}"/>
              </a:ext>
            </a:extLst>
          </p:cNvPr>
          <p:cNvSpPr txBox="1"/>
          <p:nvPr/>
        </p:nvSpPr>
        <p:spPr>
          <a:xfrm>
            <a:off x="6302828" y="6624738"/>
            <a:ext cx="4572000" cy="246221"/>
          </a:xfrm>
          <a:prstGeom prst="rect">
            <a:avLst/>
          </a:prstGeom>
          <a:noFill/>
        </p:spPr>
        <p:txBody>
          <a:bodyPr wrap="square">
            <a:spAutoFit/>
          </a:bodyPr>
          <a:lstStyle/>
          <a:p>
            <a:r>
              <a:rPr lang="en-GB" sz="1000" b="0" i="0" dirty="0" err="1">
                <a:solidFill>
                  <a:srgbClr val="1C1D1E"/>
                </a:solidFill>
                <a:effectLst/>
                <a:latin typeface="+mj-lt"/>
              </a:rPr>
              <a:t>Lokatis</a:t>
            </a:r>
            <a:r>
              <a:rPr lang="en-GB" sz="1000" b="0" i="0" dirty="0">
                <a:solidFill>
                  <a:srgbClr val="1C1D1E"/>
                </a:solidFill>
                <a:effectLst/>
                <a:latin typeface="+mj-lt"/>
              </a:rPr>
              <a:t> </a:t>
            </a:r>
            <a:r>
              <a:rPr lang="cs-CZ" sz="1000" b="0" i="0" dirty="0">
                <a:solidFill>
                  <a:srgbClr val="1C1D1E"/>
                </a:solidFill>
                <a:effectLst/>
                <a:latin typeface="+mj-lt"/>
              </a:rPr>
              <a:t>&amp;</a:t>
            </a:r>
            <a:r>
              <a:rPr lang="en-GB" sz="1000" b="0" i="0" dirty="0">
                <a:solidFill>
                  <a:srgbClr val="1C1D1E"/>
                </a:solidFill>
                <a:effectLst/>
                <a:latin typeface="+mj-lt"/>
              </a:rPr>
              <a:t> Jeschke </a:t>
            </a:r>
            <a:r>
              <a:rPr lang="cs-CZ" sz="1000" b="0" i="0" dirty="0">
                <a:solidFill>
                  <a:srgbClr val="1C1D1E"/>
                </a:solidFill>
                <a:effectLst/>
                <a:latin typeface="+mj-lt"/>
              </a:rPr>
              <a:t>2018, </a:t>
            </a:r>
            <a:r>
              <a:rPr lang="en-GB" sz="1000" b="0" i="1" dirty="0">
                <a:solidFill>
                  <a:srgbClr val="1C1D1E"/>
                </a:solidFill>
                <a:effectLst/>
                <a:latin typeface="+mj-lt"/>
              </a:rPr>
              <a:t>J </a:t>
            </a:r>
            <a:r>
              <a:rPr lang="en-GB" sz="1000" b="0" i="1" dirty="0" err="1">
                <a:solidFill>
                  <a:srgbClr val="1C1D1E"/>
                </a:solidFill>
                <a:effectLst/>
                <a:latin typeface="+mj-lt"/>
              </a:rPr>
              <a:t>Biogeogr</a:t>
            </a:r>
            <a:r>
              <a:rPr lang="en-GB" sz="1000" b="0" i="0" dirty="0">
                <a:solidFill>
                  <a:srgbClr val="1C1D1E"/>
                </a:solidFill>
                <a:effectLst/>
                <a:latin typeface="+mj-lt"/>
              </a:rPr>
              <a:t> 45:289–303</a:t>
            </a:r>
            <a:endParaRPr lang="en-GB" sz="1000" dirty="0">
              <a:latin typeface="+mj-lt"/>
            </a:endParaRPr>
          </a:p>
        </p:txBody>
      </p:sp>
      <p:sp>
        <p:nvSpPr>
          <p:cNvPr id="2" name="Google Shape;127;p6">
            <a:extLst>
              <a:ext uri="{FF2B5EF4-FFF2-40B4-BE49-F238E27FC236}">
                <a16:creationId xmlns:a16="http://schemas.microsoft.com/office/drawing/2014/main" id="{83EB881C-2EF7-B597-B4F0-A4F71EDFC7E9}"/>
              </a:ext>
            </a:extLst>
          </p:cNvPr>
          <p:cNvSpPr txBox="1">
            <a:spLocks noGrp="1"/>
          </p:cNvSpPr>
          <p:nvPr>
            <p:ph type="body" idx="1"/>
          </p:nvPr>
        </p:nvSpPr>
        <p:spPr>
          <a:xfrm>
            <a:off x="78658" y="108155"/>
            <a:ext cx="8986683" cy="698090"/>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rgbClr val="C55A11"/>
              </a:buClr>
              <a:buSzPts val="2600"/>
              <a:buNone/>
            </a:pPr>
            <a:r>
              <a:rPr lang="cs-CZ" sz="2600" b="1" dirty="0">
                <a:solidFill>
                  <a:srgbClr val="007A3D"/>
                </a:solidFill>
              </a:rPr>
              <a:t>Island rule support</a:t>
            </a:r>
            <a:endParaRPr dirty="0">
              <a:solidFill>
                <a:srgbClr val="007A3D"/>
              </a:solidFill>
            </a:endParaRPr>
          </a:p>
        </p:txBody>
      </p:sp>
    </p:spTree>
    <p:extLst>
      <p:ext uri="{BB962C8B-B14F-4D97-AF65-F5344CB8AC3E}">
        <p14:creationId xmlns:p14="http://schemas.microsoft.com/office/powerpoint/2010/main" val="2896417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66A61482-A525-E00F-3435-5A72FEF9DA8F}"/>
              </a:ext>
            </a:extLst>
          </p:cNvPr>
          <p:cNvPicPr>
            <a:picLocks noChangeAspect="1"/>
          </p:cNvPicPr>
          <p:nvPr/>
        </p:nvPicPr>
        <p:blipFill>
          <a:blip r:embed="rId3"/>
          <a:stretch>
            <a:fillRect/>
          </a:stretch>
        </p:blipFill>
        <p:spPr>
          <a:xfrm>
            <a:off x="1943276" y="768349"/>
            <a:ext cx="5622295" cy="5690583"/>
          </a:xfrm>
          <a:prstGeom prst="rect">
            <a:avLst/>
          </a:prstGeom>
        </p:spPr>
      </p:pic>
      <p:sp>
        <p:nvSpPr>
          <p:cNvPr id="6" name="TextovéPole 5">
            <a:extLst>
              <a:ext uri="{FF2B5EF4-FFF2-40B4-BE49-F238E27FC236}">
                <a16:creationId xmlns:a16="http://schemas.microsoft.com/office/drawing/2014/main" id="{762CCE15-8920-44B5-58A4-F673C59F4FE5}"/>
              </a:ext>
            </a:extLst>
          </p:cNvPr>
          <p:cNvSpPr txBox="1"/>
          <p:nvPr/>
        </p:nvSpPr>
        <p:spPr>
          <a:xfrm>
            <a:off x="6302828" y="6624738"/>
            <a:ext cx="4572000" cy="246221"/>
          </a:xfrm>
          <a:prstGeom prst="rect">
            <a:avLst/>
          </a:prstGeom>
          <a:noFill/>
        </p:spPr>
        <p:txBody>
          <a:bodyPr wrap="square">
            <a:spAutoFit/>
          </a:bodyPr>
          <a:lstStyle/>
          <a:p>
            <a:r>
              <a:rPr lang="en-GB" sz="1000" b="0" i="0" dirty="0" err="1">
                <a:solidFill>
                  <a:srgbClr val="1C1D1E"/>
                </a:solidFill>
                <a:effectLst/>
                <a:latin typeface="+mj-lt"/>
              </a:rPr>
              <a:t>Lokatis</a:t>
            </a:r>
            <a:r>
              <a:rPr lang="en-GB" sz="1000" b="0" i="0" dirty="0">
                <a:solidFill>
                  <a:srgbClr val="1C1D1E"/>
                </a:solidFill>
                <a:effectLst/>
                <a:latin typeface="+mj-lt"/>
              </a:rPr>
              <a:t> </a:t>
            </a:r>
            <a:r>
              <a:rPr lang="cs-CZ" sz="1000" b="0" i="0" dirty="0">
                <a:solidFill>
                  <a:srgbClr val="1C1D1E"/>
                </a:solidFill>
                <a:effectLst/>
                <a:latin typeface="+mj-lt"/>
              </a:rPr>
              <a:t>&amp;</a:t>
            </a:r>
            <a:r>
              <a:rPr lang="en-GB" sz="1000" b="0" i="0" dirty="0">
                <a:solidFill>
                  <a:srgbClr val="1C1D1E"/>
                </a:solidFill>
                <a:effectLst/>
                <a:latin typeface="+mj-lt"/>
              </a:rPr>
              <a:t> Jeschke </a:t>
            </a:r>
            <a:r>
              <a:rPr lang="cs-CZ" sz="1000" b="0" i="0" dirty="0">
                <a:solidFill>
                  <a:srgbClr val="1C1D1E"/>
                </a:solidFill>
                <a:effectLst/>
                <a:latin typeface="+mj-lt"/>
              </a:rPr>
              <a:t>2018, </a:t>
            </a:r>
            <a:r>
              <a:rPr lang="en-GB" sz="1000" b="0" i="1" dirty="0">
                <a:solidFill>
                  <a:srgbClr val="1C1D1E"/>
                </a:solidFill>
                <a:effectLst/>
                <a:latin typeface="+mj-lt"/>
              </a:rPr>
              <a:t>J </a:t>
            </a:r>
            <a:r>
              <a:rPr lang="en-GB" sz="1000" b="0" i="1" dirty="0" err="1">
                <a:solidFill>
                  <a:srgbClr val="1C1D1E"/>
                </a:solidFill>
                <a:effectLst/>
                <a:latin typeface="+mj-lt"/>
              </a:rPr>
              <a:t>Biogeogr</a:t>
            </a:r>
            <a:r>
              <a:rPr lang="en-GB" sz="1000" b="0" i="0" dirty="0">
                <a:solidFill>
                  <a:srgbClr val="1C1D1E"/>
                </a:solidFill>
                <a:effectLst/>
                <a:latin typeface="+mj-lt"/>
              </a:rPr>
              <a:t> 45:289–303</a:t>
            </a:r>
            <a:endParaRPr lang="en-GB" sz="1000" dirty="0">
              <a:latin typeface="+mj-lt"/>
            </a:endParaRPr>
          </a:p>
        </p:txBody>
      </p:sp>
      <p:sp>
        <p:nvSpPr>
          <p:cNvPr id="7" name="Google Shape;127;p6">
            <a:extLst>
              <a:ext uri="{FF2B5EF4-FFF2-40B4-BE49-F238E27FC236}">
                <a16:creationId xmlns:a16="http://schemas.microsoft.com/office/drawing/2014/main" id="{084DCD82-9A8E-3C50-E296-9CCDC96223A1}"/>
              </a:ext>
            </a:extLst>
          </p:cNvPr>
          <p:cNvSpPr txBox="1">
            <a:spLocks noGrp="1"/>
          </p:cNvSpPr>
          <p:nvPr>
            <p:ph type="body" idx="1"/>
          </p:nvPr>
        </p:nvSpPr>
        <p:spPr>
          <a:xfrm>
            <a:off x="78658" y="108155"/>
            <a:ext cx="8986683" cy="698090"/>
          </a:xfrm>
          <a:prstGeom prst="rect">
            <a:avLst/>
          </a:prstGeom>
          <a:noFill/>
          <a:ln>
            <a:noFill/>
          </a:ln>
        </p:spPr>
        <p:txBody>
          <a:bodyPr spcFirstLastPara="1" wrap="square" lIns="91425" tIns="45700" rIns="91425" bIns="45700" anchor="t" anchorCtr="0">
            <a:normAutofit/>
          </a:bodyPr>
          <a:lstStyle/>
          <a:p>
            <a:pPr marL="0" lvl="0" indent="0" rtl="0">
              <a:lnSpc>
                <a:spcPct val="90000"/>
              </a:lnSpc>
              <a:spcBef>
                <a:spcPts val="0"/>
              </a:spcBef>
              <a:spcAft>
                <a:spcPts val="0"/>
              </a:spcAft>
              <a:buClr>
                <a:srgbClr val="C55A11"/>
              </a:buClr>
              <a:buSzPts val="2600"/>
              <a:buNone/>
            </a:pPr>
            <a:r>
              <a:rPr lang="en-GB" sz="2600" b="1" dirty="0">
                <a:solidFill>
                  <a:srgbClr val="007A3D"/>
                </a:solidFill>
              </a:rPr>
              <a:t>Author groups disagree on island rule support</a:t>
            </a:r>
            <a:endParaRPr dirty="0">
              <a:solidFill>
                <a:srgbClr val="007A3D"/>
              </a:solidFill>
            </a:endParaRPr>
          </a:p>
        </p:txBody>
      </p:sp>
    </p:spTree>
    <p:extLst>
      <p:ext uri="{BB962C8B-B14F-4D97-AF65-F5344CB8AC3E}">
        <p14:creationId xmlns:p14="http://schemas.microsoft.com/office/powerpoint/2010/main" val="3872427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1852D0F-96E4-B326-8D41-E222FD785A13}"/>
              </a:ext>
            </a:extLst>
          </p:cNvPr>
          <p:cNvSpPr>
            <a:spLocks noGrp="1"/>
          </p:cNvSpPr>
          <p:nvPr>
            <p:ph type="title"/>
          </p:nvPr>
        </p:nvSpPr>
        <p:spPr>
          <a:xfrm>
            <a:off x="623888" y="1298259"/>
            <a:ext cx="7886700" cy="815747"/>
          </a:xfrm>
        </p:spPr>
        <p:txBody>
          <a:bodyPr>
            <a:normAutofit/>
          </a:bodyPr>
          <a:lstStyle/>
          <a:p>
            <a:r>
              <a:rPr lang="cs-CZ" sz="3600" dirty="0">
                <a:solidFill>
                  <a:srgbClr val="007A3D"/>
                </a:solidFill>
              </a:rPr>
              <a:t>WHO READ THE PAPERS?</a:t>
            </a:r>
            <a:endParaRPr lang="en-GB" sz="3600" dirty="0">
              <a:solidFill>
                <a:srgbClr val="007A3D"/>
              </a:solidFill>
            </a:endParaRPr>
          </a:p>
        </p:txBody>
      </p:sp>
    </p:spTree>
    <p:extLst>
      <p:ext uri="{BB962C8B-B14F-4D97-AF65-F5344CB8AC3E}">
        <p14:creationId xmlns:p14="http://schemas.microsoft.com/office/powerpoint/2010/main" val="3926943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5863E-F01F-E938-0D1C-6C9B992C2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F0282-A1C6-E1E3-91A1-DBED97384614}"/>
              </a:ext>
            </a:extLst>
          </p:cNvPr>
          <p:cNvSpPr>
            <a:spLocks noGrp="1"/>
          </p:cNvSpPr>
          <p:nvPr>
            <p:ph type="ctrTitle"/>
          </p:nvPr>
        </p:nvSpPr>
        <p:spPr>
          <a:xfrm>
            <a:off x="294968" y="0"/>
            <a:ext cx="8750709" cy="884903"/>
          </a:xfrm>
        </p:spPr>
        <p:txBody>
          <a:bodyPr>
            <a:normAutofit/>
          </a:bodyPr>
          <a:lstStyle/>
          <a:p>
            <a:pPr algn="l"/>
            <a:r>
              <a:rPr sz="3600" b="1" dirty="0">
                <a:solidFill>
                  <a:srgbClr val="007A3D"/>
                </a:solidFill>
              </a:rPr>
              <a:t>The island rule: </a:t>
            </a:r>
            <a:r>
              <a:rPr lang="en-US" sz="3600" b="1" dirty="0">
                <a:solidFill>
                  <a:srgbClr val="007A3D"/>
                </a:solidFill>
              </a:rPr>
              <a:t>example of </a:t>
            </a:r>
            <a:r>
              <a:rPr sz="3600" b="1" dirty="0">
                <a:solidFill>
                  <a:srgbClr val="007A3D"/>
                </a:solidFill>
              </a:rPr>
              <a:t>two perspectives</a:t>
            </a:r>
          </a:p>
        </p:txBody>
      </p:sp>
      <p:pic>
        <p:nvPicPr>
          <p:cNvPr id="7" name="Obrázek 6">
            <a:extLst>
              <a:ext uri="{FF2B5EF4-FFF2-40B4-BE49-F238E27FC236}">
                <a16:creationId xmlns:a16="http://schemas.microsoft.com/office/drawing/2014/main" id="{1206BEC7-485C-0B46-946A-B5EE456A8730}"/>
              </a:ext>
            </a:extLst>
          </p:cNvPr>
          <p:cNvPicPr>
            <a:picLocks noChangeAspect="1"/>
          </p:cNvPicPr>
          <p:nvPr/>
        </p:nvPicPr>
        <p:blipFill>
          <a:blip r:embed="rId2"/>
          <a:stretch>
            <a:fillRect/>
          </a:stretch>
        </p:blipFill>
        <p:spPr>
          <a:xfrm>
            <a:off x="0" y="1246416"/>
            <a:ext cx="9144000" cy="2025089"/>
          </a:xfrm>
          <a:prstGeom prst="rect">
            <a:avLst/>
          </a:prstGeom>
        </p:spPr>
      </p:pic>
      <p:sp>
        <p:nvSpPr>
          <p:cNvPr id="8" name="TextovéPole 7">
            <a:extLst>
              <a:ext uri="{FF2B5EF4-FFF2-40B4-BE49-F238E27FC236}">
                <a16:creationId xmlns:a16="http://schemas.microsoft.com/office/drawing/2014/main" id="{0D4A06D6-82D3-F62A-5D6D-EDB7AD7DAD5E}"/>
              </a:ext>
            </a:extLst>
          </p:cNvPr>
          <p:cNvSpPr txBox="1"/>
          <p:nvPr/>
        </p:nvSpPr>
        <p:spPr>
          <a:xfrm>
            <a:off x="4159045" y="3448846"/>
            <a:ext cx="511278" cy="477054"/>
          </a:xfrm>
          <a:prstGeom prst="rect">
            <a:avLst/>
          </a:prstGeom>
          <a:noFill/>
        </p:spPr>
        <p:txBody>
          <a:bodyPr wrap="square" rtlCol="0">
            <a:spAutoFit/>
          </a:bodyPr>
          <a:lstStyle/>
          <a:p>
            <a:r>
              <a:rPr lang="cs-CZ" sz="2500" dirty="0">
                <a:solidFill>
                  <a:srgbClr val="007A3D"/>
                </a:solidFill>
              </a:rPr>
              <a:t>vs</a:t>
            </a:r>
            <a:endParaRPr lang="en-GB" sz="2500" dirty="0">
              <a:solidFill>
                <a:srgbClr val="007A3D"/>
              </a:solidFill>
            </a:endParaRPr>
          </a:p>
        </p:txBody>
      </p:sp>
      <p:pic>
        <p:nvPicPr>
          <p:cNvPr id="10" name="Obrázek 9">
            <a:extLst>
              <a:ext uri="{FF2B5EF4-FFF2-40B4-BE49-F238E27FC236}">
                <a16:creationId xmlns:a16="http://schemas.microsoft.com/office/drawing/2014/main" id="{B2507B9C-F989-235A-ED4E-AFF03345210F}"/>
              </a:ext>
            </a:extLst>
          </p:cNvPr>
          <p:cNvPicPr>
            <a:picLocks noChangeAspect="1"/>
          </p:cNvPicPr>
          <p:nvPr/>
        </p:nvPicPr>
        <p:blipFill>
          <a:blip r:embed="rId3"/>
          <a:stretch>
            <a:fillRect/>
          </a:stretch>
        </p:blipFill>
        <p:spPr>
          <a:xfrm>
            <a:off x="708497" y="3935731"/>
            <a:ext cx="7923650" cy="2810267"/>
          </a:xfrm>
          <a:prstGeom prst="rect">
            <a:avLst/>
          </a:prstGeom>
        </p:spPr>
      </p:pic>
    </p:spTree>
    <p:extLst>
      <p:ext uri="{BB962C8B-B14F-4D97-AF65-F5344CB8AC3E}">
        <p14:creationId xmlns:p14="http://schemas.microsoft.com/office/powerpoint/2010/main" val="3096222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FD699B55-EA96-F32C-A6EE-448D0D1E996D}"/>
              </a:ext>
            </a:extLst>
          </p:cNvPr>
          <p:cNvPicPr>
            <a:picLocks noChangeAspect="1"/>
          </p:cNvPicPr>
          <p:nvPr/>
        </p:nvPicPr>
        <p:blipFill>
          <a:blip r:embed="rId2"/>
          <a:stretch>
            <a:fillRect/>
          </a:stretch>
        </p:blipFill>
        <p:spPr>
          <a:xfrm>
            <a:off x="0" y="507728"/>
            <a:ext cx="3126537" cy="692422"/>
          </a:xfrm>
          <a:prstGeom prst="rect">
            <a:avLst/>
          </a:prstGeom>
        </p:spPr>
      </p:pic>
      <p:pic>
        <p:nvPicPr>
          <p:cNvPr id="5" name="Obrázek 4">
            <a:extLst>
              <a:ext uri="{FF2B5EF4-FFF2-40B4-BE49-F238E27FC236}">
                <a16:creationId xmlns:a16="http://schemas.microsoft.com/office/drawing/2014/main" id="{4D5D60A1-5FB0-0467-3E60-BAC7F42E02DB}"/>
              </a:ext>
            </a:extLst>
          </p:cNvPr>
          <p:cNvPicPr>
            <a:picLocks noChangeAspect="1"/>
          </p:cNvPicPr>
          <p:nvPr/>
        </p:nvPicPr>
        <p:blipFill>
          <a:blip r:embed="rId3"/>
          <a:stretch>
            <a:fillRect/>
          </a:stretch>
        </p:blipFill>
        <p:spPr>
          <a:xfrm>
            <a:off x="6269787" y="471530"/>
            <a:ext cx="2766060" cy="981034"/>
          </a:xfrm>
          <a:prstGeom prst="rect">
            <a:avLst/>
          </a:prstGeom>
        </p:spPr>
      </p:pic>
      <p:sp>
        <p:nvSpPr>
          <p:cNvPr id="6" name="TextovéPole 5">
            <a:extLst>
              <a:ext uri="{FF2B5EF4-FFF2-40B4-BE49-F238E27FC236}">
                <a16:creationId xmlns:a16="http://schemas.microsoft.com/office/drawing/2014/main" id="{2AC4D513-57AC-9216-84D9-67B288CAA2D9}"/>
              </a:ext>
            </a:extLst>
          </p:cNvPr>
          <p:cNvSpPr txBox="1"/>
          <p:nvPr/>
        </p:nvSpPr>
        <p:spPr>
          <a:xfrm>
            <a:off x="3501998" y="895956"/>
            <a:ext cx="1825731" cy="892552"/>
          </a:xfrm>
          <a:prstGeom prst="rect">
            <a:avLst/>
          </a:prstGeom>
          <a:noFill/>
        </p:spPr>
        <p:txBody>
          <a:bodyPr wrap="square">
            <a:spAutoFit/>
          </a:bodyPr>
          <a:lstStyle/>
          <a:p>
            <a:pPr>
              <a:buNone/>
            </a:pPr>
            <a:r>
              <a:rPr lang="en-GB" sz="2600" b="1" noProof="0" dirty="0">
                <a:solidFill>
                  <a:srgbClr val="007A3D"/>
                </a:solidFill>
                <a:latin typeface="Calibri" panose="020F0502020204030204" pitchFamily="34" charset="0"/>
                <a:cs typeface="Calibri" panose="020F0502020204030204" pitchFamily="34" charset="0"/>
              </a:rPr>
              <a:t>Differences</a:t>
            </a:r>
            <a:endParaRPr lang="cs-CZ" sz="2600" b="1" noProof="0" dirty="0">
              <a:solidFill>
                <a:srgbClr val="007A3D"/>
              </a:solidFill>
              <a:latin typeface="Calibri" panose="020F0502020204030204" pitchFamily="34" charset="0"/>
              <a:cs typeface="Calibri" panose="020F0502020204030204" pitchFamily="34" charset="0"/>
            </a:endParaRPr>
          </a:p>
          <a:p>
            <a:pPr algn="ctr">
              <a:buNone/>
            </a:pPr>
            <a:r>
              <a:rPr lang="cs-CZ" sz="2600" b="1" dirty="0" err="1">
                <a:solidFill>
                  <a:schemeClr val="bg1">
                    <a:lumMod val="50000"/>
                  </a:schemeClr>
                </a:solidFill>
                <a:latin typeface="Calibri" panose="020F0502020204030204" pitchFamily="34" charset="0"/>
                <a:cs typeface="Calibri" panose="020F0502020204030204" pitchFamily="34" charset="0"/>
              </a:rPr>
              <a:t>methods</a:t>
            </a:r>
            <a:endParaRPr lang="en-GB" sz="2600" b="1" noProof="0" dirty="0">
              <a:solidFill>
                <a:schemeClr val="bg1">
                  <a:lumMod val="50000"/>
                </a:schemeClr>
              </a:solidFill>
              <a:latin typeface="Calibri" panose="020F0502020204030204" pitchFamily="34" charset="0"/>
              <a:cs typeface="Calibri" panose="020F0502020204030204" pitchFamily="34" charset="0"/>
            </a:endParaRPr>
          </a:p>
        </p:txBody>
      </p:sp>
      <p:sp>
        <p:nvSpPr>
          <p:cNvPr id="7" name="Zástupný obsah 2">
            <a:extLst>
              <a:ext uri="{FF2B5EF4-FFF2-40B4-BE49-F238E27FC236}">
                <a16:creationId xmlns:a16="http://schemas.microsoft.com/office/drawing/2014/main" id="{F1775DF1-D343-E2A0-0C49-B594FEAD9B81}"/>
              </a:ext>
            </a:extLst>
          </p:cNvPr>
          <p:cNvSpPr txBox="1">
            <a:spLocks/>
          </p:cNvSpPr>
          <p:nvPr/>
        </p:nvSpPr>
        <p:spPr>
          <a:xfrm>
            <a:off x="8836" y="2410501"/>
            <a:ext cx="4396132" cy="463037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GB" sz="1500" dirty="0"/>
              <a:t>Mammals only</a:t>
            </a:r>
            <a:endParaRPr lang="cs-CZ" sz="1500" dirty="0"/>
          </a:p>
          <a:p>
            <a:pPr marL="114300" indent="0">
              <a:buNone/>
            </a:pPr>
            <a:endParaRPr lang="cs-CZ" sz="1500" dirty="0"/>
          </a:p>
          <a:p>
            <a:pPr marL="114300" indent="0">
              <a:buNone/>
            </a:pPr>
            <a:r>
              <a:rPr lang="cs-CZ" sz="1500" dirty="0"/>
              <a:t>1184 </a:t>
            </a:r>
            <a:r>
              <a:rPr lang="cs-CZ" sz="1500" dirty="0" err="1"/>
              <a:t>island</a:t>
            </a:r>
            <a:r>
              <a:rPr lang="cs-CZ" sz="1500" dirty="0"/>
              <a:t>–</a:t>
            </a:r>
            <a:r>
              <a:rPr lang="cs-CZ" sz="1500" dirty="0" err="1"/>
              <a:t>mainland</a:t>
            </a:r>
            <a:r>
              <a:rPr lang="cs-CZ" sz="1500" dirty="0"/>
              <a:t> </a:t>
            </a:r>
            <a:r>
              <a:rPr lang="cs-CZ" sz="1500" dirty="0" err="1"/>
              <a:t>comparisons</a:t>
            </a:r>
            <a:endParaRPr lang="cs-CZ" sz="1500" dirty="0"/>
          </a:p>
          <a:p>
            <a:pPr marL="114300" indent="0">
              <a:buNone/>
            </a:pPr>
            <a:endParaRPr lang="en-GB" sz="1500" dirty="0"/>
          </a:p>
          <a:p>
            <a:pPr marL="114300" indent="0">
              <a:buNone/>
            </a:pPr>
            <a:r>
              <a:rPr lang="en-GB" sz="1500" dirty="0"/>
              <a:t>Species‑level median size ratios </a:t>
            </a:r>
            <a:r>
              <a:rPr lang="cs-CZ" sz="1500" dirty="0"/>
              <a:t>(</a:t>
            </a:r>
            <a:r>
              <a:rPr lang="cs-CZ" sz="1500" dirty="0" err="1"/>
              <a:t>unlogged</a:t>
            </a:r>
            <a:r>
              <a:rPr lang="cs-CZ" sz="1500" dirty="0"/>
              <a:t>)</a:t>
            </a:r>
          </a:p>
          <a:p>
            <a:pPr marL="114300" indent="0">
              <a:buNone/>
            </a:pPr>
            <a:endParaRPr lang="cs-CZ" sz="1500" dirty="0"/>
          </a:p>
          <a:p>
            <a:pPr marL="114300" indent="0">
              <a:buNone/>
            </a:pPr>
            <a:r>
              <a:rPr lang="en-GB" sz="1500" dirty="0"/>
              <a:t>Explicit phylogenetic tests (independent contrasts on mammal </a:t>
            </a:r>
            <a:r>
              <a:rPr lang="en-GB" sz="1500" dirty="0" err="1"/>
              <a:t>supertree</a:t>
            </a:r>
            <a:r>
              <a:rPr lang="en-GB" sz="1500" dirty="0"/>
              <a:t>)</a:t>
            </a:r>
            <a:endParaRPr lang="cs-CZ" sz="1500" dirty="0"/>
          </a:p>
          <a:p>
            <a:pPr marL="114300" indent="0">
              <a:buNone/>
            </a:pPr>
            <a:endParaRPr lang="en-GB" sz="1500" dirty="0"/>
          </a:p>
          <a:p>
            <a:pPr marL="114300" indent="0">
              <a:buNone/>
            </a:pPr>
            <a:r>
              <a:rPr lang="en-GB" sz="1500" dirty="0"/>
              <a:t>Moderators: </a:t>
            </a:r>
            <a:r>
              <a:rPr lang="cs-CZ" sz="1500" dirty="0" err="1"/>
              <a:t>mainland</a:t>
            </a:r>
            <a:r>
              <a:rPr lang="cs-CZ" sz="1500" dirty="0"/>
              <a:t> body </a:t>
            </a:r>
            <a:r>
              <a:rPr lang="cs-CZ" sz="1500" dirty="0" err="1"/>
              <a:t>mass</a:t>
            </a:r>
            <a:r>
              <a:rPr lang="cs-CZ" sz="1500" dirty="0"/>
              <a:t>, </a:t>
            </a:r>
            <a:r>
              <a:rPr lang="en-GB" sz="1500" dirty="0"/>
              <a:t>island area</a:t>
            </a:r>
            <a:r>
              <a:rPr lang="cs-CZ" sz="1500" dirty="0"/>
              <a:t> &amp;</a:t>
            </a:r>
            <a:r>
              <a:rPr lang="en-GB" sz="1500" dirty="0"/>
              <a:t> isolation, trophic level, carnivore richness</a:t>
            </a:r>
            <a:endParaRPr lang="cs-CZ" sz="1500" dirty="0"/>
          </a:p>
          <a:p>
            <a:pPr marL="114300" indent="0">
              <a:buNone/>
            </a:pPr>
            <a:endParaRPr lang="en-GB" sz="1500" dirty="0"/>
          </a:p>
          <a:p>
            <a:pPr marL="114300" indent="0">
              <a:buNone/>
            </a:pPr>
            <a:r>
              <a:rPr lang="en-GB" sz="1500" dirty="0"/>
              <a:t>Repeated analyses with ‘well‑sampled’ species (≥6 individuals per island and mainland)</a:t>
            </a:r>
          </a:p>
        </p:txBody>
      </p:sp>
      <p:sp>
        <p:nvSpPr>
          <p:cNvPr id="8" name="Zástupný obsah 2">
            <a:extLst>
              <a:ext uri="{FF2B5EF4-FFF2-40B4-BE49-F238E27FC236}">
                <a16:creationId xmlns:a16="http://schemas.microsoft.com/office/drawing/2014/main" id="{3C11BF1F-7C9C-B025-2FCE-537C13456872}"/>
              </a:ext>
            </a:extLst>
          </p:cNvPr>
          <p:cNvSpPr txBox="1">
            <a:spLocks/>
          </p:cNvSpPr>
          <p:nvPr/>
        </p:nvSpPr>
        <p:spPr>
          <a:xfrm>
            <a:off x="4777740" y="2410501"/>
            <a:ext cx="4253689" cy="569646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r">
              <a:buNone/>
            </a:pPr>
            <a:r>
              <a:rPr lang="cs-CZ" sz="1500" dirty="0" err="1"/>
              <a:t>Mammals</a:t>
            </a:r>
            <a:r>
              <a:rPr lang="cs-CZ" sz="1500" dirty="0"/>
              <a:t>, </a:t>
            </a:r>
            <a:r>
              <a:rPr lang="cs-CZ" sz="1500" dirty="0" err="1"/>
              <a:t>birds</a:t>
            </a:r>
            <a:r>
              <a:rPr lang="cs-CZ" sz="1500" dirty="0"/>
              <a:t>, </a:t>
            </a:r>
            <a:r>
              <a:rPr lang="cs-CZ" sz="1500" dirty="0" err="1"/>
              <a:t>reptiles</a:t>
            </a:r>
            <a:r>
              <a:rPr lang="cs-CZ" sz="1500" dirty="0"/>
              <a:t>, </a:t>
            </a:r>
            <a:r>
              <a:rPr lang="cs-CZ" sz="1500" dirty="0" err="1"/>
              <a:t>amphbians</a:t>
            </a:r>
            <a:endParaRPr lang="cs-CZ" sz="1500" dirty="0"/>
          </a:p>
          <a:p>
            <a:pPr marL="114300" indent="0" algn="r">
              <a:buNone/>
            </a:pPr>
            <a:endParaRPr lang="en-GB" sz="1500" dirty="0"/>
          </a:p>
          <a:p>
            <a:pPr marL="114300" indent="0" algn="r">
              <a:buNone/>
            </a:pPr>
            <a:r>
              <a:rPr lang="en-GB" sz="1500" dirty="0"/>
              <a:t>2,479 island–mainland comparisons</a:t>
            </a:r>
            <a:endParaRPr lang="cs-CZ" sz="1500" dirty="0"/>
          </a:p>
          <a:p>
            <a:pPr marL="114300" indent="0" algn="r">
              <a:buNone/>
            </a:pPr>
            <a:endParaRPr lang="cs-CZ" sz="1500" dirty="0"/>
          </a:p>
          <a:p>
            <a:pPr marL="114300" indent="0" algn="r">
              <a:buNone/>
            </a:pPr>
            <a:r>
              <a:rPr lang="cs-CZ" sz="1500" dirty="0" err="1"/>
              <a:t>Within</a:t>
            </a:r>
            <a:r>
              <a:rPr lang="cs-CZ" sz="1500" dirty="0"/>
              <a:t> and </a:t>
            </a:r>
            <a:r>
              <a:rPr lang="cs-CZ" sz="1500" dirty="0" err="1"/>
              <a:t>cross</a:t>
            </a:r>
            <a:r>
              <a:rPr lang="cs-CZ" sz="1500" dirty="0"/>
              <a:t>-species </a:t>
            </a:r>
            <a:r>
              <a:rPr lang="cs-CZ" sz="1500" dirty="0" err="1"/>
              <a:t>population</a:t>
            </a:r>
            <a:r>
              <a:rPr lang="cs-CZ" sz="1500" dirty="0"/>
              <a:t> </a:t>
            </a:r>
            <a:r>
              <a:rPr lang="cs-CZ" sz="1500" dirty="0" err="1"/>
              <a:t>mean</a:t>
            </a:r>
            <a:r>
              <a:rPr lang="cs-CZ" sz="1500" dirty="0"/>
              <a:t> </a:t>
            </a:r>
            <a:r>
              <a:rPr lang="cs-CZ" sz="1500" dirty="0" err="1"/>
              <a:t>size</a:t>
            </a:r>
            <a:r>
              <a:rPr lang="cs-CZ" sz="1500" dirty="0"/>
              <a:t> ratio (</a:t>
            </a:r>
            <a:r>
              <a:rPr lang="cs-CZ" sz="1500" dirty="0" err="1"/>
              <a:t>logged</a:t>
            </a:r>
            <a:r>
              <a:rPr lang="cs-CZ" sz="1500" dirty="0"/>
              <a:t>)</a:t>
            </a:r>
          </a:p>
          <a:p>
            <a:pPr marL="114300" indent="0" algn="r">
              <a:buNone/>
            </a:pPr>
            <a:endParaRPr lang="cs-CZ" sz="100" dirty="0"/>
          </a:p>
          <a:p>
            <a:pPr marL="114300" indent="0" algn="r">
              <a:buNone/>
            </a:pPr>
            <a:r>
              <a:rPr lang="en-GB" sz="1500" dirty="0"/>
              <a:t>Multi‑level meta‑regression with random effects: species, source, observation, phylogeny</a:t>
            </a:r>
            <a:endParaRPr lang="cs-CZ" sz="1500" dirty="0"/>
          </a:p>
          <a:p>
            <a:pPr marL="114300" indent="0" algn="r">
              <a:buNone/>
            </a:pPr>
            <a:endParaRPr lang="en-GB" sz="1500" dirty="0"/>
          </a:p>
          <a:p>
            <a:pPr marL="114300" indent="0" algn="r">
              <a:buNone/>
            </a:pPr>
            <a:r>
              <a:rPr lang="cs-CZ" sz="1500" dirty="0" err="1"/>
              <a:t>Moderators</a:t>
            </a:r>
            <a:r>
              <a:rPr lang="en-GB" sz="1500" dirty="0"/>
              <a:t>: </a:t>
            </a:r>
            <a:r>
              <a:rPr lang="cs-CZ" sz="1500" dirty="0" err="1"/>
              <a:t>mainland</a:t>
            </a:r>
            <a:r>
              <a:rPr lang="cs-CZ" sz="1500" dirty="0"/>
              <a:t> body </a:t>
            </a:r>
            <a:r>
              <a:rPr lang="cs-CZ" sz="1500" dirty="0" err="1"/>
              <a:t>mass</a:t>
            </a:r>
            <a:r>
              <a:rPr lang="cs-CZ" sz="1500" dirty="0"/>
              <a:t>, </a:t>
            </a:r>
            <a:r>
              <a:rPr lang="en-GB" sz="1500" dirty="0"/>
              <a:t>island area</a:t>
            </a:r>
            <a:r>
              <a:rPr lang="cs-CZ" sz="1500" dirty="0"/>
              <a:t> &amp;</a:t>
            </a:r>
            <a:r>
              <a:rPr lang="en-GB" sz="1500" dirty="0"/>
              <a:t> isolation, </a:t>
            </a:r>
            <a:r>
              <a:rPr lang="cs-CZ" sz="1500" dirty="0" err="1"/>
              <a:t>trophic</a:t>
            </a:r>
            <a:r>
              <a:rPr lang="cs-CZ" sz="1500" dirty="0"/>
              <a:t> level, </a:t>
            </a:r>
            <a:r>
              <a:rPr lang="en-GB" sz="1500" dirty="0"/>
              <a:t>productivity, temperature &amp; seasonality</a:t>
            </a:r>
          </a:p>
          <a:p>
            <a:pPr marL="114300" indent="0" algn="r">
              <a:buNone/>
            </a:pPr>
            <a:endParaRPr lang="cs-CZ" sz="200" dirty="0"/>
          </a:p>
          <a:p>
            <a:pPr marL="114300" indent="0" algn="r">
              <a:buNone/>
            </a:pPr>
            <a:r>
              <a:rPr lang="en-GB" sz="1500" dirty="0"/>
              <a:t>Bias checks: ratio regressions, small‑sample correction, imputation, publication bias</a:t>
            </a:r>
            <a:endParaRPr lang="cs-CZ" sz="1500" dirty="0"/>
          </a:p>
          <a:p>
            <a:pPr marL="114300" indent="0" algn="r">
              <a:buNone/>
            </a:pPr>
            <a:endParaRPr lang="en-GB" sz="1500" dirty="0"/>
          </a:p>
        </p:txBody>
      </p:sp>
      <p:pic>
        <p:nvPicPr>
          <p:cNvPr id="9" name="Picture 5">
            <a:extLst>
              <a:ext uri="{FF2B5EF4-FFF2-40B4-BE49-F238E27FC236}">
                <a16:creationId xmlns:a16="http://schemas.microsoft.com/office/drawing/2014/main" id="{EA3F92E8-AF85-A06B-BBCC-22A54F54D1C1}"/>
              </a:ext>
            </a:extLst>
          </p:cNvPr>
          <p:cNvPicPr>
            <a:picLocks noChangeAspect="1"/>
          </p:cNvPicPr>
          <p:nvPr/>
        </p:nvPicPr>
        <p:blipFill>
          <a:blip r:embed="rId4">
            <a:duotone>
              <a:schemeClr val="accent3">
                <a:shade val="45000"/>
                <a:satMod val="135000"/>
              </a:schemeClr>
              <a:prstClr val="white"/>
            </a:duotone>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3992759" y="1931966"/>
            <a:ext cx="579241" cy="492444"/>
          </a:xfrm>
          <a:prstGeom prst="rect">
            <a:avLst/>
          </a:prstGeom>
        </p:spPr>
      </p:pic>
    </p:spTree>
    <p:extLst>
      <p:ext uri="{BB962C8B-B14F-4D97-AF65-F5344CB8AC3E}">
        <p14:creationId xmlns:p14="http://schemas.microsoft.com/office/powerpoint/2010/main" val="690092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AD5E-E2A5-A3C5-A3DE-F5DC6490FF28}"/>
            </a:ext>
          </a:extLst>
        </p:cNvPr>
        <p:cNvGrpSpPr/>
        <p:nvPr/>
      </p:nvGrpSpPr>
      <p:grpSpPr>
        <a:xfrm>
          <a:off x="0" y="0"/>
          <a:ext cx="0" cy="0"/>
          <a:chOff x="0" y="0"/>
          <a:chExt cx="0" cy="0"/>
        </a:xfrm>
      </p:grpSpPr>
      <p:pic>
        <p:nvPicPr>
          <p:cNvPr id="4" name="Obrázek 3">
            <a:extLst>
              <a:ext uri="{FF2B5EF4-FFF2-40B4-BE49-F238E27FC236}">
                <a16:creationId xmlns:a16="http://schemas.microsoft.com/office/drawing/2014/main" id="{FAFB2208-6BD3-3A6C-77D3-3676A04C613B}"/>
              </a:ext>
            </a:extLst>
          </p:cNvPr>
          <p:cNvPicPr>
            <a:picLocks noChangeAspect="1"/>
          </p:cNvPicPr>
          <p:nvPr/>
        </p:nvPicPr>
        <p:blipFill>
          <a:blip r:embed="rId3"/>
          <a:stretch>
            <a:fillRect/>
          </a:stretch>
        </p:blipFill>
        <p:spPr>
          <a:xfrm>
            <a:off x="0" y="507728"/>
            <a:ext cx="3126537" cy="692422"/>
          </a:xfrm>
          <a:prstGeom prst="rect">
            <a:avLst/>
          </a:prstGeom>
        </p:spPr>
      </p:pic>
      <p:pic>
        <p:nvPicPr>
          <p:cNvPr id="5" name="Obrázek 4">
            <a:extLst>
              <a:ext uri="{FF2B5EF4-FFF2-40B4-BE49-F238E27FC236}">
                <a16:creationId xmlns:a16="http://schemas.microsoft.com/office/drawing/2014/main" id="{F78439E5-E921-DC7E-3C7A-494FBDFF02DC}"/>
              </a:ext>
            </a:extLst>
          </p:cNvPr>
          <p:cNvPicPr>
            <a:picLocks noChangeAspect="1"/>
          </p:cNvPicPr>
          <p:nvPr/>
        </p:nvPicPr>
        <p:blipFill>
          <a:blip r:embed="rId4"/>
          <a:stretch>
            <a:fillRect/>
          </a:stretch>
        </p:blipFill>
        <p:spPr>
          <a:xfrm>
            <a:off x="6269787" y="471530"/>
            <a:ext cx="2766060" cy="981034"/>
          </a:xfrm>
          <a:prstGeom prst="rect">
            <a:avLst/>
          </a:prstGeom>
        </p:spPr>
      </p:pic>
      <p:sp>
        <p:nvSpPr>
          <p:cNvPr id="6" name="TextovéPole 5">
            <a:extLst>
              <a:ext uri="{FF2B5EF4-FFF2-40B4-BE49-F238E27FC236}">
                <a16:creationId xmlns:a16="http://schemas.microsoft.com/office/drawing/2014/main" id="{A5615816-EF31-C0F8-0C25-F03D35A4E443}"/>
              </a:ext>
            </a:extLst>
          </p:cNvPr>
          <p:cNvSpPr txBox="1"/>
          <p:nvPr/>
        </p:nvSpPr>
        <p:spPr>
          <a:xfrm>
            <a:off x="3501998" y="895956"/>
            <a:ext cx="1825731" cy="892552"/>
          </a:xfrm>
          <a:prstGeom prst="rect">
            <a:avLst/>
          </a:prstGeom>
          <a:noFill/>
        </p:spPr>
        <p:txBody>
          <a:bodyPr wrap="square">
            <a:spAutoFit/>
          </a:bodyPr>
          <a:lstStyle/>
          <a:p>
            <a:pPr>
              <a:buNone/>
            </a:pPr>
            <a:r>
              <a:rPr lang="en-GB" sz="2600" b="1" noProof="0" dirty="0">
                <a:solidFill>
                  <a:srgbClr val="007A3D"/>
                </a:solidFill>
                <a:latin typeface="Calibri" panose="020F0502020204030204" pitchFamily="34" charset="0"/>
                <a:cs typeface="Calibri" panose="020F0502020204030204" pitchFamily="34" charset="0"/>
              </a:rPr>
              <a:t>Differences</a:t>
            </a:r>
            <a:endParaRPr lang="cs-CZ" sz="2600" b="1" noProof="0" dirty="0">
              <a:solidFill>
                <a:srgbClr val="007A3D"/>
              </a:solidFill>
              <a:latin typeface="Calibri" panose="020F0502020204030204" pitchFamily="34" charset="0"/>
              <a:cs typeface="Calibri" panose="020F0502020204030204" pitchFamily="34" charset="0"/>
            </a:endParaRPr>
          </a:p>
          <a:p>
            <a:pPr algn="ctr">
              <a:buNone/>
            </a:pPr>
            <a:r>
              <a:rPr lang="cs-CZ" sz="2600" b="1" dirty="0" err="1">
                <a:solidFill>
                  <a:schemeClr val="bg1">
                    <a:lumMod val="50000"/>
                  </a:schemeClr>
                </a:solidFill>
                <a:latin typeface="Calibri" panose="020F0502020204030204" pitchFamily="34" charset="0"/>
                <a:cs typeface="Calibri" panose="020F0502020204030204" pitchFamily="34" charset="0"/>
              </a:rPr>
              <a:t>limitations</a:t>
            </a:r>
            <a:endParaRPr lang="en-GB" sz="2600" b="1" noProof="0" dirty="0">
              <a:solidFill>
                <a:schemeClr val="bg1">
                  <a:lumMod val="50000"/>
                </a:schemeClr>
              </a:solidFill>
              <a:latin typeface="Calibri" panose="020F0502020204030204" pitchFamily="34" charset="0"/>
              <a:cs typeface="Calibri" panose="020F0502020204030204" pitchFamily="34" charset="0"/>
            </a:endParaRPr>
          </a:p>
        </p:txBody>
      </p:sp>
      <p:sp>
        <p:nvSpPr>
          <p:cNvPr id="7" name="Zástupný obsah 2">
            <a:extLst>
              <a:ext uri="{FF2B5EF4-FFF2-40B4-BE49-F238E27FC236}">
                <a16:creationId xmlns:a16="http://schemas.microsoft.com/office/drawing/2014/main" id="{E3A9F943-6CD1-89A5-8CD9-D9651F4E85A4}"/>
              </a:ext>
            </a:extLst>
          </p:cNvPr>
          <p:cNvSpPr txBox="1">
            <a:spLocks/>
          </p:cNvSpPr>
          <p:nvPr/>
        </p:nvSpPr>
        <p:spPr>
          <a:xfrm>
            <a:off x="8836" y="2170471"/>
            <a:ext cx="4396132" cy="463037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GB" sz="1500" dirty="0"/>
              <a:t>Mammals only</a:t>
            </a:r>
            <a:endParaRPr lang="cs-CZ" sz="1500" dirty="0"/>
          </a:p>
          <a:p>
            <a:pPr marL="114300" indent="0">
              <a:buNone/>
            </a:pPr>
            <a:endParaRPr lang="en-GB" sz="1500" dirty="0"/>
          </a:p>
          <a:p>
            <a:pPr marL="114300" indent="0">
              <a:buNone/>
            </a:pPr>
            <a:r>
              <a:rPr lang="en-GB" sz="1500" dirty="0"/>
              <a:t>Do not control for unequal sampling error/precision across species</a:t>
            </a:r>
            <a:endParaRPr lang="cs-CZ" sz="1500" dirty="0"/>
          </a:p>
          <a:p>
            <a:pPr marL="114300" indent="0">
              <a:buNone/>
            </a:pPr>
            <a:endParaRPr lang="cs-CZ" sz="1500" dirty="0"/>
          </a:p>
          <a:p>
            <a:pPr marL="114300" indent="0">
              <a:buNone/>
            </a:pPr>
            <a:r>
              <a:rPr lang="en-GB" sz="1500" dirty="0">
                <a:latin typeface="Calibri" panose="020F0502020204030204" pitchFamily="34" charset="0"/>
                <a:cs typeface="Calibri" panose="020F0502020204030204" pitchFamily="34" charset="0"/>
              </a:rPr>
              <a:t>High residual heterogeneity → unmeasured factors likely</a:t>
            </a:r>
          </a:p>
          <a:p>
            <a:pPr marL="114300" indent="0">
              <a:buNone/>
            </a:pPr>
            <a:endParaRPr lang="cs-CZ" sz="200" dirty="0"/>
          </a:p>
          <a:p>
            <a:pPr marL="114300" indent="0">
              <a:buNone/>
            </a:pPr>
            <a:r>
              <a:rPr lang="cs-CZ" sz="1500" dirty="0" err="1"/>
              <a:t>Calculating</a:t>
            </a:r>
            <a:r>
              <a:rPr lang="cs-CZ" sz="1500" dirty="0"/>
              <a:t> </a:t>
            </a:r>
            <a:r>
              <a:rPr lang="cs-CZ" sz="1500" dirty="0" err="1"/>
              <a:t>ratios</a:t>
            </a:r>
            <a:r>
              <a:rPr lang="cs-CZ" sz="1500" dirty="0"/>
              <a:t> </a:t>
            </a:r>
            <a:r>
              <a:rPr lang="cs-CZ" sz="1500" dirty="0" err="1"/>
              <a:t>for</a:t>
            </a:r>
            <a:r>
              <a:rPr lang="cs-CZ" sz="1500" dirty="0"/>
              <a:t> </a:t>
            </a:r>
            <a:r>
              <a:rPr lang="en-GB" sz="1500" dirty="0"/>
              <a:t>diverse size indices</a:t>
            </a:r>
          </a:p>
        </p:txBody>
      </p:sp>
      <p:sp>
        <p:nvSpPr>
          <p:cNvPr id="8" name="Zástupný obsah 2">
            <a:extLst>
              <a:ext uri="{FF2B5EF4-FFF2-40B4-BE49-F238E27FC236}">
                <a16:creationId xmlns:a16="http://schemas.microsoft.com/office/drawing/2014/main" id="{48045D4B-22CD-F73F-19BA-83E16F083CFA}"/>
              </a:ext>
            </a:extLst>
          </p:cNvPr>
          <p:cNvSpPr txBox="1">
            <a:spLocks/>
          </p:cNvSpPr>
          <p:nvPr/>
        </p:nvSpPr>
        <p:spPr>
          <a:xfrm>
            <a:off x="4635298" y="2181901"/>
            <a:ext cx="4396132" cy="569646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r">
              <a:buNone/>
            </a:pPr>
            <a:r>
              <a:rPr lang="cs-CZ" sz="1500" dirty="0" err="1"/>
              <a:t>Global</a:t>
            </a:r>
            <a:r>
              <a:rPr lang="cs-CZ" sz="1500" dirty="0"/>
              <a:t>, </a:t>
            </a:r>
            <a:r>
              <a:rPr lang="cs-CZ" sz="1500" dirty="0" err="1"/>
              <a:t>cross</a:t>
            </a:r>
            <a:r>
              <a:rPr lang="cs-CZ" sz="1500" dirty="0"/>
              <a:t>-taxa</a:t>
            </a:r>
          </a:p>
          <a:p>
            <a:pPr marL="114300" indent="0" algn="r">
              <a:buNone/>
            </a:pPr>
            <a:endParaRPr lang="cs-CZ" sz="1500" dirty="0"/>
          </a:p>
          <a:p>
            <a:pPr marL="114300" indent="0" algn="r">
              <a:buNone/>
            </a:pPr>
            <a:r>
              <a:rPr lang="en-GB" sz="1500" dirty="0"/>
              <a:t>Bias checks: ratio regressions, small‑sample correction, imputation, publication bias</a:t>
            </a:r>
            <a:endParaRPr lang="cs-CZ" sz="1500" dirty="0"/>
          </a:p>
          <a:p>
            <a:pPr marL="114300" indent="0" algn="r">
              <a:buNone/>
            </a:pPr>
            <a:endParaRPr lang="cs-CZ" sz="1500" dirty="0"/>
          </a:p>
          <a:p>
            <a:pPr marL="114300" indent="0" algn="r">
              <a:buNone/>
            </a:pPr>
            <a:r>
              <a:rPr lang="cs-CZ" sz="1500" dirty="0"/>
              <a:t>Solid </a:t>
            </a:r>
            <a:r>
              <a:rPr lang="cs-CZ" sz="1500" dirty="0" err="1"/>
              <a:t>proportion</a:t>
            </a:r>
            <a:r>
              <a:rPr lang="cs-CZ" sz="1500" dirty="0"/>
              <a:t> </a:t>
            </a:r>
            <a:r>
              <a:rPr lang="cs-CZ" sz="1500" dirty="0" err="1"/>
              <a:t>of</a:t>
            </a:r>
            <a:r>
              <a:rPr lang="cs-CZ" sz="1500" dirty="0"/>
              <a:t> variance </a:t>
            </a:r>
            <a:r>
              <a:rPr lang="cs-CZ" sz="1500" dirty="0" err="1"/>
              <a:t>explained</a:t>
            </a:r>
            <a:endParaRPr lang="cs-CZ" sz="1500" dirty="0"/>
          </a:p>
          <a:p>
            <a:pPr marL="114300" indent="0" algn="r">
              <a:buNone/>
            </a:pPr>
            <a:endParaRPr lang="cs-CZ" sz="1500" dirty="0"/>
          </a:p>
          <a:p>
            <a:pPr marL="114300" indent="0" algn="r">
              <a:buNone/>
            </a:pPr>
            <a:r>
              <a:rPr lang="en-GB" sz="1500" dirty="0"/>
              <a:t>Converting diverse size indices to mass via allometry</a:t>
            </a:r>
            <a:endParaRPr lang="cs-CZ" sz="1500" dirty="0"/>
          </a:p>
          <a:p>
            <a:pPr marL="114300" indent="0" algn="r">
              <a:buNone/>
            </a:pPr>
            <a:endParaRPr lang="cs-CZ" sz="1500" dirty="0"/>
          </a:p>
          <a:p>
            <a:pPr marL="114300" indent="0" algn="r">
              <a:buNone/>
            </a:pPr>
            <a:endParaRPr lang="cs-CZ" sz="1500" dirty="0"/>
          </a:p>
          <a:p>
            <a:pPr marL="114300" indent="0" algn="r">
              <a:buNone/>
            </a:pPr>
            <a:endParaRPr lang="cs-CZ" sz="100" dirty="0"/>
          </a:p>
          <a:p>
            <a:pPr marL="114300" indent="0" algn="r">
              <a:buNone/>
            </a:pPr>
            <a:endParaRPr lang="cs-CZ" sz="1500" dirty="0"/>
          </a:p>
          <a:p>
            <a:pPr marL="114300" indent="0" algn="r">
              <a:buNone/>
            </a:pPr>
            <a:endParaRPr lang="en-GB" sz="1500" dirty="0"/>
          </a:p>
        </p:txBody>
      </p:sp>
      <p:sp>
        <p:nvSpPr>
          <p:cNvPr id="2" name="TextovéPole 1">
            <a:extLst>
              <a:ext uri="{FF2B5EF4-FFF2-40B4-BE49-F238E27FC236}">
                <a16:creationId xmlns:a16="http://schemas.microsoft.com/office/drawing/2014/main" id="{65E5CA30-EF30-5E0F-C6C6-F066734D76C2}"/>
              </a:ext>
            </a:extLst>
          </p:cNvPr>
          <p:cNvSpPr txBox="1"/>
          <p:nvPr/>
        </p:nvSpPr>
        <p:spPr>
          <a:xfrm>
            <a:off x="2033442" y="5882067"/>
            <a:ext cx="4762842" cy="1477328"/>
          </a:xfrm>
          <a:prstGeom prst="rect">
            <a:avLst/>
          </a:prstGeom>
          <a:noFill/>
        </p:spPr>
        <p:txBody>
          <a:bodyPr wrap="none" rtlCol="0">
            <a:spAutoFit/>
          </a:bodyPr>
          <a:lstStyle/>
          <a:p>
            <a:pPr algn="ctr"/>
            <a:r>
              <a:rPr lang="cs-CZ" sz="1500" dirty="0" err="1">
                <a:latin typeface="Calibri" panose="020F0502020204030204" pitchFamily="34" charset="0"/>
                <a:cs typeface="Calibri" panose="020F0502020204030204" pitchFamily="34" charset="0"/>
              </a:rPr>
              <a:t>None</a:t>
            </a:r>
            <a:r>
              <a:rPr lang="cs-CZ" sz="1500" dirty="0">
                <a:latin typeface="Calibri" panose="020F0502020204030204" pitchFamily="34" charset="0"/>
                <a:cs typeface="Calibri" panose="020F0502020204030204" pitchFamily="34" charset="0"/>
              </a:rPr>
              <a:t> use </a:t>
            </a:r>
            <a:r>
              <a:rPr lang="cs-CZ" sz="1500" dirty="0" err="1">
                <a:latin typeface="Calibri" panose="020F0502020204030204" pitchFamily="34" charset="0"/>
                <a:cs typeface="Calibri" panose="020F0502020204030204" pitchFamily="34" charset="0"/>
              </a:rPr>
              <a:t>raw</a:t>
            </a:r>
            <a:r>
              <a:rPr lang="cs-CZ" sz="1500" dirty="0">
                <a:latin typeface="Calibri" panose="020F0502020204030204" pitchFamily="34" charset="0"/>
                <a:cs typeface="Calibri" panose="020F0502020204030204" pitchFamily="34" charset="0"/>
              </a:rPr>
              <a:t> data</a:t>
            </a:r>
          </a:p>
          <a:p>
            <a:pPr algn="ctr"/>
            <a:endParaRPr lang="cs-CZ" sz="1500" dirty="0">
              <a:latin typeface="Calibri" panose="020F0502020204030204" pitchFamily="34" charset="0"/>
              <a:cs typeface="Calibri" panose="020F0502020204030204" pitchFamily="34" charset="0"/>
            </a:endParaRPr>
          </a:p>
          <a:p>
            <a:pPr algn="ctr"/>
            <a:r>
              <a:rPr lang="en-GB" sz="1500" dirty="0">
                <a:latin typeface="Calibri" panose="020F0502020204030204" pitchFamily="34" charset="0"/>
                <a:cs typeface="Calibri" panose="020F0502020204030204" pitchFamily="34" charset="0"/>
              </a:rPr>
              <a:t>Extinct </a:t>
            </a:r>
            <a:r>
              <a:rPr lang="cs-CZ" sz="1500" dirty="0">
                <a:latin typeface="Calibri" panose="020F0502020204030204" pitchFamily="34" charset="0"/>
                <a:cs typeface="Calibri" panose="020F0502020204030204" pitchFamily="34" charset="0"/>
              </a:rPr>
              <a:t>fauna</a:t>
            </a:r>
            <a:r>
              <a:rPr lang="en-GB" sz="1500" dirty="0">
                <a:latin typeface="Calibri" panose="020F0502020204030204" pitchFamily="34" charset="0"/>
                <a:cs typeface="Calibri" panose="020F0502020204030204" pitchFamily="34" charset="0"/>
              </a:rPr>
              <a:t> excluded → historical signals may be masked</a:t>
            </a:r>
            <a:endParaRPr lang="cs-CZ" sz="1500" dirty="0">
              <a:latin typeface="Calibri" panose="020F0502020204030204" pitchFamily="34" charset="0"/>
              <a:cs typeface="Calibri" panose="020F0502020204030204" pitchFamily="34" charset="0"/>
            </a:endParaRPr>
          </a:p>
          <a:p>
            <a:pPr algn="ctr"/>
            <a:endParaRPr lang="cs-CZ" sz="1500" dirty="0">
              <a:latin typeface="Calibri" panose="020F0502020204030204" pitchFamily="34" charset="0"/>
              <a:cs typeface="Calibri" panose="020F0502020204030204" pitchFamily="34" charset="0"/>
            </a:endParaRPr>
          </a:p>
          <a:p>
            <a:pPr algn="ctr"/>
            <a:endParaRPr lang="en-GB" sz="1500" dirty="0">
              <a:latin typeface="Calibri" panose="020F0502020204030204" pitchFamily="34" charset="0"/>
              <a:cs typeface="Calibri" panose="020F0502020204030204" pitchFamily="34" charset="0"/>
            </a:endParaRPr>
          </a:p>
          <a:p>
            <a:pPr algn="ctr"/>
            <a:endParaRPr lang="en-GB" sz="15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5194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2C55B94-A6EF-137C-3F68-AE772A15CD11}"/>
              </a:ext>
            </a:extLst>
          </p:cNvPr>
          <p:cNvSpPr>
            <a:spLocks noGrp="1"/>
          </p:cNvSpPr>
          <p:nvPr>
            <p:ph type="title"/>
          </p:nvPr>
        </p:nvSpPr>
        <p:spPr>
          <a:xfrm>
            <a:off x="97708" y="1790803"/>
            <a:ext cx="7886700" cy="1325563"/>
          </a:xfrm>
        </p:spPr>
        <p:txBody>
          <a:bodyPr>
            <a:normAutofit fontScale="90000"/>
          </a:bodyPr>
          <a:lstStyle/>
          <a:p>
            <a:r>
              <a:rPr lang="cs-CZ" b="1" dirty="0">
                <a:solidFill>
                  <a:srgbClr val="007A3D"/>
                </a:solidFill>
              </a:rPr>
              <a:t>R</a:t>
            </a:r>
            <a:br>
              <a:rPr lang="cs-CZ" b="1" dirty="0">
                <a:solidFill>
                  <a:srgbClr val="007A3D"/>
                </a:solidFill>
              </a:rPr>
            </a:br>
            <a:r>
              <a:rPr lang="cs-CZ" b="1" dirty="0">
                <a:solidFill>
                  <a:srgbClr val="007A3D"/>
                </a:solidFill>
              </a:rPr>
              <a:t>e</a:t>
            </a:r>
            <a:br>
              <a:rPr lang="cs-CZ" b="1" dirty="0">
                <a:solidFill>
                  <a:srgbClr val="007A3D"/>
                </a:solidFill>
              </a:rPr>
            </a:br>
            <a:r>
              <a:rPr lang="cs-CZ" b="1" dirty="0">
                <a:solidFill>
                  <a:srgbClr val="007A3D"/>
                </a:solidFill>
              </a:rPr>
              <a:t>s</a:t>
            </a:r>
            <a:br>
              <a:rPr lang="cs-CZ" b="1" dirty="0">
                <a:solidFill>
                  <a:srgbClr val="007A3D"/>
                </a:solidFill>
              </a:rPr>
            </a:br>
            <a:r>
              <a:rPr lang="cs-CZ" b="1" dirty="0">
                <a:solidFill>
                  <a:srgbClr val="007A3D"/>
                </a:solidFill>
              </a:rPr>
              <a:t>u</a:t>
            </a:r>
            <a:br>
              <a:rPr lang="cs-CZ" b="1" dirty="0">
                <a:solidFill>
                  <a:srgbClr val="007A3D"/>
                </a:solidFill>
              </a:rPr>
            </a:br>
            <a:r>
              <a:rPr lang="cs-CZ" b="1" dirty="0">
                <a:solidFill>
                  <a:srgbClr val="007A3D"/>
                </a:solidFill>
              </a:rPr>
              <a:t>l</a:t>
            </a:r>
            <a:br>
              <a:rPr lang="cs-CZ" b="1" dirty="0">
                <a:solidFill>
                  <a:srgbClr val="007A3D"/>
                </a:solidFill>
              </a:rPr>
            </a:br>
            <a:r>
              <a:rPr lang="cs-CZ" b="1" dirty="0">
                <a:solidFill>
                  <a:srgbClr val="007A3D"/>
                </a:solidFill>
              </a:rPr>
              <a:t>t</a:t>
            </a:r>
            <a:br>
              <a:rPr lang="cs-CZ" b="1" dirty="0">
                <a:solidFill>
                  <a:srgbClr val="007A3D"/>
                </a:solidFill>
              </a:rPr>
            </a:br>
            <a:r>
              <a:rPr lang="cs-CZ" b="1" dirty="0">
                <a:solidFill>
                  <a:srgbClr val="007A3D"/>
                </a:solidFill>
              </a:rPr>
              <a:t>s</a:t>
            </a:r>
            <a:endParaRPr lang="en-GB" b="1" dirty="0">
              <a:solidFill>
                <a:srgbClr val="007A3D"/>
              </a:solidFill>
            </a:endParaRPr>
          </a:p>
        </p:txBody>
      </p:sp>
      <p:grpSp>
        <p:nvGrpSpPr>
          <p:cNvPr id="8" name="Skupina 7">
            <a:extLst>
              <a:ext uri="{FF2B5EF4-FFF2-40B4-BE49-F238E27FC236}">
                <a16:creationId xmlns:a16="http://schemas.microsoft.com/office/drawing/2014/main" id="{37109B13-453E-612F-2589-0D70D4A5C631}"/>
              </a:ext>
            </a:extLst>
          </p:cNvPr>
          <p:cNvGrpSpPr/>
          <p:nvPr/>
        </p:nvGrpSpPr>
        <p:grpSpPr>
          <a:xfrm>
            <a:off x="882118" y="995922"/>
            <a:ext cx="8164174" cy="5491426"/>
            <a:chOff x="979826" y="624239"/>
            <a:chExt cx="8164174" cy="5491426"/>
          </a:xfrm>
        </p:grpSpPr>
        <p:pic>
          <p:nvPicPr>
            <p:cNvPr id="5" name="Obrázek 4">
              <a:extLst>
                <a:ext uri="{FF2B5EF4-FFF2-40B4-BE49-F238E27FC236}">
                  <a16:creationId xmlns:a16="http://schemas.microsoft.com/office/drawing/2014/main" id="{63EC6E57-6F30-961C-3409-A105D7A0CEAB}"/>
                </a:ext>
              </a:extLst>
            </p:cNvPr>
            <p:cNvPicPr>
              <a:picLocks noChangeAspect="1"/>
            </p:cNvPicPr>
            <p:nvPr/>
          </p:nvPicPr>
          <p:blipFill>
            <a:blip r:embed="rId3"/>
            <a:stretch>
              <a:fillRect/>
            </a:stretch>
          </p:blipFill>
          <p:spPr>
            <a:xfrm>
              <a:off x="979826" y="624239"/>
              <a:ext cx="4315945" cy="5491426"/>
            </a:xfrm>
            <a:prstGeom prst="rect">
              <a:avLst/>
            </a:prstGeom>
          </p:spPr>
        </p:pic>
        <p:pic>
          <p:nvPicPr>
            <p:cNvPr id="7" name="Obrázek 6">
              <a:extLst>
                <a:ext uri="{FF2B5EF4-FFF2-40B4-BE49-F238E27FC236}">
                  <a16:creationId xmlns:a16="http://schemas.microsoft.com/office/drawing/2014/main" id="{BCDB14F8-5714-E7B4-C24A-F6B86C113AE6}"/>
                </a:ext>
              </a:extLst>
            </p:cNvPr>
            <p:cNvPicPr>
              <a:picLocks noChangeAspect="1"/>
            </p:cNvPicPr>
            <p:nvPr/>
          </p:nvPicPr>
          <p:blipFill>
            <a:blip r:embed="rId4"/>
            <a:stretch>
              <a:fillRect/>
            </a:stretch>
          </p:blipFill>
          <p:spPr>
            <a:xfrm>
              <a:off x="4933348" y="624239"/>
              <a:ext cx="4210652" cy="5491426"/>
            </a:xfrm>
            <a:prstGeom prst="rect">
              <a:avLst/>
            </a:prstGeom>
          </p:spPr>
        </p:pic>
      </p:grpSp>
      <p:sp>
        <p:nvSpPr>
          <p:cNvPr id="9" name="TextovéPole 8">
            <a:extLst>
              <a:ext uri="{FF2B5EF4-FFF2-40B4-BE49-F238E27FC236}">
                <a16:creationId xmlns:a16="http://schemas.microsoft.com/office/drawing/2014/main" id="{51B5943F-6AD6-94EF-33BF-66E09874ABC4}"/>
              </a:ext>
            </a:extLst>
          </p:cNvPr>
          <p:cNvSpPr txBox="1"/>
          <p:nvPr/>
        </p:nvSpPr>
        <p:spPr>
          <a:xfrm>
            <a:off x="796412" y="550607"/>
            <a:ext cx="6171882" cy="307777"/>
          </a:xfrm>
          <a:prstGeom prst="rect">
            <a:avLst/>
          </a:prstGeom>
          <a:noFill/>
        </p:spPr>
        <p:txBody>
          <a:bodyPr wrap="none" rtlCol="0">
            <a:spAutoFit/>
          </a:bodyPr>
          <a:lstStyle/>
          <a:p>
            <a:r>
              <a:rPr lang="cs-CZ" dirty="0" err="1"/>
              <a:t>Phylogenetic</a:t>
            </a:r>
            <a:r>
              <a:rPr lang="cs-CZ" dirty="0"/>
              <a:t> model                                                  Non-</a:t>
            </a:r>
            <a:r>
              <a:rPr lang="cs-CZ" dirty="0" err="1"/>
              <a:t>phylogenetic</a:t>
            </a:r>
            <a:r>
              <a:rPr lang="cs-CZ" dirty="0"/>
              <a:t> model</a:t>
            </a:r>
            <a:endParaRPr lang="en-GB" dirty="0"/>
          </a:p>
        </p:txBody>
      </p:sp>
      <p:pic>
        <p:nvPicPr>
          <p:cNvPr id="3" name="Obrázek 2">
            <a:extLst>
              <a:ext uri="{FF2B5EF4-FFF2-40B4-BE49-F238E27FC236}">
                <a16:creationId xmlns:a16="http://schemas.microsoft.com/office/drawing/2014/main" id="{564E19B9-D817-D390-1429-3C9CE7A12D7E}"/>
              </a:ext>
            </a:extLst>
          </p:cNvPr>
          <p:cNvPicPr>
            <a:picLocks noChangeAspect="1"/>
          </p:cNvPicPr>
          <p:nvPr/>
        </p:nvPicPr>
        <p:blipFill>
          <a:blip r:embed="rId5"/>
          <a:stretch>
            <a:fillRect/>
          </a:stretch>
        </p:blipFill>
        <p:spPr>
          <a:xfrm>
            <a:off x="6423209" y="46248"/>
            <a:ext cx="2720791" cy="602563"/>
          </a:xfrm>
          <a:prstGeom prst="rect">
            <a:avLst/>
          </a:prstGeom>
        </p:spPr>
      </p:pic>
      <p:sp>
        <p:nvSpPr>
          <p:cNvPr id="4" name="TextovéPole 3">
            <a:extLst>
              <a:ext uri="{FF2B5EF4-FFF2-40B4-BE49-F238E27FC236}">
                <a16:creationId xmlns:a16="http://schemas.microsoft.com/office/drawing/2014/main" id="{BB0FDC3F-068D-D2B2-B23B-F13274AAEE7A}"/>
              </a:ext>
            </a:extLst>
          </p:cNvPr>
          <p:cNvSpPr txBox="1"/>
          <p:nvPr/>
        </p:nvSpPr>
        <p:spPr>
          <a:xfrm>
            <a:off x="1634490" y="1030212"/>
            <a:ext cx="1917513" cy="3108543"/>
          </a:xfrm>
          <a:prstGeom prst="rect">
            <a:avLst/>
          </a:prstGeom>
          <a:noFill/>
        </p:spPr>
        <p:txBody>
          <a:bodyPr wrap="none" rtlCol="0">
            <a:spAutoFit/>
          </a:bodyPr>
          <a:lstStyle/>
          <a:p>
            <a:r>
              <a:rPr lang="cs-CZ" dirty="0"/>
              <a:t>All species</a:t>
            </a:r>
          </a:p>
          <a:p>
            <a:endParaRPr lang="cs-CZ" dirty="0"/>
          </a:p>
          <a:p>
            <a:endParaRPr lang="cs-CZ" dirty="0"/>
          </a:p>
          <a:p>
            <a:endParaRPr lang="cs-CZ" dirty="0"/>
          </a:p>
          <a:p>
            <a:endParaRPr lang="cs-CZ" dirty="0"/>
          </a:p>
          <a:p>
            <a:endParaRPr lang="cs-CZ" dirty="0"/>
          </a:p>
          <a:p>
            <a:endParaRPr lang="cs-CZ" dirty="0"/>
          </a:p>
          <a:p>
            <a:endParaRPr lang="cs-CZ" dirty="0"/>
          </a:p>
          <a:p>
            <a:endParaRPr lang="cs-CZ" dirty="0"/>
          </a:p>
          <a:p>
            <a:endParaRPr lang="cs-CZ" dirty="0"/>
          </a:p>
          <a:p>
            <a:endParaRPr lang="cs-CZ" dirty="0"/>
          </a:p>
          <a:p>
            <a:endParaRPr lang="cs-CZ" dirty="0"/>
          </a:p>
          <a:p>
            <a:r>
              <a:rPr lang="cs-CZ" dirty="0" err="1"/>
              <a:t>Well</a:t>
            </a:r>
            <a:r>
              <a:rPr lang="cs-CZ" dirty="0"/>
              <a:t> </a:t>
            </a:r>
            <a:r>
              <a:rPr lang="cs-CZ" dirty="0" err="1"/>
              <a:t>sampled</a:t>
            </a:r>
            <a:r>
              <a:rPr lang="cs-CZ" dirty="0"/>
              <a:t> species</a:t>
            </a:r>
            <a:endParaRPr lang="en-GB" dirty="0"/>
          </a:p>
          <a:p>
            <a:endParaRPr lang="en-GB" dirty="0"/>
          </a:p>
        </p:txBody>
      </p:sp>
    </p:spTree>
    <p:extLst>
      <p:ext uri="{BB962C8B-B14F-4D97-AF65-F5344CB8AC3E}">
        <p14:creationId xmlns:p14="http://schemas.microsoft.com/office/powerpoint/2010/main" val="412293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515F5DE-2364-739C-EB5B-C6E914915C87}"/>
              </a:ext>
            </a:extLst>
          </p:cNvPr>
          <p:cNvSpPr>
            <a:spLocks noGrp="1"/>
          </p:cNvSpPr>
          <p:nvPr>
            <p:ph type="title"/>
          </p:nvPr>
        </p:nvSpPr>
        <p:spPr/>
        <p:txBody>
          <a:bodyPr/>
          <a:lstStyle/>
          <a:p>
            <a:endParaRPr lang="en-GB"/>
          </a:p>
        </p:txBody>
      </p:sp>
      <p:sp>
        <p:nvSpPr>
          <p:cNvPr id="3" name="Zástupný obsah 2">
            <a:extLst>
              <a:ext uri="{FF2B5EF4-FFF2-40B4-BE49-F238E27FC236}">
                <a16:creationId xmlns:a16="http://schemas.microsoft.com/office/drawing/2014/main" id="{B90EFD3A-F833-4C88-5174-DE1A3B727894}"/>
              </a:ext>
            </a:extLst>
          </p:cNvPr>
          <p:cNvSpPr>
            <a:spLocks noGrp="1"/>
          </p:cNvSpPr>
          <p:nvPr>
            <p:ph idx="1"/>
          </p:nvPr>
        </p:nvSpPr>
        <p:spPr/>
        <p:txBody>
          <a:bodyPr/>
          <a:lstStyle/>
          <a:p>
            <a:endParaRPr lang="en-GB"/>
          </a:p>
        </p:txBody>
      </p:sp>
      <p:pic>
        <p:nvPicPr>
          <p:cNvPr id="5" name="Obrázek 4">
            <a:extLst>
              <a:ext uri="{FF2B5EF4-FFF2-40B4-BE49-F238E27FC236}">
                <a16:creationId xmlns:a16="http://schemas.microsoft.com/office/drawing/2014/main" id="{191896FF-8334-ED9B-5609-53B302A65356}"/>
              </a:ext>
            </a:extLst>
          </p:cNvPr>
          <p:cNvPicPr>
            <a:picLocks noChangeAspect="1"/>
          </p:cNvPicPr>
          <p:nvPr/>
        </p:nvPicPr>
        <p:blipFill>
          <a:blip r:embed="rId3"/>
          <a:srcRect b="3055"/>
          <a:stretch>
            <a:fillRect/>
          </a:stretch>
        </p:blipFill>
        <p:spPr>
          <a:xfrm>
            <a:off x="0" y="780387"/>
            <a:ext cx="9144000" cy="6066184"/>
          </a:xfrm>
          <a:prstGeom prst="rect">
            <a:avLst/>
          </a:prstGeom>
        </p:spPr>
      </p:pic>
      <p:pic>
        <p:nvPicPr>
          <p:cNvPr id="4" name="Obrázek 3">
            <a:extLst>
              <a:ext uri="{FF2B5EF4-FFF2-40B4-BE49-F238E27FC236}">
                <a16:creationId xmlns:a16="http://schemas.microsoft.com/office/drawing/2014/main" id="{091938F9-E107-87C2-87F9-985E43721244}"/>
              </a:ext>
            </a:extLst>
          </p:cNvPr>
          <p:cNvPicPr>
            <a:picLocks noChangeAspect="1"/>
          </p:cNvPicPr>
          <p:nvPr/>
        </p:nvPicPr>
        <p:blipFill>
          <a:blip r:embed="rId4"/>
          <a:stretch>
            <a:fillRect/>
          </a:stretch>
        </p:blipFill>
        <p:spPr>
          <a:xfrm>
            <a:off x="6423209" y="46248"/>
            <a:ext cx="2720791" cy="602563"/>
          </a:xfrm>
          <a:prstGeom prst="rect">
            <a:avLst/>
          </a:prstGeom>
        </p:spPr>
      </p:pic>
      <p:sp>
        <p:nvSpPr>
          <p:cNvPr id="6" name="Obdélník 5">
            <a:extLst>
              <a:ext uri="{FF2B5EF4-FFF2-40B4-BE49-F238E27FC236}">
                <a16:creationId xmlns:a16="http://schemas.microsoft.com/office/drawing/2014/main" id="{4F1C6055-D1A5-47C8-4E2C-F061A539B098}"/>
              </a:ext>
            </a:extLst>
          </p:cNvPr>
          <p:cNvSpPr/>
          <p:nvPr/>
        </p:nvSpPr>
        <p:spPr>
          <a:xfrm>
            <a:off x="0" y="2114550"/>
            <a:ext cx="5589270" cy="1714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bdélník 6">
            <a:extLst>
              <a:ext uri="{FF2B5EF4-FFF2-40B4-BE49-F238E27FC236}">
                <a16:creationId xmlns:a16="http://schemas.microsoft.com/office/drawing/2014/main" id="{1CB517B0-81DD-62E1-774E-79CCB6A253A3}"/>
              </a:ext>
            </a:extLst>
          </p:cNvPr>
          <p:cNvSpPr/>
          <p:nvPr/>
        </p:nvSpPr>
        <p:spPr>
          <a:xfrm>
            <a:off x="0" y="3074382"/>
            <a:ext cx="5589270" cy="1714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bdélník 7">
            <a:extLst>
              <a:ext uri="{FF2B5EF4-FFF2-40B4-BE49-F238E27FC236}">
                <a16:creationId xmlns:a16="http://schemas.microsoft.com/office/drawing/2014/main" id="{C7266EBD-CED5-FE74-9556-E48AB8F4E18E}"/>
              </a:ext>
            </a:extLst>
          </p:cNvPr>
          <p:cNvSpPr/>
          <p:nvPr/>
        </p:nvSpPr>
        <p:spPr>
          <a:xfrm>
            <a:off x="0" y="3441093"/>
            <a:ext cx="5589270" cy="1790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bdélník 8">
            <a:extLst>
              <a:ext uri="{FF2B5EF4-FFF2-40B4-BE49-F238E27FC236}">
                <a16:creationId xmlns:a16="http://schemas.microsoft.com/office/drawing/2014/main" id="{0C8FF8C0-2B82-5651-9362-299C7A781BEC}"/>
              </a:ext>
            </a:extLst>
          </p:cNvPr>
          <p:cNvSpPr/>
          <p:nvPr/>
        </p:nvSpPr>
        <p:spPr>
          <a:xfrm>
            <a:off x="0" y="4836361"/>
            <a:ext cx="5589270" cy="1790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bdélník 9">
            <a:extLst>
              <a:ext uri="{FF2B5EF4-FFF2-40B4-BE49-F238E27FC236}">
                <a16:creationId xmlns:a16="http://schemas.microsoft.com/office/drawing/2014/main" id="{FC155FEA-46F9-E5DD-F135-79DD7CFE8406}"/>
              </a:ext>
            </a:extLst>
          </p:cNvPr>
          <p:cNvSpPr/>
          <p:nvPr/>
        </p:nvSpPr>
        <p:spPr>
          <a:xfrm>
            <a:off x="0" y="5751931"/>
            <a:ext cx="5589270" cy="1790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57355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0D9CC3D6-2338-E3B7-355B-4FF2D48CAC41}"/>
              </a:ext>
            </a:extLst>
          </p:cNvPr>
          <p:cNvPicPr>
            <a:picLocks noChangeAspect="1"/>
          </p:cNvPicPr>
          <p:nvPr/>
        </p:nvPicPr>
        <p:blipFill>
          <a:blip r:embed="rId3"/>
          <a:stretch>
            <a:fillRect/>
          </a:stretch>
        </p:blipFill>
        <p:spPr>
          <a:xfrm>
            <a:off x="1312924" y="548640"/>
            <a:ext cx="6839744" cy="6309360"/>
          </a:xfrm>
          <a:prstGeom prst="rect">
            <a:avLst/>
          </a:prstGeom>
        </p:spPr>
      </p:pic>
      <p:pic>
        <p:nvPicPr>
          <p:cNvPr id="3" name="Obrázek 2">
            <a:extLst>
              <a:ext uri="{FF2B5EF4-FFF2-40B4-BE49-F238E27FC236}">
                <a16:creationId xmlns:a16="http://schemas.microsoft.com/office/drawing/2014/main" id="{CE8B5C57-74C4-150D-41E2-664615258873}"/>
              </a:ext>
            </a:extLst>
          </p:cNvPr>
          <p:cNvPicPr>
            <a:picLocks noChangeAspect="1"/>
          </p:cNvPicPr>
          <p:nvPr/>
        </p:nvPicPr>
        <p:blipFill>
          <a:blip r:embed="rId4"/>
          <a:stretch>
            <a:fillRect/>
          </a:stretch>
        </p:blipFill>
        <p:spPr>
          <a:xfrm>
            <a:off x="7298487" y="0"/>
            <a:ext cx="1845513" cy="654545"/>
          </a:xfrm>
          <a:prstGeom prst="rect">
            <a:avLst/>
          </a:prstGeom>
        </p:spPr>
      </p:pic>
    </p:spTree>
    <p:extLst>
      <p:ext uri="{BB962C8B-B14F-4D97-AF65-F5344CB8AC3E}">
        <p14:creationId xmlns:p14="http://schemas.microsoft.com/office/powerpoint/2010/main" val="1351678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F9CDD952-0B37-EC95-AF76-86BAE3E974AA}"/>
              </a:ext>
            </a:extLst>
          </p:cNvPr>
          <p:cNvPicPr>
            <a:picLocks noChangeAspect="1"/>
          </p:cNvPicPr>
          <p:nvPr/>
        </p:nvPicPr>
        <p:blipFill>
          <a:blip r:embed="rId3"/>
          <a:stretch>
            <a:fillRect/>
          </a:stretch>
        </p:blipFill>
        <p:spPr>
          <a:xfrm>
            <a:off x="1099960" y="713073"/>
            <a:ext cx="6669760" cy="6144927"/>
          </a:xfrm>
          <a:prstGeom prst="rect">
            <a:avLst/>
          </a:prstGeom>
        </p:spPr>
      </p:pic>
      <p:pic>
        <p:nvPicPr>
          <p:cNvPr id="6" name="Obrázek 5">
            <a:extLst>
              <a:ext uri="{FF2B5EF4-FFF2-40B4-BE49-F238E27FC236}">
                <a16:creationId xmlns:a16="http://schemas.microsoft.com/office/drawing/2014/main" id="{C24305AC-0733-B006-EC50-5E8D2B1D84E5}"/>
              </a:ext>
            </a:extLst>
          </p:cNvPr>
          <p:cNvPicPr>
            <a:picLocks noChangeAspect="1"/>
          </p:cNvPicPr>
          <p:nvPr/>
        </p:nvPicPr>
        <p:blipFill>
          <a:blip r:embed="rId4"/>
          <a:stretch>
            <a:fillRect/>
          </a:stretch>
        </p:blipFill>
        <p:spPr>
          <a:xfrm>
            <a:off x="7298487" y="0"/>
            <a:ext cx="1845513" cy="654545"/>
          </a:xfrm>
          <a:prstGeom prst="rect">
            <a:avLst/>
          </a:prstGeom>
        </p:spPr>
      </p:pic>
    </p:spTree>
    <p:extLst>
      <p:ext uri="{BB962C8B-B14F-4D97-AF65-F5344CB8AC3E}">
        <p14:creationId xmlns:p14="http://schemas.microsoft.com/office/powerpoint/2010/main" val="2865069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09FC25B-037F-EC7D-7B9D-C64767B7F075}"/>
              </a:ext>
            </a:extLst>
          </p:cNvPr>
          <p:cNvSpPr>
            <a:spLocks noGrp="1"/>
          </p:cNvSpPr>
          <p:nvPr>
            <p:ph type="title"/>
          </p:nvPr>
        </p:nvSpPr>
        <p:spPr>
          <a:xfrm>
            <a:off x="628650" y="-29939"/>
            <a:ext cx="7886700" cy="1325563"/>
          </a:xfrm>
        </p:spPr>
        <p:txBody>
          <a:bodyPr>
            <a:normAutofit/>
          </a:bodyPr>
          <a:lstStyle/>
          <a:p>
            <a:r>
              <a:rPr lang="cs-CZ" sz="3600" b="1" dirty="0">
                <a:solidFill>
                  <a:srgbClr val="007A3D"/>
                </a:solidFill>
              </a:rPr>
              <a:t>SYNTHESIS</a:t>
            </a:r>
            <a:endParaRPr lang="en-GB" sz="3600" b="1" dirty="0">
              <a:solidFill>
                <a:srgbClr val="007A3D"/>
              </a:solidFill>
            </a:endParaRPr>
          </a:p>
        </p:txBody>
      </p:sp>
      <p:pic>
        <p:nvPicPr>
          <p:cNvPr id="1026" name="Picture 2" descr="The Island rule—recipe for evolution or extinction? · Creation.com">
            <a:extLst>
              <a:ext uri="{FF2B5EF4-FFF2-40B4-BE49-F238E27FC236}">
                <a16:creationId xmlns:a16="http://schemas.microsoft.com/office/drawing/2014/main" id="{F3D634A9-6685-E31D-E104-C51393342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221" y="1562648"/>
            <a:ext cx="7732993" cy="4233813"/>
          </a:xfrm>
          <a:prstGeom prst="rect">
            <a:avLst/>
          </a:prstGeom>
          <a:noFill/>
          <a:extLst>
            <a:ext uri="{909E8E84-426E-40DD-AFC4-6F175D3DCCD1}">
              <a14:hiddenFill xmlns:a14="http://schemas.microsoft.com/office/drawing/2010/main">
                <a:solidFill>
                  <a:srgbClr val="FFFFFF"/>
                </a:solidFill>
              </a14:hiddenFill>
            </a:ext>
          </a:extLst>
        </p:spPr>
      </p:pic>
      <p:sp>
        <p:nvSpPr>
          <p:cNvPr id="6" name="TextovéPole 5">
            <a:extLst>
              <a:ext uri="{FF2B5EF4-FFF2-40B4-BE49-F238E27FC236}">
                <a16:creationId xmlns:a16="http://schemas.microsoft.com/office/drawing/2014/main" id="{320438A8-BD36-4C7B-56CE-531B00792277}"/>
              </a:ext>
            </a:extLst>
          </p:cNvPr>
          <p:cNvSpPr txBox="1"/>
          <p:nvPr/>
        </p:nvSpPr>
        <p:spPr>
          <a:xfrm>
            <a:off x="733221" y="1136166"/>
            <a:ext cx="7779694" cy="430887"/>
          </a:xfrm>
          <a:prstGeom prst="rect">
            <a:avLst/>
          </a:prstGeom>
          <a:noFill/>
        </p:spPr>
        <p:txBody>
          <a:bodyPr wrap="none" rtlCol="0">
            <a:spAutoFit/>
          </a:bodyPr>
          <a:lstStyle/>
          <a:p>
            <a:r>
              <a:rPr lang="cs-CZ" sz="2200" dirty="0">
                <a:solidFill>
                  <a:schemeClr val="bg1">
                    <a:lumMod val="50000"/>
                  </a:schemeClr>
                </a:solidFill>
                <a:latin typeface="Calibri" panose="020F0502020204030204" pitchFamily="34" charset="0"/>
                <a:cs typeface="Calibri" panose="020F0502020204030204" pitchFamily="34" charset="0"/>
              </a:rPr>
              <a:t>Island rule </a:t>
            </a:r>
            <a:r>
              <a:rPr lang="cs-CZ" sz="2200" dirty="0" err="1">
                <a:solidFill>
                  <a:schemeClr val="bg1">
                    <a:lumMod val="50000"/>
                  </a:schemeClr>
                </a:solidFill>
                <a:latin typeface="Calibri" panose="020F0502020204030204" pitchFamily="34" charset="0"/>
                <a:cs typeface="Calibri" panose="020F0502020204030204" pitchFamily="34" charset="0"/>
              </a:rPr>
              <a:t>generally</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holds</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Context-dependant</a:t>
            </a:r>
            <a:endParaRPr lang="en-GB" sz="2200" dirty="0">
              <a:solidFill>
                <a:schemeClr val="bg1">
                  <a:lumMod val="50000"/>
                </a:schemeClr>
              </a:solidFill>
              <a:latin typeface="Calibri" panose="020F0502020204030204" pitchFamily="34" charset="0"/>
              <a:cs typeface="Calibri" panose="020F0502020204030204" pitchFamily="34" charset="0"/>
            </a:endParaRPr>
          </a:p>
        </p:txBody>
      </p:sp>
      <p:sp>
        <p:nvSpPr>
          <p:cNvPr id="7" name="TextovéPole 6">
            <a:extLst>
              <a:ext uri="{FF2B5EF4-FFF2-40B4-BE49-F238E27FC236}">
                <a16:creationId xmlns:a16="http://schemas.microsoft.com/office/drawing/2014/main" id="{3C86700D-6EF7-777B-F860-E6AE04379A31}"/>
              </a:ext>
            </a:extLst>
          </p:cNvPr>
          <p:cNvSpPr txBox="1"/>
          <p:nvPr/>
        </p:nvSpPr>
        <p:spPr>
          <a:xfrm>
            <a:off x="733221" y="5796461"/>
            <a:ext cx="8015336" cy="430887"/>
          </a:xfrm>
          <a:prstGeom prst="rect">
            <a:avLst/>
          </a:prstGeom>
          <a:noFill/>
        </p:spPr>
        <p:txBody>
          <a:bodyPr wrap="none" rtlCol="0">
            <a:spAutoFit/>
          </a:bodyPr>
          <a:lstStyle/>
          <a:p>
            <a:r>
              <a:rPr lang="cs-CZ" sz="2200" dirty="0" err="1">
                <a:solidFill>
                  <a:schemeClr val="bg1">
                    <a:lumMod val="50000"/>
                  </a:schemeClr>
                </a:solidFill>
                <a:latin typeface="Calibri" panose="020F0502020204030204" pitchFamily="34" charset="0"/>
                <a:cs typeface="Calibri" panose="020F0502020204030204" pitchFamily="34" charset="0"/>
              </a:rPr>
              <a:t>Lineage-dependant</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signal</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Methods</a:t>
            </a:r>
            <a:r>
              <a:rPr lang="cs-CZ" sz="2200" dirty="0">
                <a:solidFill>
                  <a:schemeClr val="bg1">
                    <a:lumMod val="50000"/>
                  </a:schemeClr>
                </a:solidFill>
                <a:latin typeface="Calibri" panose="020F0502020204030204" pitchFamily="34" charset="0"/>
                <a:cs typeface="Calibri" panose="020F0502020204030204" pitchFamily="34" charset="0"/>
              </a:rPr>
              <a:t> </a:t>
            </a:r>
            <a:r>
              <a:rPr lang="cs-CZ" sz="2200" dirty="0" err="1">
                <a:solidFill>
                  <a:schemeClr val="bg1">
                    <a:lumMod val="50000"/>
                  </a:schemeClr>
                </a:solidFill>
                <a:latin typeface="Calibri" panose="020F0502020204030204" pitchFamily="34" charset="0"/>
                <a:cs typeface="Calibri" panose="020F0502020204030204" pitchFamily="34" charset="0"/>
              </a:rPr>
              <a:t>matter</a:t>
            </a:r>
            <a:endParaRPr lang="en-GB" sz="2200" dirty="0">
              <a:solidFill>
                <a:schemeClr val="bg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2653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139238"/>
            <a:ext cx="7772400" cy="1362075"/>
          </a:xfrm>
        </p:spPr>
        <p:txBody>
          <a:bodyPr>
            <a:normAutofit/>
          </a:bodyPr>
          <a:lstStyle/>
          <a:p>
            <a:pPr>
              <a:defRPr sz="4400"/>
            </a:pPr>
            <a:r>
              <a:rPr lang="en-US" sz="3600" b="1" dirty="0">
                <a:solidFill>
                  <a:srgbClr val="007A3D"/>
                </a:solidFill>
                <a:latin typeface="Calibri" panose="020F0502020204030204" pitchFamily="34" charset="0"/>
                <a:cs typeface="Calibri" panose="020F0502020204030204" pitchFamily="34" charset="0"/>
              </a:rPr>
              <a:t>QUESTIONS?</a:t>
            </a:r>
            <a:endParaRPr lang="en-GB" sz="3600" b="1" dirty="0">
              <a:solidFill>
                <a:srgbClr val="007A3D"/>
              </a:solidFill>
              <a:latin typeface="Calibri" panose="020F0502020204030204" pitchFamily="34" charset="0"/>
              <a:cs typeface="Calibri" panose="020F0502020204030204" pitchFamily="34" charset="0"/>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Tree>
    <p:extLst>
      <p:ext uri="{BB962C8B-B14F-4D97-AF65-F5344CB8AC3E}">
        <p14:creationId xmlns:p14="http://schemas.microsoft.com/office/powerpoint/2010/main" val="3164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11" name="TextBox 10">
            <a:extLst>
              <a:ext uri="{FF2B5EF4-FFF2-40B4-BE49-F238E27FC236}">
                <a16:creationId xmlns:a16="http://schemas.microsoft.com/office/drawing/2014/main" id="{FD0B7346-F76A-9240-8F58-74F812156074}"/>
              </a:ext>
            </a:extLst>
          </p:cNvPr>
          <p:cNvSpPr txBox="1"/>
          <p:nvPr/>
        </p:nvSpPr>
        <p:spPr>
          <a:xfrm>
            <a:off x="284204" y="911525"/>
            <a:ext cx="8600303" cy="3447098"/>
          </a:xfrm>
          <a:prstGeom prst="rect">
            <a:avLst/>
          </a:prstGeom>
          <a:noFill/>
        </p:spPr>
        <p:txBody>
          <a:bodyPr wrap="square">
            <a:spAutoFit/>
          </a:bodyPr>
          <a:lstStyle/>
          <a:p>
            <a:pPr rtl="0">
              <a:spcBef>
                <a:spcPts val="0"/>
              </a:spcBef>
              <a:spcAft>
                <a:spcPts val="0"/>
              </a:spcAft>
            </a:pPr>
            <a:r>
              <a:rPr lang="en-GB" sz="2400" b="1" i="0" u="none" strike="noStrike" dirty="0">
                <a:solidFill>
                  <a:srgbClr val="222222"/>
                </a:solidFill>
                <a:effectLst/>
                <a:latin typeface="Arial" panose="020B0604020202020204" pitchFamily="34" charset="0"/>
              </a:rPr>
              <a:t>TOPIC 11: </a:t>
            </a:r>
            <a:r>
              <a:rPr lang="en-GB" sz="2400" b="1" i="0" u="none" strike="noStrike" dirty="0">
                <a:solidFill>
                  <a:srgbClr val="FF9900"/>
                </a:solidFill>
                <a:effectLst/>
                <a:latin typeface="Arial" panose="020B0604020202020204" pitchFamily="34" charset="0"/>
              </a:rPr>
              <a:t>Macroecology &amp; biogeography 3</a:t>
            </a:r>
            <a:endParaRPr lang="en-GB" b="0" dirty="0">
              <a:effectLst/>
            </a:endParaRPr>
          </a:p>
          <a:p>
            <a:pPr rtl="0">
              <a:spcBef>
                <a:spcPts val="0"/>
              </a:spcBef>
              <a:spcAft>
                <a:spcPts val="0"/>
              </a:spcAft>
            </a:pPr>
            <a:endParaRPr lang="en-GB" sz="1800" b="1" i="0" u="none" strike="noStrike" dirty="0">
              <a:solidFill>
                <a:srgbClr val="000000"/>
              </a:solidFill>
              <a:effectLst/>
              <a:latin typeface="Arial" panose="020B0604020202020204" pitchFamily="34" charset="0"/>
            </a:endParaRPr>
          </a:p>
          <a:p>
            <a:pPr rtl="0">
              <a:spcBef>
                <a:spcPts val="0"/>
              </a:spcBef>
              <a:spcAft>
                <a:spcPts val="0"/>
              </a:spcAft>
            </a:pPr>
            <a:r>
              <a:rPr lang="en-GB" sz="1800" b="1" i="0" u="none" strike="noStrike" dirty="0">
                <a:solidFill>
                  <a:srgbClr val="222222"/>
                </a:solidFill>
                <a:effectLst/>
                <a:latin typeface="Arial" panose="020B0604020202020204" pitchFamily="34" charset="0"/>
              </a:rPr>
              <a:t>Guiding question: </a:t>
            </a:r>
            <a:r>
              <a:rPr lang="en-GB" sz="1800" b="1" i="0" u="none" strike="noStrike" dirty="0">
                <a:solidFill>
                  <a:srgbClr val="0B5394"/>
                </a:solidFill>
                <a:effectLst/>
                <a:latin typeface="Arial" panose="020B0604020202020204" pitchFamily="34" charset="0"/>
              </a:rPr>
              <a:t>Island biodiversity (and its dimensions) - how and why?</a:t>
            </a:r>
          </a:p>
          <a:p>
            <a:pPr rtl="0">
              <a:spcBef>
                <a:spcPts val="0"/>
              </a:spcBef>
              <a:spcAft>
                <a:spcPts val="0"/>
              </a:spcAft>
            </a:pPr>
            <a:endParaRPr lang="en-GB" b="0" dirty="0">
              <a:effectLst/>
            </a:endParaRPr>
          </a:p>
          <a:p>
            <a:pPr rtl="0">
              <a:spcBef>
                <a:spcPts val="0"/>
              </a:spcBef>
              <a:spcAft>
                <a:spcPts val="0"/>
              </a:spcAft>
            </a:pPr>
            <a:r>
              <a:rPr lang="en-GB" sz="1800" b="1" i="0" u="none" strike="noStrike" dirty="0">
                <a:solidFill>
                  <a:srgbClr val="222222"/>
                </a:solidFill>
                <a:effectLst/>
                <a:latin typeface="Arial" panose="020B0604020202020204" pitchFamily="34" charset="0"/>
              </a:rPr>
              <a:t>Key concepts:</a:t>
            </a:r>
            <a:r>
              <a:rPr lang="en-GB" sz="1800" b="0" i="0" u="none" strike="noStrike" dirty="0">
                <a:solidFill>
                  <a:srgbClr val="FF9900"/>
                </a:solidFill>
                <a:effectLst/>
                <a:latin typeface="Arial" panose="020B0604020202020204" pitchFamily="34" charset="0"/>
              </a:rPr>
              <a:t> Island rule, dwarfism, gigantism, meta-analyses.</a:t>
            </a:r>
            <a:endParaRPr lang="en-GB" sz="1800" i="0" u="none" strike="noStrike" dirty="0">
              <a:solidFill>
                <a:srgbClr val="FF9900"/>
              </a:solidFill>
              <a:effectLst/>
              <a:latin typeface="Arial" panose="020B0604020202020204" pitchFamily="34" charset="0"/>
            </a:endParaRPr>
          </a:p>
          <a:p>
            <a:pPr rtl="0">
              <a:spcBef>
                <a:spcPts val="0"/>
              </a:spcBef>
              <a:spcAft>
                <a:spcPts val="0"/>
              </a:spcAft>
            </a:pPr>
            <a:endParaRPr lang="en-GB" dirty="0">
              <a:effectLst/>
            </a:endParaRPr>
          </a:p>
          <a:p>
            <a:pPr rtl="0">
              <a:spcBef>
                <a:spcPts val="0"/>
              </a:spcBef>
              <a:spcAft>
                <a:spcPts val="0"/>
              </a:spcAft>
            </a:pPr>
            <a:r>
              <a:rPr lang="en-GB" sz="1400" b="1" i="0" u="none" strike="noStrike" dirty="0">
                <a:solidFill>
                  <a:srgbClr val="222222"/>
                </a:solidFill>
                <a:effectLst/>
                <a:latin typeface="Arial" panose="020B0604020202020204" pitchFamily="34" charset="0"/>
              </a:rPr>
              <a:t>Classic</a:t>
            </a:r>
            <a:r>
              <a:rPr lang="en-GB" sz="1400" b="0" i="0" u="none" strike="noStrike" dirty="0">
                <a:solidFill>
                  <a:srgbClr val="222222"/>
                </a:solidFill>
                <a:effectLst/>
                <a:latin typeface="Arial" panose="020B0604020202020204" pitchFamily="34" charset="0"/>
              </a:rPr>
              <a:t>:. </a:t>
            </a:r>
            <a:r>
              <a:rPr lang="en-GB" sz="1400" b="0" i="0" u="none" strike="noStrike" dirty="0" err="1">
                <a:solidFill>
                  <a:srgbClr val="222222"/>
                </a:solidFill>
                <a:effectLst/>
                <a:latin typeface="Arial" panose="020B0604020202020204" pitchFamily="34" charset="0"/>
              </a:rPr>
              <a:t>Meiri</a:t>
            </a:r>
            <a:r>
              <a:rPr lang="en-GB" sz="1400" b="0" i="0" u="none" strike="noStrike" dirty="0">
                <a:solidFill>
                  <a:srgbClr val="222222"/>
                </a:solidFill>
                <a:effectLst/>
                <a:latin typeface="Arial" panose="020B0604020202020204" pitchFamily="34" charset="0"/>
              </a:rPr>
              <a:t>, S., Cooper, N., &amp; Purvis, A. (2008). The island rule: made to be broken?. </a:t>
            </a:r>
            <a:r>
              <a:rPr lang="en-GB" sz="1400" b="0" i="1" u="none" strike="noStrike" dirty="0">
                <a:solidFill>
                  <a:srgbClr val="222222"/>
                </a:solidFill>
                <a:effectLst/>
                <a:latin typeface="Arial" panose="020B0604020202020204" pitchFamily="34" charset="0"/>
              </a:rPr>
              <a:t>Proceedings of the Royal Society B: Biological Sciences, </a:t>
            </a:r>
            <a:r>
              <a:rPr lang="en-GB" sz="1400" b="0" i="0" u="none" strike="noStrike" dirty="0">
                <a:solidFill>
                  <a:srgbClr val="222222"/>
                </a:solidFill>
                <a:effectLst/>
                <a:latin typeface="Arial" panose="020B0604020202020204" pitchFamily="34" charset="0"/>
              </a:rPr>
              <a:t>275(1631), 141-148.</a:t>
            </a:r>
          </a:p>
          <a:p>
            <a:pPr rtl="0">
              <a:spcBef>
                <a:spcPts val="0"/>
              </a:spcBef>
              <a:spcAft>
                <a:spcPts val="0"/>
              </a:spcAft>
            </a:pPr>
            <a:endParaRPr lang="en-GB" b="0" dirty="0">
              <a:effectLst/>
            </a:endParaRPr>
          </a:p>
          <a:p>
            <a:r>
              <a:rPr lang="en-GB" sz="1400" b="1" i="0" u="none" strike="noStrike" dirty="0">
                <a:solidFill>
                  <a:srgbClr val="222222"/>
                </a:solidFill>
                <a:effectLst/>
                <a:latin typeface="Arial" panose="020B0604020202020204" pitchFamily="34" charset="0"/>
              </a:rPr>
              <a:t>Recent</a:t>
            </a:r>
            <a:r>
              <a:rPr lang="en-GB" sz="1400" b="0" i="0" u="none" strike="noStrike" dirty="0">
                <a:solidFill>
                  <a:srgbClr val="222222"/>
                </a:solidFill>
                <a:effectLst/>
                <a:latin typeface="Arial" panose="020B0604020202020204" pitchFamily="34" charset="0"/>
              </a:rPr>
              <a:t>: Benítez-López, A., Santini, L., Gallego-Zamorano, J., </a:t>
            </a:r>
            <a:r>
              <a:rPr lang="en-GB" sz="1400" b="0" i="0" u="none" strike="noStrike" dirty="0" err="1">
                <a:solidFill>
                  <a:srgbClr val="222222"/>
                </a:solidFill>
                <a:effectLst/>
                <a:latin typeface="Arial" panose="020B0604020202020204" pitchFamily="34" charset="0"/>
              </a:rPr>
              <a:t>Milá</a:t>
            </a:r>
            <a:r>
              <a:rPr lang="en-GB" sz="1400" b="0" i="0" u="none" strike="noStrike" dirty="0">
                <a:solidFill>
                  <a:srgbClr val="222222"/>
                </a:solidFill>
                <a:effectLst/>
                <a:latin typeface="Arial" panose="020B0604020202020204" pitchFamily="34" charset="0"/>
              </a:rPr>
              <a:t>, B., Walkden, P., </a:t>
            </a:r>
            <a:r>
              <a:rPr lang="en-GB" sz="1400" b="0" i="0" u="none" strike="noStrike" dirty="0" err="1">
                <a:solidFill>
                  <a:srgbClr val="222222"/>
                </a:solidFill>
                <a:effectLst/>
                <a:latin typeface="Arial" panose="020B0604020202020204" pitchFamily="34" charset="0"/>
              </a:rPr>
              <a:t>Huijbregts</a:t>
            </a:r>
            <a:r>
              <a:rPr lang="en-GB" sz="1400" b="0" i="0" u="none" strike="noStrike" dirty="0">
                <a:solidFill>
                  <a:srgbClr val="222222"/>
                </a:solidFill>
                <a:effectLst/>
                <a:latin typeface="Arial" panose="020B0604020202020204" pitchFamily="34" charset="0"/>
              </a:rPr>
              <a:t>, M. A., &amp; Tobias, J. A. (2021). The island rule explains consistent patterns of body size evolution in terrestrial vertebrates. </a:t>
            </a:r>
            <a:r>
              <a:rPr lang="en-GB" sz="1400" b="0" i="1" u="none" strike="noStrike" dirty="0">
                <a:solidFill>
                  <a:srgbClr val="222222"/>
                </a:solidFill>
                <a:effectLst/>
                <a:latin typeface="Arial" panose="020B0604020202020204" pitchFamily="34" charset="0"/>
              </a:rPr>
              <a:t>Nature Ecology &amp; Evolution</a:t>
            </a:r>
            <a:r>
              <a:rPr lang="en-GB" sz="1400" b="0" i="0" u="none" strike="noStrike" dirty="0">
                <a:solidFill>
                  <a:srgbClr val="222222"/>
                </a:solidFill>
                <a:effectLst/>
                <a:latin typeface="Arial" panose="020B0604020202020204" pitchFamily="34" charset="0"/>
              </a:rPr>
              <a:t>, 5(6), 768-786.</a:t>
            </a:r>
          </a:p>
          <a:p>
            <a:endParaRPr lang="en-GB" sz="1400" b="0" i="0" u="none" strike="noStrike" dirty="0">
              <a:solidFill>
                <a:srgbClr val="222222"/>
              </a:solidFill>
              <a:effectLst/>
              <a:latin typeface="Arial" panose="020B0604020202020204" pitchFamily="34" charset="0"/>
            </a:endParaRPr>
          </a:p>
          <a:p>
            <a:endParaRPr lang="en-DE" dirty="0"/>
          </a:p>
        </p:txBody>
      </p:sp>
    </p:spTree>
    <p:extLst>
      <p:ext uri="{BB962C8B-B14F-4D97-AF65-F5344CB8AC3E}">
        <p14:creationId xmlns:p14="http://schemas.microsoft.com/office/powerpoint/2010/main" val="174843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400"/>
            </a:pPr>
            <a:r>
              <a:rPr sz="3600" dirty="0">
                <a:solidFill>
                  <a:srgbClr val="007A3D"/>
                </a:solidFill>
              </a:rPr>
              <a:t>Topics &amp; Readings</a:t>
            </a:r>
          </a:p>
        </p:txBody>
      </p:sp>
      <p:sp>
        <p:nvSpPr>
          <p:cNvPr id="3" name="Text Placeholder 2"/>
          <p:cNvSpPr>
            <a:spLocks noGrp="1"/>
          </p:cNvSpPr>
          <p:nvPr>
            <p:ph type="body" idx="1"/>
          </p:nvPr>
        </p:nvSpPr>
        <p:spPr/>
        <p:txBody>
          <a:bodyPr>
            <a:normAutofit/>
          </a:bodyPr>
          <a:lstStyle/>
          <a:p>
            <a:r>
              <a:rPr sz="2400" dirty="0">
                <a:solidFill>
                  <a:srgbClr val="222222"/>
                </a:solidFill>
              </a:rPr>
              <a:t>Classic vs. modern papers</a:t>
            </a: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6" name="TextBox 5">
            <a:extLst>
              <a:ext uri="{FF2B5EF4-FFF2-40B4-BE49-F238E27FC236}">
                <a16:creationId xmlns:a16="http://schemas.microsoft.com/office/drawing/2014/main" id="{13112F25-B797-844C-9C62-9F00F18BC633}"/>
              </a:ext>
            </a:extLst>
          </p:cNvPr>
          <p:cNvSpPr txBox="1"/>
          <p:nvPr/>
        </p:nvSpPr>
        <p:spPr>
          <a:xfrm>
            <a:off x="3972297" y="566678"/>
            <a:ext cx="5171704" cy="3139321"/>
          </a:xfrm>
          <a:prstGeom prst="rect">
            <a:avLst/>
          </a:prstGeom>
          <a:noFill/>
        </p:spPr>
        <p:txBody>
          <a:bodyPr wrap="square">
            <a:spAutoFit/>
          </a:bodyPr>
          <a:lstStyle/>
          <a:p>
            <a:pPr marL="342900" indent="-342900">
              <a:buAutoNum type="arabicPeriod"/>
            </a:pPr>
            <a:r>
              <a:rPr lang="en-GB" sz="1800" dirty="0">
                <a:solidFill>
                  <a:schemeClr val="tx1">
                    <a:lumMod val="50000"/>
                    <a:lumOff val="50000"/>
                  </a:schemeClr>
                </a:solidFill>
              </a:rPr>
              <a:t>Eco-evolutionary dynamics &amp; life histories</a:t>
            </a:r>
          </a:p>
          <a:p>
            <a:pPr marL="342900" indent="-342900">
              <a:buAutoNum type="arabicPeriod"/>
            </a:pPr>
            <a:r>
              <a:rPr lang="en-GB" sz="1800" dirty="0">
                <a:solidFill>
                  <a:schemeClr val="tx1">
                    <a:lumMod val="50000"/>
                    <a:lumOff val="50000"/>
                  </a:schemeClr>
                </a:solidFill>
              </a:rPr>
              <a:t>Population ecology essentials</a:t>
            </a:r>
          </a:p>
          <a:p>
            <a:pPr marL="342900" indent="-342900">
              <a:buAutoNum type="arabicPeriod"/>
            </a:pPr>
            <a:r>
              <a:rPr lang="en-GB" sz="1800" dirty="0">
                <a:solidFill>
                  <a:schemeClr val="tx1">
                    <a:lumMod val="50000"/>
                    <a:lumOff val="50000"/>
                  </a:schemeClr>
                </a:solidFill>
              </a:rPr>
              <a:t>Species interactions &amp; coexistence</a:t>
            </a:r>
          </a:p>
          <a:p>
            <a:pPr marL="342900" indent="-342900">
              <a:buAutoNum type="arabicPeriod"/>
            </a:pPr>
            <a:r>
              <a:rPr lang="en-GB" sz="1800" dirty="0">
                <a:solidFill>
                  <a:schemeClr val="tx1">
                    <a:lumMod val="50000"/>
                    <a:lumOff val="50000"/>
                  </a:schemeClr>
                </a:solidFill>
              </a:rPr>
              <a:t>Food webs &amp; network ecology</a:t>
            </a:r>
            <a:endParaRPr lang="en-GB" dirty="0">
              <a:solidFill>
                <a:schemeClr val="tx1">
                  <a:lumMod val="50000"/>
                  <a:lumOff val="50000"/>
                </a:schemeClr>
              </a:solidFill>
            </a:endParaRPr>
          </a:p>
          <a:p>
            <a:pPr marL="342900" indent="-342900">
              <a:buAutoNum type="arabicPeriod"/>
            </a:pPr>
            <a:r>
              <a:rPr lang="en-GB" sz="1800" dirty="0">
                <a:solidFill>
                  <a:schemeClr val="tx1">
                    <a:lumMod val="50000"/>
                    <a:lumOff val="50000"/>
                  </a:schemeClr>
                </a:solidFill>
              </a:rPr>
              <a:t>Macroecology &amp; biogeography 1</a:t>
            </a:r>
          </a:p>
          <a:p>
            <a:pPr marL="342900" indent="-342900">
              <a:buAutoNum type="arabicPeriod"/>
            </a:pPr>
            <a:r>
              <a:rPr lang="en-GB" sz="1800" dirty="0">
                <a:solidFill>
                  <a:schemeClr val="tx1">
                    <a:lumMod val="50000"/>
                    <a:lumOff val="50000"/>
                  </a:schemeClr>
                </a:solidFill>
              </a:rPr>
              <a:t>Macroecology &amp; biogeography 2</a:t>
            </a:r>
          </a:p>
          <a:p>
            <a:pPr marL="342900" indent="-342900">
              <a:buAutoNum type="arabicPeriod"/>
            </a:pPr>
            <a:r>
              <a:rPr lang="en-GB" sz="1800" dirty="0">
                <a:solidFill>
                  <a:schemeClr val="tx1">
                    <a:lumMod val="50000"/>
                    <a:lumOff val="50000"/>
                  </a:schemeClr>
                </a:solidFill>
              </a:rPr>
              <a:t>Global change ecology</a:t>
            </a:r>
            <a:endParaRPr lang="en-GB" dirty="0">
              <a:solidFill>
                <a:schemeClr val="tx1">
                  <a:lumMod val="50000"/>
                  <a:lumOff val="50000"/>
                </a:schemeClr>
              </a:solidFill>
            </a:endParaRPr>
          </a:p>
          <a:p>
            <a:pPr marL="342900" indent="-342900">
              <a:buAutoNum type="arabicPeriod"/>
            </a:pPr>
            <a:r>
              <a:rPr lang="en-GB" sz="1800" dirty="0">
                <a:solidFill>
                  <a:schemeClr val="tx1">
                    <a:lumMod val="50000"/>
                    <a:lumOff val="50000"/>
                  </a:schemeClr>
                </a:solidFill>
              </a:rPr>
              <a:t>Drivers of biodiversity crisis</a:t>
            </a:r>
          </a:p>
          <a:p>
            <a:pPr marL="342900" indent="-342900">
              <a:buAutoNum type="arabicPeriod"/>
            </a:pPr>
            <a:r>
              <a:rPr lang="en-GB" sz="1800" dirty="0">
                <a:solidFill>
                  <a:schemeClr val="tx1">
                    <a:lumMod val="50000"/>
                    <a:lumOff val="50000"/>
                  </a:schemeClr>
                </a:solidFill>
              </a:rPr>
              <a:t>Biodiversity (ecosystem functioning/services)</a:t>
            </a:r>
          </a:p>
          <a:p>
            <a:pPr marL="342900" indent="-342900">
              <a:buAutoNum type="arabicPeriod"/>
            </a:pPr>
            <a:r>
              <a:rPr lang="en-GB" sz="1800" dirty="0">
                <a:solidFill>
                  <a:schemeClr val="tx1">
                    <a:lumMod val="50000"/>
                    <a:lumOff val="50000"/>
                  </a:schemeClr>
                </a:solidFill>
              </a:rPr>
              <a:t>Applied ecology: New tools &amp; data streams</a:t>
            </a:r>
            <a:endParaRPr lang="cs-CZ" sz="1800" dirty="0">
              <a:solidFill>
                <a:schemeClr val="tx1">
                  <a:lumMod val="50000"/>
                  <a:lumOff val="50000"/>
                </a:schemeClr>
              </a:solidFill>
            </a:endParaRPr>
          </a:p>
          <a:p>
            <a:pPr marL="342900" indent="-342900">
              <a:buAutoNum type="arabicPeriod"/>
            </a:pPr>
            <a:r>
              <a:rPr lang="cs-CZ" sz="1800" b="1" dirty="0" err="1">
                <a:solidFill>
                  <a:schemeClr val="tx1"/>
                </a:solidFill>
              </a:rPr>
              <a:t>Macroecology</a:t>
            </a:r>
            <a:r>
              <a:rPr lang="cs-CZ" sz="1800" b="1" dirty="0">
                <a:solidFill>
                  <a:schemeClr val="tx1"/>
                </a:solidFill>
              </a:rPr>
              <a:t> &amp; </a:t>
            </a:r>
            <a:r>
              <a:rPr lang="cs-CZ" sz="1800" b="1" dirty="0" err="1">
                <a:solidFill>
                  <a:schemeClr val="tx1"/>
                </a:solidFill>
              </a:rPr>
              <a:t>biogeography</a:t>
            </a:r>
            <a:r>
              <a:rPr lang="cs-CZ" sz="1800" b="1" dirty="0">
                <a:solidFill>
                  <a:schemeClr val="tx1"/>
                </a:solidFill>
              </a:rPr>
              <a:t> 3</a:t>
            </a:r>
            <a:endParaRPr lang="en-DE" b="1" dirty="0">
              <a:solidFill>
                <a:schemeClr val="tx1"/>
              </a:solidFill>
            </a:endParaRPr>
          </a:p>
        </p:txBody>
      </p:sp>
    </p:spTree>
    <p:extLst>
      <p:ext uri="{BB962C8B-B14F-4D97-AF65-F5344CB8AC3E}">
        <p14:creationId xmlns:p14="http://schemas.microsoft.com/office/powerpoint/2010/main" val="418945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50690"/>
            <a:ext cx="7772400" cy="1362075"/>
          </a:xfrm>
        </p:spPr>
        <p:txBody>
          <a:bodyPr>
            <a:normAutofit/>
          </a:bodyPr>
          <a:lstStyle/>
          <a:p>
            <a:pPr>
              <a:defRPr sz="4400"/>
            </a:pPr>
            <a:r>
              <a:rPr lang="en-US" sz="3600" b="1" dirty="0">
                <a:solidFill>
                  <a:srgbClr val="007A3D"/>
                </a:solidFill>
                <a:latin typeface="Calibri" panose="020F0502020204030204" pitchFamily="34" charset="0"/>
                <a:cs typeface="Calibri" panose="020F0502020204030204" pitchFamily="34" charset="0"/>
              </a:rPr>
              <a:t>OUTLINE</a:t>
            </a:r>
            <a:endParaRPr lang="en-GB" sz="3600" b="1" dirty="0">
              <a:solidFill>
                <a:srgbClr val="007A3D"/>
              </a:solidFill>
              <a:latin typeface="Calibri" panose="020F0502020204030204" pitchFamily="34" charset="0"/>
              <a:cs typeface="Calibri" panose="020F0502020204030204" pitchFamily="34" charset="0"/>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5" name="Title 1">
            <a:extLst>
              <a:ext uri="{FF2B5EF4-FFF2-40B4-BE49-F238E27FC236}">
                <a16:creationId xmlns:a16="http://schemas.microsoft.com/office/drawing/2014/main" id="{DF11E535-7BDD-3746-8BC7-C10327BBEF05}"/>
              </a:ext>
            </a:extLst>
          </p:cNvPr>
          <p:cNvSpPr txBox="1">
            <a:spLocks/>
          </p:cNvSpPr>
          <p:nvPr/>
        </p:nvSpPr>
        <p:spPr>
          <a:xfrm>
            <a:off x="726661" y="1832141"/>
            <a:ext cx="7772400" cy="25915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marL="514350" indent="-514350">
              <a:buAutoNum type="arabicParenR"/>
            </a:pPr>
            <a:r>
              <a:rPr lang="cs-CZ" sz="2800" b="0" cap="none" dirty="0">
                <a:solidFill>
                  <a:schemeClr val="tx1">
                    <a:lumMod val="50000"/>
                    <a:lumOff val="50000"/>
                  </a:schemeClr>
                </a:solidFill>
              </a:rPr>
              <a:t>SAMPLE PRESENTATION</a:t>
            </a:r>
          </a:p>
          <a:p>
            <a:pPr marL="514350" indent="-514350">
              <a:buAutoNum type="arabicParenR"/>
            </a:pPr>
            <a:r>
              <a:rPr lang="cs-CZ" sz="2800" b="0" cap="none" dirty="0">
                <a:solidFill>
                  <a:schemeClr val="tx1">
                    <a:lumMod val="50000"/>
                    <a:lumOff val="50000"/>
                  </a:schemeClr>
                </a:solidFill>
              </a:rPr>
              <a:t>HANDS ON</a:t>
            </a:r>
          </a:p>
          <a:p>
            <a:pPr marL="514350" indent="-514350">
              <a:buAutoNum type="arabicParenR"/>
            </a:pPr>
            <a:r>
              <a:rPr lang="cs-CZ" sz="2800" b="0" cap="none" dirty="0">
                <a:solidFill>
                  <a:schemeClr val="tx1">
                    <a:lumMod val="50000"/>
                    <a:lumOff val="50000"/>
                  </a:schemeClr>
                </a:solidFill>
              </a:rPr>
              <a:t>INFO ABOUT EXCURSION/HOMEWORK</a:t>
            </a:r>
            <a:endParaRPr lang="en-GB" sz="2800" b="0" cap="none" dirty="0">
              <a:solidFill>
                <a:schemeClr val="tx1">
                  <a:lumMod val="50000"/>
                  <a:lumOff val="50000"/>
                </a:schemeClr>
              </a:solidFill>
            </a:endParaRPr>
          </a:p>
        </p:txBody>
      </p:sp>
    </p:spTree>
    <p:extLst>
      <p:ext uri="{BB962C8B-B14F-4D97-AF65-F5344CB8AC3E}">
        <p14:creationId xmlns:p14="http://schemas.microsoft.com/office/powerpoint/2010/main" val="358712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nodeType="withEffect">
                                  <p:stCondLst>
                                    <p:cond delay="0"/>
                                  </p:stCondLst>
                                  <p:childTnLst>
                                    <p:animClr clrSpc="rgb" dir="cw">
                                      <p:cBhvr override="childStyle">
                                        <p:cTn id="6" dur="500" fill="hold"/>
                                        <p:tgtEl>
                                          <p:spTgt spid="5">
                                            <p:txEl>
                                              <p:pRg st="1" end="1"/>
                                            </p:txEl>
                                          </p:spTgt>
                                        </p:tgtEl>
                                        <p:attrNameLst>
                                          <p:attrName>style.color</p:attrName>
                                        </p:attrNameLst>
                                      </p:cBhvr>
                                      <p:to>
                                        <a:schemeClr val="accent2"/>
                                      </p:to>
                                    </p:animClr>
                                    <p:animClr clrSpc="rgb" dir="cw">
                                      <p:cBhvr>
                                        <p:cTn id="7" dur="500" fill="hold"/>
                                        <p:tgtEl>
                                          <p:spTgt spid="5">
                                            <p:txEl>
                                              <p:pRg st="1" end="1"/>
                                            </p:txEl>
                                          </p:spTgt>
                                        </p:tgtEl>
                                        <p:attrNameLst>
                                          <p:attrName>fillcolor</p:attrName>
                                        </p:attrNameLst>
                                      </p:cBhvr>
                                      <p:to>
                                        <a:schemeClr val="accent2"/>
                                      </p:to>
                                    </p:animClr>
                                    <p:set>
                                      <p:cBhvr>
                                        <p:cTn id="8" dur="500" fill="hold"/>
                                        <p:tgtEl>
                                          <p:spTgt spid="5">
                                            <p:txEl>
                                              <p:pRg st="1" end="1"/>
                                            </p:txEl>
                                          </p:spTgt>
                                        </p:tgtEl>
                                        <p:attrNameLst>
                                          <p:attrName>fill.type</p:attrName>
                                        </p:attrNameLst>
                                      </p:cBhvr>
                                      <p:to>
                                        <p:strVal val="solid"/>
                                      </p:to>
                                    </p:set>
                                    <p:set>
                                      <p:cBhvr>
                                        <p:cTn id="9" dur="500" fill="hold"/>
                                        <p:tgtEl>
                                          <p:spTgt spid="5">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4400"/>
            </a:pPr>
            <a:r>
              <a:rPr lang="en-DE" sz="3600" dirty="0">
                <a:solidFill>
                  <a:srgbClr val="007A3D"/>
                </a:solidFill>
              </a:rPr>
              <a:t>Att</a:t>
            </a:r>
            <a:r>
              <a:rPr lang="cs-CZ" sz="3600" dirty="0">
                <a:solidFill>
                  <a:srgbClr val="007A3D"/>
                </a:solidFill>
              </a:rPr>
              <a:t>e</a:t>
            </a:r>
            <a:r>
              <a:rPr lang="en-DE" sz="3600" dirty="0">
                <a:solidFill>
                  <a:srgbClr val="007A3D"/>
                </a:solidFill>
              </a:rPr>
              <a:t>ndance</a:t>
            </a:r>
            <a:endParaRPr sz="3600" dirty="0">
              <a:solidFill>
                <a:srgbClr val="007A3D"/>
              </a:solidFill>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6" name="TextBox 5">
            <a:extLst>
              <a:ext uri="{FF2B5EF4-FFF2-40B4-BE49-F238E27FC236}">
                <a16:creationId xmlns:a16="http://schemas.microsoft.com/office/drawing/2014/main" id="{13112F25-B797-844C-9C62-9F00F18BC633}"/>
              </a:ext>
            </a:extLst>
          </p:cNvPr>
          <p:cNvSpPr txBox="1"/>
          <p:nvPr/>
        </p:nvSpPr>
        <p:spPr>
          <a:xfrm>
            <a:off x="-999939" y="3070850"/>
            <a:ext cx="5171704" cy="646331"/>
          </a:xfrm>
          <a:prstGeom prst="rect">
            <a:avLst/>
          </a:prstGeom>
          <a:noFill/>
        </p:spPr>
        <p:txBody>
          <a:bodyPr wrap="square">
            <a:spAutoFit/>
          </a:bodyPr>
          <a:lstStyle/>
          <a:p>
            <a:pPr algn="ctr"/>
            <a:r>
              <a:rPr lang="en-GB" dirty="0">
                <a:solidFill>
                  <a:schemeClr val="tx1">
                    <a:lumMod val="50000"/>
                    <a:lumOff val="50000"/>
                  </a:schemeClr>
                </a:solidFill>
              </a:rPr>
              <a:t>Fundamentals of Ecology </a:t>
            </a:r>
          </a:p>
          <a:p>
            <a:pPr algn="ctr"/>
            <a:r>
              <a:rPr lang="en-GB" dirty="0">
                <a:solidFill>
                  <a:schemeClr val="tx1">
                    <a:lumMod val="50000"/>
                    <a:lumOff val="50000"/>
                  </a:schemeClr>
                </a:solidFill>
              </a:rPr>
              <a:t>(ZEX101E)</a:t>
            </a:r>
            <a:endParaRPr lang="en-DE" dirty="0">
              <a:solidFill>
                <a:schemeClr val="tx1">
                  <a:lumMod val="50000"/>
                  <a:lumOff val="50000"/>
                </a:schemeClr>
              </a:solidFill>
            </a:endParaRPr>
          </a:p>
        </p:txBody>
      </p:sp>
      <p:sp>
        <p:nvSpPr>
          <p:cNvPr id="7" name="TextBox 6">
            <a:extLst>
              <a:ext uri="{FF2B5EF4-FFF2-40B4-BE49-F238E27FC236}">
                <a16:creationId xmlns:a16="http://schemas.microsoft.com/office/drawing/2014/main" id="{0CB7EB94-BCDF-3D4E-91AF-095976C6A5F2}"/>
              </a:ext>
            </a:extLst>
          </p:cNvPr>
          <p:cNvSpPr txBox="1"/>
          <p:nvPr/>
        </p:nvSpPr>
        <p:spPr>
          <a:xfrm>
            <a:off x="1895661" y="3070850"/>
            <a:ext cx="5171704" cy="646331"/>
          </a:xfrm>
          <a:prstGeom prst="rect">
            <a:avLst/>
          </a:prstGeom>
          <a:noFill/>
        </p:spPr>
        <p:txBody>
          <a:bodyPr wrap="square">
            <a:spAutoFit/>
          </a:bodyPr>
          <a:lstStyle/>
          <a:p>
            <a:pPr algn="ctr"/>
            <a:r>
              <a:rPr lang="en-GB" dirty="0">
                <a:solidFill>
                  <a:schemeClr val="tx1">
                    <a:lumMod val="50000"/>
                    <a:lumOff val="50000"/>
                  </a:schemeClr>
                </a:solidFill>
              </a:rPr>
              <a:t>Fundamentals of Ecology </a:t>
            </a:r>
          </a:p>
          <a:p>
            <a:pPr algn="ctr"/>
            <a:r>
              <a:rPr lang="en-GB" dirty="0">
                <a:solidFill>
                  <a:schemeClr val="tx1">
                    <a:lumMod val="50000"/>
                    <a:lumOff val="50000"/>
                  </a:schemeClr>
                </a:solidFill>
              </a:rPr>
              <a:t>(ZEX111E)</a:t>
            </a:r>
            <a:endParaRPr lang="en-DE" dirty="0">
              <a:solidFill>
                <a:schemeClr val="tx1">
                  <a:lumMod val="50000"/>
                  <a:lumOff val="50000"/>
                </a:schemeClr>
              </a:solidFill>
            </a:endParaRPr>
          </a:p>
        </p:txBody>
      </p:sp>
      <p:sp>
        <p:nvSpPr>
          <p:cNvPr id="8" name="TextBox 7">
            <a:extLst>
              <a:ext uri="{FF2B5EF4-FFF2-40B4-BE49-F238E27FC236}">
                <a16:creationId xmlns:a16="http://schemas.microsoft.com/office/drawing/2014/main" id="{0E4BB2C9-BCD4-E241-A3FE-CE93A693F266}"/>
              </a:ext>
            </a:extLst>
          </p:cNvPr>
          <p:cNvSpPr txBox="1"/>
          <p:nvPr/>
        </p:nvSpPr>
        <p:spPr>
          <a:xfrm>
            <a:off x="4791261" y="3070850"/>
            <a:ext cx="5171704" cy="646331"/>
          </a:xfrm>
          <a:prstGeom prst="rect">
            <a:avLst/>
          </a:prstGeom>
          <a:noFill/>
        </p:spPr>
        <p:txBody>
          <a:bodyPr wrap="square">
            <a:spAutoFit/>
          </a:bodyPr>
          <a:lstStyle/>
          <a:p>
            <a:pPr algn="ctr"/>
            <a:r>
              <a:rPr lang="en-GB" dirty="0">
                <a:solidFill>
                  <a:schemeClr val="tx1">
                    <a:lumMod val="50000"/>
                    <a:lumOff val="50000"/>
                  </a:schemeClr>
                </a:solidFill>
              </a:rPr>
              <a:t>General Ecology </a:t>
            </a:r>
          </a:p>
          <a:p>
            <a:pPr algn="ctr"/>
            <a:r>
              <a:rPr lang="en-GB" dirty="0">
                <a:solidFill>
                  <a:schemeClr val="tx1">
                    <a:lumMod val="50000"/>
                    <a:lumOff val="50000"/>
                  </a:schemeClr>
                </a:solidFill>
              </a:rPr>
              <a:t>(ZEX12E)</a:t>
            </a:r>
            <a:endParaRPr lang="en-DE" dirty="0">
              <a:solidFill>
                <a:schemeClr val="tx1">
                  <a:lumMod val="50000"/>
                  <a:lumOff val="50000"/>
                </a:schemeClr>
              </a:solidFill>
            </a:endParaRPr>
          </a:p>
        </p:txBody>
      </p:sp>
      <p:pic>
        <p:nvPicPr>
          <p:cNvPr id="9" name="Obrázek 8">
            <a:extLst>
              <a:ext uri="{FF2B5EF4-FFF2-40B4-BE49-F238E27FC236}">
                <a16:creationId xmlns:a16="http://schemas.microsoft.com/office/drawing/2014/main" id="{761C857E-09CD-8618-7C04-38ADB4EA0B4F}"/>
              </a:ext>
            </a:extLst>
          </p:cNvPr>
          <p:cNvPicPr>
            <a:picLocks noChangeAspect="1"/>
          </p:cNvPicPr>
          <p:nvPr/>
        </p:nvPicPr>
        <p:blipFill>
          <a:blip r:embed="rId3"/>
          <a:stretch>
            <a:fillRect/>
          </a:stretch>
        </p:blipFill>
        <p:spPr>
          <a:xfrm>
            <a:off x="443284" y="786240"/>
            <a:ext cx="2277645" cy="2284610"/>
          </a:xfrm>
          <a:prstGeom prst="rect">
            <a:avLst/>
          </a:prstGeom>
        </p:spPr>
      </p:pic>
      <p:pic>
        <p:nvPicPr>
          <p:cNvPr id="11" name="Obrázek 10">
            <a:extLst>
              <a:ext uri="{FF2B5EF4-FFF2-40B4-BE49-F238E27FC236}">
                <a16:creationId xmlns:a16="http://schemas.microsoft.com/office/drawing/2014/main" id="{95542CAE-EDBE-8CCE-C5D9-1782CB3099E9}"/>
              </a:ext>
            </a:extLst>
          </p:cNvPr>
          <p:cNvPicPr>
            <a:picLocks noChangeAspect="1"/>
          </p:cNvPicPr>
          <p:nvPr/>
        </p:nvPicPr>
        <p:blipFill>
          <a:blip r:embed="rId4"/>
          <a:stretch>
            <a:fillRect/>
          </a:stretch>
        </p:blipFill>
        <p:spPr>
          <a:xfrm>
            <a:off x="3337343" y="743887"/>
            <a:ext cx="2277645" cy="2369315"/>
          </a:xfrm>
          <a:prstGeom prst="rect">
            <a:avLst/>
          </a:prstGeom>
        </p:spPr>
      </p:pic>
      <p:pic>
        <p:nvPicPr>
          <p:cNvPr id="13" name="Obrázek 12">
            <a:extLst>
              <a:ext uri="{FF2B5EF4-FFF2-40B4-BE49-F238E27FC236}">
                <a16:creationId xmlns:a16="http://schemas.microsoft.com/office/drawing/2014/main" id="{3FD469F6-59EA-E3D1-AD2C-501689B53B79}"/>
              </a:ext>
            </a:extLst>
          </p:cNvPr>
          <p:cNvPicPr>
            <a:picLocks noChangeAspect="1"/>
          </p:cNvPicPr>
          <p:nvPr/>
        </p:nvPicPr>
        <p:blipFill>
          <a:blip r:embed="rId5"/>
          <a:stretch>
            <a:fillRect/>
          </a:stretch>
        </p:blipFill>
        <p:spPr>
          <a:xfrm>
            <a:off x="6231402" y="793205"/>
            <a:ext cx="2277645" cy="2277645"/>
          </a:xfrm>
          <a:prstGeom prst="rect">
            <a:avLst/>
          </a:prstGeom>
        </p:spPr>
      </p:pic>
    </p:spTree>
    <p:extLst>
      <p:ext uri="{BB962C8B-B14F-4D97-AF65-F5344CB8AC3E}">
        <p14:creationId xmlns:p14="http://schemas.microsoft.com/office/powerpoint/2010/main" val="2162890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139238"/>
            <a:ext cx="7772400" cy="1362075"/>
          </a:xfrm>
        </p:spPr>
        <p:txBody>
          <a:bodyPr>
            <a:normAutofit/>
          </a:bodyPr>
          <a:lstStyle/>
          <a:p>
            <a:pPr>
              <a:defRPr sz="4400"/>
            </a:pPr>
            <a:r>
              <a:rPr lang="cs-CZ" sz="3600" b="1" dirty="0">
                <a:solidFill>
                  <a:srgbClr val="007A3D"/>
                </a:solidFill>
                <a:latin typeface="Calibri" panose="020F0502020204030204" pitchFamily="34" charset="0"/>
                <a:cs typeface="Calibri" panose="020F0502020204030204" pitchFamily="34" charset="0"/>
              </a:rPr>
              <a:t>HOW TO FIND RELEVANT OVERVIEW AND SOURCES ON A TOPIC</a:t>
            </a:r>
            <a:endParaRPr lang="en-GB" sz="3600" b="1" dirty="0">
              <a:solidFill>
                <a:srgbClr val="007A3D"/>
              </a:solidFill>
              <a:latin typeface="Calibri" panose="020F0502020204030204" pitchFamily="34" charset="0"/>
              <a:cs typeface="Calibri" panose="020F0502020204030204" pitchFamily="34" charset="0"/>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5" name="Title 1">
            <a:extLst>
              <a:ext uri="{FF2B5EF4-FFF2-40B4-BE49-F238E27FC236}">
                <a16:creationId xmlns:a16="http://schemas.microsoft.com/office/drawing/2014/main" id="{DF11E535-7BDD-3746-8BC7-C10327BBEF05}"/>
              </a:ext>
            </a:extLst>
          </p:cNvPr>
          <p:cNvSpPr txBox="1">
            <a:spLocks/>
          </p:cNvSpPr>
          <p:nvPr/>
        </p:nvSpPr>
        <p:spPr>
          <a:xfrm>
            <a:off x="726661" y="2820689"/>
            <a:ext cx="7772400" cy="617044"/>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algn="r"/>
            <a:r>
              <a:rPr lang="cs-CZ" sz="2800" b="0" cap="none" dirty="0">
                <a:solidFill>
                  <a:schemeClr val="tx1">
                    <a:lumMod val="50000"/>
                    <a:lumOff val="50000"/>
                  </a:schemeClr>
                </a:solidFill>
              </a:rPr>
              <a:t>THE PROCESS</a:t>
            </a:r>
            <a:endParaRPr lang="en-GB" sz="2800" b="0" cap="none" dirty="0">
              <a:solidFill>
                <a:schemeClr val="tx1">
                  <a:lumMod val="50000"/>
                  <a:lumOff val="50000"/>
                </a:schemeClr>
              </a:solidFill>
            </a:endParaRPr>
          </a:p>
        </p:txBody>
      </p:sp>
    </p:spTree>
    <p:extLst>
      <p:ext uri="{BB962C8B-B14F-4D97-AF65-F5344CB8AC3E}">
        <p14:creationId xmlns:p14="http://schemas.microsoft.com/office/powerpoint/2010/main" val="3863394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Google logo - Wikipedia">
            <a:extLst>
              <a:ext uri="{FF2B5EF4-FFF2-40B4-BE49-F238E27FC236}">
                <a16:creationId xmlns:a16="http://schemas.microsoft.com/office/drawing/2014/main" id="{A3A77289-4AF0-8801-9E9D-A99648F99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428" y="2351612"/>
            <a:ext cx="6368143" cy="2154776"/>
          </a:xfrm>
          <a:prstGeom prst="rect">
            <a:avLst/>
          </a:prstGeom>
          <a:noFill/>
          <a:extLst>
            <a:ext uri="{909E8E84-426E-40DD-AFC4-6F175D3DCCD1}">
              <a14:hiddenFill xmlns:a14="http://schemas.microsoft.com/office/drawing/2010/main">
                <a:solidFill>
                  <a:srgbClr val="FFFFFF"/>
                </a:solidFill>
              </a14:hiddenFill>
            </a:ext>
          </a:extLst>
        </p:spPr>
      </p:pic>
      <p:sp>
        <p:nvSpPr>
          <p:cNvPr id="4" name="TextovéPole 3">
            <a:extLst>
              <a:ext uri="{FF2B5EF4-FFF2-40B4-BE49-F238E27FC236}">
                <a16:creationId xmlns:a16="http://schemas.microsoft.com/office/drawing/2014/main" id="{4C704A5A-E373-A01E-FA0B-C79EE0FF08D7}"/>
              </a:ext>
            </a:extLst>
          </p:cNvPr>
          <p:cNvSpPr txBox="1"/>
          <p:nvPr/>
        </p:nvSpPr>
        <p:spPr>
          <a:xfrm>
            <a:off x="7271282" y="2205189"/>
            <a:ext cx="1580882" cy="2246769"/>
          </a:xfrm>
          <a:prstGeom prst="rect">
            <a:avLst/>
          </a:prstGeom>
          <a:noFill/>
        </p:spPr>
        <p:txBody>
          <a:bodyPr wrap="none" rtlCol="0">
            <a:spAutoFit/>
          </a:bodyPr>
          <a:lstStyle/>
          <a:p>
            <a:r>
              <a:rPr lang="cs-CZ" sz="14000" dirty="0" err="1"/>
              <a:t>it!</a:t>
            </a:r>
            <a:endParaRPr lang="en-GB" sz="14000" dirty="0"/>
          </a:p>
        </p:txBody>
      </p:sp>
    </p:spTree>
    <p:extLst>
      <p:ext uri="{BB962C8B-B14F-4D97-AF65-F5344CB8AC3E}">
        <p14:creationId xmlns:p14="http://schemas.microsoft.com/office/powerpoint/2010/main" val="4187193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97C4362-681C-BA87-5CDF-8CC394663448}"/>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72F3F4E6-DD94-5E67-44B4-41DB6558C873}"/>
              </a:ext>
            </a:extLst>
          </p:cNvPr>
          <p:cNvSpPr>
            <a:spLocks noGrp="1"/>
          </p:cNvSpPr>
          <p:nvPr>
            <p:ph type="body" idx="1"/>
          </p:nvPr>
        </p:nvSpPr>
        <p:spPr/>
        <p:txBody>
          <a:bodyPr/>
          <a:lstStyle/>
          <a:p>
            <a:endParaRPr lang="en-GB"/>
          </a:p>
        </p:txBody>
      </p:sp>
      <p:pic>
        <p:nvPicPr>
          <p:cNvPr id="7" name="Obrázek 6">
            <a:extLst>
              <a:ext uri="{FF2B5EF4-FFF2-40B4-BE49-F238E27FC236}">
                <a16:creationId xmlns:a16="http://schemas.microsoft.com/office/drawing/2014/main" id="{23715A3B-989D-8EE3-0C15-EAFA267EDBF7}"/>
              </a:ext>
            </a:extLst>
          </p:cNvPr>
          <p:cNvPicPr>
            <a:picLocks noChangeAspect="1"/>
          </p:cNvPicPr>
          <p:nvPr/>
        </p:nvPicPr>
        <p:blipFill>
          <a:blip r:embed="rId3"/>
          <a:stretch>
            <a:fillRect/>
          </a:stretch>
        </p:blipFill>
        <p:spPr>
          <a:xfrm>
            <a:off x="0" y="135518"/>
            <a:ext cx="9144000" cy="4845249"/>
          </a:xfrm>
          <a:prstGeom prst="rect">
            <a:avLst/>
          </a:prstGeom>
        </p:spPr>
      </p:pic>
      <p:pic>
        <p:nvPicPr>
          <p:cNvPr id="9" name="Obrázek 8">
            <a:extLst>
              <a:ext uri="{FF2B5EF4-FFF2-40B4-BE49-F238E27FC236}">
                <a16:creationId xmlns:a16="http://schemas.microsoft.com/office/drawing/2014/main" id="{B0B492E6-46E9-AD6F-DD29-9DD91FA208E0}"/>
              </a:ext>
            </a:extLst>
          </p:cNvPr>
          <p:cNvPicPr>
            <a:picLocks noChangeAspect="1"/>
          </p:cNvPicPr>
          <p:nvPr/>
        </p:nvPicPr>
        <p:blipFill>
          <a:blip r:embed="rId4"/>
          <a:srcRect t="66100"/>
          <a:stretch>
            <a:fillRect/>
          </a:stretch>
        </p:blipFill>
        <p:spPr>
          <a:xfrm>
            <a:off x="1054032" y="5086351"/>
            <a:ext cx="8413818" cy="1168737"/>
          </a:xfrm>
          <a:prstGeom prst="rect">
            <a:avLst/>
          </a:prstGeom>
        </p:spPr>
      </p:pic>
    </p:spTree>
    <p:extLst>
      <p:ext uri="{BB962C8B-B14F-4D97-AF65-F5344CB8AC3E}">
        <p14:creationId xmlns:p14="http://schemas.microsoft.com/office/powerpoint/2010/main" val="310966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D8AB88F4-EC23-0A19-6B6C-9F513354C291}"/>
              </a:ext>
            </a:extLst>
          </p:cNvPr>
          <p:cNvPicPr>
            <a:picLocks noChangeAspect="1"/>
          </p:cNvPicPr>
          <p:nvPr/>
        </p:nvPicPr>
        <p:blipFill>
          <a:blip r:embed="rId3"/>
          <a:stretch>
            <a:fillRect/>
          </a:stretch>
        </p:blipFill>
        <p:spPr>
          <a:xfrm>
            <a:off x="0" y="1137652"/>
            <a:ext cx="9144000" cy="4582695"/>
          </a:xfrm>
          <a:prstGeom prst="rect">
            <a:avLst/>
          </a:prstGeom>
        </p:spPr>
      </p:pic>
    </p:spTree>
    <p:extLst>
      <p:ext uri="{BB962C8B-B14F-4D97-AF65-F5344CB8AC3E}">
        <p14:creationId xmlns:p14="http://schemas.microsoft.com/office/powerpoint/2010/main" val="1659042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99DD8CF5-CC1C-8995-56E9-3DCCA921A8E1}"/>
              </a:ext>
            </a:extLst>
          </p:cNvPr>
          <p:cNvPicPr>
            <a:picLocks noChangeAspect="1"/>
          </p:cNvPicPr>
          <p:nvPr/>
        </p:nvPicPr>
        <p:blipFill>
          <a:blip r:embed="rId3"/>
          <a:stretch>
            <a:fillRect/>
          </a:stretch>
        </p:blipFill>
        <p:spPr>
          <a:xfrm>
            <a:off x="0" y="513357"/>
            <a:ext cx="9144000" cy="5831286"/>
          </a:xfrm>
          <a:prstGeom prst="rect">
            <a:avLst/>
          </a:prstGeom>
        </p:spPr>
      </p:pic>
    </p:spTree>
    <p:extLst>
      <p:ext uri="{BB962C8B-B14F-4D97-AF65-F5344CB8AC3E}">
        <p14:creationId xmlns:p14="http://schemas.microsoft.com/office/powerpoint/2010/main" val="6489879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9E32C88F-2065-DBE3-8427-CB106B305927}"/>
              </a:ext>
            </a:extLst>
          </p:cNvPr>
          <p:cNvPicPr>
            <a:picLocks noChangeAspect="1"/>
          </p:cNvPicPr>
          <p:nvPr/>
        </p:nvPicPr>
        <p:blipFill>
          <a:blip r:embed="rId3"/>
          <a:stretch>
            <a:fillRect/>
          </a:stretch>
        </p:blipFill>
        <p:spPr>
          <a:xfrm>
            <a:off x="0" y="992425"/>
            <a:ext cx="9144000" cy="4873150"/>
          </a:xfrm>
          <a:prstGeom prst="rect">
            <a:avLst/>
          </a:prstGeom>
        </p:spPr>
      </p:pic>
    </p:spTree>
    <p:extLst>
      <p:ext uri="{BB962C8B-B14F-4D97-AF65-F5344CB8AC3E}">
        <p14:creationId xmlns:p14="http://schemas.microsoft.com/office/powerpoint/2010/main" val="3103331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35EE583-855B-B161-89D9-A3D0CED4E084}"/>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6A98EB1B-67C8-2C54-6DC0-114E5901B624}"/>
              </a:ext>
            </a:extLst>
          </p:cNvPr>
          <p:cNvSpPr>
            <a:spLocks noGrp="1"/>
          </p:cNvSpPr>
          <p:nvPr>
            <p:ph type="body" idx="1"/>
          </p:nvPr>
        </p:nvSpPr>
        <p:spPr/>
        <p:txBody>
          <a:bodyPr/>
          <a:lstStyle/>
          <a:p>
            <a:endParaRPr lang="en-GB"/>
          </a:p>
        </p:txBody>
      </p:sp>
      <p:pic>
        <p:nvPicPr>
          <p:cNvPr id="5" name="Obrázek 4">
            <a:extLst>
              <a:ext uri="{FF2B5EF4-FFF2-40B4-BE49-F238E27FC236}">
                <a16:creationId xmlns:a16="http://schemas.microsoft.com/office/drawing/2014/main" id="{26CA09B1-1499-A97E-38A3-E897CDF7E45F}"/>
              </a:ext>
            </a:extLst>
          </p:cNvPr>
          <p:cNvPicPr>
            <a:picLocks noChangeAspect="1"/>
          </p:cNvPicPr>
          <p:nvPr/>
        </p:nvPicPr>
        <p:blipFill>
          <a:blip r:embed="rId3"/>
          <a:stretch>
            <a:fillRect/>
          </a:stretch>
        </p:blipFill>
        <p:spPr>
          <a:xfrm>
            <a:off x="0" y="863081"/>
            <a:ext cx="9144000" cy="5131837"/>
          </a:xfrm>
          <a:prstGeom prst="rect">
            <a:avLst/>
          </a:prstGeom>
        </p:spPr>
      </p:pic>
    </p:spTree>
    <p:extLst>
      <p:ext uri="{BB962C8B-B14F-4D97-AF65-F5344CB8AC3E}">
        <p14:creationId xmlns:p14="http://schemas.microsoft.com/office/powerpoint/2010/main" val="10846041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D86453DE-2591-3EC9-7C3C-238AEC7BBED6}"/>
              </a:ext>
            </a:extLst>
          </p:cNvPr>
          <p:cNvPicPr>
            <a:picLocks noChangeAspect="1"/>
          </p:cNvPicPr>
          <p:nvPr/>
        </p:nvPicPr>
        <p:blipFill>
          <a:blip r:embed="rId3"/>
          <a:srcRect t="22843" b="25106"/>
          <a:stretch>
            <a:fillRect/>
          </a:stretch>
        </p:blipFill>
        <p:spPr>
          <a:xfrm>
            <a:off x="0" y="0"/>
            <a:ext cx="5388429" cy="1475404"/>
          </a:xfrm>
          <a:prstGeom prst="rect">
            <a:avLst/>
          </a:prstGeom>
        </p:spPr>
      </p:pic>
      <p:pic>
        <p:nvPicPr>
          <p:cNvPr id="7" name="Obrázek 6">
            <a:extLst>
              <a:ext uri="{FF2B5EF4-FFF2-40B4-BE49-F238E27FC236}">
                <a16:creationId xmlns:a16="http://schemas.microsoft.com/office/drawing/2014/main" id="{72DB8569-CA09-A337-8971-A8872FB50AFE}"/>
              </a:ext>
            </a:extLst>
          </p:cNvPr>
          <p:cNvPicPr>
            <a:picLocks noChangeAspect="1"/>
          </p:cNvPicPr>
          <p:nvPr/>
        </p:nvPicPr>
        <p:blipFill>
          <a:blip r:embed="rId4"/>
          <a:stretch>
            <a:fillRect/>
          </a:stretch>
        </p:blipFill>
        <p:spPr>
          <a:xfrm>
            <a:off x="145815" y="1475404"/>
            <a:ext cx="8852370" cy="5382596"/>
          </a:xfrm>
          <a:prstGeom prst="rect">
            <a:avLst/>
          </a:prstGeom>
        </p:spPr>
      </p:pic>
    </p:spTree>
    <p:extLst>
      <p:ext uri="{BB962C8B-B14F-4D97-AF65-F5344CB8AC3E}">
        <p14:creationId xmlns:p14="http://schemas.microsoft.com/office/powerpoint/2010/main" val="3481009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6D7FDAE-8573-4A96-EB5F-044CE0F2E712}"/>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CB4D3721-E325-7C11-6124-0EC4B760862D}"/>
              </a:ext>
            </a:extLst>
          </p:cNvPr>
          <p:cNvSpPr>
            <a:spLocks noGrp="1"/>
          </p:cNvSpPr>
          <p:nvPr>
            <p:ph type="body" idx="1"/>
          </p:nvPr>
        </p:nvSpPr>
        <p:spPr/>
        <p:txBody>
          <a:bodyPr/>
          <a:lstStyle/>
          <a:p>
            <a:endParaRPr lang="en-GB"/>
          </a:p>
        </p:txBody>
      </p:sp>
      <p:pic>
        <p:nvPicPr>
          <p:cNvPr id="5" name="Obrázek 4">
            <a:extLst>
              <a:ext uri="{FF2B5EF4-FFF2-40B4-BE49-F238E27FC236}">
                <a16:creationId xmlns:a16="http://schemas.microsoft.com/office/drawing/2014/main" id="{CA7D7EBF-96DE-53E7-0042-0C6EB2F2D799}"/>
              </a:ext>
            </a:extLst>
          </p:cNvPr>
          <p:cNvPicPr>
            <a:picLocks noChangeAspect="1"/>
          </p:cNvPicPr>
          <p:nvPr/>
        </p:nvPicPr>
        <p:blipFill>
          <a:blip r:embed="rId3"/>
          <a:stretch>
            <a:fillRect/>
          </a:stretch>
        </p:blipFill>
        <p:spPr>
          <a:xfrm>
            <a:off x="0" y="1365409"/>
            <a:ext cx="9144000" cy="4127182"/>
          </a:xfrm>
          <a:prstGeom prst="rect">
            <a:avLst/>
          </a:prstGeom>
        </p:spPr>
      </p:pic>
    </p:spTree>
    <p:extLst>
      <p:ext uri="{BB962C8B-B14F-4D97-AF65-F5344CB8AC3E}">
        <p14:creationId xmlns:p14="http://schemas.microsoft.com/office/powerpoint/2010/main" val="26693431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3418A-A373-AAC6-5D14-23DF5BABD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C8DAE-D339-1D94-3C55-979D83BFF77C}"/>
              </a:ext>
            </a:extLst>
          </p:cNvPr>
          <p:cNvSpPr>
            <a:spLocks noGrp="1"/>
          </p:cNvSpPr>
          <p:nvPr>
            <p:ph type="ctrTitle"/>
          </p:nvPr>
        </p:nvSpPr>
        <p:spPr>
          <a:xfrm>
            <a:off x="294968" y="0"/>
            <a:ext cx="8750709" cy="884903"/>
          </a:xfrm>
        </p:spPr>
        <p:txBody>
          <a:bodyPr>
            <a:normAutofit/>
          </a:bodyPr>
          <a:lstStyle/>
          <a:p>
            <a:pPr algn="l"/>
            <a:r>
              <a:rPr lang="cs-CZ" sz="3600" dirty="0" err="1">
                <a:solidFill>
                  <a:srgbClr val="007A3D"/>
                </a:solidFill>
              </a:rPr>
              <a:t>Lets</a:t>
            </a:r>
            <a:r>
              <a:rPr lang="cs-CZ" sz="3600" dirty="0">
                <a:solidFill>
                  <a:srgbClr val="007A3D"/>
                </a:solidFill>
              </a:rPr>
              <a:t> </a:t>
            </a:r>
            <a:r>
              <a:rPr lang="cs-CZ" sz="3600" dirty="0" err="1">
                <a:solidFill>
                  <a:srgbClr val="007A3D"/>
                </a:solidFill>
              </a:rPr>
              <a:t>check</a:t>
            </a:r>
            <a:r>
              <a:rPr lang="cs-CZ" sz="3600" dirty="0">
                <a:solidFill>
                  <a:srgbClr val="007A3D"/>
                </a:solidFill>
              </a:rPr>
              <a:t> </a:t>
            </a:r>
            <a:r>
              <a:rPr lang="cs-CZ" sz="3600" dirty="0" err="1">
                <a:solidFill>
                  <a:srgbClr val="007A3D"/>
                </a:solidFill>
              </a:rPr>
              <a:t>one</a:t>
            </a:r>
            <a:r>
              <a:rPr lang="cs-CZ" sz="3600" dirty="0">
                <a:solidFill>
                  <a:srgbClr val="007A3D"/>
                </a:solidFill>
              </a:rPr>
              <a:t> </a:t>
            </a:r>
            <a:r>
              <a:rPr lang="cs-CZ" sz="3600" dirty="0" err="1">
                <a:solidFill>
                  <a:srgbClr val="007A3D"/>
                </a:solidFill>
              </a:rPr>
              <a:t>example</a:t>
            </a:r>
            <a:r>
              <a:rPr lang="cs-CZ" sz="3600" dirty="0">
                <a:solidFill>
                  <a:srgbClr val="007A3D"/>
                </a:solidFill>
              </a:rPr>
              <a:t> </a:t>
            </a:r>
            <a:r>
              <a:rPr lang="cs-CZ" sz="3600" dirty="0" err="1">
                <a:solidFill>
                  <a:srgbClr val="007A3D"/>
                </a:solidFill>
              </a:rPr>
              <a:t>paper</a:t>
            </a:r>
            <a:endParaRPr sz="3600" dirty="0">
              <a:solidFill>
                <a:srgbClr val="007A3D"/>
              </a:solidFill>
            </a:endParaRPr>
          </a:p>
        </p:txBody>
      </p:sp>
      <p:pic>
        <p:nvPicPr>
          <p:cNvPr id="10" name="Obrázek 9">
            <a:extLst>
              <a:ext uri="{FF2B5EF4-FFF2-40B4-BE49-F238E27FC236}">
                <a16:creationId xmlns:a16="http://schemas.microsoft.com/office/drawing/2014/main" id="{008A47E8-68F9-00DC-8971-B2F6D0DC92BC}"/>
              </a:ext>
            </a:extLst>
          </p:cNvPr>
          <p:cNvPicPr>
            <a:picLocks noChangeAspect="1"/>
          </p:cNvPicPr>
          <p:nvPr/>
        </p:nvPicPr>
        <p:blipFill>
          <a:blip r:embed="rId3"/>
          <a:stretch>
            <a:fillRect/>
          </a:stretch>
        </p:blipFill>
        <p:spPr>
          <a:xfrm>
            <a:off x="422746" y="1741171"/>
            <a:ext cx="8465035" cy="3002279"/>
          </a:xfrm>
          <a:prstGeom prst="rect">
            <a:avLst/>
          </a:prstGeom>
        </p:spPr>
      </p:pic>
    </p:spTree>
    <p:extLst>
      <p:ext uri="{BB962C8B-B14F-4D97-AF65-F5344CB8AC3E}">
        <p14:creationId xmlns:p14="http://schemas.microsoft.com/office/powerpoint/2010/main" val="25878680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F308FD9-724F-5AE7-CB6E-F4CC654F74FF}"/>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90763B27-518F-1E16-0B53-425E5340D8BC}"/>
              </a:ext>
            </a:extLst>
          </p:cNvPr>
          <p:cNvSpPr>
            <a:spLocks noGrp="1"/>
          </p:cNvSpPr>
          <p:nvPr>
            <p:ph type="body" idx="1"/>
          </p:nvPr>
        </p:nvSpPr>
        <p:spPr/>
        <p:txBody>
          <a:bodyPr/>
          <a:lstStyle/>
          <a:p>
            <a:endParaRPr lang="en-GB"/>
          </a:p>
        </p:txBody>
      </p:sp>
      <p:pic>
        <p:nvPicPr>
          <p:cNvPr id="5" name="Obrázek 4">
            <a:extLst>
              <a:ext uri="{FF2B5EF4-FFF2-40B4-BE49-F238E27FC236}">
                <a16:creationId xmlns:a16="http://schemas.microsoft.com/office/drawing/2014/main" id="{D70AFA8F-BCEE-2248-6AD8-A0A923B88E37}"/>
              </a:ext>
            </a:extLst>
          </p:cNvPr>
          <p:cNvPicPr>
            <a:picLocks noChangeAspect="1"/>
          </p:cNvPicPr>
          <p:nvPr/>
        </p:nvPicPr>
        <p:blipFill>
          <a:blip r:embed="rId2"/>
          <a:stretch>
            <a:fillRect/>
          </a:stretch>
        </p:blipFill>
        <p:spPr>
          <a:xfrm>
            <a:off x="-4762" y="1241570"/>
            <a:ext cx="9144000" cy="5158632"/>
          </a:xfrm>
          <a:prstGeom prst="rect">
            <a:avLst/>
          </a:prstGeom>
        </p:spPr>
      </p:pic>
      <p:sp>
        <p:nvSpPr>
          <p:cNvPr id="6" name="Google Shape;127;p6">
            <a:extLst>
              <a:ext uri="{FF2B5EF4-FFF2-40B4-BE49-F238E27FC236}">
                <a16:creationId xmlns:a16="http://schemas.microsoft.com/office/drawing/2014/main" id="{8E729CF7-DEC4-8A21-5EBF-DE6CF06DA121}"/>
              </a:ext>
            </a:extLst>
          </p:cNvPr>
          <p:cNvSpPr txBox="1">
            <a:spLocks/>
          </p:cNvSpPr>
          <p:nvPr/>
        </p:nvSpPr>
        <p:spPr>
          <a:xfrm>
            <a:off x="78658" y="108155"/>
            <a:ext cx="8986683" cy="69809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marL="0" indent="0">
              <a:spcBef>
                <a:spcPts val="0"/>
              </a:spcBef>
              <a:buClr>
                <a:srgbClr val="C55A11"/>
              </a:buClr>
              <a:buSzPts val="2600"/>
            </a:pPr>
            <a:r>
              <a:rPr lang="cs-CZ" sz="2600" b="1" dirty="0" err="1">
                <a:solidFill>
                  <a:srgbClr val="007A3D"/>
                </a:solidFill>
              </a:rPr>
              <a:t>What</a:t>
            </a:r>
            <a:r>
              <a:rPr lang="cs-CZ" sz="2600" b="1" dirty="0">
                <a:solidFill>
                  <a:srgbClr val="007A3D"/>
                </a:solidFill>
              </a:rPr>
              <a:t> </a:t>
            </a:r>
            <a:r>
              <a:rPr lang="cs-CZ" sz="2600" b="1" dirty="0" err="1">
                <a:solidFill>
                  <a:srgbClr val="007A3D"/>
                </a:solidFill>
              </a:rPr>
              <a:t>is</a:t>
            </a:r>
            <a:r>
              <a:rPr lang="cs-CZ" sz="2600" b="1" dirty="0">
                <a:solidFill>
                  <a:srgbClr val="007A3D"/>
                </a:solidFill>
              </a:rPr>
              <a:t> </a:t>
            </a:r>
            <a:r>
              <a:rPr lang="cs-CZ" sz="2600" b="1" dirty="0" err="1">
                <a:solidFill>
                  <a:srgbClr val="007A3D"/>
                </a:solidFill>
              </a:rPr>
              <a:t>an</a:t>
            </a:r>
            <a:r>
              <a:rPr lang="cs-CZ" sz="2600" b="1" dirty="0">
                <a:solidFill>
                  <a:srgbClr val="007A3D"/>
                </a:solidFill>
              </a:rPr>
              <a:t> </a:t>
            </a:r>
            <a:r>
              <a:rPr lang="cs-CZ" sz="2600" b="1" dirty="0" err="1">
                <a:solidFill>
                  <a:srgbClr val="007A3D"/>
                </a:solidFill>
              </a:rPr>
              <a:t>important</a:t>
            </a:r>
            <a:r>
              <a:rPr lang="cs-CZ" sz="2600" b="1" dirty="0">
                <a:solidFill>
                  <a:srgbClr val="007A3D"/>
                </a:solidFill>
              </a:rPr>
              <a:t> </a:t>
            </a:r>
            <a:r>
              <a:rPr lang="cs-CZ" sz="2600" b="1" dirty="0" err="1">
                <a:solidFill>
                  <a:srgbClr val="007A3D"/>
                </a:solidFill>
              </a:rPr>
              <a:t>info</a:t>
            </a:r>
            <a:r>
              <a:rPr lang="cs-CZ" sz="2600" b="1" dirty="0">
                <a:solidFill>
                  <a:srgbClr val="007A3D"/>
                </a:solidFill>
              </a:rPr>
              <a:t> in </a:t>
            </a:r>
            <a:r>
              <a:rPr lang="cs-CZ" sz="2600" b="1" dirty="0" err="1">
                <a:solidFill>
                  <a:srgbClr val="007A3D"/>
                </a:solidFill>
              </a:rPr>
              <a:t>the</a:t>
            </a:r>
            <a:r>
              <a:rPr lang="cs-CZ" sz="2600" b="1" dirty="0">
                <a:solidFill>
                  <a:srgbClr val="007A3D"/>
                </a:solidFill>
              </a:rPr>
              <a:t> </a:t>
            </a:r>
            <a:r>
              <a:rPr lang="cs-CZ" sz="2600" b="1" dirty="0" err="1">
                <a:solidFill>
                  <a:srgbClr val="007A3D"/>
                </a:solidFill>
              </a:rPr>
              <a:t>Abstract</a:t>
            </a:r>
            <a:r>
              <a:rPr lang="cs-CZ" sz="2600" b="1" dirty="0">
                <a:solidFill>
                  <a:srgbClr val="007A3D"/>
                </a:solidFill>
              </a:rPr>
              <a:t>?</a:t>
            </a:r>
            <a:endParaRPr lang="en-GB" dirty="0">
              <a:solidFill>
                <a:srgbClr val="007A3D"/>
              </a:solidFill>
            </a:endParaRPr>
          </a:p>
        </p:txBody>
      </p:sp>
    </p:spTree>
    <p:extLst>
      <p:ext uri="{BB962C8B-B14F-4D97-AF65-F5344CB8AC3E}">
        <p14:creationId xmlns:p14="http://schemas.microsoft.com/office/powerpoint/2010/main" val="1761794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BAE27C03-3CB8-434D-F297-EDC4B1093349}"/>
              </a:ext>
            </a:extLst>
          </p:cNvPr>
          <p:cNvPicPr>
            <a:picLocks noChangeAspect="1"/>
          </p:cNvPicPr>
          <p:nvPr/>
        </p:nvPicPr>
        <p:blipFill>
          <a:blip r:embed="rId3"/>
          <a:stretch>
            <a:fillRect/>
          </a:stretch>
        </p:blipFill>
        <p:spPr>
          <a:xfrm>
            <a:off x="0" y="1241570"/>
            <a:ext cx="9144000" cy="5158632"/>
          </a:xfrm>
          <a:prstGeom prst="rect">
            <a:avLst/>
          </a:prstGeom>
        </p:spPr>
      </p:pic>
      <p:sp>
        <p:nvSpPr>
          <p:cNvPr id="8" name="TextovéPole 7">
            <a:extLst>
              <a:ext uri="{FF2B5EF4-FFF2-40B4-BE49-F238E27FC236}">
                <a16:creationId xmlns:a16="http://schemas.microsoft.com/office/drawing/2014/main" id="{273588FD-A62D-86DC-0BFE-D22A3139EE73}"/>
              </a:ext>
            </a:extLst>
          </p:cNvPr>
          <p:cNvSpPr txBox="1"/>
          <p:nvPr/>
        </p:nvSpPr>
        <p:spPr>
          <a:xfrm>
            <a:off x="7271069" y="73415"/>
            <a:ext cx="1622560" cy="338554"/>
          </a:xfrm>
          <a:prstGeom prst="rect">
            <a:avLst/>
          </a:prstGeom>
          <a:noFill/>
        </p:spPr>
        <p:txBody>
          <a:bodyPr wrap="none" rtlCol="0">
            <a:spAutoFit/>
          </a:bodyPr>
          <a:lstStyle/>
          <a:p>
            <a:r>
              <a:rPr lang="cs-CZ" sz="1600" b="1" dirty="0" err="1">
                <a:solidFill>
                  <a:schemeClr val="accent4"/>
                </a:solidFill>
              </a:rPr>
              <a:t>What</a:t>
            </a:r>
            <a:r>
              <a:rPr lang="cs-CZ" sz="1600" b="1" dirty="0">
                <a:solidFill>
                  <a:schemeClr val="accent4"/>
                </a:solidFill>
              </a:rPr>
              <a:t> </a:t>
            </a:r>
            <a:r>
              <a:rPr lang="cs-CZ" sz="1600" b="1" dirty="0" err="1">
                <a:solidFill>
                  <a:schemeClr val="accent4"/>
                </a:solidFill>
              </a:rPr>
              <a:t>is</a:t>
            </a:r>
            <a:r>
              <a:rPr lang="cs-CZ" sz="1600" b="1" dirty="0">
                <a:solidFill>
                  <a:schemeClr val="accent4"/>
                </a:solidFill>
              </a:rPr>
              <a:t> </a:t>
            </a:r>
            <a:r>
              <a:rPr lang="cs-CZ" sz="1600" b="1" dirty="0" err="1">
                <a:solidFill>
                  <a:schemeClr val="accent4"/>
                </a:solidFill>
              </a:rPr>
              <a:t>known</a:t>
            </a:r>
            <a:endParaRPr lang="cs-CZ" sz="1600" b="1" dirty="0">
              <a:solidFill>
                <a:schemeClr val="accent4"/>
              </a:solidFill>
            </a:endParaRPr>
          </a:p>
        </p:txBody>
      </p:sp>
      <p:sp>
        <p:nvSpPr>
          <p:cNvPr id="14" name="Volný tvar: obrazec 13">
            <a:extLst>
              <a:ext uri="{FF2B5EF4-FFF2-40B4-BE49-F238E27FC236}">
                <a16:creationId xmlns:a16="http://schemas.microsoft.com/office/drawing/2014/main" id="{009F6DFE-4F12-45A0-AD9B-4B0929A46BE5}"/>
              </a:ext>
            </a:extLst>
          </p:cNvPr>
          <p:cNvSpPr/>
          <p:nvPr/>
        </p:nvSpPr>
        <p:spPr>
          <a:xfrm>
            <a:off x="87086" y="1894114"/>
            <a:ext cx="8806543" cy="1045028"/>
          </a:xfrm>
          <a:custGeom>
            <a:avLst/>
            <a:gdLst>
              <a:gd name="connsiteX0" fmla="*/ 0 w 8806543"/>
              <a:gd name="connsiteY0" fmla="*/ 1023257 h 1045028"/>
              <a:gd name="connsiteX1" fmla="*/ 10885 w 8806543"/>
              <a:gd name="connsiteY1" fmla="*/ 0 h 1045028"/>
              <a:gd name="connsiteX2" fmla="*/ 8784771 w 8806543"/>
              <a:gd name="connsiteY2" fmla="*/ 0 h 1045028"/>
              <a:gd name="connsiteX3" fmla="*/ 8806543 w 8806543"/>
              <a:gd name="connsiteY3" fmla="*/ 816428 h 1045028"/>
              <a:gd name="connsiteX4" fmla="*/ 5508171 w 8806543"/>
              <a:gd name="connsiteY4" fmla="*/ 794657 h 1045028"/>
              <a:gd name="connsiteX5" fmla="*/ 5410200 w 8806543"/>
              <a:gd name="connsiteY5" fmla="*/ 794657 h 1045028"/>
              <a:gd name="connsiteX6" fmla="*/ 5410200 w 8806543"/>
              <a:gd name="connsiteY6" fmla="*/ 1045028 h 1045028"/>
              <a:gd name="connsiteX7" fmla="*/ 0 w 8806543"/>
              <a:gd name="connsiteY7" fmla="*/ 1023257 h 104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6543" h="1045028">
                <a:moveTo>
                  <a:pt x="0" y="1023257"/>
                </a:moveTo>
                <a:lnTo>
                  <a:pt x="10885" y="0"/>
                </a:lnTo>
                <a:lnTo>
                  <a:pt x="8784771" y="0"/>
                </a:lnTo>
                <a:lnTo>
                  <a:pt x="8806543" y="816428"/>
                </a:lnTo>
                <a:lnTo>
                  <a:pt x="5508171" y="794657"/>
                </a:lnTo>
                <a:lnTo>
                  <a:pt x="5410200" y="794657"/>
                </a:lnTo>
                <a:lnTo>
                  <a:pt x="5410200" y="1045028"/>
                </a:lnTo>
                <a:lnTo>
                  <a:pt x="0" y="1023257"/>
                </a:lnTo>
                <a:close/>
              </a:path>
            </a:pathLst>
          </a:cu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Volný tvar: obrazec 14">
            <a:extLst>
              <a:ext uri="{FF2B5EF4-FFF2-40B4-BE49-F238E27FC236}">
                <a16:creationId xmlns:a16="http://schemas.microsoft.com/office/drawing/2014/main" id="{947E15B5-2F94-FA1D-B61F-E0364FBAE6B5}"/>
              </a:ext>
            </a:extLst>
          </p:cNvPr>
          <p:cNvSpPr/>
          <p:nvPr/>
        </p:nvSpPr>
        <p:spPr>
          <a:xfrm>
            <a:off x="76200" y="2721429"/>
            <a:ext cx="8806543" cy="936171"/>
          </a:xfrm>
          <a:custGeom>
            <a:avLst/>
            <a:gdLst>
              <a:gd name="connsiteX0" fmla="*/ 5954486 w 8806543"/>
              <a:gd name="connsiteY0" fmla="*/ 206828 h 936171"/>
              <a:gd name="connsiteX1" fmla="*/ 5932714 w 8806543"/>
              <a:gd name="connsiteY1" fmla="*/ 0 h 936171"/>
              <a:gd name="connsiteX2" fmla="*/ 8806543 w 8806543"/>
              <a:gd name="connsiteY2" fmla="*/ 0 h 936171"/>
              <a:gd name="connsiteX3" fmla="*/ 8806543 w 8806543"/>
              <a:gd name="connsiteY3" fmla="*/ 620486 h 936171"/>
              <a:gd name="connsiteX4" fmla="*/ 5214257 w 8806543"/>
              <a:gd name="connsiteY4" fmla="*/ 609600 h 936171"/>
              <a:gd name="connsiteX5" fmla="*/ 5225143 w 8806543"/>
              <a:gd name="connsiteY5" fmla="*/ 936171 h 936171"/>
              <a:gd name="connsiteX6" fmla="*/ 0 w 8806543"/>
              <a:gd name="connsiteY6" fmla="*/ 936171 h 936171"/>
              <a:gd name="connsiteX7" fmla="*/ 0 w 8806543"/>
              <a:gd name="connsiteY7" fmla="*/ 293914 h 936171"/>
              <a:gd name="connsiteX8" fmla="*/ 5965371 w 8806543"/>
              <a:gd name="connsiteY8" fmla="*/ 272143 h 93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06543" h="936171">
                <a:moveTo>
                  <a:pt x="5954486" y="206828"/>
                </a:moveTo>
                <a:lnTo>
                  <a:pt x="5932714" y="0"/>
                </a:lnTo>
                <a:lnTo>
                  <a:pt x="8806543" y="0"/>
                </a:lnTo>
                <a:lnTo>
                  <a:pt x="8806543" y="620486"/>
                </a:lnTo>
                <a:lnTo>
                  <a:pt x="5214257" y="609600"/>
                </a:lnTo>
                <a:lnTo>
                  <a:pt x="5225143" y="936171"/>
                </a:lnTo>
                <a:lnTo>
                  <a:pt x="0" y="936171"/>
                </a:lnTo>
                <a:lnTo>
                  <a:pt x="0" y="293914"/>
                </a:lnTo>
                <a:lnTo>
                  <a:pt x="5965371" y="272143"/>
                </a:lnTo>
              </a:path>
            </a:pathLst>
          </a:cu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Volný tvar: obrazec 15">
            <a:extLst>
              <a:ext uri="{FF2B5EF4-FFF2-40B4-BE49-F238E27FC236}">
                <a16:creationId xmlns:a16="http://schemas.microsoft.com/office/drawing/2014/main" id="{A0B87451-C06C-AA1E-B20E-DFE7519B68C7}"/>
              </a:ext>
            </a:extLst>
          </p:cNvPr>
          <p:cNvSpPr/>
          <p:nvPr/>
        </p:nvSpPr>
        <p:spPr>
          <a:xfrm>
            <a:off x="130629" y="3385457"/>
            <a:ext cx="8773885" cy="1828800"/>
          </a:xfrm>
          <a:custGeom>
            <a:avLst/>
            <a:gdLst>
              <a:gd name="connsiteX0" fmla="*/ 6498771 w 8773885"/>
              <a:gd name="connsiteY0" fmla="*/ 304800 h 1828800"/>
              <a:gd name="connsiteX1" fmla="*/ 6498771 w 8773885"/>
              <a:gd name="connsiteY1" fmla="*/ 0 h 1828800"/>
              <a:gd name="connsiteX2" fmla="*/ 8752114 w 8773885"/>
              <a:gd name="connsiteY2" fmla="*/ 10886 h 1828800"/>
              <a:gd name="connsiteX3" fmla="*/ 8773885 w 8773885"/>
              <a:gd name="connsiteY3" fmla="*/ 1480457 h 1828800"/>
              <a:gd name="connsiteX4" fmla="*/ 5214257 w 8773885"/>
              <a:gd name="connsiteY4" fmla="*/ 1458686 h 1828800"/>
              <a:gd name="connsiteX5" fmla="*/ 5236028 w 8773885"/>
              <a:gd name="connsiteY5" fmla="*/ 1817914 h 1828800"/>
              <a:gd name="connsiteX6" fmla="*/ 21771 w 8773885"/>
              <a:gd name="connsiteY6" fmla="*/ 1828800 h 1828800"/>
              <a:gd name="connsiteX7" fmla="*/ 0 w 8773885"/>
              <a:gd name="connsiteY7" fmla="*/ 370114 h 1828800"/>
              <a:gd name="connsiteX8" fmla="*/ 6498771 w 8773885"/>
              <a:gd name="connsiteY8" fmla="*/ 30480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73885" h="1828800">
                <a:moveTo>
                  <a:pt x="6498771" y="304800"/>
                </a:moveTo>
                <a:lnTo>
                  <a:pt x="6498771" y="0"/>
                </a:lnTo>
                <a:lnTo>
                  <a:pt x="8752114" y="10886"/>
                </a:lnTo>
                <a:lnTo>
                  <a:pt x="8773885" y="1480457"/>
                </a:lnTo>
                <a:lnTo>
                  <a:pt x="5214257" y="1458686"/>
                </a:lnTo>
                <a:lnTo>
                  <a:pt x="5236028" y="1817914"/>
                </a:lnTo>
                <a:lnTo>
                  <a:pt x="21771" y="1828800"/>
                </a:lnTo>
                <a:lnTo>
                  <a:pt x="0" y="370114"/>
                </a:lnTo>
                <a:lnTo>
                  <a:pt x="6498771" y="304800"/>
                </a:lnTo>
                <a:close/>
              </a:path>
            </a:pathLst>
          </a:custGeom>
          <a:noFill/>
          <a:ln w="28575">
            <a:solidFill>
              <a:srgbClr val="007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ovéPole 21">
            <a:extLst>
              <a:ext uri="{FF2B5EF4-FFF2-40B4-BE49-F238E27FC236}">
                <a16:creationId xmlns:a16="http://schemas.microsoft.com/office/drawing/2014/main" id="{1BD6B794-0115-66BE-1F01-858873943D71}"/>
              </a:ext>
            </a:extLst>
          </p:cNvPr>
          <p:cNvSpPr txBox="1"/>
          <p:nvPr/>
        </p:nvSpPr>
        <p:spPr>
          <a:xfrm>
            <a:off x="7271069" y="397240"/>
            <a:ext cx="45720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a:ln>
                  <a:noFill/>
                </a:ln>
                <a:solidFill>
                  <a:srgbClr val="FF0000"/>
                </a:solidFill>
                <a:effectLst/>
                <a:uLnTx/>
                <a:uFillTx/>
                <a:latin typeface="Arial"/>
                <a:cs typeface="Arial"/>
                <a:sym typeface="Arial"/>
              </a:rPr>
              <a:t>Data &amp; </a:t>
            </a:r>
            <a:r>
              <a:rPr kumimoji="0" lang="cs-CZ" sz="1600" b="1" i="0" u="none" strike="noStrike" kern="0" cap="none" spc="0" normalizeH="0" baseline="0" noProof="0" dirty="0" err="1">
                <a:ln>
                  <a:noFill/>
                </a:ln>
                <a:solidFill>
                  <a:srgbClr val="FF0000"/>
                </a:solidFill>
                <a:effectLst/>
                <a:uLnTx/>
                <a:uFillTx/>
                <a:latin typeface="Arial"/>
                <a:cs typeface="Arial"/>
                <a:sym typeface="Arial"/>
              </a:rPr>
              <a:t>Statistics</a:t>
            </a:r>
            <a:endParaRPr kumimoji="0" lang="cs-CZ" sz="1600" b="1" i="0" u="none" strike="noStrike" kern="0" cap="none" spc="0" normalizeH="0" baseline="0" noProof="0" dirty="0">
              <a:ln>
                <a:noFill/>
              </a:ln>
              <a:solidFill>
                <a:srgbClr val="FF0000"/>
              </a:solidFill>
              <a:effectLst/>
              <a:uLnTx/>
              <a:uFillTx/>
              <a:latin typeface="Arial"/>
              <a:cs typeface="Arial"/>
              <a:sym typeface="Arial"/>
            </a:endParaRPr>
          </a:p>
        </p:txBody>
      </p:sp>
      <p:sp>
        <p:nvSpPr>
          <p:cNvPr id="26" name="TextovéPole 25">
            <a:extLst>
              <a:ext uri="{FF2B5EF4-FFF2-40B4-BE49-F238E27FC236}">
                <a16:creationId xmlns:a16="http://schemas.microsoft.com/office/drawing/2014/main" id="{51818625-F8C9-436C-E800-E72201EF89FF}"/>
              </a:ext>
            </a:extLst>
          </p:cNvPr>
          <p:cNvSpPr txBox="1"/>
          <p:nvPr/>
        </p:nvSpPr>
        <p:spPr>
          <a:xfrm>
            <a:off x="7271069" y="708169"/>
            <a:ext cx="60524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err="1">
                <a:ln>
                  <a:noFill/>
                </a:ln>
                <a:solidFill>
                  <a:srgbClr val="007A3D"/>
                </a:solidFill>
                <a:effectLst/>
                <a:uLnTx/>
                <a:uFillTx/>
                <a:latin typeface="Arial"/>
                <a:cs typeface="Arial"/>
                <a:sym typeface="Arial"/>
              </a:rPr>
              <a:t>Main</a:t>
            </a:r>
            <a:r>
              <a:rPr kumimoji="0" lang="cs-CZ" sz="1600" b="1" i="0" u="none" strike="noStrike" kern="0" cap="none" spc="0" normalizeH="0" baseline="0" noProof="0" dirty="0">
                <a:ln>
                  <a:noFill/>
                </a:ln>
                <a:solidFill>
                  <a:srgbClr val="007A3D"/>
                </a:solidFill>
                <a:effectLst/>
                <a:uLnTx/>
                <a:uFillTx/>
                <a:latin typeface="Arial"/>
                <a:cs typeface="Arial"/>
                <a:sym typeface="Arial"/>
              </a:rPr>
              <a:t> </a:t>
            </a:r>
            <a:r>
              <a:rPr kumimoji="0" lang="cs-CZ" sz="1600" b="1" i="0" u="none" strike="noStrike" kern="0" cap="none" spc="0" normalizeH="0" baseline="0" noProof="0" dirty="0" err="1">
                <a:ln>
                  <a:noFill/>
                </a:ln>
                <a:solidFill>
                  <a:srgbClr val="007A3D"/>
                </a:solidFill>
                <a:effectLst/>
                <a:uLnTx/>
                <a:uFillTx/>
                <a:latin typeface="Arial"/>
                <a:cs typeface="Arial"/>
                <a:sym typeface="Arial"/>
              </a:rPr>
              <a:t>results</a:t>
            </a:r>
            <a:endParaRPr kumimoji="0" lang="en-GB" sz="1600" b="1" i="0" u="none" strike="noStrike" kern="0" cap="none" spc="0" normalizeH="0" baseline="0" noProof="0" dirty="0">
              <a:ln>
                <a:noFill/>
              </a:ln>
              <a:solidFill>
                <a:srgbClr val="007A3D"/>
              </a:solidFill>
              <a:effectLst/>
              <a:uLnTx/>
              <a:uFillTx/>
              <a:latin typeface="Arial"/>
              <a:cs typeface="Arial"/>
              <a:sym typeface="Arial"/>
            </a:endParaRPr>
          </a:p>
        </p:txBody>
      </p:sp>
      <p:sp>
        <p:nvSpPr>
          <p:cNvPr id="27" name="Volný tvar: obrazec 26">
            <a:extLst>
              <a:ext uri="{FF2B5EF4-FFF2-40B4-BE49-F238E27FC236}">
                <a16:creationId xmlns:a16="http://schemas.microsoft.com/office/drawing/2014/main" id="{2C4AAF72-68CA-17AB-166F-97DFC1B6C705}"/>
              </a:ext>
            </a:extLst>
          </p:cNvPr>
          <p:cNvSpPr/>
          <p:nvPr/>
        </p:nvSpPr>
        <p:spPr>
          <a:xfrm>
            <a:off x="152400" y="4898571"/>
            <a:ext cx="8763000" cy="1426029"/>
          </a:xfrm>
          <a:custGeom>
            <a:avLst/>
            <a:gdLst>
              <a:gd name="connsiteX0" fmla="*/ 6901543 w 8763000"/>
              <a:gd name="connsiteY0" fmla="*/ 0 h 1426029"/>
              <a:gd name="connsiteX1" fmla="*/ 6912429 w 8763000"/>
              <a:gd name="connsiteY1" fmla="*/ 315686 h 1426029"/>
              <a:gd name="connsiteX2" fmla="*/ 0 w 8763000"/>
              <a:gd name="connsiteY2" fmla="*/ 326572 h 1426029"/>
              <a:gd name="connsiteX3" fmla="*/ 10886 w 8763000"/>
              <a:gd name="connsiteY3" fmla="*/ 1426029 h 1426029"/>
              <a:gd name="connsiteX4" fmla="*/ 1240971 w 8763000"/>
              <a:gd name="connsiteY4" fmla="*/ 1426029 h 1426029"/>
              <a:gd name="connsiteX5" fmla="*/ 1240971 w 8763000"/>
              <a:gd name="connsiteY5" fmla="*/ 1077686 h 1426029"/>
              <a:gd name="connsiteX6" fmla="*/ 8763000 w 8763000"/>
              <a:gd name="connsiteY6" fmla="*/ 1045029 h 1426029"/>
              <a:gd name="connsiteX7" fmla="*/ 8763000 w 8763000"/>
              <a:gd name="connsiteY7" fmla="*/ 43543 h 1426029"/>
              <a:gd name="connsiteX8" fmla="*/ 6901543 w 8763000"/>
              <a:gd name="connsiteY8" fmla="*/ 0 h 142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63000" h="1426029">
                <a:moveTo>
                  <a:pt x="6901543" y="0"/>
                </a:moveTo>
                <a:lnTo>
                  <a:pt x="6912429" y="315686"/>
                </a:lnTo>
                <a:lnTo>
                  <a:pt x="0" y="326572"/>
                </a:lnTo>
                <a:lnTo>
                  <a:pt x="10886" y="1426029"/>
                </a:lnTo>
                <a:lnTo>
                  <a:pt x="1240971" y="1426029"/>
                </a:lnTo>
                <a:lnTo>
                  <a:pt x="1240971" y="1077686"/>
                </a:lnTo>
                <a:lnTo>
                  <a:pt x="8763000" y="1045029"/>
                </a:lnTo>
                <a:lnTo>
                  <a:pt x="8763000" y="43543"/>
                </a:lnTo>
                <a:lnTo>
                  <a:pt x="6901543" y="0"/>
                </a:lnTo>
                <a:close/>
              </a:path>
            </a:pathLst>
          </a:cu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TextovéPole 27">
            <a:extLst>
              <a:ext uri="{FF2B5EF4-FFF2-40B4-BE49-F238E27FC236}">
                <a16:creationId xmlns:a16="http://schemas.microsoft.com/office/drawing/2014/main" id="{A3160AD7-5544-DEA5-AEE2-7FCE8E9F571D}"/>
              </a:ext>
            </a:extLst>
          </p:cNvPr>
          <p:cNvSpPr txBox="1"/>
          <p:nvPr/>
        </p:nvSpPr>
        <p:spPr>
          <a:xfrm>
            <a:off x="7271069" y="1022714"/>
            <a:ext cx="60524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600" b="1" i="0" u="none" strike="noStrike" kern="0" cap="none" spc="0" normalizeH="0" baseline="0" noProof="0" dirty="0" err="1">
                <a:ln>
                  <a:noFill/>
                </a:ln>
                <a:solidFill>
                  <a:schemeClr val="accent1">
                    <a:lumMod val="75000"/>
                  </a:schemeClr>
                </a:solidFill>
                <a:effectLst/>
                <a:uLnTx/>
                <a:uFillTx/>
                <a:latin typeface="Arial"/>
                <a:cs typeface="Arial"/>
                <a:sym typeface="Arial"/>
              </a:rPr>
              <a:t>Interpretations</a:t>
            </a:r>
            <a:endParaRPr kumimoji="0" lang="en-GB" sz="1600" b="1" i="0" u="none" strike="noStrike" kern="0" cap="none" spc="0" normalizeH="0" baseline="0" noProof="0" dirty="0">
              <a:ln>
                <a:noFill/>
              </a:ln>
              <a:solidFill>
                <a:schemeClr val="accent1">
                  <a:lumMod val="75000"/>
                </a:schemeClr>
              </a:solidFill>
              <a:effectLst/>
              <a:uLnTx/>
              <a:uFillTx/>
              <a:latin typeface="Arial"/>
              <a:cs typeface="Arial"/>
              <a:sym typeface="Arial"/>
            </a:endParaRPr>
          </a:p>
        </p:txBody>
      </p:sp>
    </p:spTree>
    <p:extLst>
      <p:ext uri="{BB962C8B-B14F-4D97-AF65-F5344CB8AC3E}">
        <p14:creationId xmlns:p14="http://schemas.microsoft.com/office/powerpoint/2010/main" val="39642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animBg="1"/>
      <p:bldP spid="15" grpId="0" animBg="1"/>
      <p:bldP spid="16" grpId="0" animBg="1"/>
      <p:bldP spid="22" grpId="0"/>
      <p:bldP spid="26" grpId="0"/>
      <p:bldP spid="2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50690"/>
            <a:ext cx="7772400" cy="1362075"/>
          </a:xfrm>
        </p:spPr>
        <p:txBody>
          <a:bodyPr>
            <a:normAutofit/>
          </a:bodyPr>
          <a:lstStyle/>
          <a:p>
            <a:pPr>
              <a:defRPr sz="4400"/>
            </a:pPr>
            <a:r>
              <a:rPr lang="en-US" sz="3600" b="1" dirty="0">
                <a:solidFill>
                  <a:srgbClr val="007A3D"/>
                </a:solidFill>
                <a:latin typeface="Calibri" panose="020F0502020204030204" pitchFamily="34" charset="0"/>
                <a:cs typeface="Calibri" panose="020F0502020204030204" pitchFamily="34" charset="0"/>
              </a:rPr>
              <a:t>OUTLINE</a:t>
            </a:r>
            <a:endParaRPr lang="en-GB" sz="3600" b="1" dirty="0">
              <a:solidFill>
                <a:srgbClr val="007A3D"/>
              </a:solidFill>
              <a:latin typeface="Calibri" panose="020F0502020204030204" pitchFamily="34" charset="0"/>
              <a:cs typeface="Calibri" panose="020F0502020204030204" pitchFamily="34" charset="0"/>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5" name="Title 1">
            <a:extLst>
              <a:ext uri="{FF2B5EF4-FFF2-40B4-BE49-F238E27FC236}">
                <a16:creationId xmlns:a16="http://schemas.microsoft.com/office/drawing/2014/main" id="{DF11E535-7BDD-3746-8BC7-C10327BBEF05}"/>
              </a:ext>
            </a:extLst>
          </p:cNvPr>
          <p:cNvSpPr txBox="1">
            <a:spLocks/>
          </p:cNvSpPr>
          <p:nvPr/>
        </p:nvSpPr>
        <p:spPr>
          <a:xfrm>
            <a:off x="726661" y="1832141"/>
            <a:ext cx="7772400" cy="259157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000" b="1" kern="1200" cap="all">
                <a:solidFill>
                  <a:schemeClr val="tx1"/>
                </a:solidFill>
                <a:latin typeface="+mj-lt"/>
                <a:ea typeface="+mj-ea"/>
                <a:cs typeface="+mj-cs"/>
              </a:defRPr>
            </a:lvl1pPr>
          </a:lstStyle>
          <a:p>
            <a:pPr marL="514350" indent="-514350">
              <a:buAutoNum type="arabicParenR"/>
            </a:pPr>
            <a:r>
              <a:rPr lang="cs-CZ" sz="2800" b="0" cap="none" dirty="0">
                <a:solidFill>
                  <a:schemeClr val="tx1">
                    <a:lumMod val="50000"/>
                    <a:lumOff val="50000"/>
                  </a:schemeClr>
                </a:solidFill>
              </a:rPr>
              <a:t>SAMPLE PRESENTATION</a:t>
            </a:r>
          </a:p>
          <a:p>
            <a:pPr marL="514350" indent="-514350">
              <a:buAutoNum type="arabicParenR"/>
            </a:pPr>
            <a:r>
              <a:rPr lang="cs-CZ" sz="2800" b="0" cap="none" dirty="0">
                <a:solidFill>
                  <a:schemeClr val="tx1">
                    <a:lumMod val="50000"/>
                    <a:lumOff val="50000"/>
                  </a:schemeClr>
                </a:solidFill>
              </a:rPr>
              <a:t>HANDS ON</a:t>
            </a:r>
          </a:p>
          <a:p>
            <a:pPr marL="514350" indent="-514350">
              <a:buAutoNum type="arabicParenR"/>
            </a:pPr>
            <a:r>
              <a:rPr lang="cs-CZ" sz="2800" b="0" cap="none" dirty="0">
                <a:solidFill>
                  <a:schemeClr val="tx1">
                    <a:lumMod val="50000"/>
                    <a:lumOff val="50000"/>
                  </a:schemeClr>
                </a:solidFill>
              </a:rPr>
              <a:t>INFO ABOUT EXCURSION 	2025-11-21</a:t>
            </a:r>
          </a:p>
          <a:p>
            <a:r>
              <a:rPr lang="cs-CZ" sz="2800" b="0" cap="none" dirty="0">
                <a:solidFill>
                  <a:schemeClr val="tx1">
                    <a:lumMod val="50000"/>
                    <a:lumOff val="50000"/>
                  </a:schemeClr>
                </a:solidFill>
              </a:rPr>
              <a:t>						HOMEWORK 	2025-11-28</a:t>
            </a:r>
            <a:endParaRPr lang="en-GB" sz="2800" b="0" cap="none" dirty="0">
              <a:solidFill>
                <a:schemeClr val="tx1">
                  <a:lumMod val="50000"/>
                  <a:lumOff val="50000"/>
                </a:schemeClr>
              </a:solidFill>
            </a:endParaRPr>
          </a:p>
        </p:txBody>
      </p:sp>
    </p:spTree>
    <p:extLst>
      <p:ext uri="{BB962C8B-B14F-4D97-AF65-F5344CB8AC3E}">
        <p14:creationId xmlns:p14="http://schemas.microsoft.com/office/powerpoint/2010/main" val="1979516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5">
                                            <p:txEl>
                                              <p:pRg st="0" end="0"/>
                                            </p:txEl>
                                          </p:spTgt>
                                        </p:tgtEl>
                                        <p:attrNameLst>
                                          <p:attrName>style.color</p:attrName>
                                        </p:attrNameLst>
                                      </p:cBhvr>
                                      <p:to>
                                        <a:schemeClr val="accent2"/>
                                      </p:to>
                                    </p:animClr>
                                    <p:animClr clrSpc="rgb" dir="cw">
                                      <p:cBhvr>
                                        <p:cTn id="7" dur="500" fill="hold"/>
                                        <p:tgtEl>
                                          <p:spTgt spid="5">
                                            <p:txEl>
                                              <p:pRg st="0" end="0"/>
                                            </p:txEl>
                                          </p:spTgt>
                                        </p:tgtEl>
                                        <p:attrNameLst>
                                          <p:attrName>fillcolor</p:attrName>
                                        </p:attrNameLst>
                                      </p:cBhvr>
                                      <p:to>
                                        <a:schemeClr val="accent2"/>
                                      </p:to>
                                    </p:animClr>
                                    <p:set>
                                      <p:cBhvr>
                                        <p:cTn id="8" dur="500" fill="hold"/>
                                        <p:tgtEl>
                                          <p:spTgt spid="5">
                                            <p:txEl>
                                              <p:pRg st="0" end="0"/>
                                            </p:txEl>
                                          </p:spTgt>
                                        </p:tgtEl>
                                        <p:attrNameLst>
                                          <p:attrName>fill.type</p:attrName>
                                        </p:attrNameLst>
                                      </p:cBhvr>
                                      <p:to>
                                        <p:strVal val="solid"/>
                                      </p:to>
                                    </p:set>
                                    <p:set>
                                      <p:cBhvr>
                                        <p:cTn id="9" dur="500" fill="hold"/>
                                        <p:tgtEl>
                                          <p:spTgt spid="5">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5">
                                            <p:txEl>
                                              <p:pRg st="2" end="2"/>
                                            </p:txEl>
                                          </p:spTgt>
                                        </p:tgtEl>
                                        <p:attrNameLst>
                                          <p:attrName>style.color</p:attrName>
                                        </p:attrNameLst>
                                      </p:cBhvr>
                                      <p:to>
                                        <a:schemeClr val="accent2"/>
                                      </p:to>
                                    </p:animClr>
                                    <p:animClr clrSpc="rgb" dir="cw">
                                      <p:cBhvr>
                                        <p:cTn id="14" dur="500" fill="hold"/>
                                        <p:tgtEl>
                                          <p:spTgt spid="5">
                                            <p:txEl>
                                              <p:pRg st="2" end="2"/>
                                            </p:txEl>
                                          </p:spTgt>
                                        </p:tgtEl>
                                        <p:attrNameLst>
                                          <p:attrName>fillcolor</p:attrName>
                                        </p:attrNameLst>
                                      </p:cBhvr>
                                      <p:to>
                                        <a:schemeClr val="accent2"/>
                                      </p:to>
                                    </p:animClr>
                                    <p:set>
                                      <p:cBhvr>
                                        <p:cTn id="15" dur="500" fill="hold"/>
                                        <p:tgtEl>
                                          <p:spTgt spid="5">
                                            <p:txEl>
                                              <p:pRg st="2" end="2"/>
                                            </p:txEl>
                                          </p:spTgt>
                                        </p:tgtEl>
                                        <p:attrNameLst>
                                          <p:attrName>fill.type</p:attrName>
                                        </p:attrNameLst>
                                      </p:cBhvr>
                                      <p:to>
                                        <p:strVal val="solid"/>
                                      </p:to>
                                    </p:set>
                                    <p:set>
                                      <p:cBhvr>
                                        <p:cTn id="16" dur="500" fill="hold"/>
                                        <p:tgtEl>
                                          <p:spTgt spid="5">
                                            <p:txEl>
                                              <p:pRg st="2" end="2"/>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5">
                                            <p:txEl>
                                              <p:pRg st="3" end="3"/>
                                            </p:txEl>
                                          </p:spTgt>
                                        </p:tgtEl>
                                        <p:attrNameLst>
                                          <p:attrName>style.color</p:attrName>
                                        </p:attrNameLst>
                                      </p:cBhvr>
                                      <p:to>
                                        <a:schemeClr val="accent2"/>
                                      </p:to>
                                    </p:animClr>
                                    <p:animClr clrSpc="rgb" dir="cw">
                                      <p:cBhvr>
                                        <p:cTn id="21" dur="500" fill="hold"/>
                                        <p:tgtEl>
                                          <p:spTgt spid="5">
                                            <p:txEl>
                                              <p:pRg st="3" end="3"/>
                                            </p:txEl>
                                          </p:spTgt>
                                        </p:tgtEl>
                                        <p:attrNameLst>
                                          <p:attrName>fillcolor</p:attrName>
                                        </p:attrNameLst>
                                      </p:cBhvr>
                                      <p:to>
                                        <a:schemeClr val="accent2"/>
                                      </p:to>
                                    </p:animClr>
                                    <p:set>
                                      <p:cBhvr>
                                        <p:cTn id="22" dur="500" fill="hold"/>
                                        <p:tgtEl>
                                          <p:spTgt spid="5">
                                            <p:txEl>
                                              <p:pRg st="3" end="3"/>
                                            </p:txEl>
                                          </p:spTgt>
                                        </p:tgtEl>
                                        <p:attrNameLst>
                                          <p:attrName>fill.type</p:attrName>
                                        </p:attrNameLst>
                                      </p:cBhvr>
                                      <p:to>
                                        <p:strVal val="solid"/>
                                      </p:to>
                                    </p:set>
                                    <p:set>
                                      <p:cBhvr>
                                        <p:cTn id="23" dur="500" fill="hold"/>
                                        <p:tgtEl>
                                          <p:spTgt spid="5">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636FAD2-ADA3-7CE0-A4E8-2F333B9FF268}"/>
              </a:ext>
            </a:extLst>
          </p:cNvPr>
          <p:cNvSpPr>
            <a:spLocks noGrp="1"/>
          </p:cNvSpPr>
          <p:nvPr>
            <p:ph type="title"/>
          </p:nvPr>
        </p:nvSpPr>
        <p:spPr>
          <a:xfrm>
            <a:off x="628650" y="55243"/>
            <a:ext cx="7886700" cy="854711"/>
          </a:xfrm>
        </p:spPr>
        <p:txBody>
          <a:bodyPr>
            <a:normAutofit/>
          </a:bodyPr>
          <a:lstStyle/>
          <a:p>
            <a:r>
              <a:rPr lang="cs-CZ" sz="3600" dirty="0">
                <a:solidFill>
                  <a:srgbClr val="007A3D"/>
                </a:solidFill>
              </a:rPr>
              <a:t>BEFORE EXCURSION</a:t>
            </a:r>
            <a:endParaRPr lang="en-GB" sz="3600" dirty="0">
              <a:solidFill>
                <a:srgbClr val="007A3D"/>
              </a:solidFill>
            </a:endParaRPr>
          </a:p>
        </p:txBody>
      </p:sp>
      <p:sp>
        <p:nvSpPr>
          <p:cNvPr id="3" name="Zástupný text 2">
            <a:extLst>
              <a:ext uri="{FF2B5EF4-FFF2-40B4-BE49-F238E27FC236}">
                <a16:creationId xmlns:a16="http://schemas.microsoft.com/office/drawing/2014/main" id="{01F8D651-8984-A9D6-E69D-B6FFEA5B15FD}"/>
              </a:ext>
            </a:extLst>
          </p:cNvPr>
          <p:cNvSpPr>
            <a:spLocks noGrp="1"/>
          </p:cNvSpPr>
          <p:nvPr>
            <p:ph type="body" idx="1"/>
          </p:nvPr>
        </p:nvSpPr>
        <p:spPr>
          <a:xfrm>
            <a:off x="428625" y="993365"/>
            <a:ext cx="8286750" cy="4697730"/>
          </a:xfrm>
        </p:spPr>
        <p:txBody>
          <a:bodyPr>
            <a:normAutofit/>
          </a:bodyPr>
          <a:lstStyle/>
          <a:p>
            <a:r>
              <a:rPr lang="cs-CZ" sz="3500" dirty="0">
                <a:solidFill>
                  <a:schemeClr val="bg1">
                    <a:lumMod val="50000"/>
                  </a:schemeClr>
                </a:solidFill>
              </a:rPr>
              <a:t>MERLIN</a:t>
            </a:r>
          </a:p>
          <a:p>
            <a:pPr marL="228600" indent="0"/>
            <a:r>
              <a:rPr lang="cs-CZ" dirty="0" err="1">
                <a:solidFill>
                  <a:schemeClr val="bg1">
                    <a:lumMod val="50000"/>
                  </a:schemeClr>
                </a:solidFill>
              </a:rPr>
              <a:t>Download</a:t>
            </a:r>
            <a:r>
              <a:rPr lang="cs-CZ" dirty="0">
                <a:solidFill>
                  <a:schemeClr val="bg1">
                    <a:lumMod val="50000"/>
                  </a:schemeClr>
                </a:solidFill>
              </a:rPr>
              <a:t> </a:t>
            </a:r>
            <a:r>
              <a:rPr lang="cs-CZ" dirty="0" err="1">
                <a:solidFill>
                  <a:schemeClr val="bg1">
                    <a:lumMod val="50000"/>
                  </a:schemeClr>
                </a:solidFill>
              </a:rPr>
              <a:t>app</a:t>
            </a:r>
            <a:r>
              <a:rPr lang="cs-CZ" dirty="0">
                <a:solidFill>
                  <a:schemeClr val="bg1">
                    <a:lumMod val="50000"/>
                  </a:schemeClr>
                </a:solidFill>
              </a:rPr>
              <a:t> to </a:t>
            </a:r>
            <a:r>
              <a:rPr lang="cs-CZ" dirty="0" err="1">
                <a:solidFill>
                  <a:schemeClr val="bg1">
                    <a:lumMod val="50000"/>
                  </a:schemeClr>
                </a:solidFill>
              </a:rPr>
              <a:t>your</a:t>
            </a:r>
            <a:r>
              <a:rPr lang="cs-CZ" dirty="0">
                <a:solidFill>
                  <a:schemeClr val="bg1">
                    <a:lumMod val="50000"/>
                  </a:schemeClr>
                </a:solidFill>
              </a:rPr>
              <a:t> </a:t>
            </a:r>
            <a:r>
              <a:rPr lang="cs-CZ" dirty="0" err="1">
                <a:solidFill>
                  <a:schemeClr val="bg1">
                    <a:lumMod val="50000"/>
                  </a:schemeClr>
                </a:solidFill>
              </a:rPr>
              <a:t>phone</a:t>
            </a:r>
            <a:br>
              <a:rPr lang="cs-CZ" dirty="0">
                <a:solidFill>
                  <a:schemeClr val="bg1">
                    <a:lumMod val="50000"/>
                  </a:schemeClr>
                </a:solidFill>
              </a:rPr>
            </a:br>
            <a:endParaRPr lang="cs-CZ" dirty="0"/>
          </a:p>
          <a:p>
            <a:pPr marL="228600" indent="0"/>
            <a:endParaRPr lang="cs-CZ" dirty="0"/>
          </a:p>
          <a:p>
            <a:pPr marL="685800" indent="-457200">
              <a:buAutoNum type="arabicPeriod"/>
            </a:pPr>
            <a:endParaRPr lang="cs-CZ" dirty="0"/>
          </a:p>
          <a:p>
            <a:pPr marL="685800" indent="-457200">
              <a:buAutoNum type="arabicPeriod"/>
            </a:pPr>
            <a:endParaRPr lang="en-GB" dirty="0"/>
          </a:p>
        </p:txBody>
      </p:sp>
      <p:pic>
        <p:nvPicPr>
          <p:cNvPr id="5" name="Obrázek 4">
            <a:extLst>
              <a:ext uri="{FF2B5EF4-FFF2-40B4-BE49-F238E27FC236}">
                <a16:creationId xmlns:a16="http://schemas.microsoft.com/office/drawing/2014/main" id="{54802E35-C483-6610-EF87-55747FBE0099}"/>
              </a:ext>
            </a:extLst>
          </p:cNvPr>
          <p:cNvPicPr>
            <a:picLocks noChangeAspect="1"/>
          </p:cNvPicPr>
          <p:nvPr/>
        </p:nvPicPr>
        <p:blipFill>
          <a:blip r:embed="rId3"/>
          <a:stretch>
            <a:fillRect/>
          </a:stretch>
        </p:blipFill>
        <p:spPr>
          <a:xfrm>
            <a:off x="7016751" y="55243"/>
            <a:ext cx="1898649" cy="1898649"/>
          </a:xfrm>
          <a:prstGeom prst="rect">
            <a:avLst/>
          </a:prstGeom>
        </p:spPr>
      </p:pic>
      <p:pic>
        <p:nvPicPr>
          <p:cNvPr id="2052" name="Picture 4" descr="The free Merlin app puts the magic into bird identification - Flying Lessons">
            <a:extLst>
              <a:ext uri="{FF2B5EF4-FFF2-40B4-BE49-F238E27FC236}">
                <a16:creationId xmlns:a16="http://schemas.microsoft.com/office/drawing/2014/main" id="{5DB93A51-51AC-927A-09EC-34D332347F1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558"/>
          <a:stretch/>
        </p:blipFill>
        <p:spPr bwMode="auto">
          <a:xfrm>
            <a:off x="6003274" y="2892014"/>
            <a:ext cx="2712101" cy="1690547"/>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Skupina 9">
            <a:extLst>
              <a:ext uri="{FF2B5EF4-FFF2-40B4-BE49-F238E27FC236}">
                <a16:creationId xmlns:a16="http://schemas.microsoft.com/office/drawing/2014/main" id="{616F3433-3692-8053-492B-D7F5B2C13C4E}"/>
              </a:ext>
            </a:extLst>
          </p:cNvPr>
          <p:cNvGrpSpPr/>
          <p:nvPr/>
        </p:nvGrpSpPr>
        <p:grpSpPr>
          <a:xfrm>
            <a:off x="628650" y="2295606"/>
            <a:ext cx="2110456" cy="2489213"/>
            <a:chOff x="628650" y="2425686"/>
            <a:chExt cx="2110456" cy="2489213"/>
          </a:xfrm>
        </p:grpSpPr>
        <p:pic>
          <p:nvPicPr>
            <p:cNvPr id="9" name="Obrázek 8">
              <a:extLst>
                <a:ext uri="{FF2B5EF4-FFF2-40B4-BE49-F238E27FC236}">
                  <a16:creationId xmlns:a16="http://schemas.microsoft.com/office/drawing/2014/main" id="{F2A66F6B-F341-2AAE-9C9E-6413A10ABD44}"/>
                </a:ext>
              </a:extLst>
            </p:cNvPr>
            <p:cNvPicPr>
              <a:picLocks noChangeAspect="1"/>
            </p:cNvPicPr>
            <p:nvPr/>
          </p:nvPicPr>
          <p:blipFill>
            <a:blip r:embed="rId5"/>
            <a:stretch>
              <a:fillRect/>
            </a:stretch>
          </p:blipFill>
          <p:spPr>
            <a:xfrm>
              <a:off x="628650" y="2804443"/>
              <a:ext cx="2110456" cy="2110456"/>
            </a:xfrm>
            <a:prstGeom prst="rect">
              <a:avLst/>
            </a:prstGeom>
          </p:spPr>
        </p:pic>
        <p:pic>
          <p:nvPicPr>
            <p:cNvPr id="2054" name="Picture 6">
              <a:extLst>
                <a:ext uri="{FF2B5EF4-FFF2-40B4-BE49-F238E27FC236}">
                  <a16:creationId xmlns:a16="http://schemas.microsoft.com/office/drawing/2014/main" id="{E3779CDF-B59A-5A45-40A6-AB78624FAC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720" y="2425686"/>
              <a:ext cx="1758315" cy="34749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Skupina 10">
            <a:extLst>
              <a:ext uri="{FF2B5EF4-FFF2-40B4-BE49-F238E27FC236}">
                <a16:creationId xmlns:a16="http://schemas.microsoft.com/office/drawing/2014/main" id="{A4F0FC8E-E2E2-3229-B1F0-D91C3CFDBF58}"/>
              </a:ext>
            </a:extLst>
          </p:cNvPr>
          <p:cNvGrpSpPr/>
          <p:nvPr/>
        </p:nvGrpSpPr>
        <p:grpSpPr>
          <a:xfrm>
            <a:off x="3264694" y="2272764"/>
            <a:ext cx="2110456" cy="2512055"/>
            <a:chOff x="3654600" y="2402844"/>
            <a:chExt cx="2110456" cy="2512055"/>
          </a:xfrm>
        </p:grpSpPr>
        <p:pic>
          <p:nvPicPr>
            <p:cNvPr id="7" name="Obrázek 6">
              <a:extLst>
                <a:ext uri="{FF2B5EF4-FFF2-40B4-BE49-F238E27FC236}">
                  <a16:creationId xmlns:a16="http://schemas.microsoft.com/office/drawing/2014/main" id="{5FF05CB9-F2FA-AD9F-6BCF-3E985B85BA3B}"/>
                </a:ext>
              </a:extLst>
            </p:cNvPr>
            <p:cNvPicPr>
              <a:picLocks noChangeAspect="1"/>
            </p:cNvPicPr>
            <p:nvPr/>
          </p:nvPicPr>
          <p:blipFill>
            <a:blip r:embed="rId7"/>
            <a:stretch>
              <a:fillRect/>
            </a:stretch>
          </p:blipFill>
          <p:spPr>
            <a:xfrm>
              <a:off x="3654600" y="2804443"/>
              <a:ext cx="2110456" cy="2110456"/>
            </a:xfrm>
            <a:prstGeom prst="rect">
              <a:avLst/>
            </a:prstGeom>
          </p:spPr>
        </p:pic>
        <p:pic>
          <p:nvPicPr>
            <p:cNvPr id="2056" name="Picture 8">
              <a:extLst>
                <a:ext uri="{FF2B5EF4-FFF2-40B4-BE49-F238E27FC236}">
                  <a16:creationId xmlns:a16="http://schemas.microsoft.com/office/drawing/2014/main" id="{39934D10-FEEE-0A4B-4F52-5EDAA1B420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4613" y="2402844"/>
              <a:ext cx="1758315" cy="38682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80766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text 2">
            <a:extLst>
              <a:ext uri="{FF2B5EF4-FFF2-40B4-BE49-F238E27FC236}">
                <a16:creationId xmlns:a16="http://schemas.microsoft.com/office/drawing/2014/main" id="{47E331FF-A1B8-2FE4-8999-048EC1CB5433}"/>
              </a:ext>
            </a:extLst>
          </p:cNvPr>
          <p:cNvSpPr txBox="1">
            <a:spLocks/>
          </p:cNvSpPr>
          <p:nvPr/>
        </p:nvSpPr>
        <p:spPr>
          <a:xfrm>
            <a:off x="428625" y="1206522"/>
            <a:ext cx="8286750" cy="4971862"/>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r>
              <a:rPr lang="cs-CZ" sz="3500" dirty="0">
                <a:solidFill>
                  <a:schemeClr val="bg1">
                    <a:lumMod val="50000"/>
                  </a:schemeClr>
                </a:solidFill>
              </a:rPr>
              <a:t>EPICOLLECT</a:t>
            </a:r>
          </a:p>
          <a:p>
            <a:pPr marL="228600" indent="0"/>
            <a:r>
              <a:rPr lang="cs-CZ" dirty="0" err="1">
                <a:solidFill>
                  <a:schemeClr val="bg1">
                    <a:lumMod val="50000"/>
                  </a:schemeClr>
                </a:solidFill>
              </a:rPr>
              <a:t>Download</a:t>
            </a:r>
            <a:r>
              <a:rPr lang="cs-CZ" dirty="0">
                <a:solidFill>
                  <a:schemeClr val="bg1">
                    <a:lumMod val="50000"/>
                  </a:schemeClr>
                </a:solidFill>
              </a:rPr>
              <a:t> </a:t>
            </a:r>
            <a:r>
              <a:rPr lang="cs-CZ" dirty="0" err="1">
                <a:solidFill>
                  <a:schemeClr val="bg1">
                    <a:lumMod val="50000"/>
                  </a:schemeClr>
                </a:solidFill>
              </a:rPr>
              <a:t>app</a:t>
            </a:r>
            <a:r>
              <a:rPr lang="cs-CZ" dirty="0">
                <a:solidFill>
                  <a:schemeClr val="bg1">
                    <a:lumMod val="50000"/>
                  </a:schemeClr>
                </a:solidFill>
              </a:rPr>
              <a:t> to </a:t>
            </a:r>
            <a:r>
              <a:rPr lang="cs-CZ" dirty="0" err="1">
                <a:solidFill>
                  <a:schemeClr val="bg1">
                    <a:lumMod val="50000"/>
                  </a:schemeClr>
                </a:solidFill>
              </a:rPr>
              <a:t>your</a:t>
            </a:r>
            <a:r>
              <a:rPr lang="cs-CZ" dirty="0">
                <a:solidFill>
                  <a:schemeClr val="bg1">
                    <a:lumMod val="50000"/>
                  </a:schemeClr>
                </a:solidFill>
              </a:rPr>
              <a:t> </a:t>
            </a:r>
            <a:r>
              <a:rPr lang="cs-CZ" dirty="0" err="1">
                <a:solidFill>
                  <a:schemeClr val="bg1">
                    <a:lumMod val="50000"/>
                  </a:schemeClr>
                </a:solidFill>
              </a:rPr>
              <a:t>phone</a:t>
            </a:r>
            <a:endParaRPr lang="cs-CZ" dirty="0">
              <a:solidFill>
                <a:schemeClr val="bg1">
                  <a:lumMod val="50000"/>
                </a:schemeClr>
              </a:solidFill>
            </a:endParaRPr>
          </a:p>
          <a:p>
            <a:pPr marL="228600" indent="0"/>
            <a:endParaRPr lang="cs-CZ" dirty="0">
              <a:solidFill>
                <a:schemeClr val="bg1">
                  <a:lumMod val="50000"/>
                </a:schemeClr>
              </a:solidFill>
            </a:endParaRPr>
          </a:p>
          <a:p>
            <a:pPr marL="228600" indent="0"/>
            <a:endParaRPr lang="cs-CZ" dirty="0">
              <a:solidFill>
                <a:schemeClr val="bg1">
                  <a:lumMod val="50000"/>
                </a:schemeClr>
              </a:solidFill>
            </a:endParaRPr>
          </a:p>
          <a:p>
            <a:pPr marL="228600" indent="0"/>
            <a:endParaRPr lang="cs-CZ" dirty="0">
              <a:solidFill>
                <a:schemeClr val="bg1">
                  <a:lumMod val="50000"/>
                </a:schemeClr>
              </a:solidFill>
            </a:endParaRPr>
          </a:p>
          <a:p>
            <a:pPr marL="228600" indent="0"/>
            <a:endParaRPr lang="cs-CZ" dirty="0">
              <a:solidFill>
                <a:schemeClr val="bg1">
                  <a:lumMod val="50000"/>
                </a:schemeClr>
              </a:solidFill>
            </a:endParaRPr>
          </a:p>
          <a:p>
            <a:pPr marL="228600" indent="0"/>
            <a:endParaRPr lang="cs-CZ" dirty="0">
              <a:solidFill>
                <a:schemeClr val="bg1">
                  <a:lumMod val="50000"/>
                </a:schemeClr>
              </a:solidFill>
            </a:endParaRPr>
          </a:p>
          <a:p>
            <a:pPr marL="228600" indent="0"/>
            <a:endParaRPr lang="cs-CZ" dirty="0">
              <a:solidFill>
                <a:schemeClr val="bg1">
                  <a:lumMod val="50000"/>
                </a:schemeClr>
              </a:solidFill>
            </a:endParaRPr>
          </a:p>
          <a:p>
            <a:pPr marL="228600" indent="0"/>
            <a:endParaRPr lang="cs-CZ" dirty="0">
              <a:solidFill>
                <a:schemeClr val="bg1">
                  <a:lumMod val="50000"/>
                </a:schemeClr>
              </a:solidFill>
            </a:endParaRPr>
          </a:p>
          <a:p>
            <a:pPr marL="228600" indent="0"/>
            <a:endParaRPr lang="cs-CZ" dirty="0">
              <a:solidFill>
                <a:schemeClr val="bg1">
                  <a:lumMod val="50000"/>
                </a:schemeClr>
              </a:solidFill>
            </a:endParaRPr>
          </a:p>
          <a:p>
            <a:pPr marL="228600" indent="0"/>
            <a:r>
              <a:rPr lang="cs-CZ" dirty="0" err="1">
                <a:solidFill>
                  <a:schemeClr val="bg1">
                    <a:lumMod val="50000"/>
                  </a:schemeClr>
                </a:solidFill>
              </a:rPr>
              <a:t>Locate</a:t>
            </a:r>
            <a:r>
              <a:rPr lang="cs-CZ" dirty="0">
                <a:solidFill>
                  <a:schemeClr val="bg1">
                    <a:lumMod val="50000"/>
                  </a:schemeClr>
                </a:solidFill>
              </a:rPr>
              <a:t> </a:t>
            </a:r>
            <a:r>
              <a:rPr lang="cs-CZ" dirty="0" err="1">
                <a:solidFill>
                  <a:schemeClr val="bg1">
                    <a:lumMod val="50000"/>
                  </a:schemeClr>
                </a:solidFill>
              </a:rPr>
              <a:t>project</a:t>
            </a:r>
            <a:r>
              <a:rPr lang="cs-CZ" dirty="0">
                <a:solidFill>
                  <a:schemeClr val="bg1">
                    <a:lumMod val="50000"/>
                  </a:schemeClr>
                </a:solidFill>
              </a:rPr>
              <a:t>: </a:t>
            </a:r>
          </a:p>
          <a:p>
            <a:pPr marL="228600" indent="0"/>
            <a:r>
              <a:rPr lang="cs-CZ" sz="2000" dirty="0">
                <a:solidFill>
                  <a:schemeClr val="bg1">
                    <a:lumMod val="50000"/>
                  </a:schemeClr>
                </a:solidFill>
              </a:rPr>
              <a:t>https://</a:t>
            </a:r>
            <a:r>
              <a:rPr lang="cs-CZ" sz="2000" dirty="0" err="1">
                <a:solidFill>
                  <a:schemeClr val="bg1">
                    <a:lumMod val="50000"/>
                  </a:schemeClr>
                </a:solidFill>
              </a:rPr>
              <a:t>five.epicollect.net</a:t>
            </a:r>
            <a:r>
              <a:rPr lang="cs-CZ" sz="2000" dirty="0">
                <a:solidFill>
                  <a:schemeClr val="bg1">
                    <a:lumMod val="50000"/>
                  </a:schemeClr>
                </a:solidFill>
              </a:rPr>
              <a:t>/</a:t>
            </a:r>
            <a:r>
              <a:rPr lang="cs-CZ" sz="2000" dirty="0" err="1">
                <a:solidFill>
                  <a:schemeClr val="bg1">
                    <a:lumMod val="50000"/>
                  </a:schemeClr>
                </a:solidFill>
              </a:rPr>
              <a:t>project</a:t>
            </a:r>
            <a:r>
              <a:rPr lang="cs-CZ" sz="2000" dirty="0">
                <a:solidFill>
                  <a:schemeClr val="bg1">
                    <a:lumMod val="50000"/>
                  </a:schemeClr>
                </a:solidFill>
              </a:rPr>
              <a:t>/</a:t>
            </a:r>
            <a:r>
              <a:rPr lang="cs-CZ" sz="2000" b="1" dirty="0" err="1">
                <a:solidFill>
                  <a:schemeClr val="bg1">
                    <a:lumMod val="50000"/>
                  </a:schemeClr>
                </a:solidFill>
              </a:rPr>
              <a:t>escapecollector-teaching</a:t>
            </a:r>
            <a:br>
              <a:rPr lang="cs-CZ" sz="2000" b="1" dirty="0">
                <a:solidFill>
                  <a:schemeClr val="bg1">
                    <a:lumMod val="50000"/>
                  </a:schemeClr>
                </a:solidFill>
              </a:rPr>
            </a:br>
            <a:endParaRPr lang="cs-CZ" sz="2000" b="1" dirty="0"/>
          </a:p>
          <a:p>
            <a:pPr marL="228600" indent="0"/>
            <a:endParaRPr lang="cs-CZ" dirty="0"/>
          </a:p>
          <a:p>
            <a:pPr marL="685800" indent="-457200">
              <a:buFont typeface="Arial"/>
              <a:buAutoNum type="arabicPeriod"/>
            </a:pPr>
            <a:endParaRPr lang="cs-CZ" dirty="0"/>
          </a:p>
          <a:p>
            <a:pPr marL="685800" indent="-457200">
              <a:buFont typeface="Arial"/>
              <a:buAutoNum type="arabicPeriod"/>
            </a:pPr>
            <a:endParaRPr lang="en-GB" dirty="0"/>
          </a:p>
        </p:txBody>
      </p:sp>
      <p:pic>
        <p:nvPicPr>
          <p:cNvPr id="6" name="Obrázek 5">
            <a:extLst>
              <a:ext uri="{FF2B5EF4-FFF2-40B4-BE49-F238E27FC236}">
                <a16:creationId xmlns:a16="http://schemas.microsoft.com/office/drawing/2014/main" id="{9BC71B21-2CC3-A0D8-5ECC-349EB8281FB1}"/>
              </a:ext>
            </a:extLst>
          </p:cNvPr>
          <p:cNvPicPr>
            <a:picLocks noChangeAspect="1"/>
          </p:cNvPicPr>
          <p:nvPr/>
        </p:nvPicPr>
        <p:blipFill>
          <a:blip r:embed="rId3"/>
          <a:stretch>
            <a:fillRect/>
          </a:stretch>
        </p:blipFill>
        <p:spPr>
          <a:xfrm>
            <a:off x="7182802" y="271854"/>
            <a:ext cx="1961198" cy="1961198"/>
          </a:xfrm>
          <a:prstGeom prst="rect">
            <a:avLst/>
          </a:prstGeom>
        </p:spPr>
      </p:pic>
      <p:grpSp>
        <p:nvGrpSpPr>
          <p:cNvPr id="10" name="Skupina 9">
            <a:extLst>
              <a:ext uri="{FF2B5EF4-FFF2-40B4-BE49-F238E27FC236}">
                <a16:creationId xmlns:a16="http://schemas.microsoft.com/office/drawing/2014/main" id="{927D063D-D60A-B020-6FFE-D833ED83785F}"/>
              </a:ext>
            </a:extLst>
          </p:cNvPr>
          <p:cNvGrpSpPr/>
          <p:nvPr/>
        </p:nvGrpSpPr>
        <p:grpSpPr>
          <a:xfrm>
            <a:off x="607552" y="2346536"/>
            <a:ext cx="2152650" cy="2500143"/>
            <a:chOff x="607552" y="2184393"/>
            <a:chExt cx="2152650" cy="2500143"/>
          </a:xfrm>
        </p:grpSpPr>
        <p:pic>
          <p:nvPicPr>
            <p:cNvPr id="8" name="Obrázek 7">
              <a:extLst>
                <a:ext uri="{FF2B5EF4-FFF2-40B4-BE49-F238E27FC236}">
                  <a16:creationId xmlns:a16="http://schemas.microsoft.com/office/drawing/2014/main" id="{C3F4354E-4E1D-8D8F-94C0-788399D68A9D}"/>
                </a:ext>
              </a:extLst>
            </p:cNvPr>
            <p:cNvPicPr>
              <a:picLocks noChangeAspect="1"/>
            </p:cNvPicPr>
            <p:nvPr/>
          </p:nvPicPr>
          <p:blipFill>
            <a:blip r:embed="rId4"/>
            <a:stretch>
              <a:fillRect/>
            </a:stretch>
          </p:blipFill>
          <p:spPr>
            <a:xfrm>
              <a:off x="607552" y="2531886"/>
              <a:ext cx="2152650" cy="2152650"/>
            </a:xfrm>
            <a:prstGeom prst="rect">
              <a:avLst/>
            </a:prstGeom>
          </p:spPr>
        </p:pic>
        <p:pic>
          <p:nvPicPr>
            <p:cNvPr id="9" name="Picture 6">
              <a:extLst>
                <a:ext uri="{FF2B5EF4-FFF2-40B4-BE49-F238E27FC236}">
                  <a16:creationId xmlns:a16="http://schemas.microsoft.com/office/drawing/2014/main" id="{04EBCF7A-83DE-0A58-0A18-3F4957BF7D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720" y="2184393"/>
              <a:ext cx="1758315" cy="34749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Skupina 13">
            <a:extLst>
              <a:ext uri="{FF2B5EF4-FFF2-40B4-BE49-F238E27FC236}">
                <a16:creationId xmlns:a16="http://schemas.microsoft.com/office/drawing/2014/main" id="{90E6E3D7-C86D-0A86-C182-2A3938481CCD}"/>
              </a:ext>
            </a:extLst>
          </p:cNvPr>
          <p:cNvGrpSpPr/>
          <p:nvPr/>
        </p:nvGrpSpPr>
        <p:grpSpPr>
          <a:xfrm>
            <a:off x="3371850" y="2307200"/>
            <a:ext cx="2152650" cy="2539479"/>
            <a:chOff x="3371850" y="2492550"/>
            <a:chExt cx="2152650" cy="2539479"/>
          </a:xfrm>
        </p:grpSpPr>
        <p:pic>
          <p:nvPicPr>
            <p:cNvPr id="12" name="Obrázek 11">
              <a:extLst>
                <a:ext uri="{FF2B5EF4-FFF2-40B4-BE49-F238E27FC236}">
                  <a16:creationId xmlns:a16="http://schemas.microsoft.com/office/drawing/2014/main" id="{8E94F1F2-0771-111D-6112-6543B69C4555}"/>
                </a:ext>
              </a:extLst>
            </p:cNvPr>
            <p:cNvPicPr>
              <a:picLocks noChangeAspect="1"/>
            </p:cNvPicPr>
            <p:nvPr/>
          </p:nvPicPr>
          <p:blipFill>
            <a:blip r:embed="rId6"/>
            <a:stretch>
              <a:fillRect/>
            </a:stretch>
          </p:blipFill>
          <p:spPr>
            <a:xfrm>
              <a:off x="3371850" y="2879379"/>
              <a:ext cx="2152650" cy="2152650"/>
            </a:xfrm>
            <a:prstGeom prst="rect">
              <a:avLst/>
            </a:prstGeom>
          </p:spPr>
        </p:pic>
        <p:pic>
          <p:nvPicPr>
            <p:cNvPr id="13" name="Picture 8">
              <a:extLst>
                <a:ext uri="{FF2B5EF4-FFF2-40B4-BE49-F238E27FC236}">
                  <a16:creationId xmlns:a16="http://schemas.microsoft.com/office/drawing/2014/main" id="{3F03B10D-106C-7CAE-6105-0DBD1939FC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6482" y="2492550"/>
              <a:ext cx="1758315" cy="386829"/>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Obrázek 15">
            <a:extLst>
              <a:ext uri="{FF2B5EF4-FFF2-40B4-BE49-F238E27FC236}">
                <a16:creationId xmlns:a16="http://schemas.microsoft.com/office/drawing/2014/main" id="{319473D8-078C-4696-9E39-33E5220B3338}"/>
              </a:ext>
            </a:extLst>
          </p:cNvPr>
          <p:cNvPicPr>
            <a:picLocks noChangeAspect="1"/>
          </p:cNvPicPr>
          <p:nvPr/>
        </p:nvPicPr>
        <p:blipFill>
          <a:blip r:embed="rId8"/>
          <a:stretch>
            <a:fillRect/>
          </a:stretch>
        </p:blipFill>
        <p:spPr>
          <a:xfrm>
            <a:off x="7475292" y="2233052"/>
            <a:ext cx="1545907" cy="3440515"/>
          </a:xfrm>
          <a:prstGeom prst="rect">
            <a:avLst/>
          </a:prstGeom>
        </p:spPr>
      </p:pic>
      <p:sp>
        <p:nvSpPr>
          <p:cNvPr id="17" name="Nadpis 1">
            <a:extLst>
              <a:ext uri="{FF2B5EF4-FFF2-40B4-BE49-F238E27FC236}">
                <a16:creationId xmlns:a16="http://schemas.microsoft.com/office/drawing/2014/main" id="{395E3F07-4074-D746-9D6B-F8C181A6FC34}"/>
              </a:ext>
            </a:extLst>
          </p:cNvPr>
          <p:cNvSpPr>
            <a:spLocks noGrp="1"/>
          </p:cNvSpPr>
          <p:nvPr>
            <p:ph type="title"/>
          </p:nvPr>
        </p:nvSpPr>
        <p:spPr>
          <a:xfrm>
            <a:off x="628650" y="55243"/>
            <a:ext cx="7886700" cy="854711"/>
          </a:xfrm>
        </p:spPr>
        <p:txBody>
          <a:bodyPr>
            <a:normAutofit/>
          </a:bodyPr>
          <a:lstStyle/>
          <a:p>
            <a:r>
              <a:rPr lang="cs-CZ" sz="3600" dirty="0">
                <a:solidFill>
                  <a:srgbClr val="007A3D"/>
                </a:solidFill>
              </a:rPr>
              <a:t>BEFORE EXCURSION</a:t>
            </a:r>
            <a:endParaRPr lang="en-GB" sz="3600" dirty="0">
              <a:solidFill>
                <a:srgbClr val="007A3D"/>
              </a:solidFill>
            </a:endParaRPr>
          </a:p>
        </p:txBody>
      </p:sp>
    </p:spTree>
    <p:extLst>
      <p:ext uri="{BB962C8B-B14F-4D97-AF65-F5344CB8AC3E}">
        <p14:creationId xmlns:p14="http://schemas.microsoft.com/office/powerpoint/2010/main" val="18420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56CE6A9-BD30-FB56-D93B-2113D309212B}"/>
              </a:ext>
            </a:extLst>
          </p:cNvPr>
          <p:cNvSpPr>
            <a:spLocks noGrp="1"/>
          </p:cNvSpPr>
          <p:nvPr>
            <p:ph type="title"/>
          </p:nvPr>
        </p:nvSpPr>
        <p:spPr>
          <a:xfrm>
            <a:off x="623888" y="209552"/>
            <a:ext cx="7886700" cy="919161"/>
          </a:xfrm>
        </p:spPr>
        <p:txBody>
          <a:bodyPr>
            <a:normAutofit/>
          </a:bodyPr>
          <a:lstStyle/>
          <a:p>
            <a:r>
              <a:rPr lang="cs-CZ" sz="3600" dirty="0">
                <a:solidFill>
                  <a:srgbClr val="007A3D"/>
                </a:solidFill>
              </a:rPr>
              <a:t>EXCURSION</a:t>
            </a:r>
            <a:endParaRPr lang="en-GB" sz="3600" dirty="0">
              <a:solidFill>
                <a:srgbClr val="007A3D"/>
              </a:solidFill>
            </a:endParaRPr>
          </a:p>
        </p:txBody>
      </p:sp>
      <p:sp>
        <p:nvSpPr>
          <p:cNvPr id="3" name="Zástupný text 2">
            <a:extLst>
              <a:ext uri="{FF2B5EF4-FFF2-40B4-BE49-F238E27FC236}">
                <a16:creationId xmlns:a16="http://schemas.microsoft.com/office/drawing/2014/main" id="{2C0FAF42-7D9B-183C-ABCE-DEA60565D7E2}"/>
              </a:ext>
            </a:extLst>
          </p:cNvPr>
          <p:cNvSpPr>
            <a:spLocks noGrp="1"/>
          </p:cNvSpPr>
          <p:nvPr>
            <p:ph type="body" idx="1"/>
          </p:nvPr>
        </p:nvSpPr>
        <p:spPr>
          <a:xfrm>
            <a:off x="443915" y="1096134"/>
            <a:ext cx="8389620" cy="2337116"/>
          </a:xfrm>
        </p:spPr>
        <p:txBody>
          <a:bodyPr>
            <a:normAutofit/>
          </a:bodyPr>
          <a:lstStyle/>
          <a:p>
            <a:r>
              <a:rPr lang="cs-CZ" dirty="0" err="1"/>
              <a:t>Starting</a:t>
            </a:r>
            <a:r>
              <a:rPr lang="cs-CZ" dirty="0"/>
              <a:t> point: </a:t>
            </a:r>
            <a:r>
              <a:rPr lang="cs-CZ" b="1" dirty="0"/>
              <a:t>Stromovka</a:t>
            </a:r>
            <a:r>
              <a:rPr lang="cs-CZ" dirty="0"/>
              <a:t> </a:t>
            </a:r>
          </a:p>
          <a:p>
            <a:r>
              <a:rPr lang="cs-CZ" dirty="0"/>
              <a:t>Meeting point: </a:t>
            </a:r>
            <a:r>
              <a:rPr lang="cs-CZ" dirty="0">
                <a:hlinkClick r:id="rId3"/>
              </a:rPr>
              <a:t>https://mapy.com/s/kalokepuma</a:t>
            </a:r>
            <a:endParaRPr lang="cs-CZ" dirty="0"/>
          </a:p>
          <a:p>
            <a:r>
              <a:rPr lang="cs-CZ" dirty="0" err="1"/>
              <a:t>Time</a:t>
            </a:r>
            <a:r>
              <a:rPr lang="cs-CZ" dirty="0"/>
              <a:t>: 08:00		</a:t>
            </a:r>
            <a:r>
              <a:rPr lang="cs-CZ" dirty="0" err="1"/>
              <a:t>Date</a:t>
            </a:r>
            <a:r>
              <a:rPr lang="cs-CZ" dirty="0"/>
              <a:t>: 2025-11-21</a:t>
            </a:r>
            <a:endParaRPr lang="en-GB" dirty="0"/>
          </a:p>
        </p:txBody>
      </p:sp>
      <p:sp>
        <p:nvSpPr>
          <p:cNvPr id="6" name="Rovnoramenný trojúhelník 5">
            <a:extLst>
              <a:ext uri="{FF2B5EF4-FFF2-40B4-BE49-F238E27FC236}">
                <a16:creationId xmlns:a16="http://schemas.microsoft.com/office/drawing/2014/main" id="{12A5108D-EE83-0CB9-0A1A-3DA8C5602607}"/>
              </a:ext>
            </a:extLst>
          </p:cNvPr>
          <p:cNvSpPr/>
          <p:nvPr/>
        </p:nvSpPr>
        <p:spPr>
          <a:xfrm>
            <a:off x="5406390" y="4617720"/>
            <a:ext cx="262890" cy="285750"/>
          </a:xfrm>
          <a:prstGeom prst="triangl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3E0D70E3-C967-1948-8451-042956472EA8}"/>
              </a:ext>
            </a:extLst>
          </p:cNvPr>
          <p:cNvPicPr>
            <a:picLocks noChangeAspect="1"/>
          </p:cNvPicPr>
          <p:nvPr/>
        </p:nvPicPr>
        <p:blipFill>
          <a:blip r:embed="rId4"/>
          <a:stretch>
            <a:fillRect/>
          </a:stretch>
        </p:blipFill>
        <p:spPr>
          <a:xfrm>
            <a:off x="739301" y="2639622"/>
            <a:ext cx="6439711" cy="3956196"/>
          </a:xfrm>
          <a:prstGeom prst="rect">
            <a:avLst/>
          </a:prstGeom>
        </p:spPr>
      </p:pic>
    </p:spTree>
    <p:extLst>
      <p:ext uri="{BB962C8B-B14F-4D97-AF65-F5344CB8AC3E}">
        <p14:creationId xmlns:p14="http://schemas.microsoft.com/office/powerpoint/2010/main" val="2611509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399A0A5-5F77-24CF-E604-B4B4979CB2EC}"/>
              </a:ext>
            </a:extLst>
          </p:cNvPr>
          <p:cNvSpPr>
            <a:spLocks noGrp="1"/>
          </p:cNvSpPr>
          <p:nvPr>
            <p:ph type="title"/>
          </p:nvPr>
        </p:nvSpPr>
        <p:spPr>
          <a:xfrm>
            <a:off x="623888" y="109539"/>
            <a:ext cx="7886700" cy="907731"/>
          </a:xfrm>
        </p:spPr>
        <p:txBody>
          <a:bodyPr>
            <a:normAutofit/>
          </a:bodyPr>
          <a:lstStyle/>
          <a:p>
            <a:r>
              <a:rPr lang="cs-CZ" sz="3600" dirty="0">
                <a:solidFill>
                  <a:srgbClr val="007A3D"/>
                </a:solidFill>
              </a:rPr>
              <a:t>ZOO</a:t>
            </a:r>
            <a:endParaRPr lang="en-GB" sz="3600" dirty="0">
              <a:solidFill>
                <a:srgbClr val="007A3D"/>
              </a:solidFill>
            </a:endParaRPr>
          </a:p>
        </p:txBody>
      </p:sp>
      <p:sp>
        <p:nvSpPr>
          <p:cNvPr id="3" name="Zástupný text 2">
            <a:extLst>
              <a:ext uri="{FF2B5EF4-FFF2-40B4-BE49-F238E27FC236}">
                <a16:creationId xmlns:a16="http://schemas.microsoft.com/office/drawing/2014/main" id="{1B05654A-9EE3-D444-5AD5-5F9A8DD69CB9}"/>
              </a:ext>
            </a:extLst>
          </p:cNvPr>
          <p:cNvSpPr>
            <a:spLocks noGrp="1"/>
          </p:cNvSpPr>
          <p:nvPr>
            <p:ph type="body" idx="1"/>
          </p:nvPr>
        </p:nvSpPr>
        <p:spPr>
          <a:xfrm>
            <a:off x="623888" y="1017270"/>
            <a:ext cx="7886700" cy="5731191"/>
          </a:xfrm>
        </p:spPr>
        <p:txBody>
          <a:bodyPr>
            <a:normAutofit/>
          </a:bodyPr>
          <a:lstStyle/>
          <a:p>
            <a:r>
              <a:rPr lang="cs-CZ" dirty="0"/>
              <a:t>Buy online </a:t>
            </a:r>
            <a:r>
              <a:rPr lang="cs-CZ" dirty="0" err="1"/>
              <a:t>tickets</a:t>
            </a:r>
            <a:r>
              <a:rPr lang="cs-CZ" dirty="0"/>
              <a:t> in </a:t>
            </a:r>
            <a:r>
              <a:rPr lang="cs-CZ" dirty="0" err="1"/>
              <a:t>advance</a:t>
            </a:r>
            <a:endParaRPr lang="cs-CZ" dirty="0"/>
          </a:p>
          <a:p>
            <a:pPr marL="685800" indent="-457200">
              <a:buAutoNum type="arabicPeriod"/>
            </a:pPr>
            <a:r>
              <a:rPr lang="cs-CZ" dirty="0" err="1"/>
              <a:t>Click</a:t>
            </a:r>
            <a:r>
              <a:rPr lang="cs-CZ" dirty="0"/>
              <a:t> on </a:t>
            </a:r>
            <a:r>
              <a:rPr lang="cs-CZ" dirty="0">
                <a:hlinkClick r:id="rId2"/>
              </a:rPr>
              <a:t>https://www.zoopraha.cz/en</a:t>
            </a:r>
            <a:endParaRPr lang="cs-CZ" dirty="0"/>
          </a:p>
          <a:p>
            <a:pPr marL="685800" indent="-457200">
              <a:buAutoNum type="arabicPeriod"/>
            </a:pPr>
            <a:endParaRPr lang="en-GB" dirty="0"/>
          </a:p>
        </p:txBody>
      </p:sp>
      <p:pic>
        <p:nvPicPr>
          <p:cNvPr id="5" name="Obrázek 4">
            <a:extLst>
              <a:ext uri="{FF2B5EF4-FFF2-40B4-BE49-F238E27FC236}">
                <a16:creationId xmlns:a16="http://schemas.microsoft.com/office/drawing/2014/main" id="{368EC31C-BC09-40EC-3C21-0775A083F5EB}"/>
              </a:ext>
            </a:extLst>
          </p:cNvPr>
          <p:cNvPicPr>
            <a:picLocks noChangeAspect="1"/>
          </p:cNvPicPr>
          <p:nvPr/>
        </p:nvPicPr>
        <p:blipFill>
          <a:blip r:embed="rId3"/>
          <a:stretch>
            <a:fillRect/>
          </a:stretch>
        </p:blipFill>
        <p:spPr>
          <a:xfrm>
            <a:off x="904824" y="2250964"/>
            <a:ext cx="5669280" cy="3695235"/>
          </a:xfrm>
          <a:prstGeom prst="rect">
            <a:avLst/>
          </a:prstGeom>
        </p:spPr>
      </p:pic>
    </p:spTree>
    <p:extLst>
      <p:ext uri="{BB962C8B-B14F-4D97-AF65-F5344CB8AC3E}">
        <p14:creationId xmlns:p14="http://schemas.microsoft.com/office/powerpoint/2010/main" val="8795281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text 2">
            <a:extLst>
              <a:ext uri="{FF2B5EF4-FFF2-40B4-BE49-F238E27FC236}">
                <a16:creationId xmlns:a16="http://schemas.microsoft.com/office/drawing/2014/main" id="{A65052F9-177B-1B14-F960-D14F18D18573}"/>
              </a:ext>
            </a:extLst>
          </p:cNvPr>
          <p:cNvSpPr>
            <a:spLocks noGrp="1"/>
          </p:cNvSpPr>
          <p:nvPr>
            <p:ph type="body" idx="1"/>
          </p:nvPr>
        </p:nvSpPr>
        <p:spPr>
          <a:xfrm>
            <a:off x="628650" y="326074"/>
            <a:ext cx="7886700" cy="1500187"/>
          </a:xfrm>
        </p:spPr>
        <p:txBody>
          <a:bodyPr/>
          <a:lstStyle/>
          <a:p>
            <a:r>
              <a:rPr lang="cs-CZ" dirty="0"/>
              <a:t>2. </a:t>
            </a:r>
            <a:r>
              <a:rPr lang="cs-CZ" dirty="0" err="1"/>
              <a:t>Click</a:t>
            </a:r>
            <a:r>
              <a:rPr lang="cs-CZ" dirty="0"/>
              <a:t> on E-ticket</a:t>
            </a:r>
            <a:endParaRPr lang="en-GB" dirty="0"/>
          </a:p>
        </p:txBody>
      </p:sp>
      <p:pic>
        <p:nvPicPr>
          <p:cNvPr id="4" name="Obrázek 3">
            <a:extLst>
              <a:ext uri="{FF2B5EF4-FFF2-40B4-BE49-F238E27FC236}">
                <a16:creationId xmlns:a16="http://schemas.microsoft.com/office/drawing/2014/main" id="{01486EF8-31AF-C49F-9B08-1EA8129C3B99}"/>
              </a:ext>
            </a:extLst>
          </p:cNvPr>
          <p:cNvPicPr>
            <a:picLocks noChangeAspect="1"/>
          </p:cNvPicPr>
          <p:nvPr/>
        </p:nvPicPr>
        <p:blipFill>
          <a:blip r:embed="rId2"/>
          <a:stretch>
            <a:fillRect/>
          </a:stretch>
        </p:blipFill>
        <p:spPr>
          <a:xfrm>
            <a:off x="754380" y="1076167"/>
            <a:ext cx="7635240" cy="4976647"/>
          </a:xfrm>
          <a:prstGeom prst="rect">
            <a:avLst/>
          </a:prstGeom>
        </p:spPr>
      </p:pic>
      <p:cxnSp>
        <p:nvCxnSpPr>
          <p:cNvPr id="9" name="Přímá spojnice se šipkou 8">
            <a:extLst>
              <a:ext uri="{FF2B5EF4-FFF2-40B4-BE49-F238E27FC236}">
                <a16:creationId xmlns:a16="http://schemas.microsoft.com/office/drawing/2014/main" id="{FF24E678-D6AD-4BC7-2260-BDAA1236239F}"/>
              </a:ext>
            </a:extLst>
          </p:cNvPr>
          <p:cNvCxnSpPr/>
          <p:nvPr/>
        </p:nvCxnSpPr>
        <p:spPr>
          <a:xfrm flipH="1">
            <a:off x="2811780" y="1177290"/>
            <a:ext cx="468630" cy="52578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3096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F003993-A473-E0FD-5EA6-0CFF8D8E2AA3}"/>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B8693484-B43A-44DA-FEDC-5ADC5A464CD2}"/>
              </a:ext>
            </a:extLst>
          </p:cNvPr>
          <p:cNvSpPr>
            <a:spLocks noGrp="1"/>
          </p:cNvSpPr>
          <p:nvPr>
            <p:ph type="body" idx="1"/>
          </p:nvPr>
        </p:nvSpPr>
        <p:spPr/>
        <p:txBody>
          <a:bodyPr/>
          <a:lstStyle/>
          <a:p>
            <a:endParaRPr lang="en-GB"/>
          </a:p>
        </p:txBody>
      </p:sp>
      <p:pic>
        <p:nvPicPr>
          <p:cNvPr id="5" name="Obrázek 4">
            <a:extLst>
              <a:ext uri="{FF2B5EF4-FFF2-40B4-BE49-F238E27FC236}">
                <a16:creationId xmlns:a16="http://schemas.microsoft.com/office/drawing/2014/main" id="{7C0D96D6-8A64-3312-CC12-2221690EC58A}"/>
              </a:ext>
            </a:extLst>
          </p:cNvPr>
          <p:cNvPicPr>
            <a:picLocks noChangeAspect="1"/>
          </p:cNvPicPr>
          <p:nvPr/>
        </p:nvPicPr>
        <p:blipFill>
          <a:blip r:embed="rId2"/>
          <a:stretch>
            <a:fillRect/>
          </a:stretch>
        </p:blipFill>
        <p:spPr>
          <a:xfrm>
            <a:off x="0" y="1236457"/>
            <a:ext cx="9144000" cy="4385085"/>
          </a:xfrm>
          <a:prstGeom prst="rect">
            <a:avLst/>
          </a:prstGeom>
        </p:spPr>
      </p:pic>
      <p:sp>
        <p:nvSpPr>
          <p:cNvPr id="6" name="Zástupný text 2">
            <a:extLst>
              <a:ext uri="{FF2B5EF4-FFF2-40B4-BE49-F238E27FC236}">
                <a16:creationId xmlns:a16="http://schemas.microsoft.com/office/drawing/2014/main" id="{39D42AB6-10CD-4C31-2A94-BC215647AD0A}"/>
              </a:ext>
            </a:extLst>
          </p:cNvPr>
          <p:cNvSpPr txBox="1">
            <a:spLocks/>
          </p:cNvSpPr>
          <p:nvPr/>
        </p:nvSpPr>
        <p:spPr>
          <a:xfrm>
            <a:off x="628650" y="326074"/>
            <a:ext cx="7886700" cy="150018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r>
              <a:rPr lang="cs-CZ" dirty="0"/>
              <a:t>3. </a:t>
            </a:r>
            <a:r>
              <a:rPr lang="cs-CZ" dirty="0" err="1"/>
              <a:t>Select</a:t>
            </a:r>
            <a:r>
              <a:rPr lang="cs-CZ" dirty="0"/>
              <a:t> „ONE-TIME TICKETS“</a:t>
            </a:r>
            <a:endParaRPr lang="en-GB" dirty="0"/>
          </a:p>
        </p:txBody>
      </p:sp>
      <p:cxnSp>
        <p:nvCxnSpPr>
          <p:cNvPr id="7" name="Přímá spojnice se šipkou 6">
            <a:extLst>
              <a:ext uri="{FF2B5EF4-FFF2-40B4-BE49-F238E27FC236}">
                <a16:creationId xmlns:a16="http://schemas.microsoft.com/office/drawing/2014/main" id="{0CB2B2B9-D2BD-9EE0-E92C-4542E36D114D}"/>
              </a:ext>
            </a:extLst>
          </p:cNvPr>
          <p:cNvCxnSpPr/>
          <p:nvPr/>
        </p:nvCxnSpPr>
        <p:spPr>
          <a:xfrm flipH="1">
            <a:off x="3566160" y="907575"/>
            <a:ext cx="468630" cy="52578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5130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CDDA8A6-AC84-2CCC-AE12-ADC886C1FE2C}"/>
              </a:ext>
            </a:extLst>
          </p:cNvPr>
          <p:cNvSpPr>
            <a:spLocks noGrp="1"/>
          </p:cNvSpPr>
          <p:nvPr>
            <p:ph type="title"/>
          </p:nvPr>
        </p:nvSpPr>
        <p:spPr/>
        <p:txBody>
          <a:bodyPr/>
          <a:lstStyle/>
          <a:p>
            <a:endParaRPr lang="en-GB"/>
          </a:p>
        </p:txBody>
      </p:sp>
      <p:sp>
        <p:nvSpPr>
          <p:cNvPr id="3" name="Zástupný text 2">
            <a:extLst>
              <a:ext uri="{FF2B5EF4-FFF2-40B4-BE49-F238E27FC236}">
                <a16:creationId xmlns:a16="http://schemas.microsoft.com/office/drawing/2014/main" id="{4469DC2F-3854-A568-205E-444EB5631D9A}"/>
              </a:ext>
            </a:extLst>
          </p:cNvPr>
          <p:cNvSpPr>
            <a:spLocks noGrp="1"/>
          </p:cNvSpPr>
          <p:nvPr>
            <p:ph type="body" idx="1"/>
          </p:nvPr>
        </p:nvSpPr>
        <p:spPr>
          <a:xfrm>
            <a:off x="422910" y="5421630"/>
            <a:ext cx="8721090" cy="895121"/>
          </a:xfrm>
        </p:spPr>
        <p:txBody>
          <a:bodyPr>
            <a:normAutofit fontScale="92500" lnSpcReduction="10000"/>
          </a:bodyPr>
          <a:lstStyle/>
          <a:p>
            <a:pPr algn="ctr"/>
            <a:r>
              <a:rPr lang="cs-CZ" dirty="0" err="1">
                <a:solidFill>
                  <a:srgbClr val="FF0000"/>
                </a:solidFill>
              </a:rPr>
              <a:t>If</a:t>
            </a:r>
            <a:r>
              <a:rPr lang="cs-CZ" dirty="0">
                <a:solidFill>
                  <a:srgbClr val="FF0000"/>
                </a:solidFill>
              </a:rPr>
              <a:t> </a:t>
            </a:r>
            <a:r>
              <a:rPr lang="cs-CZ" dirty="0" err="1">
                <a:solidFill>
                  <a:srgbClr val="FF0000"/>
                </a:solidFill>
              </a:rPr>
              <a:t>you</a:t>
            </a:r>
            <a:r>
              <a:rPr lang="cs-CZ" dirty="0">
                <a:solidFill>
                  <a:srgbClr val="FF0000"/>
                </a:solidFill>
              </a:rPr>
              <a:t> </a:t>
            </a:r>
            <a:r>
              <a:rPr lang="cs-CZ" dirty="0" err="1">
                <a:solidFill>
                  <a:srgbClr val="FF0000"/>
                </a:solidFill>
              </a:rPr>
              <a:t>have</a:t>
            </a:r>
            <a:r>
              <a:rPr lang="cs-CZ" dirty="0">
                <a:solidFill>
                  <a:srgbClr val="FF0000"/>
                </a:solidFill>
              </a:rPr>
              <a:t> a </a:t>
            </a:r>
            <a:r>
              <a:rPr lang="cs-CZ" dirty="0" err="1">
                <a:solidFill>
                  <a:srgbClr val="FF0000"/>
                </a:solidFill>
              </a:rPr>
              <a:t>valid</a:t>
            </a:r>
            <a:r>
              <a:rPr lang="cs-CZ" dirty="0">
                <a:solidFill>
                  <a:srgbClr val="FF0000"/>
                </a:solidFill>
              </a:rPr>
              <a:t> student </a:t>
            </a:r>
            <a:r>
              <a:rPr lang="cs-CZ" dirty="0" err="1">
                <a:solidFill>
                  <a:srgbClr val="FF0000"/>
                </a:solidFill>
              </a:rPr>
              <a:t>card</a:t>
            </a:r>
            <a:r>
              <a:rPr lang="cs-CZ" dirty="0">
                <a:solidFill>
                  <a:srgbClr val="FF0000"/>
                </a:solidFill>
              </a:rPr>
              <a:t> and </a:t>
            </a:r>
            <a:r>
              <a:rPr lang="cs-CZ" dirty="0" err="1">
                <a:solidFill>
                  <a:srgbClr val="FF0000"/>
                </a:solidFill>
              </a:rPr>
              <a:t>can</a:t>
            </a:r>
            <a:r>
              <a:rPr lang="cs-CZ" dirty="0">
                <a:solidFill>
                  <a:srgbClr val="FF0000"/>
                </a:solidFill>
              </a:rPr>
              <a:t> </a:t>
            </a:r>
            <a:r>
              <a:rPr lang="cs-CZ" dirty="0" err="1">
                <a:solidFill>
                  <a:srgbClr val="FF0000"/>
                </a:solidFill>
              </a:rPr>
              <a:t>take</a:t>
            </a:r>
            <a:r>
              <a:rPr lang="cs-CZ" dirty="0">
                <a:solidFill>
                  <a:srgbClr val="FF0000"/>
                </a:solidFill>
              </a:rPr>
              <a:t> </a:t>
            </a:r>
            <a:r>
              <a:rPr lang="cs-CZ" dirty="0" err="1">
                <a:solidFill>
                  <a:srgbClr val="FF0000"/>
                </a:solidFill>
              </a:rPr>
              <a:t>it</a:t>
            </a:r>
            <a:r>
              <a:rPr lang="cs-CZ" dirty="0">
                <a:solidFill>
                  <a:srgbClr val="FF0000"/>
                </a:solidFill>
              </a:rPr>
              <a:t> </a:t>
            </a:r>
            <a:r>
              <a:rPr lang="cs-CZ" dirty="0" err="1">
                <a:solidFill>
                  <a:srgbClr val="FF0000"/>
                </a:solidFill>
              </a:rPr>
              <a:t>with</a:t>
            </a:r>
            <a:r>
              <a:rPr lang="cs-CZ" dirty="0">
                <a:solidFill>
                  <a:srgbClr val="FF0000"/>
                </a:solidFill>
              </a:rPr>
              <a:t> </a:t>
            </a:r>
            <a:r>
              <a:rPr lang="cs-CZ" dirty="0" err="1">
                <a:solidFill>
                  <a:srgbClr val="FF0000"/>
                </a:solidFill>
              </a:rPr>
              <a:t>you</a:t>
            </a:r>
            <a:r>
              <a:rPr lang="cs-CZ" dirty="0">
                <a:solidFill>
                  <a:srgbClr val="FF0000"/>
                </a:solidFill>
              </a:rPr>
              <a:t>! </a:t>
            </a:r>
          </a:p>
          <a:p>
            <a:pPr algn="ctr"/>
            <a:r>
              <a:rPr lang="cs-CZ" dirty="0" err="1">
                <a:solidFill>
                  <a:schemeClr val="tx1"/>
                </a:solidFill>
              </a:rPr>
              <a:t>Select</a:t>
            </a:r>
            <a:r>
              <a:rPr lang="cs-CZ" dirty="0">
                <a:solidFill>
                  <a:schemeClr val="tx1"/>
                </a:solidFill>
              </a:rPr>
              <a:t> „ADULT“ </a:t>
            </a:r>
            <a:r>
              <a:rPr lang="cs-CZ" dirty="0" err="1">
                <a:solidFill>
                  <a:schemeClr val="tx1"/>
                </a:solidFill>
              </a:rPr>
              <a:t>otherwise</a:t>
            </a:r>
            <a:r>
              <a:rPr lang="cs-CZ" dirty="0">
                <a:solidFill>
                  <a:schemeClr val="tx1"/>
                </a:solidFill>
              </a:rPr>
              <a:t>.</a:t>
            </a:r>
            <a:endParaRPr lang="en-GB" dirty="0">
              <a:solidFill>
                <a:schemeClr val="tx1"/>
              </a:solidFill>
            </a:endParaRPr>
          </a:p>
        </p:txBody>
      </p:sp>
      <p:pic>
        <p:nvPicPr>
          <p:cNvPr id="5" name="Obrázek 4">
            <a:extLst>
              <a:ext uri="{FF2B5EF4-FFF2-40B4-BE49-F238E27FC236}">
                <a16:creationId xmlns:a16="http://schemas.microsoft.com/office/drawing/2014/main" id="{453A1DAA-D11F-A164-3C73-E590EB15209B}"/>
              </a:ext>
            </a:extLst>
          </p:cNvPr>
          <p:cNvPicPr>
            <a:picLocks noChangeAspect="1"/>
          </p:cNvPicPr>
          <p:nvPr/>
        </p:nvPicPr>
        <p:blipFill>
          <a:blip r:embed="rId2"/>
          <a:stretch>
            <a:fillRect/>
          </a:stretch>
        </p:blipFill>
        <p:spPr>
          <a:xfrm>
            <a:off x="0" y="1294871"/>
            <a:ext cx="9144000" cy="3823405"/>
          </a:xfrm>
          <a:prstGeom prst="rect">
            <a:avLst/>
          </a:prstGeom>
        </p:spPr>
      </p:pic>
      <p:sp>
        <p:nvSpPr>
          <p:cNvPr id="6" name="Zástupný text 2">
            <a:extLst>
              <a:ext uri="{FF2B5EF4-FFF2-40B4-BE49-F238E27FC236}">
                <a16:creationId xmlns:a16="http://schemas.microsoft.com/office/drawing/2014/main" id="{FE6883DE-F06C-5E1F-6A03-3460E2182D37}"/>
              </a:ext>
            </a:extLst>
          </p:cNvPr>
          <p:cNvSpPr txBox="1">
            <a:spLocks/>
          </p:cNvSpPr>
          <p:nvPr/>
        </p:nvSpPr>
        <p:spPr>
          <a:xfrm>
            <a:off x="628650" y="326074"/>
            <a:ext cx="7886700" cy="150018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r>
              <a:rPr lang="en-GB" dirty="0"/>
              <a:t>4. Scroll down and select “STUDENT“</a:t>
            </a:r>
          </a:p>
        </p:txBody>
      </p:sp>
      <p:cxnSp>
        <p:nvCxnSpPr>
          <p:cNvPr id="7" name="Přímá spojnice se šipkou 6">
            <a:extLst>
              <a:ext uri="{FF2B5EF4-FFF2-40B4-BE49-F238E27FC236}">
                <a16:creationId xmlns:a16="http://schemas.microsoft.com/office/drawing/2014/main" id="{9C4FDC9B-338D-0E1A-1071-09348AE25E17}"/>
              </a:ext>
            </a:extLst>
          </p:cNvPr>
          <p:cNvCxnSpPr>
            <a:cxnSpLocks/>
          </p:cNvCxnSpPr>
          <p:nvPr/>
        </p:nvCxnSpPr>
        <p:spPr>
          <a:xfrm flipH="1" flipV="1">
            <a:off x="1245870" y="4865830"/>
            <a:ext cx="1818343" cy="69729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9124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text 2">
            <a:extLst>
              <a:ext uri="{FF2B5EF4-FFF2-40B4-BE49-F238E27FC236}">
                <a16:creationId xmlns:a16="http://schemas.microsoft.com/office/drawing/2014/main" id="{2AFAABF9-7B21-915B-0424-97655195A4A6}"/>
              </a:ext>
            </a:extLst>
          </p:cNvPr>
          <p:cNvSpPr>
            <a:spLocks noGrp="1"/>
          </p:cNvSpPr>
          <p:nvPr>
            <p:ph type="body" idx="1"/>
          </p:nvPr>
        </p:nvSpPr>
        <p:spPr>
          <a:xfrm>
            <a:off x="628650" y="1517883"/>
            <a:ext cx="7886700" cy="2382836"/>
          </a:xfrm>
        </p:spPr>
        <p:txBody>
          <a:bodyPr/>
          <a:lstStyle/>
          <a:p>
            <a:pPr marL="0" indent="0"/>
            <a:r>
              <a:rPr lang="cs-CZ" dirty="0" err="1">
                <a:solidFill>
                  <a:schemeClr val="bg1">
                    <a:lumMod val="50000"/>
                  </a:schemeClr>
                </a:solidFill>
              </a:rPr>
              <a:t>Warm</a:t>
            </a:r>
            <a:r>
              <a:rPr lang="cs-CZ" dirty="0">
                <a:solidFill>
                  <a:schemeClr val="bg1">
                    <a:lumMod val="50000"/>
                  </a:schemeClr>
                </a:solidFill>
              </a:rPr>
              <a:t> </a:t>
            </a:r>
            <a:r>
              <a:rPr lang="cs-CZ" dirty="0" err="1">
                <a:solidFill>
                  <a:schemeClr val="bg1">
                    <a:lumMod val="50000"/>
                  </a:schemeClr>
                </a:solidFill>
              </a:rPr>
              <a:t>clothing</a:t>
            </a:r>
            <a:r>
              <a:rPr lang="cs-CZ" dirty="0">
                <a:solidFill>
                  <a:schemeClr val="bg1">
                    <a:lumMod val="50000"/>
                  </a:schemeClr>
                </a:solidFill>
              </a:rPr>
              <a:t>, </a:t>
            </a:r>
            <a:r>
              <a:rPr lang="cs-CZ" dirty="0" err="1">
                <a:solidFill>
                  <a:schemeClr val="bg1">
                    <a:lumMod val="50000"/>
                  </a:schemeClr>
                </a:solidFill>
              </a:rPr>
              <a:t>it</a:t>
            </a:r>
            <a:r>
              <a:rPr lang="cs-CZ" dirty="0">
                <a:solidFill>
                  <a:schemeClr val="bg1">
                    <a:lumMod val="50000"/>
                  </a:schemeClr>
                </a:solidFill>
              </a:rPr>
              <a:t> </a:t>
            </a:r>
            <a:r>
              <a:rPr lang="cs-CZ" dirty="0" err="1">
                <a:solidFill>
                  <a:schemeClr val="bg1">
                    <a:lumMod val="50000"/>
                  </a:schemeClr>
                </a:solidFill>
              </a:rPr>
              <a:t>will</a:t>
            </a:r>
            <a:r>
              <a:rPr lang="cs-CZ" dirty="0">
                <a:solidFill>
                  <a:schemeClr val="bg1">
                    <a:lumMod val="50000"/>
                  </a:schemeClr>
                </a:solidFill>
              </a:rPr>
              <a:t> </a:t>
            </a:r>
            <a:r>
              <a:rPr lang="cs-CZ" dirty="0" err="1">
                <a:solidFill>
                  <a:schemeClr val="bg1">
                    <a:lumMod val="50000"/>
                  </a:schemeClr>
                </a:solidFill>
              </a:rPr>
              <a:t>be</a:t>
            </a:r>
            <a:r>
              <a:rPr lang="cs-CZ" dirty="0">
                <a:solidFill>
                  <a:schemeClr val="bg1">
                    <a:lumMod val="50000"/>
                  </a:schemeClr>
                </a:solidFill>
              </a:rPr>
              <a:t> </a:t>
            </a:r>
            <a:r>
              <a:rPr lang="cs-CZ" dirty="0" err="1">
                <a:solidFill>
                  <a:schemeClr val="bg1">
                    <a:lumMod val="50000"/>
                  </a:schemeClr>
                </a:solidFill>
              </a:rPr>
              <a:t>cold</a:t>
            </a:r>
            <a:endParaRPr lang="cs-CZ" dirty="0">
              <a:solidFill>
                <a:schemeClr val="bg1">
                  <a:lumMod val="50000"/>
                </a:schemeClr>
              </a:solidFill>
            </a:endParaRPr>
          </a:p>
          <a:p>
            <a:pPr marL="0" indent="0"/>
            <a:endParaRPr lang="cs-CZ" dirty="0">
              <a:solidFill>
                <a:schemeClr val="bg1">
                  <a:lumMod val="50000"/>
                </a:schemeClr>
              </a:solidFill>
            </a:endParaRPr>
          </a:p>
          <a:p>
            <a:pPr marL="0" indent="0"/>
            <a:r>
              <a:rPr lang="cs-CZ" dirty="0" err="1">
                <a:solidFill>
                  <a:schemeClr val="bg1">
                    <a:lumMod val="50000"/>
                  </a:schemeClr>
                </a:solidFill>
              </a:rPr>
              <a:t>Bring</a:t>
            </a:r>
            <a:r>
              <a:rPr lang="cs-CZ" dirty="0">
                <a:solidFill>
                  <a:schemeClr val="bg1">
                    <a:lumMod val="50000"/>
                  </a:schemeClr>
                </a:solidFill>
              </a:rPr>
              <a:t> </a:t>
            </a:r>
            <a:r>
              <a:rPr lang="cs-CZ" dirty="0" err="1">
                <a:solidFill>
                  <a:schemeClr val="bg1">
                    <a:lumMod val="50000"/>
                  </a:schemeClr>
                </a:solidFill>
              </a:rPr>
              <a:t>some</a:t>
            </a:r>
            <a:r>
              <a:rPr lang="cs-CZ" dirty="0">
                <a:solidFill>
                  <a:schemeClr val="bg1">
                    <a:lumMod val="50000"/>
                  </a:schemeClr>
                </a:solidFill>
              </a:rPr>
              <a:t> food and </a:t>
            </a:r>
            <a:r>
              <a:rPr lang="cs-CZ" dirty="0" err="1">
                <a:solidFill>
                  <a:schemeClr val="bg1">
                    <a:lumMod val="50000"/>
                  </a:schemeClr>
                </a:solidFill>
              </a:rPr>
              <a:t>water</a:t>
            </a:r>
            <a:endParaRPr lang="cs-CZ" dirty="0">
              <a:solidFill>
                <a:schemeClr val="bg1">
                  <a:lumMod val="50000"/>
                </a:schemeClr>
              </a:solidFill>
            </a:endParaRPr>
          </a:p>
          <a:p>
            <a:pPr marL="0" indent="0"/>
            <a:endParaRPr lang="cs-CZ" dirty="0">
              <a:solidFill>
                <a:schemeClr val="bg1">
                  <a:lumMod val="50000"/>
                </a:schemeClr>
              </a:solidFill>
            </a:endParaRPr>
          </a:p>
          <a:p>
            <a:pPr marL="0" indent="0"/>
            <a:r>
              <a:rPr lang="cs-CZ" dirty="0" err="1">
                <a:solidFill>
                  <a:schemeClr val="bg1">
                    <a:lumMod val="50000"/>
                  </a:schemeClr>
                </a:solidFill>
              </a:rPr>
              <a:t>Eventually</a:t>
            </a:r>
            <a:r>
              <a:rPr lang="cs-CZ" dirty="0">
                <a:solidFill>
                  <a:schemeClr val="bg1">
                    <a:lumMod val="50000"/>
                  </a:schemeClr>
                </a:solidFill>
              </a:rPr>
              <a:t>, </a:t>
            </a:r>
            <a:r>
              <a:rPr lang="cs-CZ" dirty="0" err="1">
                <a:solidFill>
                  <a:schemeClr val="bg1">
                    <a:lumMod val="50000"/>
                  </a:schemeClr>
                </a:solidFill>
              </a:rPr>
              <a:t>you</a:t>
            </a:r>
            <a:r>
              <a:rPr lang="cs-CZ" dirty="0">
                <a:solidFill>
                  <a:schemeClr val="bg1">
                    <a:lumMod val="50000"/>
                  </a:schemeClr>
                </a:solidFill>
              </a:rPr>
              <a:t> </a:t>
            </a:r>
            <a:r>
              <a:rPr lang="cs-CZ" dirty="0" err="1">
                <a:solidFill>
                  <a:schemeClr val="bg1">
                    <a:lumMod val="50000"/>
                  </a:schemeClr>
                </a:solidFill>
              </a:rPr>
              <a:t>may</a:t>
            </a:r>
            <a:r>
              <a:rPr lang="cs-CZ" dirty="0">
                <a:solidFill>
                  <a:schemeClr val="bg1">
                    <a:lumMod val="50000"/>
                  </a:schemeClr>
                </a:solidFill>
              </a:rPr>
              <a:t> </a:t>
            </a:r>
            <a:r>
              <a:rPr lang="cs-CZ" dirty="0" err="1">
                <a:solidFill>
                  <a:schemeClr val="bg1">
                    <a:lumMod val="50000"/>
                  </a:schemeClr>
                </a:solidFill>
              </a:rPr>
              <a:t>buy</a:t>
            </a:r>
            <a:r>
              <a:rPr lang="cs-CZ" dirty="0">
                <a:solidFill>
                  <a:schemeClr val="bg1">
                    <a:lumMod val="50000"/>
                  </a:schemeClr>
                </a:solidFill>
              </a:rPr>
              <a:t> </a:t>
            </a:r>
            <a:r>
              <a:rPr lang="cs-CZ" dirty="0" err="1">
                <a:solidFill>
                  <a:schemeClr val="bg1">
                    <a:lumMod val="50000"/>
                  </a:schemeClr>
                </a:solidFill>
              </a:rPr>
              <a:t>something</a:t>
            </a:r>
            <a:r>
              <a:rPr lang="cs-CZ" dirty="0">
                <a:solidFill>
                  <a:schemeClr val="bg1">
                    <a:lumMod val="50000"/>
                  </a:schemeClr>
                </a:solidFill>
              </a:rPr>
              <a:t> in ZOO</a:t>
            </a:r>
            <a:endParaRPr lang="en-GB" dirty="0">
              <a:solidFill>
                <a:schemeClr val="bg1">
                  <a:lumMod val="50000"/>
                </a:schemeClr>
              </a:solidFill>
            </a:endParaRPr>
          </a:p>
        </p:txBody>
      </p:sp>
      <p:sp>
        <p:nvSpPr>
          <p:cNvPr id="4" name="Zástupný text 2">
            <a:extLst>
              <a:ext uri="{FF2B5EF4-FFF2-40B4-BE49-F238E27FC236}">
                <a16:creationId xmlns:a16="http://schemas.microsoft.com/office/drawing/2014/main" id="{53D388C4-5DE9-8188-3635-0C1AF690CED9}"/>
              </a:ext>
            </a:extLst>
          </p:cNvPr>
          <p:cNvSpPr txBox="1">
            <a:spLocks/>
          </p:cNvSpPr>
          <p:nvPr/>
        </p:nvSpPr>
        <p:spPr>
          <a:xfrm>
            <a:off x="411480" y="326074"/>
            <a:ext cx="7886700" cy="150018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r>
              <a:rPr lang="cs-CZ" sz="3200" b="1" dirty="0">
                <a:solidFill>
                  <a:srgbClr val="007A3D"/>
                </a:solidFill>
              </a:rPr>
              <a:t>LAST NOTES</a:t>
            </a:r>
            <a:endParaRPr lang="en-GB" sz="3200" b="1" dirty="0">
              <a:solidFill>
                <a:srgbClr val="007A3D"/>
              </a:solidFill>
            </a:endParaRPr>
          </a:p>
        </p:txBody>
      </p:sp>
    </p:spTree>
    <p:extLst>
      <p:ext uri="{BB962C8B-B14F-4D97-AF65-F5344CB8AC3E}">
        <p14:creationId xmlns:p14="http://schemas.microsoft.com/office/powerpoint/2010/main" val="39549976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3732" y="274638"/>
            <a:ext cx="3605514" cy="1143000"/>
          </a:xfrm>
        </p:spPr>
        <p:txBody>
          <a:bodyPr>
            <a:normAutofit/>
          </a:bodyPr>
          <a:lstStyle/>
          <a:p>
            <a:pPr algn="l">
              <a:defRPr sz="3400"/>
            </a:pPr>
            <a:r>
              <a:rPr lang="en-DE" sz="3600" dirty="0">
                <a:solidFill>
                  <a:schemeClr val="bg1">
                    <a:lumMod val="50000"/>
                  </a:schemeClr>
                </a:solidFill>
              </a:rPr>
              <a:t>Course</a:t>
            </a:r>
            <a:r>
              <a:rPr lang="en-DE" sz="3600" dirty="0">
                <a:solidFill>
                  <a:srgbClr val="007A3D"/>
                </a:solidFill>
              </a:rPr>
              <a:t> format</a:t>
            </a:r>
            <a:endParaRPr sz="3600" dirty="0">
              <a:solidFill>
                <a:srgbClr val="007A3D"/>
              </a:solidFill>
            </a:endParaRPr>
          </a:p>
        </p:txBody>
      </p:sp>
      <p:sp>
        <p:nvSpPr>
          <p:cNvPr id="4" name="Rectangle 3"/>
          <p:cNvSpPr/>
          <p:nvPr/>
        </p:nvSpPr>
        <p:spPr>
          <a:xfrm>
            <a:off x="0" y="6583680"/>
            <a:ext cx="9144000" cy="274320"/>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endParaRPr dirty="0">
              <a:solidFill>
                <a:srgbClr val="222222"/>
              </a:solidFill>
            </a:endParaRPr>
          </a:p>
        </p:txBody>
      </p:sp>
      <p:sp>
        <p:nvSpPr>
          <p:cNvPr id="7" name="TextBox 6">
            <a:extLst>
              <a:ext uri="{FF2B5EF4-FFF2-40B4-BE49-F238E27FC236}">
                <a16:creationId xmlns:a16="http://schemas.microsoft.com/office/drawing/2014/main" id="{C82CEB46-FC51-E34E-8D6B-EBF3949ECAE4}"/>
              </a:ext>
            </a:extLst>
          </p:cNvPr>
          <p:cNvSpPr txBox="1"/>
          <p:nvPr/>
        </p:nvSpPr>
        <p:spPr>
          <a:xfrm>
            <a:off x="1313732" y="1457896"/>
            <a:ext cx="7511969" cy="1946687"/>
          </a:xfrm>
          <a:prstGeom prst="rect">
            <a:avLst/>
          </a:prstGeom>
          <a:noFill/>
        </p:spPr>
        <p:txBody>
          <a:bodyPr wrap="square">
            <a:spAutoFit/>
          </a:bodyPr>
          <a:lstStyle/>
          <a:p>
            <a:pPr rtl="0">
              <a:spcBef>
                <a:spcPts val="0"/>
              </a:spcBef>
              <a:spcAft>
                <a:spcPts val="300"/>
              </a:spcAft>
            </a:pPr>
            <a:r>
              <a:rPr lang="en-GB" sz="1800" b="0" i="0" u="none" strike="noStrike" dirty="0">
                <a:solidFill>
                  <a:schemeClr val="bg1">
                    <a:lumMod val="50000"/>
                  </a:schemeClr>
                </a:solidFill>
                <a:effectLst/>
                <a:latin typeface="Arial" panose="020B0604020202020204" pitchFamily="34" charset="0"/>
              </a:rPr>
              <a:t>21.10. 10:30 - 12:00 	(Z118) 	Course intro</a:t>
            </a:r>
            <a:endParaRPr lang="en-GB" b="0" dirty="0">
              <a:solidFill>
                <a:schemeClr val="bg1">
                  <a:lumMod val="50000"/>
                </a:schemeClr>
              </a:solidFill>
              <a:effectLst/>
            </a:endParaRPr>
          </a:p>
          <a:p>
            <a:pPr rtl="0">
              <a:spcBef>
                <a:spcPts val="0"/>
              </a:spcBef>
              <a:spcAft>
                <a:spcPts val="300"/>
              </a:spcAft>
            </a:pPr>
            <a:r>
              <a:rPr lang="en-GB" sz="1800" b="0" i="0" u="none" strike="noStrike" dirty="0">
                <a:solidFill>
                  <a:schemeClr val="bg1">
                    <a:lumMod val="50000"/>
                  </a:schemeClr>
                </a:solidFill>
                <a:effectLst/>
                <a:latin typeface="Arial" panose="020B0604020202020204" pitchFamily="34" charset="0"/>
              </a:rPr>
              <a:t>04.11. 10:30 - 12:00  	(Z118) 	</a:t>
            </a:r>
            <a:r>
              <a:rPr lang="en-GB" sz="1800" dirty="0">
                <a:solidFill>
                  <a:schemeClr val="bg1">
                    <a:lumMod val="50000"/>
                  </a:schemeClr>
                </a:solidFill>
                <a:latin typeface="Arial" panose="020B0604020202020204" pitchFamily="34" charset="0"/>
              </a:rPr>
              <a:t>Intro</a:t>
            </a:r>
            <a:r>
              <a:rPr lang="en-GB" dirty="0">
                <a:solidFill>
                  <a:schemeClr val="bg1">
                    <a:lumMod val="50000"/>
                  </a:schemeClr>
                </a:solidFill>
                <a:latin typeface="Arial" panose="020B0604020202020204" pitchFamily="34" charset="0"/>
              </a:rPr>
              <a:t> </a:t>
            </a:r>
            <a:r>
              <a:rPr lang="en-GB" sz="1800" b="0" i="0" u="none" strike="noStrike" dirty="0">
                <a:solidFill>
                  <a:schemeClr val="bg1">
                    <a:lumMod val="50000"/>
                  </a:schemeClr>
                </a:solidFill>
                <a:effectLst/>
                <a:latin typeface="Arial" panose="020B0604020202020204" pitchFamily="34" charset="0"/>
              </a:rPr>
              <a:t>to ecology</a:t>
            </a:r>
            <a:endParaRPr lang="en-GB" b="0" dirty="0">
              <a:solidFill>
                <a:schemeClr val="bg1">
                  <a:lumMod val="50000"/>
                </a:schemeClr>
              </a:solidFill>
              <a:effectLst/>
            </a:endParaRPr>
          </a:p>
          <a:p>
            <a:pPr rtl="0">
              <a:spcBef>
                <a:spcPts val="0"/>
              </a:spcBef>
              <a:spcAft>
                <a:spcPts val="300"/>
              </a:spcAft>
            </a:pPr>
            <a:r>
              <a:rPr lang="en-GB" sz="1800" dirty="0">
                <a:solidFill>
                  <a:schemeClr val="tx1"/>
                </a:solidFill>
                <a:latin typeface="Arial" panose="020B0604020202020204" pitchFamily="34" charset="0"/>
              </a:rPr>
              <a:t>1</a:t>
            </a:r>
            <a:r>
              <a:rPr lang="en-GB" sz="1800" b="0" i="0" u="none" strike="noStrike" dirty="0">
                <a:solidFill>
                  <a:schemeClr val="tx1"/>
                </a:solidFill>
                <a:effectLst/>
                <a:latin typeface="Arial" panose="020B0604020202020204" pitchFamily="34" charset="0"/>
              </a:rPr>
              <a:t>8</a:t>
            </a:r>
            <a:r>
              <a:rPr lang="en-GB" sz="1800" b="0" i="0" u="none" strike="noStrike" dirty="0">
                <a:solidFill>
                  <a:srgbClr val="000000"/>
                </a:solidFill>
                <a:effectLst/>
                <a:latin typeface="Arial" panose="020B0604020202020204" pitchFamily="34" charset="0"/>
              </a:rPr>
              <a:t>.11. 10:30 - 12:00 	(Z118)	Intro to hands on</a:t>
            </a:r>
            <a:endParaRPr lang="en-GB" b="0" dirty="0">
              <a:effectLst/>
            </a:endParaRPr>
          </a:p>
          <a:p>
            <a:pPr rtl="0">
              <a:spcBef>
                <a:spcPts val="0"/>
              </a:spcBef>
              <a:spcAft>
                <a:spcPts val="300"/>
              </a:spcAft>
            </a:pPr>
            <a:r>
              <a:rPr lang="en-GB" sz="1800" b="0" i="0" u="none" strike="noStrike" dirty="0">
                <a:solidFill>
                  <a:srgbClr val="007A3D"/>
                </a:solidFill>
                <a:effectLst/>
                <a:latin typeface="Arial" panose="020B0604020202020204" pitchFamily="34" charset="0"/>
              </a:rPr>
              <a:t>21.11.   8:</a:t>
            </a:r>
            <a:r>
              <a:rPr lang="cs-CZ" sz="1800" b="0" i="0" u="none" strike="noStrike" dirty="0">
                <a:solidFill>
                  <a:srgbClr val="007A3D"/>
                </a:solidFill>
                <a:effectLst/>
                <a:latin typeface="Arial" panose="020B0604020202020204" pitchFamily="34" charset="0"/>
              </a:rPr>
              <a:t>0</a:t>
            </a:r>
            <a:r>
              <a:rPr lang="en-GB" sz="1800" b="0" i="0" u="none" strike="noStrike" dirty="0">
                <a:solidFill>
                  <a:srgbClr val="007A3D"/>
                </a:solidFill>
                <a:effectLst/>
                <a:latin typeface="Arial" panose="020B0604020202020204" pitchFamily="34" charset="0"/>
              </a:rPr>
              <a:t>0 - 17:00 		Excursion</a:t>
            </a:r>
            <a:endParaRPr lang="en-GB" b="0" dirty="0">
              <a:solidFill>
                <a:srgbClr val="007A3D"/>
              </a:solidFill>
              <a:effectLst/>
            </a:endParaRPr>
          </a:p>
          <a:p>
            <a:pPr rtl="0">
              <a:spcBef>
                <a:spcPts val="0"/>
              </a:spcBef>
              <a:spcAft>
                <a:spcPts val="300"/>
              </a:spcAft>
            </a:pPr>
            <a:r>
              <a:rPr lang="en-GB" sz="1800" b="0" i="0" u="none" strike="noStrike" dirty="0">
                <a:solidFill>
                  <a:srgbClr val="007A3D"/>
                </a:solidFill>
                <a:effectLst/>
                <a:latin typeface="Arial" panose="020B0604020202020204" pitchFamily="34" charset="0"/>
              </a:rPr>
              <a:t>28.11.   8:30 - 17:00 	(VN306)	Home-work on the topics</a:t>
            </a:r>
            <a:endParaRPr lang="en-GB" b="0" dirty="0">
              <a:solidFill>
                <a:srgbClr val="007A3D"/>
              </a:solidFill>
              <a:effectLst/>
            </a:endParaRPr>
          </a:p>
          <a:p>
            <a:pPr rtl="0">
              <a:spcBef>
                <a:spcPts val="0"/>
              </a:spcBef>
              <a:spcAft>
                <a:spcPts val="300"/>
              </a:spcAft>
            </a:pPr>
            <a:r>
              <a:rPr lang="en-GB" sz="1800" b="1" i="0" u="none" strike="noStrike" dirty="0">
                <a:solidFill>
                  <a:srgbClr val="007A3D"/>
                </a:solidFill>
                <a:effectLst/>
                <a:latin typeface="Arial" panose="020B0604020202020204" pitchFamily="34" charset="0"/>
              </a:rPr>
              <a:t>05.12.   8:30 - 17:00	</a:t>
            </a:r>
            <a:r>
              <a:rPr lang="en-GB" sz="1800" i="0" u="none" strike="noStrike" dirty="0">
                <a:solidFill>
                  <a:srgbClr val="007A3D"/>
                </a:solidFill>
                <a:effectLst/>
                <a:latin typeface="Arial" panose="020B0604020202020204" pitchFamily="34" charset="0"/>
              </a:rPr>
              <a:t>(VN306)</a:t>
            </a:r>
            <a:r>
              <a:rPr lang="en-GB" sz="1800" b="1" i="0" u="none" strike="noStrike" dirty="0">
                <a:solidFill>
                  <a:srgbClr val="007A3D"/>
                </a:solidFill>
                <a:effectLst/>
                <a:latin typeface="Arial" panose="020B0604020202020204" pitchFamily="34" charset="0"/>
              </a:rPr>
              <a:t>	Symposium </a:t>
            </a:r>
            <a:r>
              <a:rPr lang="en-GB" sz="1800" i="0" u="none" strike="noStrike" dirty="0">
                <a:solidFill>
                  <a:srgbClr val="007A3D"/>
                </a:solidFill>
                <a:effectLst/>
                <a:latin typeface="Arial" panose="020B0604020202020204" pitchFamily="34" charset="0"/>
              </a:rPr>
              <a:t>(presentations)</a:t>
            </a:r>
          </a:p>
        </p:txBody>
      </p:sp>
      <p:sp>
        <p:nvSpPr>
          <p:cNvPr id="6" name="TextBox 5">
            <a:extLst>
              <a:ext uri="{FF2B5EF4-FFF2-40B4-BE49-F238E27FC236}">
                <a16:creationId xmlns:a16="http://schemas.microsoft.com/office/drawing/2014/main" id="{6389228C-4B29-7A46-8986-1BA6A5F3C02C}"/>
              </a:ext>
            </a:extLst>
          </p:cNvPr>
          <p:cNvSpPr txBox="1"/>
          <p:nvPr/>
        </p:nvSpPr>
        <p:spPr>
          <a:xfrm>
            <a:off x="1313732" y="4810490"/>
            <a:ext cx="5835213" cy="369332"/>
          </a:xfrm>
          <a:prstGeom prst="rect">
            <a:avLst/>
          </a:prstGeom>
          <a:noFill/>
        </p:spPr>
        <p:txBody>
          <a:bodyPr wrap="square">
            <a:spAutoFit/>
          </a:bodyPr>
          <a:lstStyle/>
          <a:p>
            <a:r>
              <a:rPr lang="en-DE" dirty="0">
                <a:latin typeface="Arial" panose="020B0604020202020204" pitchFamily="34" charset="0"/>
                <a:cs typeface="Arial" panose="020B0604020202020204" pitchFamily="34" charset="0"/>
              </a:rPr>
              <a:t>https://github.com/MartinBulla/Ecology_Fund_Gen</a:t>
            </a:r>
          </a:p>
        </p:txBody>
      </p:sp>
      <p:sp>
        <p:nvSpPr>
          <p:cNvPr id="8" name="Title 1">
            <a:extLst>
              <a:ext uri="{FF2B5EF4-FFF2-40B4-BE49-F238E27FC236}">
                <a16:creationId xmlns:a16="http://schemas.microsoft.com/office/drawing/2014/main" id="{F872A9A8-5D46-5946-A739-A938C5E1D923}"/>
              </a:ext>
            </a:extLst>
          </p:cNvPr>
          <p:cNvSpPr txBox="1">
            <a:spLocks/>
          </p:cNvSpPr>
          <p:nvPr/>
        </p:nvSpPr>
        <p:spPr>
          <a:xfrm>
            <a:off x="1313732" y="3688815"/>
            <a:ext cx="3605514"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sz="3400"/>
            </a:pPr>
            <a:r>
              <a:rPr lang="en-GB" sz="3600" dirty="0">
                <a:solidFill>
                  <a:schemeClr val="bg1">
                    <a:lumMod val="50000"/>
                  </a:schemeClr>
                </a:solidFill>
              </a:rPr>
              <a:t>Course</a:t>
            </a:r>
            <a:r>
              <a:rPr lang="en-GB" sz="3600" dirty="0">
                <a:solidFill>
                  <a:srgbClr val="007A3D"/>
                </a:solidFill>
              </a:rPr>
              <a:t> material</a:t>
            </a:r>
          </a:p>
        </p:txBody>
      </p:sp>
      <p:pic>
        <p:nvPicPr>
          <p:cNvPr id="5" name="Picture 4">
            <a:extLst>
              <a:ext uri="{FF2B5EF4-FFF2-40B4-BE49-F238E27FC236}">
                <a16:creationId xmlns:a16="http://schemas.microsoft.com/office/drawing/2014/main" id="{63E5CEA7-D825-2040-B681-C2A5856F2A2F}"/>
              </a:ext>
            </a:extLst>
          </p:cNvPr>
          <p:cNvPicPr>
            <a:picLocks noChangeAspect="1"/>
          </p:cNvPicPr>
          <p:nvPr/>
        </p:nvPicPr>
        <p:blipFill>
          <a:blip r:embed="rId3"/>
          <a:stretch>
            <a:fillRect/>
          </a:stretch>
        </p:blipFill>
        <p:spPr>
          <a:xfrm>
            <a:off x="6916738" y="4217270"/>
            <a:ext cx="913530" cy="910291"/>
          </a:xfrm>
          <a:prstGeom prst="rect">
            <a:avLst/>
          </a:prstGeom>
        </p:spPr>
      </p:pic>
    </p:spTree>
    <p:extLst>
      <p:ext uri="{BB962C8B-B14F-4D97-AF65-F5344CB8AC3E}">
        <p14:creationId xmlns:p14="http://schemas.microsoft.com/office/powerpoint/2010/main" val="32839257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271"/>
        <p:cNvGrpSpPr/>
        <p:nvPr/>
      </p:nvGrpSpPr>
      <p:grpSpPr>
        <a:xfrm>
          <a:off x="0" y="0"/>
          <a:ext cx="0" cy="0"/>
          <a:chOff x="0" y="0"/>
          <a:chExt cx="0" cy="0"/>
        </a:xfrm>
      </p:grpSpPr>
      <p:pic>
        <p:nvPicPr>
          <p:cNvPr id="28674" name="Picture 2">
            <a:extLst>
              <a:ext uri="{FF2B5EF4-FFF2-40B4-BE49-F238E27FC236}">
                <a16:creationId xmlns:a16="http://schemas.microsoft.com/office/drawing/2014/main" id="{FAB19158-A572-DF4C-B81A-82D91CF59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50" y="0"/>
            <a:ext cx="88519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72" name="Google Shape;272;p23"/>
          <p:cNvSpPr txBox="1">
            <a:spLocks noGrp="1"/>
          </p:cNvSpPr>
          <p:nvPr>
            <p:ph type="title"/>
          </p:nvPr>
        </p:nvSpPr>
        <p:spPr>
          <a:xfrm>
            <a:off x="6416842" y="-286836"/>
            <a:ext cx="2581108" cy="132556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rgbClr val="C55A11"/>
              </a:buClr>
              <a:buSzPts val="4800"/>
              <a:buFont typeface="Calibri"/>
              <a:buNone/>
            </a:pPr>
            <a:r>
              <a:rPr lang="en-GB" sz="2400" b="1" dirty="0">
                <a:solidFill>
                  <a:schemeClr val="bg1">
                    <a:lumMod val="50000"/>
                  </a:schemeClr>
                </a:solidFill>
              </a:rPr>
              <a:t>Thank you </a:t>
            </a:r>
            <a:br>
              <a:rPr lang="en-GB" sz="2400" b="1" dirty="0">
                <a:solidFill>
                  <a:schemeClr val="bg1">
                    <a:lumMod val="50000"/>
                  </a:schemeClr>
                </a:solidFill>
              </a:rPr>
            </a:br>
            <a:r>
              <a:rPr lang="en-GB" sz="2400" b="1" dirty="0">
                <a:solidFill>
                  <a:schemeClr val="bg1">
                    <a:lumMod val="50000"/>
                  </a:schemeClr>
                </a:solidFill>
              </a:rPr>
              <a:t>for your attention</a:t>
            </a:r>
            <a:endParaRPr sz="2400" b="1" dirty="0">
              <a:solidFill>
                <a:schemeClr val="bg1">
                  <a:lumMod val="50000"/>
                </a:schemeClr>
              </a:solidFill>
            </a:endParaRPr>
          </a:p>
        </p:txBody>
      </p:sp>
      <p:sp>
        <p:nvSpPr>
          <p:cNvPr id="3" name="Google Shape;272;p23">
            <a:extLst>
              <a:ext uri="{FF2B5EF4-FFF2-40B4-BE49-F238E27FC236}">
                <a16:creationId xmlns:a16="http://schemas.microsoft.com/office/drawing/2014/main" id="{320F4A80-6897-0B48-A507-BD4F1BFB002B}"/>
              </a:ext>
            </a:extLst>
          </p:cNvPr>
          <p:cNvSpPr txBox="1">
            <a:spLocks/>
          </p:cNvSpPr>
          <p:nvPr/>
        </p:nvSpPr>
        <p:spPr>
          <a:xfrm>
            <a:off x="146050" y="5819273"/>
            <a:ext cx="2484855"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C55A11"/>
              </a:buClr>
              <a:buSzPts val="4800"/>
            </a:pPr>
            <a:r>
              <a:rPr lang="en-GB" sz="2400" b="1" dirty="0">
                <a:solidFill>
                  <a:schemeClr val="bg1">
                    <a:lumMod val="50000"/>
                  </a:schemeClr>
                </a:solidFill>
              </a:rPr>
              <a:t>Happy </a:t>
            </a:r>
          </a:p>
          <a:p>
            <a:pPr>
              <a:buClr>
                <a:srgbClr val="C55A11"/>
              </a:buClr>
              <a:buSzPts val="4800"/>
            </a:pPr>
            <a:r>
              <a:rPr lang="en-GB" sz="2400" b="1" dirty="0">
                <a:solidFill>
                  <a:schemeClr val="bg1">
                    <a:lumMod val="50000"/>
                  </a:schemeClr>
                </a:solidFill>
              </a:rPr>
              <a:t>to take questions</a:t>
            </a:r>
          </a:p>
        </p:txBody>
      </p:sp>
      <p:sp>
        <p:nvSpPr>
          <p:cNvPr id="6" name="TextBox 5">
            <a:extLst>
              <a:ext uri="{FF2B5EF4-FFF2-40B4-BE49-F238E27FC236}">
                <a16:creationId xmlns:a16="http://schemas.microsoft.com/office/drawing/2014/main" id="{260AC75F-01C1-A641-936D-D4D875CC3D03}"/>
              </a:ext>
            </a:extLst>
          </p:cNvPr>
          <p:cNvSpPr txBox="1"/>
          <p:nvPr/>
        </p:nvSpPr>
        <p:spPr>
          <a:xfrm>
            <a:off x="7595101" y="5511496"/>
            <a:ext cx="1548899" cy="307777"/>
          </a:xfrm>
          <a:prstGeom prst="rect">
            <a:avLst/>
          </a:prstGeom>
          <a:noFill/>
        </p:spPr>
        <p:txBody>
          <a:bodyPr wrap="square">
            <a:spAutoFit/>
          </a:bodyPr>
          <a:lstStyle/>
          <a:p>
            <a:r>
              <a:rPr lang="en-GB" b="0" i="0" dirty="0">
                <a:solidFill>
                  <a:schemeClr val="bg1">
                    <a:lumMod val="50000"/>
                  </a:schemeClr>
                </a:solidFill>
                <a:effectLst/>
                <a:latin typeface="Open Sans" panose="020B0606030504020204" pitchFamily="34" charset="0"/>
              </a:rPr>
              <a:t>© Shelby Wells</a:t>
            </a:r>
            <a:endParaRPr lang="en-DE" dirty="0">
              <a:solidFill>
                <a:schemeClr val="bg1">
                  <a:lumMod val="50000"/>
                </a:schemeClr>
              </a:solidFill>
            </a:endParaRPr>
          </a:p>
        </p:txBody>
      </p:sp>
    </p:spTree>
    <p:extLst>
      <p:ext uri="{BB962C8B-B14F-4D97-AF65-F5344CB8AC3E}">
        <p14:creationId xmlns:p14="http://schemas.microsoft.com/office/powerpoint/2010/main" val="3781341410"/>
      </p:ext>
    </p:extLst>
  </p:cSld>
  <p:clrMapOvr>
    <a:masterClrMapping/>
  </p:clrMapOvr>
</p:sld>
</file>

<file path=ppt/theme/theme1.xml><?xml version="1.0" encoding="utf-8"?>
<a:theme xmlns:a="http://schemas.openxmlformats.org/drawingml/2006/main" name="Motiv Office">
  <a:themeElements>
    <a:clrScheme name="Motiv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5922</TotalTime>
  <Words>2324</Words>
  <Application>Microsoft Office PowerPoint</Application>
  <PresentationFormat>Předvádění na obrazovce (4:3)</PresentationFormat>
  <Paragraphs>288</Paragraphs>
  <Slides>52</Slides>
  <Notes>43</Notes>
  <HiddenSlides>0</HiddenSlides>
  <MMClips>0</MMClips>
  <ScaleCrop>false</ScaleCrop>
  <HeadingPairs>
    <vt:vector size="6" baseType="variant">
      <vt:variant>
        <vt:lpstr>Použitá písma</vt:lpstr>
      </vt:variant>
      <vt:variant>
        <vt:i4>5</vt:i4>
      </vt:variant>
      <vt:variant>
        <vt:lpstr>Motiv</vt:lpstr>
      </vt:variant>
      <vt:variant>
        <vt:i4>1</vt:i4>
      </vt:variant>
      <vt:variant>
        <vt:lpstr>Nadpisy snímků</vt:lpstr>
      </vt:variant>
      <vt:variant>
        <vt:i4>52</vt:i4>
      </vt:variant>
    </vt:vector>
  </HeadingPairs>
  <TitlesOfParts>
    <vt:vector size="58" baseType="lpstr">
      <vt:lpstr>Arial</vt:lpstr>
      <vt:lpstr>Calibri</vt:lpstr>
      <vt:lpstr>Helvetica</vt:lpstr>
      <vt:lpstr>Helvetica Light</vt:lpstr>
      <vt:lpstr>Open Sans</vt:lpstr>
      <vt:lpstr>Motiv Office</vt:lpstr>
      <vt:lpstr>FUNDAMENTALS OF ECOLOGY GENERAL ECOLOGY</vt:lpstr>
      <vt:lpstr>Course format</vt:lpstr>
      <vt:lpstr>OUTLINE</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IS IT REALLY THAT SIMPLE?</vt:lpstr>
      <vt:lpstr>Prezentace aplikace PowerPoint</vt:lpstr>
      <vt:lpstr>Prezentace aplikace PowerPoint</vt:lpstr>
      <vt:lpstr>WHO READ THE PAPERS?</vt:lpstr>
      <vt:lpstr>The island rule: example of two perspectives</vt:lpstr>
      <vt:lpstr>Prezentace aplikace PowerPoint</vt:lpstr>
      <vt:lpstr>Prezentace aplikace PowerPoint</vt:lpstr>
      <vt:lpstr>R e s u l t s</vt:lpstr>
      <vt:lpstr>Prezentace aplikace PowerPoint</vt:lpstr>
      <vt:lpstr>Prezentace aplikace PowerPoint</vt:lpstr>
      <vt:lpstr>Prezentace aplikace PowerPoint</vt:lpstr>
      <vt:lpstr>SYNTHESIS</vt:lpstr>
      <vt:lpstr>QUESTIONS?</vt:lpstr>
      <vt:lpstr>Prezentace aplikace PowerPoint</vt:lpstr>
      <vt:lpstr>Topics &amp; Readings</vt:lpstr>
      <vt:lpstr>OUTLINE</vt:lpstr>
      <vt:lpstr>Attendance</vt:lpstr>
      <vt:lpstr>HOW TO FIND RELEVANT OVERVIEW AND SOURCES ON A TOPIC</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Lets check one example paper</vt:lpstr>
      <vt:lpstr>Prezentace aplikace PowerPoint</vt:lpstr>
      <vt:lpstr>Prezentace aplikace PowerPoint</vt:lpstr>
      <vt:lpstr>OUTLINE</vt:lpstr>
      <vt:lpstr>BEFORE EXCURSION</vt:lpstr>
      <vt:lpstr>BEFORE EXCURSION</vt:lpstr>
      <vt:lpstr>EXCURSION</vt:lpstr>
      <vt:lpstr>ZOO</vt:lpstr>
      <vt:lpstr>Prezentace aplikace PowerPoint</vt:lpstr>
      <vt:lpstr>Prezentace aplikace PowerPoint</vt:lpstr>
      <vt:lpstr>Prezentace aplikace PowerPoint</vt:lpstr>
      <vt:lpstr>Prezentace aplikace PowerPoint</vt:lpstr>
      <vt:lpstr>Course format</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ecology?</dc:title>
  <dc:creator>Peter Mikula</dc:creator>
  <cp:lastModifiedBy>Peter Mikula</cp:lastModifiedBy>
  <cp:revision>462</cp:revision>
  <dcterms:created xsi:type="dcterms:W3CDTF">2025-10-01T12:00:19Z</dcterms:created>
  <dcterms:modified xsi:type="dcterms:W3CDTF">2025-11-18T12:23:46Z</dcterms:modified>
</cp:coreProperties>
</file>