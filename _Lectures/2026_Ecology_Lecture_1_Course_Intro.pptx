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78" r:id="rId2"/>
    <p:sldId id="277" r:id="rId3"/>
    <p:sldId id="280" r:id="rId4"/>
    <p:sldId id="292" r:id="rId5"/>
    <p:sldId id="281" r:id="rId6"/>
    <p:sldId id="284" r:id="rId7"/>
    <p:sldId id="285" r:id="rId8"/>
    <p:sldId id="286" r:id="rId9"/>
    <p:sldId id="282" r:id="rId10"/>
    <p:sldId id="258" r:id="rId11"/>
    <p:sldId id="259" r:id="rId12"/>
    <p:sldId id="289" r:id="rId13"/>
    <p:sldId id="300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93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74"/>
    <p:restoredTop sz="91115" autoAdjust="0"/>
  </p:normalViewPr>
  <p:slideViewPr>
    <p:cSldViewPr snapToGrid="0" snapToObjects="1">
      <p:cViewPr varScale="1">
        <p:scale>
          <a:sx n="122" d="100"/>
          <a:sy n="122" d="100"/>
        </p:scale>
        <p:origin x="220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2CA0A3-A6C5-4A3C-B21F-561AC9BDEFEA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3EA25-13DA-4AF5-82A1-CDC866AD23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159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nature20563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The aim of the lectures is not frontal teaching, but something that helps </a:t>
            </a:r>
            <a:r>
              <a:rPr lang="en-DE"/>
              <a:t>you.</a:t>
            </a:r>
          </a:p>
          <a:p>
            <a:endParaRPr lang="en-DE" dirty="0"/>
          </a:p>
          <a:p>
            <a:r>
              <a:rPr lang="en-DE" dirty="0"/>
              <a:t>Ask questions!!!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7221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a newly founded research group exploring global patterns and evolution of traits along with local adaptations</a:t>
            </a:r>
          </a:p>
          <a:p>
            <a:pPr marL="171450" indent="-171450" algn="l">
              <a:buFontTx/>
              <a:buChar char="-"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using mainly birds as our model species to understand reproduction and mating systems, song and fear; 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all tied together by a common threads: </a:t>
            </a:r>
            <a:r>
              <a:rPr lang="en-GB" b="0" i="0" u="none" strike="noStrike" dirty="0">
                <a:effectLst/>
                <a:latin typeface="Roboto" panose="02000000000000000000" pitchFamily="2" charset="0"/>
                <a:hlinkClick r:id="rId3"/>
              </a:rPr>
              <a:t>biorhythms</a:t>
            </a:r>
            <a:r>
              <a:rPr lang="en-GB" b="0" i="0" u="none" strike="noStrike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and reproducibility</a:t>
            </a:r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</a:t>
            </a: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we are promoters of open science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-  we do science on science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77384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57852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International team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92054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collaborate with institutions and people across the globe</a:t>
            </a:r>
          </a:p>
          <a:p>
            <a:pPr marL="171450" indent="-171450" algn="l">
              <a:buFontTx/>
              <a:buChar char="-"/>
            </a:pP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05988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Who are you?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Anyone not proficient in English?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algn="l"/>
            <a:r>
              <a:rPr lang="en-GB" sz="12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One word wish for the course?</a:t>
            </a:r>
          </a:p>
          <a:p>
            <a:pPr algn="l"/>
            <a:endParaRPr lang="en-GB" sz="12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24946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aim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of the course is to provide you with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fundamental understanding of the science of ecology, its scope, methods, and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relevance to both basic and applied research. 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indent="0" rtl="0">
              <a:spcBef>
                <a:spcPts val="1200"/>
              </a:spcBef>
              <a:spcAft>
                <a:spcPts val="1200"/>
              </a:spcAft>
              <a:buFontTx/>
              <a:buNone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Gain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insights into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ecological theory,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empirical approaches,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how ecology helps in addressing pressing global environmental challenges.</a:t>
            </a: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ability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to work independently within a team (using individual strength to the team’s advantage)</a:t>
            </a:r>
          </a:p>
          <a:p>
            <a:pPr marL="285750" lvl="0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experience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synthetising literature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scientific communication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time management</a:t>
            </a:r>
          </a:p>
          <a:p>
            <a:pPr marL="742950" lvl="1" indent="-285750" rtl="0">
              <a:spcBef>
                <a:spcPts val="1200"/>
              </a:spcBef>
              <a:spcAft>
                <a:spcPts val="1200"/>
              </a:spcAft>
              <a:buFontTx/>
              <a:buChar char="-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critical 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4061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Hands on learning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Work in team &amp; Presentations = back bones of the course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kern="1200" dirty="0">
                <a:solidFill>
                  <a:srgbClr val="222222"/>
                </a:solidFill>
                <a:latin typeface="+mn-lt"/>
                <a:ea typeface="+mn-ea"/>
                <a:cs typeface="+mn-cs"/>
              </a:rPr>
              <a:t>Read and synthesize primary literature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Learn about basic ecological concepts</a:t>
            </a:r>
            <a:endParaRPr lang="en-GB" sz="1200" kern="1200" dirty="0">
              <a:solidFill>
                <a:srgbClr val="222222"/>
              </a:solidFill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b="0" dirty="0">
              <a:effectLst/>
            </a:endParaRPr>
          </a:p>
          <a:p>
            <a:br>
              <a:rPr lang="en-GB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0374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Syllabus https://</a:t>
            </a:r>
            <a:r>
              <a:rPr lang="en-US" dirty="0" err="1"/>
              <a:t>is.czu.cz</a:t>
            </a:r>
            <a:r>
              <a:rPr lang="en-US" dirty="0"/>
              <a:t>/auth/</a:t>
            </a:r>
            <a:r>
              <a:rPr lang="en-US" dirty="0" err="1"/>
              <a:t>katalog</a:t>
            </a:r>
            <a:r>
              <a:rPr lang="en-US" dirty="0"/>
              <a:t>/</a:t>
            </a:r>
            <a:r>
              <a:rPr lang="en-US" dirty="0" err="1"/>
              <a:t>syllabus.pl?predmet</a:t>
            </a:r>
            <a:r>
              <a:rPr lang="en-US" dirty="0"/>
              <a:t>=291370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Course notes </a:t>
            </a:r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arrivals = course failed</a:t>
            </a:r>
            <a:endParaRPr lang="en-DE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19707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5956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– a backbone of the course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Read and synthesize primary literature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800" dirty="0">
                <a:solidFill>
                  <a:srgbClr val="222222"/>
                </a:solidFill>
              </a:rPr>
              <a:t>Learn about basic ecological concepts</a:t>
            </a: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Practice scientific thinking and clear communication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Connect classic ideas with modern developments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r>
              <a:rPr lang="en-GB" sz="1200" dirty="0">
                <a:solidFill>
                  <a:srgbClr val="222222"/>
                </a:solidFill>
              </a:rPr>
              <a:t>Create re-usable study material for peers</a:t>
            </a:r>
          </a:p>
          <a:p>
            <a:endParaRPr lang="en-GB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>
              <a:spcBef>
                <a:spcPts val="1200"/>
              </a:spcBef>
              <a:spcAft>
                <a:spcPts val="1200"/>
              </a:spcAft>
            </a:pP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Active participation in excursion, hands-on, and the symposium is required for the admission to the exam. </a:t>
            </a:r>
          </a:p>
          <a:p>
            <a:pPr rtl="0">
              <a:spcBef>
                <a:spcPts val="1200"/>
              </a:spcBef>
              <a:spcAft>
                <a:spcPts val="1200"/>
              </a:spcAft>
            </a:pPr>
            <a:endParaRPr lang="en-GB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305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F0753-2F4F-7F4B-23CB-26C9BA678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B1B3BCCD-5B03-28E5-9052-7FEA79CA1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3698B344-D0A5-2BB7-AC95-5BEF5F277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43743962-241F-2A65-EC88-1EC717A2C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3953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72004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74386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03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9387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6890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2846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84656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379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556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737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6673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3EA25-13DA-4AF5-82A1-CDC866AD2346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3594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5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0" Type="http://schemas.microsoft.com/office/2007/relationships/hdphoto" Target="../media/hdphoto1.wdp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12" Type="http://schemas.openxmlformats.org/officeDocument/2006/relationships/image" Target="../media/image4.jpe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2.png"/><Relationship Id="rId20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11" Type="http://schemas.openxmlformats.org/officeDocument/2006/relationships/image" Target="../media/image3.jpeg"/><Relationship Id="rId5" Type="http://schemas.openxmlformats.org/officeDocument/2006/relationships/hyperlink" Target="https://www.nature.com/articles/s41467-023-37936-5" TargetMode="External"/><Relationship Id="rId15" Type="http://schemas.openxmlformats.org/officeDocument/2006/relationships/image" Target="../media/image11.png"/><Relationship Id="rId10" Type="http://schemas.microsoft.com/office/2007/relationships/hdphoto" Target="../media/hdphoto2.wdp"/><Relationship Id="rId19" Type="http://schemas.openxmlformats.org/officeDocument/2006/relationships/image" Target="../media/image15.png"/><Relationship Id="rId4" Type="http://schemas.openxmlformats.org/officeDocument/2006/relationships/hyperlink" Target="https://onlinelibrary.wiley.com/doi/full/10.1111/ele.13662" TargetMode="External"/><Relationship Id="rId9" Type="http://schemas.openxmlformats.org/officeDocument/2006/relationships/image" Target="../media/image8.png"/><Relationship Id="rId1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hyperlink" Target="https://doi.org/10.1093/beheco/art098" TargetMode="External"/><Relationship Id="rId7" Type="http://schemas.openxmlformats.org/officeDocument/2006/relationships/hyperlink" Target="https://www.youtube.com/channel/UCP8ITIDaFZHW68z7KaTyDew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sf.io/profile/" TargetMode="External"/><Relationship Id="rId5" Type="http://schemas.openxmlformats.org/officeDocument/2006/relationships/hyperlink" Target="https://www.nature.com/articles/s41467-023-37936-5" TargetMode="External"/><Relationship Id="rId4" Type="http://schemas.openxmlformats.org/officeDocument/2006/relationships/hyperlink" Target="https://onlinelibrary.wiley.com/doi/full/10.1111/ele.1366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artici.fi/74906212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80972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 dirty="0">
                <a:solidFill>
                  <a:srgbClr val="007A3D"/>
                </a:solidFill>
              </a:rPr>
              <a:t>undAmentals </a:t>
            </a:r>
            <a:r>
              <a:rPr lang="en-DE" sz="3600">
                <a:solidFill>
                  <a:srgbClr val="007A3D"/>
                </a:solidFill>
              </a:rPr>
              <a:t>of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97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A38670-8945-F4EC-AF6D-E9FE8DCE1A6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158CA7-5420-D531-4071-EA364A6A02B8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841AD18-BD36-AC4B-ACA4-2FF158CAE6DA}"/>
              </a:ext>
            </a:extLst>
          </p:cNvPr>
          <p:cNvSpPr txBox="1">
            <a:spLocks/>
          </p:cNvSpPr>
          <p:nvPr/>
        </p:nvSpPr>
        <p:spPr>
          <a:xfrm>
            <a:off x="448885" y="516774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What </a:t>
            </a:r>
            <a:r>
              <a:rPr lang="en-GB" sz="3600" dirty="0">
                <a:solidFill>
                  <a:schemeClr val="bg1"/>
                </a:solidFill>
              </a:rPr>
              <a:t>is our job?</a:t>
            </a:r>
          </a:p>
        </p:txBody>
      </p:sp>
    </p:spTree>
    <p:extLst>
      <p:ext uri="{BB962C8B-B14F-4D97-AF65-F5344CB8AC3E}">
        <p14:creationId xmlns:p14="http://schemas.microsoft.com/office/powerpoint/2010/main" val="3189871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/>
      <p:bldP spid="18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4AD9F934-364B-2A4B-AEB5-0870365A1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2" t="12997" r="10070" b="10129"/>
          <a:stretch/>
        </p:blipFill>
        <p:spPr bwMode="auto">
          <a:xfrm>
            <a:off x="682905" y="2555099"/>
            <a:ext cx="3889095" cy="37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DE4E0C2-349B-5340-8D23-CE754B3751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87" t="12652" r="13806" b="12175"/>
          <a:stretch/>
        </p:blipFill>
        <p:spPr bwMode="auto">
          <a:xfrm>
            <a:off x="4757193" y="2392080"/>
            <a:ext cx="3809963" cy="3961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7B733B4-AB62-324F-A535-3739BEF00F5C}"/>
              </a:ext>
            </a:extLst>
          </p:cNvPr>
          <p:cNvSpPr txBox="1"/>
          <p:nvPr/>
        </p:nvSpPr>
        <p:spPr>
          <a:xfrm>
            <a:off x="6273479" y="6560457"/>
            <a:ext cx="28705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DE" sz="1200" dirty="0">
                <a:solidFill>
                  <a:schemeClr val="bg1">
                    <a:lumMod val="50000"/>
                  </a:schemeClr>
                </a:solidFill>
              </a:rPr>
              <a:t>https://scholargoggler.com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0DF219-579A-EC53-6BA1-7E42C723E705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36960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  <a:defRPr sz="2000"/>
            </a:pPr>
            <a:endParaRPr sz="2400" dirty="0">
              <a:solidFill>
                <a:srgbClr val="22222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76162E-AC3A-4644-A141-6908B8ADF3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717" y="2712977"/>
            <a:ext cx="1806865" cy="2407526"/>
          </a:xfrm>
          <a:prstGeom prst="rect">
            <a:avLst/>
          </a:prstGeom>
        </p:spPr>
      </p:pic>
      <p:pic>
        <p:nvPicPr>
          <p:cNvPr id="1034" name="Picture 10" descr="project thumbnail">
            <a:extLst>
              <a:ext uri="{FF2B5EF4-FFF2-40B4-BE49-F238E27FC236}">
                <a16:creationId xmlns:a16="http://schemas.microsoft.com/office/drawing/2014/main" id="{45CBA9FA-289A-1E46-A738-50483AFCB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695" r="3641"/>
          <a:stretch/>
        </p:blipFill>
        <p:spPr bwMode="auto">
          <a:xfrm>
            <a:off x="5239290" y="2715703"/>
            <a:ext cx="1403900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roject thumbnail">
            <a:extLst>
              <a:ext uri="{FF2B5EF4-FFF2-40B4-BE49-F238E27FC236}">
                <a16:creationId xmlns:a16="http://schemas.microsoft.com/office/drawing/2014/main" id="{9F43708E-0596-0B46-91E6-C58FFE7049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49"/>
          <a:stretch/>
        </p:blipFill>
        <p:spPr bwMode="auto">
          <a:xfrm>
            <a:off x="3669166" y="2715703"/>
            <a:ext cx="1477285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48A0558-9724-A148-A699-8A48B17394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4" t="14008" r="24117"/>
          <a:stretch/>
        </p:blipFill>
        <p:spPr bwMode="auto">
          <a:xfrm>
            <a:off x="2089854" y="2715703"/>
            <a:ext cx="1481414" cy="24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8" name="Picture 2" descr="Flag of Slovakia - Wikipedia">
            <a:extLst>
              <a:ext uri="{FF2B5EF4-FFF2-40B4-BE49-F238E27FC236}">
                <a16:creationId xmlns:a16="http://schemas.microsoft.com/office/drawing/2014/main" id="{49256D26-2FCC-F440-8D5E-C77D870CF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237938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Flag of Slovakia - Wikipedia">
            <a:extLst>
              <a:ext uri="{FF2B5EF4-FFF2-40B4-BE49-F238E27FC236}">
                <a16:creationId xmlns:a16="http://schemas.microsoft.com/office/drawing/2014/main" id="{EECCC024-D041-1045-B186-539452B45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818" y="52380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4" name="Picture 8">
            <a:extLst>
              <a:ext uri="{FF2B5EF4-FFF2-40B4-BE49-F238E27FC236}">
                <a16:creationId xmlns:a16="http://schemas.microsoft.com/office/drawing/2014/main" id="{7049D3D2-7178-DF40-823D-38EE360C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403" y="5237845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6" name="Picture 20" descr="Flag of India - Wikipedia">
            <a:extLst>
              <a:ext uri="{FF2B5EF4-FFF2-40B4-BE49-F238E27FC236}">
                <a16:creationId xmlns:a16="http://schemas.microsoft.com/office/drawing/2014/main" id="{F2E562AA-FB08-994F-91E4-CFC227EAD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6284" y="5237891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58" name="Picture 22" descr="Flag of Japan - Wikipedia">
            <a:extLst>
              <a:ext uri="{FF2B5EF4-FFF2-40B4-BE49-F238E27FC236}">
                <a16:creationId xmlns:a16="http://schemas.microsoft.com/office/drawing/2014/main" id="{DBD326C3-12E0-7546-91F0-A7122D695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600" y="570240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4" name="Picture 28">
            <a:extLst>
              <a:ext uri="{FF2B5EF4-FFF2-40B4-BE49-F238E27FC236}">
                <a16:creationId xmlns:a16="http://schemas.microsoft.com/office/drawing/2014/main" id="{4C9C9767-6935-BE42-A8C5-252216BF3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215" y="570240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66" name="Picture 30">
            <a:extLst>
              <a:ext uri="{FF2B5EF4-FFF2-40B4-BE49-F238E27FC236}">
                <a16:creationId xmlns:a16="http://schemas.microsoft.com/office/drawing/2014/main" id="{C5A7897A-0C8B-0B4A-BD98-5A726875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64" y="5702400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>
            <a:extLst>
              <a:ext uri="{FF2B5EF4-FFF2-40B4-BE49-F238E27FC236}">
                <a16:creationId xmlns:a16="http://schemas.microsoft.com/office/drawing/2014/main" id="{4D9EF1A7-C7AF-934E-BEC4-69AF4F1E4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8">
            <a:extLst>
              <a:ext uri="{FF2B5EF4-FFF2-40B4-BE49-F238E27FC236}">
                <a16:creationId xmlns:a16="http://schemas.microsoft.com/office/drawing/2014/main" id="{124DBF4B-9030-3943-843B-A244F6E66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342" y="5700740"/>
            <a:ext cx="540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4">
            <a:extLst>
              <a:ext uri="{FF2B5EF4-FFF2-40B4-BE49-F238E27FC236}">
                <a16:creationId xmlns:a16="http://schemas.microsoft.com/office/drawing/2014/main" id="{4F359240-1B18-4742-8FCB-84D7070EA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9200" y="5702400"/>
            <a:ext cx="540000" cy="36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8">
            <a:extLst>
              <a:ext uri="{FF2B5EF4-FFF2-40B4-BE49-F238E27FC236}">
                <a16:creationId xmlns:a16="http://schemas.microsoft.com/office/drawing/2014/main" id="{FB3AF2AF-BF8F-AA4F-9061-95E40C664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7750" y="5238000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0">
            <a:extLst>
              <a:ext uri="{FF2B5EF4-FFF2-40B4-BE49-F238E27FC236}">
                <a16:creationId xmlns:a16="http://schemas.microsoft.com/office/drawing/2014/main" id="{77901C94-53A3-4671-4A82-362A8526C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182" y="5235865"/>
            <a:ext cx="540000" cy="28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0" descr="Flag of India - Wikipedia">
            <a:extLst>
              <a:ext uri="{FF2B5EF4-FFF2-40B4-BE49-F238E27FC236}">
                <a16:creationId xmlns:a16="http://schemas.microsoft.com/office/drawing/2014/main" id="{7595B07D-04D8-BD04-BED8-E4B406DE5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0551" y="5238850"/>
            <a:ext cx="540000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69DF457E-2AC7-BD9C-FE88-CFA42223B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182" y="5664572"/>
            <a:ext cx="540000" cy="360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EA6508-25F9-C7A0-6966-F80583C7416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13249" r="8663"/>
          <a:stretch>
            <a:fillRect/>
          </a:stretch>
        </p:blipFill>
        <p:spPr>
          <a:xfrm>
            <a:off x="490595" y="2715703"/>
            <a:ext cx="1498732" cy="2404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212F94-A576-B3B1-5903-85426C6B4841}"/>
              </a:ext>
            </a:extLst>
          </p:cNvPr>
          <p:cNvSpPr txBox="1"/>
          <p:nvPr/>
        </p:nvSpPr>
        <p:spPr>
          <a:xfrm>
            <a:off x="2463515" y="2245591"/>
            <a:ext cx="258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science on science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291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8779A8-42FC-2E4C-92EF-B3F7A7B53DEF}"/>
              </a:ext>
            </a:extLst>
          </p:cNvPr>
          <p:cNvSpPr/>
          <p:nvPr/>
        </p:nvSpPr>
        <p:spPr>
          <a:xfrm>
            <a:off x="0" y="2455487"/>
            <a:ext cx="9144000" cy="4110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 err="1">
                <a:solidFill>
                  <a:schemeClr val="bg1"/>
                </a:solidFill>
              </a:rPr>
              <a:t>bullab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0100" y="1290316"/>
            <a:ext cx="1597305" cy="1096963"/>
          </a:xfrm>
        </p:spPr>
        <p:txBody>
          <a:bodyPr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reproduction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 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song</a:t>
            </a:r>
            <a:r>
              <a:rPr lang="en-GB" sz="11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en-GB" sz="1800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fear</a:t>
            </a:r>
            <a:r>
              <a:rPr lang="en-GB" sz="1800" dirty="0">
                <a:solidFill>
                  <a:srgbClr val="00B0F0"/>
                </a:solidFill>
                <a:latin typeface="Roboto" panose="02000000000000000000" pitchFamily="2" charset="0"/>
              </a:rPr>
              <a:t> </a:t>
            </a:r>
            <a:endParaRPr lang="en-GB" sz="1800" b="0" i="0" dirty="0">
              <a:solidFill>
                <a:srgbClr val="E8E8E8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A344BC-D52E-4E4A-B0E0-D4053097CBB4}"/>
              </a:ext>
            </a:extLst>
          </p:cNvPr>
          <p:cNvSpPr txBox="1"/>
          <p:nvPr/>
        </p:nvSpPr>
        <p:spPr>
          <a:xfrm>
            <a:off x="2463515" y="1284541"/>
            <a:ext cx="38099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macroecology &amp; evolution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 </a:t>
            </a:r>
            <a:endParaRPr lang="en-GB" strike="noStrike" dirty="0">
              <a:solidFill>
                <a:srgbClr val="E8E8E8"/>
              </a:solidFill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science</a:t>
            </a:r>
            <a:r>
              <a:rPr lang="en-GB" b="0" i="0" dirty="0">
                <a:solidFill>
                  <a:srgbClr val="E8E8E8"/>
                </a:solidFill>
                <a:effectLst/>
                <a:latin typeface="Roboto" panose="02000000000000000000" pitchFamily="2" charset="0"/>
              </a:rPr>
              <a:t>,</a:t>
            </a:r>
            <a:endParaRPr lang="en-GB" b="0" i="0" strike="noStrike" dirty="0">
              <a:solidFill>
                <a:srgbClr val="00B0F0"/>
              </a:solidFill>
              <a:effectLst/>
              <a:latin typeface="Roboto" panose="02000000000000000000" pitchFamily="2" charset="0"/>
            </a:endParaRPr>
          </a:p>
          <a:p>
            <a:r>
              <a:rPr lang="en-GB" b="0" i="0" strike="noStrike" dirty="0">
                <a:solidFill>
                  <a:srgbClr val="00B0F0"/>
                </a:solidFill>
                <a:effectLst/>
                <a:latin typeface="Roboto" panose="020000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birds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3D798-7960-374A-9229-7D244A095518}"/>
              </a:ext>
            </a:extLst>
          </p:cNvPr>
          <p:cNvSpPr txBox="1"/>
          <p:nvPr/>
        </p:nvSpPr>
        <p:spPr>
          <a:xfrm>
            <a:off x="2476982" y="753163"/>
            <a:ext cx="6481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2000"/>
            </a:pP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b</a:t>
            </a:r>
            <a:r>
              <a:rPr lang="en-DE" sz="1800" dirty="0">
                <a:solidFill>
                  <a:schemeClr val="bg1">
                    <a:lumMod val="50000"/>
                  </a:schemeClr>
                </a:solidFill>
              </a:rPr>
              <a:t>ullab.fzp.czu.cz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086CA6-56D4-0C45-BF2D-7F9612EC5555}"/>
              </a:ext>
            </a:extLst>
          </p:cNvPr>
          <p:cNvSpPr txBox="1"/>
          <p:nvPr/>
        </p:nvSpPr>
        <p:spPr>
          <a:xfrm>
            <a:off x="7257329" y="1559957"/>
            <a:ext cx="1481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biorhythms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090F-6754-8D4D-9286-B87299022D93}"/>
              </a:ext>
            </a:extLst>
          </p:cNvPr>
          <p:cNvSpPr txBox="1"/>
          <p:nvPr/>
        </p:nvSpPr>
        <p:spPr>
          <a:xfrm>
            <a:off x="457200" y="1538657"/>
            <a:ext cx="1990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  <a:latin typeface="Roboto" panose="02000000000000000000" pitchFamily="2" charset="0"/>
              </a:rPr>
              <a:t>reproducibility</a:t>
            </a:r>
            <a:endParaRPr lang="en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5E3806-E50D-B341-9088-CDE24E2EC5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548087"/>
            <a:ext cx="8103769" cy="3835522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71B873BC-5E5B-5445-9E03-B30407E15FD3}"/>
              </a:ext>
            </a:extLst>
          </p:cNvPr>
          <p:cNvSpPr/>
          <p:nvPr/>
        </p:nvSpPr>
        <p:spPr>
          <a:xfrm>
            <a:off x="4597701" y="295442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D647D93-8E83-E349-8E76-45C43D558E5F}"/>
              </a:ext>
            </a:extLst>
          </p:cNvPr>
          <p:cNvSpPr/>
          <p:nvPr/>
        </p:nvSpPr>
        <p:spPr>
          <a:xfrm>
            <a:off x="4145665" y="2974348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017A3A4-5C73-CD4B-B21C-9F0EFFF469D8}"/>
              </a:ext>
            </a:extLst>
          </p:cNvPr>
          <p:cNvSpPr/>
          <p:nvPr/>
        </p:nvSpPr>
        <p:spPr>
          <a:xfrm>
            <a:off x="3464686" y="6344515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A66212-0F9E-8148-81D3-D8B67D8A0477}"/>
              </a:ext>
            </a:extLst>
          </p:cNvPr>
          <p:cNvSpPr/>
          <p:nvPr/>
        </p:nvSpPr>
        <p:spPr>
          <a:xfrm>
            <a:off x="5074194" y="3083673"/>
            <a:ext cx="54000" cy="5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4510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b="1" dirty="0">
                <a:solidFill>
                  <a:schemeClr val="bg1"/>
                </a:solidFill>
              </a:rPr>
              <a:t>your </a:t>
            </a:r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turn</a:t>
            </a:r>
          </a:p>
        </p:txBody>
      </p:sp>
      <p:pic>
        <p:nvPicPr>
          <p:cNvPr id="3" name="Picture 2">
            <a:hlinkClick r:id="rId3"/>
            <a:extLst>
              <a:ext uri="{FF2B5EF4-FFF2-40B4-BE49-F238E27FC236}">
                <a16:creationId xmlns:a16="http://schemas.microsoft.com/office/drawing/2014/main" id="{EAFC08C0-5FA6-389D-27F4-29C2651CD4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0591"/>
          <a:stretch>
            <a:fillRect/>
          </a:stretch>
        </p:blipFill>
        <p:spPr>
          <a:xfrm>
            <a:off x="0" y="1656762"/>
            <a:ext cx="9143999" cy="408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74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30A037-5769-9140-A650-1533F76C1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A53C0C0-0421-BC4F-94C1-41B7F0E221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6258"/>
            <a:ext cx="9154504" cy="6545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8021257" y="6638876"/>
            <a:ext cx="2592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©Shelby Wells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9945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7ED9CFF-D493-244F-A23D-8B258004DC2C}"/>
              </a:ext>
            </a:extLst>
          </p:cNvPr>
          <p:cNvSpPr txBox="1"/>
          <p:nvPr/>
        </p:nvSpPr>
        <p:spPr>
          <a:xfrm>
            <a:off x="6713317" y="6627302"/>
            <a:ext cx="24306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©https://</a:t>
            </a:r>
            <a:r>
              <a:rPr lang="en-GB" sz="12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eej.ac.nz</a:t>
            </a:r>
            <a:r>
              <a:rPr lang="en-GB" sz="1200" b="0" i="0" dirty="0">
                <a:solidFill>
                  <a:schemeClr val="bg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/</a:t>
            </a:r>
            <a:endParaRPr lang="en-DE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0244" name="Picture 4" descr="Home">
            <a:extLst>
              <a:ext uri="{FF2B5EF4-FFF2-40B4-BE49-F238E27FC236}">
                <a16:creationId xmlns:a16="http://schemas.microsoft.com/office/drawing/2014/main" id="{9F3B452A-B978-C74A-A976-93B0F8588E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6425"/>
            <a:ext cx="9144000" cy="564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9914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732" y="274638"/>
            <a:ext cx="3605514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280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2800">
                <a:solidFill>
                  <a:srgbClr val="007A3D"/>
                </a:solidFill>
              </a:rPr>
              <a:t> format</a:t>
            </a:r>
            <a:endParaRPr sz="28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1313732" y="1186600"/>
            <a:ext cx="7511969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30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.09.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:00 - </a:t>
            </a:r>
            <a:r>
              <a:rPr lang="en-GB" sz="1400" dirty="0">
                <a:solidFill>
                  <a:schemeClr val="bg1">
                    <a:lumMod val="50000"/>
                  </a:schemeClr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18</a:t>
            </a:r>
            <a:r>
              <a:rPr lang="en-GB" sz="140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:00 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	(D119) 	Course intro </a:t>
            </a:r>
          </a:p>
          <a:p>
            <a:pPr>
              <a:spcAft>
                <a:spcPts val="300"/>
              </a:spcAft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				</a:t>
            </a:r>
            <a:r>
              <a:rPr lang="en-GB" sz="18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D218) 	I</a:t>
            </a:r>
            <a:r>
              <a:rPr lang="en-GB" dirty="0">
                <a:solidFill>
                  <a:srgbClr val="000000"/>
                </a:solidFill>
                <a:latin typeface="Arial" panose="020B0604020202020204" pitchFamily="34" charset="0"/>
              </a:rPr>
              <a:t>ntro to ecology</a:t>
            </a:r>
            <a:endParaRPr lang="en-GB" b="0" dirty="0">
              <a:solidFill>
                <a:schemeClr val="bg1">
                  <a:lumMod val="50000"/>
                </a:schemeClr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01.10. </a:t>
            </a:r>
            <a:r>
              <a:rPr lang="en-GB" sz="1400" dirty="0">
                <a:solidFill>
                  <a:srgbClr val="000000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14</a:t>
            </a:r>
            <a:r>
              <a:rPr lang="en-GB" sz="1400" u="none" strike="noStrike" dirty="0">
                <a:solidFill>
                  <a:srgbClr val="000000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:45 - 17:00  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latin typeface="Arial" panose="020B0604020202020204" pitchFamily="34" charset="0"/>
              </a:rPr>
              <a:t>D222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 	Scientific work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0</a:t>
            </a: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 9:00 - 16:00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ZOO)</a:t>
            </a:r>
            <a:r>
              <a:rPr lang="en-GB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Excursion</a:t>
            </a:r>
            <a:endParaRPr lang="en-GB" b="0" dirty="0"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09</a:t>
            </a:r>
            <a:r>
              <a:rPr lang="en-GB" sz="1400" u="none" strike="noStrike" dirty="0">
                <a:solidFill>
                  <a:srgbClr val="007A3D"/>
                </a:solidFill>
                <a:effectLst/>
                <a:latin typeface="SF Mono Light" panose="020B0009000002000000" pitchFamily="49" charset="0"/>
                <a:cs typeface="SF Mono Light" panose="020B0009000002000000" pitchFamily="49" charset="0"/>
              </a:rPr>
              <a:t>.10.  8:30 - 17:00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(VN306)	Supervised preparation</a:t>
            </a:r>
            <a:endParaRPr lang="en-GB" dirty="0">
              <a:solidFill>
                <a:srgbClr val="007A3D"/>
              </a:solidFill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20.10.  8:00 - 13:45 </a:t>
            </a:r>
            <a:r>
              <a:rPr lang="en-GB" sz="1800" b="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(D222)	</a:t>
            </a:r>
            <a:r>
              <a:rPr lang="en-GB" b="1" dirty="0">
                <a:solidFill>
                  <a:srgbClr val="007A3D"/>
                </a:solidFill>
                <a:latin typeface="Arial" panose="020B0604020202020204" pitchFamily="34" charset="0"/>
              </a:rPr>
              <a:t>Symposium </a:t>
            </a:r>
            <a:r>
              <a:rPr lang="en-GB" dirty="0">
                <a:solidFill>
                  <a:srgbClr val="007A3D"/>
                </a:solidFill>
                <a:latin typeface="Arial" panose="020B0604020202020204" pitchFamily="34" charset="0"/>
              </a:rPr>
              <a:t>(presentations)</a:t>
            </a:r>
            <a:endParaRPr lang="en-GB" b="0" dirty="0">
              <a:solidFill>
                <a:srgbClr val="007A3D"/>
              </a:solidFill>
              <a:effectLst/>
            </a:endParaRPr>
          </a:p>
          <a:p>
            <a:pPr>
              <a:spcAft>
                <a:spcPts val="300"/>
              </a:spcAft>
            </a:pPr>
            <a:r>
              <a:rPr lang="en-GB" sz="1400" dirty="0">
                <a:solidFill>
                  <a:srgbClr val="007A3D"/>
                </a:solidFill>
                <a:latin typeface="SF Mono Light" panose="020B0009000002000000" pitchFamily="49" charset="0"/>
                <a:cs typeface="SF Mono Light" panose="020B0009000002000000" pitchFamily="49" charset="0"/>
              </a:rPr>
              <a:t>21.10. 14:00 - 18:30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	</a:t>
            </a:r>
            <a:r>
              <a:rPr lang="en-GB" sz="180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?D424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?</a:t>
            </a:r>
            <a:r>
              <a:rPr lang="en-GB" sz="18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	Symposium </a:t>
            </a:r>
            <a:r>
              <a:rPr lang="en-GB" sz="1800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(presentations)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9228C-4B29-7A46-8986-1BA6A5F3C02C}"/>
              </a:ext>
            </a:extLst>
          </p:cNvPr>
          <p:cNvSpPr txBox="1"/>
          <p:nvPr/>
        </p:nvSpPr>
        <p:spPr>
          <a:xfrm>
            <a:off x="1313732" y="505257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dirty="0">
                <a:latin typeface="Arial" panose="020B0604020202020204" pitchFamily="34" charset="0"/>
                <a:cs typeface="Arial" panose="020B0604020202020204" pitchFamily="34" charset="0"/>
              </a:rPr>
              <a:t>https://github.com/MartinBulla/Ecology_Fund_Gen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872A9A8-5D46-5946-A739-A938C5E1D923}"/>
              </a:ext>
            </a:extLst>
          </p:cNvPr>
          <p:cNvSpPr txBox="1">
            <a:spLocks/>
          </p:cNvSpPr>
          <p:nvPr/>
        </p:nvSpPr>
        <p:spPr>
          <a:xfrm>
            <a:off x="1313732" y="420219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material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AD6002-67A3-A85F-E570-EBC82E265379}"/>
              </a:ext>
            </a:extLst>
          </p:cNvPr>
          <p:cNvSpPr txBox="1"/>
          <p:nvPr/>
        </p:nvSpPr>
        <p:spPr>
          <a:xfrm>
            <a:off x="1305364" y="4033945"/>
            <a:ext cx="5835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>
                <a:latin typeface="Arial" panose="020B0604020202020204" pitchFamily="34" charset="0"/>
                <a:cs typeface="Arial" panose="020B0604020202020204" pitchFamily="34" charset="0"/>
              </a:rPr>
              <a:t>https://tinyurl.com/FunEcol</a:t>
            </a:r>
            <a:endParaRPr lang="en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EC4538-FBC5-C222-085A-A4D4A0CE55B6}"/>
              </a:ext>
            </a:extLst>
          </p:cNvPr>
          <p:cNvSpPr txBox="1">
            <a:spLocks/>
          </p:cNvSpPr>
          <p:nvPr/>
        </p:nvSpPr>
        <p:spPr>
          <a:xfrm>
            <a:off x="1305364" y="3183566"/>
            <a:ext cx="360551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GB" sz="2800" dirty="0">
                <a:solidFill>
                  <a:srgbClr val="007A3D"/>
                </a:solidFill>
              </a:rPr>
              <a:t> syllabus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6EFCC41-5E92-43D6-0A38-FEE4FB614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800" y="4687242"/>
            <a:ext cx="687600" cy="68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323209-DD6F-0D4E-8AC8-00F49735A3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800" y="3755066"/>
            <a:ext cx="687600" cy="6812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29389A-3EC8-1127-71F9-0FB301F839E2}"/>
              </a:ext>
            </a:extLst>
          </p:cNvPr>
          <p:cNvSpPr txBox="1"/>
          <p:nvPr/>
        </p:nvSpPr>
        <p:spPr>
          <a:xfrm>
            <a:off x="2126819" y="1525565"/>
            <a:ext cx="4614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BE ON TIME!!!</a:t>
            </a:r>
            <a:endParaRPr lang="en-CZ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267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3" grpId="0"/>
      <p:bldP spid="9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54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</a:t>
            </a:r>
            <a:r>
              <a:rPr lang="en-GB" sz="3600" dirty="0">
                <a:solidFill>
                  <a:srgbClr val="007A3D"/>
                </a:solidFill>
              </a:rPr>
              <a:t>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0454"/>
            <a:ext cx="8229600" cy="4989334"/>
          </a:xfrm>
        </p:spPr>
        <p:txBody>
          <a:bodyPr>
            <a:normAutofit lnSpcReduction="10000"/>
          </a:bodyPr>
          <a:lstStyle/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20 min talk + 25 min discussion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On key aspects of ecology </a:t>
            </a:r>
            <a:endParaRPr lang="en-GB" sz="2400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Topic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Papers - traditional and current</a:t>
            </a:r>
          </a:p>
          <a:p>
            <a:pPr marL="0" indent="0">
              <a:buNone/>
              <a:defRPr sz="2000"/>
            </a:pPr>
            <a:endParaRPr lang="en-GB" sz="1300" dirty="0">
              <a:solidFill>
                <a:srgbClr val="222222"/>
              </a:solidFill>
            </a:endParaRPr>
          </a:p>
          <a:p>
            <a:pPr>
              <a:defRPr sz="2000"/>
            </a:pPr>
            <a:r>
              <a:rPr lang="en-GB" sz="2400" dirty="0">
                <a:solidFill>
                  <a:srgbClr val="222222"/>
                </a:solidFill>
              </a:rPr>
              <a:t>10 teams of ~5 people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randomly selected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all members contribute equally &amp; present</a:t>
            </a:r>
          </a:p>
          <a:p>
            <a:pPr lvl="1">
              <a:defRPr sz="2000"/>
            </a:pP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~workload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reading the papers and literature search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preparing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hands on seminar finalising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training the presentation</a:t>
            </a:r>
          </a:p>
          <a:p>
            <a:pPr lvl="2"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1 day – presentation and engagement in the discussion </a:t>
            </a:r>
          </a:p>
          <a:p>
            <a:pPr marL="914400" lvl="2" indent="0">
              <a:buNone/>
              <a:defRPr sz="2000"/>
            </a:pPr>
            <a:r>
              <a:rPr lang="en-GB" sz="1600" dirty="0">
                <a:solidFill>
                  <a:schemeClr val="bg1">
                    <a:lumMod val="50000"/>
                  </a:schemeClr>
                </a:solidFill>
              </a:rPr>
              <a:t>				  (yours and presentations of others)</a:t>
            </a:r>
          </a:p>
          <a:p>
            <a:pPr lvl="1">
              <a:defRPr sz="2000"/>
            </a:pPr>
            <a:endParaRPr lang="en-GB" sz="20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  <a:p>
            <a:pPr>
              <a:defRPr sz="2000"/>
            </a:pPr>
            <a:endParaRPr lang="en-GB" sz="2400" dirty="0">
              <a:solidFill>
                <a:srgbClr val="22222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6679"/>
            <a:ext cx="8229600" cy="1143000"/>
          </a:xfrm>
        </p:spPr>
        <p:txBody>
          <a:bodyPr>
            <a:normAutofit/>
          </a:bodyPr>
          <a:lstStyle/>
          <a:p>
            <a:pPr algn="l"/>
            <a:r>
              <a:rPr lang="en-GB" sz="3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Presentations </a:t>
            </a:r>
            <a:r>
              <a:rPr lang="en-GB" sz="3600" dirty="0">
                <a:solidFill>
                  <a:srgbClr val="007A3D"/>
                </a:solidFill>
              </a:rPr>
              <a:t>evaluation</a:t>
            </a:r>
            <a:endParaRPr sz="36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8CF019E-3D29-1341-B1EB-244B58B1420D}"/>
              </a:ext>
            </a:extLst>
          </p:cNvPr>
          <p:cNvSpPr txBox="1">
            <a:spLocks/>
          </p:cNvSpPr>
          <p:nvPr/>
        </p:nvSpPr>
        <p:spPr>
          <a:xfrm>
            <a:off x="457200" y="937268"/>
            <a:ext cx="7593724" cy="5075294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Conceptual </a:t>
            </a:r>
            <a:r>
              <a:rPr lang="en-GB" sz="2400" dirty="0">
                <a:solidFill>
                  <a:srgbClr val="222222"/>
                </a:solidFill>
              </a:rPr>
              <a:t>understanding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GB" sz="2400" dirty="0">
                <a:solidFill>
                  <a:srgbClr val="222222"/>
                </a:solidFill>
              </a:rPr>
              <a:t> clarity                                            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000" dirty="0">
                <a:solidFill>
                  <a:srgbClr val="007A3D"/>
                </a:solidFill>
              </a:rPr>
              <a:t>synthesize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primary literature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007A3D"/>
                </a:solidFill>
              </a:rPr>
              <a:t>Connection</a:t>
            </a:r>
            <a:r>
              <a:rPr lang="en-GB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of ideas (e.g. classical with modern developments)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Correctness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arguments grounded in evidence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/>
              <a:t>Academic integrity </a:t>
            </a:r>
            <a:r>
              <a:rPr lang="en-GB" sz="2400" dirty="0">
                <a:solidFill>
                  <a:schemeClr val="bg1">
                    <a:lumMod val="50000"/>
                  </a:schemeClr>
                </a:solidFill>
              </a:rPr>
              <a:t>/ AI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rgbClr val="222222"/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007A3D"/>
                </a:solidFill>
              </a:rPr>
              <a:t>TEAM-work</a:t>
            </a:r>
            <a:r>
              <a:rPr lang="en-GB" sz="2400" dirty="0">
                <a:solidFill>
                  <a:srgbClr val="C00000"/>
                </a:solidFill>
              </a:rPr>
              <a:t> 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r>
              <a:rPr lang="en-GB" sz="2400" dirty="0"/>
              <a:t>	Individual penalisation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FFC000"/>
                </a:solidFill>
              </a:rPr>
              <a:t>Yellow card </a:t>
            </a:r>
            <a:r>
              <a:rPr lang="en-GB" sz="2000" dirty="0"/>
              <a:t>= - 10 points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(very poor presentation/involvement)</a:t>
            </a:r>
          </a:p>
          <a:p>
            <a:pPr lvl="1"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000" dirty="0">
                <a:solidFill>
                  <a:srgbClr val="C00000"/>
                </a:solidFill>
              </a:rPr>
              <a:t>Red card </a:t>
            </a:r>
            <a:r>
              <a:rPr lang="en-GB" sz="2000" dirty="0"/>
              <a:t>= fail </a:t>
            </a:r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(no or minimal cooperation and participation in preparing presentation)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  <a:defRPr sz="2000"/>
            </a:pPr>
            <a:endParaRPr lang="en-GB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Engagement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ability to capture audience’s attention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Visual quality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Structure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</a:t>
            </a:r>
            <a:r>
              <a:rPr lang="en-GB" sz="2400" dirty="0">
                <a:solidFill>
                  <a:srgbClr val="222222"/>
                </a:solidFill>
              </a:rPr>
              <a:t>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logical and easy to follow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rgbClr val="222222"/>
                </a:solidFill>
              </a:rPr>
              <a:t>Timing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(20min): those continuing over 20 min - stopped and loosing 10 points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endParaRPr lang="en-GB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Ability to </a:t>
            </a:r>
            <a:r>
              <a:rPr lang="en-GB" sz="2400" dirty="0">
                <a:solidFill>
                  <a:srgbClr val="222222"/>
                </a:solidFill>
              </a:rPr>
              <a:t>discuss &amp; defend 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en-GB" sz="2400" dirty="0">
                <a:solidFill>
                  <a:srgbClr val="222222"/>
                </a:solidFill>
              </a:rPr>
              <a:t> views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000"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Reusability as </a:t>
            </a:r>
            <a:r>
              <a:rPr lang="en-GB" sz="2400" dirty="0">
                <a:solidFill>
                  <a:srgbClr val="222222"/>
                </a:solidFill>
              </a:rPr>
              <a:t>study material</a:t>
            </a: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for pears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5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8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1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7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284" y="-282402"/>
            <a:ext cx="8229600" cy="1143000"/>
          </a:xfrm>
        </p:spPr>
        <p:txBody>
          <a:bodyPr>
            <a:normAutofit/>
          </a:bodyPr>
          <a:lstStyle/>
          <a:p>
            <a:pPr algn="l">
              <a:defRPr sz="3400"/>
            </a:pPr>
            <a:r>
              <a:rPr lang="en-DE" sz="3200" dirty="0">
                <a:solidFill>
                  <a:schemeClr val="bg1">
                    <a:lumMod val="50000"/>
                  </a:schemeClr>
                </a:solidFill>
              </a:rPr>
              <a:t>Course</a:t>
            </a:r>
            <a:r>
              <a:rPr lang="en-DE" sz="3200" dirty="0">
                <a:solidFill>
                  <a:srgbClr val="007A3D"/>
                </a:solidFill>
              </a:rPr>
              <a:t> requirements</a:t>
            </a:r>
            <a:endParaRPr sz="32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CEB46-FC51-E34E-8D6B-EBF3949ECAE4}"/>
              </a:ext>
            </a:extLst>
          </p:cNvPr>
          <p:cNvSpPr txBox="1"/>
          <p:nvPr/>
        </p:nvSpPr>
        <p:spPr>
          <a:xfrm>
            <a:off x="831323" y="782245"/>
            <a:ext cx="7703087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To be admitted to the exam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, you need to: </a:t>
            </a:r>
          </a:p>
          <a:p>
            <a:pPr rtl="0">
              <a:spcAft>
                <a:spcPts val="300"/>
              </a:spcAft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	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excursion 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 one-day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hands-on seminar</a:t>
            </a:r>
          </a:p>
          <a:p>
            <a:pPr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	– fully attend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symposia and receive a score &gt;50%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presentation </a:t>
            </a:r>
          </a:p>
          <a:p>
            <a:pPr marL="2114550" lvl="4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active participation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and contribution to the discussion, e.g.: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asking questions </a:t>
            </a:r>
            <a:r>
              <a:rPr lang="en-GB" sz="1100" b="0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&amp;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providing feedback </a:t>
            </a:r>
          </a:p>
          <a:p>
            <a:pPr marL="3028950" lvl="6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no question </a:t>
            </a: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=</a:t>
            </a:r>
            <a:r>
              <a:rPr lang="en-GB" sz="1100" dirty="0">
                <a:solidFill>
                  <a:srgbClr val="000000"/>
                </a:solidFill>
                <a:latin typeface="Arial" panose="020B0604020202020204" pitchFamily="34" charset="0"/>
              </a:rPr>
              <a:t> -10 points</a:t>
            </a:r>
            <a:r>
              <a:rPr lang="en-GB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6">
              <a:spcAft>
                <a:spcPts val="300"/>
              </a:spcAft>
            </a:pPr>
            <a:endParaRPr lang="en-GB" sz="5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1">
              <a:spcAft>
                <a:spcPts val="300"/>
              </a:spcAft>
            </a:pP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–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arrive BEFORE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the scheduled </a:t>
            </a:r>
            <a:r>
              <a:rPr lang="en-GB" sz="1200" dirty="0">
                <a:solidFill>
                  <a:srgbClr val="C00000"/>
                </a:solidFill>
                <a:latin typeface="Arial" panose="020B0604020202020204" pitchFamily="34" charset="0"/>
              </a:rPr>
              <a:t>start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of compulsory activity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late commers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7A3D"/>
                </a:solidFill>
                <a:latin typeface="Arial" panose="020B0604020202020204" pitchFamily="34" charset="0"/>
              </a:rPr>
              <a:t>early leavers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		fail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reasons for absences - evaluated individually; contact </a:t>
            </a:r>
            <a:r>
              <a:rPr lang="en-GB" sz="12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mikulap@fzp.czu.cz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as early as possible, ideally few days before the affected course activity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along with relevant documentation where required. </a:t>
            </a:r>
          </a:p>
          <a:p>
            <a:pPr marL="1657350" lvl="3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ad hoc excuses and excuses after the start of an activity are not considered.</a:t>
            </a:r>
          </a:p>
          <a:p>
            <a:pPr lvl="2">
              <a:spcAft>
                <a:spcPts val="300"/>
              </a:spcAft>
            </a:pPr>
            <a:endParaRPr lang="en-GB" sz="700" b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spcAft>
                <a:spcPts val="300"/>
              </a:spcAft>
            </a:pPr>
            <a:r>
              <a:rPr lang="en-GB" sz="1200" b="1" dirty="0">
                <a:solidFill>
                  <a:srgbClr val="007A3D"/>
                </a:solidFill>
                <a:latin typeface="Arial" panose="020B0604020202020204" pitchFamily="34" charset="0"/>
              </a:rPr>
              <a:t>Final grade composition</a:t>
            </a:r>
            <a:endParaRPr lang="en-GB" sz="1200" b="1" dirty="0">
              <a:solidFill>
                <a:srgbClr val="007A3D"/>
              </a:solidFill>
            </a:endParaRP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latin typeface="Arial" panose="020B0604020202020204" pitchFamily="34" charset="0"/>
              </a:rPr>
              <a:t>symposia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60%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(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40%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)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–</a:t>
            </a: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</a:rPr>
              <a:t>multiple choice test evaluating knowledge of key ecological principles</a:t>
            </a:r>
          </a:p>
          <a:p>
            <a:pPr marL="1200150" lvl="2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GB" sz="700" dirty="0"/>
          </a:p>
          <a:p>
            <a:pPr rtl="0">
              <a:spcAft>
                <a:spcPts val="300"/>
              </a:spcAft>
            </a:pPr>
            <a:r>
              <a:rPr lang="en-GB" sz="1200" b="1" i="0" u="none" strike="noStrike" dirty="0">
                <a:solidFill>
                  <a:srgbClr val="007A3D"/>
                </a:solidFill>
                <a:effectLst/>
                <a:latin typeface="Arial" panose="020B0604020202020204" pitchFamily="34" charset="0"/>
              </a:rPr>
              <a:t>Passing the course </a:t>
            </a:r>
            <a:r>
              <a:rPr lang="en-GB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lang="en-GB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symposia </a:t>
            </a:r>
            <a:r>
              <a:rPr lang="en-GB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&gt;50%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exam grade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 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rgbClr val="000000"/>
                </a:solidFill>
                <a:latin typeface="Arial" panose="020B0604020202020204" pitchFamily="34" charset="0"/>
              </a:rPr>
              <a:t>overall course score </a:t>
            </a:r>
            <a:r>
              <a:rPr lang="en-CZ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≥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70</a:t>
            </a:r>
            <a:r>
              <a:rPr lang="en-DE"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</a:rPr>
              <a:t>%</a:t>
            </a:r>
            <a:endParaRPr lang="en-GB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06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AE79-6231-07AE-A792-AD1D3CF50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474E1-A3C2-A678-59D9-84EA8ABA6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129164"/>
            <a:ext cx="8823433" cy="1143000"/>
          </a:xfrm>
        </p:spPr>
        <p:txBody>
          <a:bodyPr>
            <a:noAutofit/>
          </a:bodyPr>
          <a:lstStyle/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No Emails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about the content of this presentation, please!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FD3C4F-EFD9-EEE9-8813-3995E624215C}"/>
              </a:ext>
            </a:extLst>
          </p:cNvPr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E229AF-D41F-8CFD-79F4-64F6A120B3AA}"/>
              </a:ext>
            </a:extLst>
          </p:cNvPr>
          <p:cNvSpPr txBox="1">
            <a:spLocks/>
          </p:cNvSpPr>
          <p:nvPr/>
        </p:nvSpPr>
        <p:spPr>
          <a:xfrm>
            <a:off x="460320" y="819772"/>
            <a:ext cx="882343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400"/>
            </a:pPr>
            <a:r>
              <a:rPr lang="en-GB" sz="3200" b="1" dirty="0">
                <a:solidFill>
                  <a:srgbClr val="007A3D"/>
                </a:solidFill>
              </a:rPr>
              <a:t>Questions </a:t>
            </a:r>
            <a:r>
              <a:rPr lang="en-GB" sz="3200" dirty="0">
                <a:solidFill>
                  <a:schemeClr val="bg1">
                    <a:lumMod val="50000"/>
                  </a:schemeClr>
                </a:solidFill>
              </a:rPr>
              <a:t>please!</a:t>
            </a:r>
          </a:p>
        </p:txBody>
      </p:sp>
    </p:spTree>
    <p:extLst>
      <p:ext uri="{BB962C8B-B14F-4D97-AF65-F5344CB8AC3E}">
        <p14:creationId xmlns:p14="http://schemas.microsoft.com/office/powerpoint/2010/main" val="3866899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971" y="48895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sz="3600" dirty="0">
                <a:solidFill>
                  <a:srgbClr val="007A3D"/>
                </a:solidFill>
              </a:rPr>
              <a:t>Topics &amp; 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6541" y="410547"/>
            <a:ext cx="2866863" cy="450720"/>
          </a:xfrm>
        </p:spPr>
        <p:txBody>
          <a:bodyPr>
            <a:normAutofit lnSpcReduction="10000"/>
          </a:bodyPr>
          <a:lstStyle/>
          <a:p>
            <a:r>
              <a:rPr lang="en-GB" sz="2400" dirty="0">
                <a:solidFill>
                  <a:srgbClr val="222222"/>
                </a:solidFill>
              </a:rPr>
              <a:t>Assignment to groups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DF9B10-F6C6-E8EA-0A26-27D1E6D36C18}"/>
              </a:ext>
            </a:extLst>
          </p:cNvPr>
          <p:cNvSpPr txBox="1"/>
          <p:nvPr/>
        </p:nvSpPr>
        <p:spPr>
          <a:xfrm>
            <a:off x="373971" y="1064757"/>
            <a:ext cx="8726486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1. Eco-evolutionary dynamics &amp; life histories 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Sifakakis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Stylianos, </a:t>
            </a:r>
            <a:r>
              <a:rPr lang="sv-SE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Serikbay Assiya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Bjorklof Juulia, Varga Luca Anna, </a:t>
            </a:r>
            <a:r>
              <a:rPr lang="sv-S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Flaskova</a:t>
            </a:r>
            <a:r>
              <a:rPr lang="sv-S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Katerina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2. Population ecology essentials</a:t>
            </a:r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Diaz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Cristhiam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Sengul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Ali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Eren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Dashab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Laaura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Koci Aron,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Otubushin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Marco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Olukayode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Ferencova Zoe</a:t>
            </a:r>
            <a:endParaRPr lang="en-GB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3. Species interactions &amp; coexistence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Vaghadia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Saket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Dilip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De Mar Youssef Ralf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Singh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Angleen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Mejsnarova Veronika,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Kerkhoff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Sigrid</a:t>
            </a:r>
          </a:p>
          <a:p>
            <a:endParaRPr lang="en-GB" sz="500" b="1" dirty="0">
              <a:solidFill>
                <a:srgbClr val="FFC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4. Food webs &amp; network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Olari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Eugenia,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Goretti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Francesca,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Gonon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Yoan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Alexis,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Katende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Ukasha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Ndugwa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Kinene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Rattu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Siddhant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Santosh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Drahokoupil Denis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5. Macroecology &amp; biogeography 1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Polackova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Natalie,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Naik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Vinayak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Kumar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Musel Simon,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Mehlhose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Hagen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Maik,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Garner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Alexandra,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Novruzov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Novruz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Lorin</a:t>
            </a:r>
            <a:r>
              <a:rPr lang="cs-CZ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Sevinc</a:t>
            </a:r>
            <a:endParaRPr lang="cs-CZ" sz="1100" dirty="0">
              <a:solidFill>
                <a:srgbClr val="C0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6. Macroecology &amp; biogeography 2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Plivova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Klara,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Folgado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Toscano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Santos Ines de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Oliveira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Tsvetkov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Stanislav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Atanasov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Tassel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Elise Marie Claire,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Duarte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Daniela de Mělo</a:t>
            </a: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7. Global change e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</a:t>
            </a:r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ology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Domingos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Lourenco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Marreiros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Loureiro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Joao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Kandl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Matyas,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Casian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Romana,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Kripa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Phone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Thant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8. Drivers of biodiversity crisis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Owlanj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Hesam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Dimitrievski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Matej,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Muchowska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Zofia,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Alvarez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Peralta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Diana Raphaela,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Keenen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Katelyn</a:t>
            </a:r>
            <a:endParaRPr lang="cs-CZ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9. Biodiversity</a:t>
            </a:r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en-GB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DiNicola Julie, </a:t>
            </a:r>
            <a:r>
              <a:rPr lang="en-GB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Havlik Zdenek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Daniiarov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Zhantai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Sturaite</a:t>
            </a:r>
            <a:r>
              <a:rPr lang="en-GB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Goda, </a:t>
            </a:r>
            <a:r>
              <a:rPr lang="en-GB" sz="1100" dirty="0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Gantulga </a:t>
            </a:r>
            <a:r>
              <a:rPr lang="en-GB" sz="1100" dirty="0" err="1">
                <a:solidFill>
                  <a:srgbClr val="C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Munkhtulga</a:t>
            </a:r>
            <a:endParaRPr lang="en-GB" sz="1100" dirty="0">
              <a:solidFill>
                <a:srgbClr val="C0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endParaRPr lang="en-GB" sz="5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10. Applied ecology: New tools &amp; data streams</a:t>
            </a:r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</a:p>
          <a:p>
            <a:r>
              <a:rPr lang="cs-CZ" sz="1400" b="1" dirty="0">
                <a:solidFill>
                  <a:srgbClr val="FFC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	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Revazishvili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Anano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Kyaw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Htet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Aung,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Ponya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Valeria,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Hazuchova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Zoja,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Saran</a:t>
            </a:r>
            <a:r>
              <a:rPr lang="cs-CZ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cs-CZ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Abhishek</a:t>
            </a:r>
            <a:endParaRPr lang="en-DE" sz="1100" dirty="0">
              <a:solidFill>
                <a:schemeClr val="tx1">
                  <a:lumMod val="50000"/>
                  <a:lumOff val="50000"/>
                </a:schemeClr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Eco-evolutionary dynamics &amp; life histories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Does the fast-slow continuum adequately capture life history variation across taxa, or do we need multiple axes of life-history strategy?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Stearns, S. C. (1977). The evolution of life history traits: a critique of the theory and a review of the data. Annual Review of Ecology and Systematics, 145–171.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Stott, I. et al. (2024). Life histories are not just fast or slow. Trends in Ecology &amp; Evolution, 39(9), 830–840.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Population ecology essentials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Allee effects: ecological curiosity or fundamental driver of population dynamics?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Stephens, P. A., Sutherland, W. J., &amp; Freckleton, R. P. (1999). What is the Allee effect? Oikos, 185–190.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Muir, E. J., Lajeunesse, M. J., &amp; Kramer, A. M. (2024). The magnitude of Allee effects varies across mechanisms. Oikos, 2024(7), e10386.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Species interactions &amp; coexistence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Top-down control or bottom-up release: Is there evidence for predation’s grip on prey numbers?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Krebs, C. J. et al. (1995). Impact of food and predation on the snowshoe hare cycle. Science, 269, 1112–1115.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lang="en-US" dirty="0">
                <a:solidFill>
                  <a:srgbClr val="222222"/>
                </a:solidFill>
              </a:rPr>
              <a:t>Oli, M.K. et al</a:t>
            </a:r>
            <a:r>
              <a:rPr dirty="0">
                <a:solidFill>
                  <a:srgbClr val="222222"/>
                </a:solidFill>
              </a:rPr>
              <a:t>. (20</a:t>
            </a:r>
            <a:r>
              <a:rPr lang="en-US" dirty="0">
                <a:solidFill>
                  <a:srgbClr val="222222"/>
                </a:solidFill>
              </a:rPr>
              <a:t>25</a:t>
            </a:r>
            <a:r>
              <a:rPr dirty="0">
                <a:solidFill>
                  <a:srgbClr val="222222"/>
                </a:solidFill>
              </a:rPr>
              <a:t>). </a:t>
            </a:r>
            <a:r>
              <a:rPr lang="en-GB" dirty="0">
                <a:solidFill>
                  <a:srgbClr val="222222"/>
                </a:solidFill>
              </a:rPr>
              <a:t>Demographic mechanisms of snowshoe hare population cycles in Yukon, Canada</a:t>
            </a:r>
            <a:r>
              <a:rPr dirty="0">
                <a:solidFill>
                  <a:srgbClr val="222222"/>
                </a:solidFill>
              </a:rPr>
              <a:t>. Journal of Animal Ecology, </a:t>
            </a:r>
            <a:r>
              <a:rPr lang="en-US" dirty="0">
                <a:solidFill>
                  <a:srgbClr val="222222"/>
                </a:solidFill>
              </a:rPr>
              <a:t>1</a:t>
            </a:r>
            <a:r>
              <a:rPr dirty="0">
                <a:solidFill>
                  <a:srgbClr val="222222"/>
                </a:solidFill>
              </a:rPr>
              <a:t>–</a:t>
            </a:r>
            <a:r>
              <a:rPr lang="en-US" dirty="0">
                <a:solidFill>
                  <a:srgbClr val="222222"/>
                </a:solidFill>
              </a:rPr>
              <a:t>18</a:t>
            </a:r>
            <a:r>
              <a:rPr dirty="0"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Food webs &amp; network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keystone to rewiring: does food-web complexity build local biodiversity?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Paine, R. T. (1966). Food web complexity and species diversity. The American Naturalist, 100(910), 65–75.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Bartley, T. J. et al. (2019). Food web rewiring in a changing world. Nature Ecology &amp; Evolution, 3, 345–354.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&amp; biogeography </a:t>
            </a:r>
            <a:r>
              <a:rPr lang="cs-CZ" sz="3600" dirty="0">
                <a:solidFill>
                  <a:srgbClr val="007A3D"/>
                </a:solidFill>
              </a:rPr>
              <a:t>1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Latitudinal gradients in biodiversity (and its dimensions) - how and why?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Willig, M. R., Kaufman, D. M., &amp; Stevens, R. D. (2003). Latitudinal gradients of biodiversity. AREES, 34, 273–309.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Brodie, J. F., &amp; Mannion, P. D. (2023). The hierarchy of factors predicting the LDG. TREE, 38(1), 15–23.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Macroecology </a:t>
            </a:r>
            <a:r>
              <a:rPr lang="cs-CZ" sz="3600" dirty="0">
                <a:solidFill>
                  <a:srgbClr val="007A3D"/>
                </a:solidFill>
              </a:rPr>
              <a:t>and </a:t>
            </a:r>
            <a:r>
              <a:rPr lang="cs-CZ" sz="3600" dirty="0" err="1">
                <a:solidFill>
                  <a:srgbClr val="007A3D"/>
                </a:solidFill>
              </a:rPr>
              <a:t>biogeography</a:t>
            </a:r>
            <a:r>
              <a:rPr lang="cs-CZ" sz="3600" dirty="0">
                <a:solidFill>
                  <a:srgbClr val="007A3D"/>
                </a:solidFill>
              </a:rPr>
              <a:t> 2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How many species do we actually have on Earth? Why is it so hard to estimate?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Mora, C. et al. (2011). How many species are there on Earth and in the ocean? PLoS Biology, 9(8), e1001127.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 (2023). How many species are there on Earth? Progress and problems. PLoS Biology, 21(11), e3002388.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Global change ecology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Are we facing a sixth mass extinction?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Ceballos, G. et al. (2015). Entering the sixth mass extinction. Science Advances, 1(5), e1400253.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Wiens, J. J., &amp; Saban, K. E. (2025). Questioning the sixth mass extinction. TREE, 40(4), 375–384.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>
                <a:solidFill>
                  <a:srgbClr val="007A3D"/>
                </a:solidFill>
              </a:rPr>
              <a:t>Drivers of biodiversity crisis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What are the main drivers of the current biodiversity crisis?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Bar-On, Y. M., Phillips, R., &amp; Milo, R. (2018). The biomass distribution on Earth. PNAS, 115(25), 6506–6511.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Jaureguiberry</a:t>
            </a:r>
            <a:r>
              <a:rPr dirty="0">
                <a:solidFill>
                  <a:srgbClr val="222222"/>
                </a:solidFill>
              </a:rPr>
              <a:t>, P. et al. (2022). Direct drivers of global biodiversity loss. Science Advances, 8(45), eabm9982.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1143000"/>
          </a:xfrm>
        </p:spPr>
        <p:txBody>
          <a:bodyPr>
            <a:noAutofit/>
          </a:bodyPr>
          <a:lstStyle/>
          <a:p>
            <a:r>
              <a:rPr sz="3600" dirty="0">
                <a:solidFill>
                  <a:srgbClr val="007A3D"/>
                </a:solidFill>
              </a:rPr>
              <a:t>Biodiversity ↔ ecosystem functioning/services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services to contributions: valuing nature in a human world</a:t>
            </a:r>
            <a:endParaRPr lang="cs-CZ" sz="2400" dirty="0">
              <a:solidFill>
                <a:srgbClr val="222222"/>
              </a:solidFill>
            </a:endParaRPr>
          </a:p>
          <a:p>
            <a:pPr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Costanza, R. et al. (1997). The value of the world's ecosystem services and natural capital. Nature, 387, 253–260.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Díaz, S. et al. (2018). Assessing nature's contributions to people. Science, 359(6373), 270–272.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7A3D"/>
                </a:solidFill>
              </a:rPr>
              <a:t>Applied ecology: New tools &amp; data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 b="1"/>
            </a:pPr>
            <a:r>
              <a:rPr lang="en-GB" sz="2400" b="1" dirty="0"/>
              <a:t>From new dawn to new standard: citizen science in ecology</a:t>
            </a:r>
            <a:endParaRPr lang="cs-CZ" sz="2400" b="1" dirty="0"/>
          </a:p>
          <a:p>
            <a:pPr marL="0" indent="0">
              <a:buNone/>
              <a:defRPr sz="2000" b="1"/>
            </a:pPr>
            <a:endParaRPr lang="cs-CZ" dirty="0">
              <a:solidFill>
                <a:srgbClr val="222222"/>
              </a:solidFill>
            </a:endParaRP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Classic:</a:t>
            </a:r>
          </a:p>
          <a:p>
            <a:pPr lvl="1">
              <a:defRPr sz="1800"/>
            </a:pPr>
            <a:r>
              <a:rPr dirty="0">
                <a:solidFill>
                  <a:srgbClr val="222222"/>
                </a:solidFill>
              </a:rPr>
              <a:t>Silvertown, J. (2009). A new dawn for citizen science. TREE, 24(9), 467–471.</a:t>
            </a:r>
          </a:p>
          <a:p>
            <a:pPr>
              <a:defRPr sz="2000" b="1"/>
            </a:pPr>
            <a:r>
              <a:rPr dirty="0">
                <a:solidFill>
                  <a:srgbClr val="222222"/>
                </a:solidFill>
              </a:rPr>
              <a:t>Recent:</a:t>
            </a:r>
          </a:p>
          <a:p>
            <a:pPr lvl="1">
              <a:defRPr sz="1800"/>
            </a:pPr>
            <a:r>
              <a:rPr dirty="0" err="1">
                <a:solidFill>
                  <a:srgbClr val="222222"/>
                </a:solidFill>
              </a:rPr>
              <a:t>Fraisl</a:t>
            </a:r>
            <a:r>
              <a:rPr dirty="0">
                <a:solidFill>
                  <a:srgbClr val="222222"/>
                </a:solidFill>
              </a:rPr>
              <a:t>, D. et al. (2022). Citizen science in environmental &amp; ecological sciences. Nature Reviews Methods Primers, 2, 64.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139238"/>
            <a:ext cx="7772400" cy="1362075"/>
          </a:xfrm>
        </p:spPr>
        <p:txBody>
          <a:bodyPr>
            <a:normAutofit/>
          </a:bodyPr>
          <a:lstStyle/>
          <a:p>
            <a:pPr>
              <a:defRPr sz="4400"/>
            </a:pPr>
            <a:r>
              <a:rPr lang="en-GB" sz="3600" dirty="0">
                <a:solidFill>
                  <a:srgbClr val="007A3D"/>
                </a:solidFill>
              </a:rPr>
              <a:t>F</a:t>
            </a:r>
            <a:r>
              <a:rPr lang="en-DE" sz="3600">
                <a:solidFill>
                  <a:srgbClr val="007A3D"/>
                </a:solidFill>
              </a:rPr>
              <a:t>undAmentals </a:t>
            </a:r>
            <a:r>
              <a:rPr lang="en-DE" sz="3600" dirty="0">
                <a:solidFill>
                  <a:srgbClr val="007A3D"/>
                </a:solidFill>
              </a:rPr>
              <a:t>of Ecology</a:t>
            </a:r>
            <a:br>
              <a:rPr lang="en-DE" sz="3600" dirty="0">
                <a:solidFill>
                  <a:srgbClr val="007A3D"/>
                </a:solidFill>
              </a:rPr>
            </a:br>
            <a:r>
              <a:rPr lang="en-DE" sz="3600" dirty="0">
                <a:solidFill>
                  <a:srgbClr val="007A3D"/>
                </a:solidFill>
              </a:rPr>
              <a:t>General ecology</a:t>
            </a:r>
            <a:endParaRPr sz="3600" dirty="0">
              <a:solidFill>
                <a:srgbClr val="007A3D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endParaRPr dirty="0">
              <a:solidFill>
                <a:srgbClr val="222222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F11E535-7BDD-3746-8BC7-C10327BBEF05}"/>
              </a:ext>
            </a:extLst>
          </p:cNvPr>
          <p:cNvSpPr txBox="1">
            <a:spLocks/>
          </p:cNvSpPr>
          <p:nvPr/>
        </p:nvSpPr>
        <p:spPr>
          <a:xfrm>
            <a:off x="726661" y="2406346"/>
            <a:ext cx="7772400" cy="1362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kern="1200" cap="all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introductions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course overview</a:t>
            </a:r>
          </a:p>
          <a:p>
            <a:pPr algn="r"/>
            <a:r>
              <a:rPr lang="en-GB" sz="2000" b="0" cap="non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71A50-3DEA-BE4D-8DA7-DCCA4CEBCF91}"/>
              </a:ext>
            </a:extLst>
          </p:cNvPr>
          <p:cNvSpPr txBox="1"/>
          <p:nvPr/>
        </p:nvSpPr>
        <p:spPr>
          <a:xfrm>
            <a:off x="3879171" y="3834610"/>
            <a:ext cx="46155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Martin Bulla		 </a:t>
            </a:r>
            <a:r>
              <a:rPr lang="en-GB" dirty="0" err="1">
                <a:solidFill>
                  <a:srgbClr val="007A3D"/>
                </a:solidFill>
              </a:rPr>
              <a:t>bullam@fzp.czu.cz</a:t>
            </a:r>
            <a:endParaRPr lang="en-GB" dirty="0">
              <a:solidFill>
                <a:srgbClr val="007A3D"/>
              </a:solidFill>
            </a:endParaRPr>
          </a:p>
          <a:p>
            <a:pPr algn="r">
              <a:defRPr sz="2000">
                <a:solidFill>
                  <a:srgbClr val="222222"/>
                </a:solidFill>
              </a:defRPr>
            </a:pPr>
            <a:r>
              <a:rPr lang="en-GB" dirty="0">
                <a:solidFill>
                  <a:srgbClr val="007A3D"/>
                </a:solidFill>
              </a:rPr>
              <a:t>Peter </a:t>
            </a:r>
            <a:r>
              <a:rPr lang="en-GB" dirty="0" err="1">
                <a:solidFill>
                  <a:srgbClr val="007A3D"/>
                </a:solidFill>
              </a:rPr>
              <a:t>Mikula</a:t>
            </a:r>
            <a:r>
              <a:rPr lang="en-GB" dirty="0">
                <a:solidFill>
                  <a:srgbClr val="007A3D"/>
                </a:solidFill>
              </a:rPr>
              <a:t>		</a:t>
            </a:r>
            <a:r>
              <a:rPr lang="en-GB" dirty="0" err="1">
                <a:solidFill>
                  <a:srgbClr val="007A3D"/>
                </a:solidFill>
              </a:rPr>
              <a:t>mikulap@fzp.czu.cz</a:t>
            </a:r>
            <a:endParaRPr lang="en-GB" dirty="0">
              <a:solidFill>
                <a:srgbClr val="007A3D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1F69B-4AE7-2A49-99BA-22AEA73B0C9B}"/>
              </a:ext>
            </a:extLst>
          </p:cNvPr>
          <p:cNvSpPr/>
          <p:nvPr/>
        </p:nvSpPr>
        <p:spPr>
          <a:xfrm>
            <a:off x="-13065" y="6605445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Česká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zemědělská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univerzita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v </a:t>
            </a:r>
            <a:r>
              <a:rPr dirty="0" err="1">
                <a:solidFill>
                  <a:schemeClr val="bg1">
                    <a:lumMod val="65000"/>
                  </a:schemeClr>
                </a:solidFill>
              </a:rPr>
              <a:t>Praze</a:t>
            </a:r>
            <a:r>
              <a:rPr dirty="0">
                <a:solidFill>
                  <a:schemeClr val="bg1">
                    <a:lumMod val="65000"/>
                  </a:schemeClr>
                </a:solidFill>
              </a:rPr>
              <a:t> • CZU Prague</a:t>
            </a:r>
          </a:p>
        </p:txBody>
      </p:sp>
    </p:spTree>
    <p:extLst>
      <p:ext uri="{BB962C8B-B14F-4D97-AF65-F5344CB8AC3E}">
        <p14:creationId xmlns:p14="http://schemas.microsoft.com/office/powerpoint/2010/main" val="2016940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7527</TotalTime>
  <Words>2096</Words>
  <Application>Microsoft Macintosh PowerPoint</Application>
  <PresentationFormat>On-screen Show (4:3)</PresentationFormat>
  <Paragraphs>304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Arial</vt:lpstr>
      <vt:lpstr>Calibri</vt:lpstr>
      <vt:lpstr>Courier New</vt:lpstr>
      <vt:lpstr>Helvetica Neue Light</vt:lpstr>
      <vt:lpstr>Helvetica Neue Light</vt:lpstr>
      <vt:lpstr>Open Sans</vt:lpstr>
      <vt:lpstr>Roboto</vt:lpstr>
      <vt:lpstr>SF Mono Light</vt:lpstr>
      <vt:lpstr>Office Theme</vt:lpstr>
      <vt:lpstr>FundAmentals of Ecology</vt:lpstr>
      <vt:lpstr>bullab</vt:lpstr>
      <vt:lpstr>bullab</vt:lpstr>
      <vt:lpstr>bullab</vt:lpstr>
      <vt:lpstr>bullab</vt:lpstr>
      <vt:lpstr>your turn</vt:lpstr>
      <vt:lpstr>PowerPoint Presentation</vt:lpstr>
      <vt:lpstr>PowerPoint Presentation</vt:lpstr>
      <vt:lpstr>Course format</vt:lpstr>
      <vt:lpstr>Presentations logistics</vt:lpstr>
      <vt:lpstr>Presentations evaluation</vt:lpstr>
      <vt:lpstr>Course requirements</vt:lpstr>
      <vt:lpstr>No Emails about the content of this presentation, please!</vt:lpstr>
      <vt:lpstr>Topics &amp; Readings</vt:lpstr>
      <vt:lpstr>Eco-evolutionary dynamics &amp; life histories</vt:lpstr>
      <vt:lpstr>Population ecology essentials</vt:lpstr>
      <vt:lpstr>Species interactions &amp; coexistence</vt:lpstr>
      <vt:lpstr>Food webs &amp; network ecology</vt:lpstr>
      <vt:lpstr>Macroecology &amp; biogeography 1</vt:lpstr>
      <vt:lpstr>Macroecology and biogeography 2</vt:lpstr>
      <vt:lpstr>Global change ecology</vt:lpstr>
      <vt:lpstr>Drivers of biodiversity crisis</vt:lpstr>
      <vt:lpstr>Biodiversity ↔ ecosystem functioning/services</vt:lpstr>
      <vt:lpstr>Applied ecology: New tools &amp; data streams</vt:lpstr>
      <vt:lpstr>FundAmentals of Ecology General ecology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Fundamentals of Ecology &amp; General Ecology</dc:title>
  <dc:subject/>
  <dc:creator/>
  <cp:keywords/>
  <dc:description>generated using python-pptx</dc:description>
  <cp:lastModifiedBy>Martin Bulla</cp:lastModifiedBy>
  <cp:revision>96</cp:revision>
  <cp:lastPrinted>2025-10-20T18:47:20Z</cp:lastPrinted>
  <dcterms:created xsi:type="dcterms:W3CDTF">2013-01-27T09:14:16Z</dcterms:created>
  <dcterms:modified xsi:type="dcterms:W3CDTF">2026-10-01T20:25:42Z</dcterms:modified>
  <cp:category/>
</cp:coreProperties>
</file>