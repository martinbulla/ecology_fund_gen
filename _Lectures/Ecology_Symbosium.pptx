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oCNuQhxXxGukZcxLC8XJQtJ7i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88"/>
    <p:restoredTop sz="94629"/>
  </p:normalViewPr>
  <p:slideViewPr>
    <p:cSldViewPr snapToGrid="0">
      <p:cViewPr varScale="1">
        <p:scale>
          <a:sx n="153" d="100"/>
          <a:sy n="153" d="100"/>
        </p:scale>
        <p:origin x="277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c6f5567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dc6f5567f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3adc6f5567f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Presentation – a back bone of the course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rgbClr val="222222"/>
                </a:solidFill>
              </a:rPr>
              <a:t>Read and synthesize primary literature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rgbClr val="222222"/>
                </a:solidFill>
              </a:rPr>
              <a:t>Learn about basic ecological concepts</a:t>
            </a:r>
            <a:endParaRPr sz="18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222222"/>
                </a:solidFill>
              </a:rPr>
              <a:t>Practice scientific thinking and clear communication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222222"/>
                </a:solidFill>
              </a:rPr>
              <a:t>Connect classic ideas with modern developments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rgbClr val="222222"/>
                </a:solidFill>
              </a:rPr>
              <a:t>Create re-usable study material for peers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d28a2ba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add28a2ba7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add28a2ba7_0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dd28a2ba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dd28a2ba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add28a2ba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dd28a2ba7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dd28a2ba7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add28a2ba7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adc6f5567f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91600" cy="674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457200" y="1745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Calibri"/>
              <a:buNone/>
            </a:pPr>
            <a:r>
              <a:rPr lang="en-GB" sz="3600">
                <a:solidFill>
                  <a:srgbClr val="7F7F7F"/>
                </a:solidFill>
              </a:rPr>
              <a:t>Presentations</a:t>
            </a:r>
            <a:r>
              <a:rPr lang="en-GB" sz="3600">
                <a:solidFill>
                  <a:srgbClr val="007A3D"/>
                </a:solidFill>
              </a:rPr>
              <a:t> logistics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457200" y="1160454"/>
            <a:ext cx="8229600" cy="498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•"/>
            </a:pPr>
            <a:r>
              <a:rPr lang="en-GB" sz="2400">
                <a:solidFill>
                  <a:srgbClr val="222222"/>
                </a:solidFill>
              </a:rPr>
              <a:t>15 min talk + 15 min discussion</a:t>
            </a:r>
            <a:endParaRPr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sz="1300">
              <a:solidFill>
                <a:srgbClr val="222222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222222"/>
              </a:buClr>
              <a:buSzPts val="2400"/>
              <a:buChar char="•"/>
            </a:pPr>
            <a:r>
              <a:rPr lang="en-GB" sz="2400">
                <a:solidFill>
                  <a:srgbClr val="222222"/>
                </a:solidFill>
              </a:rPr>
              <a:t>On key aspects of ecology </a:t>
            </a:r>
            <a:endParaRPr sz="2400">
              <a:solidFill>
                <a:srgbClr val="7F7F7F"/>
              </a:solidFill>
            </a:endParaRP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–"/>
            </a:pPr>
            <a:r>
              <a:rPr lang="en-GB" sz="2000">
                <a:solidFill>
                  <a:srgbClr val="7F7F7F"/>
                </a:solidFill>
              </a:rPr>
              <a:t>Topic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–"/>
            </a:pPr>
            <a:r>
              <a:rPr lang="en-GB" sz="2000">
                <a:solidFill>
                  <a:srgbClr val="7F7F7F"/>
                </a:solidFill>
              </a:rPr>
              <a:t>Papers - traditional and current</a:t>
            </a:r>
            <a:endParaRPr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sz="1300">
              <a:solidFill>
                <a:srgbClr val="222222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222222"/>
              </a:buClr>
              <a:buSzPts val="2400"/>
              <a:buChar char="•"/>
            </a:pPr>
            <a:r>
              <a:rPr lang="en-GB" sz="2400">
                <a:solidFill>
                  <a:srgbClr val="222222"/>
                </a:solidFill>
              </a:rPr>
              <a:t>10 teams of 4-5 people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–"/>
            </a:pPr>
            <a:r>
              <a:rPr lang="en-GB" sz="2000">
                <a:solidFill>
                  <a:srgbClr val="7F7F7F"/>
                </a:solidFill>
              </a:rPr>
              <a:t>randomly selected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–"/>
            </a:pPr>
            <a:r>
              <a:rPr lang="en-GB" sz="2000">
                <a:solidFill>
                  <a:srgbClr val="7F7F7F"/>
                </a:solidFill>
              </a:rPr>
              <a:t>all member contribute equally &amp; present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–"/>
            </a:pPr>
            <a:r>
              <a:rPr lang="en-GB" sz="2000">
                <a:solidFill>
                  <a:srgbClr val="7F7F7F"/>
                </a:solidFill>
              </a:rPr>
              <a:t>work load</a:t>
            </a:r>
            <a:endParaRPr/>
          </a:p>
          <a:p>
            <a:pPr marL="1143000" lvl="2" indent="-228600" algn="l" rtl="0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</a:pPr>
            <a:r>
              <a:rPr lang="en-GB" sz="1600">
                <a:solidFill>
                  <a:srgbClr val="7F7F7F"/>
                </a:solidFill>
              </a:rPr>
              <a:t>1 day – reading the papers and literature search</a:t>
            </a:r>
            <a:endParaRPr/>
          </a:p>
          <a:p>
            <a:pPr marL="1143000" lvl="2" indent="-228600" algn="l" rtl="0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</a:pPr>
            <a:r>
              <a:rPr lang="en-GB" sz="1600">
                <a:solidFill>
                  <a:srgbClr val="7F7F7F"/>
                </a:solidFill>
              </a:rPr>
              <a:t>1 day – preparing the presentation</a:t>
            </a:r>
            <a:endParaRPr/>
          </a:p>
          <a:p>
            <a:pPr marL="1143000" lvl="2" indent="-228600" algn="l" rtl="0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</a:pPr>
            <a:r>
              <a:rPr lang="en-GB" sz="1600">
                <a:solidFill>
                  <a:srgbClr val="7F7F7F"/>
                </a:solidFill>
              </a:rPr>
              <a:t>1 day – homework </a:t>
            </a:r>
            <a:endParaRPr/>
          </a:p>
          <a:p>
            <a:pPr marL="1143000" lvl="2" indent="-228600" algn="l" rtl="0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Char char="•"/>
            </a:pPr>
            <a:r>
              <a:rPr lang="en-GB" sz="1600">
                <a:solidFill>
                  <a:srgbClr val="7F7F7F"/>
                </a:solidFill>
              </a:rPr>
              <a:t>1 day – presentation and engagement in the discussion </a:t>
            </a:r>
            <a:endParaRPr/>
          </a:p>
          <a:p>
            <a:pPr marL="914400" lvl="2" indent="0" algn="l" rtl="0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</a:pPr>
            <a:r>
              <a:rPr lang="en-GB" sz="1600">
                <a:solidFill>
                  <a:srgbClr val="7F7F7F"/>
                </a:solidFill>
              </a:rPr>
              <a:t>				  (your and presentations of others)</a:t>
            </a:r>
            <a:endParaRPr/>
          </a:p>
          <a:p>
            <a:pPr marL="742950" lvl="1" indent="-158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solidFill>
                <a:srgbClr val="7F7F7F"/>
              </a:solidFill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rgbClr val="222222"/>
              </a:solidFill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solidFill>
                <a:srgbClr val="222222"/>
              </a:solidFill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title"/>
          </p:nvPr>
        </p:nvSpPr>
        <p:spPr>
          <a:xfrm>
            <a:off x="457200" y="-66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Calibri"/>
              <a:buNone/>
            </a:pPr>
            <a:r>
              <a:rPr lang="en-GB" sz="3600">
                <a:solidFill>
                  <a:srgbClr val="7F7F7F"/>
                </a:solidFill>
              </a:rPr>
              <a:t>Presentations </a:t>
            </a:r>
            <a:r>
              <a:rPr lang="en-GB" sz="3600">
                <a:solidFill>
                  <a:srgbClr val="007A3D"/>
                </a:solidFill>
              </a:rPr>
              <a:t>evaluation</a:t>
            </a:r>
            <a:endParaRPr sz="3600">
              <a:solidFill>
                <a:srgbClr val="C00000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457200" y="113632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TEAM </a:t>
            </a:r>
            <a:endParaRPr/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00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Conceptual </a:t>
            </a:r>
            <a:r>
              <a:rPr lang="en-GB" sz="24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understanding and clarity                                            </a:t>
            </a:r>
            <a:r>
              <a:rPr lang="en-GB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(ability to synthesize primary literature)</a:t>
            </a:r>
            <a:endParaRPr/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Correctness</a:t>
            </a:r>
            <a:r>
              <a:rPr lang="en-GB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: arguments grounded in evidence</a:t>
            </a:r>
            <a:endParaRPr/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r>
              <a:rPr lang="en-GB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of classical ideas with modern developments</a:t>
            </a:r>
            <a:endParaRPr/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Engagement</a:t>
            </a:r>
            <a:r>
              <a:rPr lang="en-GB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: ability to capture audience’s attention</a:t>
            </a:r>
            <a:endParaRPr/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Academic integrity</a:t>
            </a:r>
            <a:endParaRPr/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r>
              <a:rPr lang="en-GB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GB" sz="24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logical and easy to follow</a:t>
            </a:r>
            <a:endParaRPr/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ct val="1000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Timing </a:t>
            </a:r>
            <a:r>
              <a:rPr lang="en-GB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(15min)</a:t>
            </a:r>
            <a:endParaRPr/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00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Ability to </a:t>
            </a:r>
            <a:r>
              <a:rPr lang="en-GB" sz="24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discuss &amp; defend </a:t>
            </a:r>
            <a:r>
              <a:rPr lang="en-GB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your</a:t>
            </a:r>
            <a:r>
              <a:rPr lang="en-GB" sz="24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views</a:t>
            </a:r>
            <a:endParaRPr/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ct val="1000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Reusability as </a:t>
            </a:r>
            <a:r>
              <a:rPr lang="en-GB" sz="24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study material</a:t>
            </a:r>
            <a:r>
              <a:rPr lang="en-GB" sz="2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for pears</a:t>
            </a:r>
            <a:endParaRPr/>
          </a:p>
          <a:p>
            <a:pPr marL="342900" marR="0" lvl="0" indent="-20193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7A3D"/>
              </a:buClr>
              <a:buSzPts val="3600"/>
              <a:buFont typeface="Calibri"/>
              <a:buNone/>
            </a:pPr>
            <a:r>
              <a:rPr lang="en-GB" sz="3600">
                <a:solidFill>
                  <a:srgbClr val="007A3D"/>
                </a:solidFill>
              </a:rPr>
              <a:t>ATTENDANCE MORNING</a:t>
            </a:r>
            <a:endParaRPr sz="3600">
              <a:solidFill>
                <a:srgbClr val="007A3D"/>
              </a:solidFill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-999939" y="3070850"/>
            <a:ext cx="51717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Fundamentals of Ecology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(ZEX101E)</a:t>
            </a:r>
            <a:endParaRPr sz="18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895661" y="3070850"/>
            <a:ext cx="51717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Fundamentals of Ecology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(ZEX111E)</a:t>
            </a:r>
            <a:endParaRPr sz="18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4791261" y="3070850"/>
            <a:ext cx="51717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General Ecology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(ZEX12E)</a:t>
            </a:r>
            <a:endParaRPr sz="18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857" y="393944"/>
            <a:ext cx="2840493" cy="2784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6318" y="397074"/>
            <a:ext cx="2700707" cy="264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87652" y="486528"/>
            <a:ext cx="2639814" cy="2584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dd28a2ba7_0_46"/>
          <p:cNvSpPr/>
          <p:nvPr/>
        </p:nvSpPr>
        <p:spPr>
          <a:xfrm>
            <a:off x="0" y="6583680"/>
            <a:ext cx="9144000" cy="274200"/>
          </a:xfrm>
          <a:prstGeom prst="rect">
            <a:avLst/>
          </a:prstGeom>
          <a:solidFill>
            <a:srgbClr val="007A3D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add28a2ba7_0_46"/>
          <p:cNvSpPr txBox="1"/>
          <p:nvPr/>
        </p:nvSpPr>
        <p:spPr>
          <a:xfrm>
            <a:off x="518175" y="1114025"/>
            <a:ext cx="657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</a:rPr>
              <a:t>What have you taken from todays presenting exercise?</a:t>
            </a: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133" name="Google Shape;133;g3add28a2ba7_0_46"/>
          <p:cNvSpPr txBox="1"/>
          <p:nvPr/>
        </p:nvSpPr>
        <p:spPr>
          <a:xfrm>
            <a:off x="518175" y="1673670"/>
            <a:ext cx="486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</a:rPr>
              <a:t>Whose presenting is stuck in your mind?</a:t>
            </a: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932CB-22C1-CB4A-94FD-DCB7AFA645B1}"/>
              </a:ext>
            </a:extLst>
          </p:cNvPr>
          <p:cNvSpPr txBox="1"/>
          <p:nvPr/>
        </p:nvSpPr>
        <p:spPr>
          <a:xfrm>
            <a:off x="518174" y="2647506"/>
            <a:ext cx="809419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Tips and tricks for engaging presentation</a:t>
            </a:r>
            <a:endParaRPr lang="en-GB" sz="1800" dirty="0"/>
          </a:p>
          <a:p>
            <a:pPr marL="285750" indent="-285750">
              <a:buFontTx/>
              <a:buChar char="-"/>
            </a:pPr>
            <a:r>
              <a:rPr lang="en-GB" sz="1800" dirty="0"/>
              <a:t>switching among members a lot makes the presentation engaging</a:t>
            </a:r>
          </a:p>
          <a:p>
            <a:pPr marL="285750" indent="-285750">
              <a:buFontTx/>
              <a:buChar char="-"/>
            </a:pPr>
            <a:r>
              <a:rPr lang="en-GB" sz="1800" dirty="0"/>
              <a:t>few slides (use them to guid you though what you want to say)</a:t>
            </a:r>
          </a:p>
          <a:p>
            <a:pPr marL="285750" indent="-285750">
              <a:buFontTx/>
              <a:buChar char="-"/>
            </a:pPr>
            <a:r>
              <a:rPr lang="en-GB" sz="1800" dirty="0"/>
              <a:t>digest the info into essentials</a:t>
            </a:r>
          </a:p>
          <a:p>
            <a:pPr marL="285750" indent="-285750">
              <a:buFontTx/>
              <a:buChar char="-"/>
            </a:pPr>
            <a:r>
              <a:rPr lang="en-GB" sz="1800" dirty="0"/>
              <a:t>look into the audience</a:t>
            </a:r>
          </a:p>
          <a:p>
            <a:pPr marL="285750" indent="-285750">
              <a:buFontTx/>
              <a:buChar char="-"/>
            </a:pPr>
            <a:r>
              <a:rPr lang="en-GB" sz="1800" dirty="0"/>
              <a:t>be innovative</a:t>
            </a:r>
          </a:p>
          <a:p>
            <a:pPr marL="285750" indent="-285750">
              <a:buFontTx/>
              <a:buChar char="-"/>
            </a:pPr>
            <a:r>
              <a:rPr lang="en-GB" sz="1800" dirty="0"/>
              <a:t>show what you know</a:t>
            </a:r>
          </a:p>
          <a:p>
            <a:pPr marL="285750" indent="-285750">
              <a:buFontTx/>
              <a:buChar char="-"/>
            </a:pPr>
            <a:r>
              <a:rPr lang="en-GB" sz="1800" dirty="0"/>
              <a:t>help each other</a:t>
            </a:r>
            <a:endParaRPr lang="en-DE" sz="1800" dirty="0"/>
          </a:p>
          <a:p>
            <a:pPr marL="285750" indent="-285750">
              <a:buFontTx/>
              <a:buChar char="-"/>
            </a:pPr>
            <a:r>
              <a:rPr lang="en-GB" sz="1800" dirty="0"/>
              <a:t>t</a:t>
            </a:r>
            <a:r>
              <a:rPr lang="en-DE" sz="1800" dirty="0"/>
              <a:t>ry that all works in advance</a:t>
            </a:r>
            <a:endParaRPr lang="en-GB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7A3D"/>
              </a:buClr>
              <a:buSzPts val="3600"/>
              <a:buFont typeface="Calibri"/>
              <a:buNone/>
            </a:pPr>
            <a:r>
              <a:rPr lang="en-GB" sz="3600">
                <a:solidFill>
                  <a:srgbClr val="007A3D"/>
                </a:solidFill>
              </a:rPr>
              <a:t>YOUR FEEDBACK ON THE COURSE</a:t>
            </a:r>
            <a:endParaRPr sz="3600">
              <a:solidFill>
                <a:srgbClr val="007A3D"/>
              </a:solidFill>
            </a:endParaRPr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5291" y="250520"/>
            <a:ext cx="3967620" cy="396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add28a2ba7_0_12"/>
          <p:cNvPicPr preferRelativeResize="0"/>
          <p:nvPr/>
        </p:nvPicPr>
        <p:blipFill rotWithShape="1">
          <a:blip r:embed="rId3">
            <a:alphaModFix/>
          </a:blip>
          <a:srcRect b="32313"/>
          <a:stretch/>
        </p:blipFill>
        <p:spPr>
          <a:xfrm>
            <a:off x="792500" y="261250"/>
            <a:ext cx="4380400" cy="274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add28a2ba7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175" y="3004475"/>
            <a:ext cx="5138276" cy="360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add28a2ba7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4025" y="261250"/>
            <a:ext cx="4134499" cy="27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dd28a2ba7_0_40"/>
          <p:cNvSpPr txBox="1">
            <a:spLocks noGrp="1"/>
          </p:cNvSpPr>
          <p:nvPr>
            <p:ph type="title"/>
          </p:nvPr>
        </p:nvSpPr>
        <p:spPr>
          <a:xfrm>
            <a:off x="813738" y="2067000"/>
            <a:ext cx="7772400" cy="136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Picture time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7A3D"/>
              </a:buClr>
              <a:buSzPts val="3600"/>
              <a:buFont typeface="Calibri"/>
              <a:buNone/>
            </a:pPr>
            <a:r>
              <a:rPr lang="en-GB" sz="3600">
                <a:solidFill>
                  <a:srgbClr val="007A3D"/>
                </a:solidFill>
              </a:rPr>
              <a:t>ATTENDANCE AFTERNOON</a:t>
            </a:r>
            <a:endParaRPr sz="3600">
              <a:solidFill>
                <a:srgbClr val="007A3D"/>
              </a:solidFill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-999939" y="3070850"/>
            <a:ext cx="51717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Fundamentals of Ecology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(ZEX101E)</a:t>
            </a:r>
            <a:endParaRPr sz="18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1895661" y="3070850"/>
            <a:ext cx="51717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Fundamentals of Ecology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(ZEX111E)</a:t>
            </a:r>
            <a:endParaRPr sz="18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4791261" y="3070850"/>
            <a:ext cx="51717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General Ecology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(ZEX12E)</a:t>
            </a:r>
            <a:endParaRPr sz="18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271" y="396021"/>
            <a:ext cx="2775397" cy="2679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98757" y="396021"/>
            <a:ext cx="2765511" cy="27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94357" y="396021"/>
            <a:ext cx="2765511" cy="2748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Macintosh PowerPoint</Application>
  <PresentationFormat>On-screen Show (4:3)</PresentationFormat>
  <Paragraphs>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Presentations logistics</vt:lpstr>
      <vt:lpstr>Presentations evaluation</vt:lpstr>
      <vt:lpstr>ATTENDANCE MORNING</vt:lpstr>
      <vt:lpstr>PowerPoint Presentation</vt:lpstr>
      <vt:lpstr>YOUR FEEDBACK ON THE COURSE</vt:lpstr>
      <vt:lpstr>PowerPoint Presentation</vt:lpstr>
      <vt:lpstr>Picture time</vt:lpstr>
      <vt:lpstr>ATTENDANCE AFTERNOON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Mikula</dc:creator>
  <cp:lastModifiedBy>Martin Bulla</cp:lastModifiedBy>
  <cp:revision>2</cp:revision>
  <dcterms:created xsi:type="dcterms:W3CDTF">2013-01-27T09:14:16Z</dcterms:created>
  <dcterms:modified xsi:type="dcterms:W3CDTF">2025-12-17T13:47:40Z</dcterms:modified>
</cp:coreProperties>
</file>