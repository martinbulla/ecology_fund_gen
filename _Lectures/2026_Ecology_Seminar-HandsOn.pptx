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82" r:id="rId2"/>
    <p:sldId id="290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10"/>
    <p:restoredTop sz="91115" autoAdjust="0"/>
  </p:normalViewPr>
  <p:slideViewPr>
    <p:cSldViewPr snapToGrid="0" snapToObjects="1">
      <p:cViewPr varScale="1">
        <p:scale>
          <a:sx n="122" d="100"/>
          <a:sy n="122" d="100"/>
        </p:scale>
        <p:origin x="98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CA0A3-A6C5-4A3C-B21F-561AC9BDEFEA}" type="datetimeFigureOut">
              <a:rPr lang="en-GB" smtClean="0"/>
              <a:t>08/10/2026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C3EA25-13DA-4AF5-82A1-CDC866AD23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15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Syllabus https://</a:t>
            </a:r>
            <a:r>
              <a:rPr lang="en-US" dirty="0" err="1"/>
              <a:t>is.czu.cz</a:t>
            </a:r>
            <a:r>
              <a:rPr lang="en-US" dirty="0"/>
              <a:t>/auth/</a:t>
            </a:r>
            <a:r>
              <a:rPr lang="en-US" dirty="0" err="1"/>
              <a:t>katalog</a:t>
            </a:r>
            <a:r>
              <a:rPr lang="en-US" dirty="0"/>
              <a:t>/</a:t>
            </a:r>
            <a:r>
              <a:rPr lang="en-US" dirty="0" err="1"/>
              <a:t>syllabus.pl?predmet</a:t>
            </a:r>
            <a:r>
              <a:rPr lang="en-US" dirty="0"/>
              <a:t>=291370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Course notes </a:t>
            </a:r>
            <a:r>
              <a:rPr lang="en-DE">
                <a:latin typeface="Arial" panose="020B0604020202020204" pitchFamily="34" charset="0"/>
                <a:cs typeface="Arial" panose="020B0604020202020204" pitchFamily="34" charset="0"/>
              </a:rPr>
              <a:t>https://github.com/MartinBulla/Ecology_Fund_Gen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 arrivals = course failed</a:t>
            </a:r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61970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The aim is to synthesize the topic, not to summarize two studies separately. </a:t>
            </a:r>
          </a:p>
          <a:p>
            <a:pPr lvl="1">
              <a:buFont typeface="Arial" panose="020B0604020202020204" pitchFamily="34" charset="0"/>
              <a:buNone/>
              <a:defRPr sz="1800"/>
            </a:pP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Do not structure the presentation as ‘Paper 1, then Paper 2’. </a:t>
            </a:r>
            <a:br>
              <a:rPr lang="en-GB" sz="1200" dirty="0"/>
            </a:b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- Instead, start from the ecological question or problem and build the presentation around that. </a:t>
            </a:r>
            <a:br>
              <a:rPr lang="en-GB" sz="1200" dirty="0"/>
            </a:br>
            <a:r>
              <a:rPr lang="en-GB" sz="1200" dirty="0"/>
              <a:t>- Introduce concepts only when they help move the story forward. Bring in results from both papers where they provide relevant evidence.</a:t>
            </a:r>
            <a:br>
              <a:rPr lang="en-GB" sz="1200" dirty="0"/>
            </a:br>
            <a:r>
              <a:rPr lang="en-GB" sz="1200" dirty="0"/>
              <a:t>- By the end, the audience should understand the main ecological idea, what evidence supports it, where the evidence is limited or conflicting, and what the broader significance is.</a:t>
            </a:r>
            <a:br>
              <a:rPr lang="en-GB" sz="1200" dirty="0"/>
            </a:br>
            <a:endParaRPr lang="en-GB" sz="1200" dirty="0"/>
          </a:p>
          <a:p>
            <a:pPr lvl="1">
              <a:buFont typeface="Arial" panose="020B0604020202020204" pitchFamily="34" charset="0"/>
              <a:buNone/>
              <a:defRPr sz="1800"/>
            </a:pPr>
            <a:r>
              <a:rPr lang="en-GB" sz="1200" dirty="0"/>
              <a:t>In other words: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Start with the ecological question or problem: </a:t>
            </a:r>
            <a:r>
              <a:rPr lang="en-GB" sz="1200" b="1" dirty="0"/>
              <a:t>why does it matter</a:t>
            </a:r>
            <a:r>
              <a:rPr lang="en-GB" sz="1200" dirty="0"/>
              <a:t>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Introduce the </a:t>
            </a:r>
            <a:r>
              <a:rPr lang="en-GB" sz="1200" b="1" dirty="0"/>
              <a:t>key concepts when they are needed</a:t>
            </a:r>
            <a:r>
              <a:rPr lang="en-GB" sz="1200" dirty="0"/>
              <a:t> to understand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Use the </a:t>
            </a:r>
            <a:r>
              <a:rPr lang="en-GB" sz="1200" b="1" dirty="0"/>
              <a:t>two key papers as evidence</a:t>
            </a:r>
            <a:r>
              <a:rPr lang="en-GB" sz="1200" dirty="0"/>
              <a:t>, not as two separate paper summaries.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Bring the evidence together: </a:t>
            </a:r>
            <a:r>
              <a:rPr lang="en-GB" sz="1200" b="1" dirty="0"/>
              <a:t>what have we learned, what remains uncertain, and why does it matter?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endParaRPr lang="en-GB" sz="1200" b="1" dirty="0">
              <a:solidFill>
                <a:srgbClr val="222222"/>
              </a:solidFill>
            </a:endParaRP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1200" dirty="0"/>
              <a:t>Question → ideas → evidence → answer</a:t>
            </a:r>
            <a:endParaRPr lang="en-GB" sz="1200" dirty="0">
              <a:solidFill>
                <a:srgbClr val="222222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Attempt </a:t>
            </a:r>
            <a:r>
              <a:rPr lang="en-GB" sz="1200" b="0" dirty="0">
                <a:solidFill>
                  <a:srgbClr val="007A3D"/>
                </a:solidFill>
              </a:rPr>
              <a:t>to understand without AI first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b="1" dirty="0">
              <a:solidFill>
                <a:srgbClr val="007A3D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007A3D"/>
                </a:solidFill>
              </a:rPr>
              <a:t>Engaging slides </a:t>
            </a:r>
            <a:r>
              <a:rPr lang="en-GB" sz="1200" dirty="0">
                <a:solidFill>
                  <a:srgbClr val="007A3D"/>
                </a:solidFill>
              </a:rPr>
              <a:t>– rule of thumb: do the slides the way you learn the most when you see a presentation.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Study material </a:t>
            </a:r>
            <a:r>
              <a:rPr lang="en-GB" sz="1200" dirty="0">
                <a:solidFill>
                  <a:srgbClr val="FF0000"/>
                </a:solidFill>
              </a:rPr>
              <a:t>– great if slides are dynamic (but either keep non-dynamic version or keep in mind that peers will study from the slides; text hidden behind boxes, pics non-suitable)</a:t>
            </a: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endParaRPr lang="en-GB" sz="1200" dirty="0">
              <a:solidFill>
                <a:srgbClr val="FF0000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  <a:defRPr sz="1800"/>
            </a:pPr>
            <a:r>
              <a:rPr lang="en-GB" sz="1200" b="1" dirty="0">
                <a:solidFill>
                  <a:srgbClr val="FF0000"/>
                </a:solidFill>
              </a:rPr>
              <a:t>Various approaches 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one has clear signal content per slide and then many slides are possible</a:t>
            </a:r>
          </a:p>
          <a:p>
            <a:pPr marL="628650" lvl="1" indent="-171450">
              <a:buFontTx/>
              <a:buChar char="-"/>
              <a:defRPr sz="1800"/>
            </a:pPr>
            <a:r>
              <a:rPr lang="en-GB" sz="1200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other has dynamic (perhaps denser) slides, but then fewer slides are needed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– needs to be acknowledged/citation AI generated = fail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856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 – a backbone of the course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Read and synthesize primary literature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800" dirty="0">
                <a:solidFill>
                  <a:srgbClr val="222222"/>
                </a:solidFill>
              </a:rPr>
              <a:t>Learn about basic ecological concepts</a:t>
            </a:r>
            <a:endParaRPr lang="en-GB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Practice scientific thinking and clear communication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Connect classic ideas with modern developments</a:t>
            </a:r>
          </a:p>
          <a:p>
            <a:pPr marL="171450" indent="-171450">
              <a:buFont typeface="Arial" panose="020B0604020202020204" pitchFamily="34" charset="0"/>
              <a:buChar char="•"/>
              <a:defRPr sz="2000"/>
            </a:pPr>
            <a:r>
              <a:rPr lang="en-GB" sz="1200" dirty="0">
                <a:solidFill>
                  <a:srgbClr val="222222"/>
                </a:solidFill>
              </a:rPr>
              <a:t>Create re-usable study material for peers</a:t>
            </a:r>
          </a:p>
          <a:p>
            <a:endParaRPr lang="en-GB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732" y="274638"/>
            <a:ext cx="3605514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Symposia</a:t>
            </a:r>
            <a:endParaRPr sz="2800" dirty="0">
              <a:solidFill>
                <a:srgbClr val="007A3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EB46-FC51-E34E-8D6B-EBF3949ECAE4}"/>
              </a:ext>
            </a:extLst>
          </p:cNvPr>
          <p:cNvSpPr txBox="1"/>
          <p:nvPr/>
        </p:nvSpPr>
        <p:spPr>
          <a:xfrm>
            <a:off x="1313732" y="1186600"/>
            <a:ext cx="7830268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20.10.  8:00 - 14:00 </a:t>
            </a:r>
            <a:r>
              <a:rPr lang="en-GB" sz="1800" b="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D222	</a:t>
            </a:r>
            <a:r>
              <a:rPr lang="en-GB" dirty="0">
                <a:solidFill>
                  <a:srgbClr val="007A3D"/>
                </a:solidFill>
                <a:latin typeface="Arial" panose="020B0604020202020204" pitchFamily="34" charset="0"/>
              </a:rPr>
              <a:t>Group: 1-6	</a:t>
            </a:r>
            <a:r>
              <a:rPr lang="en-GB" sz="12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send by 19.10. 18:00 </a:t>
            </a:r>
            <a:endParaRPr lang="en-GB" sz="1400" dirty="0">
              <a:solidFill>
                <a:srgbClr val="007A3D"/>
              </a:solidFill>
              <a:latin typeface="SF Mono Light" panose="020B0009000002000000" pitchFamily="49" charset="0"/>
              <a:cs typeface="SF Mono Light" panose="020B0009000002000000" pitchFamily="49" charset="0"/>
            </a:endParaRPr>
          </a:p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21.10. 14:00 - 19:00</a:t>
            </a:r>
            <a:r>
              <a:rPr lang="en-GB" sz="18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	</a:t>
            </a:r>
            <a:r>
              <a:rPr lang="en-GB" dirty="0">
                <a:solidFill>
                  <a:srgbClr val="007A3D"/>
                </a:solidFill>
                <a:latin typeface="Arial" panose="020B0604020202020204" pitchFamily="34" charset="0"/>
              </a:rPr>
              <a:t>D551</a:t>
            </a:r>
            <a:r>
              <a:rPr lang="en-GB" sz="1800" b="1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GB" sz="1800" i="0" u="none" strike="noStrike" dirty="0">
                <a:solidFill>
                  <a:srgbClr val="007A3D"/>
                </a:solidFill>
                <a:effectLst/>
                <a:latin typeface="Arial" panose="020B0604020202020204" pitchFamily="34" charset="0"/>
              </a:rPr>
              <a:t>Group: 7-10	</a:t>
            </a:r>
            <a:r>
              <a:rPr lang="en-GB" sz="1200" dirty="0">
                <a:solidFill>
                  <a:srgbClr val="007A3D"/>
                </a:solidFill>
                <a:latin typeface="SF Mono Light" panose="020B0009000002000000" pitchFamily="49" charset="0"/>
                <a:cs typeface="SF Mono Light" panose="020B0009000002000000" pitchFamily="49" charset="0"/>
              </a:rPr>
              <a:t>send by 20.10. 18:00 </a:t>
            </a:r>
            <a:endParaRPr lang="en-GB" sz="1200" i="0" u="none" strike="noStrike" dirty="0">
              <a:solidFill>
                <a:srgbClr val="007A3D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D6002-67A3-A85F-E570-EBC82E265379}"/>
              </a:ext>
            </a:extLst>
          </p:cNvPr>
          <p:cNvSpPr txBox="1"/>
          <p:nvPr/>
        </p:nvSpPr>
        <p:spPr>
          <a:xfrm>
            <a:off x="1305364" y="5410795"/>
            <a:ext cx="5835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>
                <a:latin typeface="Arial" panose="020B0604020202020204" pitchFamily="34" charset="0"/>
                <a:cs typeface="Arial" panose="020B0604020202020204" pitchFamily="34" charset="0"/>
              </a:rPr>
              <a:t>https://tinyurl.com/FunEcol</a:t>
            </a:r>
            <a:endParaRPr lang="en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DEC4538-FBC5-C222-085A-A4D4A0CE55B6}"/>
              </a:ext>
            </a:extLst>
          </p:cNvPr>
          <p:cNvSpPr txBox="1">
            <a:spLocks/>
          </p:cNvSpPr>
          <p:nvPr/>
        </p:nvSpPr>
        <p:spPr>
          <a:xfrm>
            <a:off x="1305364" y="4560416"/>
            <a:ext cx="360551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400"/>
            </a:pPr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GB" sz="2800" dirty="0">
                <a:solidFill>
                  <a:srgbClr val="007A3D"/>
                </a:solidFill>
              </a:rPr>
              <a:t> syllabus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323209-DD6F-0D4E-8AC8-00F49735A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800" y="5131916"/>
            <a:ext cx="687600" cy="6812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EC3383-43C6-748E-3232-E214F13B5297}"/>
              </a:ext>
            </a:extLst>
          </p:cNvPr>
          <p:cNvSpPr txBox="1"/>
          <p:nvPr/>
        </p:nvSpPr>
        <p:spPr>
          <a:xfrm>
            <a:off x="1375995" y="2377981"/>
            <a:ext cx="53506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Presentations</a:t>
            </a:r>
            <a:r>
              <a:rPr lang="en-GB" sz="2000" dirty="0">
                <a:solidFill>
                  <a:srgbClr val="007A3D"/>
                </a:solidFill>
              </a:rPr>
              <a:t> </a:t>
            </a:r>
            <a:br>
              <a:rPr lang="en-GB" sz="2000" dirty="0">
                <a:solidFill>
                  <a:srgbClr val="007A3D"/>
                </a:solidFill>
              </a:rPr>
            </a:br>
            <a:r>
              <a:rPr lang="en-GB" sz="2000" dirty="0">
                <a:solidFill>
                  <a:srgbClr val="007A3D"/>
                </a:solidFill>
              </a:rPr>
              <a:t>	- screen size</a:t>
            </a:r>
            <a:br>
              <a:rPr lang="en-GB" sz="2000" dirty="0">
                <a:solidFill>
                  <a:srgbClr val="007A3D"/>
                </a:solidFill>
              </a:rPr>
            </a:br>
            <a:r>
              <a:rPr lang="en-GB" sz="2000" dirty="0">
                <a:solidFill>
                  <a:srgbClr val="007A3D"/>
                </a:solidFill>
              </a:rPr>
              <a:t>	</a:t>
            </a:r>
            <a:r>
              <a:rPr lang="en-GB" sz="2000" dirty="0">
                <a:solidFill>
                  <a:schemeClr val="bg1">
                    <a:lumMod val="75000"/>
                  </a:schemeClr>
                </a:solidFill>
              </a:rPr>
              <a:t>- send to </a:t>
            </a:r>
            <a:r>
              <a:rPr lang="en-GB" sz="2000" dirty="0" err="1">
                <a:solidFill>
                  <a:srgbClr val="007A3D"/>
                </a:solidFill>
              </a:rPr>
              <a:t>mikulap@fzp.czu.cz</a:t>
            </a:r>
            <a:endParaRPr lang="en-GB" sz="2000" dirty="0">
              <a:solidFill>
                <a:srgbClr val="007A3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971B71-9D5D-67FB-A815-6971A0632F04}"/>
              </a:ext>
            </a:extLst>
          </p:cNvPr>
          <p:cNvSpPr txBox="1"/>
          <p:nvPr/>
        </p:nvSpPr>
        <p:spPr>
          <a:xfrm>
            <a:off x="2112581" y="1903847"/>
            <a:ext cx="4614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BE ON TIME!!!</a:t>
            </a:r>
            <a:endParaRPr lang="en-CZ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BA8257-8B2D-801C-9D5E-A86197A4208C}"/>
              </a:ext>
            </a:extLst>
          </p:cNvPr>
          <p:cNvSpPr txBox="1"/>
          <p:nvPr/>
        </p:nvSpPr>
        <p:spPr>
          <a:xfrm>
            <a:off x="1305364" y="3603594"/>
            <a:ext cx="5350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/>
            </a:pP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Team</a:t>
            </a:r>
            <a:r>
              <a:rPr lang="en-GB" sz="2000" dirty="0">
                <a:solidFill>
                  <a:srgbClr val="007A3D"/>
                </a:solidFill>
              </a:rPr>
              <a:t> – struggle: come</a:t>
            </a:r>
          </a:p>
        </p:txBody>
      </p:sp>
    </p:spTree>
    <p:extLst>
      <p:ext uri="{BB962C8B-B14F-4D97-AF65-F5344CB8AC3E}">
        <p14:creationId xmlns:p14="http://schemas.microsoft.com/office/powerpoint/2010/main" val="124267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54"/>
            <a:ext cx="8229600" cy="1143000"/>
          </a:xfrm>
        </p:spPr>
        <p:txBody>
          <a:bodyPr>
            <a:normAutofit/>
          </a:bodyPr>
          <a:lstStyle/>
          <a:p>
            <a:pPr algn="l">
              <a:defRPr sz="3400"/>
            </a:pPr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</a:t>
            </a:r>
            <a:r>
              <a:rPr lang="en-GB" sz="3600" dirty="0">
                <a:solidFill>
                  <a:srgbClr val="007A3D"/>
                </a:solidFill>
              </a:rPr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568"/>
            <a:ext cx="8229600" cy="53221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General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20 min talk + 25 min discussion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Tell a </a:t>
            </a:r>
            <a:r>
              <a:rPr lang="en-GB" sz="2400" b="1" dirty="0">
                <a:solidFill>
                  <a:srgbClr val="222222"/>
                </a:solidFill>
              </a:rPr>
              <a:t>coherent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b="1" dirty="0">
                <a:solidFill>
                  <a:srgbClr val="222222"/>
                </a:solidFill>
              </a:rPr>
              <a:t>story</a:t>
            </a:r>
            <a:r>
              <a:rPr lang="en-GB" sz="2400" dirty="0">
                <a:solidFill>
                  <a:srgbClr val="222222"/>
                </a:solidFill>
              </a:rPr>
              <a:t> with a clear red line</a:t>
            </a:r>
            <a:r>
              <a:rPr lang="en-GB" sz="2400" dirty="0"/>
              <a:t>, not a sequence of summaries.</a:t>
            </a: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	Question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Ideas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Evidence  </a:t>
            </a:r>
            <a:r>
              <a:rPr lang="en-GB" sz="2400" dirty="0">
                <a:solidFill>
                  <a:srgbClr val="007A3D"/>
                </a:solidFill>
              </a:rPr>
              <a:t>→</a:t>
            </a:r>
            <a:r>
              <a:rPr lang="en-GB" sz="2400" dirty="0">
                <a:solidFill>
                  <a:srgbClr val="222222"/>
                </a:solidFill>
              </a:rPr>
              <a:t> Answer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Question</a:t>
            </a:r>
            <a:r>
              <a:rPr lang="en-GB" sz="2000" dirty="0"/>
              <a:t>: </a:t>
            </a:r>
            <a:r>
              <a:rPr lang="en-GB" sz="2000" b="1" dirty="0"/>
              <a:t>What</a:t>
            </a:r>
            <a:r>
              <a:rPr lang="en-GB" sz="2000" dirty="0"/>
              <a:t> are we trying to understand, and </a:t>
            </a:r>
            <a:r>
              <a:rPr lang="en-GB" sz="2000" b="1" dirty="0"/>
              <a:t>why does it matter</a:t>
            </a:r>
            <a:r>
              <a:rPr lang="en-GB" sz="2000" dirty="0"/>
              <a:t>?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Ideas</a:t>
            </a:r>
            <a:r>
              <a:rPr lang="en-GB" sz="2000" dirty="0"/>
              <a:t>: Introduce </a:t>
            </a:r>
            <a:r>
              <a:rPr lang="en-GB" sz="2000" b="1" dirty="0"/>
              <a:t>key concepts when</a:t>
            </a:r>
            <a:r>
              <a:rPr lang="en-GB" sz="2000" dirty="0"/>
              <a:t> they are </a:t>
            </a:r>
            <a:r>
              <a:rPr lang="en-GB" sz="2000" b="1" dirty="0"/>
              <a:t>needed</a:t>
            </a:r>
            <a:r>
              <a:rPr lang="en-GB" sz="2000" dirty="0"/>
              <a:t> to understand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Evidence</a:t>
            </a:r>
            <a:r>
              <a:rPr lang="en-GB" sz="2000" dirty="0">
                <a:solidFill>
                  <a:srgbClr val="222222"/>
                </a:solidFill>
              </a:rPr>
              <a:t>: </a:t>
            </a:r>
            <a:r>
              <a:rPr lang="en-GB" sz="2000" dirty="0"/>
              <a:t>Use the </a:t>
            </a:r>
            <a:r>
              <a:rPr lang="en-GB" sz="2000" b="1" dirty="0"/>
              <a:t>two provided papers </a:t>
            </a:r>
            <a:r>
              <a:rPr lang="en-GB" sz="2000" dirty="0"/>
              <a:t>and </a:t>
            </a:r>
            <a:r>
              <a:rPr lang="en-GB" sz="2000" b="1" dirty="0"/>
              <a:t>your additional research </a:t>
            </a:r>
            <a:r>
              <a:rPr lang="en-GB" sz="2000" dirty="0"/>
              <a:t>as evidence within the story.</a:t>
            </a:r>
          </a:p>
          <a:p>
            <a:pPr lvl="1">
              <a:buFont typeface="Arial" panose="020B0604020202020204" pitchFamily="34" charset="0"/>
              <a:buChar char="•"/>
              <a:defRPr sz="18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Answer</a:t>
            </a:r>
            <a:r>
              <a:rPr lang="en-GB" sz="2000" dirty="0">
                <a:solidFill>
                  <a:srgbClr val="222222"/>
                </a:solidFill>
              </a:rPr>
              <a:t> </a:t>
            </a:r>
            <a:r>
              <a:rPr lang="en-GB" sz="2100" dirty="0">
                <a:solidFill>
                  <a:schemeClr val="bg1">
                    <a:lumMod val="65000"/>
                  </a:schemeClr>
                </a:solidFill>
              </a:rPr>
              <a:t>/ Bring evidence together</a:t>
            </a:r>
            <a:r>
              <a:rPr lang="en-GB" sz="2000" dirty="0"/>
              <a:t>: what have we </a:t>
            </a:r>
            <a:r>
              <a:rPr lang="en-GB" sz="2000" b="1" dirty="0"/>
              <a:t>learnt</a:t>
            </a:r>
            <a:r>
              <a:rPr lang="en-GB" sz="2000" dirty="0"/>
              <a:t>, what </a:t>
            </a:r>
            <a:r>
              <a:rPr lang="en-GB" sz="2000" b="1" dirty="0"/>
              <a:t>remains uncertain</a:t>
            </a:r>
            <a:r>
              <a:rPr lang="en-GB" sz="2000" dirty="0"/>
              <a:t>, and </a:t>
            </a:r>
            <a:r>
              <a:rPr lang="en-GB" sz="2000" b="1" dirty="0"/>
              <a:t>why</a:t>
            </a:r>
            <a:r>
              <a:rPr lang="en-GB" sz="2000" dirty="0"/>
              <a:t> it </a:t>
            </a:r>
            <a:r>
              <a:rPr lang="en-GB" sz="2000" b="1" dirty="0"/>
              <a:t>matters</a:t>
            </a:r>
            <a:r>
              <a:rPr lang="en-GB" sz="2000" dirty="0"/>
              <a:t>.</a:t>
            </a:r>
            <a:endParaRPr lang="en-GB" sz="2000" dirty="0">
              <a:solidFill>
                <a:srgbClr val="22222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Explain clearly 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content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</a:t>
            </a:r>
            <a:r>
              <a:rPr lang="en-GB" sz="2000" dirty="0">
                <a:solidFill>
                  <a:srgbClr val="222222"/>
                </a:solidFill>
              </a:rPr>
              <a:t>each slide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graphic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how the </a:t>
            </a:r>
            <a:r>
              <a:rPr lang="en-GB" sz="2000" dirty="0">
                <a:solidFill>
                  <a:srgbClr val="222222"/>
                </a:solidFill>
              </a:rPr>
              <a:t>classic </a:t>
            </a:r>
            <a:r>
              <a:rPr lang="en-GB" sz="2000" dirty="0">
                <a:solidFill>
                  <a:srgbClr val="007A3D"/>
                </a:solidFill>
              </a:rPr>
              <a:t>&amp;</a:t>
            </a:r>
            <a:r>
              <a:rPr lang="en-GB" sz="2000" dirty="0">
                <a:solidFill>
                  <a:srgbClr val="222222"/>
                </a:solidFill>
              </a:rPr>
              <a:t> recent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views compare 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Engage critically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with the methods, evidence, uncertainty &amp; limitations 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>
                <a:solidFill>
                  <a:srgbClr val="222222"/>
                </a:solidFill>
              </a:rPr>
              <a:t>Acknowledge sources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information &amp; visuals on each slide (</a:t>
            </a:r>
            <a:r>
              <a:rPr lang="en-GB" sz="2400" dirty="0">
                <a:solidFill>
                  <a:srgbClr val="C00000"/>
                </a:solidFill>
              </a:rPr>
              <a:t>AI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  <a:defRPr sz="1800"/>
            </a:pPr>
            <a:r>
              <a:rPr lang="en-GB" sz="2400" dirty="0"/>
              <a:t>On the final slide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, state </a:t>
            </a:r>
            <a:r>
              <a:rPr lang="en-GB" sz="2400" dirty="0">
                <a:solidFill>
                  <a:srgbClr val="007A3D"/>
                </a:solidFill>
              </a:rPr>
              <a:t>who did what: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photo, name &amp; contribution</a:t>
            </a:r>
          </a:p>
          <a:p>
            <a:pPr marL="0" indent="0">
              <a:buNone/>
              <a:defRPr sz="2000"/>
            </a:pPr>
            <a:endParaRPr lang="en-GB" sz="2400" dirty="0">
              <a:solidFill>
                <a:srgbClr val="222222"/>
              </a:solidFill>
            </a:endParaRPr>
          </a:p>
          <a:p>
            <a:pPr marL="0" indent="0">
              <a:buNone/>
              <a:defRPr sz="2000"/>
            </a:pPr>
            <a:r>
              <a:rPr lang="en-GB" sz="2400" dirty="0">
                <a:solidFill>
                  <a:srgbClr val="007A3D"/>
                </a:solidFill>
              </a:rPr>
              <a:t>Slides</a:t>
            </a:r>
          </a:p>
          <a:p>
            <a:pPr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Engaging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Keep</a:t>
            </a:r>
            <a:r>
              <a:rPr lang="en-GB" sz="2000" dirty="0">
                <a:solidFill>
                  <a:srgbClr val="222222"/>
                </a:solidFill>
              </a:rPr>
              <a:t> text to minimum.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Use </a:t>
            </a:r>
            <a:r>
              <a:rPr lang="en-GB" sz="2000" dirty="0">
                <a:solidFill>
                  <a:srgbClr val="222222"/>
                </a:solidFill>
              </a:rPr>
              <a:t>high visual-signal content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photos, diagrams, graphs, etc.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Dynamic content is welcome.</a:t>
            </a:r>
          </a:p>
          <a:p>
            <a:pPr lvl="1">
              <a:defRPr sz="2000"/>
            </a:pPr>
            <a:r>
              <a:rPr lang="en-GB" sz="2000" dirty="0"/>
              <a:t>Balance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number of slides</a:t>
            </a:r>
            <a:r>
              <a:rPr lang="en-GB" sz="2000" dirty="0">
                <a:solidFill>
                  <a:srgbClr val="007A3D"/>
                </a:solidFill>
              </a:rPr>
              <a:t>,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detail</a:t>
            </a:r>
            <a:r>
              <a:rPr lang="en-GB" sz="2000" dirty="0">
                <a:solidFill>
                  <a:srgbClr val="007A3D"/>
                </a:solidFill>
              </a:rPr>
              <a:t>,</a:t>
            </a:r>
            <a:r>
              <a:rPr lang="en-GB" sz="2000" dirty="0"/>
              <a:t>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time needed for explanation</a:t>
            </a:r>
          </a:p>
          <a:p>
            <a:pPr lvl="1">
              <a:defRPr sz="2000"/>
            </a:pPr>
            <a:r>
              <a:rPr lang="en-GB" sz="2000" dirty="0"/>
              <a:t>Free speaking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rather than reading from the slides</a:t>
            </a:r>
          </a:p>
          <a:p>
            <a:pPr>
              <a:defRPr sz="2000"/>
            </a:pPr>
            <a:r>
              <a:rPr lang="en-GB" sz="2400" dirty="0">
                <a:solidFill>
                  <a:srgbClr val="C00000"/>
                </a:solidFill>
              </a:rPr>
              <a:t>Study material for peers</a:t>
            </a:r>
          </a:p>
          <a:p>
            <a:pPr lvl="1">
              <a:defRPr sz="2000"/>
            </a:pP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Put</a:t>
            </a:r>
            <a:r>
              <a:rPr lang="en-GB" sz="2000" dirty="0">
                <a:solidFill>
                  <a:srgbClr val="222222"/>
                </a:solidFill>
              </a:rPr>
              <a:t> detailed descriptions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into</a:t>
            </a:r>
            <a:r>
              <a:rPr lang="en-GB" sz="2000" dirty="0">
                <a:solidFill>
                  <a:srgbClr val="222222"/>
                </a:solidFill>
              </a:rPr>
              <a:t> slide notes</a:t>
            </a:r>
          </a:p>
          <a:p>
            <a:pPr>
              <a:defRPr sz="2000"/>
            </a:pPr>
            <a:endParaRPr lang="en-GB" sz="2400" dirty="0">
              <a:solidFill>
                <a:srgbClr val="22222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061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67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GB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 </a:t>
            </a:r>
            <a:r>
              <a:rPr lang="en-GB" sz="3600" dirty="0">
                <a:solidFill>
                  <a:srgbClr val="007A3D"/>
                </a:solidFill>
              </a:rPr>
              <a:t>evaluation</a:t>
            </a:r>
            <a:endParaRPr sz="36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CF019E-3D29-1341-B1EB-244B58B1420D}"/>
              </a:ext>
            </a:extLst>
          </p:cNvPr>
          <p:cNvSpPr txBox="1">
            <a:spLocks/>
          </p:cNvSpPr>
          <p:nvPr/>
        </p:nvSpPr>
        <p:spPr>
          <a:xfrm>
            <a:off x="457200" y="937268"/>
            <a:ext cx="7593724" cy="5075294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Conceptual </a:t>
            </a:r>
            <a:r>
              <a:rPr lang="en-GB" sz="2400" dirty="0">
                <a:solidFill>
                  <a:srgbClr val="222222"/>
                </a:solidFill>
              </a:rPr>
              <a:t>understanding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and</a:t>
            </a:r>
            <a:r>
              <a:rPr lang="en-GB" sz="2400" dirty="0">
                <a:solidFill>
                  <a:srgbClr val="222222"/>
                </a:solidFill>
              </a:rPr>
              <a:t> clarity                                            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000" dirty="0">
                <a:solidFill>
                  <a:srgbClr val="007A3D"/>
                </a:solidFill>
              </a:rPr>
              <a:t>synthesize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primary literature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007A3D"/>
                </a:solidFill>
              </a:rPr>
              <a:t>Connection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ideas (e.g. classical with modern developments)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Correctness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arguments grounded in evidence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/>
              <a:t>Academic integrity 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/ AI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1600" dirty="0">
              <a:solidFill>
                <a:srgbClr val="222222"/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007A3D"/>
                </a:solidFill>
              </a:rPr>
              <a:t>TEAM-work</a:t>
            </a:r>
            <a:r>
              <a:rPr lang="en-GB" sz="2400" dirty="0">
                <a:solidFill>
                  <a:srgbClr val="C0000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000"/>
            </a:pPr>
            <a:r>
              <a:rPr lang="en-GB" sz="2400" dirty="0"/>
              <a:t>	Individual penalisation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FFC000"/>
                </a:solidFill>
              </a:rPr>
              <a:t>Yellow card </a:t>
            </a:r>
            <a:r>
              <a:rPr lang="en-GB" sz="2000" dirty="0"/>
              <a:t>= - 10 points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(very poor presentation/involvement)</a:t>
            </a:r>
          </a:p>
          <a:p>
            <a:pPr lvl="1"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000" dirty="0">
                <a:solidFill>
                  <a:srgbClr val="C00000"/>
                </a:solidFill>
              </a:rPr>
              <a:t>Red card </a:t>
            </a:r>
            <a:r>
              <a:rPr lang="en-GB" sz="2000" dirty="0"/>
              <a:t>= fail 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(no or minimal cooperation and participation in preparing presentation)</a:t>
            </a:r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  <a:defRPr sz="2000"/>
            </a:pPr>
            <a:endParaRPr lang="en-GB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Engagement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ability to capture audience’s attention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Visual quality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Structure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en-GB" sz="2400" dirty="0">
                <a:solidFill>
                  <a:srgbClr val="222222"/>
                </a:solidFill>
              </a:rPr>
              <a:t>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logical and easy to follow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rgbClr val="222222"/>
                </a:solidFill>
              </a:rPr>
              <a:t>Timing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(20min): those continuing over 20 min - stopped and loosing 10 points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Ability to </a:t>
            </a:r>
            <a:r>
              <a:rPr lang="en-GB" sz="2400" dirty="0">
                <a:solidFill>
                  <a:srgbClr val="222222"/>
                </a:solidFill>
              </a:rPr>
              <a:t>discuss &amp; defend 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your</a:t>
            </a:r>
            <a:r>
              <a:rPr lang="en-GB" sz="2400" dirty="0">
                <a:solidFill>
                  <a:srgbClr val="222222"/>
                </a:solidFill>
              </a:rPr>
              <a:t> views</a:t>
            </a:r>
          </a:p>
          <a:p>
            <a:pPr>
              <a:spcBef>
                <a:spcPts val="0"/>
              </a:spcBef>
              <a:spcAft>
                <a:spcPts val="900"/>
              </a:spcAft>
              <a:defRPr sz="2000"/>
            </a:pP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Reusability as </a:t>
            </a:r>
            <a:r>
              <a:rPr lang="en-GB" sz="2400" dirty="0">
                <a:solidFill>
                  <a:srgbClr val="222222"/>
                </a:solidFill>
              </a:rPr>
              <a:t>study material</a:t>
            </a:r>
            <a:r>
              <a:rPr lang="en-GB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for pears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8843</TotalTime>
  <Words>750</Words>
  <Application>Microsoft Macintosh PowerPoint</Application>
  <PresentationFormat>On-screen Show (4:3)</PresentationFormat>
  <Paragraphs>87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SF Mono Light</vt:lpstr>
      <vt:lpstr>Office Theme</vt:lpstr>
      <vt:lpstr>Symposia</vt:lpstr>
      <vt:lpstr>Presentations format</vt:lpstr>
      <vt:lpstr>Presentations 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Ecology &amp; General Ecology</dc:title>
  <dc:subject/>
  <dc:creator/>
  <cp:keywords/>
  <dc:description>generated using python-pptx</dc:description>
  <cp:lastModifiedBy>Martin Bulla</cp:lastModifiedBy>
  <cp:revision>97</cp:revision>
  <cp:lastPrinted>2025-10-20T18:47:20Z</cp:lastPrinted>
  <dcterms:created xsi:type="dcterms:W3CDTF">2013-01-27T09:14:16Z</dcterms:created>
  <dcterms:modified xsi:type="dcterms:W3CDTF">2026-10-09T08:21:55Z</dcterms:modified>
  <cp:category/>
</cp:coreProperties>
</file>