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66" r:id="rId2"/>
    <p:sldId id="262" r:id="rId3"/>
    <p:sldId id="258" r:id="rId4"/>
    <p:sldId id="265" r:id="rId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oCNuQhxXxGukZcxLC8XJQtJ7i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52"/>
    <p:restoredTop sz="94658"/>
  </p:normalViewPr>
  <p:slideViewPr>
    <p:cSldViewPr snapToGrid="0">
      <p:cViewPr varScale="1">
        <p:scale>
          <a:sx n="120" d="100"/>
          <a:sy n="120" d="100"/>
        </p:scale>
        <p:origin x="2032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2ABD3577-3F6D-A1A6-DC11-F806CC0E0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d28a2ba7_0_46:notes">
            <a:extLst>
              <a:ext uri="{FF2B5EF4-FFF2-40B4-BE49-F238E27FC236}">
                <a16:creationId xmlns:a16="http://schemas.microsoft.com/office/drawing/2014/main" id="{54E3096F-7682-EC9B-2A8E-9CD813F773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add28a2ba7_0_46:notes">
            <a:extLst>
              <a:ext uri="{FF2B5EF4-FFF2-40B4-BE49-F238E27FC236}">
                <a16:creationId xmlns:a16="http://schemas.microsoft.com/office/drawing/2014/main" id="{BB5884CB-9F0D-69D5-3836-ED99AA955C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add28a2ba7_0_46:notes">
            <a:extLst>
              <a:ext uri="{FF2B5EF4-FFF2-40B4-BE49-F238E27FC236}">
                <a16:creationId xmlns:a16="http://schemas.microsoft.com/office/drawing/2014/main" id="{F795EFB4-58CB-1EF3-CCBB-A2E77CFA5C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0182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GB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Presentation – a back bone of the course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rgbClr val="222222"/>
                </a:solidFill>
              </a:rPr>
              <a:t>Read and synthesize primary literature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rgbClr val="222222"/>
                </a:solidFill>
              </a:rPr>
              <a:t>Learn about basic ecological concepts</a:t>
            </a:r>
            <a:endParaRPr sz="1800"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222222"/>
                </a:solidFill>
              </a:rPr>
              <a:t>Practice scientific thinking and clear communication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222222"/>
                </a:solidFill>
              </a:rPr>
              <a:t>Connect classic ideas with modern developments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222222"/>
                </a:solidFill>
              </a:rPr>
              <a:t>Create re-usable study material for peers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dd28a2ba7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dd28a2ba7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add28a2ba7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4C481861-D645-D457-E025-165B47685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dd28a2ba7_0_46">
            <a:extLst>
              <a:ext uri="{FF2B5EF4-FFF2-40B4-BE49-F238E27FC236}">
                <a16:creationId xmlns:a16="http://schemas.microsoft.com/office/drawing/2014/main" id="{1B49D82D-BFB4-4FA0-73E3-06A2F72A0ACD}"/>
              </a:ext>
            </a:extLst>
          </p:cNvPr>
          <p:cNvSpPr/>
          <p:nvPr/>
        </p:nvSpPr>
        <p:spPr>
          <a:xfrm>
            <a:off x="0" y="6583680"/>
            <a:ext cx="9144000" cy="274200"/>
          </a:xfrm>
          <a:prstGeom prst="rect">
            <a:avLst/>
          </a:prstGeom>
          <a:solidFill>
            <a:srgbClr val="007A3D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add28a2ba7_0_46">
            <a:extLst>
              <a:ext uri="{FF2B5EF4-FFF2-40B4-BE49-F238E27FC236}">
                <a16:creationId xmlns:a16="http://schemas.microsoft.com/office/drawing/2014/main" id="{33253316-C154-E83A-7C3F-0FB56156BC61}"/>
              </a:ext>
            </a:extLst>
          </p:cNvPr>
          <p:cNvSpPr txBox="1"/>
          <p:nvPr/>
        </p:nvSpPr>
        <p:spPr>
          <a:xfrm>
            <a:off x="954452" y="1038608"/>
            <a:ext cx="6575100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007A3D"/>
                </a:solidFill>
              </a:rPr>
              <a:t>What have you taken from the presenting exercise?</a:t>
            </a:r>
            <a:endParaRPr sz="1800" b="1" dirty="0">
              <a:solidFill>
                <a:srgbClr val="007A3D"/>
              </a:solidFill>
            </a:endParaRPr>
          </a:p>
        </p:txBody>
      </p:sp>
      <p:sp>
        <p:nvSpPr>
          <p:cNvPr id="133" name="Google Shape;133;g3add28a2ba7_0_46">
            <a:extLst>
              <a:ext uri="{FF2B5EF4-FFF2-40B4-BE49-F238E27FC236}">
                <a16:creationId xmlns:a16="http://schemas.microsoft.com/office/drawing/2014/main" id="{FE388422-3A74-8DDC-4BA6-91A0F5CEA5A1}"/>
              </a:ext>
            </a:extLst>
          </p:cNvPr>
          <p:cNvSpPr txBox="1"/>
          <p:nvPr/>
        </p:nvSpPr>
        <p:spPr>
          <a:xfrm>
            <a:off x="954452" y="1541792"/>
            <a:ext cx="4863600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007A3D"/>
                </a:solidFill>
              </a:rPr>
              <a:t>Whose</a:t>
            </a:r>
            <a:r>
              <a:rPr lang="en-GB" sz="1800" b="1" dirty="0">
                <a:solidFill>
                  <a:schemeClr val="dk1"/>
                </a:solidFill>
              </a:rPr>
              <a:t> </a:t>
            </a:r>
            <a:r>
              <a:rPr lang="en-GB" sz="1800" b="1" dirty="0">
                <a:solidFill>
                  <a:srgbClr val="007A3D"/>
                </a:solidFill>
              </a:rPr>
              <a:t>presenting is stuck in your mind?</a:t>
            </a:r>
            <a:endParaRPr sz="1800" b="1" dirty="0">
              <a:solidFill>
                <a:srgbClr val="007A3D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27AD3A-935D-1B75-0A9C-41826DC1B457}"/>
              </a:ext>
            </a:extLst>
          </p:cNvPr>
          <p:cNvSpPr txBox="1"/>
          <p:nvPr/>
        </p:nvSpPr>
        <p:spPr>
          <a:xfrm>
            <a:off x="954452" y="2200688"/>
            <a:ext cx="8094197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7A3D"/>
                </a:solidFill>
              </a:rPr>
              <a:t>Tips and tricks for engaging presentation</a:t>
            </a:r>
          </a:p>
          <a:p>
            <a:endParaRPr lang="en-GB" sz="1000" b="1" dirty="0">
              <a:solidFill>
                <a:srgbClr val="007A3D"/>
              </a:solidFill>
            </a:endParaRPr>
          </a:p>
          <a:p>
            <a:pPr marL="285750" lvl="4" indent="-285750">
              <a:buFontTx/>
              <a:buChar char="-"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hook </a:t>
            </a:r>
          </a:p>
          <a:p>
            <a:pPr marL="285750" lvl="4" indent="-285750">
              <a:buFontTx/>
              <a:buChar char="-"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digest the info into essentials</a:t>
            </a:r>
          </a:p>
          <a:p>
            <a:pPr marL="285750" lvl="4" indent="-285750">
              <a:buFontTx/>
              <a:buChar char="-"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 slides to guid you through what you want to say</a:t>
            </a:r>
          </a:p>
          <a:p>
            <a:pPr marL="285750" lvl="4" indent="-285750">
              <a:buFontTx/>
              <a:buChar char="-"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show what you know</a:t>
            </a:r>
          </a:p>
          <a:p>
            <a:pPr lvl="4"/>
            <a:endParaRPr lang="en-GB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lvl="4" indent="-285750">
              <a:buFontTx/>
              <a:buChar char="-"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switch often among members</a:t>
            </a:r>
          </a:p>
          <a:p>
            <a:pPr marL="285750" lvl="4" indent="-285750">
              <a:buFontTx/>
              <a:buChar char="-"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innovative approaches</a:t>
            </a:r>
          </a:p>
          <a:p>
            <a:pPr marL="285750" lvl="4" indent="-285750">
              <a:buFontTx/>
              <a:buChar char="-"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looking into the audience</a:t>
            </a:r>
          </a:p>
          <a:p>
            <a:pPr marL="285750" lvl="4" indent="-285750">
              <a:buFontTx/>
              <a:buChar char="-"/>
            </a:pPr>
            <a:endParaRPr lang="en-GB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lvl="4" indent="-285750">
              <a:buFontTx/>
              <a:buChar char="-"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help each other</a:t>
            </a:r>
          </a:p>
          <a:p>
            <a:pPr marL="285750" lvl="4" indent="-285750">
              <a:buFontTx/>
              <a:buChar char="-"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tuned/practiced 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(non-reliance on notes/tech, etc.)</a:t>
            </a:r>
          </a:p>
          <a:p>
            <a:pPr marL="285750" lvl="4" indent="-285750">
              <a:buFontTx/>
              <a:buChar char="-"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coherent slide design (helpful if a single person overseas the process)</a:t>
            </a:r>
            <a:endParaRPr lang="en-GB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Google Shape;132;g3add28a2ba7_0_46">
            <a:extLst>
              <a:ext uri="{FF2B5EF4-FFF2-40B4-BE49-F238E27FC236}">
                <a16:creationId xmlns:a16="http://schemas.microsoft.com/office/drawing/2014/main" id="{5D469EBC-2D83-DA82-2E86-C44D74C76508}"/>
              </a:ext>
            </a:extLst>
          </p:cNvPr>
          <p:cNvSpPr txBox="1"/>
          <p:nvPr/>
        </p:nvSpPr>
        <p:spPr>
          <a:xfrm>
            <a:off x="954452" y="336984"/>
            <a:ext cx="6575100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GB" sz="1800" b="1" dirty="0">
                <a:solidFill>
                  <a:srgbClr val="007A3D"/>
                </a:solidFill>
              </a:rPr>
              <a:t>How did you find the symposium experience? </a:t>
            </a:r>
            <a:endParaRPr lang="en-CZ" sz="1800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68C4F6-8A59-00F6-C9F0-A99B1E982909}"/>
              </a:ext>
            </a:extLst>
          </p:cNvPr>
          <p:cNvSpPr txBox="1"/>
          <p:nvPr/>
        </p:nvSpPr>
        <p:spPr>
          <a:xfrm>
            <a:off x="954452" y="5895830"/>
            <a:ext cx="4613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4"/>
            <a:r>
              <a:rPr lang="en-GB" sz="1800" b="1" dirty="0">
                <a:solidFill>
                  <a:srgbClr val="007A3D"/>
                </a:solidFill>
              </a:rPr>
              <a:t>T</a:t>
            </a:r>
            <a:r>
              <a:rPr lang="en-DE" sz="1800" b="1">
                <a:solidFill>
                  <a:srgbClr val="007A3D"/>
                </a:solidFill>
              </a:rPr>
              <a:t>ry that all works in advance</a:t>
            </a:r>
            <a:endParaRPr lang="en-GB" sz="1800" b="1" dirty="0">
              <a:solidFill>
                <a:srgbClr val="007A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51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  <p:bldP spid="133" grpId="0"/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>
            <a:spLocks noGrp="1"/>
          </p:cNvSpPr>
          <p:nvPr>
            <p:ph type="title"/>
          </p:nvPr>
        </p:nvSpPr>
        <p:spPr>
          <a:xfrm>
            <a:off x="871725" y="4442756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7A3D"/>
              </a:buClr>
              <a:buSzPts val="3600"/>
              <a:buFont typeface="Calibri"/>
              <a:buNone/>
            </a:pPr>
            <a:r>
              <a:rPr lang="en-GB" sz="3600" dirty="0">
                <a:solidFill>
                  <a:srgbClr val="007A3D"/>
                </a:solidFill>
              </a:rPr>
              <a:t>YOUR FEEDBACK ON THE COURSE</a:t>
            </a:r>
            <a:endParaRPr sz="3600" dirty="0">
              <a:solidFill>
                <a:srgbClr val="007A3D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ADB628-1BA3-6A33-D02D-10AAC79DCA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1" r="1"/>
          <a:stretch>
            <a:fillRect/>
          </a:stretch>
        </p:blipFill>
        <p:spPr>
          <a:xfrm>
            <a:off x="2873254" y="1225176"/>
            <a:ext cx="2856769" cy="28896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title"/>
          </p:nvPr>
        </p:nvSpPr>
        <p:spPr>
          <a:xfrm>
            <a:off x="457200" y="-66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Calibri"/>
              <a:buNone/>
            </a:pPr>
            <a:r>
              <a:rPr lang="en-GB" sz="3600" dirty="0">
                <a:solidFill>
                  <a:srgbClr val="7F7F7F"/>
                </a:solidFill>
              </a:rPr>
              <a:t>Exam</a:t>
            </a:r>
            <a:endParaRPr sz="3600" dirty="0">
              <a:solidFill>
                <a:srgbClr val="C00000"/>
              </a:solidFill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457200" y="113632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Bef>
                <a:spcPts val="900"/>
              </a:spcBef>
              <a:buClr>
                <a:srgbClr val="222222"/>
              </a:buClr>
              <a:buSzPct val="100000"/>
            </a:pPr>
            <a:r>
              <a:rPr lang="en-GB" sz="2400" dirty="0">
                <a:solidFill>
                  <a:srgbClr val="007A3D"/>
                </a:solidFill>
              </a:rPr>
              <a:t>Format</a:t>
            </a:r>
            <a:r>
              <a:rPr lang="en-GB" sz="2400" b="0" i="0" u="none" strike="noStrike" cap="none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</a:p>
          <a:p>
            <a:pPr marL="342900" lvl="0" indent="-342900">
              <a:spcBef>
                <a:spcPts val="900"/>
              </a:spcBef>
              <a:buClr>
                <a:srgbClr val="222222"/>
              </a:buClr>
              <a:buSzPct val="100000"/>
              <a:buFontTx/>
              <a:buChar char="-"/>
            </a:pPr>
            <a:r>
              <a:rPr lang="en-GB" sz="2400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~20 multiple-choice questions </a:t>
            </a:r>
            <a:r>
              <a:rPr lang="en-GB" sz="2400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(one or more correct answers)</a:t>
            </a:r>
          </a:p>
          <a:p>
            <a:pPr marL="342900" lvl="0" indent="-342900">
              <a:spcBef>
                <a:spcPts val="900"/>
              </a:spcBef>
              <a:buClr>
                <a:srgbClr val="222222"/>
              </a:buClr>
              <a:buSzPct val="100000"/>
              <a:buFontTx/>
              <a:buChar char="-"/>
            </a:pPr>
            <a:r>
              <a:rPr lang="en-GB" sz="2400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10min</a:t>
            </a:r>
          </a:p>
          <a:p>
            <a:pPr lvl="0">
              <a:spcBef>
                <a:spcPts val="900"/>
              </a:spcBef>
              <a:buClr>
                <a:srgbClr val="222222"/>
              </a:buClr>
              <a:buSzPct val="100000"/>
            </a:pPr>
            <a:endParaRPr lang="en-GB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spcBef>
                <a:spcPts val="900"/>
              </a:spcBef>
              <a:buClr>
                <a:srgbClr val="222222"/>
              </a:buClr>
              <a:buSzPct val="100000"/>
            </a:pPr>
            <a:r>
              <a:rPr lang="en-GB" sz="2400" dirty="0">
                <a:solidFill>
                  <a:srgbClr val="007A3D"/>
                </a:solidFill>
                <a:sym typeface="Calibri"/>
              </a:rPr>
              <a:t>Study material</a:t>
            </a:r>
            <a:endParaRPr dirty="0"/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ct val="100000"/>
              <a:buFontTx/>
              <a:buChar char="-"/>
            </a:pPr>
            <a:r>
              <a:rPr lang="en-GB" sz="2400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Lectures</a:t>
            </a:r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ct val="100000"/>
              <a:buFontTx/>
              <a:buChar char="-"/>
            </a:pPr>
            <a:r>
              <a:rPr lang="en-GB" sz="2400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Glossary (will be shared tomorrow)</a:t>
            </a:r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ct val="100000"/>
              <a:buFontTx/>
              <a:buChar char="-"/>
            </a:pPr>
            <a:r>
              <a:rPr lang="en-GB" sz="2400" b="0" i="0" u="none" strike="noStrike" cap="none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Symposium materials</a:t>
            </a:r>
            <a:endParaRPr sz="24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dd28a2ba7_0_40"/>
          <p:cNvSpPr txBox="1">
            <a:spLocks noGrp="1"/>
          </p:cNvSpPr>
          <p:nvPr>
            <p:ph type="title"/>
          </p:nvPr>
        </p:nvSpPr>
        <p:spPr>
          <a:xfrm>
            <a:off x="685800" y="2067000"/>
            <a:ext cx="7772400" cy="136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Picture time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1352</TotalTime>
  <Words>169</Words>
  <Application>Microsoft Macintosh PowerPoint</Application>
  <PresentationFormat>On-screen Show (4:3)</PresentationFormat>
  <Paragraphs>37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YOUR FEEDBACK ON THE COURSE</vt:lpstr>
      <vt:lpstr>Exam</vt:lpstr>
      <vt:lpstr>Picture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Mikula</dc:creator>
  <cp:lastModifiedBy>Martin Bulla</cp:lastModifiedBy>
  <cp:revision>6</cp:revision>
  <dcterms:created xsi:type="dcterms:W3CDTF">2013-01-27T09:14:16Z</dcterms:created>
  <dcterms:modified xsi:type="dcterms:W3CDTF">2026-10-22T11:40:08Z</dcterms:modified>
</cp:coreProperties>
</file>