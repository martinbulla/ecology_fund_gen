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334" r:id="rId2"/>
    <p:sldId id="421" r:id="rId3"/>
    <p:sldId id="402" r:id="rId4"/>
    <p:sldId id="403" r:id="rId5"/>
    <p:sldId id="404" r:id="rId6"/>
    <p:sldId id="405" r:id="rId7"/>
    <p:sldId id="406" r:id="rId8"/>
    <p:sldId id="420" r:id="rId9"/>
    <p:sldId id="329" r:id="rId1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2" roundtripDataSignature="AMtx7miL9Xj15XU9he5mrulg/WcRW6b+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A3D"/>
    <a:srgbClr val="16B0A6"/>
    <a:srgbClr val="16C1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581" autoAdjust="0"/>
    <p:restoredTop sz="77258" autoAdjust="0"/>
  </p:normalViewPr>
  <p:slideViewPr>
    <p:cSldViewPr snapToGrid="0" snapToObjects="1">
      <p:cViewPr varScale="1">
        <p:scale>
          <a:sx n="173" d="100"/>
          <a:sy n="173" d="100"/>
        </p:scale>
        <p:origin x="3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72" Type="http://customschemas.google.com/relationships/presentationmetadata" Target="metadata"/><Relationship Id="rId3" Type="http://schemas.openxmlformats.org/officeDocument/2006/relationships/slide" Target="slides/slide2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3EA25-13DA-4AF5-82A1-CDC866AD234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3722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669587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0" name="Google Shape;27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3347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áhlaví oddílu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va obsahy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8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ovnání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9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9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9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9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9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Jenom nadpis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ázdn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sah s titulkem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2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2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3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ázek s titulkem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3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dpis a svislý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4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vislý nadpis a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5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aps.app.goo.gl/N8GuNJP2XwiFAQAh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zoopraha.cz/en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139238"/>
            <a:ext cx="7772400" cy="1362075"/>
          </a:xfrm>
        </p:spPr>
        <p:txBody>
          <a:bodyPr>
            <a:normAutofit/>
          </a:bodyPr>
          <a:lstStyle/>
          <a:p>
            <a:pPr>
              <a:defRPr sz="4400"/>
            </a:pPr>
            <a:r>
              <a:rPr lang="en-GB" sz="3600" b="1" dirty="0">
                <a:solidFill>
                  <a:srgbClr val="007A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FUND</a:t>
            </a:r>
            <a:r>
              <a:rPr lang="cs-CZ" sz="3600" b="1" dirty="0">
                <a:solidFill>
                  <a:srgbClr val="007A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GB" sz="3600" b="1" dirty="0">
                <a:solidFill>
                  <a:srgbClr val="007A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MENTALS OF ECOLOGY</a:t>
            </a:r>
            <a:br>
              <a:rPr lang="en-GB" sz="3600" b="1" dirty="0">
                <a:solidFill>
                  <a:srgbClr val="007A3D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3600" b="1" dirty="0">
                <a:solidFill>
                  <a:srgbClr val="007A3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GENERAL ECOLOGY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endParaRPr dirty="0">
              <a:solidFill>
                <a:srgbClr val="222222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F11E535-7BDD-3746-8BC7-C10327BBEF05}"/>
              </a:ext>
            </a:extLst>
          </p:cNvPr>
          <p:cNvSpPr txBox="1">
            <a:spLocks/>
          </p:cNvSpPr>
          <p:nvPr/>
        </p:nvSpPr>
        <p:spPr>
          <a:xfrm>
            <a:off x="726661" y="2820689"/>
            <a:ext cx="7772400" cy="6170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cs-CZ" sz="2800" b="0" cap="non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EXCURSION</a:t>
            </a:r>
            <a:endParaRPr lang="en-GB" sz="2800" b="0" cap="none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D71A50-3DEA-BE4D-8DA7-DCCA4CEBCF91}"/>
              </a:ext>
            </a:extLst>
          </p:cNvPr>
          <p:cNvSpPr txBox="1"/>
          <p:nvPr/>
        </p:nvSpPr>
        <p:spPr>
          <a:xfrm>
            <a:off x="3879171" y="3834610"/>
            <a:ext cx="4615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222222"/>
                </a:solidFill>
              </a:defRPr>
            </a:pPr>
            <a:r>
              <a:rPr lang="en-GB" sz="1800" dirty="0">
                <a:solidFill>
                  <a:srgbClr val="007A3D"/>
                </a:solidFill>
                <a:latin typeface="Helvetica" pitchFamily="2" charset="0"/>
                <a:cs typeface="Calibri" panose="020F0502020204030204" pitchFamily="34" charset="0"/>
              </a:rPr>
              <a:t>Peter Mikula</a:t>
            </a:r>
            <a:endParaRPr lang="cs-CZ" sz="1800" dirty="0">
              <a:solidFill>
                <a:srgbClr val="007A3D"/>
              </a:solidFill>
              <a:latin typeface="Helvetica" pitchFamily="2" charset="0"/>
              <a:cs typeface="Calibri" panose="020F0502020204030204" pitchFamily="34" charset="0"/>
            </a:endParaRPr>
          </a:p>
          <a:p>
            <a:pPr algn="r">
              <a:defRPr sz="2000">
                <a:solidFill>
                  <a:srgbClr val="222222"/>
                </a:solidFill>
              </a:defRPr>
            </a:pPr>
            <a:r>
              <a:rPr lang="en-GB" sz="1800" dirty="0">
                <a:solidFill>
                  <a:srgbClr val="007A3D"/>
                </a:solidFill>
                <a:latin typeface="Helvetica" pitchFamily="2" charset="0"/>
                <a:cs typeface="Calibri" panose="020F0502020204030204" pitchFamily="34" charset="0"/>
              </a:rPr>
              <a:t>Martin Bulla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41F69B-4AE7-2A49-99BA-22AEA73B0C9B}"/>
              </a:ext>
            </a:extLst>
          </p:cNvPr>
          <p:cNvSpPr/>
          <p:nvPr/>
        </p:nvSpPr>
        <p:spPr>
          <a:xfrm>
            <a:off x="-13065" y="6605445"/>
            <a:ext cx="9144000" cy="274320"/>
          </a:xfrm>
          <a:prstGeom prst="rect">
            <a:avLst/>
          </a:prstGeom>
          <a:solidFill>
            <a:srgbClr val="0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Helvetica Light" panose="020B0403020202020204" pitchFamily="34" charset="0"/>
              </a:rPr>
              <a:t>Czech University of Life Sciences Prague</a:t>
            </a:r>
            <a:endParaRPr dirty="0">
              <a:solidFill>
                <a:schemeClr val="bg1">
                  <a:lumMod val="65000"/>
                </a:schemeClr>
              </a:solidFill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78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19623F-8EE7-54B8-D254-7499F0316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761" y="250722"/>
            <a:ext cx="6518788" cy="651878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2CCB01F-356C-91C2-CD6B-A02302D8CB3A}"/>
              </a:ext>
            </a:extLst>
          </p:cNvPr>
          <p:cNvCxnSpPr>
            <a:cxnSpLocks/>
          </p:cNvCxnSpPr>
          <p:nvPr/>
        </p:nvCxnSpPr>
        <p:spPr>
          <a:xfrm flipH="1">
            <a:off x="6909619" y="2905432"/>
            <a:ext cx="1194620" cy="1533832"/>
          </a:xfrm>
          <a:prstGeom prst="straightConnector1">
            <a:avLst/>
          </a:prstGeom>
          <a:ln w="603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6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6CE6A9-BD30-FB56-D93B-2113D3092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209552"/>
            <a:ext cx="7886700" cy="919161"/>
          </a:xfrm>
        </p:spPr>
        <p:txBody>
          <a:bodyPr>
            <a:normAutofit/>
          </a:bodyPr>
          <a:lstStyle/>
          <a:p>
            <a:r>
              <a:rPr lang="cs-CZ" sz="3600" dirty="0">
                <a:solidFill>
                  <a:srgbClr val="007A3D"/>
                </a:solidFill>
              </a:rPr>
              <a:t>EXCURSION</a:t>
            </a:r>
            <a:endParaRPr lang="en-GB" sz="3600" dirty="0">
              <a:solidFill>
                <a:srgbClr val="007A3D"/>
              </a:solidFill>
            </a:endParaRP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C0FAF42-7D9B-183C-ABCE-DEA60565D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3915" y="1096135"/>
            <a:ext cx="7063014" cy="1248422"/>
          </a:xfrm>
        </p:spPr>
        <p:txBody>
          <a:bodyPr>
            <a:normAutofit/>
          </a:bodyPr>
          <a:lstStyle/>
          <a:p>
            <a:r>
              <a:rPr lang="cs-CZ" sz="1400" dirty="0" err="1"/>
              <a:t>Starting</a:t>
            </a:r>
            <a:r>
              <a:rPr lang="cs-CZ" sz="1400" dirty="0"/>
              <a:t> point: </a:t>
            </a:r>
            <a:r>
              <a:rPr lang="cs-CZ" sz="1400" b="1" dirty="0"/>
              <a:t>Zoo Praha – Troja (bus stop)</a:t>
            </a:r>
            <a:r>
              <a:rPr lang="cs-CZ" sz="1400" dirty="0"/>
              <a:t> </a:t>
            </a:r>
          </a:p>
          <a:p>
            <a:r>
              <a:rPr lang="cs-CZ" sz="1400" dirty="0"/>
              <a:t>Meeting point: </a:t>
            </a:r>
            <a:r>
              <a:rPr lang="cs-CZ" sz="1400" dirty="0">
                <a:hlinkClick r:id="rId3"/>
              </a:rPr>
              <a:t>https://maps.app.goo.gl/N8GuNJP2XwiFAQAh8</a:t>
            </a:r>
            <a:endParaRPr lang="cs-CZ" sz="1400" dirty="0"/>
          </a:p>
          <a:p>
            <a:r>
              <a:rPr lang="cs-CZ" sz="1400" dirty="0"/>
              <a:t>Time: 09:00		</a:t>
            </a:r>
            <a:r>
              <a:rPr lang="cs-CZ" sz="1400" dirty="0" err="1"/>
              <a:t>Date</a:t>
            </a:r>
            <a:r>
              <a:rPr lang="cs-CZ" sz="1400" dirty="0"/>
              <a:t>: 2 </a:t>
            </a:r>
            <a:r>
              <a:rPr lang="cs-CZ" sz="1400" dirty="0" err="1"/>
              <a:t>October</a:t>
            </a:r>
            <a:r>
              <a:rPr lang="cs-CZ" sz="1400" dirty="0"/>
              <a:t> 2026</a:t>
            </a:r>
            <a:endParaRPr lang="en-GB" sz="1400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3CC50918-6D11-BB56-3DBC-5FDAD07BC9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598" y="2215578"/>
            <a:ext cx="6303069" cy="4289071"/>
          </a:xfrm>
          <a:prstGeom prst="rect">
            <a:avLst/>
          </a:prstGeom>
        </p:spPr>
      </p:pic>
      <p:sp>
        <p:nvSpPr>
          <p:cNvPr id="6" name="Rovnoramenný trojúhelník 5">
            <a:extLst>
              <a:ext uri="{FF2B5EF4-FFF2-40B4-BE49-F238E27FC236}">
                <a16:creationId xmlns:a16="http://schemas.microsoft.com/office/drawing/2014/main" id="{12A5108D-EE83-0CB9-0A1A-3DA8C5602607}"/>
              </a:ext>
            </a:extLst>
          </p:cNvPr>
          <p:cNvSpPr/>
          <p:nvPr/>
        </p:nvSpPr>
        <p:spPr>
          <a:xfrm>
            <a:off x="2979713" y="3785382"/>
            <a:ext cx="262890" cy="285750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BA8E4B-9027-6128-4654-50D234352F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2732" y="1234241"/>
            <a:ext cx="781935" cy="78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509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99A0A5-5F77-24CF-E604-B4B4979CB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740" y="109539"/>
            <a:ext cx="7886700" cy="907731"/>
          </a:xfrm>
        </p:spPr>
        <p:txBody>
          <a:bodyPr>
            <a:normAutofit/>
          </a:bodyPr>
          <a:lstStyle/>
          <a:p>
            <a:r>
              <a:rPr lang="cs-CZ" sz="3600" dirty="0">
                <a:solidFill>
                  <a:srgbClr val="007A3D"/>
                </a:solidFill>
              </a:rPr>
              <a:t>ZOO</a:t>
            </a:r>
            <a:endParaRPr lang="en-GB" sz="3600" dirty="0">
              <a:solidFill>
                <a:srgbClr val="007A3D"/>
              </a:solidFill>
            </a:endParaRP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B05654A-9EE3-D444-5AD5-5F9A8DD69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1017270"/>
            <a:ext cx="7886700" cy="5731191"/>
          </a:xfrm>
        </p:spPr>
        <p:txBody>
          <a:bodyPr>
            <a:normAutofit/>
          </a:bodyPr>
          <a:lstStyle/>
          <a:p>
            <a:r>
              <a:rPr lang="cs-CZ" dirty="0"/>
              <a:t>Buy online </a:t>
            </a:r>
            <a:r>
              <a:rPr lang="cs-CZ" dirty="0" err="1"/>
              <a:t>tickets</a:t>
            </a:r>
            <a:r>
              <a:rPr lang="cs-CZ" dirty="0"/>
              <a:t> in </a:t>
            </a:r>
            <a:r>
              <a:rPr lang="cs-CZ" dirty="0" err="1"/>
              <a:t>advance</a:t>
            </a:r>
            <a:endParaRPr lang="cs-CZ" dirty="0"/>
          </a:p>
          <a:p>
            <a:pPr marL="685800" indent="-457200">
              <a:buAutoNum type="arabicPeriod"/>
            </a:pPr>
            <a:r>
              <a:rPr lang="cs-CZ" dirty="0" err="1"/>
              <a:t>Click</a:t>
            </a:r>
            <a:r>
              <a:rPr lang="cs-CZ" dirty="0"/>
              <a:t> on </a:t>
            </a:r>
            <a:r>
              <a:rPr lang="cs-CZ" dirty="0">
                <a:hlinkClick r:id="rId2"/>
              </a:rPr>
              <a:t>https://www.zoopraha.cz/en</a:t>
            </a:r>
            <a:endParaRPr lang="cs-CZ" dirty="0"/>
          </a:p>
          <a:p>
            <a:pPr marL="685800" indent="-457200">
              <a:buAutoNum type="arabicPeriod"/>
            </a:pPr>
            <a:endParaRPr lang="en-GB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368EC31C-BC09-40EC-3C21-0775A083F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24" y="2250964"/>
            <a:ext cx="5669280" cy="369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528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65052F9-177B-1B14-F960-D14F18D18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26074"/>
            <a:ext cx="7886700" cy="1500187"/>
          </a:xfrm>
        </p:spPr>
        <p:txBody>
          <a:bodyPr/>
          <a:lstStyle/>
          <a:p>
            <a:r>
              <a:rPr lang="cs-CZ" dirty="0"/>
              <a:t>2. </a:t>
            </a:r>
            <a:r>
              <a:rPr lang="cs-CZ" dirty="0" err="1"/>
              <a:t>Click</a:t>
            </a:r>
            <a:r>
              <a:rPr lang="cs-CZ" dirty="0"/>
              <a:t> on E-ticket</a:t>
            </a:r>
            <a:endParaRPr lang="en-GB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01486EF8-31AF-C49F-9B08-1EA8129C3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076167"/>
            <a:ext cx="7635240" cy="4976647"/>
          </a:xfrm>
          <a:prstGeom prst="rect">
            <a:avLst/>
          </a:prstGeom>
        </p:spPr>
      </p:pic>
      <p:cxnSp>
        <p:nvCxnSpPr>
          <p:cNvPr id="9" name="Přímá spojnice se šipkou 8">
            <a:extLst>
              <a:ext uri="{FF2B5EF4-FFF2-40B4-BE49-F238E27FC236}">
                <a16:creationId xmlns:a16="http://schemas.microsoft.com/office/drawing/2014/main" id="{FF24E678-D6AD-4BC7-2260-BDAA1236239F}"/>
              </a:ext>
            </a:extLst>
          </p:cNvPr>
          <p:cNvCxnSpPr/>
          <p:nvPr/>
        </p:nvCxnSpPr>
        <p:spPr>
          <a:xfrm flipH="1">
            <a:off x="3046095" y="914400"/>
            <a:ext cx="468630" cy="52578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5309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003993-A473-E0FD-5EA6-0CFF8D8E2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8693484-B43A-44DA-FEDC-5ADC5A464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7C0D96D6-8A64-3312-CC12-2221690EC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6457"/>
            <a:ext cx="9144000" cy="4385085"/>
          </a:xfrm>
          <a:prstGeom prst="rect">
            <a:avLst/>
          </a:prstGeom>
        </p:spPr>
      </p:pic>
      <p:sp>
        <p:nvSpPr>
          <p:cNvPr id="6" name="Zástupný text 2">
            <a:extLst>
              <a:ext uri="{FF2B5EF4-FFF2-40B4-BE49-F238E27FC236}">
                <a16:creationId xmlns:a16="http://schemas.microsoft.com/office/drawing/2014/main" id="{39D42AB6-10CD-4C31-2A94-BC215647AD0A}"/>
              </a:ext>
            </a:extLst>
          </p:cNvPr>
          <p:cNvSpPr txBox="1">
            <a:spLocks/>
          </p:cNvSpPr>
          <p:nvPr/>
        </p:nvSpPr>
        <p:spPr>
          <a:xfrm>
            <a:off x="628650" y="32607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cs-CZ" dirty="0"/>
              <a:t>3. </a:t>
            </a:r>
            <a:r>
              <a:rPr lang="cs-CZ" dirty="0" err="1"/>
              <a:t>Select</a:t>
            </a:r>
            <a:r>
              <a:rPr lang="cs-CZ" dirty="0"/>
              <a:t> „ONE-TIME TICKETS“</a:t>
            </a:r>
            <a:endParaRPr lang="en-GB" dirty="0"/>
          </a:p>
        </p:txBody>
      </p:sp>
      <p:cxnSp>
        <p:nvCxnSpPr>
          <p:cNvPr id="7" name="Přímá spojnice se šipkou 6">
            <a:extLst>
              <a:ext uri="{FF2B5EF4-FFF2-40B4-BE49-F238E27FC236}">
                <a16:creationId xmlns:a16="http://schemas.microsoft.com/office/drawing/2014/main" id="{0CB2B2B9-D2BD-9EE0-E92C-4542E36D114D}"/>
              </a:ext>
            </a:extLst>
          </p:cNvPr>
          <p:cNvCxnSpPr/>
          <p:nvPr/>
        </p:nvCxnSpPr>
        <p:spPr>
          <a:xfrm flipH="1">
            <a:off x="3566160" y="907575"/>
            <a:ext cx="468630" cy="52578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513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DDA8A6-AC84-2CCC-AE12-ADC886C1F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69DC2F-3854-A568-205E-444EB5631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910" y="5421630"/>
            <a:ext cx="8721090" cy="895121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cs-CZ" dirty="0" err="1">
                <a:solidFill>
                  <a:srgbClr val="FF0000"/>
                </a:solidFill>
              </a:rPr>
              <a:t>Only</a:t>
            </a:r>
            <a:r>
              <a:rPr lang="cs-CZ" dirty="0">
                <a:solidFill>
                  <a:srgbClr val="FF0000"/>
                </a:solidFill>
              </a:rPr>
              <a:t> </a:t>
            </a:r>
            <a:r>
              <a:rPr lang="cs-CZ" dirty="0" err="1">
                <a:solidFill>
                  <a:srgbClr val="FF0000"/>
                </a:solidFill>
              </a:rPr>
              <a:t>if</a:t>
            </a:r>
            <a:r>
              <a:rPr lang="cs-CZ" dirty="0">
                <a:solidFill>
                  <a:srgbClr val="FF0000"/>
                </a:solidFill>
              </a:rPr>
              <a:t> </a:t>
            </a:r>
            <a:r>
              <a:rPr lang="cs-CZ" dirty="0" err="1">
                <a:solidFill>
                  <a:srgbClr val="FF0000"/>
                </a:solidFill>
              </a:rPr>
              <a:t>you</a:t>
            </a:r>
            <a:r>
              <a:rPr lang="cs-CZ" dirty="0">
                <a:solidFill>
                  <a:srgbClr val="FF0000"/>
                </a:solidFill>
              </a:rPr>
              <a:t> </a:t>
            </a:r>
            <a:r>
              <a:rPr lang="cs-CZ" dirty="0" err="1">
                <a:solidFill>
                  <a:srgbClr val="FF0000"/>
                </a:solidFill>
              </a:rPr>
              <a:t>have</a:t>
            </a:r>
            <a:r>
              <a:rPr lang="cs-CZ" dirty="0">
                <a:solidFill>
                  <a:srgbClr val="FF0000"/>
                </a:solidFill>
              </a:rPr>
              <a:t> a </a:t>
            </a:r>
            <a:r>
              <a:rPr lang="cs-CZ" dirty="0" err="1">
                <a:solidFill>
                  <a:srgbClr val="FF0000"/>
                </a:solidFill>
              </a:rPr>
              <a:t>valid</a:t>
            </a:r>
            <a:r>
              <a:rPr lang="cs-CZ" dirty="0">
                <a:solidFill>
                  <a:srgbClr val="FF0000"/>
                </a:solidFill>
              </a:rPr>
              <a:t> student </a:t>
            </a:r>
            <a:r>
              <a:rPr lang="cs-CZ" dirty="0" err="1">
                <a:solidFill>
                  <a:srgbClr val="FF0000"/>
                </a:solidFill>
              </a:rPr>
              <a:t>card</a:t>
            </a:r>
            <a:r>
              <a:rPr lang="cs-CZ" dirty="0">
                <a:solidFill>
                  <a:srgbClr val="FF0000"/>
                </a:solidFill>
              </a:rPr>
              <a:t> (</a:t>
            </a:r>
            <a:r>
              <a:rPr lang="cs-CZ" dirty="0" err="1">
                <a:solidFill>
                  <a:srgbClr val="FF0000"/>
                </a:solidFill>
              </a:rPr>
              <a:t>should</a:t>
            </a:r>
            <a:r>
              <a:rPr lang="cs-CZ" dirty="0">
                <a:solidFill>
                  <a:srgbClr val="FF0000"/>
                </a:solidFill>
              </a:rPr>
              <a:t> také </a:t>
            </a:r>
            <a:r>
              <a:rPr lang="cs-CZ" dirty="0" err="1">
                <a:solidFill>
                  <a:srgbClr val="FF0000"/>
                </a:solidFill>
              </a:rPr>
              <a:t>it</a:t>
            </a:r>
            <a:r>
              <a:rPr lang="cs-CZ" dirty="0">
                <a:solidFill>
                  <a:srgbClr val="FF0000"/>
                </a:solidFill>
              </a:rPr>
              <a:t> </a:t>
            </a:r>
            <a:r>
              <a:rPr lang="cs-CZ" dirty="0" err="1">
                <a:solidFill>
                  <a:srgbClr val="FF0000"/>
                </a:solidFill>
              </a:rPr>
              <a:t>with</a:t>
            </a:r>
            <a:r>
              <a:rPr lang="cs-CZ" dirty="0">
                <a:solidFill>
                  <a:srgbClr val="FF0000"/>
                </a:solidFill>
              </a:rPr>
              <a:t> </a:t>
            </a:r>
            <a:r>
              <a:rPr lang="cs-CZ" dirty="0" err="1">
                <a:solidFill>
                  <a:srgbClr val="FF0000"/>
                </a:solidFill>
              </a:rPr>
              <a:t>you</a:t>
            </a:r>
            <a:r>
              <a:rPr lang="cs-CZ" dirty="0">
                <a:solidFill>
                  <a:srgbClr val="FF0000"/>
                </a:solidFill>
              </a:rPr>
              <a:t>)! </a:t>
            </a:r>
          </a:p>
          <a:p>
            <a:pPr algn="ctr"/>
            <a:r>
              <a:rPr lang="cs-CZ" dirty="0" err="1">
                <a:solidFill>
                  <a:schemeClr val="tx1"/>
                </a:solidFill>
              </a:rPr>
              <a:t>Select</a:t>
            </a:r>
            <a:r>
              <a:rPr lang="cs-CZ" dirty="0">
                <a:solidFill>
                  <a:schemeClr val="tx1"/>
                </a:solidFill>
              </a:rPr>
              <a:t> „ADULT“ </a:t>
            </a:r>
            <a:r>
              <a:rPr lang="cs-CZ" dirty="0" err="1">
                <a:solidFill>
                  <a:schemeClr val="tx1"/>
                </a:solidFill>
              </a:rPr>
              <a:t>otherwise</a:t>
            </a:r>
            <a:r>
              <a:rPr lang="cs-CZ" dirty="0">
                <a:solidFill>
                  <a:schemeClr val="tx1"/>
                </a:solidFill>
              </a:rPr>
              <a:t>.</a:t>
            </a: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453A1DAA-D11F-A164-3C73-E590EB152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4871"/>
            <a:ext cx="9144000" cy="3823405"/>
          </a:xfrm>
          <a:prstGeom prst="rect">
            <a:avLst/>
          </a:prstGeom>
        </p:spPr>
      </p:pic>
      <p:sp>
        <p:nvSpPr>
          <p:cNvPr id="6" name="Zástupný text 2">
            <a:extLst>
              <a:ext uri="{FF2B5EF4-FFF2-40B4-BE49-F238E27FC236}">
                <a16:creationId xmlns:a16="http://schemas.microsoft.com/office/drawing/2014/main" id="{FE6883DE-F06C-5E1F-6A03-3460E2182D37}"/>
              </a:ext>
            </a:extLst>
          </p:cNvPr>
          <p:cNvSpPr txBox="1">
            <a:spLocks/>
          </p:cNvSpPr>
          <p:nvPr/>
        </p:nvSpPr>
        <p:spPr>
          <a:xfrm>
            <a:off x="628650" y="32607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GB" dirty="0"/>
              <a:t>4. Scroll down and select “STUDENT“</a:t>
            </a:r>
          </a:p>
        </p:txBody>
      </p:sp>
      <p:cxnSp>
        <p:nvCxnSpPr>
          <p:cNvPr id="7" name="Přímá spojnice se šipkou 6">
            <a:extLst>
              <a:ext uri="{FF2B5EF4-FFF2-40B4-BE49-F238E27FC236}">
                <a16:creationId xmlns:a16="http://schemas.microsoft.com/office/drawing/2014/main" id="{9C4FDC9B-338D-0E1A-1071-09348AE25E17}"/>
              </a:ext>
            </a:extLst>
          </p:cNvPr>
          <p:cNvCxnSpPr>
            <a:cxnSpLocks/>
          </p:cNvCxnSpPr>
          <p:nvPr/>
        </p:nvCxnSpPr>
        <p:spPr>
          <a:xfrm flipH="1" flipV="1">
            <a:off x="1245870" y="4865830"/>
            <a:ext cx="1818343" cy="69729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912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AFAABF9-7B21-915B-0424-97655195A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17883"/>
            <a:ext cx="8103870" cy="3108546"/>
          </a:xfrm>
        </p:spPr>
        <p:txBody>
          <a:bodyPr>
            <a:normAutofit/>
          </a:bodyPr>
          <a:lstStyle/>
          <a:p>
            <a:pPr marL="0" indent="0"/>
            <a:r>
              <a:rPr lang="cs-CZ" dirty="0" err="1">
                <a:solidFill>
                  <a:schemeClr val="tx1"/>
                </a:solidFill>
              </a:rPr>
              <a:t>Take</a:t>
            </a:r>
            <a:r>
              <a:rPr lang="cs-CZ" dirty="0">
                <a:solidFill>
                  <a:schemeClr val="tx1"/>
                </a:solidFill>
              </a:rPr>
              <a:t> </a:t>
            </a:r>
            <a:r>
              <a:rPr lang="cs-CZ" dirty="0" err="1">
                <a:solidFill>
                  <a:schemeClr val="tx1"/>
                </a:solidFill>
              </a:rPr>
              <a:t>warm</a:t>
            </a:r>
            <a:r>
              <a:rPr lang="cs-CZ" dirty="0">
                <a:solidFill>
                  <a:schemeClr val="tx1"/>
                </a:solidFill>
              </a:rPr>
              <a:t> </a:t>
            </a:r>
            <a:r>
              <a:rPr lang="cs-CZ" dirty="0" err="1">
                <a:solidFill>
                  <a:schemeClr val="tx1"/>
                </a:solidFill>
              </a:rPr>
              <a:t>cloth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; </a:t>
            </a:r>
            <a:r>
              <a:rPr lang="cs-CZ" dirty="0" err="1">
                <a:solidFill>
                  <a:schemeClr val="bg1">
                    <a:lumMod val="50000"/>
                  </a:schemeClr>
                </a:solidFill>
              </a:rPr>
              <a:t>it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 err="1">
                <a:solidFill>
                  <a:schemeClr val="bg1">
                    <a:lumMod val="50000"/>
                  </a:schemeClr>
                </a:solidFill>
              </a:rPr>
              <a:t>might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 err="1">
                <a:solidFill>
                  <a:schemeClr val="bg1">
                    <a:lumMod val="50000"/>
                  </a:schemeClr>
                </a:solidFill>
              </a:rPr>
              <a:t>be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 err="1">
                <a:solidFill>
                  <a:schemeClr val="bg1">
                    <a:lumMod val="50000"/>
                  </a:schemeClr>
                </a:solidFill>
              </a:rPr>
              <a:t>cold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 in </a:t>
            </a:r>
            <a:r>
              <a:rPr lang="cs-CZ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 err="1">
                <a:solidFill>
                  <a:schemeClr val="bg1">
                    <a:lumMod val="50000"/>
                  </a:schemeClr>
                </a:solidFill>
              </a:rPr>
              <a:t>afternoon</a:t>
            </a:r>
            <a:endParaRPr lang="cs-CZ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/>
            <a:r>
              <a:rPr lang="cs-CZ" dirty="0" err="1">
                <a:solidFill>
                  <a:schemeClr val="bg1">
                    <a:lumMod val="50000"/>
                  </a:schemeClr>
                </a:solidFill>
              </a:rPr>
              <a:t>Bring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 err="1">
                <a:solidFill>
                  <a:schemeClr val="bg1">
                    <a:lumMod val="50000"/>
                  </a:schemeClr>
                </a:solidFill>
              </a:rPr>
              <a:t>some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 food and </a:t>
            </a:r>
            <a:r>
              <a:rPr lang="cs-CZ" dirty="0" err="1">
                <a:solidFill>
                  <a:schemeClr val="bg1">
                    <a:lumMod val="50000"/>
                  </a:schemeClr>
                </a:solidFill>
              </a:rPr>
              <a:t>water</a:t>
            </a:r>
            <a:endParaRPr lang="cs-CZ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/>
            <a:r>
              <a:rPr lang="cs-CZ" dirty="0" err="1">
                <a:solidFill>
                  <a:schemeClr val="bg1">
                    <a:lumMod val="50000"/>
                  </a:schemeClr>
                </a:solidFill>
              </a:rPr>
              <a:t>Eventually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cs-CZ" dirty="0" err="1">
                <a:solidFill>
                  <a:schemeClr val="bg1">
                    <a:lumMod val="50000"/>
                  </a:schemeClr>
                </a:solidFill>
              </a:rPr>
              <a:t>you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 err="1">
                <a:solidFill>
                  <a:schemeClr val="bg1">
                    <a:lumMod val="50000"/>
                  </a:schemeClr>
                </a:solidFill>
              </a:rPr>
              <a:t>may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 err="1">
                <a:solidFill>
                  <a:schemeClr val="bg1">
                    <a:lumMod val="50000"/>
                  </a:schemeClr>
                </a:solidFill>
              </a:rPr>
              <a:t>buy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cs-CZ" dirty="0" err="1">
                <a:solidFill>
                  <a:schemeClr val="bg1">
                    <a:lumMod val="50000"/>
                  </a:schemeClr>
                </a:solidFill>
              </a:rPr>
              <a:t>something</a:t>
            </a:r>
            <a:r>
              <a:rPr lang="cs-CZ" dirty="0">
                <a:solidFill>
                  <a:schemeClr val="bg1">
                    <a:lumMod val="50000"/>
                  </a:schemeClr>
                </a:solidFill>
              </a:rPr>
              <a:t> in ZOO</a:t>
            </a:r>
            <a:endParaRPr lang="en-GB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Zástupný text 2">
            <a:extLst>
              <a:ext uri="{FF2B5EF4-FFF2-40B4-BE49-F238E27FC236}">
                <a16:creationId xmlns:a16="http://schemas.microsoft.com/office/drawing/2014/main" id="{53D388C4-5DE9-8188-3635-0C1AF690CED9}"/>
              </a:ext>
            </a:extLst>
          </p:cNvPr>
          <p:cNvSpPr txBox="1">
            <a:spLocks/>
          </p:cNvSpPr>
          <p:nvPr/>
        </p:nvSpPr>
        <p:spPr>
          <a:xfrm>
            <a:off x="411480" y="32607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cs-CZ" sz="3200" b="1" dirty="0">
                <a:solidFill>
                  <a:srgbClr val="007A3D"/>
                </a:solidFill>
              </a:rPr>
              <a:t>LAST NOTES</a:t>
            </a:r>
            <a:endParaRPr lang="en-GB" sz="3200" b="1" dirty="0">
              <a:solidFill>
                <a:srgbClr val="007A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997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>
            <a:extLst>
              <a:ext uri="{FF2B5EF4-FFF2-40B4-BE49-F238E27FC236}">
                <a16:creationId xmlns:a16="http://schemas.microsoft.com/office/drawing/2014/main" id="{FAB19158-A572-DF4C-B81A-82D91CF59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" y="0"/>
            <a:ext cx="88519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2" name="Google Shape;272;p23"/>
          <p:cNvSpPr txBox="1">
            <a:spLocks noGrp="1"/>
          </p:cNvSpPr>
          <p:nvPr>
            <p:ph type="title"/>
          </p:nvPr>
        </p:nvSpPr>
        <p:spPr>
          <a:xfrm>
            <a:off x="6416842" y="-286836"/>
            <a:ext cx="258110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4800"/>
              <a:buFont typeface="Calibri"/>
              <a:buNone/>
            </a:pPr>
            <a:r>
              <a:rPr lang="en-GB" sz="2400" b="1" dirty="0">
                <a:solidFill>
                  <a:schemeClr val="bg1">
                    <a:lumMod val="50000"/>
                  </a:schemeClr>
                </a:solidFill>
              </a:rPr>
              <a:t>Thank you </a:t>
            </a:r>
            <a:br>
              <a:rPr lang="en-GB" sz="2400" b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GB" sz="2400" b="1" dirty="0">
                <a:solidFill>
                  <a:schemeClr val="bg1">
                    <a:lumMod val="50000"/>
                  </a:schemeClr>
                </a:solidFill>
              </a:rPr>
              <a:t>for your attention</a:t>
            </a:r>
            <a:endParaRPr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Google Shape;272;p23">
            <a:extLst>
              <a:ext uri="{FF2B5EF4-FFF2-40B4-BE49-F238E27FC236}">
                <a16:creationId xmlns:a16="http://schemas.microsoft.com/office/drawing/2014/main" id="{320F4A80-6897-0B48-A507-BD4F1BFB002B}"/>
              </a:ext>
            </a:extLst>
          </p:cNvPr>
          <p:cNvSpPr txBox="1">
            <a:spLocks/>
          </p:cNvSpPr>
          <p:nvPr/>
        </p:nvSpPr>
        <p:spPr>
          <a:xfrm>
            <a:off x="146050" y="5819273"/>
            <a:ext cx="248485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C55A11"/>
              </a:buClr>
              <a:buSzPts val="4800"/>
            </a:pPr>
            <a:r>
              <a:rPr lang="en-GB" sz="2400" b="1" dirty="0">
                <a:solidFill>
                  <a:schemeClr val="bg1">
                    <a:lumMod val="50000"/>
                  </a:schemeClr>
                </a:solidFill>
              </a:rPr>
              <a:t>Happy </a:t>
            </a:r>
          </a:p>
          <a:p>
            <a:pPr>
              <a:buClr>
                <a:srgbClr val="C55A11"/>
              </a:buClr>
              <a:buSzPts val="4800"/>
            </a:pPr>
            <a:r>
              <a:rPr lang="en-GB" sz="2400" b="1" dirty="0">
                <a:solidFill>
                  <a:schemeClr val="bg1">
                    <a:lumMod val="50000"/>
                  </a:schemeClr>
                </a:solidFill>
              </a:rPr>
              <a:t>to take questions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0AC75F-01C1-A641-936D-D4D875CC3D03}"/>
              </a:ext>
            </a:extLst>
          </p:cNvPr>
          <p:cNvSpPr txBox="1"/>
          <p:nvPr/>
        </p:nvSpPr>
        <p:spPr>
          <a:xfrm>
            <a:off x="7595101" y="5511496"/>
            <a:ext cx="15488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chemeClr val="bg1">
                    <a:lumMod val="50000"/>
                  </a:schemeClr>
                </a:solidFill>
                <a:effectLst/>
                <a:latin typeface="Open Sans" panose="020B0606030504020204" pitchFamily="34" charset="0"/>
              </a:rPr>
              <a:t>© Shelby Wells</a:t>
            </a:r>
            <a:endParaRPr lang="en-DE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34141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Motiv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6089</TotalTime>
  <Words>154</Words>
  <Application>Microsoft Macintosh PowerPoint</Application>
  <PresentationFormat>On-screen Show (4:3)</PresentationFormat>
  <Paragraphs>26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Helvetica</vt:lpstr>
      <vt:lpstr>Helvetica Light</vt:lpstr>
      <vt:lpstr>Open Sans</vt:lpstr>
      <vt:lpstr>Motiv Office</vt:lpstr>
      <vt:lpstr>FUNDAMENTALS OF ECOLOGY GENERAL ECOLOGY</vt:lpstr>
      <vt:lpstr>PowerPoint Presentation</vt:lpstr>
      <vt:lpstr>EXCURSION</vt:lpstr>
      <vt:lpstr>ZOO</vt:lpstr>
      <vt:lpstr>PowerPoint Presentation</vt:lpstr>
      <vt:lpstr>PowerPoint Presentation</vt:lpstr>
      <vt:lpstr>PowerPoint Presentation</vt:lpstr>
      <vt:lpstr>PowerPoint Presentation</vt:lpstr>
      <vt:lpstr>Thank you 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ecology?</dc:title>
  <dc:creator>Peter Mikula</dc:creator>
  <cp:lastModifiedBy>Martin Bulla</cp:lastModifiedBy>
  <cp:revision>484</cp:revision>
  <dcterms:created xsi:type="dcterms:W3CDTF">2025-10-01T12:00:19Z</dcterms:created>
  <dcterms:modified xsi:type="dcterms:W3CDTF">2026-09-30T09:34:42Z</dcterms:modified>
</cp:coreProperties>
</file>