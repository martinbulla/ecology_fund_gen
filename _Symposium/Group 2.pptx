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Source Serif Pro" charset="1" panose="02040603050405020204"/>
      <p:regular r:id="rId44"/>
    </p:embeddedFont>
    <p:embeddedFont>
      <p:font typeface="Inter" charset="1" panose="02000503000000020004"/>
      <p:regular r:id="rId45"/>
    </p:embeddedFont>
    <p:embeddedFont>
      <p:font typeface="Inter Bold" charset="1" panose="02000503000000020004"/>
      <p:regular r:id="rId69"/>
    </p:embeddedFont>
    <p:embeddedFont>
      <p:font typeface="Aptos" charset="1" panose="020B0004020202020204"/>
      <p:regular r:id="rId70"/>
    </p:embeddedFont>
    <p:embeddedFont>
      <p:font typeface="Arial" charset="1" panose="020B0604020202020204"/>
      <p:regular r:id="rId72"/>
    </p:embeddedFont>
    <p:embeddedFont>
      <p:font typeface="Inter Italics" charset="1" panose="02000503000000020004"/>
      <p:regular r:id="rId7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notesMasters/notesMaster1.xml" Type="http://schemas.openxmlformats.org/officeDocument/2006/relationships/notesMaster"/><Relationship Id="rId42" Target="theme/theme2.xml" Type="http://schemas.openxmlformats.org/officeDocument/2006/relationships/theme"/><Relationship Id="rId43" Target="notesSlides/notesSlide1.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notesSlides/notesSlide2.xml" Type="http://schemas.openxmlformats.org/officeDocument/2006/relationships/notesSlide"/><Relationship Id="rId47" Target="notesSlides/notesSlide3.xml" Type="http://schemas.openxmlformats.org/officeDocument/2006/relationships/notesSlide"/><Relationship Id="rId48" Target="notesSlides/notesSlide4.xml" Type="http://schemas.openxmlformats.org/officeDocument/2006/relationships/notesSlide"/><Relationship Id="rId49" Target="notesSlides/notesSlide5.xml" Type="http://schemas.openxmlformats.org/officeDocument/2006/relationships/notesSlide"/><Relationship Id="rId5" Target="tableStyles.xml" Type="http://schemas.openxmlformats.org/officeDocument/2006/relationships/tableStyles"/><Relationship Id="rId50" Target="notesSlides/notesSlide6.xml" Type="http://schemas.openxmlformats.org/officeDocument/2006/relationships/notesSlide"/><Relationship Id="rId51" Target="notesSlides/notesSlide7.xml" Type="http://schemas.openxmlformats.org/officeDocument/2006/relationships/notesSlide"/><Relationship Id="rId52" Target="notesSlides/notesSlide8.xml" Type="http://schemas.openxmlformats.org/officeDocument/2006/relationships/notesSlide"/><Relationship Id="rId53" Target="notesSlides/notesSlide9.xml" Type="http://schemas.openxmlformats.org/officeDocument/2006/relationships/notesSlide"/><Relationship Id="rId54" Target="notesSlides/notesSlide10.xml" Type="http://schemas.openxmlformats.org/officeDocument/2006/relationships/notesSlide"/><Relationship Id="rId55" Target="notesSlides/notesSlide11.xml" Type="http://schemas.openxmlformats.org/officeDocument/2006/relationships/notesSlide"/><Relationship Id="rId56" Target="notesSlides/notesSlide12.xml" Type="http://schemas.openxmlformats.org/officeDocument/2006/relationships/notesSlide"/><Relationship Id="rId57" Target="notesSlides/notesSlide13.xml" Type="http://schemas.openxmlformats.org/officeDocument/2006/relationships/notesSlide"/><Relationship Id="rId58" Target="notesSlides/notesSlide14.xml" Type="http://schemas.openxmlformats.org/officeDocument/2006/relationships/notesSlide"/><Relationship Id="rId59" Target="notesSlides/notesSlide15.xml" Type="http://schemas.openxmlformats.org/officeDocument/2006/relationships/notesSlide"/><Relationship Id="rId6" Target="slides/slide1.xml" Type="http://schemas.openxmlformats.org/officeDocument/2006/relationships/slide"/><Relationship Id="rId60" Target="notesSlides/notesSlide16.xml" Type="http://schemas.openxmlformats.org/officeDocument/2006/relationships/notesSlide"/><Relationship Id="rId61" Target="notesSlides/notesSlide17.xml" Type="http://schemas.openxmlformats.org/officeDocument/2006/relationships/notesSlide"/><Relationship Id="rId62" Target="notesSlides/notesSlide18.xml" Type="http://schemas.openxmlformats.org/officeDocument/2006/relationships/notesSlide"/><Relationship Id="rId63" Target="notesSlides/notesSlide19.xml" Type="http://schemas.openxmlformats.org/officeDocument/2006/relationships/notesSlide"/><Relationship Id="rId64" Target="notesSlides/notesSlide20.xml" Type="http://schemas.openxmlformats.org/officeDocument/2006/relationships/notesSlide"/><Relationship Id="rId65" Target="notesSlides/notesSlide21.xml" Type="http://schemas.openxmlformats.org/officeDocument/2006/relationships/notesSlide"/><Relationship Id="rId66" Target="notesSlides/notesSlide22.xml" Type="http://schemas.openxmlformats.org/officeDocument/2006/relationships/notesSlide"/><Relationship Id="rId67" Target="notesSlides/notesSlide23.xml" Type="http://schemas.openxmlformats.org/officeDocument/2006/relationships/notesSlide"/><Relationship Id="rId68" Target="notesSlides/notesSlide24.xml" Type="http://schemas.openxmlformats.org/officeDocument/2006/relationships/notesSlide"/><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notesSlides/notesSlide25.xml" Type="http://schemas.openxmlformats.org/officeDocument/2006/relationships/notesSlide"/><Relationship Id="rId72" Target="fonts/font72.fntdata" Type="http://schemas.openxmlformats.org/officeDocument/2006/relationships/font"/><Relationship Id="rId73" Target="notesSlides/notesSlide26.xml" Type="http://schemas.openxmlformats.org/officeDocument/2006/relationships/notesSlide"/><Relationship Id="rId74" Target="notesSlides/notesSlide27.xml" Type="http://schemas.openxmlformats.org/officeDocument/2006/relationships/notesSlide"/><Relationship Id="rId75" Target="notesSlides/notesSlide28.xml" Type="http://schemas.openxmlformats.org/officeDocument/2006/relationships/notesSlide"/><Relationship Id="rId76" Target="fonts/font76.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[Aron] For four hundred thousand years, the Neanderthals survived ice age after ice age. </a:t>
            </a:r>
          </a:p>
          <a:p>
            <a:r>
              <a:rPr lang="en-US"/>
              <a:t/>
            </a:r>
          </a:p>
          <a:p>
            <a:r>
              <a:rPr lang="en-US"/>
              <a:t>But their DNA suggests there were never many of them: </a:t>
            </a:r>
          </a:p>
          <a:p>
            <a:r>
              <a:rPr lang="en-US"/>
              <a:t/>
            </a:r>
          </a:p>
          <a:p>
            <a:r>
              <a:rPr lang="en-US"/>
              <a:t/>
            </a:r>
          </a:p>
          <a:p>
            <a:r>
              <a:rPr lang="en-US"/>
              <a:t>Slide notes: Neanderthals lived in Europe and western Asia from about 400,000 to 40,000 years ago and survived many ice ages. Genetic data suggest their population was always small, perhaps only a few thousand breeding adults. Their extinction probably had several causes (climate, disease, competition with modern humans). We use them as a hook: could being few have been enough on its own?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[Aron] perhaps only a few thousand breeding adults, spread across all of Europe.</a:t>
            </a:r>
          </a:p>
          <a:p>
            <a:r>
              <a:rPr lang="en-US"/>
              <a:t/>
            </a:r>
          </a:p>
          <a:p>
            <a:r>
              <a:rPr lang="en-US"/>
              <a:t>Around forty thousand years ago, they vanished. Climate, disease and competition from us probably all played a part. But one study by Vaesen et al asked a simpler question: could being that few have been enough on its own?</a:t>
            </a:r>
          </a:p>
          <a:p>
            <a:r>
              <a:rPr lang="en-US"/>
              <a:t/>
            </a:r>
          </a:p>
          <a:p>
            <a:r>
              <a:rPr lang="en-US"/>
              <a:t/>
            </a:r>
          </a:p>
          <a:p>
            <a:r>
              <a:rPr lang="en-US"/>
              <a:t>Slide notes: Each dot is one small band of Neanderthals spread across Europe. The positions are illustrative, not real sites. The point is how few and how scattered they were: neighbouring bands could be far apart, which makes finding mates and sharing help harder.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[Aron] To see why it might, start with what you’d expect. When a population shrinks, you'd expect the survivors to do better: less competition means more food and space for each one.</a:t>
            </a:r>
          </a:p>
          <a:p>
            <a:r>
              <a:rPr lang="en-US"/>
              <a:t/>
            </a:r>
          </a:p>
          <a:p>
            <a:r>
              <a:rPr lang="en-US"/>
              <a:t/>
            </a:r>
          </a:p>
          <a:p>
            <a:r>
              <a:rPr lang="en-US"/>
              <a:t>Slide notes: The usual expectation (negative density dependence): when a population shrinks, each survivor has more food and space, so it should do better. Each dot is one individual and the circle around it is its share of resources. With few neighbours, each circle is bigger.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[Aron] But neighbours aren't just competitors. They're also partners, lookouts and teammates, and losing too many of them may leave each individual worse off.</a:t>
            </a:r>
          </a:p>
          <a:p>
            <a:r>
              <a:rPr lang="en-US"/>
              <a:t/>
            </a:r>
          </a:p>
          <a:p>
            <a:r>
              <a:rPr lang="en-US"/>
              <a:t/>
            </a:r>
          </a:p>
          <a:p>
            <a:r>
              <a:rPr lang="en-US"/>
              <a:t>Slide notes: Neighbours are not only competitors. They are also mates, lookouts and helpers (lines show partners). With too few neighbours, each individual loses that help. This is the idea behind the Allee effect: at low numbers, the cost of losing partners can outweigh the benefit of less competition.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[Aron] And that’s what the simulation found: as groups shrank, the birth rate dropped, </a:t>
            </a:r>
          </a:p>
          <a:p>
            <a:r>
              <a:rPr lang="en-US"/>
              <a:t/>
            </a:r>
          </a:p>
          <a:p>
            <a:r>
              <a:rPr lang="en-US"/>
              <a:t/>
            </a:r>
          </a:p>
          <a:p>
            <a:r>
              <a:rPr lang="en-US"/>
              <a:t>Slide notes: Vaesen et al. built a model of small Neanderthal bands that included inbreeding, Allee effects and chance events. In the simulation, as bands shrank, individuals found mates less often and the birth rate dropped.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[Aron] shrinking the population further, all the way to extinction.</a:t>
            </a:r>
          </a:p>
          <a:p>
            <a:r>
              <a:rPr lang="en-US"/>
              <a:t/>
            </a:r>
          </a:p>
          <a:p>
            <a:r>
              <a:rPr lang="en-US"/>
              <a:t/>
            </a:r>
          </a:p>
          <a:p>
            <a:r>
              <a:rPr lang="en-US"/>
              <a:t>Slide notes: The lower birth rate shrank the population further, which lowered the birth rate again: a feedback loop that ran to extinction in the model. This shows that small size alone could have been enough. It is a simulation, so it shows what was possible, not what happened.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[Zoe] This concept is called the Allee effect: the smaller the population, the lower each individual’s chance of surviving or reproducing.</a:t>
            </a:r>
          </a:p>
          <a:p>
            <a:r>
              <a:rPr lang="en-US"/>
              <a:t/>
            </a:r>
          </a:p>
          <a:p>
            <a:r>
              <a:rPr lang="en-US"/>
              <a:t/>
            </a:r>
          </a:p>
          <a:p>
            <a:r>
              <a:rPr lang="en-US"/>
              <a:t>Slide notes: Definition: the smaller the population, the lower each individual's chance of surviving or reproducing. In other words, a positive relationship between individual fitness and population size or density at low numbers. Named after W.C. Allee, who described it in the 1930s.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[Zoe] So why would being few hurt?</a:t>
            </a:r>
          </a:p>
          <a:p>
            <a:r>
              <a:rPr lang="en-US"/>
              <a:t/>
            </a:r>
          </a:p>
          <a:p>
            <a:r>
              <a:rPr lang="en-US"/>
              <a:t>First, finding a mate. Spread thin, individuals struggle to meet: for example sea urchins, who fertilise fewer eggs the further apart they are.</a:t>
            </a:r>
          </a:p>
          <a:p>
            <a:r>
              <a:rPr lang="en-US"/>
              <a:t/>
            </a:r>
          </a:p>
          <a:p>
            <a:r>
              <a:rPr lang="en-US"/>
              <a:t>Second, safety. A group has more eyes, and a predator can only eat so many, so each animal’s risk is diluted. Vancouver Island marmots, now down to a few scattered animals, spend ten times longer on lookout than they used to, and feed far less.</a:t>
            </a:r>
          </a:p>
          <a:p>
            <a:r>
              <a:rPr lang="en-US"/>
              <a:t/>
            </a:r>
          </a:p>
          <a:p>
            <a:r>
              <a:rPr lang="en-US"/>
              <a:t>Third, teamwork. African wild dogs hunt and raise their pups together, and packs of fewer than four adults are thought to be unable to breed successfully.</a:t>
            </a:r>
          </a:p>
          <a:p>
            <a:r>
              <a:rPr lang="en-US"/>
              <a:t/>
            </a:r>
          </a:p>
          <a:p>
            <a:r>
              <a:rPr lang="en-US"/>
              <a:t>Fourth, changing their surroundings: bark beetles can only overcome a tree’s defences if enough of them attack at once.</a:t>
            </a:r>
          </a:p>
          <a:p>
            <a:r>
              <a:rPr lang="en-US"/>
              <a:t/>
            </a:r>
          </a:p>
          <a:p>
            <a:r>
              <a:rPr lang="en-US"/>
              <a:t>But here’s the catch. Being few also has an upside: less competition. So a population only shrinks if these costs outweigh that benefit, and in the wild, that balance is very hard to measure.</a:t>
            </a:r>
          </a:p>
          <a:p>
            <a:r>
              <a:rPr lang="en-US"/>
              <a:t/>
            </a:r>
          </a:p>
          <a:p>
            <a:r>
              <a:rPr lang="en-US"/>
              <a:t/>
            </a:r>
          </a:p>
          <a:p>
            <a:r>
              <a:rPr lang="en-US"/>
              <a:t>Slide notes: </a:t>
            </a:r>
          </a:p>
          <a:p>
            <a:r>
              <a:rPr lang="en-US"/>
              <a:t/>
            </a:r>
          </a:p>
          <a:p>
            <a:r>
              <a:rPr lang="en-US"/>
              <a:t>Four common reasons why being few hurts:</a:t>
            </a:r>
          </a:p>
          <a:p>
            <a:r>
              <a:rPr lang="en-US"/>
              <a:t/>
            </a:r>
          </a:p>
          <a:p>
            <a:r>
              <a:rPr lang="en-US"/>
              <a:t>- Mates: spread-out individuals struggle to meet. Sea urchins release eggs and sperm into the water, so fewer eggs are fertilised when urchins are far apart.</a:t>
            </a:r>
          </a:p>
          <a:p>
            <a:r>
              <a:rPr lang="en-US"/>
              <a:t>- Safety: groups have more eyes and dilute each animal's predation risk. Vancouver Island marmots, now few and scattered, spend much more time on lookout and much less time feeding.</a:t>
            </a:r>
          </a:p>
          <a:p>
            <a:r>
              <a:rPr lang="en-US"/>
              <a:t>- Teamwork: African wild dogs hunt and raise pups together. Packs of fewer than about four adults are thought to be unable to breed successfully.</a:t>
            </a:r>
          </a:p>
          <a:p>
            <a:r>
              <a:rPr lang="en-US"/>
              <a:t>- Changing habitat: bark beetles can only overcome a tree's defences if enough attack at once.</a:t>
            </a:r>
          </a:p>
          <a:p>
            <a:r>
              <a:rPr lang="en-US"/>
              <a:t/>
            </a:r>
          </a:p>
          <a:p>
            <a:r>
              <a:rPr lang="en-US"/>
              <a:t>Catch: being few also means less competition, so a population only declines if these costs outweigh that benefit.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[Zoe] So our question is: are Allee effects an ecological curiosity, or a fundamental driver of population dynamics?</a:t>
            </a:r>
          </a:p>
          <a:p>
            <a:r>
              <a:rPr lang="en-US"/>
              <a:t/>
            </a:r>
          </a:p>
          <a:p>
            <a:r>
              <a:rPr lang="en-US"/>
              <a:t/>
            </a:r>
          </a:p>
          <a:p>
            <a:r>
              <a:rPr lang="en-US"/>
              <a:t>Slide notes: Are Allee effects an ecological curiosity (seen in a few odd species) or a fundamental driver of population dynamics? To answer it we look at the types of Allee effect, then at how strong the evidence 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 A component Allee effect is "a positive relationship between a specific component of individual fitness and population density". A fitness component is one measurable part of fitness: survival, reproductive success, mate finding, offspring survival. A component effect does not mean the whole population is declining. It only means one part of fitness gets worse at low numbers, and other parts (such as less competition) may make up for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 </a:t>
            </a:r>
          </a:p>
          <a:p>
            <a:r>
              <a:rPr lang="en-US"/>
              <a:t/>
            </a:r>
          </a:p>
          <a:p>
            <a:r>
              <a:rPr lang="en-US"/>
              <a:t>How to read it: both charts have pack size on the horizontal axis. Each dot is one pack in one year. Left: pups produced per dog (per capita productivity). Right: percentage of pups that survived.</a:t>
            </a:r>
          </a:p>
          <a:p>
            <a:r>
              <a:rPr lang="en-US"/>
              <a:t/>
            </a:r>
          </a:p>
          <a:p>
            <a:r>
              <a:rPr lang="en-US"/>
              <a:t>What it shows: small packs produced fewer pups per dog and fewer of their pups survived. Both measures rose with pack size and peaked at about 11 (productivity) and 12 (pup survival) members. These are component Allee effects, because each is one part of fitness.</a:t>
            </a:r>
          </a:p>
          <a:p>
            <a:r>
              <a:rPr lang="en-US"/>
              <a:t/>
            </a:r>
          </a:p>
          <a:p>
            <a:r>
              <a:rPr lang="en-US"/>
              <a:t>Key caveat: the effect was linked to pack size, not total population size. The study found no detectable demographic Allee effect at the population level.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Left (individual level): from the 1970s to 2002-05, colonies shrank from about 8.3 to 3.6 marmots (-57%, our calculation) and time spent feeding fell by about 86%. Survivors also greeted each other less, heard fewer alarm calls and spent more time watching for predators. Fewer neighbours is the cause; less feeding and more vigilance are behavioural costs that can lower survival and reproduction. They are the route to a component effect, not fitness measures themselves.</a:t>
            </a:r>
          </a:p>
          <a:p>
            <a:r>
              <a:rPr lang="en-US"/>
              <a:t/>
            </a:r>
          </a:p>
          <a:p>
            <a:r>
              <a:rPr lang="en-US"/>
              <a:t>Right (population level): each dot is one year, 1970-2007. Horizontal axis: population size. Vertical axis: growth per marmot. The curve (quadratic fit, R² = 0.55) shows that smaller populations grew more slowly, and at the smallest sizes growth was negative. That is a demographic Allee effect: the costs add up to the whole population's growth rate.</a:t>
            </a:r>
          </a:p>
          <a:p>
            <a:r>
              <a:rPr lang="en-US"/>
              <a:t/>
            </a:r>
          </a:p>
          <a:p>
            <a:r>
              <a:rPr lang="en-US"/>
              <a:t>Caveat: these are field data, not an experiment. Predators also increased, so the authors say only reintroductions can prove the cause.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How to read it: each line is one population's size over time. In a weak Allee effect, small populations grow more slowly than larger ones, but growth per individual stays above zero. There is no threshold, so even a tiny population can still grow.</a:t>
            </a:r>
          </a:p>
          <a:p>
            <a:r>
              <a:rPr lang="en-US"/>
              <a:t/>
            </a:r>
          </a:p>
          <a:p>
            <a:r>
              <a:rPr lang="en-US"/>
              <a:t>Flour beetle (Tribolium): in Allee's lab experiments, reproduction per female per day was lowest at very low densities and highest at intermediate densities. This is a component measure (one part of fitness). A cost like this can add up to a weak Allee effect at the population level.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Left (weak): small populations grow slowly but still grow. Right (strong): there is a critical size, the Allee threshold. Below it, growth per individual is negative (more die than are born), so the population shrinks on its own and goes extinct unless immigrants or management help. Above it, the population grows.</a:t>
            </a:r>
          </a:p>
          <a:p>
            <a:r>
              <a:rPr lang="en-US"/>
              <a:t/>
            </a:r>
          </a:p>
          <a:p>
            <a:r>
              <a:rPr lang="en-US"/>
              <a:t>Key difference: weak = lower but positive growth at low numbers; strong = negative growth below a threshold. Only a strong Allee effect creates a point of no return.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The gypsy moth is invasive in North America and spreads by founding small, isolated colonies, where males struggle to find females.</a:t>
            </a:r>
          </a:p>
          <a:p>
            <a:r>
              <a:rPr lang="en-US"/>
              <a:t/>
            </a:r>
          </a:p>
          <a:p>
            <a:r>
              <a:rPr lang="en-US"/>
              <a:t>How to read it: horizontal axis = males caught in pheromone traps per colony (a proxy for colony size). Vertical axis = growth from one year to the next, on a log scale: zero means no change, below zero means the colony shrank. The line is the fitted regression from 225 colony-years of trap data; the data points are not shown.</a:t>
            </a:r>
          </a:p>
          <a:p>
            <a:r>
              <a:rPr lang="en-US"/>
              <a:t/>
            </a:r>
          </a:p>
          <a:p>
            <a:r>
              <a:rPr lang="en-US"/>
              <a:t>What it shows: the fitted line crosses zero at about 107 males. Below that, colonies are expected to shrink; above it, to grow. This is evidence of a strong Allee effect.</a:t>
            </a:r>
          </a:p>
          <a:p>
            <a:r>
              <a:rPr lang="en-US"/>
              <a:t/>
            </a:r>
          </a:p>
          <a:p>
            <a:r>
              <a:rPr lang="en-US"/>
              <a:t>Caveats: about 107 is an estimate from the fitted line, not a sharp cliff. Most data points were at low counts, real colonies scattered widely around the line, chance played a big role, and some colonies below the threshold survived.</a:t>
            </a:r>
          </a:p>
          <a:p>
            <a:r>
              <a:rPr lang="en-US"/>
              <a:t/>
            </a:r>
          </a:p>
          <a:p>
            <a:r>
              <a:rPr lang="en-US"/>
              <a:t>Why it matters: to eradicate an invader you do not have to kill every individual, only push colonies below the threshold.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Whether Allee effects act as a fundamental driver depends partly on connectivity. In a metapopulation (a network of subpopulations linked by dispersal), a small subpopulation near its Allee threshold can be topped up by immigrants from a large source population. This is the rescue effect, and it can stop a subpopulation from going locally extinct. An isolated subpopulation gets no rescue.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ntoes:</a:t>
            </a:r>
          </a:p>
          <a:p>
            <a:r>
              <a:rPr lang="en-US"/>
              <a:t/>
            </a:r>
          </a:p>
          <a:p>
            <a:r>
              <a:rPr lang="en-US"/>
              <a:t>A two-patch model with a small patch A and a large patch B. Allee strength (θ) is how strong the Allee effect is; dispersal rate (δ) is how connected the patches are.</a:t>
            </a:r>
          </a:p>
          <a:p>
            <a:r>
              <a:rPr lang="en-US"/>
              <a:t/>
            </a:r>
          </a:p>
          <a:p>
            <a:r>
              <a:rPr lang="en-US"/>
              <a:t>How to read it: each panel shows the equilibrium size of each patch (N*) as Allee strength θ increases, at a different dispersal rate (δ = 0, 0.015, 0.075, 0.17). θc is the critical Allee strength: above it, an isolated patch dies out.</a:t>
            </a:r>
          </a:p>
          <a:p>
            <a:r>
              <a:rPr lang="en-US"/>
              <a:t/>
            </a:r>
          </a:p>
          <a:p>
            <a:r>
              <a:rPr lang="en-US"/>
              <a:t>What it shows: just above the small patch's critical strength, more connectivity helps a lot, because the big patch rescues the small one. But dispersal also drains individuals from patches, so stronger rescue can lower the Allee strength at which the whole metapopulation goes extinct. Connectivity can help or hurt.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How to read it: each panel shows total population size (vertical) against dispersal rate δ (horizontal) for one fixed Allee strength θ, from weak (E, θ = 0.05) to strong (K, θ = 0.7). Dashed line: no dispersal.</a:t>
            </a:r>
          </a:p>
          <a:p>
            <a:r>
              <a:rPr lang="en-US"/>
              <a:t/>
            </a:r>
          </a:p>
          <a:p>
            <a:r>
              <a:rPr lang="en-US"/>
              <a:t>What it shows: at weak Allee strength, more dispersal always helps (MB, monotonically beneficial). As θ rises, an "Allee pit" appears first: at low-to-moderate dispersal, the small patch loses too many individuals and falls below its Allee threshold without enough rescue, so the total population drops below the no-dispersal level. At higher θ, dispersal turns from beneficial to harmful (BTD, MD), and at the strongest θ the whole population goes extinct (K).</a:t>
            </a:r>
          </a:p>
          <a:p>
            <a:r>
              <a:rPr lang="en-US"/>
              <a:t/>
            </a:r>
          </a:p>
          <a:p>
            <a:r>
              <a:rPr lang="en-US"/>
              <a:t>Key point: immigration does not always rescue. Whether connectivity helps depends on how strong the Allee effect is and how fast individuals move.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Field data from the Aland Islands metapopulation in Finland. Population size is measured in larval groups (each typically 50-100 larvae before overwintering diapause).</a:t>
            </a:r>
          </a:p>
          <a:p>
            <a:r>
              <a:rPr lang="en-US"/>
              <a:t/>
            </a:r>
          </a:p>
          <a:p>
            <a:r>
              <a:rPr lang="en-US"/>
              <a:t>How to read it: left = fraction of populations that increased; right = new larval groups produced per group. Bars compare isolated and connected populations; error bars are mean ± 1 SE, pooled over three annual transitions (1994-96).</a:t>
            </a:r>
          </a:p>
          <a:p>
            <a:r>
              <a:rPr lang="en-US"/>
              <a:t/>
            </a:r>
          </a:p>
          <a:p>
            <a:r>
              <a:rPr lang="en-US"/>
              <a:t>What it shows: the smallest populations (one larval group) did worse on both measures when isolated. In larger populations, isolated and connected did not differ significantly. So the Allee effect showed up only in small, isolated populations, and connectivity (immigration) hid it. Without looking at connectivity, the authors would not have detected the Allee effect.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Setup: tanks of water fleas (Daphnia) at different starting sizes, plus a predator (a midge larva) that can only eat so fast. Because the predator's intake is capped, each flea in a small population is far more likely to be eaten.</a:t>
            </a:r>
          </a:p>
          <a:p>
            <a:r>
              <a:rPr lang="en-US"/>
              <a:t/>
            </a:r>
          </a:p>
          <a:p>
            <a:r>
              <a:rPr lang="en-US"/>
              <a:t>Result: small populations died out faster, a predator-driven Allee effect causing extinction.</a:t>
            </a:r>
          </a:p>
          <a:p>
            <a:r>
              <a:rPr lang="en-US"/>
              <a:t/>
            </a:r>
          </a:p>
          <a:p>
            <a:r>
              <a:rPr lang="en-US"/>
              <a:t>Strength: shows the mechanism clearly and controls density. Blind spot: only in a tank, so it may not reflect wild populations.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Setup: island fox populations on separate Channel Islands, California, used as natural replicates. Numbers had crashed, largely because of golden eagles.</a:t>
            </a:r>
          </a:p>
          <a:p>
            <a:r>
              <a:rPr lang="en-US"/>
              <a:t/>
            </a:r>
          </a:p>
          <a:p>
            <a:r>
              <a:rPr lang="en-US"/>
              <a:t>Result: in small populations two costs acted at once (a "double Allee effect"): higher per-capita eagle predation and lower mate finding. But there was also a benefit: less competition meant bigger litters and better pup survival. Overall the costs won, so small populations grew more slowly: a weak Allee effect.</a:t>
            </a:r>
          </a:p>
          <a:p>
            <a:r>
              <a:rPr lang="en-US"/>
              <a:t/>
            </a:r>
          </a:p>
          <a:p>
            <a:r>
              <a:rPr lang="en-US"/>
              <a:t>Strength: real populations. Blind spot: the net effect depends on how the separate components are weighed, which is hard to untangle.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notes:</a:t>
            </a:r>
          </a:p>
          <a:p>
            <a:r>
              <a:rPr lang="en-US"/>
              <a:t/>
            </a:r>
          </a:p>
          <a:p>
            <a:r>
              <a:rPr lang="en-US"/>
              <a:t>Setup: Atlantic cod on St Pierre Bank, northwest Atlantic. Fifty years of stock and recruitment records (1959-2008). Stocks collapsed under fishing and have not recovered after 30 years of reduced fishing.</a:t>
            </a:r>
          </a:p>
          <a:p>
            <a:r>
              <a:rPr lang="en-US"/>
              <a:t/>
            </a:r>
          </a:p>
          <a:p>
            <a:r>
              <a:rPr lang="en-US"/>
              <a:t>How to read it: each dot is one year. Horizontal axis = spawning stock biomass (tonnes of adults). Vertical axis = recruits per tonne of spawning stock, i.e. young produced per unit of adults.</a:t>
            </a:r>
          </a:p>
          <a:p>
            <a:r>
              <a:rPr lang="en-US"/>
              <a:t/>
            </a:r>
          </a:p>
          <a:p>
            <a:r>
              <a:rPr lang="en-US"/>
              <a:t>Result: below roughly 90,000 t of spawning stock, recruits per tonne fell: adults produced fewer young per unit of stock. This is evidence of an Allee effect.</a:t>
            </a:r>
          </a:p>
          <a:p>
            <a:r>
              <a:rPr lang="en-US"/>
              <a:t/>
            </a:r>
          </a:p>
          <a:p>
            <a:r>
              <a:rPr lang="en-US"/>
              <a:t>Blind spot: the evidence only became strong after the crash, because you cannot measure low-density dynamics until a population gets there. You often find the threshold after crossing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[Zoe] Our assigned classic and modern papers are 25 years apart. </a:t>
            </a:r>
          </a:p>
          <a:p>
            <a:r>
              <a:rPr lang="en-US"/>
              <a:t/>
            </a:r>
          </a:p>
          <a:p>
            <a:r>
              <a:rPr lang="en-US"/>
              <a:t>Allee spotted the effect in 1931, but Stephens and colleagues, in 1999, pinned down what actually counts: the split between component and demographic effects we saw earlier. </a:t>
            </a:r>
          </a:p>
          <a:p>
            <a:r>
              <a:rPr lang="en-US"/>
              <a:t/>
            </a:r>
          </a:p>
          <a:p>
            <a:r>
              <a:rPr lang="en-US"/>
              <a:t>In 2024, Muir and colleagues combined 62 experiments and found the effect is real. But both papers describe the same gap. Theory is about whole populations, and the experiments mostly measure costs to individuals.</a:t>
            </a:r>
          </a:p>
          <a:p>
            <a:r>
              <a:rPr lang="en-US"/>
              <a:t/>
            </a:r>
          </a:p>
          <a:p>
            <a:r>
              <a:rPr lang="en-US"/>
              <a:t/>
            </a:r>
          </a:p>
          <a:p>
            <a:r>
              <a:rPr lang="en-US"/>
              <a:t>Slide notes:</a:t>
            </a:r>
          </a:p>
          <a:p>
            <a:r>
              <a:rPr lang="en-US"/>
              <a:t/>
            </a:r>
          </a:p>
          <a:p>
            <a:r>
              <a:rPr lang="en-US"/>
              <a:t>Stephens et al. 1999 (classic) defined the terms, with no new data. Their key distinction is component (one fitness component) vs demographic (whole-population growth) Allee effects.</a:t>
            </a:r>
          </a:p>
          <a:p>
            <a:r>
              <a:rPr lang="en-US"/>
              <a:t/>
            </a:r>
          </a:p>
          <a:p>
            <a:r>
              <a:rPr lang="en-US"/>
              <a:t>Muir et al. 2024 (modern) pooled 62 experimental studies in a meta-analysis. They found an overall positive Allee effect whose strength varied by mechanism (such as mate finding), not by taxonomic group. Some mechanisms, such as group living and predation, were not detectable on their own.</a:t>
            </a:r>
          </a:p>
          <a:p>
            <a:r>
              <a:rPr lang="en-US"/>
              <a:t/>
            </a:r>
          </a:p>
          <a:p>
            <a:r>
              <a:rPr lang="en-US"/>
              <a:t>Both papers describe the same gap: theory is mostly about demographic effects, but experiments mostly measure component effects, i.e. costs to individuals rather than whole populations.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[Zoe] So how strong is the evidence for whole populations? Those 62 experiments are the most controlled of the tests.</a:t>
            </a:r>
          </a:p>
          <a:p>
            <a:r>
              <a:rPr lang="en-US"/>
              <a:t/>
            </a:r>
          </a:p>
          <a:p>
            <a:r>
              <a:rPr lang="en-US"/>
              <a:t>In the field, 63 of 91 studies found some sign of an Allee effect, but only 7 found a point of no return. </a:t>
            </a:r>
          </a:p>
          <a:p>
            <a:r>
              <a:rPr lang="en-US"/>
              <a:t/>
            </a:r>
          </a:p>
          <a:p>
            <a:r>
              <a:rPr lang="en-US"/>
              <a:t>And across almost twelve hundred long-term records of wild populations, an Allee model fit best in just 13. </a:t>
            </a:r>
          </a:p>
          <a:p>
            <a:r>
              <a:rPr lang="en-US"/>
              <a:t/>
            </a:r>
          </a:p>
          <a:p>
            <a:r>
              <a:rPr lang="en-US"/>
              <a:t>In a lab, you choose the density and measure one thing, like fertilised eggs. In the wild, you have to show the whole population grows slower when small, despite weather, predators and chance. And proving a point of no return is hardest of all because you’d have to catch a population falling past it. </a:t>
            </a:r>
          </a:p>
          <a:p>
            <a:r>
              <a:rPr lang="en-US"/>
              <a:t/>
            </a:r>
          </a:p>
          <a:p>
            <a:r>
              <a:rPr lang="en-US"/>
              <a:t>So the stricter the test, the rarer the evidence.</a:t>
            </a:r>
          </a:p>
          <a:p>
            <a:r>
              <a:rPr lang="en-US"/>
              <a:t/>
            </a:r>
          </a:p>
          <a:p>
            <a:r>
              <a:rPr lang="en-US"/>
              <a:t/>
            </a:r>
          </a:p>
          <a:p>
            <a:r>
              <a:rPr lang="en-US"/>
              <a:t>Slide notes:</a:t>
            </a:r>
          </a:p>
          <a:p>
            <a:r>
              <a:rPr lang="en-US"/>
              <a:t/>
            </a:r>
          </a:p>
          <a:p>
            <a:r>
              <a:rPr lang="en-US"/>
              <a:t>How to read it: moving from left to right, each test is stricter (harder to pass).</a:t>
            </a:r>
          </a:p>
          <a:p>
            <a:r>
              <a:rPr lang="en-US"/>
              <a:t/>
            </a:r>
          </a:p>
          <a:p>
            <a:r>
              <a:rPr lang="en-US"/>
              <a:t>- Experiments: 62 studies pooled (Muir et al. 2024). Clear effects, but mostly costs to individuals.</a:t>
            </a:r>
          </a:p>
          <a:p>
            <a:r>
              <a:rPr lang="en-US"/>
              <a:t>- Field studies, any clear evidence: 63 of 91 (69%) (Kramer et al. 2009).</a:t>
            </a:r>
          </a:p>
          <a:p>
            <a:r>
              <a:rPr lang="en-US"/>
              <a:t>- Field studies showing a point of no return (strong Allee effect): 7 of 91 (8%) (Kramer et al. 2009).</a:t>
            </a:r>
          </a:p>
          <a:p>
            <a:r>
              <a:rPr lang="en-US"/>
              <a:t>- Wild population records where an Allee model fit best: 13 of 1,198 (1%) (Gregory et al. 2010).</a:t>
            </a:r>
          </a:p>
          <a:p>
            <a:r>
              <a:rPr lang="en-US"/>
              <a:t/>
            </a:r>
          </a:p>
          <a:p>
            <a:r>
              <a:rPr lang="en-US"/>
              <a:t>Takeaway: the closer a test gets to whole wild populations and to a threshold, the rarer the evidence. That does not mean Allee effects are rare: weather, predators and chance make them hard to detect, and a threshold can only be proven once a population falls past it. These are separate datasets, so the numbers are not directly comparable.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Allee effects are hard to see: costs to individuals don’t always reach the population, weak effects leave no tipping point, and newcomers can hide them. But where they act, they can decide survival, in small, declining, harvested populations like cod, and new arrivals like the gypsy moth.</a:t>
            </a:r>
          </a:p>
          <a:p>
            <a:r>
              <a:rPr lang="en-US"/>
              <a:t/>
            </a:r>
          </a:p>
          <a:p>
            <a:r>
              <a:rPr lang="en-US"/>
              <a:t/>
            </a:r>
          </a:p>
          <a:p>
            <a:r>
              <a:rPr lang="en-US"/>
              <a:t>Slide notes:</a:t>
            </a:r>
          </a:p>
          <a:p>
            <a:r>
              <a:rPr lang="en-US"/>
              <a:t/>
            </a:r>
          </a:p>
          <a:p>
            <a:r>
              <a:rPr lang="en-US"/>
              <a:t>Allee effects are hard to see: component costs do not always reach the population, weak effects have no tipping point, and immigrants can hide them. But where they act, they can decide survival. The dashed line is the point of no return of a strong Allee effect.</a:t>
            </a:r>
          </a:p>
          <a:p>
            <a:r>
              <a:rPr lang="en-US"/>
              <a:t/>
            </a:r>
          </a:p>
          <a:p>
            <a:r>
              <a:rPr lang="en-US"/>
              <a:t>- Very small populations: chance alone can tip them below the threshold.</a:t>
            </a:r>
          </a:p>
          <a:p>
            <a:r>
              <a:rPr lang="en-US"/>
              <a:t>- Declining populations: they can slide past it.</a:t>
            </a:r>
          </a:p>
          <a:p>
            <a:r>
              <a:rPr lang="en-US"/>
              <a:t>- Harvested populations: may stay low after harvesting stops (as in cod).</a:t>
            </a:r>
          </a:p>
          <a:p>
            <a:r>
              <a:rPr lang="en-US"/>
              <a:t>- Newly arrived populations: may die out before establishing, which is good news for controlling invasive pests (as in the gypsy moth).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[Aron] Back to the Neanderthals: a small population, scattered across Europe, and possibly cut off from each other as modern humans spread between their groups, so no one could come to the rescue. Those are exactly the conditions where Allee effects decide the outcome.</a:t>
            </a:r>
          </a:p>
          <a:p>
            <a:r>
              <a:rPr lang="en-US"/>
              <a:t/>
            </a:r>
          </a:p>
          <a:p>
            <a:r>
              <a:rPr lang="en-US"/>
              <a:t/>
            </a:r>
          </a:p>
          <a:p>
            <a:r>
              <a:rPr lang="en-US"/>
              <a:t>Slide notes: Neanderthals had all the risk conditions: a small population, scattered across Europe, and possibly cut off from each other as modern humans spread between their groups, so no immigrants could rescue them. These are the conditions where Allee effects are most likely to decide the outcome.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[Aron] But we can't prove that's what happened to them, and that's the point.</a:t>
            </a:r>
          </a:p>
          <a:p>
            <a:r>
              <a:rPr lang="en-US"/>
              <a:t/>
            </a:r>
          </a:p>
          <a:p>
            <a:r>
              <a:rPr lang="en-US"/>
              <a:t/>
            </a:r>
          </a:p>
          <a:p>
            <a:r>
              <a:rPr lang="en-US"/>
              <a:t>Slide notes: We cannot prove an Allee effect caused Neanderthal extinction. The model shows it was possible, not that it happened. This mirrors the evidence problem: Allee effects are hardest to demonstrate exactly when they matter most.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[Aron] So the answer to our question: Allee effects are not a curiosity, but a fundamental driver. They decide the fate of small, declining and harvested populations, often before we can even detect them.</a:t>
            </a:r>
          </a:p>
          <a:p>
            <a:r>
              <a:rPr lang="en-US"/>
              <a:t/>
            </a:r>
          </a:p>
          <a:p>
            <a:r>
              <a:rPr lang="en-US"/>
              <a:t>(pause)</a:t>
            </a:r>
          </a:p>
          <a:p>
            <a:r>
              <a:rPr lang="en-US"/>
              <a:t/>
            </a:r>
          </a:p>
          <a:p>
            <a:r>
              <a:rPr lang="en-US"/>
              <a:t>Thank you. We’re happy to take questions.</a:t>
            </a:r>
          </a:p>
          <a:p>
            <a:r>
              <a:rPr lang="en-US"/>
              <a:t/>
            </a:r>
          </a:p>
          <a:p>
            <a:r>
              <a:rPr lang="en-US"/>
              <a:t/>
            </a:r>
          </a:p>
          <a:p>
            <a:r>
              <a:rPr lang="en-US"/>
              <a:t>Slide notes: Our answer: not a curiosity, but a fundamental driver. Allee effects are found across many taxa (Muir et al. 2024) and decide the fate of small, declining, harvested and newly arrived populations, often before we can detect them. The evidence is strongest for individual costs and weakest for population thresholds, which reflects how hard they are to measure, not that they are rare.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 Id="rId4"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png" Type="http://schemas.openxmlformats.org/officeDocument/2006/relationships/image"/><Relationship Id="rId4"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2.jpeg" Type="http://schemas.openxmlformats.org/officeDocument/2006/relationships/image"/><Relationship Id="rId7"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jpe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1.png" Type="http://schemas.openxmlformats.org/officeDocument/2006/relationships/image"/><Relationship Id="rId4" Target="../media/image2.jpeg" Type="http://schemas.openxmlformats.org/officeDocument/2006/relationships/image"/><Relationship Id="rId5"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3.png" Type="http://schemas.openxmlformats.org/officeDocument/2006/relationships/image"/><Relationship Id="rId4" Target="../media/image21.png" Type="http://schemas.openxmlformats.org/officeDocument/2006/relationships/image"/><Relationship Id="rId5" Target="../media/image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4.png" Type="http://schemas.openxmlformats.org/officeDocument/2006/relationships/image"/><Relationship Id="rId4" Target="../media/image25.png" Type="http://schemas.openxmlformats.org/officeDocument/2006/relationships/image"/><Relationship Id="rId5" Target="../media/image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6.png" Type="http://schemas.openxmlformats.org/officeDocument/2006/relationships/image"/><Relationship Id="rId4" Target="../media/image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7.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2" Target="../notesSlides/notesSlide18.xml" Type="http://schemas.openxmlformats.org/officeDocument/2006/relationships/notesSlide"/><Relationship Id="rId3" Target="../media/image2.jpe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 Id="rId8" Target="../media/image35.png" Type="http://schemas.openxmlformats.org/officeDocument/2006/relationships/image"/><Relationship Id="rId9" Target="../media/image3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jpe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jpeg" Type="http://schemas.openxmlformats.org/officeDocument/2006/relationships/image"/><Relationship Id="rId4" Target="../media/image4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jpeg" Type="http://schemas.openxmlformats.org/officeDocument/2006/relationships/image"/><Relationship Id="rId4" Target="../media/image4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jpeg" Type="http://schemas.openxmlformats.org/officeDocument/2006/relationships/image"/><Relationship Id="rId4" Target="../media/image4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43.pn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media/image46.png" Type="http://schemas.openxmlformats.org/officeDocument/2006/relationships/image"/><Relationship Id="rId7" Target="../media/image2.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jpeg" Type="http://schemas.openxmlformats.org/officeDocument/2006/relationships/image"/><Relationship Id="rId4" Target="../media/image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jpeg" Type="http://schemas.openxmlformats.org/officeDocument/2006/relationships/image"/><Relationship Id="rId4" Target="../media/image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2.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7.png" Type="http://schemas.openxmlformats.org/officeDocument/2006/relationships/image"/><Relationship Id="rId4" Target="../media/image48.jpeg" Type="http://schemas.openxmlformats.org/officeDocument/2006/relationships/image"/><Relationship Id="rId5" Target="../media/image49.jpeg" Type="http://schemas.openxmlformats.org/officeDocument/2006/relationships/image"/><Relationship Id="rId6" Target="../media/image50.png" Type="http://schemas.openxmlformats.org/officeDocument/2006/relationships/image"/><Relationship Id="rId7" Target="../media/image51.jpeg" Type="http://schemas.openxmlformats.org/officeDocument/2006/relationships/image"/><Relationship Id="rId8" Target="../media/image52.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57.png" Type="http://schemas.openxmlformats.org/officeDocument/2006/relationships/image"/><Relationship Id="rId8" Target="../media/image58.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7E3"/>
        </a:solidFill>
      </p:bgPr>
    </p:bg>
    <p:spTree>
      <p:nvGrpSpPr>
        <p:cNvPr id="1" name=""/>
        <p:cNvGrpSpPr/>
        <p:nvPr/>
      </p:nvGrpSpPr>
      <p:grpSpPr>
        <a:xfrm>
          <a:off x="0" y="0"/>
          <a:ext cx="0" cy="0"/>
          <a:chOff x="0" y="0"/>
          <a:chExt cx="0" cy="0"/>
        </a:xfrm>
      </p:grpSpPr>
      <p:grpSp>
        <p:nvGrpSpPr>
          <p:cNvPr name="Group 2" id="2"/>
          <p:cNvGrpSpPr/>
          <p:nvPr/>
        </p:nvGrpSpPr>
        <p:grpSpPr>
          <a:xfrm rot="0">
            <a:off x="1905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blipFill>
              <a:blip r:embed="rId3"/>
              <a:stretch>
                <a:fillRect l="0" t="-376" r="0" b="-77396"/>
              </a:stretch>
            </a:blipFill>
          </p:spPr>
        </p:sp>
      </p:grpSp>
      <p:sp>
        <p:nvSpPr>
          <p:cNvPr name="AutoShape 4" id="4"/>
          <p:cNvSpPr/>
          <p:nvPr/>
        </p:nvSpPr>
        <p:spPr>
          <a:xfrm>
            <a:off x="815819" y="381498"/>
            <a:ext cx="16655914" cy="14244"/>
          </a:xfrm>
          <a:prstGeom prst="line">
            <a:avLst/>
          </a:prstGeom>
          <a:ln cap="rnd" w="19050">
            <a:solidFill>
              <a:srgbClr val="F4F2F1"/>
            </a:solidFill>
            <a:prstDash val="solid"/>
            <a:headEnd type="none" len="sm" w="sm"/>
            <a:tailEnd type="none" len="sm" w="sm"/>
          </a:ln>
        </p:spPr>
      </p:sp>
      <p:grpSp>
        <p:nvGrpSpPr>
          <p:cNvPr name="Group 5" id="5"/>
          <p:cNvGrpSpPr/>
          <p:nvPr/>
        </p:nvGrpSpPr>
        <p:grpSpPr>
          <a:xfrm rot="0">
            <a:off x="822960" y="468630"/>
            <a:ext cx="8229600" cy="617220"/>
            <a:chOff x="0" y="0"/>
            <a:chExt cx="10972800" cy="822960"/>
          </a:xfrm>
        </p:grpSpPr>
        <p:sp>
          <p:nvSpPr>
            <p:cNvPr name="Freeform 6" id="6"/>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4">
                <a:alphaModFix amt="0"/>
              </a:blip>
              <a:stretch>
                <a:fillRect l="0" t="-209800" r="0" b="-209800"/>
              </a:stretch>
            </a:blipFill>
          </p:spPr>
        </p:sp>
        <p:sp>
          <p:nvSpPr>
            <p:cNvPr name="TextBox 7" id="7"/>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F4F2F1"/>
                  </a:solidFill>
                  <a:latin typeface="Source Serif Pro"/>
                  <a:ea typeface="Source Serif Pro"/>
                  <a:cs typeface="Source Serif Pro"/>
                  <a:sym typeface="Source Serif Pro"/>
                </a:rPr>
                <a:t>Neanderthals</a:t>
              </a:r>
            </a:p>
          </p:txBody>
        </p:sp>
      </p:grpSp>
      <p:grpSp>
        <p:nvGrpSpPr>
          <p:cNvPr name="Group 8" id="8"/>
          <p:cNvGrpSpPr/>
          <p:nvPr/>
        </p:nvGrpSpPr>
        <p:grpSpPr>
          <a:xfrm rot="0">
            <a:off x="9230868" y="468630"/>
            <a:ext cx="8229600" cy="617220"/>
            <a:chOff x="0" y="0"/>
            <a:chExt cx="10972800" cy="822960"/>
          </a:xfrm>
        </p:grpSpPr>
        <p:sp>
          <p:nvSpPr>
            <p:cNvPr name="Freeform 9" id="9"/>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4">
                <a:alphaModFix amt="0"/>
              </a:blip>
              <a:stretch>
                <a:fillRect l="0" t="-209800" r="0" b="-209800"/>
              </a:stretch>
            </a:blipFill>
          </p:spPr>
        </p:sp>
        <p:sp>
          <p:nvSpPr>
            <p:cNvPr name="TextBox 10" id="10"/>
            <p:cNvSpPr txBox="true"/>
            <p:nvPr/>
          </p:nvSpPr>
          <p:spPr>
            <a:xfrm>
              <a:off x="0" y="0"/>
              <a:ext cx="10972800" cy="822960"/>
            </a:xfrm>
            <a:prstGeom prst="rect">
              <a:avLst/>
            </a:prstGeom>
          </p:spPr>
          <p:txBody>
            <a:bodyPr anchor="ctr" rtlCol="false" tIns="0" lIns="0" bIns="0" rIns="0"/>
            <a:lstStyle/>
            <a:p>
              <a:pPr algn="r">
                <a:lnSpc>
                  <a:spcPts val="3360"/>
                </a:lnSpc>
              </a:pPr>
              <a:r>
                <a:rPr lang="en-US" sz="2800">
                  <a:solidFill>
                    <a:srgbClr val="F4F2F1"/>
                  </a:solidFill>
                  <a:latin typeface="Inter"/>
                  <a:ea typeface="Inter"/>
                  <a:cs typeface="Inter"/>
                  <a:sym typeface="Inter"/>
                </a:rPr>
                <a:t>400,000 - 40,000 years ago</a:t>
              </a:r>
            </a:p>
          </p:txBody>
        </p:sp>
      </p:grpSp>
      <p:sp>
        <p:nvSpPr>
          <p:cNvPr name="TextBox 11" id="11"/>
          <p:cNvSpPr txBox="true"/>
          <p:nvPr/>
        </p:nvSpPr>
        <p:spPr>
          <a:xfrm rot="0">
            <a:off x="9059637" y="9736445"/>
            <a:ext cx="8785108" cy="558594"/>
          </a:xfrm>
          <a:prstGeom prst="rect">
            <a:avLst/>
          </a:prstGeom>
        </p:spPr>
        <p:txBody>
          <a:bodyPr anchor="t" rtlCol="false" tIns="0" lIns="0" bIns="0" rIns="0">
            <a:spAutoFit/>
          </a:bodyPr>
          <a:lstStyle/>
          <a:p>
            <a:pPr algn="r">
              <a:lnSpc>
                <a:spcPts val="1801"/>
              </a:lnSpc>
            </a:pPr>
            <a:r>
              <a:rPr lang="en-US" sz="1501">
                <a:solidFill>
                  <a:srgbClr val="FFFFFF"/>
                </a:solidFill>
                <a:latin typeface="Inter"/>
                <a:ea typeface="Inter"/>
                <a:cs typeface="Inter"/>
                <a:sym typeface="Inter"/>
              </a:rPr>
              <a:t>Photo: Photaro, World History Encyclopedia (CC BY-SA 4.0)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E7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descr="Outline map of Europe and western Asia"/>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1" t="0" r="-1" b="0"/>
              </a:stretch>
            </a:blipFill>
          </p:spPr>
        </p:sp>
      </p:grpSp>
      <p:sp>
        <p:nvSpPr>
          <p:cNvPr name="AutoShape 4" id="4"/>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5" id="5"/>
          <p:cNvGrpSpPr/>
          <p:nvPr/>
        </p:nvGrpSpPr>
        <p:grpSpPr>
          <a:xfrm rot="0">
            <a:off x="822960" y="459105"/>
            <a:ext cx="8229600" cy="617220"/>
            <a:chOff x="0" y="0"/>
            <a:chExt cx="10972800" cy="822960"/>
          </a:xfrm>
        </p:grpSpPr>
        <p:sp>
          <p:nvSpPr>
            <p:cNvPr name="Freeform 6" id="6"/>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4">
                <a:alphaModFix amt="0"/>
              </a:blip>
              <a:stretch>
                <a:fillRect l="0" t="-209800" r="0" b="-209800"/>
              </a:stretch>
            </a:blipFill>
          </p:spPr>
        </p:sp>
        <p:sp>
          <p:nvSpPr>
            <p:cNvPr name="TextBox 7" id="7"/>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Neanderthals</a:t>
              </a:r>
            </a:p>
          </p:txBody>
        </p:sp>
      </p:grpSp>
      <p:grpSp>
        <p:nvGrpSpPr>
          <p:cNvPr name="Group 8" id="8"/>
          <p:cNvGrpSpPr/>
          <p:nvPr/>
        </p:nvGrpSpPr>
        <p:grpSpPr>
          <a:xfrm rot="0">
            <a:off x="9230868" y="506730"/>
            <a:ext cx="8229600" cy="617220"/>
            <a:chOff x="0" y="0"/>
            <a:chExt cx="10972800" cy="822960"/>
          </a:xfrm>
        </p:grpSpPr>
        <p:sp>
          <p:nvSpPr>
            <p:cNvPr name="Freeform 9" id="9"/>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4">
                <a:alphaModFix amt="0"/>
              </a:blip>
              <a:stretch>
                <a:fillRect l="0" t="-209800" r="0" b="-209800"/>
              </a:stretch>
            </a:blipFill>
          </p:spPr>
        </p:sp>
        <p:sp>
          <p:nvSpPr>
            <p:cNvPr name="TextBox 10" id="10"/>
            <p:cNvSpPr txBox="true"/>
            <p:nvPr/>
          </p:nvSpPr>
          <p:spPr>
            <a:xfrm>
              <a:off x="0" y="0"/>
              <a:ext cx="10972800" cy="822960"/>
            </a:xfrm>
            <a:prstGeom prst="rect">
              <a:avLst/>
            </a:prstGeom>
          </p:spPr>
          <p:txBody>
            <a:bodyPr anchor="ctr" rtlCol="false" tIns="0" lIns="0" bIns="0" rIns="0"/>
            <a:lstStyle/>
            <a:p>
              <a:pPr algn="r">
                <a:lnSpc>
                  <a:spcPts val="3359"/>
                </a:lnSpc>
              </a:pPr>
              <a:r>
                <a:rPr lang="en-US" sz="2799">
                  <a:solidFill>
                    <a:srgbClr val="282C34"/>
                  </a:solidFill>
                  <a:latin typeface="Inter"/>
                  <a:ea typeface="Inter"/>
                  <a:cs typeface="Inter"/>
                  <a:sym typeface="Inter"/>
                </a:rPr>
                <a:t>A few thousand breeding adults</a:t>
              </a:r>
            </a:p>
          </p:txBody>
        </p:sp>
      </p:grpSp>
      <p:grpSp>
        <p:nvGrpSpPr>
          <p:cNvPr name="Group 11" id="11"/>
          <p:cNvGrpSpPr/>
          <p:nvPr/>
        </p:nvGrpSpPr>
        <p:grpSpPr>
          <a:xfrm rot="0">
            <a:off x="815819" y="9425726"/>
            <a:ext cx="12351541" cy="548640"/>
            <a:chOff x="0" y="0"/>
            <a:chExt cx="16468721" cy="731520"/>
          </a:xfrm>
        </p:grpSpPr>
        <p:sp>
          <p:nvSpPr>
            <p:cNvPr name="Freeform 12" id="12"/>
            <p:cNvSpPr/>
            <p:nvPr/>
          </p:nvSpPr>
          <p:spPr>
            <a:xfrm flipH="false" flipV="false" rot="0">
              <a:off x="0" y="0"/>
              <a:ext cx="16468720" cy="731520"/>
            </a:xfrm>
            <a:custGeom>
              <a:avLst/>
              <a:gdLst/>
              <a:ahLst/>
              <a:cxnLst/>
              <a:rect r="r" b="b" t="t" l="l"/>
              <a:pathLst>
                <a:path h="731520" w="16468720">
                  <a:moveTo>
                    <a:pt x="0" y="0"/>
                  </a:moveTo>
                  <a:lnTo>
                    <a:pt x="16468720" y="0"/>
                  </a:lnTo>
                  <a:lnTo>
                    <a:pt x="16468720" y="731520"/>
                  </a:lnTo>
                  <a:lnTo>
                    <a:pt x="0" y="731520"/>
                  </a:lnTo>
                  <a:close/>
                </a:path>
              </a:pathLst>
            </a:custGeom>
            <a:blipFill>
              <a:blip r:embed="rId4">
                <a:alphaModFix amt="0"/>
              </a:blip>
              <a:stretch>
                <a:fillRect l="0" t="-388413" r="57" b="-388413"/>
              </a:stretch>
            </a:blipFill>
          </p:spPr>
        </p:sp>
        <p:sp>
          <p:nvSpPr>
            <p:cNvPr name="TextBox 13" id="13"/>
            <p:cNvSpPr txBox="true"/>
            <p:nvPr/>
          </p:nvSpPr>
          <p:spPr>
            <a:xfrm>
              <a:off x="0" y="0"/>
              <a:ext cx="16468721" cy="731520"/>
            </a:xfrm>
            <a:prstGeom prst="rect">
              <a:avLst/>
            </a:prstGeom>
          </p:spPr>
          <p:txBody>
            <a:bodyPr anchor="ctr" rtlCol="false" tIns="0" lIns="0" bIns="0" rIns="0"/>
            <a:lstStyle/>
            <a:p>
              <a:pPr algn="l">
                <a:lnSpc>
                  <a:spcPts val="2879"/>
                </a:lnSpc>
              </a:pPr>
              <a:r>
                <a:rPr lang="en-US" sz="2400">
                  <a:solidFill>
                    <a:srgbClr val="6E7C7A"/>
                  </a:solidFill>
                  <a:latin typeface="Inter"/>
                  <a:ea typeface="Inter"/>
                  <a:cs typeface="Inter"/>
                  <a:sym typeface="Inter"/>
                </a:rPr>
                <a:t>●  one small band</a:t>
              </a:r>
            </a:p>
          </p:txBody>
        </p:sp>
      </p:grpSp>
      <p:sp>
        <p:nvSpPr>
          <p:cNvPr name="TextBox 14" id="14"/>
          <p:cNvSpPr txBox="true"/>
          <p:nvPr/>
        </p:nvSpPr>
        <p:spPr>
          <a:xfrm rot="0">
            <a:off x="4783690" y="9660041"/>
            <a:ext cx="13085683" cy="314325"/>
          </a:xfrm>
          <a:prstGeom prst="rect">
            <a:avLst/>
          </a:prstGeom>
        </p:spPr>
        <p:txBody>
          <a:bodyPr anchor="t" rtlCol="false" tIns="0" lIns="0" bIns="0" rIns="0">
            <a:spAutoFit/>
          </a:bodyPr>
          <a:lstStyle/>
          <a:p>
            <a:pPr algn="r">
              <a:lnSpc>
                <a:spcPts val="2401"/>
              </a:lnSpc>
            </a:pPr>
            <a:r>
              <a:rPr lang="en-US" sz="2001">
                <a:solidFill>
                  <a:srgbClr val="717C7A"/>
                </a:solidFill>
                <a:latin typeface="Inter"/>
                <a:ea typeface="Inter"/>
                <a:cs typeface="Inter"/>
                <a:sym typeface="Inter"/>
              </a:rPr>
              <a:t>Band positions illustrative · Vaesen et al. 2019 · Drawn with AI assistance (Claude)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5349240" y="419720"/>
            <a:ext cx="5692140" cy="585267"/>
            <a:chOff x="0" y="0"/>
            <a:chExt cx="7589520" cy="780356"/>
          </a:xfrm>
        </p:grpSpPr>
        <p:sp>
          <p:nvSpPr>
            <p:cNvPr name="Freeform 3" id="3"/>
            <p:cNvSpPr/>
            <p:nvPr/>
          </p:nvSpPr>
          <p:spPr>
            <a:xfrm flipH="false" flipV="false" rot="0">
              <a:off x="0" y="0"/>
              <a:ext cx="7589520" cy="780356"/>
            </a:xfrm>
            <a:custGeom>
              <a:avLst/>
              <a:gdLst/>
              <a:ahLst/>
              <a:cxnLst/>
              <a:rect r="r" b="b" t="t" l="l"/>
              <a:pathLst>
                <a:path h="780356" w="7589520">
                  <a:moveTo>
                    <a:pt x="0" y="0"/>
                  </a:moveTo>
                  <a:lnTo>
                    <a:pt x="7589520" y="0"/>
                  </a:lnTo>
                  <a:lnTo>
                    <a:pt x="7589520" y="780356"/>
                  </a:lnTo>
                  <a:lnTo>
                    <a:pt x="0" y="780356"/>
                  </a:lnTo>
                  <a:close/>
                </a:path>
              </a:pathLst>
            </a:custGeom>
            <a:blipFill>
              <a:blip r:embed="rId3">
                <a:alphaModFix amt="0"/>
              </a:blip>
              <a:stretch>
                <a:fillRect l="0" t="-142635" r="0" b="-136376"/>
              </a:stretch>
            </a:blipFill>
          </p:spPr>
        </p:sp>
        <p:sp>
          <p:nvSpPr>
            <p:cNvPr name="TextBox 4" id="4"/>
            <p:cNvSpPr txBox="true"/>
            <p:nvPr/>
          </p:nvSpPr>
          <p:spPr>
            <a:xfrm>
              <a:off x="0" y="0"/>
              <a:ext cx="7589520" cy="780356"/>
            </a:xfrm>
            <a:prstGeom prst="rect">
              <a:avLst/>
            </a:prstGeom>
          </p:spPr>
          <p:txBody>
            <a:bodyPr anchor="ctr" rtlCol="false" tIns="0" lIns="0" bIns="0" rIns="0"/>
            <a:lstStyle/>
            <a:p>
              <a:pPr algn="l">
                <a:lnSpc>
                  <a:spcPts val="3360"/>
                </a:lnSpc>
              </a:pPr>
              <a:r>
                <a:rPr lang="en-US" sz="2800">
                  <a:solidFill>
                    <a:srgbClr val="6E7C7A"/>
                  </a:solidFill>
                  <a:latin typeface="Inter"/>
                  <a:ea typeface="Inter"/>
                  <a:cs typeface="Inter"/>
                  <a:sym typeface="Inter"/>
                </a:rPr>
                <a:t>Many neighbours</a:t>
              </a:r>
            </a:p>
          </p:txBody>
        </p:sp>
      </p:grpSp>
      <p:grpSp>
        <p:nvGrpSpPr>
          <p:cNvPr name="Group 5" id="5"/>
          <p:cNvGrpSpPr/>
          <p:nvPr/>
        </p:nvGrpSpPr>
        <p:grpSpPr>
          <a:xfrm rot="0">
            <a:off x="11727180" y="419720"/>
            <a:ext cx="5692140" cy="585267"/>
            <a:chOff x="0" y="0"/>
            <a:chExt cx="7589520" cy="780356"/>
          </a:xfrm>
        </p:grpSpPr>
        <p:sp>
          <p:nvSpPr>
            <p:cNvPr name="Freeform 6" id="6"/>
            <p:cNvSpPr/>
            <p:nvPr/>
          </p:nvSpPr>
          <p:spPr>
            <a:xfrm flipH="false" flipV="false" rot="0">
              <a:off x="0" y="0"/>
              <a:ext cx="7589520" cy="780356"/>
            </a:xfrm>
            <a:custGeom>
              <a:avLst/>
              <a:gdLst/>
              <a:ahLst/>
              <a:cxnLst/>
              <a:rect r="r" b="b" t="t" l="l"/>
              <a:pathLst>
                <a:path h="780356" w="7589520">
                  <a:moveTo>
                    <a:pt x="0" y="0"/>
                  </a:moveTo>
                  <a:lnTo>
                    <a:pt x="7589520" y="0"/>
                  </a:lnTo>
                  <a:lnTo>
                    <a:pt x="7589520" y="780356"/>
                  </a:lnTo>
                  <a:lnTo>
                    <a:pt x="0" y="780356"/>
                  </a:lnTo>
                  <a:close/>
                </a:path>
              </a:pathLst>
            </a:custGeom>
            <a:blipFill>
              <a:blip r:embed="rId3">
                <a:alphaModFix amt="0"/>
              </a:blip>
              <a:stretch>
                <a:fillRect l="0" t="-142635" r="0" b="-136376"/>
              </a:stretch>
            </a:blipFill>
          </p:spPr>
        </p:sp>
        <p:sp>
          <p:nvSpPr>
            <p:cNvPr name="TextBox 7" id="7"/>
            <p:cNvSpPr txBox="true"/>
            <p:nvPr/>
          </p:nvSpPr>
          <p:spPr>
            <a:xfrm>
              <a:off x="0" y="0"/>
              <a:ext cx="7589520" cy="780356"/>
            </a:xfrm>
            <a:prstGeom prst="rect">
              <a:avLst/>
            </a:prstGeom>
          </p:spPr>
          <p:txBody>
            <a:bodyPr anchor="ctr" rtlCol="false" tIns="0" lIns="0" bIns="0" rIns="0"/>
            <a:lstStyle/>
            <a:p>
              <a:pPr algn="l">
                <a:lnSpc>
                  <a:spcPts val="3360"/>
                </a:lnSpc>
              </a:pPr>
              <a:r>
                <a:rPr lang="en-US" sz="2800">
                  <a:solidFill>
                    <a:srgbClr val="6E7C7A"/>
                  </a:solidFill>
                  <a:latin typeface="Inter"/>
                  <a:ea typeface="Inter"/>
                  <a:cs typeface="Inter"/>
                  <a:sym typeface="Inter"/>
                </a:rPr>
                <a:t>Few neighbours</a:t>
              </a:r>
            </a:p>
          </p:txBody>
        </p:sp>
      </p:grpSp>
      <p:sp>
        <p:nvSpPr>
          <p:cNvPr name="AutoShape 8" id="8"/>
          <p:cNvSpPr/>
          <p:nvPr/>
        </p:nvSpPr>
        <p:spPr>
          <a:xfrm>
            <a:off x="5342101" y="1145444"/>
            <a:ext cx="12084369" cy="14342"/>
          </a:xfrm>
          <a:prstGeom prst="line">
            <a:avLst/>
          </a:prstGeom>
          <a:ln cap="rnd" w="19050">
            <a:solidFill>
              <a:srgbClr val="BDB9B7"/>
            </a:solidFill>
            <a:prstDash val="solid"/>
            <a:headEnd type="none" len="sm" w="sm"/>
            <a:tailEnd type="none" len="sm" w="sm"/>
          </a:ln>
        </p:spPr>
      </p:sp>
      <p:sp>
        <p:nvSpPr>
          <p:cNvPr name="TextBox 9" id="9"/>
          <p:cNvSpPr txBox="true"/>
          <p:nvPr/>
        </p:nvSpPr>
        <p:spPr>
          <a:xfrm rot="0">
            <a:off x="822960" y="1860187"/>
            <a:ext cx="4251960" cy="1000125"/>
          </a:xfrm>
          <a:prstGeom prst="rect">
            <a:avLst/>
          </a:prstGeom>
        </p:spPr>
        <p:txBody>
          <a:bodyPr anchor="t" rtlCol="false" tIns="0" lIns="0" bIns="0" rIns="0">
            <a:spAutoFit/>
          </a:bodyPr>
          <a:lstStyle/>
          <a:p>
            <a:pPr algn="l">
              <a:lnSpc>
                <a:spcPts val="4200"/>
              </a:lnSpc>
            </a:pPr>
            <a:r>
              <a:rPr lang="en-US" sz="3500">
                <a:solidFill>
                  <a:srgbClr val="282C34"/>
                </a:solidFill>
                <a:latin typeface="Source Serif Pro"/>
                <a:ea typeface="Source Serif Pro"/>
                <a:cs typeface="Source Serif Pro"/>
                <a:sym typeface="Source Serif Pro"/>
              </a:rPr>
              <a:t>Competitors</a:t>
            </a:r>
          </a:p>
          <a:p>
            <a:pPr algn="l">
              <a:lnSpc>
                <a:spcPts val="3719"/>
              </a:lnSpc>
            </a:pPr>
            <a:r>
              <a:rPr lang="en-US" sz="3099">
                <a:solidFill>
                  <a:srgbClr val="6E7C7A"/>
                </a:solidFill>
                <a:latin typeface="Inter"/>
                <a:ea typeface="Inter"/>
                <a:cs typeface="Inter"/>
                <a:sym typeface="Inter"/>
              </a:rPr>
              <a:t>more for each</a:t>
            </a:r>
          </a:p>
        </p:txBody>
      </p:sp>
      <p:grpSp>
        <p:nvGrpSpPr>
          <p:cNvPr name="Group 10" id="10"/>
          <p:cNvGrpSpPr/>
          <p:nvPr/>
        </p:nvGrpSpPr>
        <p:grpSpPr>
          <a:xfrm rot="0">
            <a:off x="5329228" y="3516090"/>
            <a:ext cx="590360" cy="590360"/>
            <a:chOff x="0" y="0"/>
            <a:chExt cx="787146" cy="787146"/>
          </a:xfrm>
        </p:grpSpPr>
        <p:sp>
          <p:nvSpPr>
            <p:cNvPr name="Freeform 11" id="11"/>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12" id="12"/>
          <p:cNvGrpSpPr/>
          <p:nvPr/>
        </p:nvGrpSpPr>
        <p:grpSpPr>
          <a:xfrm rot="0">
            <a:off x="9791452" y="3175638"/>
            <a:ext cx="590360" cy="590360"/>
            <a:chOff x="0" y="0"/>
            <a:chExt cx="787146" cy="787146"/>
          </a:xfrm>
        </p:grpSpPr>
        <p:sp>
          <p:nvSpPr>
            <p:cNvPr name="Freeform 13" id="13"/>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14" id="14"/>
          <p:cNvGrpSpPr/>
          <p:nvPr/>
        </p:nvGrpSpPr>
        <p:grpSpPr>
          <a:xfrm rot="0">
            <a:off x="6295930" y="3088312"/>
            <a:ext cx="590360" cy="590360"/>
            <a:chOff x="0" y="0"/>
            <a:chExt cx="787146" cy="787146"/>
          </a:xfrm>
        </p:grpSpPr>
        <p:sp>
          <p:nvSpPr>
            <p:cNvPr name="Freeform 15" id="15"/>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16" id="16"/>
          <p:cNvGrpSpPr/>
          <p:nvPr/>
        </p:nvGrpSpPr>
        <p:grpSpPr>
          <a:xfrm rot="0">
            <a:off x="10409834" y="2197087"/>
            <a:ext cx="590360" cy="590360"/>
            <a:chOff x="0" y="0"/>
            <a:chExt cx="787146" cy="787146"/>
          </a:xfrm>
        </p:grpSpPr>
        <p:sp>
          <p:nvSpPr>
            <p:cNvPr name="Freeform 17" id="17"/>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18" id="18"/>
          <p:cNvGrpSpPr/>
          <p:nvPr/>
        </p:nvGrpSpPr>
        <p:grpSpPr>
          <a:xfrm rot="0">
            <a:off x="7644355" y="3421544"/>
            <a:ext cx="590360" cy="590360"/>
            <a:chOff x="0" y="0"/>
            <a:chExt cx="787146" cy="787146"/>
          </a:xfrm>
        </p:grpSpPr>
        <p:sp>
          <p:nvSpPr>
            <p:cNvPr name="Freeform 19" id="19"/>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0" id="20"/>
          <p:cNvGrpSpPr/>
          <p:nvPr/>
        </p:nvGrpSpPr>
        <p:grpSpPr>
          <a:xfrm rot="0">
            <a:off x="5959459" y="1851901"/>
            <a:ext cx="590360" cy="590360"/>
            <a:chOff x="0" y="0"/>
            <a:chExt cx="787146" cy="787146"/>
          </a:xfrm>
        </p:grpSpPr>
        <p:sp>
          <p:nvSpPr>
            <p:cNvPr name="Freeform 21" id="21"/>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2" id="22"/>
          <p:cNvGrpSpPr/>
          <p:nvPr/>
        </p:nvGrpSpPr>
        <p:grpSpPr>
          <a:xfrm rot="0">
            <a:off x="5594452" y="2581554"/>
            <a:ext cx="590360" cy="590360"/>
            <a:chOff x="0" y="0"/>
            <a:chExt cx="787146" cy="787146"/>
          </a:xfrm>
        </p:grpSpPr>
        <p:sp>
          <p:nvSpPr>
            <p:cNvPr name="Freeform 23" id="23"/>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4" id="24"/>
          <p:cNvGrpSpPr/>
          <p:nvPr/>
        </p:nvGrpSpPr>
        <p:grpSpPr>
          <a:xfrm rot="0">
            <a:off x="9274502" y="2629865"/>
            <a:ext cx="590360" cy="590360"/>
            <a:chOff x="0" y="0"/>
            <a:chExt cx="787146" cy="787146"/>
          </a:xfrm>
        </p:grpSpPr>
        <p:sp>
          <p:nvSpPr>
            <p:cNvPr name="Freeform 25" id="25"/>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6" id="26"/>
          <p:cNvGrpSpPr/>
          <p:nvPr/>
        </p:nvGrpSpPr>
        <p:grpSpPr>
          <a:xfrm rot="0">
            <a:off x="9286332" y="1700234"/>
            <a:ext cx="590360" cy="590360"/>
            <a:chOff x="0" y="0"/>
            <a:chExt cx="787146" cy="787146"/>
          </a:xfrm>
        </p:grpSpPr>
        <p:sp>
          <p:nvSpPr>
            <p:cNvPr name="Freeform 27" id="27"/>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8" id="28"/>
          <p:cNvGrpSpPr/>
          <p:nvPr/>
        </p:nvGrpSpPr>
        <p:grpSpPr>
          <a:xfrm rot="0">
            <a:off x="9113930" y="3418916"/>
            <a:ext cx="590360" cy="590360"/>
            <a:chOff x="0" y="0"/>
            <a:chExt cx="787146" cy="787146"/>
          </a:xfrm>
        </p:grpSpPr>
        <p:sp>
          <p:nvSpPr>
            <p:cNvPr name="Freeform 29" id="29"/>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0" id="30"/>
          <p:cNvGrpSpPr/>
          <p:nvPr/>
        </p:nvGrpSpPr>
        <p:grpSpPr>
          <a:xfrm rot="0">
            <a:off x="7959347" y="4127109"/>
            <a:ext cx="590360" cy="590360"/>
            <a:chOff x="0" y="0"/>
            <a:chExt cx="787146" cy="787146"/>
          </a:xfrm>
        </p:grpSpPr>
        <p:sp>
          <p:nvSpPr>
            <p:cNvPr name="Freeform 31" id="31"/>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2" id="32"/>
          <p:cNvGrpSpPr/>
          <p:nvPr/>
        </p:nvGrpSpPr>
        <p:grpSpPr>
          <a:xfrm rot="0">
            <a:off x="6796383" y="3834882"/>
            <a:ext cx="590360" cy="590360"/>
            <a:chOff x="0" y="0"/>
            <a:chExt cx="787146" cy="787146"/>
          </a:xfrm>
        </p:grpSpPr>
        <p:sp>
          <p:nvSpPr>
            <p:cNvPr name="Freeform 33" id="33"/>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4" id="34"/>
          <p:cNvGrpSpPr/>
          <p:nvPr/>
        </p:nvGrpSpPr>
        <p:grpSpPr>
          <a:xfrm rot="0">
            <a:off x="10437228" y="3544112"/>
            <a:ext cx="590360" cy="590360"/>
            <a:chOff x="0" y="0"/>
            <a:chExt cx="787146" cy="787146"/>
          </a:xfrm>
        </p:grpSpPr>
        <p:sp>
          <p:nvSpPr>
            <p:cNvPr name="Freeform 35" id="35"/>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6" id="36"/>
          <p:cNvGrpSpPr/>
          <p:nvPr/>
        </p:nvGrpSpPr>
        <p:grpSpPr>
          <a:xfrm rot="0">
            <a:off x="8129349" y="2823822"/>
            <a:ext cx="590360" cy="590360"/>
            <a:chOff x="0" y="0"/>
            <a:chExt cx="787146" cy="787146"/>
          </a:xfrm>
        </p:grpSpPr>
        <p:sp>
          <p:nvSpPr>
            <p:cNvPr name="Freeform 37" id="37"/>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8" id="38"/>
          <p:cNvGrpSpPr/>
          <p:nvPr/>
        </p:nvGrpSpPr>
        <p:grpSpPr>
          <a:xfrm rot="0">
            <a:off x="7976502" y="1704092"/>
            <a:ext cx="590360" cy="590360"/>
            <a:chOff x="0" y="0"/>
            <a:chExt cx="787146" cy="787146"/>
          </a:xfrm>
        </p:grpSpPr>
        <p:sp>
          <p:nvSpPr>
            <p:cNvPr name="Freeform 39" id="39"/>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0" id="40"/>
          <p:cNvGrpSpPr/>
          <p:nvPr/>
        </p:nvGrpSpPr>
        <p:grpSpPr>
          <a:xfrm rot="0">
            <a:off x="7042309" y="2721952"/>
            <a:ext cx="590360" cy="590360"/>
            <a:chOff x="0" y="0"/>
            <a:chExt cx="787146" cy="787146"/>
          </a:xfrm>
        </p:grpSpPr>
        <p:sp>
          <p:nvSpPr>
            <p:cNvPr name="Freeform 41" id="41"/>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2" id="42"/>
          <p:cNvGrpSpPr/>
          <p:nvPr/>
        </p:nvGrpSpPr>
        <p:grpSpPr>
          <a:xfrm rot="0">
            <a:off x="8654405" y="2037448"/>
            <a:ext cx="590360" cy="590360"/>
            <a:chOff x="0" y="0"/>
            <a:chExt cx="787146" cy="787146"/>
          </a:xfrm>
        </p:grpSpPr>
        <p:sp>
          <p:nvSpPr>
            <p:cNvPr name="Freeform 43" id="43"/>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4" id="44"/>
          <p:cNvGrpSpPr/>
          <p:nvPr/>
        </p:nvGrpSpPr>
        <p:grpSpPr>
          <a:xfrm rot="0">
            <a:off x="6724526" y="1757194"/>
            <a:ext cx="590360" cy="590360"/>
            <a:chOff x="0" y="0"/>
            <a:chExt cx="787146" cy="787146"/>
          </a:xfrm>
        </p:grpSpPr>
        <p:sp>
          <p:nvSpPr>
            <p:cNvPr name="Freeform 45" id="45"/>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6" id="46"/>
          <p:cNvGrpSpPr/>
          <p:nvPr/>
        </p:nvGrpSpPr>
        <p:grpSpPr>
          <a:xfrm rot="0">
            <a:off x="9536620" y="3978290"/>
            <a:ext cx="590360" cy="590360"/>
            <a:chOff x="0" y="0"/>
            <a:chExt cx="787146" cy="787146"/>
          </a:xfrm>
        </p:grpSpPr>
        <p:sp>
          <p:nvSpPr>
            <p:cNvPr name="Freeform 47" id="47"/>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8" id="48"/>
          <p:cNvGrpSpPr/>
          <p:nvPr/>
        </p:nvGrpSpPr>
        <p:grpSpPr>
          <a:xfrm rot="0">
            <a:off x="6029496" y="4065111"/>
            <a:ext cx="590360" cy="590360"/>
            <a:chOff x="0" y="0"/>
            <a:chExt cx="787146" cy="787146"/>
          </a:xfrm>
        </p:grpSpPr>
        <p:sp>
          <p:nvSpPr>
            <p:cNvPr name="Freeform 49" id="49"/>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50" id="50"/>
          <p:cNvGrpSpPr/>
          <p:nvPr/>
        </p:nvGrpSpPr>
        <p:grpSpPr>
          <a:xfrm rot="0">
            <a:off x="12358402" y="2838376"/>
            <a:ext cx="1221296" cy="1221296"/>
            <a:chOff x="0" y="0"/>
            <a:chExt cx="1628394" cy="1628394"/>
          </a:xfrm>
        </p:grpSpPr>
        <p:sp>
          <p:nvSpPr>
            <p:cNvPr name="Freeform 51" id="51"/>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52" id="52"/>
          <p:cNvGrpSpPr/>
          <p:nvPr/>
        </p:nvGrpSpPr>
        <p:grpSpPr>
          <a:xfrm rot="0">
            <a:off x="13104781" y="2472016"/>
            <a:ext cx="1221296" cy="1221296"/>
            <a:chOff x="0" y="0"/>
            <a:chExt cx="1628394" cy="1628394"/>
          </a:xfrm>
        </p:grpSpPr>
        <p:sp>
          <p:nvSpPr>
            <p:cNvPr name="Freeform 53" id="53"/>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54" id="54"/>
          <p:cNvGrpSpPr/>
          <p:nvPr/>
        </p:nvGrpSpPr>
        <p:grpSpPr>
          <a:xfrm rot="0">
            <a:off x="16499700" y="3294176"/>
            <a:ext cx="1221296" cy="1221296"/>
            <a:chOff x="0" y="0"/>
            <a:chExt cx="1628394" cy="1628394"/>
          </a:xfrm>
        </p:grpSpPr>
        <p:sp>
          <p:nvSpPr>
            <p:cNvPr name="Freeform 55" id="55"/>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56" id="56"/>
          <p:cNvGrpSpPr/>
          <p:nvPr/>
        </p:nvGrpSpPr>
        <p:grpSpPr>
          <a:xfrm rot="0">
            <a:off x="15348804" y="1450298"/>
            <a:ext cx="1221296" cy="1221296"/>
            <a:chOff x="0" y="0"/>
            <a:chExt cx="1628394" cy="1628394"/>
          </a:xfrm>
        </p:grpSpPr>
        <p:sp>
          <p:nvSpPr>
            <p:cNvPr name="Freeform 57" id="57"/>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58" id="58"/>
          <p:cNvGrpSpPr/>
          <p:nvPr/>
        </p:nvGrpSpPr>
        <p:grpSpPr>
          <a:xfrm rot="0">
            <a:off x="14021819" y="3877173"/>
            <a:ext cx="1221296" cy="1221296"/>
            <a:chOff x="0" y="0"/>
            <a:chExt cx="1628394" cy="1628394"/>
          </a:xfrm>
        </p:grpSpPr>
        <p:sp>
          <p:nvSpPr>
            <p:cNvPr name="Freeform 59" id="59"/>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60" id="60"/>
          <p:cNvGrpSpPr/>
          <p:nvPr/>
        </p:nvGrpSpPr>
        <p:grpSpPr>
          <a:xfrm rot="0">
            <a:off x="15176402" y="3168980"/>
            <a:ext cx="1221296" cy="1221296"/>
            <a:chOff x="0" y="0"/>
            <a:chExt cx="1628394" cy="1628394"/>
          </a:xfrm>
        </p:grpSpPr>
        <p:sp>
          <p:nvSpPr>
            <p:cNvPr name="Freeform 61" id="61"/>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62" id="62"/>
          <p:cNvGrpSpPr/>
          <p:nvPr/>
        </p:nvGrpSpPr>
        <p:grpSpPr>
          <a:xfrm rot="0">
            <a:off x="5535254" y="3722115"/>
            <a:ext cx="178308" cy="178308"/>
            <a:chOff x="0" y="0"/>
            <a:chExt cx="237744" cy="237744"/>
          </a:xfrm>
        </p:grpSpPr>
        <p:sp>
          <p:nvSpPr>
            <p:cNvPr name="Freeform 63" id="6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64" id="64"/>
          <p:cNvGrpSpPr/>
          <p:nvPr/>
        </p:nvGrpSpPr>
        <p:grpSpPr>
          <a:xfrm rot="0">
            <a:off x="9997478" y="3381663"/>
            <a:ext cx="178308" cy="178308"/>
            <a:chOff x="0" y="0"/>
            <a:chExt cx="237744" cy="237744"/>
          </a:xfrm>
        </p:grpSpPr>
        <p:sp>
          <p:nvSpPr>
            <p:cNvPr name="Freeform 65" id="6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66" id="66"/>
          <p:cNvGrpSpPr/>
          <p:nvPr/>
        </p:nvGrpSpPr>
        <p:grpSpPr>
          <a:xfrm rot="0">
            <a:off x="6501956" y="3294338"/>
            <a:ext cx="178308" cy="178308"/>
            <a:chOff x="0" y="0"/>
            <a:chExt cx="237744" cy="237744"/>
          </a:xfrm>
        </p:grpSpPr>
        <p:sp>
          <p:nvSpPr>
            <p:cNvPr name="Freeform 67" id="6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68" id="68"/>
          <p:cNvGrpSpPr/>
          <p:nvPr/>
        </p:nvGrpSpPr>
        <p:grpSpPr>
          <a:xfrm rot="0">
            <a:off x="10615860" y="2403112"/>
            <a:ext cx="178308" cy="178308"/>
            <a:chOff x="0" y="0"/>
            <a:chExt cx="237744" cy="237744"/>
          </a:xfrm>
        </p:grpSpPr>
        <p:sp>
          <p:nvSpPr>
            <p:cNvPr name="Freeform 69" id="6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0" id="70"/>
          <p:cNvGrpSpPr/>
          <p:nvPr/>
        </p:nvGrpSpPr>
        <p:grpSpPr>
          <a:xfrm rot="0">
            <a:off x="7850381" y="3627570"/>
            <a:ext cx="178308" cy="178308"/>
            <a:chOff x="0" y="0"/>
            <a:chExt cx="237744" cy="237744"/>
          </a:xfrm>
        </p:grpSpPr>
        <p:sp>
          <p:nvSpPr>
            <p:cNvPr name="Freeform 71" id="7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2" id="72"/>
          <p:cNvGrpSpPr/>
          <p:nvPr/>
        </p:nvGrpSpPr>
        <p:grpSpPr>
          <a:xfrm rot="0">
            <a:off x="6165485" y="2057926"/>
            <a:ext cx="178308" cy="178308"/>
            <a:chOff x="0" y="0"/>
            <a:chExt cx="237744" cy="237744"/>
          </a:xfrm>
        </p:grpSpPr>
        <p:sp>
          <p:nvSpPr>
            <p:cNvPr name="Freeform 73" id="7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4" id="74"/>
          <p:cNvGrpSpPr/>
          <p:nvPr/>
        </p:nvGrpSpPr>
        <p:grpSpPr>
          <a:xfrm rot="0">
            <a:off x="5800477" y="2787580"/>
            <a:ext cx="178308" cy="178308"/>
            <a:chOff x="0" y="0"/>
            <a:chExt cx="237744" cy="237744"/>
          </a:xfrm>
        </p:grpSpPr>
        <p:sp>
          <p:nvSpPr>
            <p:cNvPr name="Freeform 75" id="7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6" id="76"/>
          <p:cNvGrpSpPr/>
          <p:nvPr/>
        </p:nvGrpSpPr>
        <p:grpSpPr>
          <a:xfrm rot="0">
            <a:off x="9480528" y="2835890"/>
            <a:ext cx="178308" cy="178308"/>
            <a:chOff x="0" y="0"/>
            <a:chExt cx="237744" cy="237744"/>
          </a:xfrm>
        </p:grpSpPr>
        <p:sp>
          <p:nvSpPr>
            <p:cNvPr name="Freeform 77" id="7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8" id="78"/>
          <p:cNvGrpSpPr/>
          <p:nvPr/>
        </p:nvGrpSpPr>
        <p:grpSpPr>
          <a:xfrm rot="0">
            <a:off x="9492358" y="1906260"/>
            <a:ext cx="178308" cy="178308"/>
            <a:chOff x="0" y="0"/>
            <a:chExt cx="237744" cy="237744"/>
          </a:xfrm>
        </p:grpSpPr>
        <p:sp>
          <p:nvSpPr>
            <p:cNvPr name="Freeform 79" id="7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0" id="80"/>
          <p:cNvGrpSpPr/>
          <p:nvPr/>
        </p:nvGrpSpPr>
        <p:grpSpPr>
          <a:xfrm rot="0">
            <a:off x="9319955" y="3624941"/>
            <a:ext cx="178308" cy="178308"/>
            <a:chOff x="0" y="0"/>
            <a:chExt cx="237744" cy="237744"/>
          </a:xfrm>
        </p:grpSpPr>
        <p:sp>
          <p:nvSpPr>
            <p:cNvPr name="Freeform 81" id="8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2" id="82"/>
          <p:cNvGrpSpPr/>
          <p:nvPr/>
        </p:nvGrpSpPr>
        <p:grpSpPr>
          <a:xfrm rot="0">
            <a:off x="8165373" y="4333135"/>
            <a:ext cx="178308" cy="178308"/>
            <a:chOff x="0" y="0"/>
            <a:chExt cx="237744" cy="237744"/>
          </a:xfrm>
        </p:grpSpPr>
        <p:sp>
          <p:nvSpPr>
            <p:cNvPr name="Freeform 83" id="8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4" id="84"/>
          <p:cNvGrpSpPr/>
          <p:nvPr/>
        </p:nvGrpSpPr>
        <p:grpSpPr>
          <a:xfrm rot="0">
            <a:off x="7002409" y="4040908"/>
            <a:ext cx="178308" cy="178308"/>
            <a:chOff x="0" y="0"/>
            <a:chExt cx="237744" cy="237744"/>
          </a:xfrm>
        </p:grpSpPr>
        <p:sp>
          <p:nvSpPr>
            <p:cNvPr name="Freeform 85" id="8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6" id="86"/>
          <p:cNvGrpSpPr/>
          <p:nvPr/>
        </p:nvGrpSpPr>
        <p:grpSpPr>
          <a:xfrm rot="0">
            <a:off x="10643254" y="3750138"/>
            <a:ext cx="178308" cy="178308"/>
            <a:chOff x="0" y="0"/>
            <a:chExt cx="237744" cy="237744"/>
          </a:xfrm>
        </p:grpSpPr>
        <p:sp>
          <p:nvSpPr>
            <p:cNvPr name="Freeform 87" id="8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8" id="88"/>
          <p:cNvGrpSpPr/>
          <p:nvPr/>
        </p:nvGrpSpPr>
        <p:grpSpPr>
          <a:xfrm rot="0">
            <a:off x="8335375" y="3029848"/>
            <a:ext cx="178308" cy="178308"/>
            <a:chOff x="0" y="0"/>
            <a:chExt cx="237744" cy="237744"/>
          </a:xfrm>
        </p:grpSpPr>
        <p:sp>
          <p:nvSpPr>
            <p:cNvPr name="Freeform 89" id="8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0" id="90"/>
          <p:cNvGrpSpPr/>
          <p:nvPr/>
        </p:nvGrpSpPr>
        <p:grpSpPr>
          <a:xfrm rot="0">
            <a:off x="8182527" y="1910117"/>
            <a:ext cx="178308" cy="178308"/>
            <a:chOff x="0" y="0"/>
            <a:chExt cx="237744" cy="237744"/>
          </a:xfrm>
        </p:grpSpPr>
        <p:sp>
          <p:nvSpPr>
            <p:cNvPr name="Freeform 91" id="9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2" id="92"/>
          <p:cNvGrpSpPr/>
          <p:nvPr/>
        </p:nvGrpSpPr>
        <p:grpSpPr>
          <a:xfrm rot="0">
            <a:off x="7248334" y="2927978"/>
            <a:ext cx="178308" cy="178308"/>
            <a:chOff x="0" y="0"/>
            <a:chExt cx="237744" cy="237744"/>
          </a:xfrm>
        </p:grpSpPr>
        <p:sp>
          <p:nvSpPr>
            <p:cNvPr name="Freeform 93" id="9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4" id="94"/>
          <p:cNvGrpSpPr/>
          <p:nvPr/>
        </p:nvGrpSpPr>
        <p:grpSpPr>
          <a:xfrm rot="0">
            <a:off x="8860431" y="2243473"/>
            <a:ext cx="178308" cy="178308"/>
            <a:chOff x="0" y="0"/>
            <a:chExt cx="237744" cy="237744"/>
          </a:xfrm>
        </p:grpSpPr>
        <p:sp>
          <p:nvSpPr>
            <p:cNvPr name="Freeform 95" id="9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6" id="96"/>
          <p:cNvGrpSpPr/>
          <p:nvPr/>
        </p:nvGrpSpPr>
        <p:grpSpPr>
          <a:xfrm rot="0">
            <a:off x="6930552" y="1963219"/>
            <a:ext cx="178308" cy="178308"/>
            <a:chOff x="0" y="0"/>
            <a:chExt cx="237744" cy="237744"/>
          </a:xfrm>
        </p:grpSpPr>
        <p:sp>
          <p:nvSpPr>
            <p:cNvPr name="Freeform 97" id="9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8" id="98"/>
          <p:cNvGrpSpPr/>
          <p:nvPr/>
        </p:nvGrpSpPr>
        <p:grpSpPr>
          <a:xfrm rot="0">
            <a:off x="9742646" y="4184316"/>
            <a:ext cx="178308" cy="178308"/>
            <a:chOff x="0" y="0"/>
            <a:chExt cx="237744" cy="237744"/>
          </a:xfrm>
        </p:grpSpPr>
        <p:sp>
          <p:nvSpPr>
            <p:cNvPr name="Freeform 99" id="9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0" id="100"/>
          <p:cNvGrpSpPr/>
          <p:nvPr/>
        </p:nvGrpSpPr>
        <p:grpSpPr>
          <a:xfrm rot="0">
            <a:off x="6235522" y="4271136"/>
            <a:ext cx="178308" cy="178308"/>
            <a:chOff x="0" y="0"/>
            <a:chExt cx="237744" cy="237744"/>
          </a:xfrm>
        </p:grpSpPr>
        <p:sp>
          <p:nvSpPr>
            <p:cNvPr name="Freeform 101" id="10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2" id="102"/>
          <p:cNvGrpSpPr/>
          <p:nvPr/>
        </p:nvGrpSpPr>
        <p:grpSpPr>
          <a:xfrm rot="0">
            <a:off x="12879896" y="3359870"/>
            <a:ext cx="178308" cy="178308"/>
            <a:chOff x="0" y="0"/>
            <a:chExt cx="237744" cy="237744"/>
          </a:xfrm>
        </p:grpSpPr>
        <p:sp>
          <p:nvSpPr>
            <p:cNvPr name="Freeform 103" id="10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4" id="104"/>
          <p:cNvGrpSpPr/>
          <p:nvPr/>
        </p:nvGrpSpPr>
        <p:grpSpPr>
          <a:xfrm rot="0">
            <a:off x="13626274" y="2993510"/>
            <a:ext cx="178308" cy="178308"/>
            <a:chOff x="0" y="0"/>
            <a:chExt cx="237744" cy="237744"/>
          </a:xfrm>
        </p:grpSpPr>
        <p:sp>
          <p:nvSpPr>
            <p:cNvPr name="Freeform 105" id="10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6" id="106"/>
          <p:cNvGrpSpPr/>
          <p:nvPr/>
        </p:nvGrpSpPr>
        <p:grpSpPr>
          <a:xfrm rot="0">
            <a:off x="17021194" y="3815670"/>
            <a:ext cx="178308" cy="178308"/>
            <a:chOff x="0" y="0"/>
            <a:chExt cx="237744" cy="237744"/>
          </a:xfrm>
        </p:grpSpPr>
        <p:sp>
          <p:nvSpPr>
            <p:cNvPr name="Freeform 107" id="10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8" id="108"/>
          <p:cNvGrpSpPr/>
          <p:nvPr/>
        </p:nvGrpSpPr>
        <p:grpSpPr>
          <a:xfrm rot="0">
            <a:off x="15870298" y="1971792"/>
            <a:ext cx="178308" cy="178308"/>
            <a:chOff x="0" y="0"/>
            <a:chExt cx="237744" cy="237744"/>
          </a:xfrm>
        </p:grpSpPr>
        <p:sp>
          <p:nvSpPr>
            <p:cNvPr name="Freeform 109" id="10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10" id="110"/>
          <p:cNvGrpSpPr/>
          <p:nvPr/>
        </p:nvGrpSpPr>
        <p:grpSpPr>
          <a:xfrm rot="0">
            <a:off x="14543313" y="4398667"/>
            <a:ext cx="178308" cy="178308"/>
            <a:chOff x="0" y="0"/>
            <a:chExt cx="237744" cy="237744"/>
          </a:xfrm>
        </p:grpSpPr>
        <p:sp>
          <p:nvSpPr>
            <p:cNvPr name="Freeform 111" id="11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12" id="112"/>
          <p:cNvGrpSpPr/>
          <p:nvPr/>
        </p:nvGrpSpPr>
        <p:grpSpPr>
          <a:xfrm rot="0">
            <a:off x="15697895" y="3690473"/>
            <a:ext cx="178308" cy="178308"/>
            <a:chOff x="0" y="0"/>
            <a:chExt cx="237744" cy="237744"/>
          </a:xfrm>
        </p:grpSpPr>
        <p:sp>
          <p:nvSpPr>
            <p:cNvPr name="Freeform 113" id="11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sp>
        <p:nvSpPr>
          <p:cNvPr name="AutoShape 114" id="114"/>
          <p:cNvSpPr/>
          <p:nvPr/>
        </p:nvSpPr>
        <p:spPr>
          <a:xfrm rot="2940">
            <a:off x="815816" y="9253537"/>
            <a:ext cx="16655920" cy="0"/>
          </a:xfrm>
          <a:prstGeom prst="line">
            <a:avLst/>
          </a:prstGeom>
          <a:ln cap="rnd" w="9525">
            <a:solidFill>
              <a:srgbClr val="BDB9B7"/>
            </a:solidFill>
            <a:prstDash val="solid"/>
            <a:headEnd type="none" len="sm" w="sm"/>
            <a:tailEnd type="none" len="sm" w="sm"/>
          </a:ln>
        </p:spPr>
      </p:sp>
      <p:grpSp>
        <p:nvGrpSpPr>
          <p:cNvPr name="Group 115" id="115"/>
          <p:cNvGrpSpPr/>
          <p:nvPr/>
        </p:nvGrpSpPr>
        <p:grpSpPr>
          <a:xfrm rot="0">
            <a:off x="822960" y="9395460"/>
            <a:ext cx="12344400" cy="548640"/>
            <a:chOff x="0" y="0"/>
            <a:chExt cx="16459200" cy="731520"/>
          </a:xfrm>
        </p:grpSpPr>
        <p:sp>
          <p:nvSpPr>
            <p:cNvPr name="Freeform 116" id="116"/>
            <p:cNvSpPr/>
            <p:nvPr/>
          </p:nvSpPr>
          <p:spPr>
            <a:xfrm flipH="false" flipV="false" rot="0">
              <a:off x="0" y="0"/>
              <a:ext cx="16459200" cy="731520"/>
            </a:xfrm>
            <a:custGeom>
              <a:avLst/>
              <a:gdLst/>
              <a:ahLst/>
              <a:cxnLst/>
              <a:rect r="r" b="b" t="t" l="l"/>
              <a:pathLst>
                <a:path h="731520" w="16459200">
                  <a:moveTo>
                    <a:pt x="0" y="0"/>
                  </a:moveTo>
                  <a:lnTo>
                    <a:pt x="16459200" y="0"/>
                  </a:lnTo>
                  <a:lnTo>
                    <a:pt x="16459200" y="731520"/>
                  </a:lnTo>
                  <a:lnTo>
                    <a:pt x="0" y="731520"/>
                  </a:lnTo>
                  <a:close/>
                </a:path>
              </a:pathLst>
            </a:custGeom>
            <a:blipFill>
              <a:blip r:embed="rId3">
                <a:alphaModFix amt="0"/>
              </a:blip>
              <a:stretch>
                <a:fillRect l="0" t="-388413" r="0" b="-388413"/>
              </a:stretch>
            </a:blipFill>
          </p:spPr>
        </p:sp>
        <p:sp>
          <p:nvSpPr>
            <p:cNvPr name="TextBox 117" id="117"/>
            <p:cNvSpPr txBox="true"/>
            <p:nvPr/>
          </p:nvSpPr>
          <p:spPr>
            <a:xfrm>
              <a:off x="0" y="0"/>
              <a:ext cx="16459200" cy="731520"/>
            </a:xfrm>
            <a:prstGeom prst="rect">
              <a:avLst/>
            </a:prstGeom>
          </p:spPr>
          <p:txBody>
            <a:bodyPr anchor="ctr" rtlCol="false" tIns="0" lIns="0" bIns="0" rIns="0"/>
            <a:lstStyle/>
            <a:p>
              <a:pPr algn="l">
                <a:lnSpc>
                  <a:spcPts val="2879"/>
                </a:lnSpc>
              </a:pPr>
              <a:r>
                <a:rPr lang="en-US" sz="2400">
                  <a:solidFill>
                    <a:srgbClr val="6E7C7A"/>
                  </a:solidFill>
                  <a:latin typeface="Inter"/>
                  <a:ea typeface="Inter"/>
                  <a:cs typeface="Inter"/>
                  <a:sym typeface="Inter"/>
                </a:rPr>
                <a:t>● one individual    ○ its food and space</a:t>
              </a:r>
            </a:p>
          </p:txBody>
        </p:sp>
      </p:grpSp>
      <p:sp>
        <p:nvSpPr>
          <p:cNvPr name="TextBox 118" id="118"/>
          <p:cNvSpPr txBox="true"/>
          <p:nvPr/>
        </p:nvSpPr>
        <p:spPr>
          <a:xfrm rot="0">
            <a:off x="13104781" y="9507855"/>
            <a:ext cx="4388644" cy="314325"/>
          </a:xfrm>
          <a:prstGeom prst="rect">
            <a:avLst/>
          </a:prstGeom>
        </p:spPr>
        <p:txBody>
          <a:bodyPr anchor="t" rtlCol="false" tIns="0" lIns="0" bIns="0" rIns="0">
            <a:spAutoFit/>
          </a:bodyPr>
          <a:lstStyle/>
          <a:p>
            <a:pPr algn="l" marL="0" indent="0" lvl="0">
              <a:lnSpc>
                <a:spcPts val="2400"/>
              </a:lnSpc>
              <a:spcBef>
                <a:spcPct val="0"/>
              </a:spcBef>
            </a:pPr>
            <a:r>
              <a:rPr lang="en-US" sz="2000" strike="noStrike" u="none">
                <a:solidFill>
                  <a:srgbClr val="6E7C7A"/>
                </a:solidFill>
                <a:latin typeface="Inter"/>
                <a:ea typeface="Inter"/>
                <a:cs typeface="Inter"/>
                <a:sym typeface="Inter"/>
              </a:rPr>
              <a:t>Schematic after Stephens et al. 1999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5349240" y="419720"/>
            <a:ext cx="5692140" cy="585267"/>
            <a:chOff x="0" y="0"/>
            <a:chExt cx="7589520" cy="780356"/>
          </a:xfrm>
        </p:grpSpPr>
        <p:sp>
          <p:nvSpPr>
            <p:cNvPr name="Freeform 3" id="3"/>
            <p:cNvSpPr/>
            <p:nvPr/>
          </p:nvSpPr>
          <p:spPr>
            <a:xfrm flipH="false" flipV="false" rot="0">
              <a:off x="0" y="0"/>
              <a:ext cx="7589520" cy="780356"/>
            </a:xfrm>
            <a:custGeom>
              <a:avLst/>
              <a:gdLst/>
              <a:ahLst/>
              <a:cxnLst/>
              <a:rect r="r" b="b" t="t" l="l"/>
              <a:pathLst>
                <a:path h="780356" w="7589520">
                  <a:moveTo>
                    <a:pt x="0" y="0"/>
                  </a:moveTo>
                  <a:lnTo>
                    <a:pt x="7589520" y="0"/>
                  </a:lnTo>
                  <a:lnTo>
                    <a:pt x="7589520" y="780356"/>
                  </a:lnTo>
                  <a:lnTo>
                    <a:pt x="0" y="780356"/>
                  </a:lnTo>
                  <a:close/>
                </a:path>
              </a:pathLst>
            </a:custGeom>
            <a:blipFill>
              <a:blip r:embed="rId3">
                <a:alphaModFix amt="0"/>
              </a:blip>
              <a:stretch>
                <a:fillRect l="0" t="-142635" r="0" b="-136376"/>
              </a:stretch>
            </a:blipFill>
          </p:spPr>
        </p:sp>
        <p:sp>
          <p:nvSpPr>
            <p:cNvPr name="TextBox 4" id="4"/>
            <p:cNvSpPr txBox="true"/>
            <p:nvPr/>
          </p:nvSpPr>
          <p:spPr>
            <a:xfrm>
              <a:off x="0" y="0"/>
              <a:ext cx="7589520" cy="780356"/>
            </a:xfrm>
            <a:prstGeom prst="rect">
              <a:avLst/>
            </a:prstGeom>
          </p:spPr>
          <p:txBody>
            <a:bodyPr anchor="ctr" rtlCol="false" tIns="0" lIns="0" bIns="0" rIns="0"/>
            <a:lstStyle/>
            <a:p>
              <a:pPr algn="l">
                <a:lnSpc>
                  <a:spcPts val="3360"/>
                </a:lnSpc>
              </a:pPr>
              <a:r>
                <a:rPr lang="en-US" sz="2800">
                  <a:solidFill>
                    <a:srgbClr val="6E7C7A"/>
                  </a:solidFill>
                  <a:latin typeface="Inter"/>
                  <a:ea typeface="Inter"/>
                  <a:cs typeface="Inter"/>
                  <a:sym typeface="Inter"/>
                </a:rPr>
                <a:t>Many neighbours</a:t>
              </a:r>
            </a:p>
          </p:txBody>
        </p:sp>
      </p:grpSp>
      <p:grpSp>
        <p:nvGrpSpPr>
          <p:cNvPr name="Group 5" id="5"/>
          <p:cNvGrpSpPr/>
          <p:nvPr/>
        </p:nvGrpSpPr>
        <p:grpSpPr>
          <a:xfrm rot="0">
            <a:off x="11727180" y="419720"/>
            <a:ext cx="5692140" cy="585267"/>
            <a:chOff x="0" y="0"/>
            <a:chExt cx="7589520" cy="780356"/>
          </a:xfrm>
        </p:grpSpPr>
        <p:sp>
          <p:nvSpPr>
            <p:cNvPr name="Freeform 6" id="6"/>
            <p:cNvSpPr/>
            <p:nvPr/>
          </p:nvSpPr>
          <p:spPr>
            <a:xfrm flipH="false" flipV="false" rot="0">
              <a:off x="0" y="0"/>
              <a:ext cx="7589520" cy="780356"/>
            </a:xfrm>
            <a:custGeom>
              <a:avLst/>
              <a:gdLst/>
              <a:ahLst/>
              <a:cxnLst/>
              <a:rect r="r" b="b" t="t" l="l"/>
              <a:pathLst>
                <a:path h="780356" w="7589520">
                  <a:moveTo>
                    <a:pt x="0" y="0"/>
                  </a:moveTo>
                  <a:lnTo>
                    <a:pt x="7589520" y="0"/>
                  </a:lnTo>
                  <a:lnTo>
                    <a:pt x="7589520" y="780356"/>
                  </a:lnTo>
                  <a:lnTo>
                    <a:pt x="0" y="780356"/>
                  </a:lnTo>
                  <a:close/>
                </a:path>
              </a:pathLst>
            </a:custGeom>
            <a:blipFill>
              <a:blip r:embed="rId3">
                <a:alphaModFix amt="0"/>
              </a:blip>
              <a:stretch>
                <a:fillRect l="0" t="-142635" r="0" b="-136376"/>
              </a:stretch>
            </a:blipFill>
          </p:spPr>
        </p:sp>
        <p:sp>
          <p:nvSpPr>
            <p:cNvPr name="TextBox 7" id="7"/>
            <p:cNvSpPr txBox="true"/>
            <p:nvPr/>
          </p:nvSpPr>
          <p:spPr>
            <a:xfrm>
              <a:off x="0" y="0"/>
              <a:ext cx="7589520" cy="780356"/>
            </a:xfrm>
            <a:prstGeom prst="rect">
              <a:avLst/>
            </a:prstGeom>
          </p:spPr>
          <p:txBody>
            <a:bodyPr anchor="ctr" rtlCol="false" tIns="0" lIns="0" bIns="0" rIns="0"/>
            <a:lstStyle/>
            <a:p>
              <a:pPr algn="l">
                <a:lnSpc>
                  <a:spcPts val="3360"/>
                </a:lnSpc>
              </a:pPr>
              <a:r>
                <a:rPr lang="en-US" sz="2800">
                  <a:solidFill>
                    <a:srgbClr val="6E7C7A"/>
                  </a:solidFill>
                  <a:latin typeface="Inter"/>
                  <a:ea typeface="Inter"/>
                  <a:cs typeface="Inter"/>
                  <a:sym typeface="Inter"/>
                </a:rPr>
                <a:t>Few neighbours</a:t>
              </a:r>
            </a:p>
          </p:txBody>
        </p:sp>
      </p:grpSp>
      <p:sp>
        <p:nvSpPr>
          <p:cNvPr name="AutoShape 8" id="8"/>
          <p:cNvSpPr/>
          <p:nvPr/>
        </p:nvSpPr>
        <p:spPr>
          <a:xfrm>
            <a:off x="5342101" y="1145444"/>
            <a:ext cx="12084369" cy="14342"/>
          </a:xfrm>
          <a:prstGeom prst="line">
            <a:avLst/>
          </a:prstGeom>
          <a:ln cap="rnd" w="19050">
            <a:solidFill>
              <a:srgbClr val="BDB9B7"/>
            </a:solidFill>
            <a:prstDash val="solid"/>
            <a:headEnd type="none" len="sm" w="sm"/>
            <a:tailEnd type="none" len="sm" w="sm"/>
          </a:ln>
        </p:spPr>
      </p:sp>
      <p:sp>
        <p:nvSpPr>
          <p:cNvPr name="TextBox 9" id="9"/>
          <p:cNvSpPr txBox="true"/>
          <p:nvPr/>
        </p:nvSpPr>
        <p:spPr>
          <a:xfrm rot="0">
            <a:off x="822960" y="1860187"/>
            <a:ext cx="4251960" cy="1000125"/>
          </a:xfrm>
          <a:prstGeom prst="rect">
            <a:avLst/>
          </a:prstGeom>
        </p:spPr>
        <p:txBody>
          <a:bodyPr anchor="t" rtlCol="false" tIns="0" lIns="0" bIns="0" rIns="0">
            <a:spAutoFit/>
          </a:bodyPr>
          <a:lstStyle/>
          <a:p>
            <a:pPr algn="l">
              <a:lnSpc>
                <a:spcPts val="4200"/>
              </a:lnSpc>
            </a:pPr>
            <a:r>
              <a:rPr lang="en-US" sz="3500">
                <a:solidFill>
                  <a:srgbClr val="282C34"/>
                </a:solidFill>
                <a:latin typeface="Source Serif Pro"/>
                <a:ea typeface="Source Serif Pro"/>
                <a:cs typeface="Source Serif Pro"/>
                <a:sym typeface="Source Serif Pro"/>
              </a:rPr>
              <a:t>Competitors</a:t>
            </a:r>
          </a:p>
          <a:p>
            <a:pPr algn="l">
              <a:lnSpc>
                <a:spcPts val="3720"/>
              </a:lnSpc>
            </a:pPr>
            <a:r>
              <a:rPr lang="en-US" sz="3100">
                <a:solidFill>
                  <a:srgbClr val="6E7C7A"/>
                </a:solidFill>
                <a:latin typeface="Inter"/>
                <a:ea typeface="Inter"/>
                <a:cs typeface="Inter"/>
                <a:sym typeface="Inter"/>
              </a:rPr>
              <a:t>more for each</a:t>
            </a:r>
          </a:p>
        </p:txBody>
      </p:sp>
      <p:grpSp>
        <p:nvGrpSpPr>
          <p:cNvPr name="Group 10" id="10"/>
          <p:cNvGrpSpPr/>
          <p:nvPr/>
        </p:nvGrpSpPr>
        <p:grpSpPr>
          <a:xfrm rot="0">
            <a:off x="5329228" y="3516090"/>
            <a:ext cx="590360" cy="590360"/>
            <a:chOff x="0" y="0"/>
            <a:chExt cx="787146" cy="787146"/>
          </a:xfrm>
        </p:grpSpPr>
        <p:sp>
          <p:nvSpPr>
            <p:cNvPr name="Freeform 11" id="11"/>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12" id="12"/>
          <p:cNvGrpSpPr/>
          <p:nvPr/>
        </p:nvGrpSpPr>
        <p:grpSpPr>
          <a:xfrm rot="0">
            <a:off x="9791452" y="3175638"/>
            <a:ext cx="590360" cy="590360"/>
            <a:chOff x="0" y="0"/>
            <a:chExt cx="787146" cy="787146"/>
          </a:xfrm>
        </p:grpSpPr>
        <p:sp>
          <p:nvSpPr>
            <p:cNvPr name="Freeform 13" id="13"/>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14" id="14"/>
          <p:cNvGrpSpPr/>
          <p:nvPr/>
        </p:nvGrpSpPr>
        <p:grpSpPr>
          <a:xfrm rot="0">
            <a:off x="6295930" y="3088312"/>
            <a:ext cx="590360" cy="590360"/>
            <a:chOff x="0" y="0"/>
            <a:chExt cx="787146" cy="787146"/>
          </a:xfrm>
        </p:grpSpPr>
        <p:sp>
          <p:nvSpPr>
            <p:cNvPr name="Freeform 15" id="15"/>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16" id="16"/>
          <p:cNvGrpSpPr/>
          <p:nvPr/>
        </p:nvGrpSpPr>
        <p:grpSpPr>
          <a:xfrm rot="0">
            <a:off x="10409834" y="2197087"/>
            <a:ext cx="590360" cy="590360"/>
            <a:chOff x="0" y="0"/>
            <a:chExt cx="787146" cy="787146"/>
          </a:xfrm>
        </p:grpSpPr>
        <p:sp>
          <p:nvSpPr>
            <p:cNvPr name="Freeform 17" id="17"/>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18" id="18"/>
          <p:cNvGrpSpPr/>
          <p:nvPr/>
        </p:nvGrpSpPr>
        <p:grpSpPr>
          <a:xfrm rot="0">
            <a:off x="7644355" y="3421544"/>
            <a:ext cx="590360" cy="590360"/>
            <a:chOff x="0" y="0"/>
            <a:chExt cx="787146" cy="787146"/>
          </a:xfrm>
        </p:grpSpPr>
        <p:sp>
          <p:nvSpPr>
            <p:cNvPr name="Freeform 19" id="19"/>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0" id="20"/>
          <p:cNvGrpSpPr/>
          <p:nvPr/>
        </p:nvGrpSpPr>
        <p:grpSpPr>
          <a:xfrm rot="0">
            <a:off x="5959459" y="1851901"/>
            <a:ext cx="590360" cy="590360"/>
            <a:chOff x="0" y="0"/>
            <a:chExt cx="787146" cy="787146"/>
          </a:xfrm>
        </p:grpSpPr>
        <p:sp>
          <p:nvSpPr>
            <p:cNvPr name="Freeform 21" id="21"/>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2" id="22"/>
          <p:cNvGrpSpPr/>
          <p:nvPr/>
        </p:nvGrpSpPr>
        <p:grpSpPr>
          <a:xfrm rot="0">
            <a:off x="5594452" y="2581554"/>
            <a:ext cx="590360" cy="590360"/>
            <a:chOff x="0" y="0"/>
            <a:chExt cx="787146" cy="787146"/>
          </a:xfrm>
        </p:grpSpPr>
        <p:sp>
          <p:nvSpPr>
            <p:cNvPr name="Freeform 23" id="23"/>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4" id="24"/>
          <p:cNvGrpSpPr/>
          <p:nvPr/>
        </p:nvGrpSpPr>
        <p:grpSpPr>
          <a:xfrm rot="0">
            <a:off x="9274502" y="2629865"/>
            <a:ext cx="590360" cy="590360"/>
            <a:chOff x="0" y="0"/>
            <a:chExt cx="787146" cy="787146"/>
          </a:xfrm>
        </p:grpSpPr>
        <p:sp>
          <p:nvSpPr>
            <p:cNvPr name="Freeform 25" id="25"/>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6" id="26"/>
          <p:cNvGrpSpPr/>
          <p:nvPr/>
        </p:nvGrpSpPr>
        <p:grpSpPr>
          <a:xfrm rot="0">
            <a:off x="9286332" y="1700234"/>
            <a:ext cx="590360" cy="590360"/>
            <a:chOff x="0" y="0"/>
            <a:chExt cx="787146" cy="787146"/>
          </a:xfrm>
        </p:grpSpPr>
        <p:sp>
          <p:nvSpPr>
            <p:cNvPr name="Freeform 27" id="27"/>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28" id="28"/>
          <p:cNvGrpSpPr/>
          <p:nvPr/>
        </p:nvGrpSpPr>
        <p:grpSpPr>
          <a:xfrm rot="0">
            <a:off x="9113930" y="3418916"/>
            <a:ext cx="590360" cy="590360"/>
            <a:chOff x="0" y="0"/>
            <a:chExt cx="787146" cy="787146"/>
          </a:xfrm>
        </p:grpSpPr>
        <p:sp>
          <p:nvSpPr>
            <p:cNvPr name="Freeform 29" id="29"/>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0" id="30"/>
          <p:cNvGrpSpPr/>
          <p:nvPr/>
        </p:nvGrpSpPr>
        <p:grpSpPr>
          <a:xfrm rot="0">
            <a:off x="7959347" y="4127109"/>
            <a:ext cx="590360" cy="590360"/>
            <a:chOff x="0" y="0"/>
            <a:chExt cx="787146" cy="787146"/>
          </a:xfrm>
        </p:grpSpPr>
        <p:sp>
          <p:nvSpPr>
            <p:cNvPr name="Freeform 31" id="31"/>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2" id="32"/>
          <p:cNvGrpSpPr/>
          <p:nvPr/>
        </p:nvGrpSpPr>
        <p:grpSpPr>
          <a:xfrm rot="0">
            <a:off x="6796383" y="3834882"/>
            <a:ext cx="590360" cy="590360"/>
            <a:chOff x="0" y="0"/>
            <a:chExt cx="787146" cy="787146"/>
          </a:xfrm>
        </p:grpSpPr>
        <p:sp>
          <p:nvSpPr>
            <p:cNvPr name="Freeform 33" id="33"/>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4" id="34"/>
          <p:cNvGrpSpPr/>
          <p:nvPr/>
        </p:nvGrpSpPr>
        <p:grpSpPr>
          <a:xfrm rot="0">
            <a:off x="10437228" y="3544112"/>
            <a:ext cx="590360" cy="590360"/>
            <a:chOff x="0" y="0"/>
            <a:chExt cx="787146" cy="787146"/>
          </a:xfrm>
        </p:grpSpPr>
        <p:sp>
          <p:nvSpPr>
            <p:cNvPr name="Freeform 35" id="35"/>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6" id="36"/>
          <p:cNvGrpSpPr/>
          <p:nvPr/>
        </p:nvGrpSpPr>
        <p:grpSpPr>
          <a:xfrm rot="0">
            <a:off x="8129349" y="2823822"/>
            <a:ext cx="590360" cy="590360"/>
            <a:chOff x="0" y="0"/>
            <a:chExt cx="787146" cy="787146"/>
          </a:xfrm>
        </p:grpSpPr>
        <p:sp>
          <p:nvSpPr>
            <p:cNvPr name="Freeform 37" id="37"/>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38" id="38"/>
          <p:cNvGrpSpPr/>
          <p:nvPr/>
        </p:nvGrpSpPr>
        <p:grpSpPr>
          <a:xfrm rot="0">
            <a:off x="7976502" y="1704092"/>
            <a:ext cx="590360" cy="590360"/>
            <a:chOff x="0" y="0"/>
            <a:chExt cx="787146" cy="787146"/>
          </a:xfrm>
        </p:grpSpPr>
        <p:sp>
          <p:nvSpPr>
            <p:cNvPr name="Freeform 39" id="39"/>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0" id="40"/>
          <p:cNvGrpSpPr/>
          <p:nvPr/>
        </p:nvGrpSpPr>
        <p:grpSpPr>
          <a:xfrm rot="0">
            <a:off x="7042309" y="2721952"/>
            <a:ext cx="590360" cy="590360"/>
            <a:chOff x="0" y="0"/>
            <a:chExt cx="787146" cy="787146"/>
          </a:xfrm>
        </p:grpSpPr>
        <p:sp>
          <p:nvSpPr>
            <p:cNvPr name="Freeform 41" id="41"/>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2" id="42"/>
          <p:cNvGrpSpPr/>
          <p:nvPr/>
        </p:nvGrpSpPr>
        <p:grpSpPr>
          <a:xfrm rot="0">
            <a:off x="8654405" y="2037448"/>
            <a:ext cx="590360" cy="590360"/>
            <a:chOff x="0" y="0"/>
            <a:chExt cx="787146" cy="787146"/>
          </a:xfrm>
        </p:grpSpPr>
        <p:sp>
          <p:nvSpPr>
            <p:cNvPr name="Freeform 43" id="43"/>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4" id="44"/>
          <p:cNvGrpSpPr/>
          <p:nvPr/>
        </p:nvGrpSpPr>
        <p:grpSpPr>
          <a:xfrm rot="0">
            <a:off x="6724526" y="1757194"/>
            <a:ext cx="590360" cy="590360"/>
            <a:chOff x="0" y="0"/>
            <a:chExt cx="787146" cy="787146"/>
          </a:xfrm>
        </p:grpSpPr>
        <p:sp>
          <p:nvSpPr>
            <p:cNvPr name="Freeform 45" id="45"/>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6" id="46"/>
          <p:cNvGrpSpPr/>
          <p:nvPr/>
        </p:nvGrpSpPr>
        <p:grpSpPr>
          <a:xfrm rot="0">
            <a:off x="9536620" y="3978290"/>
            <a:ext cx="590360" cy="590360"/>
            <a:chOff x="0" y="0"/>
            <a:chExt cx="787146" cy="787146"/>
          </a:xfrm>
        </p:grpSpPr>
        <p:sp>
          <p:nvSpPr>
            <p:cNvPr name="Freeform 47" id="47"/>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48" id="48"/>
          <p:cNvGrpSpPr/>
          <p:nvPr/>
        </p:nvGrpSpPr>
        <p:grpSpPr>
          <a:xfrm rot="0">
            <a:off x="6029496" y="4065111"/>
            <a:ext cx="590360" cy="590360"/>
            <a:chOff x="0" y="0"/>
            <a:chExt cx="787146" cy="787146"/>
          </a:xfrm>
        </p:grpSpPr>
        <p:sp>
          <p:nvSpPr>
            <p:cNvPr name="Freeform 49" id="49"/>
            <p:cNvSpPr/>
            <p:nvPr/>
          </p:nvSpPr>
          <p:spPr>
            <a:xfrm flipH="false" flipV="false" rot="0">
              <a:off x="0" y="0"/>
              <a:ext cx="787146" cy="787146"/>
            </a:xfrm>
            <a:custGeom>
              <a:avLst/>
              <a:gdLst/>
              <a:ahLst/>
              <a:cxnLst/>
              <a:rect r="r" b="b" t="t" l="l"/>
              <a:pathLst>
                <a:path h="787146" w="787146">
                  <a:moveTo>
                    <a:pt x="0" y="393573"/>
                  </a:moveTo>
                  <a:cubicBezTo>
                    <a:pt x="0" y="176149"/>
                    <a:pt x="176149" y="0"/>
                    <a:pt x="393573" y="0"/>
                  </a:cubicBezTo>
                  <a:cubicBezTo>
                    <a:pt x="610997" y="0"/>
                    <a:pt x="787146" y="176149"/>
                    <a:pt x="787146" y="393573"/>
                  </a:cubicBezTo>
                  <a:cubicBezTo>
                    <a:pt x="787146" y="610997"/>
                    <a:pt x="610997" y="787146"/>
                    <a:pt x="393573" y="787146"/>
                  </a:cubicBezTo>
                  <a:cubicBezTo>
                    <a:pt x="176149" y="787146"/>
                    <a:pt x="0" y="610997"/>
                    <a:pt x="0" y="393573"/>
                  </a:cubicBezTo>
                  <a:close/>
                </a:path>
              </a:pathLst>
            </a:custGeom>
            <a:solidFill>
              <a:srgbClr val="467070">
                <a:alpha val="1569"/>
              </a:srgbClr>
            </a:solidFill>
            <a:ln w="14288" cap="sq">
              <a:solidFill>
                <a:srgbClr val="9FB3B2"/>
              </a:solidFill>
              <a:prstDash val="solid"/>
              <a:miter/>
            </a:ln>
          </p:spPr>
        </p:sp>
      </p:grpSp>
      <p:grpSp>
        <p:nvGrpSpPr>
          <p:cNvPr name="Group 50" id="50"/>
          <p:cNvGrpSpPr/>
          <p:nvPr/>
        </p:nvGrpSpPr>
        <p:grpSpPr>
          <a:xfrm rot="0">
            <a:off x="12358402" y="2838376"/>
            <a:ext cx="1221296" cy="1221296"/>
            <a:chOff x="0" y="0"/>
            <a:chExt cx="1628394" cy="1628394"/>
          </a:xfrm>
        </p:grpSpPr>
        <p:sp>
          <p:nvSpPr>
            <p:cNvPr name="Freeform 51" id="51"/>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52" id="52"/>
          <p:cNvGrpSpPr/>
          <p:nvPr/>
        </p:nvGrpSpPr>
        <p:grpSpPr>
          <a:xfrm rot="0">
            <a:off x="13104781" y="2472016"/>
            <a:ext cx="1221296" cy="1221296"/>
            <a:chOff x="0" y="0"/>
            <a:chExt cx="1628394" cy="1628394"/>
          </a:xfrm>
        </p:grpSpPr>
        <p:sp>
          <p:nvSpPr>
            <p:cNvPr name="Freeform 53" id="53"/>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54" id="54"/>
          <p:cNvGrpSpPr/>
          <p:nvPr/>
        </p:nvGrpSpPr>
        <p:grpSpPr>
          <a:xfrm rot="0">
            <a:off x="16499700" y="3294176"/>
            <a:ext cx="1221296" cy="1221296"/>
            <a:chOff x="0" y="0"/>
            <a:chExt cx="1628394" cy="1628394"/>
          </a:xfrm>
        </p:grpSpPr>
        <p:sp>
          <p:nvSpPr>
            <p:cNvPr name="Freeform 55" id="55"/>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56" id="56"/>
          <p:cNvGrpSpPr/>
          <p:nvPr/>
        </p:nvGrpSpPr>
        <p:grpSpPr>
          <a:xfrm rot="0">
            <a:off x="15348804" y="1450298"/>
            <a:ext cx="1221296" cy="1221296"/>
            <a:chOff x="0" y="0"/>
            <a:chExt cx="1628394" cy="1628394"/>
          </a:xfrm>
        </p:grpSpPr>
        <p:sp>
          <p:nvSpPr>
            <p:cNvPr name="Freeform 57" id="57"/>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58" id="58"/>
          <p:cNvGrpSpPr/>
          <p:nvPr/>
        </p:nvGrpSpPr>
        <p:grpSpPr>
          <a:xfrm rot="0">
            <a:off x="14021819" y="3877173"/>
            <a:ext cx="1221296" cy="1221296"/>
            <a:chOff x="0" y="0"/>
            <a:chExt cx="1628394" cy="1628394"/>
          </a:xfrm>
        </p:grpSpPr>
        <p:sp>
          <p:nvSpPr>
            <p:cNvPr name="Freeform 59" id="59"/>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60" id="60"/>
          <p:cNvGrpSpPr/>
          <p:nvPr/>
        </p:nvGrpSpPr>
        <p:grpSpPr>
          <a:xfrm rot="0">
            <a:off x="15176402" y="3168980"/>
            <a:ext cx="1221296" cy="1221296"/>
            <a:chOff x="0" y="0"/>
            <a:chExt cx="1628394" cy="1628394"/>
          </a:xfrm>
        </p:grpSpPr>
        <p:sp>
          <p:nvSpPr>
            <p:cNvPr name="Freeform 61" id="61"/>
            <p:cNvSpPr/>
            <p:nvPr/>
          </p:nvSpPr>
          <p:spPr>
            <a:xfrm flipH="false" flipV="false" rot="0">
              <a:off x="0" y="0"/>
              <a:ext cx="1628394" cy="1628394"/>
            </a:xfrm>
            <a:custGeom>
              <a:avLst/>
              <a:gdLst/>
              <a:ahLst/>
              <a:cxnLst/>
              <a:rect r="r" b="b" t="t" l="l"/>
              <a:pathLst>
                <a:path h="1628394" w="1628394">
                  <a:moveTo>
                    <a:pt x="0" y="814197"/>
                  </a:moveTo>
                  <a:cubicBezTo>
                    <a:pt x="0" y="364490"/>
                    <a:pt x="364490" y="0"/>
                    <a:pt x="814197" y="0"/>
                  </a:cubicBezTo>
                  <a:cubicBezTo>
                    <a:pt x="1263904" y="0"/>
                    <a:pt x="1628394" y="364490"/>
                    <a:pt x="1628394" y="814197"/>
                  </a:cubicBezTo>
                  <a:cubicBezTo>
                    <a:pt x="1628394" y="1263904"/>
                    <a:pt x="1263904" y="1628394"/>
                    <a:pt x="814197" y="1628394"/>
                  </a:cubicBezTo>
                  <a:cubicBezTo>
                    <a:pt x="364490" y="1628394"/>
                    <a:pt x="0" y="1263904"/>
                    <a:pt x="0" y="814197"/>
                  </a:cubicBezTo>
                  <a:close/>
                </a:path>
              </a:pathLst>
            </a:custGeom>
            <a:solidFill>
              <a:srgbClr val="467070">
                <a:alpha val="1569"/>
              </a:srgbClr>
            </a:solidFill>
            <a:ln w="14288" cap="sq">
              <a:solidFill>
                <a:srgbClr val="9FB3B2"/>
              </a:solidFill>
              <a:prstDash val="solid"/>
              <a:miter/>
            </a:ln>
          </p:spPr>
        </p:sp>
      </p:grpSp>
      <p:grpSp>
        <p:nvGrpSpPr>
          <p:cNvPr name="Group 62" id="62"/>
          <p:cNvGrpSpPr/>
          <p:nvPr/>
        </p:nvGrpSpPr>
        <p:grpSpPr>
          <a:xfrm rot="0">
            <a:off x="5535254" y="3722115"/>
            <a:ext cx="178308" cy="178308"/>
            <a:chOff x="0" y="0"/>
            <a:chExt cx="237744" cy="237744"/>
          </a:xfrm>
        </p:grpSpPr>
        <p:sp>
          <p:nvSpPr>
            <p:cNvPr name="Freeform 63" id="6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64" id="64"/>
          <p:cNvGrpSpPr/>
          <p:nvPr/>
        </p:nvGrpSpPr>
        <p:grpSpPr>
          <a:xfrm rot="0">
            <a:off x="9997478" y="3381663"/>
            <a:ext cx="178308" cy="178308"/>
            <a:chOff x="0" y="0"/>
            <a:chExt cx="237744" cy="237744"/>
          </a:xfrm>
        </p:grpSpPr>
        <p:sp>
          <p:nvSpPr>
            <p:cNvPr name="Freeform 65" id="6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66" id="66"/>
          <p:cNvGrpSpPr/>
          <p:nvPr/>
        </p:nvGrpSpPr>
        <p:grpSpPr>
          <a:xfrm rot="0">
            <a:off x="6501956" y="3294338"/>
            <a:ext cx="178308" cy="178308"/>
            <a:chOff x="0" y="0"/>
            <a:chExt cx="237744" cy="237744"/>
          </a:xfrm>
        </p:grpSpPr>
        <p:sp>
          <p:nvSpPr>
            <p:cNvPr name="Freeform 67" id="6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68" id="68"/>
          <p:cNvGrpSpPr/>
          <p:nvPr/>
        </p:nvGrpSpPr>
        <p:grpSpPr>
          <a:xfrm rot="0">
            <a:off x="10615860" y="2403112"/>
            <a:ext cx="178308" cy="178308"/>
            <a:chOff x="0" y="0"/>
            <a:chExt cx="237744" cy="237744"/>
          </a:xfrm>
        </p:grpSpPr>
        <p:sp>
          <p:nvSpPr>
            <p:cNvPr name="Freeform 69" id="6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0" id="70"/>
          <p:cNvGrpSpPr/>
          <p:nvPr/>
        </p:nvGrpSpPr>
        <p:grpSpPr>
          <a:xfrm rot="0">
            <a:off x="7850381" y="3627570"/>
            <a:ext cx="178308" cy="178308"/>
            <a:chOff x="0" y="0"/>
            <a:chExt cx="237744" cy="237744"/>
          </a:xfrm>
        </p:grpSpPr>
        <p:sp>
          <p:nvSpPr>
            <p:cNvPr name="Freeform 71" id="7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2" id="72"/>
          <p:cNvGrpSpPr/>
          <p:nvPr/>
        </p:nvGrpSpPr>
        <p:grpSpPr>
          <a:xfrm rot="0">
            <a:off x="6165485" y="2057926"/>
            <a:ext cx="178308" cy="178308"/>
            <a:chOff x="0" y="0"/>
            <a:chExt cx="237744" cy="237744"/>
          </a:xfrm>
        </p:grpSpPr>
        <p:sp>
          <p:nvSpPr>
            <p:cNvPr name="Freeform 73" id="7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4" id="74"/>
          <p:cNvGrpSpPr/>
          <p:nvPr/>
        </p:nvGrpSpPr>
        <p:grpSpPr>
          <a:xfrm rot="0">
            <a:off x="5800477" y="2787580"/>
            <a:ext cx="178308" cy="178308"/>
            <a:chOff x="0" y="0"/>
            <a:chExt cx="237744" cy="237744"/>
          </a:xfrm>
        </p:grpSpPr>
        <p:sp>
          <p:nvSpPr>
            <p:cNvPr name="Freeform 75" id="7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6" id="76"/>
          <p:cNvGrpSpPr/>
          <p:nvPr/>
        </p:nvGrpSpPr>
        <p:grpSpPr>
          <a:xfrm rot="0">
            <a:off x="9480528" y="2835890"/>
            <a:ext cx="178308" cy="178308"/>
            <a:chOff x="0" y="0"/>
            <a:chExt cx="237744" cy="237744"/>
          </a:xfrm>
        </p:grpSpPr>
        <p:sp>
          <p:nvSpPr>
            <p:cNvPr name="Freeform 77" id="7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78" id="78"/>
          <p:cNvGrpSpPr/>
          <p:nvPr/>
        </p:nvGrpSpPr>
        <p:grpSpPr>
          <a:xfrm rot="0">
            <a:off x="9492358" y="1906260"/>
            <a:ext cx="178308" cy="178308"/>
            <a:chOff x="0" y="0"/>
            <a:chExt cx="237744" cy="237744"/>
          </a:xfrm>
        </p:grpSpPr>
        <p:sp>
          <p:nvSpPr>
            <p:cNvPr name="Freeform 79" id="7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0" id="80"/>
          <p:cNvGrpSpPr/>
          <p:nvPr/>
        </p:nvGrpSpPr>
        <p:grpSpPr>
          <a:xfrm rot="0">
            <a:off x="9319955" y="3624941"/>
            <a:ext cx="178308" cy="178308"/>
            <a:chOff x="0" y="0"/>
            <a:chExt cx="237744" cy="237744"/>
          </a:xfrm>
        </p:grpSpPr>
        <p:sp>
          <p:nvSpPr>
            <p:cNvPr name="Freeform 81" id="8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2" id="82"/>
          <p:cNvGrpSpPr/>
          <p:nvPr/>
        </p:nvGrpSpPr>
        <p:grpSpPr>
          <a:xfrm rot="0">
            <a:off x="8165373" y="4333135"/>
            <a:ext cx="178308" cy="178308"/>
            <a:chOff x="0" y="0"/>
            <a:chExt cx="237744" cy="237744"/>
          </a:xfrm>
        </p:grpSpPr>
        <p:sp>
          <p:nvSpPr>
            <p:cNvPr name="Freeform 83" id="8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4" id="84"/>
          <p:cNvGrpSpPr/>
          <p:nvPr/>
        </p:nvGrpSpPr>
        <p:grpSpPr>
          <a:xfrm rot="0">
            <a:off x="7002409" y="4040908"/>
            <a:ext cx="178308" cy="178308"/>
            <a:chOff x="0" y="0"/>
            <a:chExt cx="237744" cy="237744"/>
          </a:xfrm>
        </p:grpSpPr>
        <p:sp>
          <p:nvSpPr>
            <p:cNvPr name="Freeform 85" id="8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6" id="86"/>
          <p:cNvGrpSpPr/>
          <p:nvPr/>
        </p:nvGrpSpPr>
        <p:grpSpPr>
          <a:xfrm rot="0">
            <a:off x="10643254" y="3750138"/>
            <a:ext cx="178308" cy="178308"/>
            <a:chOff x="0" y="0"/>
            <a:chExt cx="237744" cy="237744"/>
          </a:xfrm>
        </p:grpSpPr>
        <p:sp>
          <p:nvSpPr>
            <p:cNvPr name="Freeform 87" id="8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88" id="88"/>
          <p:cNvGrpSpPr/>
          <p:nvPr/>
        </p:nvGrpSpPr>
        <p:grpSpPr>
          <a:xfrm rot="0">
            <a:off x="8335375" y="3029848"/>
            <a:ext cx="178308" cy="178308"/>
            <a:chOff x="0" y="0"/>
            <a:chExt cx="237744" cy="237744"/>
          </a:xfrm>
        </p:grpSpPr>
        <p:sp>
          <p:nvSpPr>
            <p:cNvPr name="Freeform 89" id="8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0" id="90"/>
          <p:cNvGrpSpPr/>
          <p:nvPr/>
        </p:nvGrpSpPr>
        <p:grpSpPr>
          <a:xfrm rot="0">
            <a:off x="8182527" y="1910117"/>
            <a:ext cx="178308" cy="178308"/>
            <a:chOff x="0" y="0"/>
            <a:chExt cx="237744" cy="237744"/>
          </a:xfrm>
        </p:grpSpPr>
        <p:sp>
          <p:nvSpPr>
            <p:cNvPr name="Freeform 91" id="9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2" id="92"/>
          <p:cNvGrpSpPr/>
          <p:nvPr/>
        </p:nvGrpSpPr>
        <p:grpSpPr>
          <a:xfrm rot="0">
            <a:off x="7248334" y="2927978"/>
            <a:ext cx="178308" cy="178308"/>
            <a:chOff x="0" y="0"/>
            <a:chExt cx="237744" cy="237744"/>
          </a:xfrm>
        </p:grpSpPr>
        <p:sp>
          <p:nvSpPr>
            <p:cNvPr name="Freeform 93" id="9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4" id="94"/>
          <p:cNvGrpSpPr/>
          <p:nvPr/>
        </p:nvGrpSpPr>
        <p:grpSpPr>
          <a:xfrm rot="0">
            <a:off x="8860431" y="2243473"/>
            <a:ext cx="178308" cy="178308"/>
            <a:chOff x="0" y="0"/>
            <a:chExt cx="237744" cy="237744"/>
          </a:xfrm>
        </p:grpSpPr>
        <p:sp>
          <p:nvSpPr>
            <p:cNvPr name="Freeform 95" id="9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6" id="96"/>
          <p:cNvGrpSpPr/>
          <p:nvPr/>
        </p:nvGrpSpPr>
        <p:grpSpPr>
          <a:xfrm rot="0">
            <a:off x="6930552" y="1963219"/>
            <a:ext cx="178308" cy="178308"/>
            <a:chOff x="0" y="0"/>
            <a:chExt cx="237744" cy="237744"/>
          </a:xfrm>
        </p:grpSpPr>
        <p:sp>
          <p:nvSpPr>
            <p:cNvPr name="Freeform 97" id="9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98" id="98"/>
          <p:cNvGrpSpPr/>
          <p:nvPr/>
        </p:nvGrpSpPr>
        <p:grpSpPr>
          <a:xfrm rot="0">
            <a:off x="9742646" y="4184316"/>
            <a:ext cx="178308" cy="178308"/>
            <a:chOff x="0" y="0"/>
            <a:chExt cx="237744" cy="237744"/>
          </a:xfrm>
        </p:grpSpPr>
        <p:sp>
          <p:nvSpPr>
            <p:cNvPr name="Freeform 99" id="9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0" id="100"/>
          <p:cNvGrpSpPr/>
          <p:nvPr/>
        </p:nvGrpSpPr>
        <p:grpSpPr>
          <a:xfrm rot="0">
            <a:off x="6235522" y="4271136"/>
            <a:ext cx="178308" cy="178308"/>
            <a:chOff x="0" y="0"/>
            <a:chExt cx="237744" cy="237744"/>
          </a:xfrm>
        </p:grpSpPr>
        <p:sp>
          <p:nvSpPr>
            <p:cNvPr name="Freeform 101" id="10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2" id="102"/>
          <p:cNvGrpSpPr/>
          <p:nvPr/>
        </p:nvGrpSpPr>
        <p:grpSpPr>
          <a:xfrm rot="0">
            <a:off x="12879896" y="3359870"/>
            <a:ext cx="178308" cy="178308"/>
            <a:chOff x="0" y="0"/>
            <a:chExt cx="237744" cy="237744"/>
          </a:xfrm>
        </p:grpSpPr>
        <p:sp>
          <p:nvSpPr>
            <p:cNvPr name="Freeform 103" id="10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4" id="104"/>
          <p:cNvGrpSpPr/>
          <p:nvPr/>
        </p:nvGrpSpPr>
        <p:grpSpPr>
          <a:xfrm rot="0">
            <a:off x="13626274" y="2993510"/>
            <a:ext cx="178308" cy="178308"/>
            <a:chOff x="0" y="0"/>
            <a:chExt cx="237744" cy="237744"/>
          </a:xfrm>
        </p:grpSpPr>
        <p:sp>
          <p:nvSpPr>
            <p:cNvPr name="Freeform 105" id="10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6" id="106"/>
          <p:cNvGrpSpPr/>
          <p:nvPr/>
        </p:nvGrpSpPr>
        <p:grpSpPr>
          <a:xfrm rot="0">
            <a:off x="17021194" y="3815670"/>
            <a:ext cx="178308" cy="178308"/>
            <a:chOff x="0" y="0"/>
            <a:chExt cx="237744" cy="237744"/>
          </a:xfrm>
        </p:grpSpPr>
        <p:sp>
          <p:nvSpPr>
            <p:cNvPr name="Freeform 107" id="10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08" id="108"/>
          <p:cNvGrpSpPr/>
          <p:nvPr/>
        </p:nvGrpSpPr>
        <p:grpSpPr>
          <a:xfrm rot="0">
            <a:off x="15870298" y="1971792"/>
            <a:ext cx="178308" cy="178308"/>
            <a:chOff x="0" y="0"/>
            <a:chExt cx="237744" cy="237744"/>
          </a:xfrm>
        </p:grpSpPr>
        <p:sp>
          <p:nvSpPr>
            <p:cNvPr name="Freeform 109" id="10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10" id="110"/>
          <p:cNvGrpSpPr/>
          <p:nvPr/>
        </p:nvGrpSpPr>
        <p:grpSpPr>
          <a:xfrm rot="0">
            <a:off x="14543313" y="4398667"/>
            <a:ext cx="178308" cy="178308"/>
            <a:chOff x="0" y="0"/>
            <a:chExt cx="237744" cy="237744"/>
          </a:xfrm>
        </p:grpSpPr>
        <p:sp>
          <p:nvSpPr>
            <p:cNvPr name="Freeform 111" id="11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12" id="112"/>
          <p:cNvGrpSpPr/>
          <p:nvPr/>
        </p:nvGrpSpPr>
        <p:grpSpPr>
          <a:xfrm rot="0">
            <a:off x="15697895" y="3690473"/>
            <a:ext cx="178308" cy="178308"/>
            <a:chOff x="0" y="0"/>
            <a:chExt cx="237744" cy="237744"/>
          </a:xfrm>
        </p:grpSpPr>
        <p:sp>
          <p:nvSpPr>
            <p:cNvPr name="Freeform 113" id="11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sp>
        <p:nvSpPr>
          <p:cNvPr name="AutoShape 114" id="114"/>
          <p:cNvSpPr/>
          <p:nvPr/>
        </p:nvSpPr>
        <p:spPr>
          <a:xfrm>
            <a:off x="815819" y="5398506"/>
            <a:ext cx="16655914" cy="14244"/>
          </a:xfrm>
          <a:prstGeom prst="line">
            <a:avLst/>
          </a:prstGeom>
          <a:ln cap="rnd" w="19050">
            <a:solidFill>
              <a:srgbClr val="BDB9B7"/>
            </a:solidFill>
            <a:prstDash val="solid"/>
            <a:headEnd type="none" len="sm" w="sm"/>
            <a:tailEnd type="none" len="sm" w="sm"/>
          </a:ln>
        </p:spPr>
      </p:sp>
      <p:sp>
        <p:nvSpPr>
          <p:cNvPr name="TextBox 115" id="115"/>
          <p:cNvSpPr txBox="true"/>
          <p:nvPr/>
        </p:nvSpPr>
        <p:spPr>
          <a:xfrm rot="0">
            <a:off x="822960" y="6035307"/>
            <a:ext cx="4251960" cy="1000125"/>
          </a:xfrm>
          <a:prstGeom prst="rect">
            <a:avLst/>
          </a:prstGeom>
        </p:spPr>
        <p:txBody>
          <a:bodyPr anchor="t" rtlCol="false" tIns="0" lIns="0" bIns="0" rIns="0">
            <a:spAutoFit/>
          </a:bodyPr>
          <a:lstStyle/>
          <a:p>
            <a:pPr algn="l">
              <a:lnSpc>
                <a:spcPts val="4200"/>
              </a:lnSpc>
            </a:pPr>
            <a:r>
              <a:rPr lang="en-US" sz="3500">
                <a:solidFill>
                  <a:srgbClr val="282C34"/>
                </a:solidFill>
                <a:latin typeface="Source Serif Pro"/>
                <a:ea typeface="Source Serif Pro"/>
                <a:cs typeface="Source Serif Pro"/>
                <a:sym typeface="Source Serif Pro"/>
              </a:rPr>
              <a:t>Partners</a:t>
            </a:r>
          </a:p>
          <a:p>
            <a:pPr algn="l">
              <a:lnSpc>
                <a:spcPts val="3720"/>
              </a:lnSpc>
            </a:pPr>
            <a:r>
              <a:rPr lang="en-US" sz="3100">
                <a:solidFill>
                  <a:srgbClr val="6E7C7A"/>
                </a:solidFill>
                <a:latin typeface="Inter"/>
                <a:ea typeface="Inter"/>
                <a:cs typeface="Inter"/>
                <a:sym typeface="Inter"/>
              </a:rPr>
              <a:t>fewer helpers</a:t>
            </a:r>
          </a:p>
        </p:txBody>
      </p:sp>
      <p:sp>
        <p:nvSpPr>
          <p:cNvPr name="AutoShape 116" id="116"/>
          <p:cNvSpPr/>
          <p:nvPr/>
        </p:nvSpPr>
        <p:spPr>
          <a:xfrm flipV="true">
            <a:off x="5617266" y="7523275"/>
            <a:ext cx="980995" cy="442071"/>
          </a:xfrm>
          <a:prstGeom prst="line">
            <a:avLst/>
          </a:prstGeom>
          <a:ln cap="rnd" w="9525">
            <a:solidFill>
              <a:srgbClr val="6E7C7A"/>
            </a:solidFill>
            <a:prstDash val="solid"/>
            <a:headEnd type="none" len="sm" w="sm"/>
            <a:tailEnd type="none" len="sm" w="sm"/>
          </a:ln>
        </p:spPr>
      </p:sp>
      <p:sp>
        <p:nvSpPr>
          <p:cNvPr name="AutoShape 117" id="117"/>
          <p:cNvSpPr/>
          <p:nvPr/>
        </p:nvSpPr>
        <p:spPr>
          <a:xfrm flipV="true">
            <a:off x="5617266" y="7016512"/>
            <a:ext cx="279508" cy="948830"/>
          </a:xfrm>
          <a:prstGeom prst="line">
            <a:avLst/>
          </a:prstGeom>
          <a:ln cap="rnd" w="9525">
            <a:solidFill>
              <a:srgbClr val="6E7C7A"/>
            </a:solidFill>
            <a:prstDash val="solid"/>
            <a:headEnd type="none" len="sm" w="sm"/>
            <a:tailEnd type="none" len="sm" w="sm"/>
          </a:ln>
        </p:spPr>
      </p:sp>
      <p:sp>
        <p:nvSpPr>
          <p:cNvPr name="AutoShape 118" id="118"/>
          <p:cNvSpPr/>
          <p:nvPr/>
        </p:nvSpPr>
        <p:spPr>
          <a:xfrm>
            <a:off x="5617263" y="7951053"/>
            <a:ext cx="714548" cy="563304"/>
          </a:xfrm>
          <a:prstGeom prst="line">
            <a:avLst/>
          </a:prstGeom>
          <a:ln cap="rnd" w="9525">
            <a:solidFill>
              <a:srgbClr val="6E7C7A"/>
            </a:solidFill>
            <a:prstDash val="solid"/>
            <a:headEnd type="none" len="sm" w="sm"/>
            <a:tailEnd type="none" len="sm" w="sm"/>
          </a:ln>
        </p:spPr>
      </p:sp>
      <p:sp>
        <p:nvSpPr>
          <p:cNvPr name="AutoShape 119" id="119"/>
          <p:cNvSpPr/>
          <p:nvPr/>
        </p:nvSpPr>
        <p:spPr>
          <a:xfrm flipV="true">
            <a:off x="10079500" y="6632051"/>
            <a:ext cx="632656" cy="992842"/>
          </a:xfrm>
          <a:prstGeom prst="line">
            <a:avLst/>
          </a:prstGeom>
          <a:ln cap="rnd" w="9525">
            <a:solidFill>
              <a:srgbClr val="6E7C7A"/>
            </a:solidFill>
            <a:prstDash val="solid"/>
            <a:headEnd type="none" len="sm" w="sm"/>
            <a:tailEnd type="none" len="sm" w="sm"/>
          </a:ln>
        </p:spPr>
      </p:sp>
      <p:sp>
        <p:nvSpPr>
          <p:cNvPr name="AutoShape 120" id="120"/>
          <p:cNvSpPr/>
          <p:nvPr/>
        </p:nvSpPr>
        <p:spPr>
          <a:xfrm>
            <a:off x="9562538" y="7064830"/>
            <a:ext cx="531238" cy="560062"/>
          </a:xfrm>
          <a:prstGeom prst="line">
            <a:avLst/>
          </a:prstGeom>
          <a:ln cap="rnd" w="9525">
            <a:solidFill>
              <a:srgbClr val="6E7C7A"/>
            </a:solidFill>
            <a:prstDash val="solid"/>
            <a:headEnd type="none" len="sm" w="sm"/>
            <a:tailEnd type="none" len="sm" w="sm"/>
          </a:ln>
        </p:spPr>
      </p:sp>
      <p:sp>
        <p:nvSpPr>
          <p:cNvPr name="AutoShape 121" id="121"/>
          <p:cNvSpPr/>
          <p:nvPr/>
        </p:nvSpPr>
        <p:spPr>
          <a:xfrm flipV="true">
            <a:off x="9401967" y="7610597"/>
            <a:ext cx="691818" cy="257560"/>
          </a:xfrm>
          <a:prstGeom prst="line">
            <a:avLst/>
          </a:prstGeom>
          <a:ln cap="rnd" w="9525">
            <a:solidFill>
              <a:srgbClr val="6E7C7A"/>
            </a:solidFill>
            <a:prstDash val="solid"/>
            <a:headEnd type="none" len="sm" w="sm"/>
            <a:tailEnd type="none" len="sm" w="sm"/>
          </a:ln>
        </p:spPr>
      </p:sp>
      <p:sp>
        <p:nvSpPr>
          <p:cNvPr name="AutoShape 122" id="122"/>
          <p:cNvSpPr/>
          <p:nvPr/>
        </p:nvSpPr>
        <p:spPr>
          <a:xfrm>
            <a:off x="10079491" y="7610595"/>
            <a:ext cx="660059" cy="382761"/>
          </a:xfrm>
          <a:prstGeom prst="line">
            <a:avLst/>
          </a:prstGeom>
          <a:ln cap="rnd" w="9525">
            <a:solidFill>
              <a:srgbClr val="6E7C7A"/>
            </a:solidFill>
            <a:prstDash val="solid"/>
            <a:headEnd type="none" len="sm" w="sm"/>
            <a:tailEnd type="none" len="sm" w="sm"/>
          </a:ln>
        </p:spPr>
      </p:sp>
      <p:sp>
        <p:nvSpPr>
          <p:cNvPr name="AutoShape 123" id="123"/>
          <p:cNvSpPr/>
          <p:nvPr/>
        </p:nvSpPr>
        <p:spPr>
          <a:xfrm flipV="true">
            <a:off x="9824667" y="7610598"/>
            <a:ext cx="269118" cy="816941"/>
          </a:xfrm>
          <a:prstGeom prst="line">
            <a:avLst/>
          </a:prstGeom>
          <a:ln cap="rnd" w="9525">
            <a:solidFill>
              <a:srgbClr val="6E7C7A"/>
            </a:solidFill>
            <a:prstDash val="solid"/>
            <a:headEnd type="none" len="sm" w="sm"/>
            <a:tailEnd type="none" len="sm" w="sm"/>
          </a:ln>
        </p:spPr>
      </p:sp>
      <p:sp>
        <p:nvSpPr>
          <p:cNvPr name="AutoShape 124" id="124"/>
          <p:cNvSpPr/>
          <p:nvPr/>
        </p:nvSpPr>
        <p:spPr>
          <a:xfrm>
            <a:off x="5882489" y="7016507"/>
            <a:ext cx="715773" cy="521052"/>
          </a:xfrm>
          <a:prstGeom prst="line">
            <a:avLst/>
          </a:prstGeom>
          <a:ln cap="rnd" w="9525">
            <a:solidFill>
              <a:srgbClr val="6E7C7A"/>
            </a:solidFill>
            <a:prstDash val="solid"/>
            <a:headEnd type="none" len="sm" w="sm"/>
            <a:tailEnd type="none" len="sm" w="sm"/>
          </a:ln>
        </p:spPr>
      </p:sp>
      <p:sp>
        <p:nvSpPr>
          <p:cNvPr name="AutoShape 125" id="125"/>
          <p:cNvSpPr/>
          <p:nvPr/>
        </p:nvSpPr>
        <p:spPr>
          <a:xfrm>
            <a:off x="6583968" y="7523272"/>
            <a:ext cx="514735" cy="760861"/>
          </a:xfrm>
          <a:prstGeom prst="line">
            <a:avLst/>
          </a:prstGeom>
          <a:ln cap="rnd" w="9525">
            <a:solidFill>
              <a:srgbClr val="6E7C7A"/>
            </a:solidFill>
            <a:prstDash val="solid"/>
            <a:headEnd type="none" len="sm" w="sm"/>
            <a:tailEnd type="none" len="sm" w="sm"/>
          </a:ln>
        </p:spPr>
      </p:sp>
      <p:sp>
        <p:nvSpPr>
          <p:cNvPr name="AutoShape 126" id="126"/>
          <p:cNvSpPr/>
          <p:nvPr/>
        </p:nvSpPr>
        <p:spPr>
          <a:xfrm flipV="true">
            <a:off x="6583970" y="7156911"/>
            <a:ext cx="760658" cy="380644"/>
          </a:xfrm>
          <a:prstGeom prst="line">
            <a:avLst/>
          </a:prstGeom>
          <a:ln cap="rnd" w="9525">
            <a:solidFill>
              <a:srgbClr val="6E7C7A"/>
            </a:solidFill>
            <a:prstDash val="solid"/>
            <a:headEnd type="none" len="sm" w="sm"/>
            <a:tailEnd type="none" len="sm" w="sm"/>
          </a:ln>
        </p:spPr>
      </p:sp>
      <p:sp>
        <p:nvSpPr>
          <p:cNvPr name="AutoShape 127" id="127"/>
          <p:cNvSpPr/>
          <p:nvPr/>
        </p:nvSpPr>
        <p:spPr>
          <a:xfrm flipV="true">
            <a:off x="6317529" y="7523272"/>
            <a:ext cx="280728" cy="991080"/>
          </a:xfrm>
          <a:prstGeom prst="line">
            <a:avLst/>
          </a:prstGeom>
          <a:ln cap="rnd" w="9525">
            <a:solidFill>
              <a:srgbClr val="6E7C7A"/>
            </a:solidFill>
            <a:prstDash val="solid"/>
            <a:headEnd type="none" len="sm" w="sm"/>
            <a:tailEnd type="none" len="sm" w="sm"/>
          </a:ln>
        </p:spPr>
      </p:sp>
      <p:sp>
        <p:nvSpPr>
          <p:cNvPr name="AutoShape 128" id="128"/>
          <p:cNvSpPr/>
          <p:nvPr/>
        </p:nvSpPr>
        <p:spPr>
          <a:xfrm flipV="true">
            <a:off x="9562533" y="6632049"/>
            <a:ext cx="1149620" cy="447063"/>
          </a:xfrm>
          <a:prstGeom prst="line">
            <a:avLst/>
          </a:prstGeom>
          <a:ln cap="rnd" w="9525">
            <a:solidFill>
              <a:srgbClr val="6E7C7A"/>
            </a:solidFill>
            <a:prstDash val="solid"/>
            <a:headEnd type="none" len="sm" w="sm"/>
            <a:tailEnd type="none" len="sm" w="sm"/>
          </a:ln>
        </p:spPr>
      </p:sp>
      <p:sp>
        <p:nvSpPr>
          <p:cNvPr name="AutoShape 129" id="129"/>
          <p:cNvSpPr/>
          <p:nvPr/>
        </p:nvSpPr>
        <p:spPr>
          <a:xfrm>
            <a:off x="9574358" y="6135203"/>
            <a:ext cx="1137801" cy="511133"/>
          </a:xfrm>
          <a:prstGeom prst="line">
            <a:avLst/>
          </a:prstGeom>
          <a:ln cap="rnd" w="9525">
            <a:solidFill>
              <a:srgbClr val="6E7C7A"/>
            </a:solidFill>
            <a:prstDash val="solid"/>
            <a:headEnd type="none" len="sm" w="sm"/>
            <a:tailEnd type="none" len="sm" w="sm"/>
          </a:ln>
        </p:spPr>
      </p:sp>
      <p:sp>
        <p:nvSpPr>
          <p:cNvPr name="AutoShape 130" id="130"/>
          <p:cNvSpPr/>
          <p:nvPr/>
        </p:nvSpPr>
        <p:spPr>
          <a:xfrm>
            <a:off x="7932390" y="7856513"/>
            <a:ext cx="329283" cy="719847"/>
          </a:xfrm>
          <a:prstGeom prst="line">
            <a:avLst/>
          </a:prstGeom>
          <a:ln cap="rnd" w="9525">
            <a:solidFill>
              <a:srgbClr val="6E7C7A"/>
            </a:solidFill>
            <a:prstDash val="solid"/>
            <a:headEnd type="none" len="sm" w="sm"/>
            <a:tailEnd type="none" len="sm" w="sm"/>
          </a:ln>
        </p:spPr>
      </p:sp>
      <p:sp>
        <p:nvSpPr>
          <p:cNvPr name="AutoShape 131" id="131"/>
          <p:cNvSpPr/>
          <p:nvPr/>
        </p:nvSpPr>
        <p:spPr>
          <a:xfrm flipV="true">
            <a:off x="7084422" y="7856514"/>
            <a:ext cx="862262" cy="427618"/>
          </a:xfrm>
          <a:prstGeom prst="line">
            <a:avLst/>
          </a:prstGeom>
          <a:ln cap="rnd" w="9525">
            <a:solidFill>
              <a:srgbClr val="6E7C7A"/>
            </a:solidFill>
            <a:prstDash val="solid"/>
            <a:headEnd type="none" len="sm" w="sm"/>
            <a:tailEnd type="none" len="sm" w="sm"/>
          </a:ln>
        </p:spPr>
      </p:sp>
      <p:sp>
        <p:nvSpPr>
          <p:cNvPr name="AutoShape 132" id="132"/>
          <p:cNvSpPr/>
          <p:nvPr/>
        </p:nvSpPr>
        <p:spPr>
          <a:xfrm flipV="true">
            <a:off x="7932398" y="7258782"/>
            <a:ext cx="499278" cy="612022"/>
          </a:xfrm>
          <a:prstGeom prst="line">
            <a:avLst/>
          </a:prstGeom>
          <a:ln cap="rnd" w="9525">
            <a:solidFill>
              <a:srgbClr val="6E7C7A"/>
            </a:solidFill>
            <a:prstDash val="solid"/>
            <a:headEnd type="none" len="sm" w="sm"/>
            <a:tailEnd type="none" len="sm" w="sm"/>
          </a:ln>
        </p:spPr>
      </p:sp>
      <p:sp>
        <p:nvSpPr>
          <p:cNvPr name="AutoShape 133" id="133"/>
          <p:cNvSpPr/>
          <p:nvPr/>
        </p:nvSpPr>
        <p:spPr>
          <a:xfrm>
            <a:off x="7330342" y="7156911"/>
            <a:ext cx="616340" cy="713885"/>
          </a:xfrm>
          <a:prstGeom prst="line">
            <a:avLst/>
          </a:prstGeom>
          <a:ln cap="rnd" w="9525">
            <a:solidFill>
              <a:srgbClr val="6E7C7A"/>
            </a:solidFill>
            <a:prstDash val="solid"/>
            <a:headEnd type="none" len="sm" w="sm"/>
            <a:tailEnd type="none" len="sm" w="sm"/>
          </a:ln>
        </p:spPr>
      </p:sp>
      <p:sp>
        <p:nvSpPr>
          <p:cNvPr name="AutoShape 134" id="134"/>
          <p:cNvSpPr/>
          <p:nvPr/>
        </p:nvSpPr>
        <p:spPr>
          <a:xfrm flipV="true">
            <a:off x="5882486" y="6286866"/>
            <a:ext cx="379298" cy="743933"/>
          </a:xfrm>
          <a:prstGeom prst="line">
            <a:avLst/>
          </a:prstGeom>
          <a:ln cap="rnd" w="9525">
            <a:solidFill>
              <a:srgbClr val="6E7C7A"/>
            </a:solidFill>
            <a:prstDash val="solid"/>
            <a:headEnd type="none" len="sm" w="sm"/>
            <a:tailEnd type="none" len="sm" w="sm"/>
          </a:ln>
        </p:spPr>
      </p:sp>
      <p:sp>
        <p:nvSpPr>
          <p:cNvPr name="AutoShape 135" id="135"/>
          <p:cNvSpPr/>
          <p:nvPr/>
        </p:nvSpPr>
        <p:spPr>
          <a:xfrm flipV="true">
            <a:off x="6247497" y="6192145"/>
            <a:ext cx="779360" cy="109005"/>
          </a:xfrm>
          <a:prstGeom prst="line">
            <a:avLst/>
          </a:prstGeom>
          <a:ln cap="rnd" w="9525">
            <a:solidFill>
              <a:srgbClr val="6E7C7A"/>
            </a:solidFill>
            <a:prstDash val="solid"/>
            <a:headEnd type="none" len="sm" w="sm"/>
            <a:tailEnd type="none" len="sm" w="sm"/>
          </a:ln>
        </p:spPr>
      </p:sp>
      <p:sp>
        <p:nvSpPr>
          <p:cNvPr name="AutoShape 136" id="136"/>
          <p:cNvSpPr/>
          <p:nvPr/>
        </p:nvSpPr>
        <p:spPr>
          <a:xfrm flipV="true">
            <a:off x="9562533" y="6135200"/>
            <a:ext cx="26119" cy="943919"/>
          </a:xfrm>
          <a:prstGeom prst="line">
            <a:avLst/>
          </a:prstGeom>
          <a:ln cap="rnd" w="9525">
            <a:solidFill>
              <a:srgbClr val="6E7C7A"/>
            </a:solidFill>
            <a:prstDash val="solid"/>
            <a:headEnd type="none" len="sm" w="sm"/>
            <a:tailEnd type="none" len="sm" w="sm"/>
          </a:ln>
        </p:spPr>
      </p:sp>
      <p:sp>
        <p:nvSpPr>
          <p:cNvPr name="AutoShape 137" id="137"/>
          <p:cNvSpPr/>
          <p:nvPr/>
        </p:nvSpPr>
        <p:spPr>
          <a:xfrm flipV="true">
            <a:off x="9401965" y="7064830"/>
            <a:ext cx="174861" cy="803330"/>
          </a:xfrm>
          <a:prstGeom prst="line">
            <a:avLst/>
          </a:prstGeom>
          <a:ln cap="rnd" w="9525">
            <a:solidFill>
              <a:srgbClr val="6E7C7A"/>
            </a:solidFill>
            <a:prstDash val="solid"/>
            <a:headEnd type="none" len="sm" w="sm"/>
            <a:tailEnd type="none" len="sm" w="sm"/>
          </a:ln>
        </p:spPr>
      </p:sp>
      <p:sp>
        <p:nvSpPr>
          <p:cNvPr name="AutoShape 138" id="138"/>
          <p:cNvSpPr/>
          <p:nvPr/>
        </p:nvSpPr>
        <p:spPr>
          <a:xfrm flipV="true">
            <a:off x="8417384" y="7064833"/>
            <a:ext cx="1159443" cy="208241"/>
          </a:xfrm>
          <a:prstGeom prst="line">
            <a:avLst/>
          </a:prstGeom>
          <a:ln cap="rnd" w="9525">
            <a:solidFill>
              <a:srgbClr val="6E7C7A"/>
            </a:solidFill>
            <a:prstDash val="solid"/>
            <a:headEnd type="none" len="sm" w="sm"/>
            <a:tailEnd type="none" len="sm" w="sm"/>
          </a:ln>
        </p:spPr>
      </p:sp>
      <p:sp>
        <p:nvSpPr>
          <p:cNvPr name="AutoShape 139" id="139"/>
          <p:cNvSpPr/>
          <p:nvPr/>
        </p:nvSpPr>
        <p:spPr>
          <a:xfrm>
            <a:off x="8942442" y="6472407"/>
            <a:ext cx="634374" cy="606708"/>
          </a:xfrm>
          <a:prstGeom prst="line">
            <a:avLst/>
          </a:prstGeom>
          <a:ln cap="rnd" w="9525">
            <a:solidFill>
              <a:srgbClr val="6E7C7A"/>
            </a:solidFill>
            <a:prstDash val="solid"/>
            <a:headEnd type="none" len="sm" w="sm"/>
            <a:tailEnd type="none" len="sm" w="sm"/>
          </a:ln>
        </p:spPr>
      </p:sp>
      <p:sp>
        <p:nvSpPr>
          <p:cNvPr name="AutoShape 140" id="140"/>
          <p:cNvSpPr/>
          <p:nvPr/>
        </p:nvSpPr>
        <p:spPr>
          <a:xfrm flipV="true">
            <a:off x="8942448" y="6135200"/>
            <a:ext cx="646202" cy="351502"/>
          </a:xfrm>
          <a:prstGeom prst="line">
            <a:avLst/>
          </a:prstGeom>
          <a:ln cap="rnd" w="9525">
            <a:solidFill>
              <a:srgbClr val="6E7C7A"/>
            </a:solidFill>
            <a:prstDash val="solid"/>
            <a:headEnd type="none" len="sm" w="sm"/>
            <a:tailEnd type="none" len="sm" w="sm"/>
          </a:ln>
        </p:spPr>
      </p:sp>
      <p:sp>
        <p:nvSpPr>
          <p:cNvPr name="AutoShape 141" id="141"/>
          <p:cNvSpPr/>
          <p:nvPr/>
        </p:nvSpPr>
        <p:spPr>
          <a:xfrm>
            <a:off x="8417388" y="7258780"/>
            <a:ext cx="998871" cy="609379"/>
          </a:xfrm>
          <a:prstGeom prst="line">
            <a:avLst/>
          </a:prstGeom>
          <a:ln cap="rnd" w="9525">
            <a:solidFill>
              <a:srgbClr val="6E7C7A"/>
            </a:solidFill>
            <a:prstDash val="solid"/>
            <a:headEnd type="none" len="sm" w="sm"/>
            <a:tailEnd type="none" len="sm" w="sm"/>
          </a:ln>
        </p:spPr>
      </p:sp>
      <p:sp>
        <p:nvSpPr>
          <p:cNvPr name="AutoShape 142" id="142"/>
          <p:cNvSpPr/>
          <p:nvPr/>
        </p:nvSpPr>
        <p:spPr>
          <a:xfrm>
            <a:off x="9401959" y="7853873"/>
            <a:ext cx="436981" cy="573661"/>
          </a:xfrm>
          <a:prstGeom prst="line">
            <a:avLst/>
          </a:prstGeom>
          <a:ln cap="rnd" w="9525">
            <a:solidFill>
              <a:srgbClr val="6E7C7A"/>
            </a:solidFill>
            <a:prstDash val="solid"/>
            <a:headEnd type="none" len="sm" w="sm"/>
            <a:tailEnd type="none" len="sm" w="sm"/>
          </a:ln>
        </p:spPr>
      </p:sp>
      <p:sp>
        <p:nvSpPr>
          <p:cNvPr name="AutoShape 143" id="143"/>
          <p:cNvSpPr/>
          <p:nvPr/>
        </p:nvSpPr>
        <p:spPr>
          <a:xfrm>
            <a:off x="7084422" y="8269841"/>
            <a:ext cx="1177245" cy="306518"/>
          </a:xfrm>
          <a:prstGeom prst="line">
            <a:avLst/>
          </a:prstGeom>
          <a:ln cap="rnd" w="9525">
            <a:solidFill>
              <a:srgbClr val="6E7C7A"/>
            </a:solidFill>
            <a:prstDash val="solid"/>
            <a:headEnd type="none" len="sm" w="sm"/>
            <a:tailEnd type="none" len="sm" w="sm"/>
          </a:ln>
        </p:spPr>
      </p:sp>
      <p:sp>
        <p:nvSpPr>
          <p:cNvPr name="AutoShape 144" id="144"/>
          <p:cNvSpPr/>
          <p:nvPr/>
        </p:nvSpPr>
        <p:spPr>
          <a:xfrm flipV="true">
            <a:off x="7084427" y="7156908"/>
            <a:ext cx="260197" cy="1127218"/>
          </a:xfrm>
          <a:prstGeom prst="line">
            <a:avLst/>
          </a:prstGeom>
          <a:ln cap="rnd" w="9525">
            <a:solidFill>
              <a:srgbClr val="6E7C7A"/>
            </a:solidFill>
            <a:prstDash val="solid"/>
            <a:headEnd type="none" len="sm" w="sm"/>
            <a:tailEnd type="none" len="sm" w="sm"/>
          </a:ln>
        </p:spPr>
      </p:sp>
      <p:sp>
        <p:nvSpPr>
          <p:cNvPr name="AutoShape 145" id="145"/>
          <p:cNvSpPr/>
          <p:nvPr/>
        </p:nvSpPr>
        <p:spPr>
          <a:xfrm flipV="true">
            <a:off x="6317530" y="8269843"/>
            <a:ext cx="781179" cy="244507"/>
          </a:xfrm>
          <a:prstGeom prst="line">
            <a:avLst/>
          </a:prstGeom>
          <a:ln cap="rnd" w="9525">
            <a:solidFill>
              <a:srgbClr val="6E7C7A"/>
            </a:solidFill>
            <a:prstDash val="solid"/>
            <a:headEnd type="none" len="sm" w="sm"/>
            <a:tailEnd type="none" len="sm" w="sm"/>
          </a:ln>
        </p:spPr>
      </p:sp>
      <p:sp>
        <p:nvSpPr>
          <p:cNvPr name="AutoShape 146" id="146"/>
          <p:cNvSpPr/>
          <p:nvPr/>
        </p:nvSpPr>
        <p:spPr>
          <a:xfrm flipV="true">
            <a:off x="9824660" y="7979071"/>
            <a:ext cx="914897" cy="448461"/>
          </a:xfrm>
          <a:prstGeom prst="line">
            <a:avLst/>
          </a:prstGeom>
          <a:ln cap="rnd" w="9525">
            <a:solidFill>
              <a:srgbClr val="6E7C7A"/>
            </a:solidFill>
            <a:prstDash val="solid"/>
            <a:headEnd type="none" len="sm" w="sm"/>
            <a:tailEnd type="none" len="sm" w="sm"/>
          </a:ln>
        </p:spPr>
      </p:sp>
      <p:sp>
        <p:nvSpPr>
          <p:cNvPr name="AutoShape 147" id="147"/>
          <p:cNvSpPr/>
          <p:nvPr/>
        </p:nvSpPr>
        <p:spPr>
          <a:xfrm>
            <a:off x="8264539" y="6139049"/>
            <a:ext cx="167133" cy="1134017"/>
          </a:xfrm>
          <a:prstGeom prst="line">
            <a:avLst/>
          </a:prstGeom>
          <a:ln cap="rnd" w="9525">
            <a:solidFill>
              <a:srgbClr val="6E7C7A"/>
            </a:solidFill>
            <a:prstDash val="solid"/>
            <a:headEnd type="none" len="sm" w="sm"/>
            <a:tailEnd type="none" len="sm" w="sm"/>
          </a:ln>
        </p:spPr>
      </p:sp>
      <p:sp>
        <p:nvSpPr>
          <p:cNvPr name="AutoShape 148" id="148"/>
          <p:cNvSpPr/>
          <p:nvPr/>
        </p:nvSpPr>
        <p:spPr>
          <a:xfrm>
            <a:off x="7330342" y="7156906"/>
            <a:ext cx="1101334" cy="116163"/>
          </a:xfrm>
          <a:prstGeom prst="line">
            <a:avLst/>
          </a:prstGeom>
          <a:ln cap="rnd" w="9525">
            <a:solidFill>
              <a:srgbClr val="6E7C7A"/>
            </a:solidFill>
            <a:prstDash val="solid"/>
            <a:headEnd type="none" len="sm" w="sm"/>
            <a:tailEnd type="none" len="sm" w="sm"/>
          </a:ln>
        </p:spPr>
      </p:sp>
      <p:sp>
        <p:nvSpPr>
          <p:cNvPr name="AutoShape 149" id="149"/>
          <p:cNvSpPr/>
          <p:nvPr/>
        </p:nvSpPr>
        <p:spPr>
          <a:xfrm flipV="true">
            <a:off x="8417385" y="6472403"/>
            <a:ext cx="539343" cy="800664"/>
          </a:xfrm>
          <a:prstGeom prst="line">
            <a:avLst/>
          </a:prstGeom>
          <a:ln cap="rnd" w="9525">
            <a:solidFill>
              <a:srgbClr val="6E7C7A"/>
            </a:solidFill>
            <a:prstDash val="solid"/>
            <a:headEnd type="none" len="sm" w="sm"/>
            <a:tailEnd type="none" len="sm" w="sm"/>
          </a:ln>
        </p:spPr>
      </p:sp>
      <p:sp>
        <p:nvSpPr>
          <p:cNvPr name="AutoShape 150" id="150"/>
          <p:cNvSpPr/>
          <p:nvPr/>
        </p:nvSpPr>
        <p:spPr>
          <a:xfrm>
            <a:off x="8264538" y="6139057"/>
            <a:ext cx="692190" cy="347636"/>
          </a:xfrm>
          <a:prstGeom prst="line">
            <a:avLst/>
          </a:prstGeom>
          <a:ln cap="rnd" w="9525">
            <a:solidFill>
              <a:srgbClr val="6E7C7A"/>
            </a:solidFill>
            <a:prstDash val="solid"/>
            <a:headEnd type="none" len="sm" w="sm"/>
            <a:tailEnd type="none" len="sm" w="sm"/>
          </a:ln>
        </p:spPr>
      </p:sp>
      <p:sp>
        <p:nvSpPr>
          <p:cNvPr name="AutoShape 151" id="151"/>
          <p:cNvSpPr/>
          <p:nvPr/>
        </p:nvSpPr>
        <p:spPr>
          <a:xfrm>
            <a:off x="7012565" y="6192150"/>
            <a:ext cx="332056" cy="979046"/>
          </a:xfrm>
          <a:prstGeom prst="line">
            <a:avLst/>
          </a:prstGeom>
          <a:ln cap="rnd" w="9525">
            <a:solidFill>
              <a:srgbClr val="6E7C7A"/>
            </a:solidFill>
            <a:prstDash val="solid"/>
            <a:headEnd type="none" len="sm" w="sm"/>
            <a:tailEnd type="none" len="sm" w="sm"/>
          </a:ln>
        </p:spPr>
      </p:sp>
      <p:sp>
        <p:nvSpPr>
          <p:cNvPr name="AutoShape 152" id="152"/>
          <p:cNvSpPr/>
          <p:nvPr/>
        </p:nvSpPr>
        <p:spPr>
          <a:xfrm flipV="true">
            <a:off x="12961910" y="7156911"/>
            <a:ext cx="760658" cy="380644"/>
          </a:xfrm>
          <a:prstGeom prst="line">
            <a:avLst/>
          </a:prstGeom>
          <a:ln cap="rnd" w="9525">
            <a:solidFill>
              <a:srgbClr val="6E7C7A"/>
            </a:solidFill>
            <a:prstDash val="solid"/>
            <a:headEnd type="none" len="sm" w="sm"/>
            <a:tailEnd type="none" len="sm" w="sm"/>
          </a:ln>
        </p:spPr>
      </p:sp>
      <p:grpSp>
        <p:nvGrpSpPr>
          <p:cNvPr name="Group 153" id="153"/>
          <p:cNvGrpSpPr/>
          <p:nvPr/>
        </p:nvGrpSpPr>
        <p:grpSpPr>
          <a:xfrm rot="0">
            <a:off x="5535254" y="7869041"/>
            <a:ext cx="178308" cy="178308"/>
            <a:chOff x="0" y="0"/>
            <a:chExt cx="237744" cy="237744"/>
          </a:xfrm>
        </p:grpSpPr>
        <p:sp>
          <p:nvSpPr>
            <p:cNvPr name="Freeform 154" id="154"/>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55" id="155"/>
          <p:cNvGrpSpPr/>
          <p:nvPr/>
        </p:nvGrpSpPr>
        <p:grpSpPr>
          <a:xfrm rot="0">
            <a:off x="9997478" y="7528589"/>
            <a:ext cx="178308" cy="178308"/>
            <a:chOff x="0" y="0"/>
            <a:chExt cx="237744" cy="237744"/>
          </a:xfrm>
        </p:grpSpPr>
        <p:sp>
          <p:nvSpPr>
            <p:cNvPr name="Freeform 156" id="156"/>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57" id="157"/>
          <p:cNvGrpSpPr/>
          <p:nvPr/>
        </p:nvGrpSpPr>
        <p:grpSpPr>
          <a:xfrm rot="0">
            <a:off x="6501956" y="7441263"/>
            <a:ext cx="178308" cy="178308"/>
            <a:chOff x="0" y="0"/>
            <a:chExt cx="237744" cy="237744"/>
          </a:xfrm>
        </p:grpSpPr>
        <p:sp>
          <p:nvSpPr>
            <p:cNvPr name="Freeform 158" id="15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59" id="159"/>
          <p:cNvGrpSpPr/>
          <p:nvPr/>
        </p:nvGrpSpPr>
        <p:grpSpPr>
          <a:xfrm rot="0">
            <a:off x="10615860" y="6550038"/>
            <a:ext cx="178308" cy="178308"/>
            <a:chOff x="0" y="0"/>
            <a:chExt cx="237744" cy="237744"/>
          </a:xfrm>
        </p:grpSpPr>
        <p:sp>
          <p:nvSpPr>
            <p:cNvPr name="Freeform 160" id="16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61" id="161"/>
          <p:cNvGrpSpPr/>
          <p:nvPr/>
        </p:nvGrpSpPr>
        <p:grpSpPr>
          <a:xfrm rot="0">
            <a:off x="7850381" y="7774496"/>
            <a:ext cx="178308" cy="178308"/>
            <a:chOff x="0" y="0"/>
            <a:chExt cx="237744" cy="237744"/>
          </a:xfrm>
        </p:grpSpPr>
        <p:sp>
          <p:nvSpPr>
            <p:cNvPr name="Freeform 162" id="162"/>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63" id="163"/>
          <p:cNvGrpSpPr/>
          <p:nvPr/>
        </p:nvGrpSpPr>
        <p:grpSpPr>
          <a:xfrm rot="0">
            <a:off x="6165485" y="6204852"/>
            <a:ext cx="178308" cy="178308"/>
            <a:chOff x="0" y="0"/>
            <a:chExt cx="237744" cy="237744"/>
          </a:xfrm>
        </p:grpSpPr>
        <p:sp>
          <p:nvSpPr>
            <p:cNvPr name="Freeform 164" id="164"/>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65" id="165"/>
          <p:cNvGrpSpPr/>
          <p:nvPr/>
        </p:nvGrpSpPr>
        <p:grpSpPr>
          <a:xfrm rot="0">
            <a:off x="5800477" y="6934505"/>
            <a:ext cx="178308" cy="178308"/>
            <a:chOff x="0" y="0"/>
            <a:chExt cx="237744" cy="237744"/>
          </a:xfrm>
        </p:grpSpPr>
        <p:sp>
          <p:nvSpPr>
            <p:cNvPr name="Freeform 166" id="166"/>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67" id="167"/>
          <p:cNvGrpSpPr/>
          <p:nvPr/>
        </p:nvGrpSpPr>
        <p:grpSpPr>
          <a:xfrm rot="0">
            <a:off x="9480528" y="6982816"/>
            <a:ext cx="178308" cy="178308"/>
            <a:chOff x="0" y="0"/>
            <a:chExt cx="237744" cy="237744"/>
          </a:xfrm>
        </p:grpSpPr>
        <p:sp>
          <p:nvSpPr>
            <p:cNvPr name="Freeform 168" id="16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69" id="169"/>
          <p:cNvGrpSpPr/>
          <p:nvPr/>
        </p:nvGrpSpPr>
        <p:grpSpPr>
          <a:xfrm rot="0">
            <a:off x="9492358" y="6053185"/>
            <a:ext cx="178308" cy="178308"/>
            <a:chOff x="0" y="0"/>
            <a:chExt cx="237744" cy="237744"/>
          </a:xfrm>
        </p:grpSpPr>
        <p:sp>
          <p:nvSpPr>
            <p:cNvPr name="Freeform 170" id="17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71" id="171"/>
          <p:cNvGrpSpPr/>
          <p:nvPr/>
        </p:nvGrpSpPr>
        <p:grpSpPr>
          <a:xfrm rot="0">
            <a:off x="9319955" y="7771867"/>
            <a:ext cx="178308" cy="178308"/>
            <a:chOff x="0" y="0"/>
            <a:chExt cx="237744" cy="237744"/>
          </a:xfrm>
        </p:grpSpPr>
        <p:sp>
          <p:nvSpPr>
            <p:cNvPr name="Freeform 172" id="172"/>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73" id="173"/>
          <p:cNvGrpSpPr/>
          <p:nvPr/>
        </p:nvGrpSpPr>
        <p:grpSpPr>
          <a:xfrm rot="0">
            <a:off x="8165373" y="8480060"/>
            <a:ext cx="178308" cy="178308"/>
            <a:chOff x="0" y="0"/>
            <a:chExt cx="237744" cy="237744"/>
          </a:xfrm>
        </p:grpSpPr>
        <p:sp>
          <p:nvSpPr>
            <p:cNvPr name="Freeform 174" id="174"/>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75" id="175"/>
          <p:cNvGrpSpPr/>
          <p:nvPr/>
        </p:nvGrpSpPr>
        <p:grpSpPr>
          <a:xfrm rot="0">
            <a:off x="7002409" y="8187833"/>
            <a:ext cx="178308" cy="178308"/>
            <a:chOff x="0" y="0"/>
            <a:chExt cx="237744" cy="237744"/>
          </a:xfrm>
        </p:grpSpPr>
        <p:sp>
          <p:nvSpPr>
            <p:cNvPr name="Freeform 176" id="176"/>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77" id="177"/>
          <p:cNvGrpSpPr/>
          <p:nvPr/>
        </p:nvGrpSpPr>
        <p:grpSpPr>
          <a:xfrm rot="0">
            <a:off x="10643254" y="7897063"/>
            <a:ext cx="178308" cy="178308"/>
            <a:chOff x="0" y="0"/>
            <a:chExt cx="237744" cy="237744"/>
          </a:xfrm>
        </p:grpSpPr>
        <p:sp>
          <p:nvSpPr>
            <p:cNvPr name="Freeform 178" id="17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79" id="179"/>
          <p:cNvGrpSpPr/>
          <p:nvPr/>
        </p:nvGrpSpPr>
        <p:grpSpPr>
          <a:xfrm rot="0">
            <a:off x="8335375" y="7176773"/>
            <a:ext cx="178308" cy="178308"/>
            <a:chOff x="0" y="0"/>
            <a:chExt cx="237744" cy="237744"/>
          </a:xfrm>
        </p:grpSpPr>
        <p:sp>
          <p:nvSpPr>
            <p:cNvPr name="Freeform 180" id="18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81" id="181"/>
          <p:cNvGrpSpPr/>
          <p:nvPr/>
        </p:nvGrpSpPr>
        <p:grpSpPr>
          <a:xfrm rot="0">
            <a:off x="8182527" y="6057043"/>
            <a:ext cx="178308" cy="178308"/>
            <a:chOff x="0" y="0"/>
            <a:chExt cx="237744" cy="237744"/>
          </a:xfrm>
        </p:grpSpPr>
        <p:sp>
          <p:nvSpPr>
            <p:cNvPr name="Freeform 182" id="182"/>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83" id="183"/>
          <p:cNvGrpSpPr/>
          <p:nvPr/>
        </p:nvGrpSpPr>
        <p:grpSpPr>
          <a:xfrm rot="0">
            <a:off x="7248334" y="7074903"/>
            <a:ext cx="178308" cy="178308"/>
            <a:chOff x="0" y="0"/>
            <a:chExt cx="237744" cy="237744"/>
          </a:xfrm>
        </p:grpSpPr>
        <p:sp>
          <p:nvSpPr>
            <p:cNvPr name="Freeform 184" id="184"/>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85" id="185"/>
          <p:cNvGrpSpPr/>
          <p:nvPr/>
        </p:nvGrpSpPr>
        <p:grpSpPr>
          <a:xfrm rot="0">
            <a:off x="8860431" y="6390399"/>
            <a:ext cx="178308" cy="178308"/>
            <a:chOff x="0" y="0"/>
            <a:chExt cx="237744" cy="237744"/>
          </a:xfrm>
        </p:grpSpPr>
        <p:sp>
          <p:nvSpPr>
            <p:cNvPr name="Freeform 186" id="186"/>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87" id="187"/>
          <p:cNvGrpSpPr/>
          <p:nvPr/>
        </p:nvGrpSpPr>
        <p:grpSpPr>
          <a:xfrm rot="0">
            <a:off x="6930552" y="6110145"/>
            <a:ext cx="178308" cy="178308"/>
            <a:chOff x="0" y="0"/>
            <a:chExt cx="237744" cy="237744"/>
          </a:xfrm>
        </p:grpSpPr>
        <p:sp>
          <p:nvSpPr>
            <p:cNvPr name="Freeform 188" id="18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89" id="189"/>
          <p:cNvGrpSpPr/>
          <p:nvPr/>
        </p:nvGrpSpPr>
        <p:grpSpPr>
          <a:xfrm rot="0">
            <a:off x="9742646" y="8331241"/>
            <a:ext cx="178308" cy="178308"/>
            <a:chOff x="0" y="0"/>
            <a:chExt cx="237744" cy="237744"/>
          </a:xfrm>
        </p:grpSpPr>
        <p:sp>
          <p:nvSpPr>
            <p:cNvPr name="Freeform 190" id="19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91" id="191"/>
          <p:cNvGrpSpPr/>
          <p:nvPr/>
        </p:nvGrpSpPr>
        <p:grpSpPr>
          <a:xfrm rot="0">
            <a:off x="6235522" y="8418062"/>
            <a:ext cx="178308" cy="178308"/>
            <a:chOff x="0" y="0"/>
            <a:chExt cx="237744" cy="237744"/>
          </a:xfrm>
        </p:grpSpPr>
        <p:sp>
          <p:nvSpPr>
            <p:cNvPr name="Freeform 192" id="192"/>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93" id="193"/>
          <p:cNvGrpSpPr/>
          <p:nvPr/>
        </p:nvGrpSpPr>
        <p:grpSpPr>
          <a:xfrm rot="0">
            <a:off x="12879896" y="7441263"/>
            <a:ext cx="178308" cy="178308"/>
            <a:chOff x="0" y="0"/>
            <a:chExt cx="237744" cy="237744"/>
          </a:xfrm>
        </p:grpSpPr>
        <p:sp>
          <p:nvSpPr>
            <p:cNvPr name="Freeform 194" id="194"/>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95" id="195"/>
          <p:cNvGrpSpPr/>
          <p:nvPr/>
        </p:nvGrpSpPr>
        <p:grpSpPr>
          <a:xfrm rot="0">
            <a:off x="13626274" y="7074903"/>
            <a:ext cx="178308" cy="178308"/>
            <a:chOff x="0" y="0"/>
            <a:chExt cx="237744" cy="237744"/>
          </a:xfrm>
        </p:grpSpPr>
        <p:sp>
          <p:nvSpPr>
            <p:cNvPr name="Freeform 196" id="196"/>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212E2D"/>
            </a:solidFill>
          </p:spPr>
        </p:sp>
      </p:grpSp>
      <p:grpSp>
        <p:nvGrpSpPr>
          <p:cNvPr name="Group 197" id="197"/>
          <p:cNvGrpSpPr/>
          <p:nvPr/>
        </p:nvGrpSpPr>
        <p:grpSpPr>
          <a:xfrm rot="0">
            <a:off x="17041768" y="7917637"/>
            <a:ext cx="137160" cy="137160"/>
            <a:chOff x="0" y="0"/>
            <a:chExt cx="182880" cy="182880"/>
          </a:xfrm>
        </p:grpSpPr>
        <p:sp>
          <p:nvSpPr>
            <p:cNvPr name="Freeform 198" id="19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BDB9B7"/>
            </a:solidFill>
          </p:spPr>
        </p:sp>
      </p:grpSp>
      <p:grpSp>
        <p:nvGrpSpPr>
          <p:cNvPr name="Group 199" id="199"/>
          <p:cNvGrpSpPr/>
          <p:nvPr/>
        </p:nvGrpSpPr>
        <p:grpSpPr>
          <a:xfrm rot="0">
            <a:off x="15890872" y="6073759"/>
            <a:ext cx="137160" cy="137160"/>
            <a:chOff x="0" y="0"/>
            <a:chExt cx="182880" cy="182880"/>
          </a:xfrm>
        </p:grpSpPr>
        <p:sp>
          <p:nvSpPr>
            <p:cNvPr name="Freeform 200" id="20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BDB9B7"/>
            </a:solidFill>
          </p:spPr>
        </p:sp>
      </p:grpSp>
      <p:grpSp>
        <p:nvGrpSpPr>
          <p:cNvPr name="Group 201" id="201"/>
          <p:cNvGrpSpPr/>
          <p:nvPr/>
        </p:nvGrpSpPr>
        <p:grpSpPr>
          <a:xfrm rot="0">
            <a:off x="14563887" y="8500634"/>
            <a:ext cx="137160" cy="137160"/>
            <a:chOff x="0" y="0"/>
            <a:chExt cx="182880" cy="182880"/>
          </a:xfrm>
        </p:grpSpPr>
        <p:sp>
          <p:nvSpPr>
            <p:cNvPr name="Freeform 202" id="20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BDB9B7"/>
            </a:solidFill>
          </p:spPr>
        </p:sp>
      </p:grpSp>
      <p:grpSp>
        <p:nvGrpSpPr>
          <p:cNvPr name="Group 203" id="203"/>
          <p:cNvGrpSpPr/>
          <p:nvPr/>
        </p:nvGrpSpPr>
        <p:grpSpPr>
          <a:xfrm rot="0">
            <a:off x="15718469" y="7792441"/>
            <a:ext cx="137160" cy="137160"/>
            <a:chOff x="0" y="0"/>
            <a:chExt cx="182880" cy="182880"/>
          </a:xfrm>
        </p:grpSpPr>
        <p:sp>
          <p:nvSpPr>
            <p:cNvPr name="Freeform 204" id="20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BDB9B7"/>
            </a:solidFill>
          </p:spPr>
        </p:sp>
      </p:grpSp>
      <p:sp>
        <p:nvSpPr>
          <p:cNvPr name="AutoShape 205" id="205"/>
          <p:cNvSpPr/>
          <p:nvPr/>
        </p:nvSpPr>
        <p:spPr>
          <a:xfrm rot="2940">
            <a:off x="815816" y="9248775"/>
            <a:ext cx="16655920" cy="0"/>
          </a:xfrm>
          <a:prstGeom prst="line">
            <a:avLst/>
          </a:prstGeom>
          <a:ln cap="rnd" w="19050">
            <a:solidFill>
              <a:srgbClr val="BDB9B7"/>
            </a:solidFill>
            <a:prstDash val="solid"/>
            <a:headEnd type="none" len="sm" w="sm"/>
            <a:tailEnd type="none" len="sm" w="sm"/>
          </a:ln>
        </p:spPr>
      </p:sp>
      <p:grpSp>
        <p:nvGrpSpPr>
          <p:cNvPr name="Group 206" id="206"/>
          <p:cNvGrpSpPr/>
          <p:nvPr/>
        </p:nvGrpSpPr>
        <p:grpSpPr>
          <a:xfrm rot="0">
            <a:off x="822960" y="9395460"/>
            <a:ext cx="12344400" cy="548640"/>
            <a:chOff x="0" y="0"/>
            <a:chExt cx="16459200" cy="731520"/>
          </a:xfrm>
        </p:grpSpPr>
        <p:sp>
          <p:nvSpPr>
            <p:cNvPr name="Freeform 207" id="207"/>
            <p:cNvSpPr/>
            <p:nvPr/>
          </p:nvSpPr>
          <p:spPr>
            <a:xfrm flipH="false" flipV="false" rot="0">
              <a:off x="0" y="0"/>
              <a:ext cx="16459200" cy="731520"/>
            </a:xfrm>
            <a:custGeom>
              <a:avLst/>
              <a:gdLst/>
              <a:ahLst/>
              <a:cxnLst/>
              <a:rect r="r" b="b" t="t" l="l"/>
              <a:pathLst>
                <a:path h="731520" w="16459200">
                  <a:moveTo>
                    <a:pt x="0" y="0"/>
                  </a:moveTo>
                  <a:lnTo>
                    <a:pt x="16459200" y="0"/>
                  </a:lnTo>
                  <a:lnTo>
                    <a:pt x="16459200" y="731520"/>
                  </a:lnTo>
                  <a:lnTo>
                    <a:pt x="0" y="731520"/>
                  </a:lnTo>
                  <a:close/>
                </a:path>
              </a:pathLst>
            </a:custGeom>
            <a:blipFill>
              <a:blip r:embed="rId3">
                <a:alphaModFix amt="0"/>
              </a:blip>
              <a:stretch>
                <a:fillRect l="0" t="-388413" r="0" b="-388413"/>
              </a:stretch>
            </a:blipFill>
          </p:spPr>
        </p:sp>
        <p:sp>
          <p:nvSpPr>
            <p:cNvPr name="TextBox 208" id="208"/>
            <p:cNvSpPr txBox="true"/>
            <p:nvPr/>
          </p:nvSpPr>
          <p:spPr>
            <a:xfrm>
              <a:off x="0" y="0"/>
              <a:ext cx="16459200" cy="731520"/>
            </a:xfrm>
            <a:prstGeom prst="rect">
              <a:avLst/>
            </a:prstGeom>
          </p:spPr>
          <p:txBody>
            <a:bodyPr anchor="ctr" rtlCol="false" tIns="0" lIns="0" bIns="0" rIns="0"/>
            <a:lstStyle/>
            <a:p>
              <a:pPr algn="l">
                <a:lnSpc>
                  <a:spcPts val="2879"/>
                </a:lnSpc>
              </a:pPr>
              <a:r>
                <a:rPr lang="en-US" sz="2400">
                  <a:solidFill>
                    <a:srgbClr val="6E7C7A"/>
                  </a:solidFill>
                  <a:latin typeface="Inter"/>
                  <a:ea typeface="Inter"/>
                  <a:cs typeface="Inter"/>
                  <a:sym typeface="Inter"/>
                </a:rPr>
                <a:t>● one individual    ○ its food and space    — a partner</a:t>
              </a:r>
            </a:p>
          </p:txBody>
        </p:sp>
      </p:grpSp>
      <p:sp>
        <p:nvSpPr>
          <p:cNvPr name="TextBox 209" id="209"/>
          <p:cNvSpPr txBox="true"/>
          <p:nvPr/>
        </p:nvSpPr>
        <p:spPr>
          <a:xfrm rot="0">
            <a:off x="13104781" y="9507855"/>
            <a:ext cx="4388644" cy="314325"/>
          </a:xfrm>
          <a:prstGeom prst="rect">
            <a:avLst/>
          </a:prstGeom>
        </p:spPr>
        <p:txBody>
          <a:bodyPr anchor="t" rtlCol="false" tIns="0" lIns="0" bIns="0" rIns="0">
            <a:spAutoFit/>
          </a:bodyPr>
          <a:lstStyle/>
          <a:p>
            <a:pPr algn="l" marL="0" indent="0" lvl="0">
              <a:lnSpc>
                <a:spcPts val="2400"/>
              </a:lnSpc>
              <a:spcBef>
                <a:spcPct val="0"/>
              </a:spcBef>
            </a:pPr>
            <a:r>
              <a:rPr lang="en-US" sz="2000" strike="noStrike" u="none">
                <a:solidFill>
                  <a:srgbClr val="6E7C7A"/>
                </a:solidFill>
                <a:latin typeface="Inter"/>
                <a:ea typeface="Inter"/>
                <a:cs typeface="Inter"/>
                <a:sym typeface="Inter"/>
              </a:rPr>
              <a:t>Schematic after Stephens et al. 1999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7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descr="Outline map of Europe and western Asia"/>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1" t="0" r="-1" b="0"/>
              </a:stretch>
            </a:blipFill>
          </p:spPr>
        </p:sp>
      </p:grpSp>
      <p:sp>
        <p:nvSpPr>
          <p:cNvPr name="AutoShape 4" id="4"/>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5" id="5"/>
          <p:cNvGrpSpPr/>
          <p:nvPr/>
        </p:nvGrpSpPr>
        <p:grpSpPr>
          <a:xfrm rot="0">
            <a:off x="815819" y="9425726"/>
            <a:ext cx="12351541" cy="548640"/>
            <a:chOff x="0" y="0"/>
            <a:chExt cx="16468721" cy="731520"/>
          </a:xfrm>
        </p:grpSpPr>
        <p:sp>
          <p:nvSpPr>
            <p:cNvPr name="Freeform 6" id="6"/>
            <p:cNvSpPr/>
            <p:nvPr/>
          </p:nvSpPr>
          <p:spPr>
            <a:xfrm flipH="false" flipV="false" rot="0">
              <a:off x="0" y="0"/>
              <a:ext cx="16468720" cy="731520"/>
            </a:xfrm>
            <a:custGeom>
              <a:avLst/>
              <a:gdLst/>
              <a:ahLst/>
              <a:cxnLst/>
              <a:rect r="r" b="b" t="t" l="l"/>
              <a:pathLst>
                <a:path h="731520" w="16468720">
                  <a:moveTo>
                    <a:pt x="0" y="0"/>
                  </a:moveTo>
                  <a:lnTo>
                    <a:pt x="16468720" y="0"/>
                  </a:lnTo>
                  <a:lnTo>
                    <a:pt x="16468720" y="731520"/>
                  </a:lnTo>
                  <a:lnTo>
                    <a:pt x="0" y="731520"/>
                  </a:lnTo>
                  <a:close/>
                </a:path>
              </a:pathLst>
            </a:custGeom>
            <a:blipFill>
              <a:blip r:embed="rId4">
                <a:alphaModFix amt="0"/>
              </a:blip>
              <a:stretch>
                <a:fillRect l="0" t="-388413" r="57" b="-388413"/>
              </a:stretch>
            </a:blipFill>
          </p:spPr>
        </p:sp>
        <p:sp>
          <p:nvSpPr>
            <p:cNvPr name="TextBox 7" id="7"/>
            <p:cNvSpPr txBox="true"/>
            <p:nvPr/>
          </p:nvSpPr>
          <p:spPr>
            <a:xfrm>
              <a:off x="0" y="0"/>
              <a:ext cx="16468721" cy="731520"/>
            </a:xfrm>
            <a:prstGeom prst="rect">
              <a:avLst/>
            </a:prstGeom>
          </p:spPr>
          <p:txBody>
            <a:bodyPr anchor="ctr" rtlCol="false" tIns="0" lIns="0" bIns="0" rIns="0"/>
            <a:lstStyle/>
            <a:p>
              <a:pPr algn="l">
                <a:lnSpc>
                  <a:spcPts val="2879"/>
                </a:lnSpc>
              </a:pPr>
              <a:r>
                <a:rPr lang="en-US" sz="2400">
                  <a:solidFill>
                    <a:srgbClr val="6E7C7A"/>
                  </a:solidFill>
                  <a:latin typeface="Inter"/>
                  <a:ea typeface="Inter"/>
                  <a:cs typeface="Inter"/>
                  <a:sym typeface="Inter"/>
                </a:rPr>
                <a:t>●  one small band</a:t>
              </a:r>
            </a:p>
          </p:txBody>
        </p:sp>
      </p:grpSp>
      <p:grpSp>
        <p:nvGrpSpPr>
          <p:cNvPr name="Group 8" id="8"/>
          <p:cNvGrpSpPr/>
          <p:nvPr/>
        </p:nvGrpSpPr>
        <p:grpSpPr>
          <a:xfrm rot="0">
            <a:off x="822960" y="459105"/>
            <a:ext cx="8229600" cy="617220"/>
            <a:chOff x="0" y="0"/>
            <a:chExt cx="10972800" cy="822960"/>
          </a:xfrm>
        </p:grpSpPr>
        <p:sp>
          <p:nvSpPr>
            <p:cNvPr name="Freeform 9" id="9"/>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4">
                <a:alphaModFix amt="0"/>
              </a:blip>
              <a:stretch>
                <a:fillRect l="0" t="-209800" r="0" b="-209800"/>
              </a:stretch>
            </a:blipFill>
          </p:spPr>
        </p:sp>
        <p:sp>
          <p:nvSpPr>
            <p:cNvPr name="TextBox 10" id="10"/>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Neanderthals</a:t>
              </a:r>
            </a:p>
          </p:txBody>
        </p:sp>
      </p:grpSp>
      <p:grpSp>
        <p:nvGrpSpPr>
          <p:cNvPr name="Group 11" id="11"/>
          <p:cNvGrpSpPr/>
          <p:nvPr/>
        </p:nvGrpSpPr>
        <p:grpSpPr>
          <a:xfrm rot="0">
            <a:off x="9230868" y="506730"/>
            <a:ext cx="8229600" cy="617220"/>
            <a:chOff x="0" y="0"/>
            <a:chExt cx="10972800" cy="822960"/>
          </a:xfrm>
        </p:grpSpPr>
        <p:sp>
          <p:nvSpPr>
            <p:cNvPr name="Freeform 12" id="12"/>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4">
                <a:alphaModFix amt="0"/>
              </a:blip>
              <a:stretch>
                <a:fillRect l="0" t="-209800" r="0" b="-209800"/>
              </a:stretch>
            </a:blipFill>
          </p:spPr>
        </p:sp>
        <p:sp>
          <p:nvSpPr>
            <p:cNvPr name="TextBox 13" id="13"/>
            <p:cNvSpPr txBox="true"/>
            <p:nvPr/>
          </p:nvSpPr>
          <p:spPr>
            <a:xfrm>
              <a:off x="0" y="0"/>
              <a:ext cx="10972800" cy="822960"/>
            </a:xfrm>
            <a:prstGeom prst="rect">
              <a:avLst/>
            </a:prstGeom>
          </p:spPr>
          <p:txBody>
            <a:bodyPr anchor="ctr" rtlCol="false" tIns="0" lIns="0" bIns="0" rIns="0"/>
            <a:lstStyle/>
            <a:p>
              <a:pPr algn="r">
                <a:lnSpc>
                  <a:spcPts val="3359"/>
                </a:lnSpc>
              </a:pPr>
              <a:r>
                <a:rPr lang="en-US" sz="2799">
                  <a:solidFill>
                    <a:srgbClr val="282C34"/>
                  </a:solidFill>
                  <a:latin typeface="Inter"/>
                  <a:ea typeface="Inter"/>
                  <a:cs typeface="Inter"/>
                  <a:sym typeface="Inter"/>
                </a:rPr>
                <a:t>In the simulation</a:t>
              </a:r>
            </a:p>
          </p:txBody>
        </p:sp>
      </p:grpSp>
      <p:sp>
        <p:nvSpPr>
          <p:cNvPr name="TextBox 14" id="14"/>
          <p:cNvSpPr txBox="true"/>
          <p:nvPr/>
        </p:nvSpPr>
        <p:spPr>
          <a:xfrm rot="0">
            <a:off x="4783690" y="9660041"/>
            <a:ext cx="13085683" cy="314325"/>
          </a:xfrm>
          <a:prstGeom prst="rect">
            <a:avLst/>
          </a:prstGeom>
        </p:spPr>
        <p:txBody>
          <a:bodyPr anchor="t" rtlCol="false" tIns="0" lIns="0" bIns="0" rIns="0">
            <a:spAutoFit/>
          </a:bodyPr>
          <a:lstStyle/>
          <a:p>
            <a:pPr algn="r">
              <a:lnSpc>
                <a:spcPts val="2401"/>
              </a:lnSpc>
            </a:pPr>
            <a:r>
              <a:rPr lang="en-US" sz="2001">
                <a:solidFill>
                  <a:srgbClr val="717C7A"/>
                </a:solidFill>
                <a:latin typeface="Inter"/>
                <a:ea typeface="Inter"/>
                <a:cs typeface="Inter"/>
                <a:sym typeface="Inter"/>
              </a:rPr>
              <a:t>Band positions illustrative · Vaesen et al. 2019 · Drawn with AI assistance (Claude)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7E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1" t="0" r="-1" b="0"/>
              </a:stretch>
            </a:blipFill>
          </p:spPr>
        </p:sp>
      </p:grpSp>
      <p:grpSp>
        <p:nvGrpSpPr>
          <p:cNvPr name="Group 4" id="4"/>
          <p:cNvGrpSpPr/>
          <p:nvPr/>
        </p:nvGrpSpPr>
        <p:grpSpPr>
          <a:xfrm rot="0">
            <a:off x="815819" y="9425726"/>
            <a:ext cx="12351541" cy="548640"/>
            <a:chOff x="0" y="0"/>
            <a:chExt cx="16468721" cy="731520"/>
          </a:xfrm>
        </p:grpSpPr>
        <p:sp>
          <p:nvSpPr>
            <p:cNvPr name="Freeform 5" id="5"/>
            <p:cNvSpPr/>
            <p:nvPr/>
          </p:nvSpPr>
          <p:spPr>
            <a:xfrm flipH="false" flipV="false" rot="0">
              <a:off x="0" y="0"/>
              <a:ext cx="16468720" cy="731520"/>
            </a:xfrm>
            <a:custGeom>
              <a:avLst/>
              <a:gdLst/>
              <a:ahLst/>
              <a:cxnLst/>
              <a:rect r="r" b="b" t="t" l="l"/>
              <a:pathLst>
                <a:path h="731520" w="16468720">
                  <a:moveTo>
                    <a:pt x="0" y="0"/>
                  </a:moveTo>
                  <a:lnTo>
                    <a:pt x="16468720" y="0"/>
                  </a:lnTo>
                  <a:lnTo>
                    <a:pt x="16468720" y="731520"/>
                  </a:lnTo>
                  <a:lnTo>
                    <a:pt x="0" y="731520"/>
                  </a:lnTo>
                  <a:close/>
                </a:path>
              </a:pathLst>
            </a:custGeom>
            <a:blipFill>
              <a:blip r:embed="rId4">
                <a:alphaModFix amt="0"/>
              </a:blip>
              <a:stretch>
                <a:fillRect l="0" t="-388413" r="57" b="-388413"/>
              </a:stretch>
            </a:blipFill>
          </p:spPr>
        </p:sp>
        <p:sp>
          <p:nvSpPr>
            <p:cNvPr name="TextBox 6" id="6"/>
            <p:cNvSpPr txBox="true"/>
            <p:nvPr/>
          </p:nvSpPr>
          <p:spPr>
            <a:xfrm>
              <a:off x="0" y="0"/>
              <a:ext cx="16468721" cy="731520"/>
            </a:xfrm>
            <a:prstGeom prst="rect">
              <a:avLst/>
            </a:prstGeom>
          </p:spPr>
          <p:txBody>
            <a:bodyPr anchor="ctr" rtlCol="false" tIns="0" lIns="0" bIns="0" rIns="0"/>
            <a:lstStyle/>
            <a:p>
              <a:pPr algn="l">
                <a:lnSpc>
                  <a:spcPts val="2879"/>
                </a:lnSpc>
              </a:pPr>
              <a:r>
                <a:rPr lang="en-US" sz="2400">
                  <a:solidFill>
                    <a:srgbClr val="6E7C7A"/>
                  </a:solidFill>
                  <a:latin typeface="Inter"/>
                  <a:ea typeface="Inter"/>
                  <a:cs typeface="Inter"/>
                  <a:sym typeface="Inter"/>
                </a:rPr>
                <a:t>●  one small band</a:t>
              </a:r>
            </a:p>
          </p:txBody>
        </p:sp>
      </p:grpSp>
      <p:sp>
        <p:nvSpPr>
          <p:cNvPr name="AutoShape 7" id="7"/>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8" id="8"/>
          <p:cNvGrpSpPr/>
          <p:nvPr/>
        </p:nvGrpSpPr>
        <p:grpSpPr>
          <a:xfrm rot="0">
            <a:off x="822960" y="459105"/>
            <a:ext cx="8229600" cy="617220"/>
            <a:chOff x="0" y="0"/>
            <a:chExt cx="10972800" cy="822960"/>
          </a:xfrm>
        </p:grpSpPr>
        <p:sp>
          <p:nvSpPr>
            <p:cNvPr name="Freeform 9" id="9"/>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4">
                <a:alphaModFix amt="0"/>
              </a:blip>
              <a:stretch>
                <a:fillRect l="0" t="-209800" r="0" b="-209800"/>
              </a:stretch>
            </a:blipFill>
          </p:spPr>
        </p:sp>
        <p:sp>
          <p:nvSpPr>
            <p:cNvPr name="TextBox 10" id="10"/>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Neanderthals</a:t>
              </a:r>
            </a:p>
          </p:txBody>
        </p:sp>
      </p:grpSp>
      <p:grpSp>
        <p:nvGrpSpPr>
          <p:cNvPr name="Group 11" id="11"/>
          <p:cNvGrpSpPr/>
          <p:nvPr/>
        </p:nvGrpSpPr>
        <p:grpSpPr>
          <a:xfrm rot="0">
            <a:off x="9230868" y="506730"/>
            <a:ext cx="8229600" cy="617220"/>
            <a:chOff x="0" y="0"/>
            <a:chExt cx="10972800" cy="822960"/>
          </a:xfrm>
        </p:grpSpPr>
        <p:sp>
          <p:nvSpPr>
            <p:cNvPr name="Freeform 12" id="12"/>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4">
                <a:alphaModFix amt="0"/>
              </a:blip>
              <a:stretch>
                <a:fillRect l="0" t="-209800" r="0" b="-209800"/>
              </a:stretch>
            </a:blipFill>
          </p:spPr>
        </p:sp>
        <p:sp>
          <p:nvSpPr>
            <p:cNvPr name="TextBox 13" id="13"/>
            <p:cNvSpPr txBox="true"/>
            <p:nvPr/>
          </p:nvSpPr>
          <p:spPr>
            <a:xfrm>
              <a:off x="0" y="0"/>
              <a:ext cx="10972800" cy="822960"/>
            </a:xfrm>
            <a:prstGeom prst="rect">
              <a:avLst/>
            </a:prstGeom>
          </p:spPr>
          <p:txBody>
            <a:bodyPr anchor="ctr" rtlCol="false" tIns="0" lIns="0" bIns="0" rIns="0"/>
            <a:lstStyle/>
            <a:p>
              <a:pPr algn="r">
                <a:lnSpc>
                  <a:spcPts val="3359"/>
                </a:lnSpc>
              </a:pPr>
              <a:r>
                <a:rPr lang="en-US" sz="2799">
                  <a:solidFill>
                    <a:srgbClr val="282C34"/>
                  </a:solidFill>
                  <a:latin typeface="Inter"/>
                  <a:ea typeface="Inter"/>
                  <a:cs typeface="Inter"/>
                  <a:sym typeface="Inter"/>
                </a:rPr>
                <a:t>In the simulation</a:t>
              </a:r>
            </a:p>
          </p:txBody>
        </p:sp>
      </p:grpSp>
      <p:sp>
        <p:nvSpPr>
          <p:cNvPr name="TextBox 14" id="14"/>
          <p:cNvSpPr txBox="true"/>
          <p:nvPr/>
        </p:nvSpPr>
        <p:spPr>
          <a:xfrm rot="0">
            <a:off x="4783690" y="9660041"/>
            <a:ext cx="13085683" cy="314325"/>
          </a:xfrm>
          <a:prstGeom prst="rect">
            <a:avLst/>
          </a:prstGeom>
        </p:spPr>
        <p:txBody>
          <a:bodyPr anchor="t" rtlCol="false" tIns="0" lIns="0" bIns="0" rIns="0">
            <a:spAutoFit/>
          </a:bodyPr>
          <a:lstStyle/>
          <a:p>
            <a:pPr algn="r">
              <a:lnSpc>
                <a:spcPts val="2401"/>
              </a:lnSpc>
            </a:pPr>
            <a:r>
              <a:rPr lang="en-US" sz="2001">
                <a:solidFill>
                  <a:srgbClr val="717C7A"/>
                </a:solidFill>
                <a:latin typeface="Inter"/>
                <a:ea typeface="Inter"/>
                <a:cs typeface="Inter"/>
                <a:sym typeface="Inter"/>
              </a:rPr>
              <a:t>Band positions illustrative · Vaesen et al. 2019 · Drawn with AI assistance (Claude)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12E2D"/>
        </a:solidFill>
      </p:bgPr>
    </p:bg>
    <p:spTree>
      <p:nvGrpSpPr>
        <p:cNvPr id="1" name=""/>
        <p:cNvGrpSpPr/>
        <p:nvPr/>
      </p:nvGrpSpPr>
      <p:grpSpPr>
        <a:xfrm>
          <a:off x="0" y="0"/>
          <a:ext cx="0" cy="0"/>
          <a:chOff x="0" y="0"/>
          <a:chExt cx="0" cy="0"/>
        </a:xfrm>
      </p:grpSpPr>
      <p:sp>
        <p:nvSpPr>
          <p:cNvPr name="TextBox 2" id="2"/>
          <p:cNvSpPr txBox="true"/>
          <p:nvPr/>
        </p:nvSpPr>
        <p:spPr>
          <a:xfrm rot="0">
            <a:off x="822960" y="3017520"/>
            <a:ext cx="15361920" cy="3286125"/>
          </a:xfrm>
          <a:prstGeom prst="rect">
            <a:avLst/>
          </a:prstGeom>
        </p:spPr>
        <p:txBody>
          <a:bodyPr anchor="t" rtlCol="false" tIns="0" lIns="0" bIns="0" rIns="0">
            <a:spAutoFit/>
          </a:bodyPr>
          <a:lstStyle/>
          <a:p>
            <a:pPr algn="l">
              <a:lnSpc>
                <a:spcPts val="8640"/>
              </a:lnSpc>
            </a:pPr>
            <a:r>
              <a:rPr lang="en-US" sz="7200">
                <a:solidFill>
                  <a:srgbClr val="8A9592"/>
                </a:solidFill>
                <a:latin typeface="Inter"/>
                <a:ea typeface="Inter"/>
                <a:cs typeface="Inter"/>
                <a:sym typeface="Inter"/>
              </a:rPr>
              <a:t>The smaller the population, </a:t>
            </a:r>
            <a:r>
              <a:rPr lang="en-US" sz="7200">
                <a:solidFill>
                  <a:srgbClr val="EBE7E3"/>
                </a:solidFill>
                <a:latin typeface="Inter"/>
                <a:ea typeface="Inter"/>
                <a:cs typeface="Inter"/>
                <a:sym typeface="Inter"/>
              </a:rPr>
              <a:t>the lower each individual's chance of surviving or reproducing.</a:t>
            </a:r>
          </a:p>
        </p:txBody>
      </p:sp>
      <p:sp>
        <p:nvSpPr>
          <p:cNvPr name="AutoShape 3" id="3"/>
          <p:cNvSpPr/>
          <p:nvPr/>
        </p:nvSpPr>
        <p:spPr>
          <a:xfrm>
            <a:off x="815819" y="381498"/>
            <a:ext cx="16655914" cy="14244"/>
          </a:xfrm>
          <a:prstGeom prst="line">
            <a:avLst/>
          </a:prstGeom>
          <a:ln cap="rnd" w="19050">
            <a:solidFill>
              <a:srgbClr val="F4F2F1"/>
            </a:solidFill>
            <a:prstDash val="solid"/>
            <a:headEnd type="none" len="sm" w="sm"/>
            <a:tailEnd type="none" len="sm" w="sm"/>
          </a:ln>
        </p:spPr>
      </p:sp>
      <p:grpSp>
        <p:nvGrpSpPr>
          <p:cNvPr name="Group 4" id="4"/>
          <p:cNvGrpSpPr/>
          <p:nvPr/>
        </p:nvGrpSpPr>
        <p:grpSpPr>
          <a:xfrm rot="0">
            <a:off x="822960" y="459105"/>
            <a:ext cx="8229600" cy="617220"/>
            <a:chOff x="0" y="0"/>
            <a:chExt cx="10972800" cy="822960"/>
          </a:xfrm>
        </p:grpSpPr>
        <p:sp>
          <p:nvSpPr>
            <p:cNvPr name="Freeform 5" id="5"/>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sp>
        <p:sp>
          <p:nvSpPr>
            <p:cNvPr name="TextBox 6" id="6"/>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F4F2F1"/>
                  </a:solidFill>
                  <a:latin typeface="Source Serif Pro"/>
                  <a:ea typeface="Source Serif Pro"/>
                  <a:cs typeface="Source Serif Pro"/>
                  <a:sym typeface="Source Serif Pro"/>
                </a:rPr>
                <a:t>The Allee effect</a:t>
              </a:r>
            </a:p>
          </p:txBody>
        </p:sp>
      </p:grpSp>
      <p:sp>
        <p:nvSpPr>
          <p:cNvPr name="TextBox 7" id="7"/>
          <p:cNvSpPr txBox="true"/>
          <p:nvPr/>
        </p:nvSpPr>
        <p:spPr>
          <a:xfrm rot="0">
            <a:off x="823608" y="9393279"/>
            <a:ext cx="16654634" cy="314325"/>
          </a:xfrm>
          <a:prstGeom prst="rect">
            <a:avLst/>
          </a:prstGeom>
        </p:spPr>
        <p:txBody>
          <a:bodyPr anchor="t" rtlCol="false" tIns="0" lIns="0" bIns="0" rIns="0">
            <a:spAutoFit/>
          </a:bodyPr>
          <a:lstStyle/>
          <a:p>
            <a:pPr algn="l">
              <a:lnSpc>
                <a:spcPts val="2401"/>
              </a:lnSpc>
            </a:pPr>
            <a:r>
              <a:rPr lang="en-US" sz="2001">
                <a:solidFill>
                  <a:srgbClr val="8D9A97"/>
                </a:solidFill>
                <a:latin typeface="Inter"/>
                <a:ea typeface="Inter"/>
                <a:cs typeface="Inter"/>
                <a:sym typeface="Inter"/>
              </a:rPr>
              <a:t>Source: Stephens et al. 1999</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5086236" y="2125980"/>
            <a:ext cx="3851796" cy="4937760"/>
            <a:chOff x="0" y="0"/>
            <a:chExt cx="5135728" cy="6583680"/>
          </a:xfrm>
        </p:grpSpPr>
        <p:sp>
          <p:nvSpPr>
            <p:cNvPr name="Freeform 3" id="3"/>
            <p:cNvSpPr/>
            <p:nvPr/>
          </p:nvSpPr>
          <p:spPr>
            <a:xfrm flipH="false" flipV="false" rot="0">
              <a:off x="0" y="0"/>
              <a:ext cx="5135753" cy="6583680"/>
            </a:xfrm>
            <a:custGeom>
              <a:avLst/>
              <a:gdLst/>
              <a:ahLst/>
              <a:cxnLst/>
              <a:rect r="r" b="b" t="t" l="l"/>
              <a:pathLst>
                <a:path h="6583680" w="5135753">
                  <a:moveTo>
                    <a:pt x="0" y="0"/>
                  </a:moveTo>
                  <a:lnTo>
                    <a:pt x="5135753" y="0"/>
                  </a:lnTo>
                  <a:lnTo>
                    <a:pt x="5135753" y="6583680"/>
                  </a:lnTo>
                  <a:lnTo>
                    <a:pt x="0" y="6583680"/>
                  </a:lnTo>
                  <a:close/>
                </a:path>
              </a:pathLst>
            </a:custGeom>
            <a:blipFill>
              <a:blip r:embed="rId3"/>
              <a:stretch>
                <a:fillRect l="-27002" t="0" r="-65227" b="0"/>
              </a:stretch>
            </a:blipFill>
          </p:spPr>
        </p:sp>
      </p:grpSp>
      <p:grpSp>
        <p:nvGrpSpPr>
          <p:cNvPr name="Group 4" id="4"/>
          <p:cNvGrpSpPr/>
          <p:nvPr/>
        </p:nvGrpSpPr>
        <p:grpSpPr>
          <a:xfrm rot="0">
            <a:off x="9349511" y="2125980"/>
            <a:ext cx="3851796" cy="4937760"/>
            <a:chOff x="0" y="0"/>
            <a:chExt cx="5135728" cy="6583680"/>
          </a:xfrm>
        </p:grpSpPr>
        <p:sp>
          <p:nvSpPr>
            <p:cNvPr name="Freeform 5" id="5"/>
            <p:cNvSpPr/>
            <p:nvPr/>
          </p:nvSpPr>
          <p:spPr>
            <a:xfrm flipH="false" flipV="false" rot="0">
              <a:off x="0" y="0"/>
              <a:ext cx="5135753" cy="6583680"/>
            </a:xfrm>
            <a:custGeom>
              <a:avLst/>
              <a:gdLst/>
              <a:ahLst/>
              <a:cxnLst/>
              <a:rect r="r" b="b" t="t" l="l"/>
              <a:pathLst>
                <a:path h="6583680" w="5135753">
                  <a:moveTo>
                    <a:pt x="0" y="0"/>
                  </a:moveTo>
                  <a:lnTo>
                    <a:pt x="5135753" y="0"/>
                  </a:lnTo>
                  <a:lnTo>
                    <a:pt x="5135753" y="6583680"/>
                  </a:lnTo>
                  <a:lnTo>
                    <a:pt x="0" y="6583680"/>
                  </a:lnTo>
                  <a:close/>
                </a:path>
              </a:pathLst>
            </a:custGeom>
            <a:blipFill>
              <a:blip r:embed="rId4"/>
              <a:stretch>
                <a:fillRect l="-18452" t="0" r="-73777" b="0"/>
              </a:stretch>
            </a:blipFill>
          </p:spPr>
        </p:sp>
      </p:grpSp>
      <p:grpSp>
        <p:nvGrpSpPr>
          <p:cNvPr name="Group 6" id="6"/>
          <p:cNvGrpSpPr/>
          <p:nvPr/>
        </p:nvGrpSpPr>
        <p:grpSpPr>
          <a:xfrm rot="0">
            <a:off x="13612787" y="2125980"/>
            <a:ext cx="3851796" cy="4937760"/>
            <a:chOff x="0" y="0"/>
            <a:chExt cx="5135728" cy="6583680"/>
          </a:xfrm>
        </p:grpSpPr>
        <p:sp>
          <p:nvSpPr>
            <p:cNvPr name="Freeform 7" id="7"/>
            <p:cNvSpPr/>
            <p:nvPr/>
          </p:nvSpPr>
          <p:spPr>
            <a:xfrm flipH="false" flipV="false" rot="0">
              <a:off x="0" y="0"/>
              <a:ext cx="5135753" cy="6583680"/>
            </a:xfrm>
            <a:custGeom>
              <a:avLst/>
              <a:gdLst/>
              <a:ahLst/>
              <a:cxnLst/>
              <a:rect r="r" b="b" t="t" l="l"/>
              <a:pathLst>
                <a:path h="6583680" w="5135753">
                  <a:moveTo>
                    <a:pt x="0" y="0"/>
                  </a:moveTo>
                  <a:lnTo>
                    <a:pt x="5135753" y="0"/>
                  </a:lnTo>
                  <a:lnTo>
                    <a:pt x="5135753" y="6583680"/>
                  </a:lnTo>
                  <a:lnTo>
                    <a:pt x="0" y="6583680"/>
                  </a:lnTo>
                  <a:close/>
                </a:path>
              </a:pathLst>
            </a:custGeom>
            <a:blipFill>
              <a:blip r:embed="rId5"/>
              <a:stretch>
                <a:fillRect l="-44008" t="0" r="-44008" b="0"/>
              </a:stretch>
            </a:blipFill>
          </p:spPr>
        </p:sp>
      </p:grpSp>
      <p:sp>
        <p:nvSpPr>
          <p:cNvPr name="AutoShape 8" id="8"/>
          <p:cNvSpPr/>
          <p:nvPr/>
        </p:nvSpPr>
        <p:spPr>
          <a:xfrm rot="2940">
            <a:off x="815816" y="9248775"/>
            <a:ext cx="16655920" cy="0"/>
          </a:xfrm>
          <a:prstGeom prst="line">
            <a:avLst/>
          </a:prstGeom>
          <a:ln cap="rnd" w="19050">
            <a:solidFill>
              <a:srgbClr val="C7C4C3"/>
            </a:solidFill>
            <a:prstDash val="solid"/>
            <a:headEnd type="none" len="sm" w="sm"/>
            <a:tailEnd type="none" len="sm" w="sm"/>
          </a:ln>
        </p:spPr>
      </p:sp>
      <p:sp>
        <p:nvSpPr>
          <p:cNvPr name="AutoShape 9" id="9"/>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10" id="10"/>
          <p:cNvGrpSpPr/>
          <p:nvPr/>
        </p:nvGrpSpPr>
        <p:grpSpPr>
          <a:xfrm rot="0">
            <a:off x="822960" y="468630"/>
            <a:ext cx="8229600" cy="617220"/>
            <a:chOff x="0" y="0"/>
            <a:chExt cx="10972800" cy="822960"/>
          </a:xfrm>
        </p:grpSpPr>
        <p:sp>
          <p:nvSpPr>
            <p:cNvPr name="Freeform 11" id="11"/>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6">
                <a:alphaModFix amt="0"/>
              </a:blip>
              <a:stretch>
                <a:fillRect l="0" t="-209800" r="0" b="-209800"/>
              </a:stretch>
            </a:blipFill>
          </p:spPr>
        </p:sp>
        <p:sp>
          <p:nvSpPr>
            <p:cNvPr name="TextBox 12" id="12"/>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Mechanisms of the Allee effect</a:t>
              </a:r>
            </a:p>
          </p:txBody>
        </p:sp>
      </p:grpSp>
      <p:sp>
        <p:nvSpPr>
          <p:cNvPr name="Freeform 13" id="13"/>
          <p:cNvSpPr/>
          <p:nvPr/>
        </p:nvSpPr>
        <p:spPr>
          <a:xfrm flipH="false" flipV="false" rot="0">
            <a:off x="822960" y="2125980"/>
            <a:ext cx="3851796" cy="4937760"/>
          </a:xfrm>
          <a:custGeom>
            <a:avLst/>
            <a:gdLst/>
            <a:ahLst/>
            <a:cxnLst/>
            <a:rect r="r" b="b" t="t" l="l"/>
            <a:pathLst>
              <a:path h="4937760" w="3851796">
                <a:moveTo>
                  <a:pt x="0" y="0"/>
                </a:moveTo>
                <a:lnTo>
                  <a:pt x="3851796" y="0"/>
                </a:lnTo>
                <a:lnTo>
                  <a:pt x="3851796" y="4937760"/>
                </a:lnTo>
                <a:lnTo>
                  <a:pt x="0" y="4937760"/>
                </a:lnTo>
                <a:lnTo>
                  <a:pt x="0" y="0"/>
                </a:lnTo>
                <a:close/>
              </a:path>
            </a:pathLst>
          </a:custGeom>
          <a:blipFill>
            <a:blip r:embed="rId7"/>
            <a:stretch>
              <a:fillRect l="-15088" t="-11584" r="-99478" b="0"/>
            </a:stretch>
          </a:blipFill>
        </p:spPr>
      </p:sp>
      <p:sp>
        <p:nvSpPr>
          <p:cNvPr name="TextBox 14" id="14"/>
          <p:cNvSpPr txBox="true"/>
          <p:nvPr/>
        </p:nvSpPr>
        <p:spPr>
          <a:xfrm rot="0">
            <a:off x="822960" y="7359777"/>
            <a:ext cx="3851796" cy="1003109"/>
          </a:xfrm>
          <a:prstGeom prst="rect">
            <a:avLst/>
          </a:prstGeom>
        </p:spPr>
        <p:txBody>
          <a:bodyPr anchor="t" rtlCol="false" tIns="0" lIns="0" bIns="0" rIns="0">
            <a:spAutoFit/>
          </a:bodyPr>
          <a:lstStyle/>
          <a:p>
            <a:pPr algn="l">
              <a:lnSpc>
                <a:spcPts val="4384"/>
              </a:lnSpc>
            </a:pPr>
            <a:r>
              <a:rPr lang="en-US" sz="3200">
                <a:solidFill>
                  <a:srgbClr val="232E2D"/>
                </a:solidFill>
                <a:latin typeface="Inter"/>
                <a:ea typeface="Inter"/>
                <a:cs typeface="Inter"/>
                <a:sym typeface="Inter"/>
              </a:rPr>
              <a:t>Mates</a:t>
            </a:r>
          </a:p>
          <a:p>
            <a:pPr algn="l">
              <a:lnSpc>
                <a:spcPts val="3699"/>
              </a:lnSpc>
            </a:pPr>
            <a:r>
              <a:rPr lang="en-US" sz="2700">
                <a:solidFill>
                  <a:srgbClr val="717C7A"/>
                </a:solidFill>
                <a:latin typeface="Inter"/>
                <a:ea typeface="Inter"/>
                <a:cs typeface="Inter"/>
                <a:sym typeface="Inter"/>
              </a:rPr>
              <a:t>Sea urchins</a:t>
            </a:r>
          </a:p>
        </p:txBody>
      </p:sp>
      <p:sp>
        <p:nvSpPr>
          <p:cNvPr name="TextBox 15" id="15"/>
          <p:cNvSpPr txBox="true"/>
          <p:nvPr/>
        </p:nvSpPr>
        <p:spPr>
          <a:xfrm rot="0">
            <a:off x="5086236" y="7359777"/>
            <a:ext cx="3851796" cy="1003109"/>
          </a:xfrm>
          <a:prstGeom prst="rect">
            <a:avLst/>
          </a:prstGeom>
        </p:spPr>
        <p:txBody>
          <a:bodyPr anchor="t" rtlCol="false" tIns="0" lIns="0" bIns="0" rIns="0">
            <a:spAutoFit/>
          </a:bodyPr>
          <a:lstStyle/>
          <a:p>
            <a:pPr algn="l">
              <a:lnSpc>
                <a:spcPts val="4384"/>
              </a:lnSpc>
            </a:pPr>
            <a:r>
              <a:rPr lang="en-US" sz="3200">
                <a:solidFill>
                  <a:srgbClr val="232E2D"/>
                </a:solidFill>
                <a:latin typeface="Inter"/>
                <a:ea typeface="Inter"/>
                <a:cs typeface="Inter"/>
                <a:sym typeface="Inter"/>
              </a:rPr>
              <a:t>Safety</a:t>
            </a:r>
          </a:p>
          <a:p>
            <a:pPr algn="l">
              <a:lnSpc>
                <a:spcPts val="3699"/>
              </a:lnSpc>
            </a:pPr>
            <a:r>
              <a:rPr lang="en-US" sz="2700">
                <a:solidFill>
                  <a:srgbClr val="717C7A"/>
                </a:solidFill>
                <a:latin typeface="Inter"/>
                <a:ea typeface="Inter"/>
                <a:cs typeface="Inter"/>
                <a:sym typeface="Inter"/>
              </a:rPr>
              <a:t>Island marmots</a:t>
            </a:r>
          </a:p>
        </p:txBody>
      </p:sp>
      <p:sp>
        <p:nvSpPr>
          <p:cNvPr name="TextBox 16" id="16"/>
          <p:cNvSpPr txBox="true"/>
          <p:nvPr/>
        </p:nvSpPr>
        <p:spPr>
          <a:xfrm rot="0">
            <a:off x="9349511" y="7359777"/>
            <a:ext cx="3851796" cy="1003109"/>
          </a:xfrm>
          <a:prstGeom prst="rect">
            <a:avLst/>
          </a:prstGeom>
        </p:spPr>
        <p:txBody>
          <a:bodyPr anchor="t" rtlCol="false" tIns="0" lIns="0" bIns="0" rIns="0">
            <a:spAutoFit/>
          </a:bodyPr>
          <a:lstStyle/>
          <a:p>
            <a:pPr algn="l">
              <a:lnSpc>
                <a:spcPts val="4384"/>
              </a:lnSpc>
            </a:pPr>
            <a:r>
              <a:rPr lang="en-US" sz="3200">
                <a:solidFill>
                  <a:srgbClr val="232E2D"/>
                </a:solidFill>
                <a:latin typeface="Inter"/>
                <a:ea typeface="Inter"/>
                <a:cs typeface="Inter"/>
                <a:sym typeface="Inter"/>
              </a:rPr>
              <a:t>Teamwork</a:t>
            </a:r>
          </a:p>
          <a:p>
            <a:pPr algn="l">
              <a:lnSpc>
                <a:spcPts val="3699"/>
              </a:lnSpc>
            </a:pPr>
            <a:r>
              <a:rPr lang="en-US" sz="2700">
                <a:solidFill>
                  <a:srgbClr val="717C7A"/>
                </a:solidFill>
                <a:latin typeface="Inter"/>
                <a:ea typeface="Inter"/>
                <a:cs typeface="Inter"/>
                <a:sym typeface="Inter"/>
              </a:rPr>
              <a:t>African wild dogs</a:t>
            </a:r>
          </a:p>
        </p:txBody>
      </p:sp>
      <p:sp>
        <p:nvSpPr>
          <p:cNvPr name="TextBox 17" id="17"/>
          <p:cNvSpPr txBox="true"/>
          <p:nvPr/>
        </p:nvSpPr>
        <p:spPr>
          <a:xfrm rot="0">
            <a:off x="13612787" y="7359777"/>
            <a:ext cx="3851796" cy="1003109"/>
          </a:xfrm>
          <a:prstGeom prst="rect">
            <a:avLst/>
          </a:prstGeom>
        </p:spPr>
        <p:txBody>
          <a:bodyPr anchor="t" rtlCol="false" tIns="0" lIns="0" bIns="0" rIns="0">
            <a:spAutoFit/>
          </a:bodyPr>
          <a:lstStyle/>
          <a:p>
            <a:pPr algn="l">
              <a:lnSpc>
                <a:spcPts val="4384"/>
              </a:lnSpc>
            </a:pPr>
            <a:r>
              <a:rPr lang="en-US" sz="3200">
                <a:solidFill>
                  <a:srgbClr val="232E2D"/>
                </a:solidFill>
                <a:latin typeface="Inter"/>
                <a:ea typeface="Inter"/>
                <a:cs typeface="Inter"/>
                <a:sym typeface="Inter"/>
              </a:rPr>
              <a:t>Changing habitat</a:t>
            </a:r>
          </a:p>
          <a:p>
            <a:pPr algn="l">
              <a:lnSpc>
                <a:spcPts val="3699"/>
              </a:lnSpc>
            </a:pPr>
            <a:r>
              <a:rPr lang="en-US" sz="2700">
                <a:solidFill>
                  <a:srgbClr val="717C7A"/>
                </a:solidFill>
                <a:latin typeface="Inter"/>
                <a:ea typeface="Inter"/>
                <a:cs typeface="Inter"/>
                <a:sym typeface="Inter"/>
              </a:rPr>
              <a:t>Bark beetles</a:t>
            </a:r>
          </a:p>
        </p:txBody>
      </p:sp>
      <p:sp>
        <p:nvSpPr>
          <p:cNvPr name="TextBox 18" id="18"/>
          <p:cNvSpPr txBox="true"/>
          <p:nvPr/>
        </p:nvSpPr>
        <p:spPr>
          <a:xfrm rot="0">
            <a:off x="823608" y="9393279"/>
            <a:ext cx="12903117"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Sources: Gascoigne et al. 2009 · Brashares et al. 2010 · Courchamp et al. 1999 · Branco et al. 2024</a:t>
            </a:r>
          </a:p>
        </p:txBody>
      </p:sp>
      <p:sp>
        <p:nvSpPr>
          <p:cNvPr name="TextBox 19" id="19"/>
          <p:cNvSpPr txBox="true"/>
          <p:nvPr/>
        </p:nvSpPr>
        <p:spPr>
          <a:xfrm rot="0">
            <a:off x="13726725" y="9393279"/>
            <a:ext cx="3751516" cy="314325"/>
          </a:xfrm>
          <a:prstGeom prst="rect">
            <a:avLst/>
          </a:prstGeom>
        </p:spPr>
        <p:txBody>
          <a:bodyPr anchor="t" rtlCol="false" tIns="0" lIns="0" bIns="0" rIns="0">
            <a:spAutoFit/>
          </a:bodyPr>
          <a:lstStyle/>
          <a:p>
            <a:pPr algn="r">
              <a:lnSpc>
                <a:spcPts val="2401"/>
              </a:lnSpc>
            </a:pPr>
            <a:r>
              <a:rPr lang="en-US" sz="2001">
                <a:solidFill>
                  <a:srgbClr val="717C7A"/>
                </a:solidFill>
                <a:latin typeface="Inter"/>
                <a:ea typeface="Inter"/>
                <a:cs typeface="Inter"/>
                <a:sym typeface="Inter"/>
              </a:rPr>
              <a:t>Photos: see image credits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12E2D"/>
        </a:solidFill>
      </p:bgPr>
    </p:bg>
    <p:spTree>
      <p:nvGrpSpPr>
        <p:cNvPr id="1" name=""/>
        <p:cNvGrpSpPr/>
        <p:nvPr/>
      </p:nvGrpSpPr>
      <p:grpSpPr>
        <a:xfrm>
          <a:off x="0" y="0"/>
          <a:ext cx="0" cy="0"/>
          <a:chOff x="0" y="0"/>
          <a:chExt cx="0" cy="0"/>
        </a:xfrm>
      </p:grpSpPr>
      <p:sp>
        <p:nvSpPr>
          <p:cNvPr name="TextBox 2" id="2"/>
          <p:cNvSpPr txBox="true"/>
          <p:nvPr/>
        </p:nvSpPr>
        <p:spPr>
          <a:xfrm rot="0">
            <a:off x="822960" y="3017520"/>
            <a:ext cx="15361920" cy="3286125"/>
          </a:xfrm>
          <a:prstGeom prst="rect">
            <a:avLst/>
          </a:prstGeom>
        </p:spPr>
        <p:txBody>
          <a:bodyPr anchor="t" rtlCol="false" tIns="0" lIns="0" bIns="0" rIns="0">
            <a:spAutoFit/>
          </a:bodyPr>
          <a:lstStyle/>
          <a:p>
            <a:pPr algn="l">
              <a:lnSpc>
                <a:spcPts val="8640"/>
              </a:lnSpc>
            </a:pPr>
            <a:r>
              <a:rPr lang="en-US" sz="7200">
                <a:solidFill>
                  <a:srgbClr val="EBE7E3"/>
                </a:solidFill>
                <a:latin typeface="Inter"/>
                <a:ea typeface="Inter"/>
                <a:cs typeface="Inter"/>
                <a:sym typeface="Inter"/>
              </a:rPr>
              <a:t>Are Allee effects an ecological curiosity, or a fundamental driver of population dynamics?</a:t>
            </a:r>
          </a:p>
        </p:txBody>
      </p:sp>
      <p:sp>
        <p:nvSpPr>
          <p:cNvPr name="AutoShape 3" id="3"/>
          <p:cNvSpPr/>
          <p:nvPr/>
        </p:nvSpPr>
        <p:spPr>
          <a:xfrm>
            <a:off x="815819" y="381498"/>
            <a:ext cx="16655914" cy="14244"/>
          </a:xfrm>
          <a:prstGeom prst="line">
            <a:avLst/>
          </a:prstGeom>
          <a:ln cap="rnd" w="19050">
            <a:solidFill>
              <a:srgbClr val="F4F2F1"/>
            </a:solidFill>
            <a:prstDash val="solid"/>
            <a:headEnd type="none" len="sm" w="sm"/>
            <a:tailEnd type="none" len="sm" w="sm"/>
          </a:ln>
        </p:spPr>
      </p:sp>
      <p:grpSp>
        <p:nvGrpSpPr>
          <p:cNvPr name="Group 4" id="4"/>
          <p:cNvGrpSpPr/>
          <p:nvPr/>
        </p:nvGrpSpPr>
        <p:grpSpPr>
          <a:xfrm rot="0">
            <a:off x="822960" y="459105"/>
            <a:ext cx="8229600" cy="617220"/>
            <a:chOff x="0" y="0"/>
            <a:chExt cx="10972800" cy="822960"/>
          </a:xfrm>
        </p:grpSpPr>
        <p:sp>
          <p:nvSpPr>
            <p:cNvPr name="Freeform 5" id="5"/>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sp>
        <p:sp>
          <p:nvSpPr>
            <p:cNvPr name="TextBox 6" id="6"/>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F4F2F1"/>
                  </a:solidFill>
                  <a:latin typeface="Source Serif Pro"/>
                  <a:ea typeface="Source Serif Pro"/>
                  <a:cs typeface="Source Serif Pro"/>
                  <a:sym typeface="Source Serif Pro"/>
                </a:rPr>
                <a:t>The Allee effect</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814069" y="2070325"/>
            <a:ext cx="6119528" cy="2873291"/>
            <a:chOff x="0" y="0"/>
            <a:chExt cx="10979633" cy="5155248"/>
          </a:xfrm>
        </p:grpSpPr>
        <p:sp>
          <p:nvSpPr>
            <p:cNvPr name="Freeform 3" id="3"/>
            <p:cNvSpPr/>
            <p:nvPr/>
          </p:nvSpPr>
          <p:spPr>
            <a:xfrm flipH="false" flipV="false" rot="0">
              <a:off x="0" y="0"/>
              <a:ext cx="10979672" cy="5155248"/>
            </a:xfrm>
            <a:custGeom>
              <a:avLst/>
              <a:gdLst/>
              <a:ahLst/>
              <a:cxnLst/>
              <a:rect r="r" b="b" t="t" l="l"/>
              <a:pathLst>
                <a:path h="5155248" w="10979672">
                  <a:moveTo>
                    <a:pt x="179650" y="0"/>
                  </a:moveTo>
                  <a:lnTo>
                    <a:pt x="10800021" y="0"/>
                  </a:lnTo>
                  <a:cubicBezTo>
                    <a:pt x="10899239" y="0"/>
                    <a:pt x="10979672" y="80432"/>
                    <a:pt x="10979672" y="179650"/>
                  </a:cubicBezTo>
                  <a:lnTo>
                    <a:pt x="10979672" y="4975598"/>
                  </a:lnTo>
                  <a:cubicBezTo>
                    <a:pt x="10979672" y="5074816"/>
                    <a:pt x="10899239" y="5155248"/>
                    <a:pt x="10800021" y="5155248"/>
                  </a:cubicBezTo>
                  <a:lnTo>
                    <a:pt x="179650" y="5155248"/>
                  </a:lnTo>
                  <a:cubicBezTo>
                    <a:pt x="80432" y="5155248"/>
                    <a:pt x="0" y="5074816"/>
                    <a:pt x="0" y="4975598"/>
                  </a:cubicBezTo>
                  <a:lnTo>
                    <a:pt x="0" y="179650"/>
                  </a:lnTo>
                  <a:cubicBezTo>
                    <a:pt x="0" y="80432"/>
                    <a:pt x="80432" y="0"/>
                    <a:pt x="179650" y="0"/>
                  </a:cubicBezTo>
                  <a:close/>
                </a:path>
              </a:pathLst>
            </a:custGeom>
            <a:solidFill>
              <a:srgbClr val="D9D4CF">
                <a:alpha val="37647"/>
              </a:srgbClr>
            </a:solidFill>
          </p:spPr>
        </p:sp>
      </p:grpSp>
      <p:sp>
        <p:nvSpPr>
          <p:cNvPr name="TextBox 4" id="4"/>
          <p:cNvSpPr txBox="true"/>
          <p:nvPr/>
        </p:nvSpPr>
        <p:spPr>
          <a:xfrm rot="0">
            <a:off x="1245637" y="2507976"/>
            <a:ext cx="5422059" cy="1330420"/>
          </a:xfrm>
          <a:prstGeom prst="rect">
            <a:avLst/>
          </a:prstGeom>
        </p:spPr>
        <p:txBody>
          <a:bodyPr anchor="t" rtlCol="false" tIns="0" lIns="0" bIns="0" rIns="0">
            <a:spAutoFit/>
          </a:bodyPr>
          <a:lstStyle/>
          <a:p>
            <a:pPr algn="l">
              <a:lnSpc>
                <a:spcPts val="3566"/>
              </a:lnSpc>
            </a:pPr>
            <a:r>
              <a:rPr lang="en-US" sz="2702">
                <a:solidFill>
                  <a:srgbClr val="232E2D"/>
                </a:solidFill>
                <a:latin typeface="Source Serif Pro"/>
                <a:ea typeface="Source Serif Pro"/>
                <a:cs typeface="Source Serif Pro"/>
                <a:sym typeface="Source Serif Pro"/>
              </a:rPr>
              <a:t>“A</a:t>
            </a:r>
            <a:r>
              <a:rPr lang="en-US" sz="2702">
                <a:solidFill>
                  <a:srgbClr val="232E2D"/>
                </a:solidFill>
                <a:latin typeface="Source Serif Pro"/>
                <a:ea typeface="Source Serif Pro"/>
                <a:cs typeface="Source Serif Pro"/>
                <a:sym typeface="Source Serif Pro"/>
              </a:rPr>
              <a:t> positive relationship between a specific component of individual fitness and population density”</a:t>
            </a:r>
          </a:p>
        </p:txBody>
      </p:sp>
      <p:sp>
        <p:nvSpPr>
          <p:cNvPr name="TextBox 5" id="5"/>
          <p:cNvSpPr txBox="true"/>
          <p:nvPr/>
        </p:nvSpPr>
        <p:spPr>
          <a:xfrm rot="0">
            <a:off x="842658" y="5813791"/>
            <a:ext cx="5422059" cy="411804"/>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Examples of fitness components</a:t>
            </a:r>
          </a:p>
        </p:txBody>
      </p:sp>
      <p:sp>
        <p:nvSpPr>
          <p:cNvPr name="TextBox 6" id="6"/>
          <p:cNvSpPr txBox="true"/>
          <p:nvPr/>
        </p:nvSpPr>
        <p:spPr>
          <a:xfrm rot="0">
            <a:off x="842658" y="6410173"/>
            <a:ext cx="5422059" cy="480431"/>
          </a:xfrm>
          <a:prstGeom prst="rect">
            <a:avLst/>
          </a:prstGeom>
        </p:spPr>
        <p:txBody>
          <a:bodyPr anchor="t" rtlCol="false" tIns="0" lIns="0" bIns="0" rIns="0">
            <a:spAutoFit/>
          </a:bodyPr>
          <a:lstStyle/>
          <a:p>
            <a:pPr algn="l">
              <a:lnSpc>
                <a:spcPts val="3242"/>
              </a:lnSpc>
            </a:pPr>
            <a:r>
              <a:rPr lang="en-US" sz="2702">
                <a:solidFill>
                  <a:srgbClr val="232E2D"/>
                </a:solidFill>
                <a:latin typeface="Inter"/>
                <a:ea typeface="Inter"/>
                <a:cs typeface="Inter"/>
                <a:sym typeface="Inter"/>
              </a:rPr>
              <a:t>Reproductive success</a:t>
            </a:r>
          </a:p>
        </p:txBody>
      </p:sp>
      <p:sp>
        <p:nvSpPr>
          <p:cNvPr name="TextBox 7" id="7"/>
          <p:cNvSpPr txBox="true"/>
          <p:nvPr/>
        </p:nvSpPr>
        <p:spPr>
          <a:xfrm rot="0">
            <a:off x="842658" y="6900129"/>
            <a:ext cx="5422059" cy="409575"/>
          </a:xfrm>
          <a:prstGeom prst="rect">
            <a:avLst/>
          </a:prstGeom>
        </p:spPr>
        <p:txBody>
          <a:bodyPr anchor="t" rtlCol="false" tIns="0" lIns="0" bIns="0" rIns="0">
            <a:spAutoFit/>
          </a:bodyPr>
          <a:lstStyle/>
          <a:p>
            <a:pPr algn="l">
              <a:lnSpc>
                <a:spcPts val="3242"/>
              </a:lnSpc>
            </a:pPr>
            <a:r>
              <a:rPr lang="en-US" sz="2702">
                <a:solidFill>
                  <a:srgbClr val="232E2D"/>
                </a:solidFill>
                <a:latin typeface="Inter"/>
                <a:ea typeface="Inter"/>
                <a:cs typeface="Inter"/>
                <a:sym typeface="Inter"/>
              </a:rPr>
              <a:t>Survival</a:t>
            </a:r>
          </a:p>
        </p:txBody>
      </p:sp>
      <p:sp>
        <p:nvSpPr>
          <p:cNvPr name="TextBox 8" id="8"/>
          <p:cNvSpPr txBox="true"/>
          <p:nvPr/>
        </p:nvSpPr>
        <p:spPr>
          <a:xfrm rot="0">
            <a:off x="842658" y="7385595"/>
            <a:ext cx="5422059" cy="480431"/>
          </a:xfrm>
          <a:prstGeom prst="rect">
            <a:avLst/>
          </a:prstGeom>
        </p:spPr>
        <p:txBody>
          <a:bodyPr anchor="t" rtlCol="false" tIns="0" lIns="0" bIns="0" rIns="0">
            <a:spAutoFit/>
          </a:bodyPr>
          <a:lstStyle/>
          <a:p>
            <a:pPr algn="l">
              <a:lnSpc>
                <a:spcPts val="3242"/>
              </a:lnSpc>
            </a:pPr>
            <a:r>
              <a:rPr lang="en-US" sz="2702">
                <a:solidFill>
                  <a:srgbClr val="232E2D"/>
                </a:solidFill>
                <a:latin typeface="Inter"/>
                <a:ea typeface="Inter"/>
                <a:cs typeface="Inter"/>
                <a:sym typeface="Inter"/>
              </a:rPr>
              <a:t>Mate finding</a:t>
            </a:r>
          </a:p>
        </p:txBody>
      </p:sp>
      <p:sp>
        <p:nvSpPr>
          <p:cNvPr name="TextBox 9" id="9"/>
          <p:cNvSpPr txBox="true"/>
          <p:nvPr/>
        </p:nvSpPr>
        <p:spPr>
          <a:xfrm rot="0">
            <a:off x="842658" y="7875551"/>
            <a:ext cx="5422059" cy="480431"/>
          </a:xfrm>
          <a:prstGeom prst="rect">
            <a:avLst/>
          </a:prstGeom>
        </p:spPr>
        <p:txBody>
          <a:bodyPr anchor="t" rtlCol="false" tIns="0" lIns="0" bIns="0" rIns="0">
            <a:spAutoFit/>
          </a:bodyPr>
          <a:lstStyle/>
          <a:p>
            <a:pPr algn="l">
              <a:lnSpc>
                <a:spcPts val="3242"/>
              </a:lnSpc>
            </a:pPr>
            <a:r>
              <a:rPr lang="en-US" sz="2702">
                <a:solidFill>
                  <a:srgbClr val="232E2D"/>
                </a:solidFill>
                <a:latin typeface="Inter"/>
                <a:ea typeface="Inter"/>
                <a:cs typeface="Inter"/>
                <a:sym typeface="Inter"/>
              </a:rPr>
              <a:t>Offspring survival</a:t>
            </a:r>
          </a:p>
        </p:txBody>
      </p:sp>
      <p:grpSp>
        <p:nvGrpSpPr>
          <p:cNvPr name="Group 10" id="10"/>
          <p:cNvGrpSpPr/>
          <p:nvPr/>
        </p:nvGrpSpPr>
        <p:grpSpPr>
          <a:xfrm rot="0">
            <a:off x="7718380" y="4820512"/>
            <a:ext cx="2539441" cy="1165365"/>
            <a:chOff x="0" y="0"/>
            <a:chExt cx="3385922" cy="1553820"/>
          </a:xfrm>
        </p:grpSpPr>
        <p:sp>
          <p:nvSpPr>
            <p:cNvPr name="Freeform 11" id="11" descr="elephant-scene.png"/>
            <p:cNvSpPr/>
            <p:nvPr/>
          </p:nvSpPr>
          <p:spPr>
            <a:xfrm flipH="false" flipV="false" rot="0">
              <a:off x="0" y="0"/>
              <a:ext cx="3385947" cy="1553845"/>
            </a:xfrm>
            <a:custGeom>
              <a:avLst/>
              <a:gdLst/>
              <a:ahLst/>
              <a:cxnLst/>
              <a:rect r="r" b="b" t="t" l="l"/>
              <a:pathLst>
                <a:path h="1553845" w="3385947">
                  <a:moveTo>
                    <a:pt x="0" y="0"/>
                  </a:moveTo>
                  <a:lnTo>
                    <a:pt x="3385947" y="0"/>
                  </a:lnTo>
                  <a:lnTo>
                    <a:pt x="3385947" y="1553845"/>
                  </a:lnTo>
                  <a:lnTo>
                    <a:pt x="0" y="1553845"/>
                  </a:lnTo>
                  <a:lnTo>
                    <a:pt x="0" y="0"/>
                  </a:lnTo>
                  <a:close/>
                </a:path>
              </a:pathLst>
            </a:custGeom>
            <a:blipFill>
              <a:blip r:embed="rId3"/>
              <a:stretch>
                <a:fillRect l="0" t="0" r="0" b="1"/>
              </a:stretch>
            </a:blipFill>
          </p:spPr>
        </p:sp>
      </p:grpSp>
      <p:sp>
        <p:nvSpPr>
          <p:cNvPr name="AutoShape 12" id="12"/>
          <p:cNvSpPr/>
          <p:nvPr/>
        </p:nvSpPr>
        <p:spPr>
          <a:xfrm>
            <a:off x="10638821" y="5452449"/>
            <a:ext cx="1176624" cy="0"/>
          </a:xfrm>
          <a:prstGeom prst="line">
            <a:avLst/>
          </a:prstGeom>
          <a:ln cap="rnd" w="28575">
            <a:solidFill>
              <a:srgbClr val="717C7A"/>
            </a:solidFill>
            <a:prstDash val="solid"/>
            <a:headEnd type="none" len="sm" w="sm"/>
            <a:tailEnd type="none" len="sm" w="sm"/>
          </a:ln>
        </p:spPr>
      </p:sp>
      <p:sp>
        <p:nvSpPr>
          <p:cNvPr name="AutoShape 13" id="13"/>
          <p:cNvSpPr/>
          <p:nvPr/>
        </p:nvSpPr>
        <p:spPr>
          <a:xfrm>
            <a:off x="11119571" y="2766062"/>
            <a:ext cx="0" cy="5019559"/>
          </a:xfrm>
          <a:prstGeom prst="line">
            <a:avLst/>
          </a:prstGeom>
          <a:ln cap="rnd" w="28575">
            <a:solidFill>
              <a:srgbClr val="717C7A"/>
            </a:solidFill>
            <a:prstDash val="solid"/>
            <a:headEnd type="none" len="sm" w="sm"/>
            <a:tailEnd type="none" len="sm" w="sm"/>
          </a:ln>
        </p:spPr>
      </p:sp>
      <p:sp>
        <p:nvSpPr>
          <p:cNvPr name="AutoShape 14" id="14"/>
          <p:cNvSpPr/>
          <p:nvPr/>
        </p:nvSpPr>
        <p:spPr>
          <a:xfrm>
            <a:off x="11119571" y="2780349"/>
            <a:ext cx="695874" cy="0"/>
          </a:xfrm>
          <a:prstGeom prst="line">
            <a:avLst/>
          </a:prstGeom>
          <a:ln cap="rnd" w="28575">
            <a:solidFill>
              <a:srgbClr val="717C7A"/>
            </a:solidFill>
            <a:prstDash val="solid"/>
            <a:headEnd type="none" len="sm" w="sm"/>
            <a:tailEnd type="none" len="sm" w="sm"/>
          </a:ln>
        </p:spPr>
      </p:sp>
      <p:grpSp>
        <p:nvGrpSpPr>
          <p:cNvPr name="Group 15" id="15"/>
          <p:cNvGrpSpPr/>
          <p:nvPr/>
        </p:nvGrpSpPr>
        <p:grpSpPr>
          <a:xfrm rot="0">
            <a:off x="11815445" y="1956746"/>
            <a:ext cx="1647206" cy="1647206"/>
            <a:chOff x="0" y="0"/>
            <a:chExt cx="2196274" cy="2196274"/>
          </a:xfrm>
        </p:grpSpPr>
        <p:sp>
          <p:nvSpPr>
            <p:cNvPr name="Freeform 16" id="16"/>
            <p:cNvSpPr/>
            <p:nvPr/>
          </p:nvSpPr>
          <p:spPr>
            <a:xfrm flipH="false" flipV="false" rot="0">
              <a:off x="0" y="0"/>
              <a:ext cx="2196338" cy="2196338"/>
            </a:xfrm>
            <a:custGeom>
              <a:avLst/>
              <a:gdLst/>
              <a:ahLst/>
              <a:cxnLst/>
              <a:rect r="r" b="b" t="t" l="l"/>
              <a:pathLst>
                <a:path h="2196338" w="2196338">
                  <a:moveTo>
                    <a:pt x="0" y="1098169"/>
                  </a:moveTo>
                  <a:cubicBezTo>
                    <a:pt x="0" y="491617"/>
                    <a:pt x="491617" y="0"/>
                    <a:pt x="1098169" y="0"/>
                  </a:cubicBezTo>
                  <a:cubicBezTo>
                    <a:pt x="1704721" y="0"/>
                    <a:pt x="2196338" y="491617"/>
                    <a:pt x="2196338" y="1098169"/>
                  </a:cubicBezTo>
                  <a:cubicBezTo>
                    <a:pt x="2196338" y="1704721"/>
                    <a:pt x="1704721" y="2196338"/>
                    <a:pt x="1098169" y="2196338"/>
                  </a:cubicBezTo>
                  <a:cubicBezTo>
                    <a:pt x="491617" y="2196338"/>
                    <a:pt x="0" y="1704594"/>
                    <a:pt x="0" y="1098169"/>
                  </a:cubicBezTo>
                  <a:close/>
                </a:path>
              </a:pathLst>
            </a:custGeom>
            <a:solidFill>
              <a:srgbClr val="BDB9B7">
                <a:alpha val="40784"/>
              </a:srgbClr>
            </a:solidFill>
          </p:spPr>
        </p:sp>
      </p:grpSp>
      <p:grpSp>
        <p:nvGrpSpPr>
          <p:cNvPr name="Group 17" id="17"/>
          <p:cNvGrpSpPr/>
          <p:nvPr/>
        </p:nvGrpSpPr>
        <p:grpSpPr>
          <a:xfrm rot="0">
            <a:off x="12007612" y="2397392"/>
            <a:ext cx="1262863" cy="822208"/>
            <a:chOff x="0" y="0"/>
            <a:chExt cx="1683817" cy="1096277"/>
          </a:xfrm>
        </p:grpSpPr>
        <p:sp>
          <p:nvSpPr>
            <p:cNvPr name="Freeform 18" id="18" descr="elephant-herd.png"/>
            <p:cNvSpPr/>
            <p:nvPr/>
          </p:nvSpPr>
          <p:spPr>
            <a:xfrm flipH="false" flipV="false" rot="0">
              <a:off x="0" y="0"/>
              <a:ext cx="1683766" cy="1096264"/>
            </a:xfrm>
            <a:custGeom>
              <a:avLst/>
              <a:gdLst/>
              <a:ahLst/>
              <a:cxnLst/>
              <a:rect r="r" b="b" t="t" l="l"/>
              <a:pathLst>
                <a:path h="1096264" w="1683766">
                  <a:moveTo>
                    <a:pt x="0" y="0"/>
                  </a:moveTo>
                  <a:lnTo>
                    <a:pt x="1683766" y="0"/>
                  </a:lnTo>
                  <a:lnTo>
                    <a:pt x="1683766" y="1096264"/>
                  </a:lnTo>
                  <a:lnTo>
                    <a:pt x="0" y="1096264"/>
                  </a:lnTo>
                  <a:lnTo>
                    <a:pt x="0" y="0"/>
                  </a:lnTo>
                  <a:close/>
                </a:path>
              </a:pathLst>
            </a:custGeom>
            <a:blipFill>
              <a:blip r:embed="rId4"/>
              <a:stretch>
                <a:fillRect l="0" t="0" r="-3" b="-1"/>
              </a:stretch>
            </a:blipFill>
          </p:spPr>
        </p:sp>
      </p:grpSp>
      <p:grpSp>
        <p:nvGrpSpPr>
          <p:cNvPr name="Group 19" id="19"/>
          <p:cNvGrpSpPr/>
          <p:nvPr/>
        </p:nvGrpSpPr>
        <p:grpSpPr>
          <a:xfrm rot="0">
            <a:off x="11815445" y="4614559"/>
            <a:ext cx="1647206" cy="1647206"/>
            <a:chOff x="0" y="0"/>
            <a:chExt cx="2196274" cy="2196274"/>
          </a:xfrm>
        </p:grpSpPr>
        <p:sp>
          <p:nvSpPr>
            <p:cNvPr name="Freeform 20" id="20"/>
            <p:cNvSpPr/>
            <p:nvPr/>
          </p:nvSpPr>
          <p:spPr>
            <a:xfrm flipH="false" flipV="false" rot="0">
              <a:off x="0" y="0"/>
              <a:ext cx="2196338" cy="2196338"/>
            </a:xfrm>
            <a:custGeom>
              <a:avLst/>
              <a:gdLst/>
              <a:ahLst/>
              <a:cxnLst/>
              <a:rect r="r" b="b" t="t" l="l"/>
              <a:pathLst>
                <a:path h="2196338" w="2196338">
                  <a:moveTo>
                    <a:pt x="0" y="1098169"/>
                  </a:moveTo>
                  <a:cubicBezTo>
                    <a:pt x="0" y="491617"/>
                    <a:pt x="491617" y="0"/>
                    <a:pt x="1098169" y="0"/>
                  </a:cubicBezTo>
                  <a:cubicBezTo>
                    <a:pt x="1704721" y="0"/>
                    <a:pt x="2196338" y="491617"/>
                    <a:pt x="2196338" y="1098169"/>
                  </a:cubicBezTo>
                  <a:cubicBezTo>
                    <a:pt x="2196338" y="1704721"/>
                    <a:pt x="1704721" y="2196338"/>
                    <a:pt x="1098169" y="2196338"/>
                  </a:cubicBezTo>
                  <a:cubicBezTo>
                    <a:pt x="491617" y="2196338"/>
                    <a:pt x="0" y="1704594"/>
                    <a:pt x="0" y="1098169"/>
                  </a:cubicBezTo>
                  <a:close/>
                </a:path>
              </a:pathLst>
            </a:custGeom>
            <a:solidFill>
              <a:srgbClr val="BDB9B7">
                <a:alpha val="40784"/>
              </a:srgbClr>
            </a:solidFill>
          </p:spPr>
        </p:sp>
      </p:grpSp>
      <p:grpSp>
        <p:nvGrpSpPr>
          <p:cNvPr name="Group 21" id="21"/>
          <p:cNvGrpSpPr/>
          <p:nvPr/>
        </p:nvGrpSpPr>
        <p:grpSpPr>
          <a:xfrm rot="0">
            <a:off x="11952710" y="5312551"/>
            <a:ext cx="1372676" cy="564861"/>
            <a:chOff x="0" y="0"/>
            <a:chExt cx="1830235" cy="753148"/>
          </a:xfrm>
        </p:grpSpPr>
        <p:sp>
          <p:nvSpPr>
            <p:cNvPr name="Freeform 22" id="22" descr="elephant-pair.png"/>
            <p:cNvSpPr/>
            <p:nvPr/>
          </p:nvSpPr>
          <p:spPr>
            <a:xfrm flipH="false" flipV="false" rot="0">
              <a:off x="0" y="0"/>
              <a:ext cx="1830197" cy="753110"/>
            </a:xfrm>
            <a:custGeom>
              <a:avLst/>
              <a:gdLst/>
              <a:ahLst/>
              <a:cxnLst/>
              <a:rect r="r" b="b" t="t" l="l"/>
              <a:pathLst>
                <a:path h="753110" w="1830197">
                  <a:moveTo>
                    <a:pt x="0" y="0"/>
                  </a:moveTo>
                  <a:lnTo>
                    <a:pt x="1830197" y="0"/>
                  </a:lnTo>
                  <a:lnTo>
                    <a:pt x="1830197" y="753110"/>
                  </a:lnTo>
                  <a:lnTo>
                    <a:pt x="0" y="753110"/>
                  </a:lnTo>
                  <a:lnTo>
                    <a:pt x="0" y="0"/>
                  </a:lnTo>
                  <a:close/>
                </a:path>
              </a:pathLst>
            </a:custGeom>
            <a:blipFill>
              <a:blip r:embed="rId5"/>
              <a:stretch>
                <a:fillRect l="0" t="0" r="-2" b="-6"/>
              </a:stretch>
            </a:blipFill>
          </p:spPr>
        </p:sp>
      </p:grpSp>
      <p:sp>
        <p:nvSpPr>
          <p:cNvPr name="AutoShape 23" id="23"/>
          <p:cNvSpPr/>
          <p:nvPr/>
        </p:nvSpPr>
        <p:spPr>
          <a:xfrm>
            <a:off x="11119554" y="7785621"/>
            <a:ext cx="695891" cy="0"/>
          </a:xfrm>
          <a:prstGeom prst="line">
            <a:avLst/>
          </a:prstGeom>
          <a:ln cap="rnd" w="28575">
            <a:solidFill>
              <a:srgbClr val="717C7A"/>
            </a:solidFill>
            <a:prstDash val="solid"/>
            <a:headEnd type="none" len="sm" w="sm"/>
            <a:tailEnd type="none" len="sm" w="sm"/>
          </a:ln>
        </p:spPr>
      </p:sp>
      <p:grpSp>
        <p:nvGrpSpPr>
          <p:cNvPr name="Group 24" id="24"/>
          <p:cNvGrpSpPr/>
          <p:nvPr/>
        </p:nvGrpSpPr>
        <p:grpSpPr>
          <a:xfrm rot="0">
            <a:off x="11815445" y="6962018"/>
            <a:ext cx="1647206" cy="1647206"/>
            <a:chOff x="0" y="0"/>
            <a:chExt cx="2196274" cy="2196274"/>
          </a:xfrm>
        </p:grpSpPr>
        <p:sp>
          <p:nvSpPr>
            <p:cNvPr name="Freeform 25" id="25"/>
            <p:cNvSpPr/>
            <p:nvPr/>
          </p:nvSpPr>
          <p:spPr>
            <a:xfrm flipH="false" flipV="false" rot="0">
              <a:off x="0" y="0"/>
              <a:ext cx="2196338" cy="2196338"/>
            </a:xfrm>
            <a:custGeom>
              <a:avLst/>
              <a:gdLst/>
              <a:ahLst/>
              <a:cxnLst/>
              <a:rect r="r" b="b" t="t" l="l"/>
              <a:pathLst>
                <a:path h="2196338" w="2196338">
                  <a:moveTo>
                    <a:pt x="0" y="1098169"/>
                  </a:moveTo>
                  <a:cubicBezTo>
                    <a:pt x="0" y="491617"/>
                    <a:pt x="491617" y="0"/>
                    <a:pt x="1098169" y="0"/>
                  </a:cubicBezTo>
                  <a:cubicBezTo>
                    <a:pt x="1704721" y="0"/>
                    <a:pt x="2196338" y="491617"/>
                    <a:pt x="2196338" y="1098169"/>
                  </a:cubicBezTo>
                  <a:cubicBezTo>
                    <a:pt x="2196338" y="1704721"/>
                    <a:pt x="1704721" y="2196338"/>
                    <a:pt x="1098169" y="2196338"/>
                  </a:cubicBezTo>
                  <a:cubicBezTo>
                    <a:pt x="491617" y="2196338"/>
                    <a:pt x="0" y="1704594"/>
                    <a:pt x="0" y="1098169"/>
                  </a:cubicBezTo>
                  <a:close/>
                </a:path>
              </a:pathLst>
            </a:custGeom>
            <a:solidFill>
              <a:srgbClr val="BDB9B7">
                <a:alpha val="40784"/>
              </a:srgbClr>
            </a:solidFill>
          </p:spPr>
        </p:sp>
      </p:grpSp>
      <p:grpSp>
        <p:nvGrpSpPr>
          <p:cNvPr name="Group 26" id="26"/>
          <p:cNvGrpSpPr/>
          <p:nvPr/>
        </p:nvGrpSpPr>
        <p:grpSpPr>
          <a:xfrm rot="0">
            <a:off x="12103700" y="7272371"/>
            <a:ext cx="1070686" cy="1007412"/>
            <a:chOff x="0" y="0"/>
            <a:chExt cx="1427582" cy="1343216"/>
          </a:xfrm>
        </p:grpSpPr>
        <p:sp>
          <p:nvSpPr>
            <p:cNvPr name="Freeform 27" id="27" descr="elephant-calf.png"/>
            <p:cNvSpPr/>
            <p:nvPr/>
          </p:nvSpPr>
          <p:spPr>
            <a:xfrm flipH="false" flipV="false" rot="0">
              <a:off x="0" y="0"/>
              <a:ext cx="1427607" cy="1343152"/>
            </a:xfrm>
            <a:custGeom>
              <a:avLst/>
              <a:gdLst/>
              <a:ahLst/>
              <a:cxnLst/>
              <a:rect r="r" b="b" t="t" l="l"/>
              <a:pathLst>
                <a:path h="1343152" w="1427607">
                  <a:moveTo>
                    <a:pt x="0" y="0"/>
                  </a:moveTo>
                  <a:lnTo>
                    <a:pt x="1427607" y="0"/>
                  </a:lnTo>
                  <a:lnTo>
                    <a:pt x="1427607" y="1343152"/>
                  </a:lnTo>
                  <a:lnTo>
                    <a:pt x="0" y="1343152"/>
                  </a:lnTo>
                  <a:lnTo>
                    <a:pt x="0" y="0"/>
                  </a:lnTo>
                  <a:close/>
                </a:path>
              </a:pathLst>
            </a:custGeom>
            <a:blipFill>
              <a:blip r:embed="rId6"/>
              <a:stretch>
                <a:fillRect l="0" t="0" r="1" b="-4"/>
              </a:stretch>
            </a:blipFill>
          </p:spPr>
        </p:sp>
      </p:grpSp>
      <p:sp>
        <p:nvSpPr>
          <p:cNvPr name="AutoShape 28" id="28"/>
          <p:cNvSpPr/>
          <p:nvPr/>
        </p:nvSpPr>
        <p:spPr>
          <a:xfrm>
            <a:off x="13846973" y="2766062"/>
            <a:ext cx="183789" cy="0"/>
          </a:xfrm>
          <a:prstGeom prst="line">
            <a:avLst/>
          </a:prstGeom>
          <a:ln cap="rnd" w="28575">
            <a:solidFill>
              <a:srgbClr val="6E7C7A"/>
            </a:solidFill>
            <a:prstDash val="solid"/>
            <a:headEnd type="none" len="sm" w="sm"/>
            <a:tailEnd type="none" len="sm" w="sm"/>
          </a:ln>
        </p:spPr>
      </p:sp>
      <p:sp>
        <p:nvSpPr>
          <p:cNvPr name="AutoShape 29" id="29"/>
          <p:cNvSpPr/>
          <p:nvPr/>
        </p:nvSpPr>
        <p:spPr>
          <a:xfrm>
            <a:off x="14021237" y="2766062"/>
            <a:ext cx="0" cy="5425617"/>
          </a:xfrm>
          <a:prstGeom prst="line">
            <a:avLst/>
          </a:prstGeom>
          <a:ln cap="rnd" w="28575">
            <a:solidFill>
              <a:srgbClr val="6E7C7A"/>
            </a:solidFill>
            <a:prstDash val="solid"/>
            <a:headEnd type="none" len="sm" w="sm"/>
            <a:tailEnd type="none" len="sm" w="sm"/>
          </a:ln>
        </p:spPr>
      </p:sp>
      <p:sp>
        <p:nvSpPr>
          <p:cNvPr name="AutoShape 30" id="30"/>
          <p:cNvSpPr/>
          <p:nvPr/>
        </p:nvSpPr>
        <p:spPr>
          <a:xfrm>
            <a:off x="13846973" y="8181589"/>
            <a:ext cx="183789" cy="0"/>
          </a:xfrm>
          <a:prstGeom prst="line">
            <a:avLst/>
          </a:prstGeom>
          <a:ln cap="rnd" w="28575">
            <a:solidFill>
              <a:srgbClr val="6E7C7A"/>
            </a:solidFill>
            <a:prstDash val="solid"/>
            <a:headEnd type="none" len="sm" w="sm"/>
            <a:tailEnd type="none" len="sm" w="sm"/>
          </a:ln>
        </p:spPr>
      </p:sp>
      <p:sp>
        <p:nvSpPr>
          <p:cNvPr name="AutoShape 31" id="31"/>
          <p:cNvSpPr/>
          <p:nvPr/>
        </p:nvSpPr>
        <p:spPr>
          <a:xfrm>
            <a:off x="14002189" y="5452449"/>
            <a:ext cx="715837" cy="0"/>
          </a:xfrm>
          <a:prstGeom prst="line">
            <a:avLst/>
          </a:prstGeom>
          <a:ln cap="rnd" w="28575">
            <a:solidFill>
              <a:srgbClr val="6E7C7A"/>
            </a:solidFill>
            <a:prstDash val="solid"/>
            <a:headEnd type="none" len="sm" w="sm"/>
            <a:tailEnd type="none" len="sm" w="sm"/>
          </a:ln>
        </p:spPr>
      </p:sp>
      <p:grpSp>
        <p:nvGrpSpPr>
          <p:cNvPr name="Group 32" id="32"/>
          <p:cNvGrpSpPr/>
          <p:nvPr/>
        </p:nvGrpSpPr>
        <p:grpSpPr>
          <a:xfrm rot="0">
            <a:off x="15047945" y="4475936"/>
            <a:ext cx="2612405" cy="2059009"/>
            <a:chOff x="0" y="0"/>
            <a:chExt cx="3483207" cy="2745345"/>
          </a:xfrm>
        </p:grpSpPr>
        <p:sp>
          <p:nvSpPr>
            <p:cNvPr name="Freeform 33" id="33"/>
            <p:cNvSpPr/>
            <p:nvPr/>
          </p:nvSpPr>
          <p:spPr>
            <a:xfrm flipH="false" flipV="false" rot="0">
              <a:off x="0" y="0"/>
              <a:ext cx="3483203" cy="2745343"/>
            </a:xfrm>
            <a:custGeom>
              <a:avLst/>
              <a:gdLst/>
              <a:ahLst/>
              <a:cxnLst/>
              <a:rect r="r" b="b" t="t" l="l"/>
              <a:pathLst>
                <a:path h="2745343" w="3483203">
                  <a:moveTo>
                    <a:pt x="0" y="0"/>
                  </a:moveTo>
                  <a:lnTo>
                    <a:pt x="3483203" y="0"/>
                  </a:lnTo>
                  <a:lnTo>
                    <a:pt x="3483203" y="2745343"/>
                  </a:lnTo>
                  <a:lnTo>
                    <a:pt x="0" y="2745343"/>
                  </a:lnTo>
                  <a:close/>
                </a:path>
              </a:pathLst>
            </a:custGeom>
            <a:blipFill>
              <a:blip r:embed="rId7">
                <a:alphaModFix amt="0"/>
              </a:blip>
              <a:stretch>
                <a:fillRect l="-26774" t="0" r="-75475" b="0"/>
              </a:stretch>
            </a:blipFill>
          </p:spPr>
        </p:sp>
        <p:sp>
          <p:nvSpPr>
            <p:cNvPr name="TextBox 34" id="34"/>
            <p:cNvSpPr txBox="true"/>
            <p:nvPr/>
          </p:nvSpPr>
          <p:spPr>
            <a:xfrm>
              <a:off x="0" y="-19050"/>
              <a:ext cx="3483207" cy="2764395"/>
            </a:xfrm>
            <a:prstGeom prst="rect">
              <a:avLst/>
            </a:prstGeom>
          </p:spPr>
          <p:txBody>
            <a:bodyPr anchor="ctr" rtlCol="false" tIns="0" lIns="0" bIns="0" rIns="0"/>
            <a:lstStyle/>
            <a:p>
              <a:pPr algn="l">
                <a:lnSpc>
                  <a:spcPts val="3628"/>
                </a:lnSpc>
              </a:pPr>
              <a:r>
                <a:rPr lang="en-US" sz="2902">
                  <a:solidFill>
                    <a:srgbClr val="232E2D"/>
                  </a:solidFill>
                  <a:latin typeface="Inter"/>
                  <a:ea typeface="Inter"/>
                  <a:cs typeface="Inter"/>
                  <a:sym typeface="Inter"/>
                </a:rPr>
                <a:t>One fitness component gets worse at lower numbers</a:t>
              </a:r>
            </a:p>
          </p:txBody>
        </p:sp>
      </p:grpSp>
      <p:sp>
        <p:nvSpPr>
          <p:cNvPr name="AutoShape 35" id="35"/>
          <p:cNvSpPr/>
          <p:nvPr/>
        </p:nvSpPr>
        <p:spPr>
          <a:xfrm>
            <a:off x="816457" y="9356295"/>
            <a:ext cx="16668934" cy="14255"/>
          </a:xfrm>
          <a:prstGeom prst="line">
            <a:avLst/>
          </a:prstGeom>
          <a:ln cap="rnd" w="19050">
            <a:solidFill>
              <a:srgbClr val="C7C4C3"/>
            </a:solidFill>
            <a:prstDash val="solid"/>
            <a:headEnd type="none" len="sm" w="sm"/>
            <a:tailEnd type="none" len="sm" w="sm"/>
          </a:ln>
        </p:spPr>
      </p:sp>
      <p:sp>
        <p:nvSpPr>
          <p:cNvPr name="TextBox 36" id="36"/>
          <p:cNvSpPr txBox="true"/>
          <p:nvPr/>
        </p:nvSpPr>
        <p:spPr>
          <a:xfrm rot="0">
            <a:off x="823608" y="9491162"/>
            <a:ext cx="16654634" cy="6191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Qu</a:t>
            </a:r>
            <a:r>
              <a:rPr lang="en-US" sz="2001">
                <a:solidFill>
                  <a:srgbClr val="717C7A"/>
                </a:solidFill>
                <a:latin typeface="Inter"/>
                <a:ea typeface="Inter"/>
                <a:cs typeface="Inter"/>
                <a:sym typeface="Inter"/>
              </a:rPr>
              <a:t>ote: Muir et al. 2024, p. 2, after Stephens et al. 1999</a:t>
            </a:r>
          </a:p>
          <a:p>
            <a:pPr algn="l">
              <a:lnSpc>
                <a:spcPts val="2401"/>
              </a:lnSpc>
            </a:pPr>
          </a:p>
        </p:txBody>
      </p:sp>
      <p:sp>
        <p:nvSpPr>
          <p:cNvPr name="TextBox 37" id="37"/>
          <p:cNvSpPr txBox="true"/>
          <p:nvPr/>
        </p:nvSpPr>
        <p:spPr>
          <a:xfrm rot="0">
            <a:off x="1245637" y="4136248"/>
            <a:ext cx="5422059" cy="314325"/>
          </a:xfrm>
          <a:prstGeom prst="rect">
            <a:avLst/>
          </a:prstGeom>
        </p:spPr>
        <p:txBody>
          <a:bodyPr anchor="t" rtlCol="false" tIns="0" lIns="0" bIns="0" rIns="0">
            <a:spAutoFit/>
          </a:bodyPr>
          <a:lstStyle/>
          <a:p>
            <a:pPr algn="l">
              <a:lnSpc>
                <a:spcPts val="2521"/>
              </a:lnSpc>
            </a:pPr>
            <a:r>
              <a:rPr lang="en-US" sz="2101">
                <a:solidFill>
                  <a:srgbClr val="282C34"/>
                </a:solidFill>
                <a:latin typeface="Inter"/>
                <a:ea typeface="Inter"/>
                <a:cs typeface="Inter"/>
                <a:sym typeface="Inter"/>
              </a:rPr>
              <a:t>– Muir et al. 2024</a:t>
            </a:r>
          </a:p>
        </p:txBody>
      </p:sp>
      <p:sp>
        <p:nvSpPr>
          <p:cNvPr name="AutoShape 38" id="38"/>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9" id="39"/>
          <p:cNvGrpSpPr/>
          <p:nvPr/>
        </p:nvGrpSpPr>
        <p:grpSpPr>
          <a:xfrm rot="0">
            <a:off x="822960" y="468630"/>
            <a:ext cx="8229600" cy="617220"/>
            <a:chOff x="0" y="0"/>
            <a:chExt cx="10972800" cy="822960"/>
          </a:xfrm>
        </p:grpSpPr>
        <p:sp>
          <p:nvSpPr>
            <p:cNvPr name="Freeform 40" id="40"/>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7">
                <a:alphaModFix amt="0"/>
              </a:blip>
              <a:stretch>
                <a:fillRect l="0" t="-209800" r="0" b="-209800"/>
              </a:stretch>
            </a:blipFill>
          </p:spPr>
        </p:sp>
        <p:sp>
          <p:nvSpPr>
            <p:cNvPr name="TextBox 41" id="41"/>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Component Allee effect</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TextBox 2" id="2"/>
          <p:cNvSpPr txBox="true"/>
          <p:nvPr/>
        </p:nvSpPr>
        <p:spPr>
          <a:xfrm rot="0">
            <a:off x="844148" y="1554584"/>
            <a:ext cx="4323921" cy="787400"/>
          </a:xfrm>
          <a:prstGeom prst="rect">
            <a:avLst/>
          </a:prstGeom>
        </p:spPr>
        <p:txBody>
          <a:bodyPr anchor="t" rtlCol="false" tIns="0" lIns="0" bIns="0" rIns="0">
            <a:spAutoFit/>
          </a:bodyPr>
          <a:lstStyle/>
          <a:p>
            <a:pPr algn="l">
              <a:lnSpc>
                <a:spcPts val="3242"/>
              </a:lnSpc>
            </a:pPr>
            <a:r>
              <a:rPr lang="en-US" sz="2702">
                <a:solidFill>
                  <a:srgbClr val="232E2D"/>
                </a:solidFill>
                <a:latin typeface="Inter"/>
                <a:ea typeface="Inter"/>
                <a:cs typeface="Inter"/>
                <a:sym typeface="Inter"/>
              </a:rPr>
              <a:t>Pups produced per dog</a:t>
            </a:r>
          </a:p>
          <a:p>
            <a:pPr algn="l">
              <a:lnSpc>
                <a:spcPts val="480"/>
              </a:lnSpc>
            </a:pPr>
          </a:p>
          <a:p>
            <a:pPr algn="l">
              <a:lnSpc>
                <a:spcPts val="2521"/>
              </a:lnSpc>
            </a:pPr>
            <a:r>
              <a:rPr lang="en-US" sz="2101">
                <a:solidFill>
                  <a:srgbClr val="717C7A"/>
                </a:solidFill>
                <a:latin typeface="Inter"/>
                <a:ea typeface="Inter"/>
                <a:cs typeface="Inter"/>
                <a:sym typeface="Inter"/>
              </a:rPr>
              <a:t>per capita productivity</a:t>
            </a:r>
          </a:p>
        </p:txBody>
      </p:sp>
      <p:sp>
        <p:nvSpPr>
          <p:cNvPr name="AutoShape 3" id="3"/>
          <p:cNvSpPr/>
          <p:nvPr/>
        </p:nvSpPr>
        <p:spPr>
          <a:xfrm>
            <a:off x="836997" y="2566024"/>
            <a:ext cx="4338214" cy="14310"/>
          </a:xfrm>
          <a:prstGeom prst="line">
            <a:avLst/>
          </a:prstGeom>
          <a:ln cap="rnd" w="19050">
            <a:solidFill>
              <a:srgbClr val="C7C4C3"/>
            </a:solidFill>
            <a:prstDash val="solid"/>
            <a:headEnd type="none" len="sm" w="sm"/>
            <a:tailEnd type="none" len="sm" w="sm"/>
          </a:ln>
        </p:spPr>
      </p:sp>
      <p:sp>
        <p:nvSpPr>
          <p:cNvPr name="AutoShape 4" id="4"/>
          <p:cNvSpPr/>
          <p:nvPr/>
        </p:nvSpPr>
        <p:spPr>
          <a:xfrm>
            <a:off x="1317431" y="3065008"/>
            <a:ext cx="14308" cy="4269586"/>
          </a:xfrm>
          <a:prstGeom prst="line">
            <a:avLst/>
          </a:prstGeom>
          <a:ln cap="rnd" w="9525">
            <a:solidFill>
              <a:srgbClr val="C7C4C3"/>
            </a:solidFill>
            <a:prstDash val="solid"/>
            <a:headEnd type="none" len="sm" w="sm"/>
            <a:tailEnd type="none" len="sm" w="sm"/>
          </a:ln>
        </p:spPr>
      </p:sp>
      <p:sp>
        <p:nvSpPr>
          <p:cNvPr name="AutoShape 5" id="5"/>
          <p:cNvSpPr/>
          <p:nvPr/>
        </p:nvSpPr>
        <p:spPr>
          <a:xfrm>
            <a:off x="1317431" y="7320285"/>
            <a:ext cx="3747965" cy="14326"/>
          </a:xfrm>
          <a:prstGeom prst="line">
            <a:avLst/>
          </a:prstGeom>
          <a:ln cap="rnd" w="9525">
            <a:solidFill>
              <a:srgbClr val="C7C4C3"/>
            </a:solidFill>
            <a:prstDash val="solid"/>
            <a:headEnd type="none" len="sm" w="sm"/>
            <a:tailEnd type="none" len="sm" w="sm"/>
          </a:ln>
        </p:spPr>
      </p:sp>
      <p:sp>
        <p:nvSpPr>
          <p:cNvPr name="TextBox 6" id="6"/>
          <p:cNvSpPr txBox="true"/>
          <p:nvPr/>
        </p:nvSpPr>
        <p:spPr>
          <a:xfrm rot="0">
            <a:off x="912776"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0</a:t>
            </a:r>
          </a:p>
        </p:txBody>
      </p:sp>
      <p:sp>
        <p:nvSpPr>
          <p:cNvPr name="TextBox 7" id="7"/>
          <p:cNvSpPr txBox="true"/>
          <p:nvPr/>
        </p:nvSpPr>
        <p:spPr>
          <a:xfrm rot="0">
            <a:off x="1846197"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4</a:t>
            </a:r>
          </a:p>
        </p:txBody>
      </p:sp>
      <p:sp>
        <p:nvSpPr>
          <p:cNvPr name="TextBox 8" id="8"/>
          <p:cNvSpPr txBox="true"/>
          <p:nvPr/>
        </p:nvSpPr>
        <p:spPr>
          <a:xfrm rot="0">
            <a:off x="2779609"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8</a:t>
            </a:r>
          </a:p>
        </p:txBody>
      </p:sp>
      <p:sp>
        <p:nvSpPr>
          <p:cNvPr name="TextBox 9" id="9"/>
          <p:cNvSpPr txBox="true"/>
          <p:nvPr/>
        </p:nvSpPr>
        <p:spPr>
          <a:xfrm rot="0">
            <a:off x="3713031"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12</a:t>
            </a:r>
          </a:p>
        </p:txBody>
      </p:sp>
      <p:sp>
        <p:nvSpPr>
          <p:cNvPr name="TextBox 10" id="10"/>
          <p:cNvSpPr txBox="true"/>
          <p:nvPr/>
        </p:nvSpPr>
        <p:spPr>
          <a:xfrm rot="0">
            <a:off x="4646443"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16</a:t>
            </a:r>
          </a:p>
        </p:txBody>
      </p:sp>
      <p:sp>
        <p:nvSpPr>
          <p:cNvPr name="TextBox 11" id="11"/>
          <p:cNvSpPr txBox="true"/>
          <p:nvPr/>
        </p:nvSpPr>
        <p:spPr>
          <a:xfrm rot="0">
            <a:off x="569609" y="7176458"/>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0.0</a:t>
            </a:r>
          </a:p>
        </p:txBody>
      </p:sp>
      <p:sp>
        <p:nvSpPr>
          <p:cNvPr name="TextBox 12" id="12"/>
          <p:cNvSpPr txBox="true"/>
          <p:nvPr/>
        </p:nvSpPr>
        <p:spPr>
          <a:xfrm rot="0">
            <a:off x="569609" y="6325399"/>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0.2</a:t>
            </a:r>
          </a:p>
        </p:txBody>
      </p:sp>
      <p:sp>
        <p:nvSpPr>
          <p:cNvPr name="TextBox 13" id="13"/>
          <p:cNvSpPr txBox="true"/>
          <p:nvPr/>
        </p:nvSpPr>
        <p:spPr>
          <a:xfrm rot="0">
            <a:off x="569609" y="5474340"/>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0.4</a:t>
            </a:r>
          </a:p>
        </p:txBody>
      </p:sp>
      <p:sp>
        <p:nvSpPr>
          <p:cNvPr name="TextBox 14" id="14"/>
          <p:cNvSpPr txBox="true"/>
          <p:nvPr/>
        </p:nvSpPr>
        <p:spPr>
          <a:xfrm rot="0">
            <a:off x="569609" y="4623282"/>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0.6</a:t>
            </a:r>
          </a:p>
        </p:txBody>
      </p:sp>
      <p:sp>
        <p:nvSpPr>
          <p:cNvPr name="TextBox 15" id="15"/>
          <p:cNvSpPr txBox="true"/>
          <p:nvPr/>
        </p:nvSpPr>
        <p:spPr>
          <a:xfrm rot="0">
            <a:off x="569609" y="3772223"/>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0.8</a:t>
            </a:r>
          </a:p>
        </p:txBody>
      </p:sp>
      <p:sp>
        <p:nvSpPr>
          <p:cNvPr name="TextBox 16" id="16"/>
          <p:cNvSpPr txBox="true"/>
          <p:nvPr/>
        </p:nvSpPr>
        <p:spPr>
          <a:xfrm rot="0">
            <a:off x="569609" y="2921174"/>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1.0</a:t>
            </a:r>
          </a:p>
        </p:txBody>
      </p:sp>
      <p:grpSp>
        <p:nvGrpSpPr>
          <p:cNvPr name="Group 17" id="17"/>
          <p:cNvGrpSpPr/>
          <p:nvPr/>
        </p:nvGrpSpPr>
        <p:grpSpPr>
          <a:xfrm rot="0">
            <a:off x="1715791" y="7251953"/>
            <a:ext cx="150990" cy="150990"/>
            <a:chOff x="0" y="0"/>
            <a:chExt cx="201320" cy="201320"/>
          </a:xfrm>
        </p:grpSpPr>
        <p:sp>
          <p:nvSpPr>
            <p:cNvPr name="Freeform 18" id="18"/>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9" id="19"/>
          <p:cNvGrpSpPr/>
          <p:nvPr/>
        </p:nvGrpSpPr>
        <p:grpSpPr>
          <a:xfrm rot="0">
            <a:off x="1949144" y="7251953"/>
            <a:ext cx="150990" cy="150990"/>
            <a:chOff x="0" y="0"/>
            <a:chExt cx="201320" cy="201320"/>
          </a:xfrm>
        </p:grpSpPr>
        <p:sp>
          <p:nvSpPr>
            <p:cNvPr name="Freeform 20" id="20"/>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21" id="21"/>
          <p:cNvGrpSpPr/>
          <p:nvPr/>
        </p:nvGrpSpPr>
        <p:grpSpPr>
          <a:xfrm rot="0">
            <a:off x="1949144" y="5847701"/>
            <a:ext cx="150990" cy="150990"/>
            <a:chOff x="0" y="0"/>
            <a:chExt cx="201320" cy="201320"/>
          </a:xfrm>
        </p:grpSpPr>
        <p:sp>
          <p:nvSpPr>
            <p:cNvPr name="Freeform 22" id="22"/>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23" id="23"/>
          <p:cNvGrpSpPr/>
          <p:nvPr/>
        </p:nvGrpSpPr>
        <p:grpSpPr>
          <a:xfrm rot="0">
            <a:off x="2182497" y="5124306"/>
            <a:ext cx="150990" cy="150990"/>
            <a:chOff x="0" y="0"/>
            <a:chExt cx="201320" cy="201320"/>
          </a:xfrm>
        </p:grpSpPr>
        <p:sp>
          <p:nvSpPr>
            <p:cNvPr name="Freeform 24" id="24"/>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25" id="25"/>
          <p:cNvGrpSpPr/>
          <p:nvPr/>
        </p:nvGrpSpPr>
        <p:grpSpPr>
          <a:xfrm rot="0">
            <a:off x="2182497" y="7251953"/>
            <a:ext cx="150990" cy="150990"/>
            <a:chOff x="0" y="0"/>
            <a:chExt cx="201320" cy="201320"/>
          </a:xfrm>
        </p:grpSpPr>
        <p:sp>
          <p:nvSpPr>
            <p:cNvPr name="Freeform 26" id="26"/>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27" id="27"/>
          <p:cNvGrpSpPr/>
          <p:nvPr/>
        </p:nvGrpSpPr>
        <p:grpSpPr>
          <a:xfrm rot="0">
            <a:off x="2415859" y="7251953"/>
            <a:ext cx="150990" cy="150990"/>
            <a:chOff x="0" y="0"/>
            <a:chExt cx="201320" cy="201320"/>
          </a:xfrm>
        </p:grpSpPr>
        <p:sp>
          <p:nvSpPr>
            <p:cNvPr name="Freeform 28" id="28"/>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29" id="29"/>
          <p:cNvGrpSpPr/>
          <p:nvPr/>
        </p:nvGrpSpPr>
        <p:grpSpPr>
          <a:xfrm rot="0">
            <a:off x="2415859" y="5549836"/>
            <a:ext cx="150990" cy="150990"/>
            <a:chOff x="0" y="0"/>
            <a:chExt cx="201320" cy="201320"/>
          </a:xfrm>
        </p:grpSpPr>
        <p:sp>
          <p:nvSpPr>
            <p:cNvPr name="Freeform 30" id="30"/>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31" id="31"/>
          <p:cNvGrpSpPr/>
          <p:nvPr/>
        </p:nvGrpSpPr>
        <p:grpSpPr>
          <a:xfrm rot="0">
            <a:off x="2649212" y="4413675"/>
            <a:ext cx="150990" cy="150990"/>
            <a:chOff x="0" y="0"/>
            <a:chExt cx="201320" cy="201320"/>
          </a:xfrm>
        </p:grpSpPr>
        <p:sp>
          <p:nvSpPr>
            <p:cNvPr name="Freeform 32" id="32"/>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33" id="33"/>
          <p:cNvGrpSpPr/>
          <p:nvPr/>
        </p:nvGrpSpPr>
        <p:grpSpPr>
          <a:xfrm rot="0">
            <a:off x="2649212" y="5124306"/>
            <a:ext cx="150990" cy="150990"/>
            <a:chOff x="0" y="0"/>
            <a:chExt cx="201320" cy="201320"/>
          </a:xfrm>
        </p:grpSpPr>
        <p:sp>
          <p:nvSpPr>
            <p:cNvPr name="Freeform 34" id="34"/>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35" id="35"/>
          <p:cNvGrpSpPr/>
          <p:nvPr/>
        </p:nvGrpSpPr>
        <p:grpSpPr>
          <a:xfrm rot="0">
            <a:off x="2649212" y="5834938"/>
            <a:ext cx="150990" cy="150990"/>
            <a:chOff x="0" y="0"/>
            <a:chExt cx="201320" cy="201320"/>
          </a:xfrm>
        </p:grpSpPr>
        <p:sp>
          <p:nvSpPr>
            <p:cNvPr name="Freeform 36" id="36"/>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37" id="37"/>
          <p:cNvGrpSpPr/>
          <p:nvPr/>
        </p:nvGrpSpPr>
        <p:grpSpPr>
          <a:xfrm rot="0">
            <a:off x="2882565" y="5422182"/>
            <a:ext cx="150990" cy="150990"/>
            <a:chOff x="0" y="0"/>
            <a:chExt cx="201320" cy="201320"/>
          </a:xfrm>
        </p:grpSpPr>
        <p:sp>
          <p:nvSpPr>
            <p:cNvPr name="Freeform 38" id="38"/>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39" id="39"/>
          <p:cNvGrpSpPr/>
          <p:nvPr/>
        </p:nvGrpSpPr>
        <p:grpSpPr>
          <a:xfrm rot="0">
            <a:off x="2882565" y="4213678"/>
            <a:ext cx="150990" cy="150990"/>
            <a:chOff x="0" y="0"/>
            <a:chExt cx="201320" cy="201320"/>
          </a:xfrm>
        </p:grpSpPr>
        <p:sp>
          <p:nvSpPr>
            <p:cNvPr name="Freeform 40" id="40"/>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41" id="41"/>
          <p:cNvGrpSpPr/>
          <p:nvPr/>
        </p:nvGrpSpPr>
        <p:grpSpPr>
          <a:xfrm rot="0">
            <a:off x="3115918" y="5124306"/>
            <a:ext cx="150990" cy="150990"/>
            <a:chOff x="0" y="0"/>
            <a:chExt cx="201320" cy="201320"/>
          </a:xfrm>
        </p:grpSpPr>
        <p:sp>
          <p:nvSpPr>
            <p:cNvPr name="Freeform 42" id="42"/>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43" id="43"/>
          <p:cNvGrpSpPr/>
          <p:nvPr/>
        </p:nvGrpSpPr>
        <p:grpSpPr>
          <a:xfrm rot="0">
            <a:off x="3115918" y="4060488"/>
            <a:ext cx="150990" cy="150990"/>
            <a:chOff x="0" y="0"/>
            <a:chExt cx="201320" cy="201320"/>
          </a:xfrm>
        </p:grpSpPr>
        <p:sp>
          <p:nvSpPr>
            <p:cNvPr name="Freeform 44" id="44"/>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45" id="45"/>
          <p:cNvGrpSpPr/>
          <p:nvPr/>
        </p:nvGrpSpPr>
        <p:grpSpPr>
          <a:xfrm rot="0">
            <a:off x="3115918" y="4592402"/>
            <a:ext cx="150990" cy="150990"/>
            <a:chOff x="0" y="0"/>
            <a:chExt cx="201320" cy="201320"/>
          </a:xfrm>
        </p:grpSpPr>
        <p:sp>
          <p:nvSpPr>
            <p:cNvPr name="Freeform 46" id="46"/>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47" id="47"/>
          <p:cNvGrpSpPr/>
          <p:nvPr/>
        </p:nvGrpSpPr>
        <p:grpSpPr>
          <a:xfrm rot="0">
            <a:off x="3115918" y="7251953"/>
            <a:ext cx="150990" cy="150990"/>
            <a:chOff x="0" y="0"/>
            <a:chExt cx="201320" cy="201320"/>
          </a:xfrm>
        </p:grpSpPr>
        <p:sp>
          <p:nvSpPr>
            <p:cNvPr name="Freeform 48" id="48"/>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49" id="49"/>
          <p:cNvGrpSpPr/>
          <p:nvPr/>
        </p:nvGrpSpPr>
        <p:grpSpPr>
          <a:xfrm rot="0">
            <a:off x="3349271" y="4413675"/>
            <a:ext cx="150990" cy="150990"/>
            <a:chOff x="0" y="0"/>
            <a:chExt cx="201320" cy="201320"/>
          </a:xfrm>
        </p:grpSpPr>
        <p:sp>
          <p:nvSpPr>
            <p:cNvPr name="Freeform 50" id="50"/>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51" id="51"/>
          <p:cNvGrpSpPr/>
          <p:nvPr/>
        </p:nvGrpSpPr>
        <p:grpSpPr>
          <a:xfrm rot="0">
            <a:off x="3349271" y="5362603"/>
            <a:ext cx="150990" cy="150990"/>
            <a:chOff x="0" y="0"/>
            <a:chExt cx="201320" cy="201320"/>
          </a:xfrm>
        </p:grpSpPr>
        <p:sp>
          <p:nvSpPr>
            <p:cNvPr name="Freeform 52" id="52"/>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53" id="53"/>
          <p:cNvGrpSpPr/>
          <p:nvPr/>
        </p:nvGrpSpPr>
        <p:grpSpPr>
          <a:xfrm rot="0">
            <a:off x="3349271" y="3941339"/>
            <a:ext cx="150990" cy="150990"/>
            <a:chOff x="0" y="0"/>
            <a:chExt cx="201320" cy="201320"/>
          </a:xfrm>
        </p:grpSpPr>
        <p:sp>
          <p:nvSpPr>
            <p:cNvPr name="Freeform 54" id="54"/>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55" id="55"/>
          <p:cNvGrpSpPr/>
          <p:nvPr/>
        </p:nvGrpSpPr>
        <p:grpSpPr>
          <a:xfrm rot="0">
            <a:off x="3349271" y="7251953"/>
            <a:ext cx="150990" cy="150990"/>
            <a:chOff x="0" y="0"/>
            <a:chExt cx="201320" cy="201320"/>
          </a:xfrm>
        </p:grpSpPr>
        <p:sp>
          <p:nvSpPr>
            <p:cNvPr name="Freeform 56" id="56"/>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57" id="57"/>
          <p:cNvGrpSpPr/>
          <p:nvPr/>
        </p:nvGrpSpPr>
        <p:grpSpPr>
          <a:xfrm rot="0">
            <a:off x="3349271" y="4911546"/>
            <a:ext cx="150990" cy="150990"/>
            <a:chOff x="0" y="0"/>
            <a:chExt cx="201320" cy="201320"/>
          </a:xfrm>
        </p:grpSpPr>
        <p:sp>
          <p:nvSpPr>
            <p:cNvPr name="Freeform 58" id="58"/>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59" id="59"/>
          <p:cNvGrpSpPr/>
          <p:nvPr/>
        </p:nvGrpSpPr>
        <p:grpSpPr>
          <a:xfrm rot="0">
            <a:off x="3815977" y="3762622"/>
            <a:ext cx="150990" cy="150990"/>
            <a:chOff x="0" y="0"/>
            <a:chExt cx="201320" cy="201320"/>
          </a:xfrm>
        </p:grpSpPr>
        <p:sp>
          <p:nvSpPr>
            <p:cNvPr name="Freeform 60" id="60"/>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61" id="61"/>
          <p:cNvGrpSpPr/>
          <p:nvPr/>
        </p:nvGrpSpPr>
        <p:grpSpPr>
          <a:xfrm rot="0">
            <a:off x="3815977" y="5315797"/>
            <a:ext cx="150990" cy="150990"/>
            <a:chOff x="0" y="0"/>
            <a:chExt cx="201320" cy="201320"/>
          </a:xfrm>
        </p:grpSpPr>
        <p:sp>
          <p:nvSpPr>
            <p:cNvPr name="Freeform 62" id="62"/>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63" id="63"/>
          <p:cNvGrpSpPr/>
          <p:nvPr/>
        </p:nvGrpSpPr>
        <p:grpSpPr>
          <a:xfrm rot="0">
            <a:off x="4049339" y="4413675"/>
            <a:ext cx="150990" cy="150990"/>
            <a:chOff x="0" y="0"/>
            <a:chExt cx="201320" cy="201320"/>
          </a:xfrm>
        </p:grpSpPr>
        <p:sp>
          <p:nvSpPr>
            <p:cNvPr name="Freeform 64" id="64"/>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65" id="65"/>
          <p:cNvGrpSpPr/>
          <p:nvPr/>
        </p:nvGrpSpPr>
        <p:grpSpPr>
          <a:xfrm rot="0">
            <a:off x="4282692" y="4975373"/>
            <a:ext cx="150990" cy="150990"/>
            <a:chOff x="0" y="0"/>
            <a:chExt cx="201320" cy="201320"/>
          </a:xfrm>
        </p:grpSpPr>
        <p:sp>
          <p:nvSpPr>
            <p:cNvPr name="Freeform 66" id="66"/>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67" id="67"/>
          <p:cNvGrpSpPr/>
          <p:nvPr/>
        </p:nvGrpSpPr>
        <p:grpSpPr>
          <a:xfrm rot="0">
            <a:off x="4282692" y="5945580"/>
            <a:ext cx="150990" cy="150990"/>
            <a:chOff x="0" y="0"/>
            <a:chExt cx="201320" cy="201320"/>
          </a:xfrm>
        </p:grpSpPr>
        <p:sp>
          <p:nvSpPr>
            <p:cNvPr name="Freeform 68" id="68"/>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69" id="69"/>
          <p:cNvGrpSpPr/>
          <p:nvPr/>
        </p:nvGrpSpPr>
        <p:grpSpPr>
          <a:xfrm rot="0">
            <a:off x="4749398" y="4137078"/>
            <a:ext cx="150990" cy="150990"/>
            <a:chOff x="0" y="0"/>
            <a:chExt cx="201320" cy="201320"/>
          </a:xfrm>
        </p:grpSpPr>
        <p:sp>
          <p:nvSpPr>
            <p:cNvPr name="Freeform 70" id="70"/>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71" id="71"/>
          <p:cNvGrpSpPr/>
          <p:nvPr/>
        </p:nvGrpSpPr>
        <p:grpSpPr>
          <a:xfrm rot="0">
            <a:off x="4749398" y="5549836"/>
            <a:ext cx="150990" cy="150990"/>
            <a:chOff x="0" y="0"/>
            <a:chExt cx="201320" cy="201320"/>
          </a:xfrm>
        </p:grpSpPr>
        <p:sp>
          <p:nvSpPr>
            <p:cNvPr name="Freeform 72" id="72"/>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73" id="73"/>
          <p:cNvGrpSpPr/>
          <p:nvPr/>
        </p:nvGrpSpPr>
        <p:grpSpPr>
          <a:xfrm rot="0">
            <a:off x="4749398" y="6400894"/>
            <a:ext cx="150990" cy="150990"/>
            <a:chOff x="0" y="0"/>
            <a:chExt cx="201320" cy="201320"/>
          </a:xfrm>
        </p:grpSpPr>
        <p:sp>
          <p:nvSpPr>
            <p:cNvPr name="Freeform 74" id="74"/>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sp>
        <p:nvSpPr>
          <p:cNvPr name="TextBox 75" id="75"/>
          <p:cNvSpPr txBox="true"/>
          <p:nvPr/>
        </p:nvSpPr>
        <p:spPr>
          <a:xfrm rot="0">
            <a:off x="1187310" y="7847942"/>
            <a:ext cx="4323921" cy="314325"/>
          </a:xfrm>
          <a:prstGeom prst="rect">
            <a:avLst/>
          </a:prstGeom>
        </p:spPr>
        <p:txBody>
          <a:bodyPr anchor="t" rtlCol="false" tIns="0" lIns="0" bIns="0" rIns="0">
            <a:spAutoFit/>
          </a:bodyPr>
          <a:lstStyle/>
          <a:p>
            <a:pPr algn="ctr">
              <a:lnSpc>
                <a:spcPts val="2521"/>
              </a:lnSpc>
            </a:pPr>
            <a:r>
              <a:rPr lang="en-US" sz="2101">
                <a:solidFill>
                  <a:srgbClr val="717C7A"/>
                </a:solidFill>
                <a:latin typeface="Inter"/>
                <a:ea typeface="Inter"/>
                <a:cs typeface="Inter"/>
                <a:sym typeface="Inter"/>
              </a:rPr>
              <a:t>Pack size</a:t>
            </a:r>
          </a:p>
        </p:txBody>
      </p:sp>
      <p:sp>
        <p:nvSpPr>
          <p:cNvPr name="TextBox 76" id="76"/>
          <p:cNvSpPr txBox="true"/>
          <p:nvPr/>
        </p:nvSpPr>
        <p:spPr>
          <a:xfrm rot="0">
            <a:off x="5968332" y="1554584"/>
            <a:ext cx="4323921" cy="787400"/>
          </a:xfrm>
          <a:prstGeom prst="rect">
            <a:avLst/>
          </a:prstGeom>
        </p:spPr>
        <p:txBody>
          <a:bodyPr anchor="t" rtlCol="false" tIns="0" lIns="0" bIns="0" rIns="0">
            <a:spAutoFit/>
          </a:bodyPr>
          <a:lstStyle/>
          <a:p>
            <a:pPr algn="l">
              <a:lnSpc>
                <a:spcPts val="3242"/>
              </a:lnSpc>
            </a:pPr>
            <a:r>
              <a:rPr lang="en-US" sz="2702">
                <a:solidFill>
                  <a:srgbClr val="232E2D"/>
                </a:solidFill>
                <a:latin typeface="Inter"/>
                <a:ea typeface="Inter"/>
                <a:cs typeface="Inter"/>
                <a:sym typeface="Inter"/>
              </a:rPr>
              <a:t>Pup survival</a:t>
            </a:r>
          </a:p>
          <a:p>
            <a:pPr algn="l">
              <a:lnSpc>
                <a:spcPts val="479"/>
              </a:lnSpc>
            </a:pPr>
          </a:p>
          <a:p>
            <a:pPr algn="l">
              <a:lnSpc>
                <a:spcPts val="2521"/>
              </a:lnSpc>
            </a:pPr>
            <a:r>
              <a:rPr lang="en-US" sz="2101">
                <a:solidFill>
                  <a:srgbClr val="717C7A"/>
                </a:solidFill>
                <a:latin typeface="Inter"/>
                <a:ea typeface="Inter"/>
                <a:cs typeface="Inter"/>
                <a:sym typeface="Inter"/>
              </a:rPr>
              <a:t>% of pups surviving</a:t>
            </a:r>
          </a:p>
        </p:txBody>
      </p:sp>
      <p:sp>
        <p:nvSpPr>
          <p:cNvPr name="AutoShape 77" id="77"/>
          <p:cNvSpPr/>
          <p:nvPr/>
        </p:nvSpPr>
        <p:spPr>
          <a:xfrm>
            <a:off x="5961181" y="2566024"/>
            <a:ext cx="4338214" cy="14310"/>
          </a:xfrm>
          <a:prstGeom prst="line">
            <a:avLst/>
          </a:prstGeom>
          <a:ln cap="rnd" w="19050">
            <a:solidFill>
              <a:srgbClr val="C7C4C3"/>
            </a:solidFill>
            <a:prstDash val="solid"/>
            <a:headEnd type="none" len="sm" w="sm"/>
            <a:tailEnd type="none" len="sm" w="sm"/>
          </a:ln>
        </p:spPr>
      </p:sp>
      <p:sp>
        <p:nvSpPr>
          <p:cNvPr name="AutoShape 78" id="78"/>
          <p:cNvSpPr/>
          <p:nvPr/>
        </p:nvSpPr>
        <p:spPr>
          <a:xfrm>
            <a:off x="6441614" y="3065008"/>
            <a:ext cx="14308" cy="4269586"/>
          </a:xfrm>
          <a:prstGeom prst="line">
            <a:avLst/>
          </a:prstGeom>
          <a:ln cap="rnd" w="9525">
            <a:solidFill>
              <a:srgbClr val="C7C4C3"/>
            </a:solidFill>
            <a:prstDash val="solid"/>
            <a:headEnd type="none" len="sm" w="sm"/>
            <a:tailEnd type="none" len="sm" w="sm"/>
          </a:ln>
        </p:spPr>
      </p:sp>
      <p:sp>
        <p:nvSpPr>
          <p:cNvPr name="AutoShape 79" id="79"/>
          <p:cNvSpPr/>
          <p:nvPr/>
        </p:nvSpPr>
        <p:spPr>
          <a:xfrm>
            <a:off x="6441614" y="7320285"/>
            <a:ext cx="3747965" cy="14326"/>
          </a:xfrm>
          <a:prstGeom prst="line">
            <a:avLst/>
          </a:prstGeom>
          <a:ln cap="rnd" w="9525">
            <a:solidFill>
              <a:srgbClr val="C7C4C3"/>
            </a:solidFill>
            <a:prstDash val="solid"/>
            <a:headEnd type="none" len="sm" w="sm"/>
            <a:tailEnd type="none" len="sm" w="sm"/>
          </a:ln>
        </p:spPr>
      </p:sp>
      <p:sp>
        <p:nvSpPr>
          <p:cNvPr name="TextBox 80" id="80"/>
          <p:cNvSpPr txBox="true"/>
          <p:nvPr/>
        </p:nvSpPr>
        <p:spPr>
          <a:xfrm rot="0">
            <a:off x="6036969"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0</a:t>
            </a:r>
          </a:p>
        </p:txBody>
      </p:sp>
      <p:sp>
        <p:nvSpPr>
          <p:cNvPr name="TextBox 81" id="81"/>
          <p:cNvSpPr txBox="true"/>
          <p:nvPr/>
        </p:nvSpPr>
        <p:spPr>
          <a:xfrm rot="0">
            <a:off x="6970381"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4</a:t>
            </a:r>
          </a:p>
        </p:txBody>
      </p:sp>
      <p:sp>
        <p:nvSpPr>
          <p:cNvPr name="TextBox 82" id="82"/>
          <p:cNvSpPr txBox="true"/>
          <p:nvPr/>
        </p:nvSpPr>
        <p:spPr>
          <a:xfrm rot="0">
            <a:off x="7903802"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8</a:t>
            </a:r>
          </a:p>
        </p:txBody>
      </p:sp>
      <p:sp>
        <p:nvSpPr>
          <p:cNvPr name="TextBox 83" id="83"/>
          <p:cNvSpPr txBox="true"/>
          <p:nvPr/>
        </p:nvSpPr>
        <p:spPr>
          <a:xfrm rot="0">
            <a:off x="8837214"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12</a:t>
            </a:r>
          </a:p>
        </p:txBody>
      </p:sp>
      <p:sp>
        <p:nvSpPr>
          <p:cNvPr name="TextBox 84" id="84"/>
          <p:cNvSpPr txBox="true"/>
          <p:nvPr/>
        </p:nvSpPr>
        <p:spPr>
          <a:xfrm rot="0">
            <a:off x="9770635" y="7409811"/>
            <a:ext cx="823608" cy="343167"/>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16</a:t>
            </a:r>
          </a:p>
        </p:txBody>
      </p:sp>
      <p:sp>
        <p:nvSpPr>
          <p:cNvPr name="TextBox 85" id="85"/>
          <p:cNvSpPr txBox="true"/>
          <p:nvPr/>
        </p:nvSpPr>
        <p:spPr>
          <a:xfrm rot="0">
            <a:off x="5693793" y="7176458"/>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0</a:t>
            </a:r>
          </a:p>
        </p:txBody>
      </p:sp>
      <p:sp>
        <p:nvSpPr>
          <p:cNvPr name="TextBox 86" id="86"/>
          <p:cNvSpPr txBox="true"/>
          <p:nvPr/>
        </p:nvSpPr>
        <p:spPr>
          <a:xfrm rot="0">
            <a:off x="5693793" y="6325399"/>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20</a:t>
            </a:r>
          </a:p>
        </p:txBody>
      </p:sp>
      <p:sp>
        <p:nvSpPr>
          <p:cNvPr name="TextBox 87" id="87"/>
          <p:cNvSpPr txBox="true"/>
          <p:nvPr/>
        </p:nvSpPr>
        <p:spPr>
          <a:xfrm rot="0">
            <a:off x="5693793" y="5474340"/>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40</a:t>
            </a:r>
          </a:p>
        </p:txBody>
      </p:sp>
      <p:sp>
        <p:nvSpPr>
          <p:cNvPr name="TextBox 88" id="88"/>
          <p:cNvSpPr txBox="true"/>
          <p:nvPr/>
        </p:nvSpPr>
        <p:spPr>
          <a:xfrm rot="0">
            <a:off x="5693793" y="4623282"/>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60</a:t>
            </a:r>
          </a:p>
        </p:txBody>
      </p:sp>
      <p:sp>
        <p:nvSpPr>
          <p:cNvPr name="TextBox 89" id="89"/>
          <p:cNvSpPr txBox="true"/>
          <p:nvPr/>
        </p:nvSpPr>
        <p:spPr>
          <a:xfrm rot="0">
            <a:off x="5693793" y="3772223"/>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80</a:t>
            </a:r>
          </a:p>
        </p:txBody>
      </p:sp>
      <p:sp>
        <p:nvSpPr>
          <p:cNvPr name="TextBox 90" id="90"/>
          <p:cNvSpPr txBox="true"/>
          <p:nvPr/>
        </p:nvSpPr>
        <p:spPr>
          <a:xfrm rot="0">
            <a:off x="5693793" y="2921174"/>
            <a:ext cx="645157"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100</a:t>
            </a:r>
          </a:p>
        </p:txBody>
      </p:sp>
      <p:grpSp>
        <p:nvGrpSpPr>
          <p:cNvPr name="Group 91" id="91"/>
          <p:cNvGrpSpPr/>
          <p:nvPr/>
        </p:nvGrpSpPr>
        <p:grpSpPr>
          <a:xfrm rot="0">
            <a:off x="6373268" y="7251953"/>
            <a:ext cx="150990" cy="150990"/>
            <a:chOff x="0" y="0"/>
            <a:chExt cx="201320" cy="201320"/>
          </a:xfrm>
        </p:grpSpPr>
        <p:sp>
          <p:nvSpPr>
            <p:cNvPr name="Freeform 92" id="92"/>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93" id="93"/>
          <p:cNvGrpSpPr/>
          <p:nvPr/>
        </p:nvGrpSpPr>
        <p:grpSpPr>
          <a:xfrm rot="0">
            <a:off x="6839974" y="7251953"/>
            <a:ext cx="150990" cy="150990"/>
            <a:chOff x="0" y="0"/>
            <a:chExt cx="201320" cy="201320"/>
          </a:xfrm>
        </p:grpSpPr>
        <p:sp>
          <p:nvSpPr>
            <p:cNvPr name="Freeform 94" id="94"/>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95" id="95"/>
          <p:cNvGrpSpPr/>
          <p:nvPr/>
        </p:nvGrpSpPr>
        <p:grpSpPr>
          <a:xfrm rot="0">
            <a:off x="7073336" y="2996669"/>
            <a:ext cx="150990" cy="150990"/>
            <a:chOff x="0" y="0"/>
            <a:chExt cx="201320" cy="201320"/>
          </a:xfrm>
        </p:grpSpPr>
        <p:sp>
          <p:nvSpPr>
            <p:cNvPr name="Freeform 96" id="96"/>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97" id="97"/>
          <p:cNvGrpSpPr/>
          <p:nvPr/>
        </p:nvGrpSpPr>
        <p:grpSpPr>
          <a:xfrm rot="0">
            <a:off x="7073336" y="5830690"/>
            <a:ext cx="150990" cy="150990"/>
            <a:chOff x="0" y="0"/>
            <a:chExt cx="201320" cy="201320"/>
          </a:xfrm>
        </p:grpSpPr>
        <p:sp>
          <p:nvSpPr>
            <p:cNvPr name="Freeform 98" id="98"/>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99" id="99"/>
          <p:cNvGrpSpPr/>
          <p:nvPr/>
        </p:nvGrpSpPr>
        <p:grpSpPr>
          <a:xfrm rot="0">
            <a:off x="7073336" y="7251953"/>
            <a:ext cx="150990" cy="150990"/>
            <a:chOff x="0" y="0"/>
            <a:chExt cx="201320" cy="201320"/>
          </a:xfrm>
        </p:grpSpPr>
        <p:sp>
          <p:nvSpPr>
            <p:cNvPr name="Freeform 100" id="100"/>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01" id="101"/>
          <p:cNvGrpSpPr/>
          <p:nvPr/>
        </p:nvGrpSpPr>
        <p:grpSpPr>
          <a:xfrm rot="0">
            <a:off x="7306689" y="2996669"/>
            <a:ext cx="150990" cy="150990"/>
            <a:chOff x="0" y="0"/>
            <a:chExt cx="201320" cy="201320"/>
          </a:xfrm>
        </p:grpSpPr>
        <p:sp>
          <p:nvSpPr>
            <p:cNvPr name="Freeform 102" id="102"/>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03" id="103"/>
          <p:cNvGrpSpPr/>
          <p:nvPr/>
        </p:nvGrpSpPr>
        <p:grpSpPr>
          <a:xfrm rot="0">
            <a:off x="7306689" y="7251953"/>
            <a:ext cx="150990" cy="150990"/>
            <a:chOff x="0" y="0"/>
            <a:chExt cx="201320" cy="201320"/>
          </a:xfrm>
        </p:grpSpPr>
        <p:sp>
          <p:nvSpPr>
            <p:cNvPr name="Freeform 104" id="104"/>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05" id="105"/>
          <p:cNvGrpSpPr/>
          <p:nvPr/>
        </p:nvGrpSpPr>
        <p:grpSpPr>
          <a:xfrm rot="0">
            <a:off x="7540042" y="5830690"/>
            <a:ext cx="150990" cy="150990"/>
            <a:chOff x="0" y="0"/>
            <a:chExt cx="201320" cy="201320"/>
          </a:xfrm>
        </p:grpSpPr>
        <p:sp>
          <p:nvSpPr>
            <p:cNvPr name="Freeform 106" id="106"/>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07" id="107"/>
          <p:cNvGrpSpPr/>
          <p:nvPr/>
        </p:nvGrpSpPr>
        <p:grpSpPr>
          <a:xfrm rot="0">
            <a:off x="7540042" y="7251953"/>
            <a:ext cx="150990" cy="150990"/>
            <a:chOff x="0" y="0"/>
            <a:chExt cx="201320" cy="201320"/>
          </a:xfrm>
        </p:grpSpPr>
        <p:sp>
          <p:nvSpPr>
            <p:cNvPr name="Freeform 108" id="108"/>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09" id="109"/>
          <p:cNvGrpSpPr/>
          <p:nvPr/>
        </p:nvGrpSpPr>
        <p:grpSpPr>
          <a:xfrm rot="0">
            <a:off x="7540042" y="5124306"/>
            <a:ext cx="150990" cy="150990"/>
            <a:chOff x="0" y="0"/>
            <a:chExt cx="201320" cy="201320"/>
          </a:xfrm>
        </p:grpSpPr>
        <p:sp>
          <p:nvSpPr>
            <p:cNvPr name="Freeform 110" id="110"/>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11" id="111"/>
          <p:cNvGrpSpPr/>
          <p:nvPr/>
        </p:nvGrpSpPr>
        <p:grpSpPr>
          <a:xfrm rot="0">
            <a:off x="7773395" y="5677499"/>
            <a:ext cx="150990" cy="150990"/>
            <a:chOff x="0" y="0"/>
            <a:chExt cx="201320" cy="201320"/>
          </a:xfrm>
        </p:grpSpPr>
        <p:sp>
          <p:nvSpPr>
            <p:cNvPr name="Freeform 112" id="112"/>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13" id="113"/>
          <p:cNvGrpSpPr/>
          <p:nvPr/>
        </p:nvGrpSpPr>
        <p:grpSpPr>
          <a:xfrm rot="0">
            <a:off x="7773395" y="5720047"/>
            <a:ext cx="150990" cy="150990"/>
            <a:chOff x="0" y="0"/>
            <a:chExt cx="201320" cy="201320"/>
          </a:xfrm>
        </p:grpSpPr>
        <p:sp>
          <p:nvSpPr>
            <p:cNvPr name="Freeform 114" id="114"/>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15" id="115"/>
          <p:cNvGrpSpPr/>
          <p:nvPr/>
        </p:nvGrpSpPr>
        <p:grpSpPr>
          <a:xfrm rot="0">
            <a:off x="7773395" y="6188134"/>
            <a:ext cx="150990" cy="150990"/>
            <a:chOff x="0" y="0"/>
            <a:chExt cx="201320" cy="201320"/>
          </a:xfrm>
        </p:grpSpPr>
        <p:sp>
          <p:nvSpPr>
            <p:cNvPr name="Freeform 116" id="116"/>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sp>
        <p:nvSpPr>
          <p:cNvPr name="Freeform 117" id="117"/>
          <p:cNvSpPr/>
          <p:nvPr/>
        </p:nvSpPr>
        <p:spPr>
          <a:xfrm flipH="false" flipV="false" rot="0">
            <a:off x="1791286" y="4911546"/>
            <a:ext cx="3031617" cy="2411101"/>
          </a:xfrm>
          <a:custGeom>
            <a:avLst/>
            <a:gdLst/>
            <a:ahLst/>
            <a:cxnLst/>
            <a:rect r="r" b="b" t="t" l="l"/>
            <a:pathLst>
              <a:path h="2411101" w="3031617">
                <a:moveTo>
                  <a:pt x="0" y="0"/>
                </a:moveTo>
                <a:lnTo>
                  <a:pt x="3031617" y="0"/>
                </a:lnTo>
                <a:lnTo>
                  <a:pt x="3031617" y="2411102"/>
                </a:lnTo>
                <a:lnTo>
                  <a:pt x="0" y="24111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8" id="118"/>
          <p:cNvGrpSpPr/>
          <p:nvPr/>
        </p:nvGrpSpPr>
        <p:grpSpPr>
          <a:xfrm rot="0">
            <a:off x="8006748" y="4698777"/>
            <a:ext cx="150990" cy="150990"/>
            <a:chOff x="0" y="0"/>
            <a:chExt cx="201320" cy="201320"/>
          </a:xfrm>
        </p:grpSpPr>
        <p:sp>
          <p:nvSpPr>
            <p:cNvPr name="Freeform 119" id="11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20" id="120"/>
          <p:cNvGrpSpPr/>
          <p:nvPr/>
        </p:nvGrpSpPr>
        <p:grpSpPr>
          <a:xfrm rot="0">
            <a:off x="8006748" y="3703043"/>
            <a:ext cx="150990" cy="150990"/>
            <a:chOff x="0" y="0"/>
            <a:chExt cx="201320" cy="201320"/>
          </a:xfrm>
        </p:grpSpPr>
        <p:sp>
          <p:nvSpPr>
            <p:cNvPr name="Freeform 121" id="12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22" id="122"/>
          <p:cNvGrpSpPr/>
          <p:nvPr/>
        </p:nvGrpSpPr>
        <p:grpSpPr>
          <a:xfrm rot="0">
            <a:off x="8006748" y="5651963"/>
            <a:ext cx="150990" cy="150990"/>
            <a:chOff x="0" y="0"/>
            <a:chExt cx="201320" cy="201320"/>
          </a:xfrm>
        </p:grpSpPr>
        <p:sp>
          <p:nvSpPr>
            <p:cNvPr name="Freeform 123" id="12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24" id="124"/>
          <p:cNvGrpSpPr/>
          <p:nvPr/>
        </p:nvGrpSpPr>
        <p:grpSpPr>
          <a:xfrm rot="0">
            <a:off x="8240101" y="3605173"/>
            <a:ext cx="150990" cy="150990"/>
            <a:chOff x="0" y="0"/>
            <a:chExt cx="201320" cy="201320"/>
          </a:xfrm>
        </p:grpSpPr>
        <p:sp>
          <p:nvSpPr>
            <p:cNvPr name="Freeform 125" id="12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26" id="126"/>
          <p:cNvGrpSpPr/>
          <p:nvPr/>
        </p:nvGrpSpPr>
        <p:grpSpPr>
          <a:xfrm rot="0">
            <a:off x="8240101" y="4826440"/>
            <a:ext cx="150990" cy="150990"/>
            <a:chOff x="0" y="0"/>
            <a:chExt cx="201320" cy="201320"/>
          </a:xfrm>
        </p:grpSpPr>
        <p:sp>
          <p:nvSpPr>
            <p:cNvPr name="Freeform 127" id="12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28" id="128"/>
          <p:cNvGrpSpPr/>
          <p:nvPr/>
        </p:nvGrpSpPr>
        <p:grpSpPr>
          <a:xfrm rot="0">
            <a:off x="8240101" y="4911546"/>
            <a:ext cx="150990" cy="150990"/>
            <a:chOff x="0" y="0"/>
            <a:chExt cx="201320" cy="201320"/>
          </a:xfrm>
        </p:grpSpPr>
        <p:sp>
          <p:nvSpPr>
            <p:cNvPr name="Freeform 129" id="12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30" id="130"/>
          <p:cNvGrpSpPr/>
          <p:nvPr/>
        </p:nvGrpSpPr>
        <p:grpSpPr>
          <a:xfrm rot="0">
            <a:off x="8240101" y="4413675"/>
            <a:ext cx="150990" cy="150990"/>
            <a:chOff x="0" y="0"/>
            <a:chExt cx="201320" cy="201320"/>
          </a:xfrm>
        </p:grpSpPr>
        <p:sp>
          <p:nvSpPr>
            <p:cNvPr name="Freeform 131" id="13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32" id="132"/>
          <p:cNvGrpSpPr/>
          <p:nvPr/>
        </p:nvGrpSpPr>
        <p:grpSpPr>
          <a:xfrm rot="0">
            <a:off x="8240101" y="5915796"/>
            <a:ext cx="150990" cy="150990"/>
            <a:chOff x="0" y="0"/>
            <a:chExt cx="201320" cy="201320"/>
          </a:xfrm>
        </p:grpSpPr>
        <p:sp>
          <p:nvSpPr>
            <p:cNvPr name="Freeform 133" id="13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34" id="134"/>
          <p:cNvGrpSpPr/>
          <p:nvPr/>
        </p:nvGrpSpPr>
        <p:grpSpPr>
          <a:xfrm rot="0">
            <a:off x="8473454" y="2996669"/>
            <a:ext cx="150990" cy="150990"/>
            <a:chOff x="0" y="0"/>
            <a:chExt cx="201320" cy="201320"/>
          </a:xfrm>
        </p:grpSpPr>
        <p:sp>
          <p:nvSpPr>
            <p:cNvPr name="Freeform 135" id="13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36" id="136"/>
          <p:cNvGrpSpPr/>
          <p:nvPr/>
        </p:nvGrpSpPr>
        <p:grpSpPr>
          <a:xfrm rot="0">
            <a:off x="8473454" y="3605173"/>
            <a:ext cx="150990" cy="150990"/>
            <a:chOff x="0" y="0"/>
            <a:chExt cx="201320" cy="201320"/>
          </a:xfrm>
        </p:grpSpPr>
        <p:sp>
          <p:nvSpPr>
            <p:cNvPr name="Freeform 137" id="13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38" id="138"/>
          <p:cNvGrpSpPr/>
          <p:nvPr/>
        </p:nvGrpSpPr>
        <p:grpSpPr>
          <a:xfrm rot="0">
            <a:off x="8473454" y="3937082"/>
            <a:ext cx="150990" cy="150990"/>
            <a:chOff x="0" y="0"/>
            <a:chExt cx="201320" cy="201320"/>
          </a:xfrm>
        </p:grpSpPr>
        <p:sp>
          <p:nvSpPr>
            <p:cNvPr name="Freeform 139" id="13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40" id="140"/>
          <p:cNvGrpSpPr/>
          <p:nvPr/>
        </p:nvGrpSpPr>
        <p:grpSpPr>
          <a:xfrm rot="0">
            <a:off x="8473454" y="4060488"/>
            <a:ext cx="150990" cy="150990"/>
            <a:chOff x="0" y="0"/>
            <a:chExt cx="201320" cy="201320"/>
          </a:xfrm>
        </p:grpSpPr>
        <p:sp>
          <p:nvSpPr>
            <p:cNvPr name="Freeform 141" id="14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42" id="142"/>
          <p:cNvGrpSpPr/>
          <p:nvPr/>
        </p:nvGrpSpPr>
        <p:grpSpPr>
          <a:xfrm rot="0">
            <a:off x="8473454" y="3856233"/>
            <a:ext cx="150990" cy="150990"/>
            <a:chOff x="0" y="0"/>
            <a:chExt cx="201320" cy="201320"/>
          </a:xfrm>
        </p:grpSpPr>
        <p:sp>
          <p:nvSpPr>
            <p:cNvPr name="Freeform 143" id="14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44" id="144"/>
          <p:cNvGrpSpPr/>
          <p:nvPr/>
        </p:nvGrpSpPr>
        <p:grpSpPr>
          <a:xfrm rot="0">
            <a:off x="8940170" y="5698768"/>
            <a:ext cx="150990" cy="150990"/>
            <a:chOff x="0" y="0"/>
            <a:chExt cx="201320" cy="201320"/>
          </a:xfrm>
        </p:grpSpPr>
        <p:sp>
          <p:nvSpPr>
            <p:cNvPr name="Freeform 145" id="14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46" id="146"/>
          <p:cNvGrpSpPr/>
          <p:nvPr/>
        </p:nvGrpSpPr>
        <p:grpSpPr>
          <a:xfrm rot="0">
            <a:off x="8940170" y="4230699"/>
            <a:ext cx="150990" cy="150990"/>
            <a:chOff x="0" y="0"/>
            <a:chExt cx="201320" cy="201320"/>
          </a:xfrm>
        </p:grpSpPr>
        <p:sp>
          <p:nvSpPr>
            <p:cNvPr name="Freeform 147" id="14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48" id="148"/>
          <p:cNvGrpSpPr/>
          <p:nvPr/>
        </p:nvGrpSpPr>
        <p:grpSpPr>
          <a:xfrm rot="0">
            <a:off x="8940170" y="4294526"/>
            <a:ext cx="150990" cy="150990"/>
            <a:chOff x="0" y="0"/>
            <a:chExt cx="201320" cy="201320"/>
          </a:xfrm>
        </p:grpSpPr>
        <p:sp>
          <p:nvSpPr>
            <p:cNvPr name="Freeform 149" id="14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50" id="150"/>
          <p:cNvGrpSpPr/>
          <p:nvPr/>
        </p:nvGrpSpPr>
        <p:grpSpPr>
          <a:xfrm rot="0">
            <a:off x="9173523" y="3469004"/>
            <a:ext cx="150990" cy="150990"/>
            <a:chOff x="0" y="0"/>
            <a:chExt cx="201320" cy="201320"/>
          </a:xfrm>
        </p:grpSpPr>
        <p:sp>
          <p:nvSpPr>
            <p:cNvPr name="Freeform 151" id="15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52" id="152"/>
          <p:cNvGrpSpPr/>
          <p:nvPr/>
        </p:nvGrpSpPr>
        <p:grpSpPr>
          <a:xfrm rot="0">
            <a:off x="9406876" y="3937082"/>
            <a:ext cx="150990" cy="150990"/>
            <a:chOff x="0" y="0"/>
            <a:chExt cx="201320" cy="201320"/>
          </a:xfrm>
        </p:grpSpPr>
        <p:sp>
          <p:nvSpPr>
            <p:cNvPr name="Freeform 153" id="15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54" id="154"/>
          <p:cNvGrpSpPr/>
          <p:nvPr/>
        </p:nvGrpSpPr>
        <p:grpSpPr>
          <a:xfrm rot="0">
            <a:off x="9406876" y="5124306"/>
            <a:ext cx="150990" cy="150990"/>
            <a:chOff x="0" y="0"/>
            <a:chExt cx="201320" cy="201320"/>
          </a:xfrm>
        </p:grpSpPr>
        <p:sp>
          <p:nvSpPr>
            <p:cNvPr name="Freeform 155" id="15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56" id="156"/>
          <p:cNvGrpSpPr/>
          <p:nvPr/>
        </p:nvGrpSpPr>
        <p:grpSpPr>
          <a:xfrm rot="0">
            <a:off x="9873582" y="4498780"/>
            <a:ext cx="150990" cy="150990"/>
            <a:chOff x="0" y="0"/>
            <a:chExt cx="201320" cy="201320"/>
          </a:xfrm>
        </p:grpSpPr>
        <p:sp>
          <p:nvSpPr>
            <p:cNvPr name="Freeform 157" id="15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58" id="158"/>
          <p:cNvGrpSpPr/>
          <p:nvPr/>
        </p:nvGrpSpPr>
        <p:grpSpPr>
          <a:xfrm rot="0">
            <a:off x="9873582" y="4064745"/>
            <a:ext cx="150990" cy="150990"/>
            <a:chOff x="0" y="0"/>
            <a:chExt cx="201320" cy="201320"/>
          </a:xfrm>
        </p:grpSpPr>
        <p:sp>
          <p:nvSpPr>
            <p:cNvPr name="Freeform 159" id="15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grpSp>
        <p:nvGrpSpPr>
          <p:cNvPr name="Group 160" id="160"/>
          <p:cNvGrpSpPr/>
          <p:nvPr/>
        </p:nvGrpSpPr>
        <p:grpSpPr>
          <a:xfrm rot="0">
            <a:off x="9873582" y="5124306"/>
            <a:ext cx="150990" cy="150990"/>
            <a:chOff x="0" y="0"/>
            <a:chExt cx="201320" cy="201320"/>
          </a:xfrm>
        </p:grpSpPr>
        <p:sp>
          <p:nvSpPr>
            <p:cNvPr name="Freeform 161" id="16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sp>
        <p:nvSpPr>
          <p:cNvPr name="Freeform 162" id="162"/>
          <p:cNvSpPr/>
          <p:nvPr/>
        </p:nvSpPr>
        <p:spPr>
          <a:xfrm flipH="false" flipV="false" rot="0">
            <a:off x="6594648" y="4301460"/>
            <a:ext cx="3348628" cy="3025473"/>
          </a:xfrm>
          <a:custGeom>
            <a:avLst/>
            <a:gdLst/>
            <a:ahLst/>
            <a:cxnLst/>
            <a:rect r="r" b="b" t="t" l="l"/>
            <a:pathLst>
              <a:path h="3025473" w="3348628">
                <a:moveTo>
                  <a:pt x="0" y="0"/>
                </a:moveTo>
                <a:lnTo>
                  <a:pt x="3348628" y="0"/>
                </a:lnTo>
                <a:lnTo>
                  <a:pt x="3348628" y="3025474"/>
                </a:lnTo>
                <a:lnTo>
                  <a:pt x="0" y="30254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63" id="163"/>
          <p:cNvSpPr/>
          <p:nvPr/>
        </p:nvSpPr>
        <p:spPr>
          <a:xfrm rot="2940">
            <a:off x="816454" y="9256014"/>
            <a:ext cx="16668940" cy="0"/>
          </a:xfrm>
          <a:prstGeom prst="line">
            <a:avLst/>
          </a:prstGeom>
          <a:ln cap="rnd" w="19050">
            <a:solidFill>
              <a:srgbClr val="C7C4C3"/>
            </a:solidFill>
            <a:prstDash val="solid"/>
            <a:headEnd type="none" len="sm" w="sm"/>
            <a:tailEnd type="none" len="sm" w="sm"/>
          </a:ln>
        </p:spPr>
      </p:sp>
      <p:grpSp>
        <p:nvGrpSpPr>
          <p:cNvPr name="Group 164" id="164"/>
          <p:cNvGrpSpPr/>
          <p:nvPr/>
        </p:nvGrpSpPr>
        <p:grpSpPr>
          <a:xfrm rot="0">
            <a:off x="11629292" y="1564109"/>
            <a:ext cx="5848950" cy="3225784"/>
            <a:chOff x="0" y="0"/>
            <a:chExt cx="7798600" cy="4301046"/>
          </a:xfrm>
        </p:grpSpPr>
        <p:sp>
          <p:nvSpPr>
            <p:cNvPr name="Freeform 165" id="165" descr="wild-dogs-photo.png"/>
            <p:cNvSpPr/>
            <p:nvPr/>
          </p:nvSpPr>
          <p:spPr>
            <a:xfrm flipH="false" flipV="false" rot="0">
              <a:off x="0" y="0"/>
              <a:ext cx="7798664" cy="4300982"/>
            </a:xfrm>
            <a:custGeom>
              <a:avLst/>
              <a:gdLst/>
              <a:ahLst/>
              <a:cxnLst/>
              <a:rect r="r" b="b" t="t" l="l"/>
              <a:pathLst>
                <a:path h="4300982" w="7798664">
                  <a:moveTo>
                    <a:pt x="196715" y="0"/>
                  </a:moveTo>
                  <a:lnTo>
                    <a:pt x="7601949" y="0"/>
                  </a:lnTo>
                  <a:cubicBezTo>
                    <a:pt x="7710591" y="0"/>
                    <a:pt x="7798664" y="88072"/>
                    <a:pt x="7798664" y="196715"/>
                  </a:cubicBezTo>
                  <a:lnTo>
                    <a:pt x="7798664" y="4104268"/>
                  </a:lnTo>
                  <a:cubicBezTo>
                    <a:pt x="7798664" y="4156439"/>
                    <a:pt x="7777938" y="4206475"/>
                    <a:pt x="7741047" y="4243366"/>
                  </a:cubicBezTo>
                  <a:cubicBezTo>
                    <a:pt x="7704156" y="4280257"/>
                    <a:pt x="7654121" y="4300982"/>
                    <a:pt x="7601949" y="4300982"/>
                  </a:cubicBezTo>
                  <a:lnTo>
                    <a:pt x="196715" y="4300982"/>
                  </a:lnTo>
                  <a:cubicBezTo>
                    <a:pt x="144543" y="4300982"/>
                    <a:pt x="94507" y="4280257"/>
                    <a:pt x="57616" y="4243366"/>
                  </a:cubicBezTo>
                  <a:cubicBezTo>
                    <a:pt x="20725" y="4206475"/>
                    <a:pt x="0" y="4156439"/>
                    <a:pt x="0" y="4104268"/>
                  </a:cubicBezTo>
                  <a:lnTo>
                    <a:pt x="0" y="196715"/>
                  </a:lnTo>
                  <a:cubicBezTo>
                    <a:pt x="0" y="88072"/>
                    <a:pt x="88072" y="0"/>
                    <a:pt x="196715" y="0"/>
                  </a:cubicBezTo>
                  <a:close/>
                </a:path>
              </a:pathLst>
            </a:custGeom>
            <a:blipFill>
              <a:blip r:embed="rId7"/>
              <a:stretch>
                <a:fillRect l="0" t="-8461" r="0" b="-17069"/>
              </a:stretch>
            </a:blipFill>
          </p:spPr>
        </p:sp>
      </p:grpSp>
      <p:sp>
        <p:nvSpPr>
          <p:cNvPr name="TextBox 166" id="166"/>
          <p:cNvSpPr txBox="true"/>
          <p:nvPr/>
        </p:nvSpPr>
        <p:spPr>
          <a:xfrm rot="0">
            <a:off x="11629292" y="5473154"/>
            <a:ext cx="6039755" cy="411804"/>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Why pack size matters</a:t>
            </a:r>
          </a:p>
        </p:txBody>
      </p:sp>
      <p:sp>
        <p:nvSpPr>
          <p:cNvPr name="TextBox 167" id="167"/>
          <p:cNvSpPr txBox="true"/>
          <p:nvPr/>
        </p:nvSpPr>
        <p:spPr>
          <a:xfrm rot="0">
            <a:off x="11629292" y="5884949"/>
            <a:ext cx="6039755" cy="823608"/>
          </a:xfrm>
          <a:prstGeom prst="rect">
            <a:avLst/>
          </a:prstGeom>
        </p:spPr>
        <p:txBody>
          <a:bodyPr anchor="t" rtlCol="false" tIns="0" lIns="0" bIns="0" rIns="0">
            <a:spAutoFit/>
          </a:bodyPr>
          <a:lstStyle/>
          <a:p>
            <a:pPr algn="l">
              <a:lnSpc>
                <a:spcPts val="2882"/>
              </a:lnSpc>
            </a:pPr>
            <a:r>
              <a:rPr lang="en-US" sz="2401">
                <a:solidFill>
                  <a:srgbClr val="232E2D"/>
                </a:solidFill>
                <a:latin typeface="Inter"/>
                <a:ea typeface="Inter"/>
                <a:cs typeface="Inter"/>
                <a:sym typeface="Inter"/>
              </a:rPr>
              <a:t>Hunt cooperatively, defend each other, help care for pups</a:t>
            </a:r>
          </a:p>
        </p:txBody>
      </p:sp>
      <p:sp>
        <p:nvSpPr>
          <p:cNvPr name="TextBox 168" id="168"/>
          <p:cNvSpPr txBox="true"/>
          <p:nvPr/>
        </p:nvSpPr>
        <p:spPr>
          <a:xfrm rot="0">
            <a:off x="11629292" y="7199215"/>
            <a:ext cx="6039755" cy="411804"/>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Fewer pack members</a:t>
            </a:r>
          </a:p>
        </p:txBody>
      </p:sp>
      <p:sp>
        <p:nvSpPr>
          <p:cNvPr name="TextBox 169" id="169"/>
          <p:cNvSpPr txBox="true"/>
          <p:nvPr/>
        </p:nvSpPr>
        <p:spPr>
          <a:xfrm rot="0">
            <a:off x="11629292" y="7611010"/>
            <a:ext cx="6039755" cy="823608"/>
          </a:xfrm>
          <a:prstGeom prst="rect">
            <a:avLst/>
          </a:prstGeom>
        </p:spPr>
        <p:txBody>
          <a:bodyPr anchor="t" rtlCol="false" tIns="0" lIns="0" bIns="0" rIns="0">
            <a:spAutoFit/>
          </a:bodyPr>
          <a:lstStyle/>
          <a:p>
            <a:pPr algn="l">
              <a:lnSpc>
                <a:spcPts val="2882"/>
              </a:lnSpc>
            </a:pPr>
            <a:r>
              <a:rPr lang="en-US" sz="2401">
                <a:solidFill>
                  <a:srgbClr val="232E2D"/>
                </a:solidFill>
                <a:latin typeface="Inter"/>
                <a:ea typeface="Inter"/>
                <a:cs typeface="Inter"/>
                <a:sym typeface="Inter"/>
              </a:rPr>
              <a:t>Less cooperative support, so lower reproductive success and pup survival</a:t>
            </a:r>
          </a:p>
        </p:txBody>
      </p:sp>
      <p:sp>
        <p:nvSpPr>
          <p:cNvPr name="TextBox 170" id="170"/>
          <p:cNvSpPr txBox="true"/>
          <p:nvPr/>
        </p:nvSpPr>
        <p:spPr>
          <a:xfrm rot="0">
            <a:off x="6311494" y="7847942"/>
            <a:ext cx="4323921" cy="314325"/>
          </a:xfrm>
          <a:prstGeom prst="rect">
            <a:avLst/>
          </a:prstGeom>
        </p:spPr>
        <p:txBody>
          <a:bodyPr anchor="t" rtlCol="false" tIns="0" lIns="0" bIns="0" rIns="0">
            <a:spAutoFit/>
          </a:bodyPr>
          <a:lstStyle/>
          <a:p>
            <a:pPr algn="ctr">
              <a:lnSpc>
                <a:spcPts val="2521"/>
              </a:lnSpc>
            </a:pPr>
            <a:r>
              <a:rPr lang="en-US" sz="2101">
                <a:solidFill>
                  <a:srgbClr val="717C7A"/>
                </a:solidFill>
                <a:latin typeface="Inter"/>
                <a:ea typeface="Inter"/>
                <a:cs typeface="Inter"/>
                <a:sym typeface="Inter"/>
              </a:rPr>
              <a:t>Pack size</a:t>
            </a:r>
          </a:p>
        </p:txBody>
      </p:sp>
      <p:sp>
        <p:nvSpPr>
          <p:cNvPr name="AutoShape 171" id="171"/>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172" id="172"/>
          <p:cNvGrpSpPr/>
          <p:nvPr/>
        </p:nvGrpSpPr>
        <p:grpSpPr>
          <a:xfrm rot="0">
            <a:off x="822960" y="468630"/>
            <a:ext cx="8229600" cy="617220"/>
            <a:chOff x="0" y="0"/>
            <a:chExt cx="10972800" cy="822960"/>
          </a:xfrm>
        </p:grpSpPr>
        <p:sp>
          <p:nvSpPr>
            <p:cNvPr name="Freeform 173" id="173"/>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8">
                <a:alphaModFix amt="0"/>
              </a:blip>
              <a:stretch>
                <a:fillRect l="0" t="-209800" r="0" b="-209800"/>
              </a:stretch>
            </a:blipFill>
          </p:spPr>
        </p:sp>
        <p:sp>
          <p:nvSpPr>
            <p:cNvPr name="TextBox 174" id="174"/>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Component Allee effect: African wild dog</a:t>
              </a:r>
            </a:p>
          </p:txBody>
        </p:sp>
      </p:grpSp>
      <p:sp>
        <p:nvSpPr>
          <p:cNvPr name="TextBox 175" id="175"/>
          <p:cNvSpPr txBox="true"/>
          <p:nvPr/>
        </p:nvSpPr>
        <p:spPr>
          <a:xfrm rot="0">
            <a:off x="823608" y="9402804"/>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Data: Angulo et al. 2013, Fig. 2B, 2F; values digitised, approximate. Drawn with AI assistance (Claude)</a:t>
            </a:r>
          </a:p>
        </p:txBody>
      </p:sp>
      <p:sp>
        <p:nvSpPr>
          <p:cNvPr name="TextBox 176" id="176"/>
          <p:cNvSpPr txBox="true"/>
          <p:nvPr/>
        </p:nvSpPr>
        <p:spPr>
          <a:xfrm rot="0">
            <a:off x="1379363" y="8497043"/>
            <a:ext cx="9608706" cy="549069"/>
          </a:xfrm>
          <a:prstGeom prst="rect">
            <a:avLst/>
          </a:prstGeom>
        </p:spPr>
        <p:txBody>
          <a:bodyPr anchor="t" rtlCol="false" tIns="0" lIns="0" bIns="0" rIns="0">
            <a:spAutoFit/>
          </a:bodyPr>
          <a:lstStyle/>
          <a:p>
            <a:pPr algn="l">
              <a:lnSpc>
                <a:spcPts val="2521"/>
              </a:lnSpc>
            </a:pPr>
            <a:r>
              <a:rPr lang="en-US" sz="2101">
                <a:solidFill>
                  <a:srgbClr val="282C34"/>
                </a:solidFill>
                <a:latin typeface="Inter"/>
                <a:ea typeface="Inter"/>
                <a:cs typeface="Inter"/>
                <a:sym typeface="Inter"/>
              </a:rPr>
              <a:t>Each dot: one pack in one year</a:t>
            </a:r>
          </a:p>
        </p:txBody>
      </p:sp>
      <p:grpSp>
        <p:nvGrpSpPr>
          <p:cNvPr name="Group 177" id="177"/>
          <p:cNvGrpSpPr/>
          <p:nvPr/>
        </p:nvGrpSpPr>
        <p:grpSpPr>
          <a:xfrm rot="0">
            <a:off x="1045845" y="8580305"/>
            <a:ext cx="150990" cy="150990"/>
            <a:chOff x="0" y="0"/>
            <a:chExt cx="201320" cy="201320"/>
          </a:xfrm>
        </p:grpSpPr>
        <p:sp>
          <p:nvSpPr>
            <p:cNvPr name="Freeform 178" id="178"/>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8D9A97"/>
            </a:solidFill>
          </p:spPr>
        </p:sp>
      </p:grpSp>
      <p:sp>
        <p:nvSpPr>
          <p:cNvPr name="TextBox 179" id="179"/>
          <p:cNvSpPr txBox="true"/>
          <p:nvPr/>
        </p:nvSpPr>
        <p:spPr>
          <a:xfrm rot="0">
            <a:off x="10295039" y="4863465"/>
            <a:ext cx="7183193" cy="558594"/>
          </a:xfrm>
          <a:prstGeom prst="rect">
            <a:avLst/>
          </a:prstGeom>
        </p:spPr>
        <p:txBody>
          <a:bodyPr anchor="t" rtlCol="false" tIns="0" lIns="0" bIns="0" rIns="0">
            <a:spAutoFit/>
          </a:bodyPr>
          <a:lstStyle/>
          <a:p>
            <a:pPr algn="r">
              <a:lnSpc>
                <a:spcPts val="1801"/>
              </a:lnSpc>
            </a:pPr>
            <a:r>
              <a:rPr lang="en-US" sz="1501">
                <a:solidFill>
                  <a:srgbClr val="717C7A"/>
                </a:solidFill>
                <a:latin typeface="Inter"/>
                <a:ea typeface="Inter"/>
                <a:cs typeface="Inter"/>
                <a:sym typeface="Inter"/>
              </a:rPr>
              <a:t>Photo: Sabi Sabi Private Game Reserve, via Africa Endeavours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68630"/>
            <a:ext cx="13755859" cy="617220"/>
            <a:chOff x="0" y="0"/>
            <a:chExt cx="18341145" cy="822960"/>
          </a:xfrm>
        </p:grpSpPr>
        <p:sp>
          <p:nvSpPr>
            <p:cNvPr name="Freeform 4" id="4"/>
            <p:cNvSpPr/>
            <p:nvPr/>
          </p:nvSpPr>
          <p:spPr>
            <a:xfrm flipH="false" flipV="false" rot="0">
              <a:off x="0" y="0"/>
              <a:ext cx="18341146" cy="822960"/>
            </a:xfrm>
            <a:custGeom>
              <a:avLst/>
              <a:gdLst/>
              <a:ahLst/>
              <a:cxnLst/>
              <a:rect r="r" b="b" t="t" l="l"/>
              <a:pathLst>
                <a:path h="822960" w="18341146">
                  <a:moveTo>
                    <a:pt x="0" y="0"/>
                  </a:moveTo>
                  <a:lnTo>
                    <a:pt x="18341146" y="0"/>
                  </a:lnTo>
                  <a:lnTo>
                    <a:pt x="18341146" y="822960"/>
                  </a:lnTo>
                  <a:lnTo>
                    <a:pt x="0" y="822960"/>
                  </a:lnTo>
                  <a:close/>
                </a:path>
              </a:pathLst>
            </a:custGeom>
            <a:blipFill>
              <a:blip r:embed="rId3">
                <a:alphaModFix amt="0"/>
              </a:blip>
              <a:stretch>
                <a:fillRect l="0" t="-209800" r="40173" b="-209800"/>
              </a:stretch>
            </a:blipFill>
          </p:spPr>
        </p:sp>
        <p:sp>
          <p:nvSpPr>
            <p:cNvPr name="TextBox 5" id="5"/>
            <p:cNvSpPr txBox="true"/>
            <p:nvPr/>
          </p:nvSpPr>
          <p:spPr>
            <a:xfrm>
              <a:off x="0" y="0"/>
              <a:ext cx="18341145"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Component and demographic Allee effects: Vancouver Island marmot</a:t>
              </a:r>
            </a:p>
          </p:txBody>
        </p:sp>
      </p:grpSp>
      <p:sp>
        <p:nvSpPr>
          <p:cNvPr name="AutoShape 6" id="6"/>
          <p:cNvSpPr/>
          <p:nvPr/>
        </p:nvSpPr>
        <p:spPr>
          <a:xfrm>
            <a:off x="816457" y="9514394"/>
            <a:ext cx="16668934" cy="14255"/>
          </a:xfrm>
          <a:prstGeom prst="line">
            <a:avLst/>
          </a:prstGeom>
          <a:ln cap="rnd" w="19050">
            <a:solidFill>
              <a:srgbClr val="C7C4C3"/>
            </a:solidFill>
            <a:prstDash val="solid"/>
            <a:headEnd type="none" len="sm" w="sm"/>
            <a:tailEnd type="none" len="sm" w="sm"/>
          </a:ln>
        </p:spPr>
      </p:sp>
      <p:sp>
        <p:nvSpPr>
          <p:cNvPr name="TextBox 7" id="7"/>
          <p:cNvSpPr txBox="true"/>
          <p:nvPr/>
        </p:nvSpPr>
        <p:spPr>
          <a:xfrm rot="0">
            <a:off x="823608" y="1484032"/>
            <a:ext cx="7137892" cy="984822"/>
          </a:xfrm>
          <a:prstGeom prst="rect">
            <a:avLst/>
          </a:prstGeom>
        </p:spPr>
        <p:txBody>
          <a:bodyPr anchor="t" rtlCol="false" tIns="0" lIns="0" bIns="0" rIns="0">
            <a:spAutoFit/>
          </a:bodyPr>
          <a:lstStyle/>
          <a:p>
            <a:pPr algn="l">
              <a:lnSpc>
                <a:spcPts val="4343"/>
              </a:lnSpc>
            </a:pPr>
            <a:r>
              <a:rPr lang="en-US" sz="3102">
                <a:solidFill>
                  <a:srgbClr val="232E2D"/>
                </a:solidFill>
                <a:latin typeface="Inter"/>
                <a:ea typeface="Inter"/>
                <a:cs typeface="Inter"/>
                <a:sym typeface="Inter"/>
              </a:rPr>
              <a:t>Component Allee effect</a:t>
            </a:r>
          </a:p>
          <a:p>
            <a:pPr algn="l">
              <a:lnSpc>
                <a:spcPts val="3642"/>
              </a:lnSpc>
            </a:pPr>
            <a:r>
              <a:rPr lang="en-US" sz="2602">
                <a:solidFill>
                  <a:srgbClr val="717C7A"/>
                </a:solidFill>
                <a:latin typeface="Inter"/>
                <a:ea typeface="Inter"/>
                <a:cs typeface="Inter"/>
                <a:sym typeface="Inter"/>
              </a:rPr>
              <a:t>Each marmot does worse</a:t>
            </a:r>
          </a:p>
        </p:txBody>
      </p:sp>
      <p:sp>
        <p:nvSpPr>
          <p:cNvPr name="TextBox 8" id="8"/>
          <p:cNvSpPr txBox="true"/>
          <p:nvPr/>
        </p:nvSpPr>
        <p:spPr>
          <a:xfrm rot="0">
            <a:off x="9059637" y="1484032"/>
            <a:ext cx="8418595" cy="984822"/>
          </a:xfrm>
          <a:prstGeom prst="rect">
            <a:avLst/>
          </a:prstGeom>
        </p:spPr>
        <p:txBody>
          <a:bodyPr anchor="t" rtlCol="false" tIns="0" lIns="0" bIns="0" rIns="0">
            <a:spAutoFit/>
          </a:bodyPr>
          <a:lstStyle/>
          <a:p>
            <a:pPr algn="l">
              <a:lnSpc>
                <a:spcPts val="4343"/>
              </a:lnSpc>
            </a:pPr>
            <a:r>
              <a:rPr lang="en-US" sz="3102">
                <a:solidFill>
                  <a:srgbClr val="232E2D"/>
                </a:solidFill>
                <a:latin typeface="Inter"/>
                <a:ea typeface="Inter"/>
                <a:cs typeface="Inter"/>
                <a:sym typeface="Inter"/>
              </a:rPr>
              <a:t>Demographic Allee effect</a:t>
            </a:r>
          </a:p>
          <a:p>
            <a:pPr algn="l">
              <a:lnSpc>
                <a:spcPts val="3642"/>
              </a:lnSpc>
            </a:pPr>
            <a:r>
              <a:rPr lang="en-US" sz="2602">
                <a:solidFill>
                  <a:srgbClr val="717C7A"/>
                </a:solidFill>
                <a:latin typeface="Inter"/>
                <a:ea typeface="Inter"/>
                <a:cs typeface="Inter"/>
                <a:sym typeface="Inter"/>
              </a:rPr>
              <a:t>The whole population grows more slowly</a:t>
            </a:r>
          </a:p>
        </p:txBody>
      </p:sp>
      <p:grpSp>
        <p:nvGrpSpPr>
          <p:cNvPr name="Group 9" id="9"/>
          <p:cNvGrpSpPr/>
          <p:nvPr/>
        </p:nvGrpSpPr>
        <p:grpSpPr>
          <a:xfrm rot="0">
            <a:off x="868064" y="2906553"/>
            <a:ext cx="2882608" cy="753372"/>
            <a:chOff x="0" y="0"/>
            <a:chExt cx="3843477" cy="1004497"/>
          </a:xfrm>
        </p:grpSpPr>
        <p:sp>
          <p:nvSpPr>
            <p:cNvPr name="Freeform 10" id="10"/>
            <p:cNvSpPr/>
            <p:nvPr/>
          </p:nvSpPr>
          <p:spPr>
            <a:xfrm flipH="false" flipV="false" rot="0">
              <a:off x="0" y="0"/>
              <a:ext cx="3843483" cy="1004491"/>
            </a:xfrm>
            <a:custGeom>
              <a:avLst/>
              <a:gdLst/>
              <a:ahLst/>
              <a:cxnLst/>
              <a:rect r="r" b="b" t="t" l="l"/>
              <a:pathLst>
                <a:path h="1004491" w="3843483">
                  <a:moveTo>
                    <a:pt x="0" y="0"/>
                  </a:moveTo>
                  <a:lnTo>
                    <a:pt x="3843483" y="0"/>
                  </a:lnTo>
                  <a:lnTo>
                    <a:pt x="3843483" y="1004491"/>
                  </a:lnTo>
                  <a:lnTo>
                    <a:pt x="0" y="1004491"/>
                  </a:lnTo>
                  <a:close/>
                </a:path>
              </a:pathLst>
            </a:custGeom>
            <a:blipFill>
              <a:blip r:embed="rId3">
                <a:alphaModFix amt="0"/>
              </a:blip>
              <a:stretch>
                <a:fillRect l="0" t="-47224" r="0" b="-1886"/>
              </a:stretch>
            </a:blipFill>
          </p:spPr>
        </p:sp>
        <p:sp>
          <p:nvSpPr>
            <p:cNvPr name="TextBox 11" id="11"/>
            <p:cNvSpPr txBox="true"/>
            <p:nvPr/>
          </p:nvSpPr>
          <p:spPr>
            <a:xfrm>
              <a:off x="0" y="0"/>
              <a:ext cx="3843477" cy="1004497"/>
            </a:xfrm>
            <a:prstGeom prst="rect">
              <a:avLst/>
            </a:prstGeom>
          </p:spPr>
          <p:txBody>
            <a:bodyPr anchor="ctr" rtlCol="false" tIns="0" lIns="0" bIns="0" rIns="0"/>
            <a:lstStyle/>
            <a:p>
              <a:pPr algn="l">
                <a:lnSpc>
                  <a:spcPts val="2521"/>
                </a:lnSpc>
              </a:pPr>
              <a:r>
                <a:rPr lang="en-US" sz="2101">
                  <a:solidFill>
                    <a:srgbClr val="232E2D"/>
                  </a:solidFill>
                  <a:latin typeface="Inter"/>
                  <a:ea typeface="Inter"/>
                  <a:cs typeface="Inter"/>
                  <a:sym typeface="Inter"/>
                </a:rPr>
                <a:t>Fewer neighbors (marmots per colony)</a:t>
              </a:r>
            </a:p>
          </p:txBody>
        </p:sp>
      </p:grpSp>
      <p:sp>
        <p:nvSpPr>
          <p:cNvPr name="AutoShape 12" id="12"/>
          <p:cNvSpPr/>
          <p:nvPr/>
        </p:nvSpPr>
        <p:spPr>
          <a:xfrm>
            <a:off x="860919" y="3799459"/>
            <a:ext cx="2896908" cy="14309"/>
          </a:xfrm>
          <a:prstGeom prst="line">
            <a:avLst/>
          </a:prstGeom>
          <a:ln cap="rnd" w="19050">
            <a:solidFill>
              <a:srgbClr val="C7C4C3"/>
            </a:solidFill>
            <a:prstDash val="solid"/>
            <a:headEnd type="none" len="sm" w="sm"/>
            <a:tailEnd type="none" len="sm" w="sm"/>
          </a:ln>
        </p:spPr>
      </p:sp>
      <p:grpSp>
        <p:nvGrpSpPr>
          <p:cNvPr name="Group 13" id="13"/>
          <p:cNvGrpSpPr/>
          <p:nvPr/>
        </p:nvGrpSpPr>
        <p:grpSpPr>
          <a:xfrm rot="0">
            <a:off x="1073966" y="4551810"/>
            <a:ext cx="1029500" cy="3294412"/>
            <a:chOff x="0" y="0"/>
            <a:chExt cx="1372667" cy="4392549"/>
          </a:xfrm>
        </p:grpSpPr>
        <p:sp>
          <p:nvSpPr>
            <p:cNvPr name="Freeform 14" id="14"/>
            <p:cNvSpPr/>
            <p:nvPr/>
          </p:nvSpPr>
          <p:spPr>
            <a:xfrm flipH="false" flipV="false" rot="0">
              <a:off x="0" y="0"/>
              <a:ext cx="1372616" cy="4392549"/>
            </a:xfrm>
            <a:custGeom>
              <a:avLst/>
              <a:gdLst/>
              <a:ahLst/>
              <a:cxnLst/>
              <a:rect r="r" b="b" t="t" l="l"/>
              <a:pathLst>
                <a:path h="4392549" w="1372616">
                  <a:moveTo>
                    <a:pt x="0" y="0"/>
                  </a:moveTo>
                  <a:lnTo>
                    <a:pt x="1372616" y="0"/>
                  </a:lnTo>
                  <a:lnTo>
                    <a:pt x="1372616" y="4392549"/>
                  </a:lnTo>
                  <a:lnTo>
                    <a:pt x="0" y="4392549"/>
                  </a:lnTo>
                  <a:close/>
                </a:path>
              </a:pathLst>
            </a:custGeom>
            <a:solidFill>
              <a:srgbClr val="AEB7B2"/>
            </a:solidFill>
          </p:spPr>
        </p:sp>
      </p:grpSp>
      <p:grpSp>
        <p:nvGrpSpPr>
          <p:cNvPr name="Group 15" id="15"/>
          <p:cNvGrpSpPr/>
          <p:nvPr/>
        </p:nvGrpSpPr>
        <p:grpSpPr>
          <a:xfrm rot="0">
            <a:off x="730799" y="7956045"/>
            <a:ext cx="1715843" cy="356892"/>
            <a:chOff x="0" y="0"/>
            <a:chExt cx="2287791" cy="475856"/>
          </a:xfrm>
        </p:grpSpPr>
        <p:sp>
          <p:nvSpPr>
            <p:cNvPr name="Freeform 16" id="16"/>
            <p:cNvSpPr/>
            <p:nvPr/>
          </p:nvSpPr>
          <p:spPr>
            <a:xfrm flipH="false" flipV="false" rot="0">
              <a:off x="0" y="0"/>
              <a:ext cx="2287787" cy="475860"/>
            </a:xfrm>
            <a:custGeom>
              <a:avLst/>
              <a:gdLst/>
              <a:ahLst/>
              <a:cxnLst/>
              <a:rect r="r" b="b" t="t" l="l"/>
              <a:pathLst>
                <a:path h="475860" w="2287787">
                  <a:moveTo>
                    <a:pt x="0" y="0"/>
                  </a:moveTo>
                  <a:lnTo>
                    <a:pt x="2287787" y="0"/>
                  </a:lnTo>
                  <a:lnTo>
                    <a:pt x="2287787" y="475860"/>
                  </a:lnTo>
                  <a:lnTo>
                    <a:pt x="0" y="475860"/>
                  </a:lnTo>
                  <a:close/>
                </a:path>
              </a:pathLst>
            </a:custGeom>
            <a:blipFill>
              <a:blip r:embed="rId3">
                <a:alphaModFix amt="0"/>
              </a:blip>
              <a:stretch>
                <a:fillRect l="0" t="-43678" r="0" b="-43677"/>
              </a:stretch>
            </a:blipFill>
          </p:spPr>
        </p:sp>
        <p:sp>
          <p:nvSpPr>
            <p:cNvPr name="TextBox 17" id="17"/>
            <p:cNvSpPr txBox="true"/>
            <p:nvPr/>
          </p:nvSpPr>
          <p:spPr>
            <a:xfrm>
              <a:off x="0" y="0"/>
              <a:ext cx="2287791" cy="475856"/>
            </a:xfrm>
            <a:prstGeom prst="rect">
              <a:avLst/>
            </a:prstGeom>
          </p:spPr>
          <p:txBody>
            <a:bodyPr anchor="ctr" rtlCol="false" tIns="0" lIns="0" bIns="0" rIns="0"/>
            <a:lstStyle/>
            <a:p>
              <a:pPr algn="ctr">
                <a:lnSpc>
                  <a:spcPts val="2161"/>
                </a:lnSpc>
              </a:pPr>
              <a:r>
                <a:rPr lang="en-US" sz="1801">
                  <a:solidFill>
                    <a:srgbClr val="717C7A"/>
                  </a:solidFill>
                  <a:latin typeface="Inter"/>
                  <a:ea typeface="Inter"/>
                  <a:cs typeface="Inter"/>
                  <a:sym typeface="Inter"/>
                </a:rPr>
                <a:t>1973</a:t>
              </a:r>
            </a:p>
          </p:txBody>
        </p:sp>
      </p:grpSp>
      <p:grpSp>
        <p:nvGrpSpPr>
          <p:cNvPr name="Group 18" id="18"/>
          <p:cNvGrpSpPr/>
          <p:nvPr/>
        </p:nvGrpSpPr>
        <p:grpSpPr>
          <a:xfrm rot="0">
            <a:off x="2515270" y="6417329"/>
            <a:ext cx="1029500" cy="1428902"/>
            <a:chOff x="0" y="0"/>
            <a:chExt cx="1372667" cy="1905203"/>
          </a:xfrm>
        </p:grpSpPr>
        <p:sp>
          <p:nvSpPr>
            <p:cNvPr name="Freeform 19" id="19"/>
            <p:cNvSpPr/>
            <p:nvPr/>
          </p:nvSpPr>
          <p:spPr>
            <a:xfrm flipH="false" flipV="false" rot="0">
              <a:off x="0" y="0"/>
              <a:ext cx="1372616" cy="1905254"/>
            </a:xfrm>
            <a:custGeom>
              <a:avLst/>
              <a:gdLst/>
              <a:ahLst/>
              <a:cxnLst/>
              <a:rect r="r" b="b" t="t" l="l"/>
              <a:pathLst>
                <a:path h="1905254" w="1372616">
                  <a:moveTo>
                    <a:pt x="0" y="0"/>
                  </a:moveTo>
                  <a:lnTo>
                    <a:pt x="1372616" y="0"/>
                  </a:lnTo>
                  <a:lnTo>
                    <a:pt x="1372616" y="1905254"/>
                  </a:lnTo>
                  <a:lnTo>
                    <a:pt x="0" y="1905254"/>
                  </a:lnTo>
                  <a:close/>
                </a:path>
              </a:pathLst>
            </a:custGeom>
            <a:solidFill>
              <a:srgbClr val="4E5B4C"/>
            </a:solidFill>
          </p:spPr>
        </p:sp>
      </p:grpSp>
      <p:grpSp>
        <p:nvGrpSpPr>
          <p:cNvPr name="Group 20" id="20"/>
          <p:cNvGrpSpPr/>
          <p:nvPr/>
        </p:nvGrpSpPr>
        <p:grpSpPr>
          <a:xfrm rot="0">
            <a:off x="2172103" y="7956045"/>
            <a:ext cx="1715843" cy="356892"/>
            <a:chOff x="0" y="0"/>
            <a:chExt cx="2287791" cy="475856"/>
          </a:xfrm>
        </p:grpSpPr>
        <p:sp>
          <p:nvSpPr>
            <p:cNvPr name="Freeform 21" id="21"/>
            <p:cNvSpPr/>
            <p:nvPr/>
          </p:nvSpPr>
          <p:spPr>
            <a:xfrm flipH="false" flipV="false" rot="0">
              <a:off x="0" y="0"/>
              <a:ext cx="2287787" cy="475860"/>
            </a:xfrm>
            <a:custGeom>
              <a:avLst/>
              <a:gdLst/>
              <a:ahLst/>
              <a:cxnLst/>
              <a:rect r="r" b="b" t="t" l="l"/>
              <a:pathLst>
                <a:path h="475860" w="2287787">
                  <a:moveTo>
                    <a:pt x="0" y="0"/>
                  </a:moveTo>
                  <a:lnTo>
                    <a:pt x="2287787" y="0"/>
                  </a:lnTo>
                  <a:lnTo>
                    <a:pt x="2287787" y="475860"/>
                  </a:lnTo>
                  <a:lnTo>
                    <a:pt x="0" y="475860"/>
                  </a:lnTo>
                  <a:close/>
                </a:path>
              </a:pathLst>
            </a:custGeom>
            <a:blipFill>
              <a:blip r:embed="rId3">
                <a:alphaModFix amt="0"/>
              </a:blip>
              <a:stretch>
                <a:fillRect l="0" t="-43678" r="0" b="-43677"/>
              </a:stretch>
            </a:blipFill>
          </p:spPr>
        </p:sp>
        <p:sp>
          <p:nvSpPr>
            <p:cNvPr name="TextBox 22" id="22"/>
            <p:cNvSpPr txBox="true"/>
            <p:nvPr/>
          </p:nvSpPr>
          <p:spPr>
            <a:xfrm>
              <a:off x="0" y="0"/>
              <a:ext cx="2287791" cy="475856"/>
            </a:xfrm>
            <a:prstGeom prst="rect">
              <a:avLst/>
            </a:prstGeom>
          </p:spPr>
          <p:txBody>
            <a:bodyPr anchor="ctr" rtlCol="false" tIns="0" lIns="0" bIns="0" rIns="0"/>
            <a:lstStyle/>
            <a:p>
              <a:pPr algn="ctr">
                <a:lnSpc>
                  <a:spcPts val="2161"/>
                </a:lnSpc>
              </a:pPr>
              <a:r>
                <a:rPr lang="en-US" sz="1801">
                  <a:solidFill>
                    <a:srgbClr val="717C7A"/>
                  </a:solidFill>
                  <a:latin typeface="Inter"/>
                  <a:ea typeface="Inter"/>
                  <a:cs typeface="Inter"/>
                  <a:sym typeface="Inter"/>
                </a:rPr>
                <a:t>2006</a:t>
              </a:r>
            </a:p>
          </p:txBody>
        </p:sp>
      </p:grpSp>
      <p:grpSp>
        <p:nvGrpSpPr>
          <p:cNvPr name="Group 23" id="23"/>
          <p:cNvGrpSpPr/>
          <p:nvPr/>
        </p:nvGrpSpPr>
        <p:grpSpPr>
          <a:xfrm rot="0">
            <a:off x="2122516" y="5799623"/>
            <a:ext cx="1853108" cy="544962"/>
            <a:chOff x="0" y="0"/>
            <a:chExt cx="2470810" cy="726617"/>
          </a:xfrm>
        </p:grpSpPr>
        <p:sp>
          <p:nvSpPr>
            <p:cNvPr name="Freeform 24" id="24"/>
            <p:cNvSpPr/>
            <p:nvPr/>
          </p:nvSpPr>
          <p:spPr>
            <a:xfrm flipH="false" flipV="false" rot="0">
              <a:off x="0" y="0"/>
              <a:ext cx="2470810" cy="726614"/>
            </a:xfrm>
            <a:custGeom>
              <a:avLst/>
              <a:gdLst/>
              <a:ahLst/>
              <a:cxnLst/>
              <a:rect r="r" b="b" t="t" l="l"/>
              <a:pathLst>
                <a:path h="726614" w="2470810">
                  <a:moveTo>
                    <a:pt x="0" y="0"/>
                  </a:moveTo>
                  <a:lnTo>
                    <a:pt x="2470810" y="0"/>
                  </a:lnTo>
                  <a:lnTo>
                    <a:pt x="2470810" y="726614"/>
                  </a:lnTo>
                  <a:lnTo>
                    <a:pt x="0" y="726614"/>
                  </a:lnTo>
                  <a:close/>
                </a:path>
              </a:pathLst>
            </a:custGeom>
            <a:blipFill>
              <a:blip r:embed="rId3">
                <a:alphaModFix amt="0"/>
              </a:blip>
              <a:stretch>
                <a:fillRect l="0" t="-18399" r="0" b="-14116"/>
              </a:stretch>
            </a:blipFill>
          </p:spPr>
        </p:sp>
        <p:sp>
          <p:nvSpPr>
            <p:cNvPr name="TextBox 25" id="25"/>
            <p:cNvSpPr txBox="true"/>
            <p:nvPr/>
          </p:nvSpPr>
          <p:spPr>
            <a:xfrm>
              <a:off x="0" y="0"/>
              <a:ext cx="2470810" cy="726617"/>
            </a:xfrm>
            <a:prstGeom prst="rect">
              <a:avLst/>
            </a:prstGeom>
          </p:spPr>
          <p:txBody>
            <a:bodyPr anchor="ctr" rtlCol="false" tIns="0" lIns="0" bIns="0" rIns="0"/>
            <a:lstStyle/>
            <a:p>
              <a:pPr algn="ctr">
                <a:lnSpc>
                  <a:spcPts val="3122"/>
                </a:lnSpc>
              </a:pPr>
              <a:r>
                <a:rPr lang="en-US" sz="2602">
                  <a:solidFill>
                    <a:srgbClr val="4E5B4C"/>
                  </a:solidFill>
                  <a:latin typeface="Inter"/>
                  <a:ea typeface="Inter"/>
                  <a:cs typeface="Inter"/>
                  <a:sym typeface="Inter"/>
                </a:rPr>
                <a:t>-57%</a:t>
              </a:r>
            </a:p>
          </p:txBody>
        </p:sp>
      </p:grpSp>
      <p:sp>
        <p:nvSpPr>
          <p:cNvPr name="AutoShape 26" id="26"/>
          <p:cNvSpPr/>
          <p:nvPr/>
        </p:nvSpPr>
        <p:spPr>
          <a:xfrm>
            <a:off x="858532" y="7836710"/>
            <a:ext cx="2901681" cy="19042"/>
          </a:xfrm>
          <a:prstGeom prst="line">
            <a:avLst/>
          </a:prstGeom>
          <a:ln cap="rnd" w="9525">
            <a:solidFill>
              <a:srgbClr val="232E2D"/>
            </a:solidFill>
            <a:prstDash val="solid"/>
            <a:headEnd type="none" len="sm" w="sm"/>
            <a:tailEnd type="none" len="sm" w="sm"/>
          </a:ln>
        </p:spPr>
      </p:sp>
      <p:grpSp>
        <p:nvGrpSpPr>
          <p:cNvPr name="Group 27" id="27"/>
          <p:cNvGrpSpPr/>
          <p:nvPr/>
        </p:nvGrpSpPr>
        <p:grpSpPr>
          <a:xfrm rot="0">
            <a:off x="4574280" y="3257545"/>
            <a:ext cx="2882608" cy="439047"/>
            <a:chOff x="0" y="0"/>
            <a:chExt cx="3843477" cy="585397"/>
          </a:xfrm>
        </p:grpSpPr>
        <p:sp>
          <p:nvSpPr>
            <p:cNvPr name="Freeform 28" id="28"/>
            <p:cNvSpPr/>
            <p:nvPr/>
          </p:nvSpPr>
          <p:spPr>
            <a:xfrm flipH="false" flipV="false" rot="0">
              <a:off x="0" y="0"/>
              <a:ext cx="3843483" cy="585394"/>
            </a:xfrm>
            <a:custGeom>
              <a:avLst/>
              <a:gdLst/>
              <a:ahLst/>
              <a:cxnLst/>
              <a:rect r="r" b="b" t="t" l="l"/>
              <a:pathLst>
                <a:path h="585394" w="3843483">
                  <a:moveTo>
                    <a:pt x="0" y="0"/>
                  </a:moveTo>
                  <a:lnTo>
                    <a:pt x="3843483" y="0"/>
                  </a:lnTo>
                  <a:lnTo>
                    <a:pt x="3843483" y="585394"/>
                  </a:lnTo>
                  <a:lnTo>
                    <a:pt x="0" y="585394"/>
                  </a:lnTo>
                  <a:close/>
                </a:path>
              </a:pathLst>
            </a:custGeom>
            <a:blipFill>
              <a:blip r:embed="rId3">
                <a:alphaModFix amt="0"/>
              </a:blip>
              <a:stretch>
                <a:fillRect l="0" t="-81033" r="0" b="-74829"/>
              </a:stretch>
            </a:blipFill>
          </p:spPr>
        </p:sp>
        <p:sp>
          <p:nvSpPr>
            <p:cNvPr name="TextBox 29" id="29"/>
            <p:cNvSpPr txBox="true"/>
            <p:nvPr/>
          </p:nvSpPr>
          <p:spPr>
            <a:xfrm>
              <a:off x="0" y="0"/>
              <a:ext cx="3843477" cy="585397"/>
            </a:xfrm>
            <a:prstGeom prst="rect">
              <a:avLst/>
            </a:prstGeom>
          </p:spPr>
          <p:txBody>
            <a:bodyPr anchor="ctr" rtlCol="false" tIns="0" lIns="0" bIns="0" rIns="0"/>
            <a:lstStyle/>
            <a:p>
              <a:pPr algn="l">
                <a:lnSpc>
                  <a:spcPts val="2521"/>
                </a:lnSpc>
              </a:pPr>
              <a:r>
                <a:rPr lang="en-US" sz="2101">
                  <a:solidFill>
                    <a:srgbClr val="232E2D"/>
                  </a:solidFill>
                  <a:latin typeface="Inter"/>
                  <a:ea typeface="Inter"/>
                  <a:cs typeface="Inter"/>
                  <a:sym typeface="Inter"/>
                </a:rPr>
                <a:t>Time spent feeding</a:t>
              </a:r>
            </a:p>
          </p:txBody>
        </p:sp>
      </p:grpSp>
      <p:sp>
        <p:nvSpPr>
          <p:cNvPr name="AutoShape 30" id="30"/>
          <p:cNvSpPr/>
          <p:nvPr/>
        </p:nvSpPr>
        <p:spPr>
          <a:xfrm>
            <a:off x="4567134" y="3799459"/>
            <a:ext cx="2896908" cy="14309"/>
          </a:xfrm>
          <a:prstGeom prst="line">
            <a:avLst/>
          </a:prstGeom>
          <a:ln cap="rnd" w="19050">
            <a:solidFill>
              <a:srgbClr val="C7C4C3"/>
            </a:solidFill>
            <a:prstDash val="solid"/>
            <a:headEnd type="none" len="sm" w="sm"/>
            <a:tailEnd type="none" len="sm" w="sm"/>
          </a:ln>
        </p:spPr>
      </p:sp>
      <p:grpSp>
        <p:nvGrpSpPr>
          <p:cNvPr name="Group 31" id="31"/>
          <p:cNvGrpSpPr/>
          <p:nvPr/>
        </p:nvGrpSpPr>
        <p:grpSpPr>
          <a:xfrm rot="0">
            <a:off x="4780181" y="4551810"/>
            <a:ext cx="1029500" cy="3294412"/>
            <a:chOff x="0" y="0"/>
            <a:chExt cx="1372667" cy="4392549"/>
          </a:xfrm>
        </p:grpSpPr>
        <p:sp>
          <p:nvSpPr>
            <p:cNvPr name="Freeform 32" id="32"/>
            <p:cNvSpPr/>
            <p:nvPr/>
          </p:nvSpPr>
          <p:spPr>
            <a:xfrm flipH="false" flipV="false" rot="0">
              <a:off x="0" y="0"/>
              <a:ext cx="1372616" cy="4392549"/>
            </a:xfrm>
            <a:custGeom>
              <a:avLst/>
              <a:gdLst/>
              <a:ahLst/>
              <a:cxnLst/>
              <a:rect r="r" b="b" t="t" l="l"/>
              <a:pathLst>
                <a:path h="4392549" w="1372616">
                  <a:moveTo>
                    <a:pt x="0" y="0"/>
                  </a:moveTo>
                  <a:lnTo>
                    <a:pt x="1372616" y="0"/>
                  </a:lnTo>
                  <a:lnTo>
                    <a:pt x="1372616" y="4392549"/>
                  </a:lnTo>
                  <a:lnTo>
                    <a:pt x="0" y="4392549"/>
                  </a:lnTo>
                  <a:close/>
                </a:path>
              </a:pathLst>
            </a:custGeom>
            <a:solidFill>
              <a:srgbClr val="AEB7B2"/>
            </a:solidFill>
          </p:spPr>
        </p:sp>
      </p:grpSp>
      <p:grpSp>
        <p:nvGrpSpPr>
          <p:cNvPr name="Group 33" id="33"/>
          <p:cNvGrpSpPr/>
          <p:nvPr/>
        </p:nvGrpSpPr>
        <p:grpSpPr>
          <a:xfrm rot="0">
            <a:off x="4437015" y="7956045"/>
            <a:ext cx="1715843" cy="356892"/>
            <a:chOff x="0" y="0"/>
            <a:chExt cx="2287791" cy="475856"/>
          </a:xfrm>
        </p:grpSpPr>
        <p:sp>
          <p:nvSpPr>
            <p:cNvPr name="Freeform 34" id="34"/>
            <p:cNvSpPr/>
            <p:nvPr/>
          </p:nvSpPr>
          <p:spPr>
            <a:xfrm flipH="false" flipV="false" rot="0">
              <a:off x="0" y="0"/>
              <a:ext cx="2287787" cy="475860"/>
            </a:xfrm>
            <a:custGeom>
              <a:avLst/>
              <a:gdLst/>
              <a:ahLst/>
              <a:cxnLst/>
              <a:rect r="r" b="b" t="t" l="l"/>
              <a:pathLst>
                <a:path h="475860" w="2287787">
                  <a:moveTo>
                    <a:pt x="0" y="0"/>
                  </a:moveTo>
                  <a:lnTo>
                    <a:pt x="2287787" y="0"/>
                  </a:lnTo>
                  <a:lnTo>
                    <a:pt x="2287787" y="475860"/>
                  </a:lnTo>
                  <a:lnTo>
                    <a:pt x="0" y="475860"/>
                  </a:lnTo>
                  <a:close/>
                </a:path>
              </a:pathLst>
            </a:custGeom>
            <a:blipFill>
              <a:blip r:embed="rId3">
                <a:alphaModFix amt="0"/>
              </a:blip>
              <a:stretch>
                <a:fillRect l="0" t="-43678" r="0" b="-43677"/>
              </a:stretch>
            </a:blipFill>
          </p:spPr>
        </p:sp>
        <p:sp>
          <p:nvSpPr>
            <p:cNvPr name="TextBox 35" id="35"/>
            <p:cNvSpPr txBox="true"/>
            <p:nvPr/>
          </p:nvSpPr>
          <p:spPr>
            <a:xfrm>
              <a:off x="0" y="0"/>
              <a:ext cx="2287791" cy="475856"/>
            </a:xfrm>
            <a:prstGeom prst="rect">
              <a:avLst/>
            </a:prstGeom>
          </p:spPr>
          <p:txBody>
            <a:bodyPr anchor="ctr" rtlCol="false" tIns="0" lIns="0" bIns="0" rIns="0"/>
            <a:lstStyle/>
            <a:p>
              <a:pPr algn="ctr">
                <a:lnSpc>
                  <a:spcPts val="2161"/>
                </a:lnSpc>
              </a:pPr>
              <a:r>
                <a:rPr lang="en-US" sz="1801">
                  <a:solidFill>
                    <a:srgbClr val="717C7A"/>
                  </a:solidFill>
                  <a:latin typeface="Inter"/>
                  <a:ea typeface="Inter"/>
                  <a:cs typeface="Inter"/>
                  <a:sym typeface="Inter"/>
                </a:rPr>
                <a:t>1970s</a:t>
              </a:r>
            </a:p>
          </p:txBody>
        </p:sp>
      </p:grpSp>
      <p:grpSp>
        <p:nvGrpSpPr>
          <p:cNvPr name="Group 36" id="36"/>
          <p:cNvGrpSpPr/>
          <p:nvPr/>
        </p:nvGrpSpPr>
        <p:grpSpPr>
          <a:xfrm rot="0">
            <a:off x="6221485" y="7385012"/>
            <a:ext cx="1029500" cy="461220"/>
            <a:chOff x="0" y="0"/>
            <a:chExt cx="1372667" cy="614959"/>
          </a:xfrm>
        </p:grpSpPr>
        <p:sp>
          <p:nvSpPr>
            <p:cNvPr name="Freeform 37" id="37"/>
            <p:cNvSpPr/>
            <p:nvPr/>
          </p:nvSpPr>
          <p:spPr>
            <a:xfrm flipH="false" flipV="false" rot="0">
              <a:off x="0" y="0"/>
              <a:ext cx="1372616" cy="614934"/>
            </a:xfrm>
            <a:custGeom>
              <a:avLst/>
              <a:gdLst/>
              <a:ahLst/>
              <a:cxnLst/>
              <a:rect r="r" b="b" t="t" l="l"/>
              <a:pathLst>
                <a:path h="614934" w="1372616">
                  <a:moveTo>
                    <a:pt x="0" y="0"/>
                  </a:moveTo>
                  <a:lnTo>
                    <a:pt x="1372616" y="0"/>
                  </a:lnTo>
                  <a:lnTo>
                    <a:pt x="1372616" y="614934"/>
                  </a:lnTo>
                  <a:lnTo>
                    <a:pt x="0" y="614934"/>
                  </a:lnTo>
                  <a:close/>
                </a:path>
              </a:pathLst>
            </a:custGeom>
            <a:solidFill>
              <a:srgbClr val="4E5B4C"/>
            </a:solidFill>
          </p:spPr>
        </p:sp>
      </p:grpSp>
      <p:grpSp>
        <p:nvGrpSpPr>
          <p:cNvPr name="Group 38" id="38"/>
          <p:cNvGrpSpPr/>
          <p:nvPr/>
        </p:nvGrpSpPr>
        <p:grpSpPr>
          <a:xfrm rot="0">
            <a:off x="5878319" y="7956045"/>
            <a:ext cx="1715843" cy="356892"/>
            <a:chOff x="0" y="0"/>
            <a:chExt cx="2287791" cy="475856"/>
          </a:xfrm>
        </p:grpSpPr>
        <p:sp>
          <p:nvSpPr>
            <p:cNvPr name="Freeform 39" id="39"/>
            <p:cNvSpPr/>
            <p:nvPr/>
          </p:nvSpPr>
          <p:spPr>
            <a:xfrm flipH="false" flipV="false" rot="0">
              <a:off x="0" y="0"/>
              <a:ext cx="2287787" cy="475860"/>
            </a:xfrm>
            <a:custGeom>
              <a:avLst/>
              <a:gdLst/>
              <a:ahLst/>
              <a:cxnLst/>
              <a:rect r="r" b="b" t="t" l="l"/>
              <a:pathLst>
                <a:path h="475860" w="2287787">
                  <a:moveTo>
                    <a:pt x="0" y="0"/>
                  </a:moveTo>
                  <a:lnTo>
                    <a:pt x="2287787" y="0"/>
                  </a:lnTo>
                  <a:lnTo>
                    <a:pt x="2287787" y="475860"/>
                  </a:lnTo>
                  <a:lnTo>
                    <a:pt x="0" y="475860"/>
                  </a:lnTo>
                  <a:close/>
                </a:path>
              </a:pathLst>
            </a:custGeom>
            <a:blipFill>
              <a:blip r:embed="rId3">
                <a:alphaModFix amt="0"/>
              </a:blip>
              <a:stretch>
                <a:fillRect l="0" t="-43678" r="0" b="-43677"/>
              </a:stretch>
            </a:blipFill>
          </p:spPr>
        </p:sp>
        <p:sp>
          <p:nvSpPr>
            <p:cNvPr name="TextBox 40" id="40"/>
            <p:cNvSpPr txBox="true"/>
            <p:nvPr/>
          </p:nvSpPr>
          <p:spPr>
            <a:xfrm>
              <a:off x="0" y="0"/>
              <a:ext cx="2287791" cy="475856"/>
            </a:xfrm>
            <a:prstGeom prst="rect">
              <a:avLst/>
            </a:prstGeom>
          </p:spPr>
          <p:txBody>
            <a:bodyPr anchor="ctr" rtlCol="false" tIns="0" lIns="0" bIns="0" rIns="0"/>
            <a:lstStyle/>
            <a:p>
              <a:pPr algn="ctr">
                <a:lnSpc>
                  <a:spcPts val="2161"/>
                </a:lnSpc>
              </a:pPr>
              <a:r>
                <a:rPr lang="en-US" sz="1801">
                  <a:solidFill>
                    <a:srgbClr val="717C7A"/>
                  </a:solidFill>
                  <a:latin typeface="Inter"/>
                  <a:ea typeface="Inter"/>
                  <a:cs typeface="Inter"/>
                  <a:sym typeface="Inter"/>
                </a:rPr>
                <a:t>2002–05</a:t>
              </a:r>
            </a:p>
          </p:txBody>
        </p:sp>
      </p:grpSp>
      <p:grpSp>
        <p:nvGrpSpPr>
          <p:cNvPr name="Group 41" id="41"/>
          <p:cNvGrpSpPr/>
          <p:nvPr/>
        </p:nvGrpSpPr>
        <p:grpSpPr>
          <a:xfrm rot="0">
            <a:off x="5828732" y="6767306"/>
            <a:ext cx="1853108" cy="544962"/>
            <a:chOff x="0" y="0"/>
            <a:chExt cx="2470810" cy="726617"/>
          </a:xfrm>
        </p:grpSpPr>
        <p:sp>
          <p:nvSpPr>
            <p:cNvPr name="Freeform 42" id="42"/>
            <p:cNvSpPr/>
            <p:nvPr/>
          </p:nvSpPr>
          <p:spPr>
            <a:xfrm flipH="false" flipV="false" rot="0">
              <a:off x="0" y="0"/>
              <a:ext cx="2470810" cy="726614"/>
            </a:xfrm>
            <a:custGeom>
              <a:avLst/>
              <a:gdLst/>
              <a:ahLst/>
              <a:cxnLst/>
              <a:rect r="r" b="b" t="t" l="l"/>
              <a:pathLst>
                <a:path h="726614" w="2470810">
                  <a:moveTo>
                    <a:pt x="0" y="0"/>
                  </a:moveTo>
                  <a:lnTo>
                    <a:pt x="2470810" y="0"/>
                  </a:lnTo>
                  <a:lnTo>
                    <a:pt x="2470810" y="726614"/>
                  </a:lnTo>
                  <a:lnTo>
                    <a:pt x="0" y="726614"/>
                  </a:lnTo>
                  <a:close/>
                </a:path>
              </a:pathLst>
            </a:custGeom>
            <a:blipFill>
              <a:blip r:embed="rId3">
                <a:alphaModFix amt="0"/>
              </a:blip>
              <a:stretch>
                <a:fillRect l="0" t="-18399" r="0" b="-14116"/>
              </a:stretch>
            </a:blipFill>
          </p:spPr>
        </p:sp>
        <p:sp>
          <p:nvSpPr>
            <p:cNvPr name="TextBox 43" id="43"/>
            <p:cNvSpPr txBox="true"/>
            <p:nvPr/>
          </p:nvSpPr>
          <p:spPr>
            <a:xfrm>
              <a:off x="0" y="0"/>
              <a:ext cx="2470810" cy="726617"/>
            </a:xfrm>
            <a:prstGeom prst="rect">
              <a:avLst/>
            </a:prstGeom>
          </p:spPr>
          <p:txBody>
            <a:bodyPr anchor="ctr" rtlCol="false" tIns="0" lIns="0" bIns="0" rIns="0"/>
            <a:lstStyle/>
            <a:p>
              <a:pPr algn="ctr">
                <a:lnSpc>
                  <a:spcPts val="3122"/>
                </a:lnSpc>
              </a:pPr>
              <a:r>
                <a:rPr lang="en-US" sz="2602">
                  <a:solidFill>
                    <a:srgbClr val="4E5B4C"/>
                  </a:solidFill>
                  <a:latin typeface="Inter"/>
                  <a:ea typeface="Inter"/>
                  <a:cs typeface="Inter"/>
                  <a:sym typeface="Inter"/>
                </a:rPr>
                <a:t>-86%</a:t>
              </a:r>
            </a:p>
          </p:txBody>
        </p:sp>
      </p:grpSp>
      <p:sp>
        <p:nvSpPr>
          <p:cNvPr name="AutoShape 44" id="44"/>
          <p:cNvSpPr/>
          <p:nvPr/>
        </p:nvSpPr>
        <p:spPr>
          <a:xfrm>
            <a:off x="4564748" y="7836710"/>
            <a:ext cx="2901681" cy="19042"/>
          </a:xfrm>
          <a:prstGeom prst="line">
            <a:avLst/>
          </a:prstGeom>
          <a:ln cap="rnd" w="9525">
            <a:solidFill>
              <a:srgbClr val="232E2D"/>
            </a:solidFill>
            <a:prstDash val="solid"/>
            <a:headEnd type="none" len="sm" w="sm"/>
            <a:tailEnd type="none" len="sm" w="sm"/>
          </a:ln>
        </p:spPr>
      </p:sp>
      <p:sp>
        <p:nvSpPr>
          <p:cNvPr name="AutoShape 45" id="45"/>
          <p:cNvSpPr/>
          <p:nvPr/>
        </p:nvSpPr>
        <p:spPr>
          <a:xfrm>
            <a:off x="10028338" y="4467871"/>
            <a:ext cx="6887191" cy="23801"/>
          </a:xfrm>
          <a:prstGeom prst="line">
            <a:avLst/>
          </a:prstGeom>
          <a:ln cap="rnd" w="9525">
            <a:solidFill>
              <a:srgbClr val="717C7A"/>
            </a:solidFill>
            <a:prstDash val="solid"/>
            <a:headEnd type="none" len="sm" w="sm"/>
            <a:tailEnd type="none" len="sm" w="sm"/>
          </a:ln>
        </p:spPr>
      </p:sp>
      <p:sp>
        <p:nvSpPr>
          <p:cNvPr name="AutoShape 46" id="46"/>
          <p:cNvSpPr/>
          <p:nvPr/>
        </p:nvSpPr>
        <p:spPr>
          <a:xfrm>
            <a:off x="10030721" y="7078290"/>
            <a:ext cx="6882424" cy="19099"/>
          </a:xfrm>
          <a:prstGeom prst="line">
            <a:avLst/>
          </a:prstGeom>
          <a:ln cap="rnd" w="9525">
            <a:solidFill>
              <a:srgbClr val="232E2D"/>
            </a:solidFill>
            <a:prstDash val="solid"/>
            <a:headEnd type="none" len="sm" w="sm"/>
            <a:tailEnd type="none" len="sm" w="sm"/>
          </a:ln>
        </p:spPr>
      </p:sp>
      <p:sp>
        <p:nvSpPr>
          <p:cNvPr name="AutoShape 47" id="47"/>
          <p:cNvSpPr/>
          <p:nvPr/>
        </p:nvSpPr>
        <p:spPr>
          <a:xfrm>
            <a:off x="10030710" y="3166197"/>
            <a:ext cx="19074" cy="3931178"/>
          </a:xfrm>
          <a:prstGeom prst="line">
            <a:avLst/>
          </a:prstGeom>
          <a:ln cap="rnd" w="9525">
            <a:solidFill>
              <a:srgbClr val="232E2D"/>
            </a:solidFill>
            <a:prstDash val="solid"/>
            <a:headEnd type="none" len="sm" w="sm"/>
            <a:tailEnd type="none" len="sm" w="sm"/>
          </a:ln>
        </p:spPr>
      </p:sp>
      <p:sp>
        <p:nvSpPr>
          <p:cNvPr name="AutoShape 48" id="48"/>
          <p:cNvSpPr/>
          <p:nvPr/>
        </p:nvSpPr>
        <p:spPr>
          <a:xfrm>
            <a:off x="10030719" y="7078308"/>
            <a:ext cx="19065" cy="115152"/>
          </a:xfrm>
          <a:prstGeom prst="line">
            <a:avLst/>
          </a:prstGeom>
          <a:ln cap="rnd" w="9525">
            <a:solidFill>
              <a:srgbClr val="232E2D"/>
            </a:solidFill>
            <a:prstDash val="solid"/>
            <a:headEnd type="none" len="sm" w="sm"/>
            <a:tailEnd type="none" len="sm" w="sm"/>
          </a:ln>
        </p:spPr>
      </p:sp>
      <p:grpSp>
        <p:nvGrpSpPr>
          <p:cNvPr name="Group 49" id="49"/>
          <p:cNvGrpSpPr/>
          <p:nvPr/>
        </p:nvGrpSpPr>
        <p:grpSpPr>
          <a:xfrm rot="0">
            <a:off x="9491183" y="7225114"/>
            <a:ext cx="1098137" cy="343167"/>
            <a:chOff x="0" y="0"/>
            <a:chExt cx="1464183" cy="457556"/>
          </a:xfrm>
        </p:grpSpPr>
        <p:sp>
          <p:nvSpPr>
            <p:cNvPr name="Freeform 50" id="50"/>
            <p:cNvSpPr/>
            <p:nvPr/>
          </p:nvSpPr>
          <p:spPr>
            <a:xfrm flipH="false" flipV="false" rot="0">
              <a:off x="0" y="0"/>
              <a:ext cx="1464184" cy="457557"/>
            </a:xfrm>
            <a:custGeom>
              <a:avLst/>
              <a:gdLst/>
              <a:ahLst/>
              <a:cxnLst/>
              <a:rect r="r" b="b" t="t" l="l"/>
              <a:pathLst>
                <a:path h="457557" w="1464184">
                  <a:moveTo>
                    <a:pt x="0" y="0"/>
                  </a:moveTo>
                  <a:lnTo>
                    <a:pt x="1464184" y="0"/>
                  </a:lnTo>
                  <a:lnTo>
                    <a:pt x="1464184" y="457557"/>
                  </a:lnTo>
                  <a:lnTo>
                    <a:pt x="0" y="457557"/>
                  </a:lnTo>
                  <a:close/>
                </a:path>
              </a:pathLst>
            </a:custGeom>
            <a:blipFill>
              <a:blip r:embed="rId3">
                <a:alphaModFix amt="0"/>
              </a:blip>
              <a:stretch>
                <a:fillRect l="0" t="-12352" r="0" b="-12351"/>
              </a:stretch>
            </a:blipFill>
          </p:spPr>
        </p:sp>
        <p:sp>
          <p:nvSpPr>
            <p:cNvPr name="TextBox 51" id="51"/>
            <p:cNvSpPr txBox="true"/>
            <p:nvPr/>
          </p:nvSpPr>
          <p:spPr>
            <a:xfrm>
              <a:off x="0" y="0"/>
              <a:ext cx="1464183" cy="457556"/>
            </a:xfrm>
            <a:prstGeom prst="rect">
              <a:avLst/>
            </a:prstGeom>
          </p:spPr>
          <p:txBody>
            <a:bodyPr anchor="ctr" rtlCol="false" tIns="0" lIns="0" bIns="0" rIns="0"/>
            <a:lstStyle/>
            <a:p>
              <a:pPr algn="ctr">
                <a:lnSpc>
                  <a:spcPts val="2161"/>
                </a:lnSpc>
              </a:pPr>
              <a:r>
                <a:rPr lang="en-US" sz="1801">
                  <a:solidFill>
                    <a:srgbClr val="232E2D"/>
                  </a:solidFill>
                  <a:latin typeface="Inter"/>
                  <a:ea typeface="Inter"/>
                  <a:cs typeface="Inter"/>
                  <a:sym typeface="Inter"/>
                </a:rPr>
                <a:t>0</a:t>
              </a:r>
            </a:p>
          </p:txBody>
        </p:sp>
      </p:grpSp>
      <p:sp>
        <p:nvSpPr>
          <p:cNvPr name="AutoShape 52" id="52"/>
          <p:cNvSpPr/>
          <p:nvPr/>
        </p:nvSpPr>
        <p:spPr>
          <a:xfrm>
            <a:off x="11746562" y="7078308"/>
            <a:ext cx="19065" cy="115152"/>
          </a:xfrm>
          <a:prstGeom prst="line">
            <a:avLst/>
          </a:prstGeom>
          <a:ln cap="rnd" w="9525">
            <a:solidFill>
              <a:srgbClr val="232E2D"/>
            </a:solidFill>
            <a:prstDash val="solid"/>
            <a:headEnd type="none" len="sm" w="sm"/>
            <a:tailEnd type="none" len="sm" w="sm"/>
          </a:ln>
        </p:spPr>
      </p:sp>
      <p:grpSp>
        <p:nvGrpSpPr>
          <p:cNvPr name="Group 53" id="53"/>
          <p:cNvGrpSpPr/>
          <p:nvPr/>
        </p:nvGrpSpPr>
        <p:grpSpPr>
          <a:xfrm rot="0">
            <a:off x="11207017" y="7225114"/>
            <a:ext cx="1098137" cy="343167"/>
            <a:chOff x="0" y="0"/>
            <a:chExt cx="1464183" cy="457556"/>
          </a:xfrm>
        </p:grpSpPr>
        <p:sp>
          <p:nvSpPr>
            <p:cNvPr name="Freeform 54" id="54"/>
            <p:cNvSpPr/>
            <p:nvPr/>
          </p:nvSpPr>
          <p:spPr>
            <a:xfrm flipH="false" flipV="false" rot="0">
              <a:off x="0" y="0"/>
              <a:ext cx="1464184" cy="457557"/>
            </a:xfrm>
            <a:custGeom>
              <a:avLst/>
              <a:gdLst/>
              <a:ahLst/>
              <a:cxnLst/>
              <a:rect r="r" b="b" t="t" l="l"/>
              <a:pathLst>
                <a:path h="457557" w="1464184">
                  <a:moveTo>
                    <a:pt x="0" y="0"/>
                  </a:moveTo>
                  <a:lnTo>
                    <a:pt x="1464184" y="0"/>
                  </a:lnTo>
                  <a:lnTo>
                    <a:pt x="1464184" y="457557"/>
                  </a:lnTo>
                  <a:lnTo>
                    <a:pt x="0" y="457557"/>
                  </a:lnTo>
                  <a:close/>
                </a:path>
              </a:pathLst>
            </a:custGeom>
            <a:blipFill>
              <a:blip r:embed="rId3">
                <a:alphaModFix amt="0"/>
              </a:blip>
              <a:stretch>
                <a:fillRect l="0" t="-12352" r="0" b="-12351"/>
              </a:stretch>
            </a:blipFill>
          </p:spPr>
        </p:sp>
        <p:sp>
          <p:nvSpPr>
            <p:cNvPr name="TextBox 55" id="55"/>
            <p:cNvSpPr txBox="true"/>
            <p:nvPr/>
          </p:nvSpPr>
          <p:spPr>
            <a:xfrm>
              <a:off x="0" y="0"/>
              <a:ext cx="1464183" cy="457556"/>
            </a:xfrm>
            <a:prstGeom prst="rect">
              <a:avLst/>
            </a:prstGeom>
          </p:spPr>
          <p:txBody>
            <a:bodyPr anchor="ctr" rtlCol="false" tIns="0" lIns="0" bIns="0" rIns="0"/>
            <a:lstStyle/>
            <a:p>
              <a:pPr algn="ctr">
                <a:lnSpc>
                  <a:spcPts val="2161"/>
                </a:lnSpc>
              </a:pPr>
              <a:r>
                <a:rPr lang="en-US" sz="1801">
                  <a:solidFill>
                    <a:srgbClr val="232E2D"/>
                  </a:solidFill>
                  <a:latin typeface="Inter"/>
                  <a:ea typeface="Inter"/>
                  <a:cs typeface="Inter"/>
                  <a:sym typeface="Inter"/>
                </a:rPr>
                <a:t>100</a:t>
              </a:r>
            </a:p>
          </p:txBody>
        </p:sp>
      </p:grpSp>
      <p:sp>
        <p:nvSpPr>
          <p:cNvPr name="AutoShape 56" id="56"/>
          <p:cNvSpPr/>
          <p:nvPr/>
        </p:nvSpPr>
        <p:spPr>
          <a:xfrm>
            <a:off x="13462396" y="7188211"/>
            <a:ext cx="19065" cy="115152"/>
          </a:xfrm>
          <a:prstGeom prst="line">
            <a:avLst/>
          </a:prstGeom>
          <a:ln cap="rnd" w="9525">
            <a:solidFill>
              <a:srgbClr val="232E2D"/>
            </a:solidFill>
            <a:prstDash val="solid"/>
            <a:headEnd type="none" len="sm" w="sm"/>
            <a:tailEnd type="none" len="sm" w="sm"/>
          </a:ln>
        </p:spPr>
      </p:sp>
      <p:grpSp>
        <p:nvGrpSpPr>
          <p:cNvPr name="Group 57" id="57"/>
          <p:cNvGrpSpPr/>
          <p:nvPr/>
        </p:nvGrpSpPr>
        <p:grpSpPr>
          <a:xfrm rot="0">
            <a:off x="12922860" y="7225114"/>
            <a:ext cx="1098137" cy="343167"/>
            <a:chOff x="0" y="0"/>
            <a:chExt cx="1464183" cy="457556"/>
          </a:xfrm>
        </p:grpSpPr>
        <p:sp>
          <p:nvSpPr>
            <p:cNvPr name="Freeform 58" id="58"/>
            <p:cNvSpPr/>
            <p:nvPr/>
          </p:nvSpPr>
          <p:spPr>
            <a:xfrm flipH="false" flipV="false" rot="0">
              <a:off x="0" y="0"/>
              <a:ext cx="1464184" cy="457557"/>
            </a:xfrm>
            <a:custGeom>
              <a:avLst/>
              <a:gdLst/>
              <a:ahLst/>
              <a:cxnLst/>
              <a:rect r="r" b="b" t="t" l="l"/>
              <a:pathLst>
                <a:path h="457557" w="1464184">
                  <a:moveTo>
                    <a:pt x="0" y="0"/>
                  </a:moveTo>
                  <a:lnTo>
                    <a:pt x="1464184" y="0"/>
                  </a:lnTo>
                  <a:lnTo>
                    <a:pt x="1464184" y="457557"/>
                  </a:lnTo>
                  <a:lnTo>
                    <a:pt x="0" y="457557"/>
                  </a:lnTo>
                  <a:close/>
                </a:path>
              </a:pathLst>
            </a:custGeom>
            <a:blipFill>
              <a:blip r:embed="rId3">
                <a:alphaModFix amt="0"/>
              </a:blip>
              <a:stretch>
                <a:fillRect l="0" t="-12352" r="0" b="-12351"/>
              </a:stretch>
            </a:blipFill>
          </p:spPr>
        </p:sp>
        <p:sp>
          <p:nvSpPr>
            <p:cNvPr name="TextBox 59" id="59"/>
            <p:cNvSpPr txBox="true"/>
            <p:nvPr/>
          </p:nvSpPr>
          <p:spPr>
            <a:xfrm>
              <a:off x="0" y="0"/>
              <a:ext cx="1464183" cy="457556"/>
            </a:xfrm>
            <a:prstGeom prst="rect">
              <a:avLst/>
            </a:prstGeom>
          </p:spPr>
          <p:txBody>
            <a:bodyPr anchor="ctr" rtlCol="false" tIns="0" lIns="0" bIns="0" rIns="0"/>
            <a:lstStyle/>
            <a:p>
              <a:pPr algn="ctr">
                <a:lnSpc>
                  <a:spcPts val="2161"/>
                </a:lnSpc>
              </a:pPr>
              <a:r>
                <a:rPr lang="en-US" sz="1801">
                  <a:solidFill>
                    <a:srgbClr val="232E2D"/>
                  </a:solidFill>
                  <a:latin typeface="Inter"/>
                  <a:ea typeface="Inter"/>
                  <a:cs typeface="Inter"/>
                  <a:sym typeface="Inter"/>
                </a:rPr>
                <a:t>200</a:t>
              </a:r>
            </a:p>
          </p:txBody>
        </p:sp>
      </p:grpSp>
      <p:sp>
        <p:nvSpPr>
          <p:cNvPr name="AutoShape 60" id="60"/>
          <p:cNvSpPr/>
          <p:nvPr/>
        </p:nvSpPr>
        <p:spPr>
          <a:xfrm>
            <a:off x="15178239" y="7032227"/>
            <a:ext cx="19065" cy="115152"/>
          </a:xfrm>
          <a:prstGeom prst="line">
            <a:avLst/>
          </a:prstGeom>
          <a:ln cap="rnd" w="9525">
            <a:solidFill>
              <a:srgbClr val="232E2D"/>
            </a:solidFill>
            <a:prstDash val="solid"/>
            <a:headEnd type="none" len="sm" w="sm"/>
            <a:tailEnd type="none" len="sm" w="sm"/>
          </a:ln>
        </p:spPr>
      </p:sp>
      <p:grpSp>
        <p:nvGrpSpPr>
          <p:cNvPr name="Group 61" id="61"/>
          <p:cNvGrpSpPr/>
          <p:nvPr/>
        </p:nvGrpSpPr>
        <p:grpSpPr>
          <a:xfrm rot="0">
            <a:off x="14638703" y="7335017"/>
            <a:ext cx="1098137" cy="343167"/>
            <a:chOff x="0" y="0"/>
            <a:chExt cx="1464183" cy="457556"/>
          </a:xfrm>
        </p:grpSpPr>
        <p:sp>
          <p:nvSpPr>
            <p:cNvPr name="Freeform 62" id="62"/>
            <p:cNvSpPr/>
            <p:nvPr/>
          </p:nvSpPr>
          <p:spPr>
            <a:xfrm flipH="false" flipV="false" rot="0">
              <a:off x="0" y="0"/>
              <a:ext cx="1464184" cy="457557"/>
            </a:xfrm>
            <a:custGeom>
              <a:avLst/>
              <a:gdLst/>
              <a:ahLst/>
              <a:cxnLst/>
              <a:rect r="r" b="b" t="t" l="l"/>
              <a:pathLst>
                <a:path h="457557" w="1464184">
                  <a:moveTo>
                    <a:pt x="0" y="0"/>
                  </a:moveTo>
                  <a:lnTo>
                    <a:pt x="1464184" y="0"/>
                  </a:lnTo>
                  <a:lnTo>
                    <a:pt x="1464184" y="457557"/>
                  </a:lnTo>
                  <a:lnTo>
                    <a:pt x="0" y="457557"/>
                  </a:lnTo>
                  <a:close/>
                </a:path>
              </a:pathLst>
            </a:custGeom>
            <a:blipFill>
              <a:blip r:embed="rId3">
                <a:alphaModFix amt="0"/>
              </a:blip>
              <a:stretch>
                <a:fillRect l="0" t="-12352" r="0" b="-12351"/>
              </a:stretch>
            </a:blipFill>
          </p:spPr>
        </p:sp>
        <p:sp>
          <p:nvSpPr>
            <p:cNvPr name="TextBox 63" id="63"/>
            <p:cNvSpPr txBox="true"/>
            <p:nvPr/>
          </p:nvSpPr>
          <p:spPr>
            <a:xfrm>
              <a:off x="0" y="0"/>
              <a:ext cx="1464183" cy="457556"/>
            </a:xfrm>
            <a:prstGeom prst="rect">
              <a:avLst/>
            </a:prstGeom>
          </p:spPr>
          <p:txBody>
            <a:bodyPr anchor="ctr" rtlCol="false" tIns="0" lIns="0" bIns="0" rIns="0"/>
            <a:lstStyle/>
            <a:p>
              <a:pPr algn="ctr">
                <a:lnSpc>
                  <a:spcPts val="2161"/>
                </a:lnSpc>
              </a:pPr>
              <a:r>
                <a:rPr lang="en-US" sz="1801">
                  <a:solidFill>
                    <a:srgbClr val="232E2D"/>
                  </a:solidFill>
                  <a:latin typeface="Inter"/>
                  <a:ea typeface="Inter"/>
                  <a:cs typeface="Inter"/>
                  <a:sym typeface="Inter"/>
                </a:rPr>
                <a:t>300</a:t>
              </a:r>
            </a:p>
          </p:txBody>
        </p:sp>
      </p:grpSp>
      <p:sp>
        <p:nvSpPr>
          <p:cNvPr name="AutoShape 64" id="64"/>
          <p:cNvSpPr/>
          <p:nvPr/>
        </p:nvSpPr>
        <p:spPr>
          <a:xfrm>
            <a:off x="16894082" y="7032227"/>
            <a:ext cx="19065" cy="115152"/>
          </a:xfrm>
          <a:prstGeom prst="line">
            <a:avLst/>
          </a:prstGeom>
          <a:ln cap="rnd" w="9525">
            <a:solidFill>
              <a:srgbClr val="232E2D"/>
            </a:solidFill>
            <a:prstDash val="solid"/>
            <a:headEnd type="none" len="sm" w="sm"/>
            <a:tailEnd type="none" len="sm" w="sm"/>
          </a:ln>
        </p:spPr>
      </p:sp>
      <p:grpSp>
        <p:nvGrpSpPr>
          <p:cNvPr name="Group 65" id="65"/>
          <p:cNvGrpSpPr/>
          <p:nvPr/>
        </p:nvGrpSpPr>
        <p:grpSpPr>
          <a:xfrm rot="0">
            <a:off x="16354546" y="7179033"/>
            <a:ext cx="1098137" cy="343167"/>
            <a:chOff x="0" y="0"/>
            <a:chExt cx="1464183" cy="457556"/>
          </a:xfrm>
        </p:grpSpPr>
        <p:sp>
          <p:nvSpPr>
            <p:cNvPr name="Freeform 66" id="66"/>
            <p:cNvSpPr/>
            <p:nvPr/>
          </p:nvSpPr>
          <p:spPr>
            <a:xfrm flipH="false" flipV="false" rot="0">
              <a:off x="0" y="0"/>
              <a:ext cx="1464184" cy="457557"/>
            </a:xfrm>
            <a:custGeom>
              <a:avLst/>
              <a:gdLst/>
              <a:ahLst/>
              <a:cxnLst/>
              <a:rect r="r" b="b" t="t" l="l"/>
              <a:pathLst>
                <a:path h="457557" w="1464184">
                  <a:moveTo>
                    <a:pt x="0" y="0"/>
                  </a:moveTo>
                  <a:lnTo>
                    <a:pt x="1464184" y="0"/>
                  </a:lnTo>
                  <a:lnTo>
                    <a:pt x="1464184" y="457557"/>
                  </a:lnTo>
                  <a:lnTo>
                    <a:pt x="0" y="457557"/>
                  </a:lnTo>
                  <a:close/>
                </a:path>
              </a:pathLst>
            </a:custGeom>
            <a:blipFill>
              <a:blip r:embed="rId3">
                <a:alphaModFix amt="0"/>
              </a:blip>
              <a:stretch>
                <a:fillRect l="0" t="-12352" r="0" b="-12351"/>
              </a:stretch>
            </a:blipFill>
          </p:spPr>
        </p:sp>
        <p:sp>
          <p:nvSpPr>
            <p:cNvPr name="TextBox 67" id="67"/>
            <p:cNvSpPr txBox="true"/>
            <p:nvPr/>
          </p:nvSpPr>
          <p:spPr>
            <a:xfrm>
              <a:off x="0" y="0"/>
              <a:ext cx="1464183" cy="457556"/>
            </a:xfrm>
            <a:prstGeom prst="rect">
              <a:avLst/>
            </a:prstGeom>
          </p:spPr>
          <p:txBody>
            <a:bodyPr anchor="ctr" rtlCol="false" tIns="0" lIns="0" bIns="0" rIns="0"/>
            <a:lstStyle/>
            <a:p>
              <a:pPr algn="ctr">
                <a:lnSpc>
                  <a:spcPts val="2161"/>
                </a:lnSpc>
              </a:pPr>
              <a:r>
                <a:rPr lang="en-US" sz="1801">
                  <a:solidFill>
                    <a:srgbClr val="232E2D"/>
                  </a:solidFill>
                  <a:latin typeface="Inter"/>
                  <a:ea typeface="Inter"/>
                  <a:cs typeface="Inter"/>
                  <a:sym typeface="Inter"/>
                </a:rPr>
                <a:t>400</a:t>
              </a:r>
            </a:p>
          </p:txBody>
        </p:sp>
      </p:grpSp>
      <p:sp>
        <p:nvSpPr>
          <p:cNvPr name="AutoShape 68" id="68"/>
          <p:cNvSpPr/>
          <p:nvPr/>
        </p:nvSpPr>
        <p:spPr>
          <a:xfrm>
            <a:off x="9934632" y="7078307"/>
            <a:ext cx="115152" cy="19065"/>
          </a:xfrm>
          <a:prstGeom prst="line">
            <a:avLst/>
          </a:prstGeom>
          <a:ln cap="rnd" w="9525">
            <a:solidFill>
              <a:srgbClr val="232E2D"/>
            </a:solidFill>
            <a:prstDash val="solid"/>
            <a:headEnd type="none" len="sm" w="sm"/>
            <a:tailEnd type="none" len="sm" w="sm"/>
          </a:ln>
        </p:spPr>
      </p:sp>
      <p:grpSp>
        <p:nvGrpSpPr>
          <p:cNvPr name="Group 69" id="69"/>
          <p:cNvGrpSpPr/>
          <p:nvPr/>
        </p:nvGrpSpPr>
        <p:grpSpPr>
          <a:xfrm rot="0">
            <a:off x="9216644" y="6916257"/>
            <a:ext cx="658882" cy="343167"/>
            <a:chOff x="0" y="0"/>
            <a:chExt cx="878510" cy="457556"/>
          </a:xfrm>
        </p:grpSpPr>
        <p:sp>
          <p:nvSpPr>
            <p:cNvPr name="Freeform 70" id="70"/>
            <p:cNvSpPr/>
            <p:nvPr/>
          </p:nvSpPr>
          <p:spPr>
            <a:xfrm flipH="false" flipV="false" rot="0">
              <a:off x="0" y="0"/>
              <a:ext cx="878510" cy="457557"/>
            </a:xfrm>
            <a:custGeom>
              <a:avLst/>
              <a:gdLst/>
              <a:ahLst/>
              <a:cxnLst/>
              <a:rect r="r" b="b" t="t" l="l"/>
              <a:pathLst>
                <a:path h="457557" w="878510">
                  <a:moveTo>
                    <a:pt x="0" y="0"/>
                  </a:moveTo>
                  <a:lnTo>
                    <a:pt x="878510" y="0"/>
                  </a:lnTo>
                  <a:lnTo>
                    <a:pt x="878510" y="457557"/>
                  </a:lnTo>
                  <a:lnTo>
                    <a:pt x="0" y="457557"/>
                  </a:lnTo>
                  <a:close/>
                </a:path>
              </a:pathLst>
            </a:custGeom>
            <a:blipFill>
              <a:blip r:embed="rId3">
                <a:alphaModFix amt="0"/>
              </a:blip>
              <a:stretch>
                <a:fillRect l="-16824" t="0" r="-16824" b="0"/>
              </a:stretch>
            </a:blipFill>
          </p:spPr>
        </p:sp>
        <p:sp>
          <p:nvSpPr>
            <p:cNvPr name="TextBox 71" id="71"/>
            <p:cNvSpPr txBox="true"/>
            <p:nvPr/>
          </p:nvSpPr>
          <p:spPr>
            <a:xfrm>
              <a:off x="0" y="0"/>
              <a:ext cx="878510" cy="457556"/>
            </a:xfrm>
            <a:prstGeom prst="rect">
              <a:avLst/>
            </a:prstGeom>
          </p:spPr>
          <p:txBody>
            <a:bodyPr anchor="ctr" rtlCol="false" tIns="0" lIns="0" bIns="0" rIns="0"/>
            <a:lstStyle/>
            <a:p>
              <a:pPr algn="r">
                <a:lnSpc>
                  <a:spcPts val="2161"/>
                </a:lnSpc>
              </a:pPr>
              <a:r>
                <a:rPr lang="en-US" sz="1801">
                  <a:solidFill>
                    <a:srgbClr val="232E2D"/>
                  </a:solidFill>
                  <a:latin typeface="Inter"/>
                  <a:ea typeface="Inter"/>
                  <a:cs typeface="Inter"/>
                  <a:sym typeface="Inter"/>
                </a:rPr>
                <a:t>−0.4</a:t>
              </a:r>
            </a:p>
          </p:txBody>
        </p:sp>
      </p:grpSp>
      <p:sp>
        <p:nvSpPr>
          <p:cNvPr name="AutoShape 72" id="72"/>
          <p:cNvSpPr/>
          <p:nvPr/>
        </p:nvSpPr>
        <p:spPr>
          <a:xfrm>
            <a:off x="9934632" y="4470239"/>
            <a:ext cx="115152" cy="19065"/>
          </a:xfrm>
          <a:prstGeom prst="line">
            <a:avLst/>
          </a:prstGeom>
          <a:ln cap="rnd" w="9525">
            <a:solidFill>
              <a:srgbClr val="232E2D"/>
            </a:solidFill>
            <a:prstDash val="solid"/>
            <a:headEnd type="none" len="sm" w="sm"/>
            <a:tailEnd type="none" len="sm" w="sm"/>
          </a:ln>
        </p:spPr>
      </p:sp>
      <p:grpSp>
        <p:nvGrpSpPr>
          <p:cNvPr name="Group 73" id="73"/>
          <p:cNvGrpSpPr/>
          <p:nvPr/>
        </p:nvGrpSpPr>
        <p:grpSpPr>
          <a:xfrm rot="0">
            <a:off x="9216644" y="4308188"/>
            <a:ext cx="658882" cy="343167"/>
            <a:chOff x="0" y="0"/>
            <a:chExt cx="878510" cy="457556"/>
          </a:xfrm>
        </p:grpSpPr>
        <p:sp>
          <p:nvSpPr>
            <p:cNvPr name="Freeform 74" id="74"/>
            <p:cNvSpPr/>
            <p:nvPr/>
          </p:nvSpPr>
          <p:spPr>
            <a:xfrm flipH="false" flipV="false" rot="0">
              <a:off x="0" y="0"/>
              <a:ext cx="878510" cy="457557"/>
            </a:xfrm>
            <a:custGeom>
              <a:avLst/>
              <a:gdLst/>
              <a:ahLst/>
              <a:cxnLst/>
              <a:rect r="r" b="b" t="t" l="l"/>
              <a:pathLst>
                <a:path h="457557" w="878510">
                  <a:moveTo>
                    <a:pt x="0" y="0"/>
                  </a:moveTo>
                  <a:lnTo>
                    <a:pt x="878510" y="0"/>
                  </a:lnTo>
                  <a:lnTo>
                    <a:pt x="878510" y="457557"/>
                  </a:lnTo>
                  <a:lnTo>
                    <a:pt x="0" y="457557"/>
                  </a:lnTo>
                  <a:close/>
                </a:path>
              </a:pathLst>
            </a:custGeom>
            <a:blipFill>
              <a:blip r:embed="rId3">
                <a:alphaModFix amt="0"/>
              </a:blip>
              <a:stretch>
                <a:fillRect l="-16824" t="0" r="-16824" b="0"/>
              </a:stretch>
            </a:blipFill>
          </p:spPr>
        </p:sp>
        <p:sp>
          <p:nvSpPr>
            <p:cNvPr name="TextBox 75" id="75"/>
            <p:cNvSpPr txBox="true"/>
            <p:nvPr/>
          </p:nvSpPr>
          <p:spPr>
            <a:xfrm>
              <a:off x="0" y="0"/>
              <a:ext cx="878510" cy="457556"/>
            </a:xfrm>
            <a:prstGeom prst="rect">
              <a:avLst/>
            </a:prstGeom>
          </p:spPr>
          <p:txBody>
            <a:bodyPr anchor="ctr" rtlCol="false" tIns="0" lIns="0" bIns="0" rIns="0"/>
            <a:lstStyle/>
            <a:p>
              <a:pPr algn="r">
                <a:lnSpc>
                  <a:spcPts val="2161"/>
                </a:lnSpc>
              </a:pPr>
              <a:r>
                <a:rPr lang="en-US" sz="1801">
                  <a:solidFill>
                    <a:srgbClr val="232E2D"/>
                  </a:solidFill>
                  <a:latin typeface="Inter"/>
                  <a:ea typeface="Inter"/>
                  <a:cs typeface="Inter"/>
                  <a:sym typeface="Inter"/>
                </a:rPr>
                <a:t>0.0</a:t>
              </a:r>
            </a:p>
          </p:txBody>
        </p:sp>
      </p:grpSp>
      <p:sp>
        <p:nvSpPr>
          <p:cNvPr name="AutoShape 76" id="76"/>
          <p:cNvSpPr/>
          <p:nvPr/>
        </p:nvSpPr>
        <p:spPr>
          <a:xfrm>
            <a:off x="9934632" y="3166199"/>
            <a:ext cx="115152" cy="19065"/>
          </a:xfrm>
          <a:prstGeom prst="line">
            <a:avLst/>
          </a:prstGeom>
          <a:ln cap="rnd" w="9525">
            <a:solidFill>
              <a:srgbClr val="232E2D"/>
            </a:solidFill>
            <a:prstDash val="solid"/>
            <a:headEnd type="none" len="sm" w="sm"/>
            <a:tailEnd type="none" len="sm" w="sm"/>
          </a:ln>
        </p:spPr>
      </p:sp>
      <p:grpSp>
        <p:nvGrpSpPr>
          <p:cNvPr name="Group 77" id="77"/>
          <p:cNvGrpSpPr/>
          <p:nvPr/>
        </p:nvGrpSpPr>
        <p:grpSpPr>
          <a:xfrm rot="0">
            <a:off x="9216644" y="3004149"/>
            <a:ext cx="658882" cy="343167"/>
            <a:chOff x="0" y="0"/>
            <a:chExt cx="878510" cy="457556"/>
          </a:xfrm>
        </p:grpSpPr>
        <p:sp>
          <p:nvSpPr>
            <p:cNvPr name="Freeform 78" id="78"/>
            <p:cNvSpPr/>
            <p:nvPr/>
          </p:nvSpPr>
          <p:spPr>
            <a:xfrm flipH="false" flipV="false" rot="0">
              <a:off x="0" y="0"/>
              <a:ext cx="878510" cy="457557"/>
            </a:xfrm>
            <a:custGeom>
              <a:avLst/>
              <a:gdLst/>
              <a:ahLst/>
              <a:cxnLst/>
              <a:rect r="r" b="b" t="t" l="l"/>
              <a:pathLst>
                <a:path h="457557" w="878510">
                  <a:moveTo>
                    <a:pt x="0" y="0"/>
                  </a:moveTo>
                  <a:lnTo>
                    <a:pt x="878510" y="0"/>
                  </a:lnTo>
                  <a:lnTo>
                    <a:pt x="878510" y="457557"/>
                  </a:lnTo>
                  <a:lnTo>
                    <a:pt x="0" y="457557"/>
                  </a:lnTo>
                  <a:close/>
                </a:path>
              </a:pathLst>
            </a:custGeom>
            <a:blipFill>
              <a:blip r:embed="rId3">
                <a:alphaModFix amt="0"/>
              </a:blip>
              <a:stretch>
                <a:fillRect l="-16824" t="0" r="-16824" b="0"/>
              </a:stretch>
            </a:blipFill>
          </p:spPr>
        </p:sp>
        <p:sp>
          <p:nvSpPr>
            <p:cNvPr name="TextBox 79" id="79"/>
            <p:cNvSpPr txBox="true"/>
            <p:nvPr/>
          </p:nvSpPr>
          <p:spPr>
            <a:xfrm>
              <a:off x="0" y="0"/>
              <a:ext cx="878510" cy="457556"/>
            </a:xfrm>
            <a:prstGeom prst="rect">
              <a:avLst/>
            </a:prstGeom>
          </p:spPr>
          <p:txBody>
            <a:bodyPr anchor="ctr" rtlCol="false" tIns="0" lIns="0" bIns="0" rIns="0"/>
            <a:lstStyle/>
            <a:p>
              <a:pPr algn="r">
                <a:lnSpc>
                  <a:spcPts val="2161"/>
                </a:lnSpc>
              </a:pPr>
              <a:r>
                <a:rPr lang="en-US" sz="1801">
                  <a:solidFill>
                    <a:srgbClr val="232E2D"/>
                  </a:solidFill>
                  <a:latin typeface="Inter"/>
                  <a:ea typeface="Inter"/>
                  <a:cs typeface="Inter"/>
                  <a:sym typeface="Inter"/>
                </a:rPr>
                <a:t>0.2</a:t>
              </a:r>
            </a:p>
          </p:txBody>
        </p:sp>
      </p:grpSp>
      <p:grpSp>
        <p:nvGrpSpPr>
          <p:cNvPr name="Group 80" id="80"/>
          <p:cNvGrpSpPr/>
          <p:nvPr/>
        </p:nvGrpSpPr>
        <p:grpSpPr>
          <a:xfrm rot="0">
            <a:off x="10040252" y="7609458"/>
            <a:ext cx="6863363" cy="411804"/>
            <a:chOff x="0" y="0"/>
            <a:chExt cx="9151150" cy="549072"/>
          </a:xfrm>
        </p:grpSpPr>
        <p:sp>
          <p:nvSpPr>
            <p:cNvPr name="Freeform 81" id="81"/>
            <p:cNvSpPr/>
            <p:nvPr/>
          </p:nvSpPr>
          <p:spPr>
            <a:xfrm flipH="false" flipV="false" rot="0">
              <a:off x="0" y="0"/>
              <a:ext cx="9151149" cy="549069"/>
            </a:xfrm>
            <a:custGeom>
              <a:avLst/>
              <a:gdLst/>
              <a:ahLst/>
              <a:cxnLst/>
              <a:rect r="r" b="b" t="t" l="l"/>
              <a:pathLst>
                <a:path h="549069" w="9151149">
                  <a:moveTo>
                    <a:pt x="0" y="0"/>
                  </a:moveTo>
                  <a:lnTo>
                    <a:pt x="9151149" y="0"/>
                  </a:lnTo>
                  <a:lnTo>
                    <a:pt x="9151149" y="549069"/>
                  </a:lnTo>
                  <a:lnTo>
                    <a:pt x="0" y="549069"/>
                  </a:lnTo>
                  <a:close/>
                </a:path>
              </a:pathLst>
            </a:custGeom>
            <a:blipFill>
              <a:blip r:embed="rId3">
                <a:alphaModFix amt="0"/>
              </a:blip>
              <a:stretch>
                <a:fillRect l="0" t="-274750" r="0" b="-274750"/>
              </a:stretch>
            </a:blipFill>
          </p:spPr>
        </p:sp>
        <p:sp>
          <p:nvSpPr>
            <p:cNvPr name="TextBox 82" id="82"/>
            <p:cNvSpPr txBox="true"/>
            <p:nvPr/>
          </p:nvSpPr>
          <p:spPr>
            <a:xfrm>
              <a:off x="0" y="0"/>
              <a:ext cx="9151150" cy="549072"/>
            </a:xfrm>
            <a:prstGeom prst="rect">
              <a:avLst/>
            </a:prstGeom>
          </p:spPr>
          <p:txBody>
            <a:bodyPr anchor="ctr" rtlCol="false" tIns="0" lIns="0" bIns="0" rIns="0"/>
            <a:lstStyle/>
            <a:p>
              <a:pPr algn="ctr">
                <a:lnSpc>
                  <a:spcPts val="2521"/>
                </a:lnSpc>
              </a:pPr>
              <a:r>
                <a:rPr lang="en-US" sz="2101">
                  <a:solidFill>
                    <a:srgbClr val="717C7A"/>
                  </a:solidFill>
                  <a:latin typeface="Inter"/>
                  <a:ea typeface="Inter"/>
                  <a:cs typeface="Inter"/>
                  <a:sym typeface="Inter"/>
                </a:rPr>
                <a:t>Population size</a:t>
              </a:r>
            </a:p>
          </p:txBody>
        </p:sp>
      </p:grpSp>
      <p:grpSp>
        <p:nvGrpSpPr>
          <p:cNvPr name="Group 83" id="83"/>
          <p:cNvGrpSpPr/>
          <p:nvPr/>
        </p:nvGrpSpPr>
        <p:grpSpPr>
          <a:xfrm rot="-5400000">
            <a:off x="6773291" y="4925884"/>
            <a:ext cx="4804353" cy="411804"/>
            <a:chOff x="0" y="0"/>
            <a:chExt cx="6405804" cy="549072"/>
          </a:xfrm>
        </p:grpSpPr>
        <p:sp>
          <p:nvSpPr>
            <p:cNvPr name="Freeform 84" id="84"/>
            <p:cNvSpPr/>
            <p:nvPr/>
          </p:nvSpPr>
          <p:spPr>
            <a:xfrm flipH="false" flipV="false" rot="0">
              <a:off x="0" y="0"/>
              <a:ext cx="6405805" cy="549069"/>
            </a:xfrm>
            <a:custGeom>
              <a:avLst/>
              <a:gdLst/>
              <a:ahLst/>
              <a:cxnLst/>
              <a:rect r="r" b="b" t="t" l="l"/>
              <a:pathLst>
                <a:path h="549069" w="6405805">
                  <a:moveTo>
                    <a:pt x="0" y="0"/>
                  </a:moveTo>
                  <a:lnTo>
                    <a:pt x="6405805" y="0"/>
                  </a:lnTo>
                  <a:lnTo>
                    <a:pt x="6405805" y="549069"/>
                  </a:lnTo>
                  <a:lnTo>
                    <a:pt x="0" y="549069"/>
                  </a:lnTo>
                  <a:close/>
                </a:path>
              </a:pathLst>
            </a:custGeom>
            <a:blipFill>
              <a:blip r:embed="rId3">
                <a:alphaModFix amt="0"/>
              </a:blip>
              <a:stretch>
                <a:fillRect l="0" t="-177325" r="0" b="-177325"/>
              </a:stretch>
            </a:blipFill>
          </p:spPr>
        </p:sp>
        <p:sp>
          <p:nvSpPr>
            <p:cNvPr name="TextBox 85" id="85"/>
            <p:cNvSpPr txBox="true"/>
            <p:nvPr/>
          </p:nvSpPr>
          <p:spPr>
            <a:xfrm>
              <a:off x="0" y="0"/>
              <a:ext cx="6405804" cy="549072"/>
            </a:xfrm>
            <a:prstGeom prst="rect">
              <a:avLst/>
            </a:prstGeom>
          </p:spPr>
          <p:txBody>
            <a:bodyPr anchor="ctr" rtlCol="false" tIns="0" lIns="0" bIns="0" rIns="0"/>
            <a:lstStyle/>
            <a:p>
              <a:pPr algn="ctr">
                <a:lnSpc>
                  <a:spcPts val="2521"/>
                </a:lnSpc>
              </a:pPr>
              <a:r>
                <a:rPr lang="en-US" sz="2101">
                  <a:solidFill>
                    <a:srgbClr val="717C7A"/>
                  </a:solidFill>
                  <a:latin typeface="Inter"/>
                  <a:ea typeface="Inter"/>
                  <a:cs typeface="Inter"/>
                  <a:sym typeface="Inter"/>
                </a:rPr>
                <a:t>Population growth</a:t>
              </a:r>
            </a:p>
          </p:txBody>
        </p:sp>
      </p:grpSp>
      <p:grpSp>
        <p:nvGrpSpPr>
          <p:cNvPr name="Group 86" id="86"/>
          <p:cNvGrpSpPr/>
          <p:nvPr/>
        </p:nvGrpSpPr>
        <p:grpSpPr>
          <a:xfrm rot="0">
            <a:off x="14844605" y="4205321"/>
            <a:ext cx="2059010" cy="343167"/>
            <a:chOff x="0" y="0"/>
            <a:chExt cx="2745346" cy="457556"/>
          </a:xfrm>
        </p:grpSpPr>
        <p:sp>
          <p:nvSpPr>
            <p:cNvPr name="Freeform 87" id="87"/>
            <p:cNvSpPr/>
            <p:nvPr/>
          </p:nvSpPr>
          <p:spPr>
            <a:xfrm flipH="false" flipV="false" rot="0">
              <a:off x="0" y="0"/>
              <a:ext cx="2745345" cy="457557"/>
            </a:xfrm>
            <a:custGeom>
              <a:avLst/>
              <a:gdLst/>
              <a:ahLst/>
              <a:cxnLst/>
              <a:rect r="r" b="b" t="t" l="l"/>
              <a:pathLst>
                <a:path h="457557" w="2745345">
                  <a:moveTo>
                    <a:pt x="0" y="0"/>
                  </a:moveTo>
                  <a:lnTo>
                    <a:pt x="2745345" y="0"/>
                  </a:lnTo>
                  <a:lnTo>
                    <a:pt x="2745345" y="457557"/>
                  </a:lnTo>
                  <a:lnTo>
                    <a:pt x="0" y="457557"/>
                  </a:lnTo>
                  <a:close/>
                </a:path>
              </a:pathLst>
            </a:custGeom>
            <a:blipFill>
              <a:blip r:embed="rId3">
                <a:alphaModFix amt="0"/>
              </a:blip>
              <a:stretch>
                <a:fillRect l="0" t="-66910" r="0" b="-66910"/>
              </a:stretch>
            </a:blipFill>
          </p:spPr>
        </p:sp>
        <p:sp>
          <p:nvSpPr>
            <p:cNvPr name="TextBox 88" id="88"/>
            <p:cNvSpPr txBox="true"/>
            <p:nvPr/>
          </p:nvSpPr>
          <p:spPr>
            <a:xfrm>
              <a:off x="0" y="0"/>
              <a:ext cx="2745346" cy="457556"/>
            </a:xfrm>
            <a:prstGeom prst="rect">
              <a:avLst/>
            </a:prstGeom>
          </p:spPr>
          <p:txBody>
            <a:bodyPr anchor="ctr" rtlCol="false" tIns="0" lIns="0" bIns="0" rIns="0"/>
            <a:lstStyle/>
            <a:p>
              <a:pPr algn="r">
                <a:lnSpc>
                  <a:spcPts val="2161"/>
                </a:lnSpc>
              </a:pPr>
              <a:r>
                <a:rPr lang="en-US" sz="1801">
                  <a:solidFill>
                    <a:srgbClr val="717C7A"/>
                  </a:solidFill>
                  <a:latin typeface="Inter"/>
                  <a:ea typeface="Inter"/>
                  <a:cs typeface="Inter"/>
                  <a:sym typeface="Inter"/>
                </a:rPr>
                <a:t>no growth</a:t>
              </a:r>
            </a:p>
          </p:txBody>
        </p:sp>
      </p:grpSp>
      <p:sp>
        <p:nvSpPr>
          <p:cNvPr name="Freeform 89" id="89"/>
          <p:cNvSpPr/>
          <p:nvPr/>
        </p:nvSpPr>
        <p:spPr>
          <a:xfrm flipH="false" flipV="false" rot="0">
            <a:off x="10348233" y="4313274"/>
            <a:ext cx="5533625" cy="1715948"/>
          </a:xfrm>
          <a:custGeom>
            <a:avLst/>
            <a:gdLst/>
            <a:ahLst/>
            <a:cxnLst/>
            <a:rect r="r" b="b" t="t" l="l"/>
            <a:pathLst>
              <a:path h="1715948" w="5533625">
                <a:moveTo>
                  <a:pt x="0" y="0"/>
                </a:moveTo>
                <a:lnTo>
                  <a:pt x="5533625" y="0"/>
                </a:lnTo>
                <a:lnTo>
                  <a:pt x="5533625" y="1715948"/>
                </a:lnTo>
                <a:lnTo>
                  <a:pt x="0" y="17159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0" id="90"/>
          <p:cNvGrpSpPr/>
          <p:nvPr/>
        </p:nvGrpSpPr>
        <p:grpSpPr>
          <a:xfrm rot="0">
            <a:off x="10290759" y="6190804"/>
            <a:ext cx="150990" cy="150990"/>
            <a:chOff x="0" y="0"/>
            <a:chExt cx="201320" cy="201320"/>
          </a:xfrm>
        </p:grpSpPr>
        <p:sp>
          <p:nvSpPr>
            <p:cNvPr name="Freeform 91" id="9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92" id="92"/>
          <p:cNvGrpSpPr/>
          <p:nvPr/>
        </p:nvGrpSpPr>
        <p:grpSpPr>
          <a:xfrm rot="0">
            <a:off x="10359396" y="5310580"/>
            <a:ext cx="150990" cy="150990"/>
            <a:chOff x="0" y="0"/>
            <a:chExt cx="201320" cy="201320"/>
          </a:xfrm>
        </p:grpSpPr>
        <p:sp>
          <p:nvSpPr>
            <p:cNvPr name="Freeform 93" id="9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94" id="94"/>
          <p:cNvGrpSpPr/>
          <p:nvPr/>
        </p:nvGrpSpPr>
        <p:grpSpPr>
          <a:xfrm rot="0">
            <a:off x="10359396" y="5206253"/>
            <a:ext cx="150990" cy="150990"/>
            <a:chOff x="0" y="0"/>
            <a:chExt cx="201320" cy="201320"/>
          </a:xfrm>
        </p:grpSpPr>
        <p:sp>
          <p:nvSpPr>
            <p:cNvPr name="Freeform 95" id="9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96" id="96"/>
          <p:cNvGrpSpPr/>
          <p:nvPr/>
        </p:nvGrpSpPr>
        <p:grpSpPr>
          <a:xfrm rot="0">
            <a:off x="10393715" y="6047358"/>
            <a:ext cx="150990" cy="150990"/>
            <a:chOff x="0" y="0"/>
            <a:chExt cx="201320" cy="201320"/>
          </a:xfrm>
        </p:grpSpPr>
        <p:sp>
          <p:nvSpPr>
            <p:cNvPr name="Freeform 97" id="9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98" id="98"/>
          <p:cNvGrpSpPr/>
          <p:nvPr/>
        </p:nvGrpSpPr>
        <p:grpSpPr>
          <a:xfrm rot="0">
            <a:off x="10410870" y="5551820"/>
            <a:ext cx="150990" cy="150990"/>
            <a:chOff x="0" y="0"/>
            <a:chExt cx="201320" cy="201320"/>
          </a:xfrm>
        </p:grpSpPr>
        <p:sp>
          <p:nvSpPr>
            <p:cNvPr name="Freeform 99" id="9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00" id="100"/>
          <p:cNvGrpSpPr/>
          <p:nvPr/>
        </p:nvGrpSpPr>
        <p:grpSpPr>
          <a:xfrm rot="0">
            <a:off x="10496661" y="5903911"/>
            <a:ext cx="150990" cy="150990"/>
            <a:chOff x="0" y="0"/>
            <a:chExt cx="201320" cy="201320"/>
          </a:xfrm>
        </p:grpSpPr>
        <p:sp>
          <p:nvSpPr>
            <p:cNvPr name="Freeform 101" id="10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02" id="102"/>
          <p:cNvGrpSpPr/>
          <p:nvPr/>
        </p:nvGrpSpPr>
        <p:grpSpPr>
          <a:xfrm rot="0">
            <a:off x="10633926" y="5760474"/>
            <a:ext cx="150990" cy="150990"/>
            <a:chOff x="0" y="0"/>
            <a:chExt cx="201320" cy="201320"/>
          </a:xfrm>
        </p:grpSpPr>
        <p:sp>
          <p:nvSpPr>
            <p:cNvPr name="Freeform 103" id="10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04" id="104"/>
          <p:cNvGrpSpPr/>
          <p:nvPr/>
        </p:nvGrpSpPr>
        <p:grpSpPr>
          <a:xfrm rot="0">
            <a:off x="10788355" y="5173648"/>
            <a:ext cx="150990" cy="150990"/>
            <a:chOff x="0" y="0"/>
            <a:chExt cx="201320" cy="201320"/>
          </a:xfrm>
        </p:grpSpPr>
        <p:sp>
          <p:nvSpPr>
            <p:cNvPr name="Freeform 105" id="10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06" id="106"/>
          <p:cNvGrpSpPr/>
          <p:nvPr/>
        </p:nvGrpSpPr>
        <p:grpSpPr>
          <a:xfrm rot="0">
            <a:off x="10891311" y="6803700"/>
            <a:ext cx="150990" cy="150990"/>
            <a:chOff x="0" y="0"/>
            <a:chExt cx="201320" cy="201320"/>
          </a:xfrm>
        </p:grpSpPr>
        <p:sp>
          <p:nvSpPr>
            <p:cNvPr name="Freeform 107" id="10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08" id="108"/>
          <p:cNvGrpSpPr/>
          <p:nvPr/>
        </p:nvGrpSpPr>
        <p:grpSpPr>
          <a:xfrm rot="0">
            <a:off x="11303105" y="4652040"/>
            <a:ext cx="150990" cy="150990"/>
            <a:chOff x="0" y="0"/>
            <a:chExt cx="201320" cy="201320"/>
          </a:xfrm>
        </p:grpSpPr>
        <p:sp>
          <p:nvSpPr>
            <p:cNvPr name="Freeform 109" id="10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10" id="110"/>
          <p:cNvGrpSpPr/>
          <p:nvPr/>
        </p:nvGrpSpPr>
        <p:grpSpPr>
          <a:xfrm rot="0">
            <a:off x="11354588" y="5310580"/>
            <a:ext cx="150990" cy="150990"/>
            <a:chOff x="0" y="0"/>
            <a:chExt cx="201320" cy="201320"/>
          </a:xfrm>
        </p:grpSpPr>
        <p:sp>
          <p:nvSpPr>
            <p:cNvPr name="Freeform 111" id="11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12" id="112"/>
          <p:cNvGrpSpPr/>
          <p:nvPr/>
        </p:nvGrpSpPr>
        <p:grpSpPr>
          <a:xfrm rot="0">
            <a:off x="12178186" y="6086477"/>
            <a:ext cx="150990" cy="150990"/>
            <a:chOff x="0" y="0"/>
            <a:chExt cx="201320" cy="201320"/>
          </a:xfrm>
        </p:grpSpPr>
        <p:sp>
          <p:nvSpPr>
            <p:cNvPr name="Freeform 113" id="11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14" id="114"/>
          <p:cNvGrpSpPr/>
          <p:nvPr/>
        </p:nvGrpSpPr>
        <p:grpSpPr>
          <a:xfrm rot="0">
            <a:off x="12246823" y="4202146"/>
            <a:ext cx="150990" cy="150990"/>
            <a:chOff x="0" y="0"/>
            <a:chExt cx="201320" cy="201320"/>
          </a:xfrm>
        </p:grpSpPr>
        <p:sp>
          <p:nvSpPr>
            <p:cNvPr name="Freeform 115" id="11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16" id="116"/>
          <p:cNvGrpSpPr/>
          <p:nvPr/>
        </p:nvGrpSpPr>
        <p:grpSpPr>
          <a:xfrm rot="0">
            <a:off x="12692936" y="4606397"/>
            <a:ext cx="150990" cy="150990"/>
            <a:chOff x="0" y="0"/>
            <a:chExt cx="201320" cy="201320"/>
          </a:xfrm>
        </p:grpSpPr>
        <p:sp>
          <p:nvSpPr>
            <p:cNvPr name="Freeform 117" id="11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18" id="118"/>
          <p:cNvGrpSpPr/>
          <p:nvPr/>
        </p:nvGrpSpPr>
        <p:grpSpPr>
          <a:xfrm rot="0">
            <a:off x="12778727" y="5630067"/>
            <a:ext cx="150990" cy="150990"/>
            <a:chOff x="0" y="0"/>
            <a:chExt cx="201320" cy="201320"/>
          </a:xfrm>
        </p:grpSpPr>
        <p:sp>
          <p:nvSpPr>
            <p:cNvPr name="Freeform 119" id="11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20" id="120"/>
          <p:cNvGrpSpPr/>
          <p:nvPr/>
        </p:nvGrpSpPr>
        <p:grpSpPr>
          <a:xfrm rot="0">
            <a:off x="12830210" y="4436871"/>
            <a:ext cx="150990" cy="150990"/>
            <a:chOff x="0" y="0"/>
            <a:chExt cx="201320" cy="201320"/>
          </a:xfrm>
        </p:grpSpPr>
        <p:sp>
          <p:nvSpPr>
            <p:cNvPr name="Freeform 121" id="12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22" id="122"/>
          <p:cNvGrpSpPr/>
          <p:nvPr/>
        </p:nvGrpSpPr>
        <p:grpSpPr>
          <a:xfrm rot="0">
            <a:off x="13036112" y="4795477"/>
            <a:ext cx="150990" cy="150990"/>
            <a:chOff x="0" y="0"/>
            <a:chExt cx="201320" cy="201320"/>
          </a:xfrm>
        </p:grpSpPr>
        <p:sp>
          <p:nvSpPr>
            <p:cNvPr name="Freeform 123" id="12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24" id="124"/>
          <p:cNvGrpSpPr/>
          <p:nvPr/>
        </p:nvGrpSpPr>
        <p:grpSpPr>
          <a:xfrm rot="0">
            <a:off x="13087585" y="4404267"/>
            <a:ext cx="150990" cy="150990"/>
            <a:chOff x="0" y="0"/>
            <a:chExt cx="201320" cy="201320"/>
          </a:xfrm>
        </p:grpSpPr>
        <p:sp>
          <p:nvSpPr>
            <p:cNvPr name="Freeform 125" id="12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26" id="126"/>
          <p:cNvGrpSpPr/>
          <p:nvPr/>
        </p:nvGrpSpPr>
        <p:grpSpPr>
          <a:xfrm rot="0">
            <a:off x="13224850" y="4846706"/>
            <a:ext cx="150990" cy="150990"/>
            <a:chOff x="0" y="0"/>
            <a:chExt cx="201320" cy="201320"/>
          </a:xfrm>
        </p:grpSpPr>
        <p:sp>
          <p:nvSpPr>
            <p:cNvPr name="Freeform 127" id="12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28" id="128"/>
          <p:cNvGrpSpPr/>
          <p:nvPr/>
        </p:nvGrpSpPr>
        <p:grpSpPr>
          <a:xfrm rot="0">
            <a:off x="13224850" y="4579378"/>
            <a:ext cx="150990" cy="150990"/>
            <a:chOff x="0" y="0"/>
            <a:chExt cx="201320" cy="201320"/>
          </a:xfrm>
        </p:grpSpPr>
        <p:sp>
          <p:nvSpPr>
            <p:cNvPr name="Freeform 129" id="12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30" id="130"/>
          <p:cNvGrpSpPr/>
          <p:nvPr/>
        </p:nvGrpSpPr>
        <p:grpSpPr>
          <a:xfrm rot="0">
            <a:off x="13259168" y="4162078"/>
            <a:ext cx="150990" cy="150990"/>
            <a:chOff x="0" y="0"/>
            <a:chExt cx="201320" cy="201320"/>
          </a:xfrm>
        </p:grpSpPr>
        <p:sp>
          <p:nvSpPr>
            <p:cNvPr name="Freeform 131" id="13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32" id="132"/>
          <p:cNvGrpSpPr/>
          <p:nvPr/>
        </p:nvGrpSpPr>
        <p:grpSpPr>
          <a:xfrm rot="0">
            <a:off x="13362115" y="4246841"/>
            <a:ext cx="150990" cy="150990"/>
            <a:chOff x="0" y="0"/>
            <a:chExt cx="201320" cy="201320"/>
          </a:xfrm>
        </p:grpSpPr>
        <p:sp>
          <p:nvSpPr>
            <p:cNvPr name="Freeform 133" id="13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34" id="134"/>
          <p:cNvGrpSpPr/>
          <p:nvPr/>
        </p:nvGrpSpPr>
        <p:grpSpPr>
          <a:xfrm rot="0">
            <a:off x="13379279" y="4677180"/>
            <a:ext cx="150990" cy="150990"/>
            <a:chOff x="0" y="0"/>
            <a:chExt cx="201320" cy="201320"/>
          </a:xfrm>
        </p:grpSpPr>
        <p:sp>
          <p:nvSpPr>
            <p:cNvPr name="Freeform 135" id="13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36" id="136"/>
          <p:cNvGrpSpPr/>
          <p:nvPr/>
        </p:nvGrpSpPr>
        <p:grpSpPr>
          <a:xfrm rot="0">
            <a:off x="13396433" y="4742379"/>
            <a:ext cx="150990" cy="150990"/>
            <a:chOff x="0" y="0"/>
            <a:chExt cx="201320" cy="201320"/>
          </a:xfrm>
        </p:grpSpPr>
        <p:sp>
          <p:nvSpPr>
            <p:cNvPr name="Freeform 137" id="13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38" id="138"/>
          <p:cNvGrpSpPr/>
          <p:nvPr/>
        </p:nvGrpSpPr>
        <p:grpSpPr>
          <a:xfrm rot="0">
            <a:off x="13465070" y="3660025"/>
            <a:ext cx="150990" cy="150990"/>
            <a:chOff x="0" y="0"/>
            <a:chExt cx="201320" cy="201320"/>
          </a:xfrm>
        </p:grpSpPr>
        <p:sp>
          <p:nvSpPr>
            <p:cNvPr name="Freeform 139" id="13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40" id="140"/>
          <p:cNvGrpSpPr/>
          <p:nvPr/>
        </p:nvGrpSpPr>
        <p:grpSpPr>
          <a:xfrm rot="0">
            <a:off x="13465070" y="3490499"/>
            <a:ext cx="150990" cy="150990"/>
            <a:chOff x="0" y="0"/>
            <a:chExt cx="201320" cy="201320"/>
          </a:xfrm>
        </p:grpSpPr>
        <p:sp>
          <p:nvSpPr>
            <p:cNvPr name="Freeform 141" id="14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42" id="142"/>
          <p:cNvGrpSpPr/>
          <p:nvPr/>
        </p:nvGrpSpPr>
        <p:grpSpPr>
          <a:xfrm rot="0">
            <a:off x="13499389" y="4285970"/>
            <a:ext cx="150990" cy="150990"/>
            <a:chOff x="0" y="0"/>
            <a:chExt cx="201320" cy="201320"/>
          </a:xfrm>
        </p:grpSpPr>
        <p:sp>
          <p:nvSpPr>
            <p:cNvPr name="Freeform 143" id="14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44" id="144"/>
          <p:cNvGrpSpPr/>
          <p:nvPr/>
        </p:nvGrpSpPr>
        <p:grpSpPr>
          <a:xfrm rot="0">
            <a:off x="13568017" y="4325089"/>
            <a:ext cx="150990" cy="150990"/>
            <a:chOff x="0" y="0"/>
            <a:chExt cx="201320" cy="201320"/>
          </a:xfrm>
        </p:grpSpPr>
        <p:sp>
          <p:nvSpPr>
            <p:cNvPr name="Freeform 145" id="14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46" id="146"/>
          <p:cNvGrpSpPr/>
          <p:nvPr/>
        </p:nvGrpSpPr>
        <p:grpSpPr>
          <a:xfrm rot="0">
            <a:off x="13670972" y="4207722"/>
            <a:ext cx="150990" cy="150990"/>
            <a:chOff x="0" y="0"/>
            <a:chExt cx="201320" cy="201320"/>
          </a:xfrm>
        </p:grpSpPr>
        <p:sp>
          <p:nvSpPr>
            <p:cNvPr name="Freeform 147" id="14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48" id="148"/>
          <p:cNvGrpSpPr/>
          <p:nvPr/>
        </p:nvGrpSpPr>
        <p:grpSpPr>
          <a:xfrm rot="0">
            <a:off x="13705281" y="3457904"/>
            <a:ext cx="150990" cy="150990"/>
            <a:chOff x="0" y="0"/>
            <a:chExt cx="201320" cy="201320"/>
          </a:xfrm>
        </p:grpSpPr>
        <p:sp>
          <p:nvSpPr>
            <p:cNvPr name="Freeform 149" id="14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50" id="150"/>
          <p:cNvGrpSpPr/>
          <p:nvPr/>
        </p:nvGrpSpPr>
        <p:grpSpPr>
          <a:xfrm rot="0">
            <a:off x="14391624" y="4931469"/>
            <a:ext cx="150990" cy="150990"/>
            <a:chOff x="0" y="0"/>
            <a:chExt cx="201320" cy="201320"/>
          </a:xfrm>
        </p:grpSpPr>
        <p:sp>
          <p:nvSpPr>
            <p:cNvPr name="Freeform 151" id="15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52" id="152"/>
          <p:cNvGrpSpPr/>
          <p:nvPr/>
        </p:nvGrpSpPr>
        <p:grpSpPr>
          <a:xfrm rot="0">
            <a:off x="14528889" y="4514170"/>
            <a:ext cx="150990" cy="150990"/>
            <a:chOff x="0" y="0"/>
            <a:chExt cx="201320" cy="201320"/>
          </a:xfrm>
        </p:grpSpPr>
        <p:sp>
          <p:nvSpPr>
            <p:cNvPr name="Freeform 153" id="15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54" id="154"/>
          <p:cNvGrpSpPr/>
          <p:nvPr/>
        </p:nvGrpSpPr>
        <p:grpSpPr>
          <a:xfrm rot="0">
            <a:off x="14683318" y="4592417"/>
            <a:ext cx="150990" cy="150990"/>
            <a:chOff x="0" y="0"/>
            <a:chExt cx="201320" cy="201320"/>
          </a:xfrm>
        </p:grpSpPr>
        <p:sp>
          <p:nvSpPr>
            <p:cNvPr name="Freeform 155" id="15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56" id="156"/>
          <p:cNvGrpSpPr/>
          <p:nvPr/>
        </p:nvGrpSpPr>
        <p:grpSpPr>
          <a:xfrm rot="0">
            <a:off x="14803419" y="3933878"/>
            <a:ext cx="150990" cy="150990"/>
            <a:chOff x="0" y="0"/>
            <a:chExt cx="201320" cy="201320"/>
          </a:xfrm>
        </p:grpSpPr>
        <p:sp>
          <p:nvSpPr>
            <p:cNvPr name="Freeform 157" id="15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58" id="158"/>
          <p:cNvGrpSpPr/>
          <p:nvPr/>
        </p:nvGrpSpPr>
        <p:grpSpPr>
          <a:xfrm rot="0">
            <a:off x="14837737" y="4846706"/>
            <a:ext cx="150990" cy="150990"/>
            <a:chOff x="0" y="0"/>
            <a:chExt cx="201320" cy="201320"/>
          </a:xfrm>
        </p:grpSpPr>
        <p:sp>
          <p:nvSpPr>
            <p:cNvPr name="Freeform 159" id="159"/>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60" id="160"/>
          <p:cNvGrpSpPr/>
          <p:nvPr/>
        </p:nvGrpSpPr>
        <p:grpSpPr>
          <a:xfrm rot="0">
            <a:off x="15129431" y="3980014"/>
            <a:ext cx="150990" cy="150990"/>
            <a:chOff x="0" y="0"/>
            <a:chExt cx="201320" cy="201320"/>
          </a:xfrm>
        </p:grpSpPr>
        <p:sp>
          <p:nvSpPr>
            <p:cNvPr name="Freeform 161" id="161"/>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62" id="162"/>
          <p:cNvGrpSpPr/>
          <p:nvPr/>
        </p:nvGrpSpPr>
        <p:grpSpPr>
          <a:xfrm rot="0">
            <a:off x="15455443" y="4762436"/>
            <a:ext cx="150990" cy="150990"/>
            <a:chOff x="0" y="0"/>
            <a:chExt cx="201320" cy="201320"/>
          </a:xfrm>
        </p:grpSpPr>
        <p:sp>
          <p:nvSpPr>
            <p:cNvPr name="Freeform 163" id="163"/>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64" id="164"/>
          <p:cNvGrpSpPr/>
          <p:nvPr/>
        </p:nvGrpSpPr>
        <p:grpSpPr>
          <a:xfrm rot="0">
            <a:off x="15472597" y="3940895"/>
            <a:ext cx="150990" cy="150990"/>
            <a:chOff x="0" y="0"/>
            <a:chExt cx="201320" cy="201320"/>
          </a:xfrm>
        </p:grpSpPr>
        <p:sp>
          <p:nvSpPr>
            <p:cNvPr name="Freeform 165" id="165"/>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66" id="166"/>
          <p:cNvGrpSpPr/>
          <p:nvPr/>
        </p:nvGrpSpPr>
        <p:grpSpPr>
          <a:xfrm rot="0">
            <a:off x="15798610" y="4762436"/>
            <a:ext cx="150990" cy="150990"/>
            <a:chOff x="0" y="0"/>
            <a:chExt cx="201320" cy="201320"/>
          </a:xfrm>
        </p:grpSpPr>
        <p:sp>
          <p:nvSpPr>
            <p:cNvPr name="Freeform 167" id="167"/>
            <p:cNvSpPr/>
            <p:nvPr/>
          </p:nvSpPr>
          <p:spPr>
            <a:xfrm flipH="false" flipV="false" rot="0">
              <a:off x="0" y="0"/>
              <a:ext cx="201422" cy="201422"/>
            </a:xfrm>
            <a:custGeom>
              <a:avLst/>
              <a:gdLst/>
              <a:ahLst/>
              <a:cxnLst/>
              <a:rect r="r" b="b" t="t" l="l"/>
              <a:pathLst>
                <a:path h="201422" w="201422">
                  <a:moveTo>
                    <a:pt x="0" y="100711"/>
                  </a:moveTo>
                  <a:cubicBezTo>
                    <a:pt x="0" y="45085"/>
                    <a:pt x="45085" y="0"/>
                    <a:pt x="100711" y="0"/>
                  </a:cubicBezTo>
                  <a:cubicBezTo>
                    <a:pt x="156337" y="0"/>
                    <a:pt x="201422" y="45085"/>
                    <a:pt x="201422" y="100711"/>
                  </a:cubicBezTo>
                  <a:cubicBezTo>
                    <a:pt x="201422" y="156337"/>
                    <a:pt x="156337" y="201422"/>
                    <a:pt x="100711" y="201422"/>
                  </a:cubicBezTo>
                  <a:cubicBezTo>
                    <a:pt x="45085" y="201422"/>
                    <a:pt x="0" y="156210"/>
                    <a:pt x="0" y="100711"/>
                  </a:cubicBezTo>
                  <a:close/>
                </a:path>
              </a:pathLst>
            </a:custGeom>
            <a:solidFill>
              <a:srgbClr val="4E5B4C"/>
            </a:solidFill>
          </p:spPr>
        </p:sp>
      </p:grpSp>
      <p:grpSp>
        <p:nvGrpSpPr>
          <p:cNvPr name="Group 168" id="168"/>
          <p:cNvGrpSpPr/>
          <p:nvPr/>
        </p:nvGrpSpPr>
        <p:grpSpPr>
          <a:xfrm rot="0">
            <a:off x="9205574" y="8392740"/>
            <a:ext cx="8247109" cy="705496"/>
            <a:chOff x="0" y="0"/>
            <a:chExt cx="7444466" cy="636834"/>
          </a:xfrm>
        </p:grpSpPr>
        <p:sp>
          <p:nvSpPr>
            <p:cNvPr name="Freeform 169" id="169"/>
            <p:cNvSpPr/>
            <p:nvPr/>
          </p:nvSpPr>
          <p:spPr>
            <a:xfrm flipH="false" flipV="false" rot="0">
              <a:off x="0" y="0"/>
              <a:ext cx="7444504" cy="636834"/>
            </a:xfrm>
            <a:custGeom>
              <a:avLst/>
              <a:gdLst/>
              <a:ahLst/>
              <a:cxnLst/>
              <a:rect r="r" b="b" t="t" l="l"/>
              <a:pathLst>
                <a:path h="636834" w="7444504">
                  <a:moveTo>
                    <a:pt x="84830" y="0"/>
                  </a:moveTo>
                  <a:lnTo>
                    <a:pt x="7359674" y="0"/>
                  </a:lnTo>
                  <a:cubicBezTo>
                    <a:pt x="7406524" y="0"/>
                    <a:pt x="7444504" y="37980"/>
                    <a:pt x="7444504" y="84830"/>
                  </a:cubicBezTo>
                  <a:lnTo>
                    <a:pt x="7444504" y="552004"/>
                  </a:lnTo>
                  <a:cubicBezTo>
                    <a:pt x="7444504" y="574503"/>
                    <a:pt x="7435566" y="596079"/>
                    <a:pt x="7419658" y="611988"/>
                  </a:cubicBezTo>
                  <a:cubicBezTo>
                    <a:pt x="7403749" y="627897"/>
                    <a:pt x="7382172" y="636834"/>
                    <a:pt x="7359674" y="636834"/>
                  </a:cubicBezTo>
                  <a:lnTo>
                    <a:pt x="84830" y="636834"/>
                  </a:lnTo>
                  <a:cubicBezTo>
                    <a:pt x="62332" y="636834"/>
                    <a:pt x="40755" y="627897"/>
                    <a:pt x="24846" y="611988"/>
                  </a:cubicBezTo>
                  <a:cubicBezTo>
                    <a:pt x="8937" y="596079"/>
                    <a:pt x="0" y="574503"/>
                    <a:pt x="0" y="552004"/>
                  </a:cubicBezTo>
                  <a:lnTo>
                    <a:pt x="0" y="84830"/>
                  </a:lnTo>
                  <a:cubicBezTo>
                    <a:pt x="0" y="37980"/>
                    <a:pt x="37980" y="0"/>
                    <a:pt x="84830" y="0"/>
                  </a:cubicBezTo>
                  <a:close/>
                </a:path>
              </a:pathLst>
            </a:custGeom>
            <a:solidFill>
              <a:srgbClr val="D9D4CF">
                <a:alpha val="24706"/>
              </a:srgbClr>
            </a:solidFill>
          </p:spPr>
        </p:sp>
      </p:grpSp>
      <p:sp>
        <p:nvSpPr>
          <p:cNvPr name="TextBox 170" id="170"/>
          <p:cNvSpPr txBox="true"/>
          <p:nvPr/>
        </p:nvSpPr>
        <p:spPr>
          <a:xfrm rot="0">
            <a:off x="9466239" y="8568337"/>
            <a:ext cx="7725779" cy="335253"/>
          </a:xfrm>
          <a:prstGeom prst="rect">
            <a:avLst/>
          </a:prstGeom>
        </p:spPr>
        <p:txBody>
          <a:bodyPr anchor="t" rtlCol="false" tIns="0" lIns="0" bIns="0" rIns="0">
            <a:spAutoFit/>
          </a:bodyPr>
          <a:lstStyle/>
          <a:p>
            <a:pPr algn="l">
              <a:lnSpc>
                <a:spcPts val="2732"/>
              </a:lnSpc>
            </a:pPr>
            <a:r>
              <a:rPr lang="en-US" sz="2102">
                <a:solidFill>
                  <a:srgbClr val="232E2D"/>
                </a:solidFill>
                <a:latin typeface="Inter"/>
                <a:ea typeface="Inter"/>
                <a:cs typeface="Inter"/>
                <a:sym typeface="Inter"/>
              </a:rPr>
              <a:t>Each dot: one year, 1970–2007. Curve: quadratic fit, R² = 0.55</a:t>
            </a:r>
          </a:p>
        </p:txBody>
      </p:sp>
      <p:sp>
        <p:nvSpPr>
          <p:cNvPr name="TextBox 171" id="171"/>
          <p:cNvSpPr txBox="true"/>
          <p:nvPr/>
        </p:nvSpPr>
        <p:spPr>
          <a:xfrm rot="0">
            <a:off x="823608" y="9661999"/>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Data: Brashares et al. 2010, Fig. 1 and p. 966; terms: Stephens et al. 1999. Drawn with AI assistance (Claude)</a:t>
            </a:r>
          </a:p>
        </p:txBody>
      </p:sp>
      <p:sp>
        <p:nvSpPr>
          <p:cNvPr name="TextBox 172" id="172"/>
          <p:cNvSpPr txBox="true"/>
          <p:nvPr/>
        </p:nvSpPr>
        <p:spPr>
          <a:xfrm rot="0">
            <a:off x="823608" y="8594027"/>
            <a:ext cx="8098765" cy="549069"/>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−57%: our calculation, 8.3 to 3.6 marmots per colony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823608" y="3648085"/>
            <a:ext cx="7686961" cy="4941618"/>
            <a:chOff x="0" y="0"/>
            <a:chExt cx="10249281" cy="6588823"/>
          </a:xfrm>
        </p:grpSpPr>
        <p:sp>
          <p:nvSpPr>
            <p:cNvPr name="Freeform 3" id="3" descr="fan-weak.png"/>
            <p:cNvSpPr/>
            <p:nvPr/>
          </p:nvSpPr>
          <p:spPr>
            <a:xfrm flipH="false" flipV="false" rot="0">
              <a:off x="0" y="0"/>
              <a:ext cx="10249281" cy="6588887"/>
            </a:xfrm>
            <a:custGeom>
              <a:avLst/>
              <a:gdLst/>
              <a:ahLst/>
              <a:cxnLst/>
              <a:rect r="r" b="b" t="t" l="l"/>
              <a:pathLst>
                <a:path h="6588887" w="10249281">
                  <a:moveTo>
                    <a:pt x="0" y="0"/>
                  </a:moveTo>
                  <a:lnTo>
                    <a:pt x="10249281" y="0"/>
                  </a:lnTo>
                  <a:lnTo>
                    <a:pt x="10249281" y="6588887"/>
                  </a:lnTo>
                  <a:lnTo>
                    <a:pt x="0" y="6588887"/>
                  </a:lnTo>
                  <a:lnTo>
                    <a:pt x="0" y="0"/>
                  </a:lnTo>
                  <a:close/>
                </a:path>
              </a:pathLst>
            </a:custGeom>
            <a:blipFill>
              <a:blip r:embed="rId3"/>
              <a:stretch>
                <a:fillRect l="0" t="0" r="0" b="0"/>
              </a:stretch>
            </a:blipFill>
          </p:spPr>
        </p:sp>
      </p:grpSp>
      <p:sp>
        <p:nvSpPr>
          <p:cNvPr name="AutoShape 4" id="4"/>
          <p:cNvSpPr/>
          <p:nvPr/>
        </p:nvSpPr>
        <p:spPr>
          <a:xfrm>
            <a:off x="815827" y="9406452"/>
            <a:ext cx="16668934" cy="14255"/>
          </a:xfrm>
          <a:prstGeom prst="line">
            <a:avLst/>
          </a:prstGeom>
          <a:ln cap="rnd" w="19050">
            <a:solidFill>
              <a:srgbClr val="C7C4C3"/>
            </a:solidFill>
            <a:prstDash val="solid"/>
            <a:headEnd type="none" len="sm" w="sm"/>
            <a:tailEnd type="none" len="sm" w="sm"/>
          </a:ln>
        </p:spPr>
      </p:sp>
      <p:grpSp>
        <p:nvGrpSpPr>
          <p:cNvPr name="Group 5" id="5"/>
          <p:cNvGrpSpPr/>
          <p:nvPr/>
        </p:nvGrpSpPr>
        <p:grpSpPr>
          <a:xfrm rot="0">
            <a:off x="814069" y="1784471"/>
            <a:ext cx="7113251" cy="901549"/>
            <a:chOff x="0" y="0"/>
            <a:chExt cx="9484334" cy="1202066"/>
          </a:xfrm>
        </p:grpSpPr>
        <p:sp>
          <p:nvSpPr>
            <p:cNvPr name="Freeform 6" id="6"/>
            <p:cNvSpPr/>
            <p:nvPr/>
          </p:nvSpPr>
          <p:spPr>
            <a:xfrm flipH="false" flipV="false" rot="0">
              <a:off x="0" y="0"/>
              <a:ext cx="9484373" cy="1202066"/>
            </a:xfrm>
            <a:custGeom>
              <a:avLst/>
              <a:gdLst/>
              <a:ahLst/>
              <a:cxnLst/>
              <a:rect r="r" b="b" t="t" l="l"/>
              <a:pathLst>
                <a:path h="1202066" w="9484373">
                  <a:moveTo>
                    <a:pt x="98352" y="0"/>
                  </a:moveTo>
                  <a:lnTo>
                    <a:pt x="9386021" y="0"/>
                  </a:lnTo>
                  <a:cubicBezTo>
                    <a:pt x="9440339" y="0"/>
                    <a:pt x="9484373" y="44034"/>
                    <a:pt x="9484373" y="98352"/>
                  </a:cubicBezTo>
                  <a:lnTo>
                    <a:pt x="9484373" y="1103714"/>
                  </a:lnTo>
                  <a:cubicBezTo>
                    <a:pt x="9484373" y="1158032"/>
                    <a:pt x="9440339" y="1202066"/>
                    <a:pt x="9386021" y="1202066"/>
                  </a:cubicBezTo>
                  <a:lnTo>
                    <a:pt x="98352" y="1202066"/>
                  </a:lnTo>
                  <a:cubicBezTo>
                    <a:pt x="44034" y="1202066"/>
                    <a:pt x="0" y="1158032"/>
                    <a:pt x="0" y="1103714"/>
                  </a:cubicBezTo>
                  <a:lnTo>
                    <a:pt x="0" y="98352"/>
                  </a:lnTo>
                  <a:cubicBezTo>
                    <a:pt x="0" y="44034"/>
                    <a:pt x="44034" y="0"/>
                    <a:pt x="98352" y="0"/>
                  </a:cubicBezTo>
                  <a:close/>
                </a:path>
              </a:pathLst>
            </a:custGeom>
            <a:solidFill>
              <a:srgbClr val="D9D4CF">
                <a:alpha val="50980"/>
              </a:srgbClr>
            </a:solidFill>
          </p:spPr>
        </p:sp>
      </p:grpSp>
      <p:sp>
        <p:nvSpPr>
          <p:cNvPr name="AutoShape 7" id="7"/>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8" id="8"/>
          <p:cNvGrpSpPr/>
          <p:nvPr/>
        </p:nvGrpSpPr>
        <p:grpSpPr>
          <a:xfrm rot="0">
            <a:off x="822960" y="459105"/>
            <a:ext cx="10048408" cy="617220"/>
            <a:chOff x="0" y="0"/>
            <a:chExt cx="13397877" cy="822960"/>
          </a:xfrm>
        </p:grpSpPr>
        <p:sp>
          <p:nvSpPr>
            <p:cNvPr name="Freeform 9" id="9"/>
            <p:cNvSpPr/>
            <p:nvPr/>
          </p:nvSpPr>
          <p:spPr>
            <a:xfrm flipH="false" flipV="false" rot="0">
              <a:off x="0" y="0"/>
              <a:ext cx="13397877" cy="822960"/>
            </a:xfrm>
            <a:custGeom>
              <a:avLst/>
              <a:gdLst/>
              <a:ahLst/>
              <a:cxnLst/>
              <a:rect r="r" b="b" t="t" l="l"/>
              <a:pathLst>
                <a:path h="822960" w="13397877">
                  <a:moveTo>
                    <a:pt x="0" y="0"/>
                  </a:moveTo>
                  <a:lnTo>
                    <a:pt x="13397877" y="0"/>
                  </a:lnTo>
                  <a:lnTo>
                    <a:pt x="13397877" y="822960"/>
                  </a:lnTo>
                  <a:lnTo>
                    <a:pt x="0" y="822960"/>
                  </a:lnTo>
                  <a:close/>
                </a:path>
              </a:pathLst>
            </a:custGeom>
            <a:blipFill>
              <a:blip r:embed="rId4">
                <a:alphaModFix amt="0"/>
              </a:blip>
              <a:stretch>
                <a:fillRect l="0" t="-209800" r="18100" b="-209800"/>
              </a:stretch>
            </a:blipFill>
          </p:spPr>
        </p:sp>
        <p:sp>
          <p:nvSpPr>
            <p:cNvPr name="TextBox 10" id="10"/>
            <p:cNvSpPr txBox="true"/>
            <p:nvPr/>
          </p:nvSpPr>
          <p:spPr>
            <a:xfrm>
              <a:off x="0" y="0"/>
              <a:ext cx="13397877"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Strong and weak Allee effects</a:t>
              </a:r>
            </a:p>
          </p:txBody>
        </p:sp>
      </p:grpSp>
      <p:sp>
        <p:nvSpPr>
          <p:cNvPr name="Freeform 11" id="11"/>
          <p:cNvSpPr/>
          <p:nvPr/>
        </p:nvSpPr>
        <p:spPr>
          <a:xfrm flipH="false" flipV="false" rot="0">
            <a:off x="9957800" y="1843656"/>
            <a:ext cx="6532645" cy="4384926"/>
          </a:xfrm>
          <a:custGeom>
            <a:avLst/>
            <a:gdLst/>
            <a:ahLst/>
            <a:cxnLst/>
            <a:rect r="r" b="b" t="t" l="l"/>
            <a:pathLst>
              <a:path h="4384926" w="6532645">
                <a:moveTo>
                  <a:pt x="0" y="0"/>
                </a:moveTo>
                <a:lnTo>
                  <a:pt x="6532645" y="0"/>
                </a:lnTo>
                <a:lnTo>
                  <a:pt x="6532645" y="4384927"/>
                </a:lnTo>
                <a:lnTo>
                  <a:pt x="0" y="4384927"/>
                </a:lnTo>
                <a:lnTo>
                  <a:pt x="0" y="0"/>
                </a:lnTo>
                <a:close/>
              </a:path>
            </a:pathLst>
          </a:custGeom>
          <a:blipFill>
            <a:blip r:embed="rId5"/>
            <a:stretch>
              <a:fillRect l="0" t="0" r="0" b="0"/>
            </a:stretch>
          </a:blipFill>
        </p:spPr>
      </p:sp>
      <p:sp>
        <p:nvSpPr>
          <p:cNvPr name="TextBox 12" id="12"/>
          <p:cNvSpPr txBox="true"/>
          <p:nvPr/>
        </p:nvSpPr>
        <p:spPr>
          <a:xfrm rot="0">
            <a:off x="4392549" y="8383800"/>
            <a:ext cx="4118019" cy="411804"/>
          </a:xfrm>
          <a:prstGeom prst="rect">
            <a:avLst/>
          </a:prstGeom>
        </p:spPr>
        <p:txBody>
          <a:bodyPr anchor="t" rtlCol="false" tIns="0" lIns="0" bIns="0" rIns="0">
            <a:spAutoFit/>
          </a:bodyPr>
          <a:lstStyle/>
          <a:p>
            <a:pPr algn="r">
              <a:lnSpc>
                <a:spcPts val="2521"/>
              </a:lnSpc>
            </a:pPr>
            <a:r>
              <a:rPr lang="en-US" sz="2101">
                <a:solidFill>
                  <a:srgbClr val="717C7A"/>
                </a:solidFill>
                <a:latin typeface="Inter"/>
                <a:ea typeface="Inter"/>
                <a:cs typeface="Inter"/>
                <a:sym typeface="Inter"/>
              </a:rPr>
              <a:t>Time →</a:t>
            </a:r>
          </a:p>
        </p:txBody>
      </p:sp>
      <p:sp>
        <p:nvSpPr>
          <p:cNvPr name="TextBox 13" id="13"/>
          <p:cNvSpPr txBox="true"/>
          <p:nvPr/>
        </p:nvSpPr>
        <p:spPr>
          <a:xfrm rot="0">
            <a:off x="9957800" y="6869422"/>
            <a:ext cx="7869526" cy="457200"/>
          </a:xfrm>
          <a:prstGeom prst="rect">
            <a:avLst/>
          </a:prstGeom>
        </p:spPr>
        <p:txBody>
          <a:bodyPr anchor="t" rtlCol="false" tIns="0" lIns="0" bIns="0" rIns="0">
            <a:spAutoFit/>
          </a:bodyPr>
          <a:lstStyle/>
          <a:p>
            <a:pPr algn="l">
              <a:lnSpc>
                <a:spcPts val="3600"/>
              </a:lnSpc>
            </a:pPr>
            <a:r>
              <a:rPr lang="en-US" sz="3000">
                <a:solidFill>
                  <a:srgbClr val="232E2D"/>
                </a:solidFill>
                <a:latin typeface="Inter"/>
                <a:ea typeface="Inter"/>
                <a:cs typeface="Inter"/>
                <a:sym typeface="Inter"/>
              </a:rPr>
              <a:t>Flour beetle</a:t>
            </a:r>
          </a:p>
        </p:txBody>
      </p:sp>
      <p:sp>
        <p:nvSpPr>
          <p:cNvPr name="TextBox 14" id="14"/>
          <p:cNvSpPr txBox="true"/>
          <p:nvPr/>
        </p:nvSpPr>
        <p:spPr>
          <a:xfrm rot="0">
            <a:off x="9962883" y="7552458"/>
            <a:ext cx="7258174" cy="1057275"/>
          </a:xfrm>
          <a:prstGeom prst="rect">
            <a:avLst/>
          </a:prstGeom>
        </p:spPr>
        <p:txBody>
          <a:bodyPr anchor="t" rtlCol="false" tIns="0" lIns="0" bIns="0" rIns="0">
            <a:spAutoFit/>
          </a:bodyPr>
          <a:lstStyle/>
          <a:p>
            <a:pPr algn="l" marL="0" indent="0" lvl="0">
              <a:lnSpc>
                <a:spcPts val="2775"/>
              </a:lnSpc>
              <a:spcBef>
                <a:spcPct val="0"/>
              </a:spcBef>
            </a:pPr>
            <a:r>
              <a:rPr lang="en-US" sz="2500">
                <a:solidFill>
                  <a:srgbClr val="717C7A"/>
                </a:solidFill>
                <a:latin typeface="Inter"/>
                <a:ea typeface="Inter"/>
                <a:cs typeface="Inter"/>
                <a:sym typeface="Inter"/>
              </a:rPr>
              <a:t>Offspr</a:t>
            </a:r>
            <a:r>
              <a:rPr lang="en-US" sz="2500" strike="noStrike" u="none">
                <a:solidFill>
                  <a:srgbClr val="717C7A"/>
                </a:solidFill>
                <a:latin typeface="Inter"/>
                <a:ea typeface="Inter"/>
                <a:cs typeface="Inter"/>
                <a:sym typeface="Inter"/>
              </a:rPr>
              <a:t>ing </a:t>
            </a:r>
            <a:r>
              <a:rPr lang="en-US" sz="2500" strike="noStrike" u="none">
                <a:solidFill>
                  <a:srgbClr val="717C7A"/>
                </a:solidFill>
                <a:latin typeface="Inter"/>
                <a:ea typeface="Inter"/>
                <a:cs typeface="Inter"/>
                <a:sym typeface="Inter"/>
              </a:rPr>
              <a:t>p</a:t>
            </a:r>
            <a:r>
              <a:rPr lang="en-US" sz="2500" strike="noStrike" u="none">
                <a:solidFill>
                  <a:srgbClr val="717C7A"/>
                </a:solidFill>
                <a:latin typeface="Inter"/>
                <a:ea typeface="Inter"/>
                <a:cs typeface="Inter"/>
                <a:sym typeface="Inter"/>
              </a:rPr>
              <a:t>er female rise with density</a:t>
            </a:r>
            <a:r>
              <a:rPr lang="en-US" sz="2500" strike="noStrike" u="none">
                <a:solidFill>
                  <a:srgbClr val="717C7A"/>
                </a:solidFill>
                <a:latin typeface="Inter"/>
                <a:ea typeface="Inter"/>
                <a:cs typeface="Inter"/>
                <a:sym typeface="Inter"/>
              </a:rPr>
              <a:t>:</a:t>
            </a:r>
            <a:r>
              <a:rPr lang="en-US" sz="2500" strike="noStrike" u="none">
                <a:solidFill>
                  <a:srgbClr val="717C7A"/>
                </a:solidFill>
                <a:latin typeface="Inter"/>
                <a:ea typeface="Inter"/>
                <a:cs typeface="Inter"/>
                <a:sym typeface="Inter"/>
              </a:rPr>
              <a:t> </a:t>
            </a:r>
            <a:r>
              <a:rPr lang="en-US" sz="2500" strike="noStrike" u="none">
                <a:solidFill>
                  <a:srgbClr val="717C7A"/>
                </a:solidFill>
                <a:latin typeface="Inter"/>
                <a:ea typeface="Inter"/>
                <a:cs typeface="Inter"/>
                <a:sym typeface="Inter"/>
              </a:rPr>
              <a:t>a</a:t>
            </a:r>
            <a:r>
              <a:rPr lang="en-US" sz="2500" strike="noStrike" u="none">
                <a:solidFill>
                  <a:srgbClr val="717C7A"/>
                </a:solidFill>
                <a:latin typeface="Inter"/>
                <a:ea typeface="Inter"/>
                <a:cs typeface="Inter"/>
                <a:sym typeface="Inter"/>
              </a:rPr>
              <a:t> co</a:t>
            </a:r>
            <a:r>
              <a:rPr lang="en-US" sz="2500" strike="noStrike" u="none">
                <a:solidFill>
                  <a:srgbClr val="717C7A"/>
                </a:solidFill>
                <a:latin typeface="Inter"/>
                <a:ea typeface="Inter"/>
                <a:cs typeface="Inter"/>
                <a:sym typeface="Inter"/>
              </a:rPr>
              <a:t>mponen</a:t>
            </a:r>
            <a:r>
              <a:rPr lang="en-US" sz="2500" strike="noStrike" u="none">
                <a:solidFill>
                  <a:srgbClr val="717C7A"/>
                </a:solidFill>
                <a:latin typeface="Inter"/>
                <a:ea typeface="Inter"/>
                <a:cs typeface="Inter"/>
                <a:sym typeface="Inter"/>
              </a:rPr>
              <a:t>t </a:t>
            </a:r>
            <a:r>
              <a:rPr lang="en-US" sz="2500" strike="noStrike" u="none">
                <a:solidFill>
                  <a:srgbClr val="717C7A"/>
                </a:solidFill>
                <a:latin typeface="Inter"/>
                <a:ea typeface="Inter"/>
                <a:cs typeface="Inter"/>
                <a:sym typeface="Inter"/>
              </a:rPr>
              <a:t>eff</a:t>
            </a:r>
            <a:r>
              <a:rPr lang="en-US" sz="2500" strike="noStrike" u="none">
                <a:solidFill>
                  <a:srgbClr val="717C7A"/>
                </a:solidFill>
                <a:latin typeface="Inter"/>
                <a:ea typeface="Inter"/>
                <a:cs typeface="Inter"/>
                <a:sym typeface="Inter"/>
              </a:rPr>
              <a:t>ect th</a:t>
            </a:r>
            <a:r>
              <a:rPr lang="en-US" sz="2500" strike="noStrike" u="none">
                <a:solidFill>
                  <a:srgbClr val="717C7A"/>
                </a:solidFill>
                <a:latin typeface="Inter"/>
                <a:ea typeface="Inter"/>
                <a:cs typeface="Inter"/>
                <a:sym typeface="Inter"/>
              </a:rPr>
              <a:t>at</a:t>
            </a:r>
            <a:r>
              <a:rPr lang="en-US" sz="2500" strike="noStrike" u="none">
                <a:solidFill>
                  <a:srgbClr val="717C7A"/>
                </a:solidFill>
                <a:latin typeface="Inter"/>
                <a:ea typeface="Inter"/>
                <a:cs typeface="Inter"/>
                <a:sym typeface="Inter"/>
              </a:rPr>
              <a:t> can add up to a weak Allee effect.</a:t>
            </a:r>
          </a:p>
        </p:txBody>
      </p:sp>
      <p:sp>
        <p:nvSpPr>
          <p:cNvPr name="TextBox 15" id="15"/>
          <p:cNvSpPr txBox="true"/>
          <p:nvPr/>
        </p:nvSpPr>
        <p:spPr>
          <a:xfrm rot="0">
            <a:off x="1099218" y="2033525"/>
            <a:ext cx="7154790" cy="390525"/>
          </a:xfrm>
          <a:prstGeom prst="rect">
            <a:avLst/>
          </a:prstGeom>
        </p:spPr>
        <p:txBody>
          <a:bodyPr anchor="t" rtlCol="false" tIns="0" lIns="0" bIns="0" rIns="0">
            <a:spAutoFit/>
          </a:bodyPr>
          <a:lstStyle/>
          <a:p>
            <a:pPr algn="l">
              <a:lnSpc>
                <a:spcPts val="3119"/>
              </a:lnSpc>
            </a:pPr>
            <a:r>
              <a:rPr lang="en-US" sz="2599">
                <a:solidFill>
                  <a:srgbClr val="232E2D"/>
                </a:solidFill>
                <a:latin typeface="Inter"/>
                <a:ea typeface="Inter"/>
                <a:cs typeface="Inter"/>
                <a:sym typeface="Inter"/>
              </a:rPr>
              <a:t>Weak: s</a:t>
            </a:r>
            <a:r>
              <a:rPr lang="en-US" sz="2599">
                <a:solidFill>
                  <a:srgbClr val="232E2D"/>
                </a:solidFill>
                <a:latin typeface="Inter"/>
                <a:ea typeface="Inter"/>
                <a:cs typeface="Inter"/>
                <a:sym typeface="Inter"/>
              </a:rPr>
              <a:t>mall populations grow more slowly</a:t>
            </a:r>
          </a:p>
        </p:txBody>
      </p:sp>
      <p:sp>
        <p:nvSpPr>
          <p:cNvPr name="TextBox 16" id="16"/>
          <p:cNvSpPr txBox="true"/>
          <p:nvPr/>
        </p:nvSpPr>
        <p:spPr>
          <a:xfrm rot="0">
            <a:off x="1028700" y="3444814"/>
            <a:ext cx="2059010" cy="31432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Population size</a:t>
            </a:r>
          </a:p>
        </p:txBody>
      </p:sp>
      <p:sp>
        <p:nvSpPr>
          <p:cNvPr name="TextBox 17" id="17"/>
          <p:cNvSpPr txBox="true"/>
          <p:nvPr/>
        </p:nvSpPr>
        <p:spPr>
          <a:xfrm rot="0">
            <a:off x="822978" y="9579419"/>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Schematic after Drake &amp; Kramer 2011; flour beetles: Allee 1938, in Courchamp et al. 1999. Drawn with AI assistance (Claude)</a:t>
            </a:r>
          </a:p>
        </p:txBody>
      </p:sp>
      <p:sp>
        <p:nvSpPr>
          <p:cNvPr name="TextBox 18" id="18"/>
          <p:cNvSpPr txBox="true"/>
          <p:nvPr/>
        </p:nvSpPr>
        <p:spPr>
          <a:xfrm rot="0">
            <a:off x="823608" y="8647833"/>
            <a:ext cx="6177029" cy="549069"/>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Each line: one population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TextBox 2" id="2"/>
          <p:cNvSpPr txBox="true"/>
          <p:nvPr/>
        </p:nvSpPr>
        <p:spPr>
          <a:xfrm rot="0">
            <a:off x="9831870" y="3442183"/>
            <a:ext cx="4118019" cy="411804"/>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Population size</a:t>
            </a:r>
          </a:p>
        </p:txBody>
      </p:sp>
      <p:grpSp>
        <p:nvGrpSpPr>
          <p:cNvPr name="Group 3" id="3"/>
          <p:cNvGrpSpPr/>
          <p:nvPr/>
        </p:nvGrpSpPr>
        <p:grpSpPr>
          <a:xfrm rot="0">
            <a:off x="9608706" y="3601977"/>
            <a:ext cx="7686961" cy="4941618"/>
            <a:chOff x="0" y="0"/>
            <a:chExt cx="10249281" cy="6588823"/>
          </a:xfrm>
        </p:grpSpPr>
        <p:sp>
          <p:nvSpPr>
            <p:cNvPr name="Freeform 4" id="4" descr="fan-strong.png"/>
            <p:cNvSpPr/>
            <p:nvPr/>
          </p:nvSpPr>
          <p:spPr>
            <a:xfrm flipH="false" flipV="false" rot="0">
              <a:off x="0" y="0"/>
              <a:ext cx="10249281" cy="6588887"/>
            </a:xfrm>
            <a:custGeom>
              <a:avLst/>
              <a:gdLst/>
              <a:ahLst/>
              <a:cxnLst/>
              <a:rect r="r" b="b" t="t" l="l"/>
              <a:pathLst>
                <a:path h="6588887" w="10249281">
                  <a:moveTo>
                    <a:pt x="0" y="0"/>
                  </a:moveTo>
                  <a:lnTo>
                    <a:pt x="10249281" y="0"/>
                  </a:lnTo>
                  <a:lnTo>
                    <a:pt x="10249281" y="6588887"/>
                  </a:lnTo>
                  <a:lnTo>
                    <a:pt x="0" y="6588887"/>
                  </a:lnTo>
                  <a:lnTo>
                    <a:pt x="0" y="0"/>
                  </a:lnTo>
                  <a:close/>
                </a:path>
              </a:pathLst>
            </a:custGeom>
            <a:blipFill>
              <a:blip r:embed="rId3"/>
              <a:stretch>
                <a:fillRect l="0" t="0" r="0" b="0"/>
              </a:stretch>
            </a:blipFill>
          </p:spPr>
        </p:sp>
      </p:grpSp>
      <p:sp>
        <p:nvSpPr>
          <p:cNvPr name="TextBox 5" id="5"/>
          <p:cNvSpPr txBox="true"/>
          <p:nvPr/>
        </p:nvSpPr>
        <p:spPr>
          <a:xfrm rot="0">
            <a:off x="14275794" y="6649014"/>
            <a:ext cx="3019882" cy="314325"/>
          </a:xfrm>
          <a:prstGeom prst="rect">
            <a:avLst/>
          </a:prstGeom>
        </p:spPr>
        <p:txBody>
          <a:bodyPr anchor="t" rtlCol="false" tIns="0" lIns="0" bIns="0" rIns="0">
            <a:spAutoFit/>
          </a:bodyPr>
          <a:lstStyle/>
          <a:p>
            <a:pPr algn="r">
              <a:lnSpc>
                <a:spcPts val="2521"/>
              </a:lnSpc>
            </a:pPr>
            <a:r>
              <a:rPr lang="en-US" sz="2101">
                <a:solidFill>
                  <a:srgbClr val="232E2D"/>
                </a:solidFill>
                <a:latin typeface="Inter"/>
                <a:ea typeface="Inter"/>
                <a:cs typeface="Inter"/>
                <a:sym typeface="Inter"/>
              </a:rPr>
              <a:t>Threshold</a:t>
            </a:r>
          </a:p>
        </p:txBody>
      </p:sp>
      <p:sp>
        <p:nvSpPr>
          <p:cNvPr name="TextBox 6" id="6"/>
          <p:cNvSpPr txBox="true"/>
          <p:nvPr/>
        </p:nvSpPr>
        <p:spPr>
          <a:xfrm rot="0">
            <a:off x="13177657" y="8337692"/>
            <a:ext cx="4118019" cy="411804"/>
          </a:xfrm>
          <a:prstGeom prst="rect">
            <a:avLst/>
          </a:prstGeom>
        </p:spPr>
        <p:txBody>
          <a:bodyPr anchor="t" rtlCol="false" tIns="0" lIns="0" bIns="0" rIns="0">
            <a:spAutoFit/>
          </a:bodyPr>
          <a:lstStyle/>
          <a:p>
            <a:pPr algn="r">
              <a:lnSpc>
                <a:spcPts val="2521"/>
              </a:lnSpc>
            </a:pPr>
            <a:r>
              <a:rPr lang="en-US" sz="2101">
                <a:solidFill>
                  <a:srgbClr val="717C7A"/>
                </a:solidFill>
                <a:latin typeface="Inter"/>
                <a:ea typeface="Inter"/>
                <a:cs typeface="Inter"/>
                <a:sym typeface="Inter"/>
              </a:rPr>
              <a:t>Time →</a:t>
            </a:r>
          </a:p>
        </p:txBody>
      </p:sp>
      <p:sp>
        <p:nvSpPr>
          <p:cNvPr name="TextBox 7" id="7"/>
          <p:cNvSpPr txBox="true"/>
          <p:nvPr/>
        </p:nvSpPr>
        <p:spPr>
          <a:xfrm rot="0">
            <a:off x="1028700" y="3444814"/>
            <a:ext cx="2059010" cy="314325"/>
          </a:xfrm>
          <a:prstGeom prst="rect">
            <a:avLst/>
          </a:prstGeom>
        </p:spPr>
        <p:txBody>
          <a:bodyPr anchor="t" rtlCol="false" tIns="0" lIns="0" bIns="0" rIns="0">
            <a:spAutoFit/>
          </a:bodyPr>
          <a:lstStyle/>
          <a:p>
            <a:pPr algn="l">
              <a:lnSpc>
                <a:spcPts val="2521"/>
              </a:lnSpc>
            </a:pPr>
            <a:r>
              <a:rPr lang="en-US" sz="2101">
                <a:solidFill>
                  <a:srgbClr val="717C7A">
                    <a:alpha val="26667"/>
                  </a:srgbClr>
                </a:solidFill>
                <a:latin typeface="Inter"/>
                <a:ea typeface="Inter"/>
                <a:cs typeface="Inter"/>
                <a:sym typeface="Inter"/>
              </a:rPr>
              <a:t>Population size</a:t>
            </a:r>
          </a:p>
        </p:txBody>
      </p:sp>
      <p:grpSp>
        <p:nvGrpSpPr>
          <p:cNvPr name="Group 8" id="8"/>
          <p:cNvGrpSpPr/>
          <p:nvPr/>
        </p:nvGrpSpPr>
        <p:grpSpPr>
          <a:xfrm rot="0">
            <a:off x="823608" y="3648085"/>
            <a:ext cx="7686961" cy="4941618"/>
            <a:chOff x="0" y="0"/>
            <a:chExt cx="10249281" cy="6588823"/>
          </a:xfrm>
        </p:grpSpPr>
        <p:sp>
          <p:nvSpPr>
            <p:cNvPr name="Freeform 9" id="9" descr="fan-weak.png"/>
            <p:cNvSpPr/>
            <p:nvPr/>
          </p:nvSpPr>
          <p:spPr>
            <a:xfrm flipH="false" flipV="false" rot="0">
              <a:off x="0" y="0"/>
              <a:ext cx="10249281" cy="6588887"/>
            </a:xfrm>
            <a:custGeom>
              <a:avLst/>
              <a:gdLst/>
              <a:ahLst/>
              <a:cxnLst/>
              <a:rect r="r" b="b" t="t" l="l"/>
              <a:pathLst>
                <a:path h="6588887" w="10249281">
                  <a:moveTo>
                    <a:pt x="0" y="0"/>
                  </a:moveTo>
                  <a:lnTo>
                    <a:pt x="10249281" y="0"/>
                  </a:lnTo>
                  <a:lnTo>
                    <a:pt x="10249281" y="6588887"/>
                  </a:lnTo>
                  <a:lnTo>
                    <a:pt x="0" y="6588887"/>
                  </a:lnTo>
                  <a:lnTo>
                    <a:pt x="0" y="0"/>
                  </a:lnTo>
                  <a:close/>
                </a:path>
              </a:pathLst>
            </a:custGeom>
            <a:blipFill>
              <a:blip r:embed="rId4">
                <a:alphaModFix amt="27000"/>
              </a:blip>
              <a:stretch>
                <a:fillRect l="0" t="0" r="0" b="0"/>
              </a:stretch>
            </a:blipFill>
          </p:spPr>
        </p:sp>
      </p:grpSp>
      <p:sp>
        <p:nvSpPr>
          <p:cNvPr name="TextBox 10" id="10"/>
          <p:cNvSpPr txBox="true"/>
          <p:nvPr/>
        </p:nvSpPr>
        <p:spPr>
          <a:xfrm rot="0">
            <a:off x="4392549" y="8383800"/>
            <a:ext cx="4118019" cy="411804"/>
          </a:xfrm>
          <a:prstGeom prst="rect">
            <a:avLst/>
          </a:prstGeom>
        </p:spPr>
        <p:txBody>
          <a:bodyPr anchor="t" rtlCol="false" tIns="0" lIns="0" bIns="0" rIns="0">
            <a:spAutoFit/>
          </a:bodyPr>
          <a:lstStyle/>
          <a:p>
            <a:pPr algn="r">
              <a:lnSpc>
                <a:spcPts val="2521"/>
              </a:lnSpc>
            </a:pPr>
            <a:r>
              <a:rPr lang="en-US" sz="2101">
                <a:solidFill>
                  <a:srgbClr val="717C7A">
                    <a:alpha val="26667"/>
                  </a:srgbClr>
                </a:solidFill>
                <a:latin typeface="Inter"/>
                <a:ea typeface="Inter"/>
                <a:cs typeface="Inter"/>
                <a:sym typeface="Inter"/>
              </a:rPr>
              <a:t>Time →</a:t>
            </a:r>
          </a:p>
        </p:txBody>
      </p:sp>
      <p:sp>
        <p:nvSpPr>
          <p:cNvPr name="TextBox 11" id="11"/>
          <p:cNvSpPr txBox="true"/>
          <p:nvPr/>
        </p:nvSpPr>
        <p:spPr>
          <a:xfrm rot="0">
            <a:off x="14239418" y="7727568"/>
            <a:ext cx="3019882" cy="314325"/>
          </a:xfrm>
          <a:prstGeom prst="rect">
            <a:avLst/>
          </a:prstGeom>
        </p:spPr>
        <p:txBody>
          <a:bodyPr anchor="t" rtlCol="false" tIns="0" lIns="0" bIns="0" rIns="0">
            <a:spAutoFit/>
          </a:bodyPr>
          <a:lstStyle/>
          <a:p>
            <a:pPr algn="r">
              <a:lnSpc>
                <a:spcPts val="2521"/>
              </a:lnSpc>
            </a:pPr>
            <a:r>
              <a:rPr lang="en-US" sz="2101">
                <a:solidFill>
                  <a:srgbClr val="232E2D"/>
                </a:solidFill>
                <a:latin typeface="Inter"/>
                <a:ea typeface="Inter"/>
                <a:cs typeface="Inter"/>
                <a:sym typeface="Inter"/>
              </a:rPr>
              <a:t>Extinct</a:t>
            </a:r>
          </a:p>
        </p:txBody>
      </p:sp>
      <p:sp>
        <p:nvSpPr>
          <p:cNvPr name="AutoShape 12" id="1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13" id="13"/>
          <p:cNvGrpSpPr/>
          <p:nvPr/>
        </p:nvGrpSpPr>
        <p:grpSpPr>
          <a:xfrm rot="0">
            <a:off x="822960" y="459105"/>
            <a:ext cx="10048408" cy="617220"/>
            <a:chOff x="0" y="0"/>
            <a:chExt cx="13397877" cy="822960"/>
          </a:xfrm>
        </p:grpSpPr>
        <p:sp>
          <p:nvSpPr>
            <p:cNvPr name="Freeform 14" id="14"/>
            <p:cNvSpPr/>
            <p:nvPr/>
          </p:nvSpPr>
          <p:spPr>
            <a:xfrm flipH="false" flipV="false" rot="0">
              <a:off x="0" y="0"/>
              <a:ext cx="13397877" cy="822960"/>
            </a:xfrm>
            <a:custGeom>
              <a:avLst/>
              <a:gdLst/>
              <a:ahLst/>
              <a:cxnLst/>
              <a:rect r="r" b="b" t="t" l="l"/>
              <a:pathLst>
                <a:path h="822960" w="13397877">
                  <a:moveTo>
                    <a:pt x="0" y="0"/>
                  </a:moveTo>
                  <a:lnTo>
                    <a:pt x="13397877" y="0"/>
                  </a:lnTo>
                  <a:lnTo>
                    <a:pt x="13397877" y="822960"/>
                  </a:lnTo>
                  <a:lnTo>
                    <a:pt x="0" y="822960"/>
                  </a:lnTo>
                  <a:close/>
                </a:path>
              </a:pathLst>
            </a:custGeom>
            <a:blipFill>
              <a:blip r:embed="rId5">
                <a:alphaModFix amt="0"/>
              </a:blip>
              <a:stretch>
                <a:fillRect l="0" t="-209800" r="18100" b="-209800"/>
              </a:stretch>
            </a:blipFill>
          </p:spPr>
        </p:sp>
        <p:sp>
          <p:nvSpPr>
            <p:cNvPr name="TextBox 15" id="15"/>
            <p:cNvSpPr txBox="true"/>
            <p:nvPr/>
          </p:nvSpPr>
          <p:spPr>
            <a:xfrm>
              <a:off x="0" y="0"/>
              <a:ext cx="13397877"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Strong and weak Allee effects</a:t>
              </a:r>
            </a:p>
          </p:txBody>
        </p:sp>
      </p:grpSp>
      <p:grpSp>
        <p:nvGrpSpPr>
          <p:cNvPr name="Group 16" id="16"/>
          <p:cNvGrpSpPr/>
          <p:nvPr/>
        </p:nvGrpSpPr>
        <p:grpSpPr>
          <a:xfrm rot="0">
            <a:off x="814069" y="1784471"/>
            <a:ext cx="7113251" cy="901549"/>
            <a:chOff x="0" y="0"/>
            <a:chExt cx="9484334" cy="1202066"/>
          </a:xfrm>
        </p:grpSpPr>
        <p:sp>
          <p:nvSpPr>
            <p:cNvPr name="Freeform 17" id="17"/>
            <p:cNvSpPr/>
            <p:nvPr/>
          </p:nvSpPr>
          <p:spPr>
            <a:xfrm flipH="false" flipV="false" rot="0">
              <a:off x="0" y="0"/>
              <a:ext cx="9484373" cy="1202066"/>
            </a:xfrm>
            <a:custGeom>
              <a:avLst/>
              <a:gdLst/>
              <a:ahLst/>
              <a:cxnLst/>
              <a:rect r="r" b="b" t="t" l="l"/>
              <a:pathLst>
                <a:path h="1202066" w="9484373">
                  <a:moveTo>
                    <a:pt x="98352" y="0"/>
                  </a:moveTo>
                  <a:lnTo>
                    <a:pt x="9386021" y="0"/>
                  </a:lnTo>
                  <a:cubicBezTo>
                    <a:pt x="9440339" y="0"/>
                    <a:pt x="9484373" y="44034"/>
                    <a:pt x="9484373" y="98352"/>
                  </a:cubicBezTo>
                  <a:lnTo>
                    <a:pt x="9484373" y="1103714"/>
                  </a:lnTo>
                  <a:cubicBezTo>
                    <a:pt x="9484373" y="1158032"/>
                    <a:pt x="9440339" y="1202066"/>
                    <a:pt x="9386021" y="1202066"/>
                  </a:cubicBezTo>
                  <a:lnTo>
                    <a:pt x="98352" y="1202066"/>
                  </a:lnTo>
                  <a:cubicBezTo>
                    <a:pt x="44034" y="1202066"/>
                    <a:pt x="0" y="1158032"/>
                    <a:pt x="0" y="1103714"/>
                  </a:cubicBezTo>
                  <a:lnTo>
                    <a:pt x="0" y="98352"/>
                  </a:lnTo>
                  <a:cubicBezTo>
                    <a:pt x="0" y="44034"/>
                    <a:pt x="44034" y="0"/>
                    <a:pt x="98352" y="0"/>
                  </a:cubicBezTo>
                  <a:close/>
                </a:path>
              </a:pathLst>
            </a:custGeom>
            <a:solidFill>
              <a:srgbClr val="D9D4CF">
                <a:alpha val="18039"/>
              </a:srgbClr>
            </a:solidFill>
          </p:spPr>
        </p:sp>
      </p:grpSp>
      <p:sp>
        <p:nvSpPr>
          <p:cNvPr name="TextBox 18" id="18"/>
          <p:cNvSpPr txBox="true"/>
          <p:nvPr/>
        </p:nvSpPr>
        <p:spPr>
          <a:xfrm rot="0">
            <a:off x="1099218" y="2033525"/>
            <a:ext cx="7154790" cy="390525"/>
          </a:xfrm>
          <a:prstGeom prst="rect">
            <a:avLst/>
          </a:prstGeom>
        </p:spPr>
        <p:txBody>
          <a:bodyPr anchor="t" rtlCol="false" tIns="0" lIns="0" bIns="0" rIns="0">
            <a:spAutoFit/>
          </a:bodyPr>
          <a:lstStyle/>
          <a:p>
            <a:pPr algn="l">
              <a:lnSpc>
                <a:spcPts val="3119"/>
              </a:lnSpc>
            </a:pPr>
            <a:r>
              <a:rPr lang="en-US" sz="2599">
                <a:solidFill>
                  <a:srgbClr val="232E2D">
                    <a:alpha val="35686"/>
                  </a:srgbClr>
                </a:solidFill>
                <a:latin typeface="Inter"/>
                <a:ea typeface="Inter"/>
                <a:cs typeface="Inter"/>
                <a:sym typeface="Inter"/>
              </a:rPr>
              <a:t>Weak: s</a:t>
            </a:r>
            <a:r>
              <a:rPr lang="en-US" sz="2599">
                <a:solidFill>
                  <a:srgbClr val="232E2D">
                    <a:alpha val="35686"/>
                  </a:srgbClr>
                </a:solidFill>
                <a:latin typeface="Inter"/>
                <a:ea typeface="Inter"/>
                <a:cs typeface="Inter"/>
                <a:sym typeface="Inter"/>
              </a:rPr>
              <a:t>mall populations grow more slowly</a:t>
            </a:r>
          </a:p>
        </p:txBody>
      </p:sp>
      <p:grpSp>
        <p:nvGrpSpPr>
          <p:cNvPr name="Group 19" id="19"/>
          <p:cNvGrpSpPr/>
          <p:nvPr/>
        </p:nvGrpSpPr>
        <p:grpSpPr>
          <a:xfrm rot="0">
            <a:off x="9831870" y="1784471"/>
            <a:ext cx="7874778" cy="901549"/>
            <a:chOff x="0" y="0"/>
            <a:chExt cx="10499703" cy="1202066"/>
          </a:xfrm>
        </p:grpSpPr>
        <p:sp>
          <p:nvSpPr>
            <p:cNvPr name="Freeform 20" id="20"/>
            <p:cNvSpPr/>
            <p:nvPr/>
          </p:nvSpPr>
          <p:spPr>
            <a:xfrm flipH="false" flipV="false" rot="0">
              <a:off x="0" y="0"/>
              <a:ext cx="10499742" cy="1202066"/>
            </a:xfrm>
            <a:custGeom>
              <a:avLst/>
              <a:gdLst/>
              <a:ahLst/>
              <a:cxnLst/>
              <a:rect r="r" b="b" t="t" l="l"/>
              <a:pathLst>
                <a:path h="1202066" w="10499742">
                  <a:moveTo>
                    <a:pt x="88841" y="0"/>
                  </a:moveTo>
                  <a:lnTo>
                    <a:pt x="10410901" y="0"/>
                  </a:lnTo>
                  <a:cubicBezTo>
                    <a:pt x="10459967" y="0"/>
                    <a:pt x="10499742" y="39775"/>
                    <a:pt x="10499742" y="88841"/>
                  </a:cubicBezTo>
                  <a:lnTo>
                    <a:pt x="10499742" y="1113225"/>
                  </a:lnTo>
                  <a:cubicBezTo>
                    <a:pt x="10499742" y="1162290"/>
                    <a:pt x="10459967" y="1202066"/>
                    <a:pt x="10410901" y="1202066"/>
                  </a:cubicBezTo>
                  <a:lnTo>
                    <a:pt x="88841" y="1202066"/>
                  </a:lnTo>
                  <a:cubicBezTo>
                    <a:pt x="39775" y="1202066"/>
                    <a:pt x="0" y="1162290"/>
                    <a:pt x="0" y="1113225"/>
                  </a:cubicBezTo>
                  <a:lnTo>
                    <a:pt x="0" y="88841"/>
                  </a:lnTo>
                  <a:cubicBezTo>
                    <a:pt x="0" y="39775"/>
                    <a:pt x="39775" y="0"/>
                    <a:pt x="88841" y="0"/>
                  </a:cubicBezTo>
                  <a:close/>
                </a:path>
              </a:pathLst>
            </a:custGeom>
            <a:solidFill>
              <a:srgbClr val="D9D4CF">
                <a:alpha val="50980"/>
              </a:srgbClr>
            </a:solidFill>
          </p:spPr>
        </p:sp>
      </p:grpSp>
      <p:sp>
        <p:nvSpPr>
          <p:cNvPr name="TextBox 21" id="21"/>
          <p:cNvSpPr txBox="true"/>
          <p:nvPr/>
        </p:nvSpPr>
        <p:spPr>
          <a:xfrm rot="0">
            <a:off x="10117018" y="2033525"/>
            <a:ext cx="7824011" cy="390525"/>
          </a:xfrm>
          <a:prstGeom prst="rect">
            <a:avLst/>
          </a:prstGeom>
        </p:spPr>
        <p:txBody>
          <a:bodyPr anchor="t" rtlCol="false" tIns="0" lIns="0" bIns="0" rIns="0">
            <a:spAutoFit/>
          </a:bodyPr>
          <a:lstStyle/>
          <a:p>
            <a:pPr algn="l">
              <a:lnSpc>
                <a:spcPts val="3119"/>
              </a:lnSpc>
            </a:pPr>
            <a:r>
              <a:rPr lang="en-US" sz="2599">
                <a:solidFill>
                  <a:srgbClr val="232E2D"/>
                </a:solidFill>
                <a:latin typeface="Inter"/>
                <a:ea typeface="Inter"/>
                <a:cs typeface="Inter"/>
                <a:sym typeface="Inter"/>
              </a:rPr>
              <a:t>Strong: be</a:t>
            </a:r>
            <a:r>
              <a:rPr lang="en-US" sz="2599">
                <a:solidFill>
                  <a:srgbClr val="232E2D"/>
                </a:solidFill>
                <a:latin typeface="Inter"/>
                <a:ea typeface="Inter"/>
                <a:cs typeface="Inter"/>
                <a:sym typeface="Inter"/>
              </a:rPr>
              <a:t>low threshold, more die than are born</a:t>
            </a:r>
          </a:p>
        </p:txBody>
      </p:sp>
      <p:sp>
        <p:nvSpPr>
          <p:cNvPr name="AutoShape 22" id="22"/>
          <p:cNvSpPr/>
          <p:nvPr/>
        </p:nvSpPr>
        <p:spPr>
          <a:xfrm>
            <a:off x="815827" y="9406452"/>
            <a:ext cx="16668934" cy="14255"/>
          </a:xfrm>
          <a:prstGeom prst="line">
            <a:avLst/>
          </a:prstGeom>
          <a:ln cap="rnd" w="19050">
            <a:solidFill>
              <a:srgbClr val="C7C4C3"/>
            </a:solidFill>
            <a:prstDash val="solid"/>
            <a:headEnd type="none" len="sm" w="sm"/>
            <a:tailEnd type="none" len="sm" w="sm"/>
          </a:ln>
        </p:spPr>
      </p:sp>
      <p:sp>
        <p:nvSpPr>
          <p:cNvPr name="TextBox 23" id="23"/>
          <p:cNvSpPr txBox="true"/>
          <p:nvPr/>
        </p:nvSpPr>
        <p:spPr>
          <a:xfrm rot="0">
            <a:off x="822978" y="9579419"/>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Schematic after Drake &amp; Kramer 2011; flour beetles: Allee 1938, in Courchamp et al. 1999. Drawn with AI assistance (Claude)</a:t>
            </a:r>
          </a:p>
        </p:txBody>
      </p:sp>
      <p:sp>
        <p:nvSpPr>
          <p:cNvPr name="TextBox 24" id="24"/>
          <p:cNvSpPr txBox="true"/>
          <p:nvPr/>
        </p:nvSpPr>
        <p:spPr>
          <a:xfrm rot="0">
            <a:off x="823608" y="8647833"/>
            <a:ext cx="6177029" cy="549069"/>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Each line: one population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295275" y="1902827"/>
            <a:ext cx="10157774" cy="5902490"/>
            <a:chOff x="0" y="0"/>
            <a:chExt cx="13543699" cy="7869987"/>
          </a:xfrm>
        </p:grpSpPr>
        <p:sp>
          <p:nvSpPr>
            <p:cNvPr name="Freeform 3" id="3" descr="gypsy.png"/>
            <p:cNvSpPr/>
            <p:nvPr/>
          </p:nvSpPr>
          <p:spPr>
            <a:xfrm flipH="false" flipV="false" rot="0">
              <a:off x="0" y="0"/>
              <a:ext cx="13543662" cy="7869936"/>
            </a:xfrm>
            <a:custGeom>
              <a:avLst/>
              <a:gdLst/>
              <a:ahLst/>
              <a:cxnLst/>
              <a:rect r="r" b="b" t="t" l="l"/>
              <a:pathLst>
                <a:path h="7869936" w="13543662">
                  <a:moveTo>
                    <a:pt x="0" y="0"/>
                  </a:moveTo>
                  <a:lnTo>
                    <a:pt x="13543662" y="0"/>
                  </a:lnTo>
                  <a:lnTo>
                    <a:pt x="13543662" y="7869936"/>
                  </a:lnTo>
                  <a:lnTo>
                    <a:pt x="0" y="7869936"/>
                  </a:lnTo>
                  <a:lnTo>
                    <a:pt x="0" y="0"/>
                  </a:lnTo>
                  <a:close/>
                </a:path>
              </a:pathLst>
            </a:custGeom>
            <a:blipFill>
              <a:blip r:embed="rId3"/>
              <a:stretch>
                <a:fillRect l="0" t="0" r="0" b="0"/>
              </a:stretch>
            </a:blipFill>
          </p:spPr>
        </p:sp>
      </p:grpSp>
      <p:grpSp>
        <p:nvGrpSpPr>
          <p:cNvPr name="Group 4" id="4"/>
          <p:cNvGrpSpPr/>
          <p:nvPr/>
        </p:nvGrpSpPr>
        <p:grpSpPr>
          <a:xfrm rot="0">
            <a:off x="11804980" y="1940927"/>
            <a:ext cx="5680412" cy="4524339"/>
            <a:chOff x="0" y="0"/>
            <a:chExt cx="7573882" cy="6032452"/>
          </a:xfrm>
        </p:grpSpPr>
        <p:sp>
          <p:nvSpPr>
            <p:cNvPr name="Freeform 5" id="5"/>
            <p:cNvSpPr/>
            <p:nvPr/>
          </p:nvSpPr>
          <p:spPr>
            <a:xfrm flipH="false" flipV="false" rot="0">
              <a:off x="0" y="0"/>
              <a:ext cx="7573921" cy="6032478"/>
            </a:xfrm>
            <a:custGeom>
              <a:avLst/>
              <a:gdLst/>
              <a:ahLst/>
              <a:cxnLst/>
              <a:rect r="r" b="b" t="t" l="l"/>
              <a:pathLst>
                <a:path h="6032478" w="7573921">
                  <a:moveTo>
                    <a:pt x="114156" y="0"/>
                  </a:moveTo>
                  <a:lnTo>
                    <a:pt x="7459765" y="0"/>
                  </a:lnTo>
                  <a:cubicBezTo>
                    <a:pt x="7490040" y="0"/>
                    <a:pt x="7519077" y="12027"/>
                    <a:pt x="7540485" y="33435"/>
                  </a:cubicBezTo>
                  <a:cubicBezTo>
                    <a:pt x="7561893" y="54844"/>
                    <a:pt x="7573921" y="83880"/>
                    <a:pt x="7573921" y="114156"/>
                  </a:cubicBezTo>
                  <a:lnTo>
                    <a:pt x="7573921" y="5918322"/>
                  </a:lnTo>
                  <a:cubicBezTo>
                    <a:pt x="7573921" y="5948598"/>
                    <a:pt x="7561893" y="5977634"/>
                    <a:pt x="7540485" y="5999042"/>
                  </a:cubicBezTo>
                  <a:cubicBezTo>
                    <a:pt x="7519077" y="6020450"/>
                    <a:pt x="7490040" y="6032478"/>
                    <a:pt x="7459765" y="6032478"/>
                  </a:cubicBezTo>
                  <a:lnTo>
                    <a:pt x="114156" y="6032478"/>
                  </a:lnTo>
                  <a:cubicBezTo>
                    <a:pt x="83880" y="6032478"/>
                    <a:pt x="54844" y="6020450"/>
                    <a:pt x="33435" y="5999042"/>
                  </a:cubicBezTo>
                  <a:cubicBezTo>
                    <a:pt x="12027" y="5977634"/>
                    <a:pt x="0" y="5948598"/>
                    <a:pt x="0" y="5918322"/>
                  </a:cubicBezTo>
                  <a:lnTo>
                    <a:pt x="0" y="114156"/>
                  </a:lnTo>
                  <a:cubicBezTo>
                    <a:pt x="0" y="83880"/>
                    <a:pt x="12027" y="54844"/>
                    <a:pt x="33435" y="33435"/>
                  </a:cubicBezTo>
                  <a:cubicBezTo>
                    <a:pt x="54844" y="12027"/>
                    <a:pt x="83880" y="0"/>
                    <a:pt x="114156" y="0"/>
                  </a:cubicBezTo>
                  <a:close/>
                </a:path>
              </a:pathLst>
            </a:custGeom>
            <a:blipFill>
              <a:blip r:embed="rId4"/>
              <a:stretch>
                <a:fillRect l="-3006" t="0" r="-29740" b="0"/>
              </a:stretch>
            </a:blipFill>
          </p:spPr>
        </p:sp>
      </p:grpSp>
      <p:sp>
        <p:nvSpPr>
          <p:cNvPr name="AutoShape 6" id="6"/>
          <p:cNvSpPr/>
          <p:nvPr/>
        </p:nvSpPr>
        <p:spPr>
          <a:xfrm>
            <a:off x="816457" y="9447362"/>
            <a:ext cx="16668934" cy="14255"/>
          </a:xfrm>
          <a:prstGeom prst="line">
            <a:avLst/>
          </a:prstGeom>
          <a:ln cap="rnd" w="9525">
            <a:solidFill>
              <a:srgbClr val="C7C4C3"/>
            </a:solidFill>
            <a:prstDash val="solid"/>
            <a:headEnd type="none" len="sm" w="sm"/>
            <a:tailEnd type="none" len="sm" w="sm"/>
          </a:ln>
        </p:spPr>
      </p:sp>
      <p:sp>
        <p:nvSpPr>
          <p:cNvPr name="TextBox 7" id="7"/>
          <p:cNvSpPr txBox="true"/>
          <p:nvPr/>
        </p:nvSpPr>
        <p:spPr>
          <a:xfrm rot="-5400000">
            <a:off x="-1325167" y="4421032"/>
            <a:ext cx="3631409" cy="31432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Growth per individual (log)</a:t>
            </a:r>
          </a:p>
        </p:txBody>
      </p:sp>
      <p:sp>
        <p:nvSpPr>
          <p:cNvPr name="TextBox 8" id="8"/>
          <p:cNvSpPr txBox="true"/>
          <p:nvPr/>
        </p:nvSpPr>
        <p:spPr>
          <a:xfrm rot="0">
            <a:off x="4028900" y="7748167"/>
            <a:ext cx="3321489" cy="314325"/>
          </a:xfrm>
          <a:prstGeom prst="rect">
            <a:avLst/>
          </a:prstGeom>
        </p:spPr>
        <p:txBody>
          <a:bodyPr anchor="t" rtlCol="false" tIns="0" lIns="0" bIns="0" rIns="0">
            <a:spAutoFit/>
          </a:bodyPr>
          <a:lstStyle/>
          <a:p>
            <a:pPr algn="r">
              <a:lnSpc>
                <a:spcPts val="2521"/>
              </a:lnSpc>
            </a:pPr>
            <a:r>
              <a:rPr lang="en-US" sz="2101">
                <a:solidFill>
                  <a:srgbClr val="717C7A"/>
                </a:solidFill>
                <a:latin typeface="Inter"/>
                <a:ea typeface="Inter"/>
                <a:cs typeface="Inter"/>
                <a:sym typeface="Inter"/>
              </a:rPr>
              <a:t>Males trapped per colony </a:t>
            </a:r>
          </a:p>
        </p:txBody>
      </p:sp>
      <p:sp>
        <p:nvSpPr>
          <p:cNvPr name="TextBox 9" id="9"/>
          <p:cNvSpPr txBox="true"/>
          <p:nvPr/>
        </p:nvSpPr>
        <p:spPr>
          <a:xfrm rot="0">
            <a:off x="1873429" y="2291583"/>
            <a:ext cx="4118019" cy="480431"/>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Shrinking colonies</a:t>
            </a:r>
          </a:p>
        </p:txBody>
      </p:sp>
      <p:sp>
        <p:nvSpPr>
          <p:cNvPr name="TextBox 10" id="10"/>
          <p:cNvSpPr txBox="true"/>
          <p:nvPr/>
        </p:nvSpPr>
        <p:spPr>
          <a:xfrm rot="0">
            <a:off x="5383687" y="5029439"/>
            <a:ext cx="1372676" cy="409575"/>
          </a:xfrm>
          <a:prstGeom prst="rect">
            <a:avLst/>
          </a:prstGeom>
        </p:spPr>
        <p:txBody>
          <a:bodyPr anchor="t" rtlCol="false" tIns="0" lIns="0" bIns="0" rIns="0">
            <a:spAutoFit/>
          </a:bodyPr>
          <a:lstStyle/>
          <a:p>
            <a:pPr algn="l">
              <a:lnSpc>
                <a:spcPts val="3242"/>
              </a:lnSpc>
            </a:pPr>
            <a:r>
              <a:rPr lang="en-US" sz="2702">
                <a:solidFill>
                  <a:srgbClr val="232E2D"/>
                </a:solidFill>
                <a:latin typeface="Inter"/>
                <a:ea typeface="Inter"/>
                <a:cs typeface="Inter"/>
                <a:sym typeface="Inter"/>
              </a:rPr>
              <a:t>≈107</a:t>
            </a:r>
          </a:p>
        </p:txBody>
      </p:sp>
      <p:sp>
        <p:nvSpPr>
          <p:cNvPr name="TextBox 11" id="11"/>
          <p:cNvSpPr txBox="true"/>
          <p:nvPr/>
        </p:nvSpPr>
        <p:spPr>
          <a:xfrm rot="0">
            <a:off x="11804980" y="6963737"/>
            <a:ext cx="7869526" cy="457200"/>
          </a:xfrm>
          <a:prstGeom prst="rect">
            <a:avLst/>
          </a:prstGeom>
        </p:spPr>
        <p:txBody>
          <a:bodyPr anchor="t" rtlCol="false" tIns="0" lIns="0" bIns="0" rIns="0">
            <a:spAutoFit/>
          </a:bodyPr>
          <a:lstStyle/>
          <a:p>
            <a:pPr algn="l">
              <a:lnSpc>
                <a:spcPts val="3600"/>
              </a:lnSpc>
            </a:pPr>
            <a:r>
              <a:rPr lang="en-US" sz="3000">
                <a:solidFill>
                  <a:srgbClr val="232E2D"/>
                </a:solidFill>
                <a:latin typeface="Inter"/>
                <a:ea typeface="Inter"/>
                <a:cs typeface="Inter"/>
                <a:sym typeface="Inter"/>
              </a:rPr>
              <a:t>Gypsy moth</a:t>
            </a:r>
          </a:p>
        </p:txBody>
      </p:sp>
      <p:sp>
        <p:nvSpPr>
          <p:cNvPr name="TextBox 12" id="12"/>
          <p:cNvSpPr txBox="true"/>
          <p:nvPr/>
        </p:nvSpPr>
        <p:spPr>
          <a:xfrm rot="0">
            <a:off x="11810063" y="7646773"/>
            <a:ext cx="5677707" cy="1057275"/>
          </a:xfrm>
          <a:prstGeom prst="rect">
            <a:avLst/>
          </a:prstGeom>
        </p:spPr>
        <p:txBody>
          <a:bodyPr anchor="t" rtlCol="false" tIns="0" lIns="0" bIns="0" rIns="0">
            <a:spAutoFit/>
          </a:bodyPr>
          <a:lstStyle/>
          <a:p>
            <a:pPr algn="l" marL="0" indent="0" lvl="0">
              <a:lnSpc>
                <a:spcPts val="2775"/>
              </a:lnSpc>
              <a:spcBef>
                <a:spcPct val="0"/>
              </a:spcBef>
            </a:pPr>
            <a:r>
              <a:rPr lang="en-US" sz="2500">
                <a:solidFill>
                  <a:srgbClr val="717C7A"/>
                </a:solidFill>
                <a:latin typeface="Inter"/>
                <a:ea typeface="Inter"/>
                <a:cs typeface="Inter"/>
                <a:sym typeface="Inter"/>
              </a:rPr>
              <a:t>Below</a:t>
            </a:r>
            <a:r>
              <a:rPr lang="en-US" sz="2500" strike="noStrike" u="none">
                <a:solidFill>
                  <a:srgbClr val="717C7A"/>
                </a:solidFill>
                <a:latin typeface="Inter"/>
                <a:ea typeface="Inter"/>
                <a:cs typeface="Inter"/>
                <a:sym typeface="Inter"/>
              </a:rPr>
              <a:t> </a:t>
            </a:r>
            <a:r>
              <a:rPr lang="en-US" sz="2500" strike="noStrike" u="none">
                <a:solidFill>
                  <a:srgbClr val="717C7A"/>
                </a:solidFill>
                <a:latin typeface="Inter"/>
                <a:ea typeface="Inter"/>
                <a:cs typeface="Inter"/>
                <a:sym typeface="Inter"/>
              </a:rPr>
              <a:t>≈107 mal</a:t>
            </a:r>
            <a:r>
              <a:rPr lang="en-US" sz="2500" strike="noStrike" u="none">
                <a:solidFill>
                  <a:srgbClr val="717C7A"/>
                </a:solidFill>
                <a:latin typeface="Inter"/>
                <a:ea typeface="Inter"/>
                <a:cs typeface="Inter"/>
                <a:sym typeface="Inter"/>
              </a:rPr>
              <a:t>es</a:t>
            </a:r>
            <a:r>
              <a:rPr lang="en-US" sz="2500" strike="noStrike" u="none">
                <a:solidFill>
                  <a:srgbClr val="717C7A"/>
                </a:solidFill>
                <a:latin typeface="Inter"/>
                <a:ea typeface="Inter"/>
                <a:cs typeface="Inter"/>
                <a:sym typeface="Inter"/>
              </a:rPr>
              <a:t>, </a:t>
            </a:r>
            <a:r>
              <a:rPr lang="en-US" sz="2500" strike="noStrike" u="none">
                <a:solidFill>
                  <a:srgbClr val="717C7A"/>
                </a:solidFill>
                <a:latin typeface="Inter"/>
                <a:ea typeface="Inter"/>
                <a:cs typeface="Inter"/>
                <a:sym typeface="Inter"/>
              </a:rPr>
              <a:t>colonies tend to shrink </a:t>
            </a:r>
            <a:r>
              <a:rPr lang="en-US" sz="2500">
                <a:solidFill>
                  <a:srgbClr val="717C7A"/>
                </a:solidFill>
                <a:latin typeface="Inter"/>
                <a:ea typeface="Inter"/>
                <a:cs typeface="Inter"/>
                <a:sym typeface="Inter"/>
              </a:rPr>
              <a:t>on their own, with chance deciding a lot</a:t>
            </a:r>
          </a:p>
        </p:txBody>
      </p:sp>
      <p:sp>
        <p:nvSpPr>
          <p:cNvPr name="AutoShape 13" id="13"/>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14" id="14"/>
          <p:cNvGrpSpPr/>
          <p:nvPr/>
        </p:nvGrpSpPr>
        <p:grpSpPr>
          <a:xfrm rot="0">
            <a:off x="822960" y="459105"/>
            <a:ext cx="10048408" cy="617220"/>
            <a:chOff x="0" y="0"/>
            <a:chExt cx="13397877" cy="822960"/>
          </a:xfrm>
        </p:grpSpPr>
        <p:sp>
          <p:nvSpPr>
            <p:cNvPr name="Freeform 15" id="15"/>
            <p:cNvSpPr/>
            <p:nvPr/>
          </p:nvSpPr>
          <p:spPr>
            <a:xfrm flipH="false" flipV="false" rot="0">
              <a:off x="0" y="0"/>
              <a:ext cx="13397877" cy="822960"/>
            </a:xfrm>
            <a:custGeom>
              <a:avLst/>
              <a:gdLst/>
              <a:ahLst/>
              <a:cxnLst/>
              <a:rect r="r" b="b" t="t" l="l"/>
              <a:pathLst>
                <a:path h="822960" w="13397877">
                  <a:moveTo>
                    <a:pt x="0" y="0"/>
                  </a:moveTo>
                  <a:lnTo>
                    <a:pt x="13397877" y="0"/>
                  </a:lnTo>
                  <a:lnTo>
                    <a:pt x="13397877" y="822960"/>
                  </a:lnTo>
                  <a:lnTo>
                    <a:pt x="0" y="822960"/>
                  </a:lnTo>
                  <a:close/>
                </a:path>
              </a:pathLst>
            </a:custGeom>
            <a:blipFill>
              <a:blip r:embed="rId5">
                <a:alphaModFix amt="0"/>
              </a:blip>
              <a:stretch>
                <a:fillRect l="0" t="-209800" r="18100" b="-209800"/>
              </a:stretch>
            </a:blipFill>
          </p:spPr>
        </p:sp>
        <p:sp>
          <p:nvSpPr>
            <p:cNvPr name="TextBox 16" id="16"/>
            <p:cNvSpPr txBox="true"/>
            <p:nvPr/>
          </p:nvSpPr>
          <p:spPr>
            <a:xfrm>
              <a:off x="0" y="0"/>
              <a:ext cx="13397877"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Strong and weak Allee effects: a real threshold</a:t>
              </a:r>
            </a:p>
          </p:txBody>
        </p:sp>
      </p:grpSp>
      <p:sp>
        <p:nvSpPr>
          <p:cNvPr name="TextBox 17" id="17"/>
          <p:cNvSpPr txBox="true"/>
          <p:nvPr/>
        </p:nvSpPr>
        <p:spPr>
          <a:xfrm rot="0">
            <a:off x="823608" y="9582229"/>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Fit: Liebhold &amp; Bascompte 2003, Fig. 1b; regression line only. Drawn with AI assistance (Claude)</a:t>
            </a:r>
          </a:p>
        </p:txBody>
      </p:sp>
      <p:sp>
        <p:nvSpPr>
          <p:cNvPr name="TextBox 18" id="18"/>
          <p:cNvSpPr txBox="true"/>
          <p:nvPr/>
        </p:nvSpPr>
        <p:spPr>
          <a:xfrm rot="0">
            <a:off x="823608" y="8579206"/>
            <a:ext cx="10432313" cy="549069"/>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225 colony-years of trap data from new colonies, USA; data points not shown</a:t>
            </a:r>
          </a:p>
        </p:txBody>
      </p:sp>
      <p:sp>
        <p:nvSpPr>
          <p:cNvPr name="TextBox 19" id="19"/>
          <p:cNvSpPr txBox="true"/>
          <p:nvPr/>
        </p:nvSpPr>
        <p:spPr>
          <a:xfrm rot="0">
            <a:off x="11832431" y="6518421"/>
            <a:ext cx="5641686" cy="558594"/>
          </a:xfrm>
          <a:prstGeom prst="rect">
            <a:avLst/>
          </a:prstGeom>
        </p:spPr>
        <p:txBody>
          <a:bodyPr anchor="t" rtlCol="false" tIns="0" lIns="0" bIns="0" rIns="0">
            <a:spAutoFit/>
          </a:bodyPr>
          <a:lstStyle/>
          <a:p>
            <a:pPr algn="r">
              <a:lnSpc>
                <a:spcPts val="1801"/>
              </a:lnSpc>
            </a:pPr>
            <a:r>
              <a:rPr lang="en-US" sz="1501">
                <a:solidFill>
                  <a:srgbClr val="717C7A"/>
                </a:solidFill>
                <a:latin typeface="Inter"/>
                <a:ea typeface="Inter"/>
                <a:cs typeface="Inter"/>
                <a:sym typeface="Inter"/>
              </a:rPr>
              <a:t>Photo: Tamás Nestor, Butterfly Conservation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815819" y="3609881"/>
            <a:ext cx="16609333" cy="4255284"/>
            <a:chOff x="0" y="0"/>
            <a:chExt cx="22145777" cy="5673712"/>
          </a:xfrm>
        </p:grpSpPr>
        <p:sp>
          <p:nvSpPr>
            <p:cNvPr name="Freeform 3" id="3" descr="patches.png"/>
            <p:cNvSpPr/>
            <p:nvPr/>
          </p:nvSpPr>
          <p:spPr>
            <a:xfrm flipH="false" flipV="false" rot="0">
              <a:off x="0" y="0"/>
              <a:ext cx="22145752" cy="5673725"/>
            </a:xfrm>
            <a:custGeom>
              <a:avLst/>
              <a:gdLst/>
              <a:ahLst/>
              <a:cxnLst/>
              <a:rect r="r" b="b" t="t" l="l"/>
              <a:pathLst>
                <a:path h="5673725" w="22145752">
                  <a:moveTo>
                    <a:pt x="0" y="0"/>
                  </a:moveTo>
                  <a:lnTo>
                    <a:pt x="22145752" y="0"/>
                  </a:lnTo>
                  <a:lnTo>
                    <a:pt x="22145752" y="5673725"/>
                  </a:lnTo>
                  <a:lnTo>
                    <a:pt x="0" y="5673725"/>
                  </a:lnTo>
                  <a:lnTo>
                    <a:pt x="0" y="0"/>
                  </a:lnTo>
                  <a:close/>
                </a:path>
              </a:pathLst>
            </a:custGeom>
            <a:blipFill>
              <a:blip r:embed="rId3"/>
              <a:stretch>
                <a:fillRect l="0" t="0" r="0" b="0"/>
              </a:stretch>
            </a:blipFill>
          </p:spPr>
        </p:sp>
      </p:grpSp>
      <p:sp>
        <p:nvSpPr>
          <p:cNvPr name="TextBox 4" id="4"/>
          <p:cNvSpPr txBox="true"/>
          <p:nvPr/>
        </p:nvSpPr>
        <p:spPr>
          <a:xfrm rot="0">
            <a:off x="815819" y="1666781"/>
            <a:ext cx="16885400" cy="1228725"/>
          </a:xfrm>
          <a:prstGeom prst="rect">
            <a:avLst/>
          </a:prstGeom>
        </p:spPr>
        <p:txBody>
          <a:bodyPr anchor="t" rtlCol="false" tIns="0" lIns="0" bIns="0" rIns="0">
            <a:spAutoFit/>
          </a:bodyPr>
          <a:lstStyle/>
          <a:p>
            <a:pPr algn="l">
              <a:lnSpc>
                <a:spcPts val="4803"/>
              </a:lnSpc>
            </a:pPr>
            <a:r>
              <a:rPr lang="en-US" sz="4002">
                <a:solidFill>
                  <a:srgbClr val="232E2D"/>
                </a:solidFill>
                <a:latin typeface="Inter"/>
                <a:ea typeface="Inter"/>
                <a:cs typeface="Inter"/>
                <a:sym typeface="Inter"/>
              </a:rPr>
              <a:t>Whether Allee effects act as a "fundamental driver" </a:t>
            </a:r>
          </a:p>
          <a:p>
            <a:pPr algn="l">
              <a:lnSpc>
                <a:spcPts val="4803"/>
              </a:lnSpc>
            </a:pPr>
            <a:r>
              <a:rPr lang="en-US" sz="4002">
                <a:solidFill>
                  <a:srgbClr val="232E2D"/>
                </a:solidFill>
                <a:latin typeface="Inter"/>
                <a:ea typeface="Inter"/>
                <a:cs typeface="Inter"/>
                <a:sym typeface="Inter"/>
              </a:rPr>
              <a:t>depends partly on connectivity.</a:t>
            </a:r>
          </a:p>
        </p:txBody>
      </p:sp>
      <p:sp>
        <p:nvSpPr>
          <p:cNvPr name="TextBox 5" id="5"/>
          <p:cNvSpPr txBox="true"/>
          <p:nvPr/>
        </p:nvSpPr>
        <p:spPr>
          <a:xfrm rot="0">
            <a:off x="5278691" y="4793743"/>
            <a:ext cx="3019882" cy="480431"/>
          </a:xfrm>
          <a:prstGeom prst="rect">
            <a:avLst/>
          </a:prstGeom>
        </p:spPr>
        <p:txBody>
          <a:bodyPr anchor="t" rtlCol="false" tIns="0" lIns="0" bIns="0" rIns="0">
            <a:spAutoFit/>
          </a:bodyPr>
          <a:lstStyle/>
          <a:p>
            <a:pPr algn="ctr">
              <a:lnSpc>
                <a:spcPts val="2521"/>
              </a:lnSpc>
            </a:pPr>
            <a:r>
              <a:rPr lang="en-US" sz="2101">
                <a:solidFill>
                  <a:srgbClr val="717C7A"/>
                </a:solidFill>
                <a:latin typeface="Inter"/>
                <a:ea typeface="Inter"/>
                <a:cs typeface="Inter"/>
                <a:sym typeface="Inter"/>
              </a:rPr>
              <a:t>immigrants</a:t>
            </a:r>
          </a:p>
        </p:txBody>
      </p:sp>
      <p:sp>
        <p:nvSpPr>
          <p:cNvPr name="TextBox 6" id="6"/>
          <p:cNvSpPr txBox="true"/>
          <p:nvPr/>
        </p:nvSpPr>
        <p:spPr>
          <a:xfrm rot="0">
            <a:off x="953084" y="7968244"/>
            <a:ext cx="5216157" cy="931836"/>
          </a:xfrm>
          <a:prstGeom prst="rect">
            <a:avLst/>
          </a:prstGeom>
        </p:spPr>
        <p:txBody>
          <a:bodyPr anchor="t" rtlCol="false" tIns="0" lIns="0" bIns="0" rIns="0">
            <a:spAutoFit/>
          </a:bodyPr>
          <a:lstStyle/>
          <a:p>
            <a:pPr algn="ctr">
              <a:lnSpc>
                <a:spcPts val="4269"/>
              </a:lnSpc>
            </a:pPr>
            <a:r>
              <a:rPr lang="en-US" sz="2702">
                <a:solidFill>
                  <a:srgbClr val="232E2D"/>
                </a:solidFill>
                <a:latin typeface="Inter"/>
                <a:ea typeface="Inter"/>
                <a:cs typeface="Inter"/>
                <a:sym typeface="Inter"/>
              </a:rPr>
              <a:t>Source</a:t>
            </a:r>
          </a:p>
          <a:p>
            <a:pPr algn="ctr">
              <a:lnSpc>
                <a:spcPts val="3320"/>
              </a:lnSpc>
            </a:pPr>
            <a:r>
              <a:rPr lang="en-US" sz="2101">
                <a:solidFill>
                  <a:srgbClr val="717C7A"/>
                </a:solidFill>
                <a:latin typeface="Inter"/>
                <a:ea typeface="Inter"/>
                <a:cs typeface="Inter"/>
                <a:sym typeface="Inter"/>
              </a:rPr>
              <a:t>a large population</a:t>
            </a:r>
          </a:p>
        </p:txBody>
      </p:sp>
      <p:sp>
        <p:nvSpPr>
          <p:cNvPr name="TextBox 7" id="7"/>
          <p:cNvSpPr txBox="true"/>
          <p:nvPr/>
        </p:nvSpPr>
        <p:spPr>
          <a:xfrm rot="0">
            <a:off x="6512407" y="7131659"/>
            <a:ext cx="5216157" cy="931836"/>
          </a:xfrm>
          <a:prstGeom prst="rect">
            <a:avLst/>
          </a:prstGeom>
        </p:spPr>
        <p:txBody>
          <a:bodyPr anchor="t" rtlCol="false" tIns="0" lIns="0" bIns="0" rIns="0">
            <a:spAutoFit/>
          </a:bodyPr>
          <a:lstStyle/>
          <a:p>
            <a:pPr algn="ctr">
              <a:lnSpc>
                <a:spcPts val="4269"/>
              </a:lnSpc>
            </a:pPr>
            <a:r>
              <a:rPr lang="en-US" sz="2702">
                <a:solidFill>
                  <a:srgbClr val="232E2D"/>
                </a:solidFill>
                <a:latin typeface="Inter"/>
                <a:ea typeface="Inter"/>
                <a:cs typeface="Inter"/>
                <a:sym typeface="Inter"/>
              </a:rPr>
              <a:t>Connected</a:t>
            </a:r>
          </a:p>
          <a:p>
            <a:pPr algn="ctr">
              <a:lnSpc>
                <a:spcPts val="3320"/>
              </a:lnSpc>
            </a:pPr>
            <a:r>
              <a:rPr lang="en-US" sz="2101">
                <a:solidFill>
                  <a:srgbClr val="717C7A"/>
                </a:solidFill>
                <a:latin typeface="Inter"/>
                <a:ea typeface="Inter"/>
                <a:cs typeface="Inter"/>
                <a:sym typeface="Inter"/>
              </a:rPr>
              <a:t>immigrants top it up: the rescue effect</a:t>
            </a:r>
          </a:p>
        </p:txBody>
      </p:sp>
      <p:sp>
        <p:nvSpPr>
          <p:cNvPr name="TextBox 8" id="8"/>
          <p:cNvSpPr txBox="true"/>
          <p:nvPr/>
        </p:nvSpPr>
        <p:spPr>
          <a:xfrm rot="0">
            <a:off x="12071731" y="7131659"/>
            <a:ext cx="5216157" cy="931836"/>
          </a:xfrm>
          <a:prstGeom prst="rect">
            <a:avLst/>
          </a:prstGeom>
        </p:spPr>
        <p:txBody>
          <a:bodyPr anchor="t" rtlCol="false" tIns="0" lIns="0" bIns="0" rIns="0">
            <a:spAutoFit/>
          </a:bodyPr>
          <a:lstStyle/>
          <a:p>
            <a:pPr algn="ctr">
              <a:lnSpc>
                <a:spcPts val="4269"/>
              </a:lnSpc>
            </a:pPr>
            <a:r>
              <a:rPr lang="en-US" sz="2702">
                <a:solidFill>
                  <a:srgbClr val="232E2D"/>
                </a:solidFill>
                <a:latin typeface="Inter"/>
                <a:ea typeface="Inter"/>
                <a:cs typeface="Inter"/>
                <a:sym typeface="Inter"/>
              </a:rPr>
              <a:t>Isolated</a:t>
            </a:r>
          </a:p>
          <a:p>
            <a:pPr algn="ctr">
              <a:lnSpc>
                <a:spcPts val="3320"/>
              </a:lnSpc>
            </a:pPr>
            <a:r>
              <a:rPr lang="en-US" sz="2101">
                <a:solidFill>
                  <a:srgbClr val="717C7A"/>
                </a:solidFill>
                <a:latin typeface="Inter"/>
                <a:ea typeface="Inter"/>
                <a:cs typeface="Inter"/>
                <a:sym typeface="Inter"/>
              </a:rPr>
              <a:t>no one comes to the rescue</a:t>
            </a:r>
          </a:p>
        </p:txBody>
      </p:sp>
      <p:sp>
        <p:nvSpPr>
          <p:cNvPr name="AutoShape 9" id="9"/>
          <p:cNvSpPr/>
          <p:nvPr/>
        </p:nvSpPr>
        <p:spPr>
          <a:xfrm>
            <a:off x="816457" y="9584014"/>
            <a:ext cx="16668934" cy="14255"/>
          </a:xfrm>
          <a:prstGeom prst="line">
            <a:avLst/>
          </a:prstGeom>
          <a:ln cap="rnd" w="19050">
            <a:solidFill>
              <a:srgbClr val="C7C4C3"/>
            </a:solidFill>
            <a:prstDash val="solid"/>
            <a:headEnd type="none" len="sm" w="sm"/>
            <a:tailEnd type="none" len="sm" w="sm"/>
          </a:ln>
        </p:spPr>
      </p:sp>
      <p:sp>
        <p:nvSpPr>
          <p:cNvPr name="TextBox 10" id="10"/>
          <p:cNvSpPr txBox="true"/>
          <p:nvPr/>
        </p:nvSpPr>
        <p:spPr>
          <a:xfrm rot="0">
            <a:off x="823608" y="9728406"/>
            <a:ext cx="10325872" cy="31432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  one individual     ○  a habitat patch     - -  dispersal</a:t>
            </a:r>
          </a:p>
        </p:txBody>
      </p:sp>
      <p:sp>
        <p:nvSpPr>
          <p:cNvPr name="AutoShape 11" id="11"/>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12" id="12"/>
          <p:cNvGrpSpPr/>
          <p:nvPr/>
        </p:nvGrpSpPr>
        <p:grpSpPr>
          <a:xfrm rot="0">
            <a:off x="822960" y="459105"/>
            <a:ext cx="10048408" cy="617220"/>
            <a:chOff x="0" y="0"/>
            <a:chExt cx="13397877" cy="822960"/>
          </a:xfrm>
        </p:grpSpPr>
        <p:sp>
          <p:nvSpPr>
            <p:cNvPr name="Freeform 13" id="13"/>
            <p:cNvSpPr/>
            <p:nvPr/>
          </p:nvSpPr>
          <p:spPr>
            <a:xfrm flipH="false" flipV="false" rot="0">
              <a:off x="0" y="0"/>
              <a:ext cx="13397877" cy="822960"/>
            </a:xfrm>
            <a:custGeom>
              <a:avLst/>
              <a:gdLst/>
              <a:ahLst/>
              <a:cxnLst/>
              <a:rect r="r" b="b" t="t" l="l"/>
              <a:pathLst>
                <a:path h="822960" w="13397877">
                  <a:moveTo>
                    <a:pt x="0" y="0"/>
                  </a:moveTo>
                  <a:lnTo>
                    <a:pt x="13397877" y="0"/>
                  </a:lnTo>
                  <a:lnTo>
                    <a:pt x="13397877" y="822960"/>
                  </a:lnTo>
                  <a:lnTo>
                    <a:pt x="0" y="822960"/>
                  </a:lnTo>
                  <a:close/>
                </a:path>
              </a:pathLst>
            </a:custGeom>
            <a:blipFill>
              <a:blip r:embed="rId4">
                <a:alphaModFix amt="0"/>
              </a:blip>
              <a:stretch>
                <a:fillRect l="0" t="-209800" r="18100" b="-209800"/>
              </a:stretch>
            </a:blipFill>
          </p:spPr>
        </p:sp>
        <p:sp>
          <p:nvSpPr>
            <p:cNvPr name="TextBox 14" id="14"/>
            <p:cNvSpPr txBox="true"/>
            <p:nvPr/>
          </p:nvSpPr>
          <p:spPr>
            <a:xfrm>
              <a:off x="0" y="0"/>
              <a:ext cx="13397877"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Rescue and immigration</a:t>
              </a:r>
            </a:p>
          </p:txBody>
        </p:sp>
      </p:grpSp>
      <p:sp>
        <p:nvSpPr>
          <p:cNvPr name="TextBox 15" id="15"/>
          <p:cNvSpPr txBox="true"/>
          <p:nvPr/>
        </p:nvSpPr>
        <p:spPr>
          <a:xfrm rot="0">
            <a:off x="8098765" y="9708994"/>
            <a:ext cx="9379468" cy="314325"/>
          </a:xfrm>
          <a:prstGeom prst="rect">
            <a:avLst/>
          </a:prstGeom>
        </p:spPr>
        <p:txBody>
          <a:bodyPr anchor="t" rtlCol="false" tIns="0" lIns="0" bIns="0" rIns="0">
            <a:spAutoFit/>
          </a:bodyPr>
          <a:lstStyle/>
          <a:p>
            <a:pPr algn="r">
              <a:lnSpc>
                <a:spcPts val="2401"/>
              </a:lnSpc>
            </a:pPr>
            <a:r>
              <a:rPr lang="en-US" sz="2001">
                <a:solidFill>
                  <a:srgbClr val="717C7A"/>
                </a:solidFill>
                <a:latin typeface="Inter"/>
                <a:ea typeface="Inter"/>
                <a:cs typeface="Inter"/>
                <a:sym typeface="Inter"/>
              </a:rPr>
              <a:t>Source: Brown &amp; Kodric-Brown 1977 · Drawn with AI assistance (Claude)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TextBox 2" id="2"/>
          <p:cNvSpPr txBox="true"/>
          <p:nvPr/>
        </p:nvSpPr>
        <p:spPr>
          <a:xfrm rot="0">
            <a:off x="823608" y="1485590"/>
            <a:ext cx="11804980" cy="549069"/>
          </a:xfrm>
          <a:prstGeom prst="rect">
            <a:avLst/>
          </a:prstGeom>
        </p:spPr>
        <p:txBody>
          <a:bodyPr anchor="t" rtlCol="false" tIns="0" lIns="0" bIns="0" rIns="0">
            <a:spAutoFit/>
          </a:bodyPr>
          <a:lstStyle/>
          <a:p>
            <a:pPr algn="l">
              <a:lnSpc>
                <a:spcPts val="2882"/>
              </a:lnSpc>
            </a:pPr>
            <a:r>
              <a:rPr lang="en-US" sz="2401">
                <a:solidFill>
                  <a:srgbClr val="717C7A"/>
                </a:solidFill>
                <a:latin typeface="Inter"/>
                <a:ea typeface="Inter"/>
                <a:cs typeface="Inter"/>
                <a:sym typeface="Inter"/>
              </a:rPr>
              <a:t>Population size of each patch (N*) as Allee strength θ increases</a:t>
            </a:r>
          </a:p>
        </p:txBody>
      </p:sp>
      <p:sp>
        <p:nvSpPr>
          <p:cNvPr name="TextBox 3" id="3"/>
          <p:cNvSpPr txBox="true"/>
          <p:nvPr/>
        </p:nvSpPr>
        <p:spPr>
          <a:xfrm rot="0">
            <a:off x="823608" y="2231036"/>
            <a:ext cx="5765225" cy="352425"/>
          </a:xfrm>
          <a:prstGeom prst="rect">
            <a:avLst/>
          </a:prstGeom>
        </p:spPr>
        <p:txBody>
          <a:bodyPr anchor="t" rtlCol="false" tIns="0" lIns="0" bIns="0" rIns="0">
            <a:spAutoFit/>
          </a:bodyPr>
          <a:lstStyle/>
          <a:p>
            <a:pPr algn="l">
              <a:lnSpc>
                <a:spcPts val="2702"/>
              </a:lnSpc>
            </a:pPr>
            <a:r>
              <a:rPr lang="en-US" sz="2251">
                <a:solidFill>
                  <a:srgbClr val="232E2D"/>
                </a:solidFill>
                <a:latin typeface="Inter"/>
                <a:ea typeface="Inter"/>
                <a:cs typeface="Inter"/>
                <a:sym typeface="Inter"/>
              </a:rPr>
              <a:t>No dispersal (δ = 0)</a:t>
            </a:r>
          </a:p>
        </p:txBody>
      </p:sp>
      <p:grpSp>
        <p:nvGrpSpPr>
          <p:cNvPr name="Group 4" id="4"/>
          <p:cNvGrpSpPr/>
          <p:nvPr/>
        </p:nvGrpSpPr>
        <p:grpSpPr>
          <a:xfrm rot="0">
            <a:off x="823608" y="2693541"/>
            <a:ext cx="5765225" cy="2539441"/>
            <a:chOff x="0" y="0"/>
            <a:chExt cx="7686967" cy="3385922"/>
          </a:xfrm>
        </p:grpSpPr>
        <p:sp>
          <p:nvSpPr>
            <p:cNvPr name="Freeform 5" id="5" descr="pit-AD-0.png"/>
            <p:cNvSpPr/>
            <p:nvPr/>
          </p:nvSpPr>
          <p:spPr>
            <a:xfrm flipH="false" flipV="false" rot="0">
              <a:off x="0" y="0"/>
              <a:ext cx="7686929" cy="3385947"/>
            </a:xfrm>
            <a:custGeom>
              <a:avLst/>
              <a:gdLst/>
              <a:ahLst/>
              <a:cxnLst/>
              <a:rect r="r" b="b" t="t" l="l"/>
              <a:pathLst>
                <a:path h="3385947" w="7686929">
                  <a:moveTo>
                    <a:pt x="0" y="0"/>
                  </a:moveTo>
                  <a:lnTo>
                    <a:pt x="7686929" y="0"/>
                  </a:lnTo>
                  <a:lnTo>
                    <a:pt x="7686929" y="3385947"/>
                  </a:lnTo>
                  <a:lnTo>
                    <a:pt x="0" y="3385947"/>
                  </a:lnTo>
                  <a:lnTo>
                    <a:pt x="0" y="0"/>
                  </a:lnTo>
                  <a:close/>
                </a:path>
              </a:pathLst>
            </a:custGeom>
            <a:blipFill>
              <a:blip r:embed="rId3"/>
              <a:stretch>
                <a:fillRect l="0" t="0" r="0" b="0"/>
              </a:stretch>
            </a:blipFill>
          </p:spPr>
        </p:sp>
      </p:grpSp>
      <p:sp>
        <p:nvSpPr>
          <p:cNvPr name="TextBox 6" id="6"/>
          <p:cNvSpPr txBox="true"/>
          <p:nvPr/>
        </p:nvSpPr>
        <p:spPr>
          <a:xfrm rot="0">
            <a:off x="7000627" y="2231036"/>
            <a:ext cx="5765225" cy="489956"/>
          </a:xfrm>
          <a:prstGeom prst="rect">
            <a:avLst/>
          </a:prstGeom>
        </p:spPr>
        <p:txBody>
          <a:bodyPr anchor="t" rtlCol="false" tIns="0" lIns="0" bIns="0" rIns="0">
            <a:spAutoFit/>
          </a:bodyPr>
          <a:lstStyle/>
          <a:p>
            <a:pPr algn="l">
              <a:lnSpc>
                <a:spcPts val="2702"/>
              </a:lnSpc>
            </a:pPr>
            <a:r>
              <a:rPr lang="en-US" sz="2251">
                <a:solidFill>
                  <a:srgbClr val="232E2D"/>
                </a:solidFill>
                <a:latin typeface="Inter"/>
                <a:ea typeface="Inter"/>
                <a:cs typeface="Inter"/>
                <a:sym typeface="Inter"/>
              </a:rPr>
              <a:t>Dispersal δ = 0.015</a:t>
            </a:r>
          </a:p>
        </p:txBody>
      </p:sp>
      <p:grpSp>
        <p:nvGrpSpPr>
          <p:cNvPr name="Group 7" id="7"/>
          <p:cNvGrpSpPr/>
          <p:nvPr/>
        </p:nvGrpSpPr>
        <p:grpSpPr>
          <a:xfrm rot="0">
            <a:off x="7000627" y="2693541"/>
            <a:ext cx="5765225" cy="2539441"/>
            <a:chOff x="0" y="0"/>
            <a:chExt cx="7686967" cy="3385922"/>
          </a:xfrm>
        </p:grpSpPr>
        <p:sp>
          <p:nvSpPr>
            <p:cNvPr name="Freeform 8" id="8" descr="pit-AD-0.015.png"/>
            <p:cNvSpPr/>
            <p:nvPr/>
          </p:nvSpPr>
          <p:spPr>
            <a:xfrm flipH="false" flipV="false" rot="0">
              <a:off x="0" y="0"/>
              <a:ext cx="7686929" cy="3385947"/>
            </a:xfrm>
            <a:custGeom>
              <a:avLst/>
              <a:gdLst/>
              <a:ahLst/>
              <a:cxnLst/>
              <a:rect r="r" b="b" t="t" l="l"/>
              <a:pathLst>
                <a:path h="3385947" w="7686929">
                  <a:moveTo>
                    <a:pt x="0" y="0"/>
                  </a:moveTo>
                  <a:lnTo>
                    <a:pt x="7686929" y="0"/>
                  </a:lnTo>
                  <a:lnTo>
                    <a:pt x="7686929" y="3385947"/>
                  </a:lnTo>
                  <a:lnTo>
                    <a:pt x="0" y="3385947"/>
                  </a:lnTo>
                  <a:lnTo>
                    <a:pt x="0" y="0"/>
                  </a:lnTo>
                  <a:close/>
                </a:path>
              </a:pathLst>
            </a:custGeom>
            <a:blipFill>
              <a:blip r:embed="rId4"/>
              <a:stretch>
                <a:fillRect l="0" t="0" r="0" b="0"/>
              </a:stretch>
            </a:blipFill>
          </p:spPr>
        </p:sp>
      </p:grpSp>
      <p:sp>
        <p:nvSpPr>
          <p:cNvPr name="TextBox 9" id="9"/>
          <p:cNvSpPr txBox="true"/>
          <p:nvPr/>
        </p:nvSpPr>
        <p:spPr>
          <a:xfrm rot="0">
            <a:off x="823608" y="5388183"/>
            <a:ext cx="5765225" cy="489956"/>
          </a:xfrm>
          <a:prstGeom prst="rect">
            <a:avLst/>
          </a:prstGeom>
        </p:spPr>
        <p:txBody>
          <a:bodyPr anchor="t" rtlCol="false" tIns="0" lIns="0" bIns="0" rIns="0">
            <a:spAutoFit/>
          </a:bodyPr>
          <a:lstStyle/>
          <a:p>
            <a:pPr algn="l">
              <a:lnSpc>
                <a:spcPts val="2702"/>
              </a:lnSpc>
            </a:pPr>
            <a:r>
              <a:rPr lang="en-US" sz="2251">
                <a:solidFill>
                  <a:srgbClr val="232E2D"/>
                </a:solidFill>
                <a:latin typeface="Inter"/>
                <a:ea typeface="Inter"/>
                <a:cs typeface="Inter"/>
                <a:sym typeface="Inter"/>
              </a:rPr>
              <a:t>Dispersal δ = 0.075</a:t>
            </a:r>
          </a:p>
        </p:txBody>
      </p:sp>
      <p:grpSp>
        <p:nvGrpSpPr>
          <p:cNvPr name="Group 10" id="10"/>
          <p:cNvGrpSpPr/>
          <p:nvPr/>
        </p:nvGrpSpPr>
        <p:grpSpPr>
          <a:xfrm rot="0">
            <a:off x="823608" y="5850688"/>
            <a:ext cx="5765225" cy="3225784"/>
            <a:chOff x="0" y="0"/>
            <a:chExt cx="7686967" cy="4301046"/>
          </a:xfrm>
        </p:grpSpPr>
        <p:sp>
          <p:nvSpPr>
            <p:cNvPr name="Freeform 11" id="11" descr="pit-AD-0.075.png"/>
            <p:cNvSpPr/>
            <p:nvPr/>
          </p:nvSpPr>
          <p:spPr>
            <a:xfrm flipH="false" flipV="false" rot="0">
              <a:off x="0" y="0"/>
              <a:ext cx="7686929" cy="4300982"/>
            </a:xfrm>
            <a:custGeom>
              <a:avLst/>
              <a:gdLst/>
              <a:ahLst/>
              <a:cxnLst/>
              <a:rect r="r" b="b" t="t" l="l"/>
              <a:pathLst>
                <a:path h="4300982" w="7686929">
                  <a:moveTo>
                    <a:pt x="0" y="0"/>
                  </a:moveTo>
                  <a:lnTo>
                    <a:pt x="7686929" y="0"/>
                  </a:lnTo>
                  <a:lnTo>
                    <a:pt x="7686929" y="4300982"/>
                  </a:lnTo>
                  <a:lnTo>
                    <a:pt x="0" y="4300982"/>
                  </a:lnTo>
                  <a:lnTo>
                    <a:pt x="0" y="0"/>
                  </a:lnTo>
                  <a:close/>
                </a:path>
              </a:pathLst>
            </a:custGeom>
            <a:blipFill>
              <a:blip r:embed="rId5"/>
              <a:stretch>
                <a:fillRect l="0" t="0" r="0" b="-1"/>
              </a:stretch>
            </a:blipFill>
          </p:spPr>
        </p:sp>
      </p:grpSp>
      <p:sp>
        <p:nvSpPr>
          <p:cNvPr name="TextBox 12" id="12"/>
          <p:cNvSpPr txBox="true"/>
          <p:nvPr/>
        </p:nvSpPr>
        <p:spPr>
          <a:xfrm rot="0">
            <a:off x="7000627" y="5388183"/>
            <a:ext cx="5765225" cy="489956"/>
          </a:xfrm>
          <a:prstGeom prst="rect">
            <a:avLst/>
          </a:prstGeom>
        </p:spPr>
        <p:txBody>
          <a:bodyPr anchor="t" rtlCol="false" tIns="0" lIns="0" bIns="0" rIns="0">
            <a:spAutoFit/>
          </a:bodyPr>
          <a:lstStyle/>
          <a:p>
            <a:pPr algn="l">
              <a:lnSpc>
                <a:spcPts val="2702"/>
              </a:lnSpc>
            </a:pPr>
            <a:r>
              <a:rPr lang="en-US" sz="2251">
                <a:solidFill>
                  <a:srgbClr val="232E2D"/>
                </a:solidFill>
                <a:latin typeface="Inter"/>
                <a:ea typeface="Inter"/>
                <a:cs typeface="Inter"/>
                <a:sym typeface="Inter"/>
              </a:rPr>
              <a:t>Dispersal δ = 0.17</a:t>
            </a:r>
          </a:p>
        </p:txBody>
      </p:sp>
      <p:grpSp>
        <p:nvGrpSpPr>
          <p:cNvPr name="Group 13" id="13"/>
          <p:cNvGrpSpPr/>
          <p:nvPr/>
        </p:nvGrpSpPr>
        <p:grpSpPr>
          <a:xfrm rot="0">
            <a:off x="7000627" y="5850688"/>
            <a:ext cx="5765225" cy="3225784"/>
            <a:chOff x="0" y="0"/>
            <a:chExt cx="7686967" cy="4301046"/>
          </a:xfrm>
        </p:grpSpPr>
        <p:sp>
          <p:nvSpPr>
            <p:cNvPr name="Freeform 14" id="14" descr="pit-AD-0.17.png"/>
            <p:cNvSpPr/>
            <p:nvPr/>
          </p:nvSpPr>
          <p:spPr>
            <a:xfrm flipH="false" flipV="false" rot="0">
              <a:off x="0" y="0"/>
              <a:ext cx="7686929" cy="4300982"/>
            </a:xfrm>
            <a:custGeom>
              <a:avLst/>
              <a:gdLst/>
              <a:ahLst/>
              <a:cxnLst/>
              <a:rect r="r" b="b" t="t" l="l"/>
              <a:pathLst>
                <a:path h="4300982" w="7686929">
                  <a:moveTo>
                    <a:pt x="0" y="0"/>
                  </a:moveTo>
                  <a:lnTo>
                    <a:pt x="7686929" y="0"/>
                  </a:lnTo>
                  <a:lnTo>
                    <a:pt x="7686929" y="4300982"/>
                  </a:lnTo>
                  <a:lnTo>
                    <a:pt x="0" y="4300982"/>
                  </a:lnTo>
                  <a:lnTo>
                    <a:pt x="0" y="0"/>
                  </a:lnTo>
                  <a:close/>
                </a:path>
              </a:pathLst>
            </a:custGeom>
            <a:blipFill>
              <a:blip r:embed="rId6"/>
              <a:stretch>
                <a:fillRect l="0" t="0" r="0" b="-1"/>
              </a:stretch>
            </a:blipFill>
          </p:spPr>
        </p:sp>
      </p:grpSp>
      <p:sp>
        <p:nvSpPr>
          <p:cNvPr name="AutoShape 15" id="15"/>
          <p:cNvSpPr/>
          <p:nvPr/>
        </p:nvSpPr>
        <p:spPr>
          <a:xfrm>
            <a:off x="13299253" y="2547565"/>
            <a:ext cx="743534" cy="0"/>
          </a:xfrm>
          <a:prstGeom prst="line">
            <a:avLst/>
          </a:prstGeom>
          <a:ln cap="rnd" w="28575">
            <a:solidFill>
              <a:srgbClr val="232E2D"/>
            </a:solidFill>
            <a:prstDash val="solid"/>
            <a:headEnd type="none" len="sm" w="sm"/>
            <a:tailEnd type="none" len="sm" w="sm"/>
          </a:ln>
        </p:spPr>
      </p:sp>
      <p:sp>
        <p:nvSpPr>
          <p:cNvPr name="TextBox 16" id="16"/>
          <p:cNvSpPr txBox="true"/>
          <p:nvPr/>
        </p:nvSpPr>
        <p:spPr>
          <a:xfrm rot="0">
            <a:off x="14220089" y="2377826"/>
            <a:ext cx="3404225" cy="150994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Large patch B</a:t>
            </a:r>
          </a:p>
        </p:txBody>
      </p:sp>
      <p:sp>
        <p:nvSpPr>
          <p:cNvPr name="AutoShape 17" id="17"/>
          <p:cNvSpPr/>
          <p:nvPr/>
        </p:nvSpPr>
        <p:spPr>
          <a:xfrm>
            <a:off x="13299253" y="3165262"/>
            <a:ext cx="743534" cy="0"/>
          </a:xfrm>
          <a:prstGeom prst="line">
            <a:avLst/>
          </a:prstGeom>
          <a:ln cap="rnd" w="28575">
            <a:solidFill>
              <a:srgbClr val="8D9A97"/>
            </a:solidFill>
            <a:prstDash val="solid"/>
            <a:headEnd type="none" len="sm" w="sm"/>
            <a:tailEnd type="none" len="sm" w="sm"/>
          </a:ln>
        </p:spPr>
      </p:sp>
      <p:sp>
        <p:nvSpPr>
          <p:cNvPr name="TextBox 18" id="18"/>
          <p:cNvSpPr txBox="true"/>
          <p:nvPr/>
        </p:nvSpPr>
        <p:spPr>
          <a:xfrm rot="0">
            <a:off x="14220089" y="2995532"/>
            <a:ext cx="3404225" cy="150994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Small patch A</a:t>
            </a:r>
          </a:p>
        </p:txBody>
      </p:sp>
      <p:sp>
        <p:nvSpPr>
          <p:cNvPr name="AutoShape 19" id="19"/>
          <p:cNvSpPr/>
          <p:nvPr/>
        </p:nvSpPr>
        <p:spPr>
          <a:xfrm>
            <a:off x="13299253" y="3782967"/>
            <a:ext cx="743534" cy="0"/>
          </a:xfrm>
          <a:prstGeom prst="line">
            <a:avLst/>
          </a:prstGeom>
          <a:ln cap="rnd" w="28575">
            <a:solidFill>
              <a:srgbClr val="717C7A"/>
            </a:solidFill>
            <a:prstDash val="solid"/>
            <a:headEnd type="none" len="sm" w="sm"/>
            <a:tailEnd type="none" len="sm" w="sm"/>
          </a:ln>
        </p:spPr>
      </p:sp>
      <p:sp>
        <p:nvSpPr>
          <p:cNvPr name="TextBox 20" id="20"/>
          <p:cNvSpPr txBox="true"/>
          <p:nvPr/>
        </p:nvSpPr>
        <p:spPr>
          <a:xfrm rot="0">
            <a:off x="14220089" y="3613237"/>
            <a:ext cx="3404225" cy="1209675"/>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θc,i: critical Allee strength (above it, an isolated patch dies out)</a:t>
            </a:r>
          </a:p>
          <a:p>
            <a:pPr algn="l">
              <a:lnSpc>
                <a:spcPts val="2161"/>
              </a:lnSpc>
            </a:pPr>
          </a:p>
        </p:txBody>
      </p:sp>
      <p:sp>
        <p:nvSpPr>
          <p:cNvPr name="TextBox 21" id="21"/>
          <p:cNvSpPr txBox="true"/>
          <p:nvPr/>
        </p:nvSpPr>
        <p:spPr>
          <a:xfrm rot="0">
            <a:off x="14220089" y="4848639"/>
            <a:ext cx="3404225" cy="150994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E–K: θ values used on the next slide</a:t>
            </a:r>
          </a:p>
        </p:txBody>
      </p:sp>
      <p:sp>
        <p:nvSpPr>
          <p:cNvPr name="AutoShape 22" id="22"/>
          <p:cNvSpPr/>
          <p:nvPr/>
        </p:nvSpPr>
        <p:spPr>
          <a:xfrm>
            <a:off x="13320702" y="5901952"/>
            <a:ext cx="4314877" cy="14309"/>
          </a:xfrm>
          <a:prstGeom prst="line">
            <a:avLst/>
          </a:prstGeom>
          <a:ln cap="rnd" w="19050">
            <a:solidFill>
              <a:srgbClr val="C7C4C3"/>
            </a:solidFill>
            <a:prstDash val="solid"/>
            <a:headEnd type="none" len="sm" w="sm"/>
            <a:tailEnd type="none" len="sm" w="sm"/>
          </a:ln>
        </p:spPr>
      </p:sp>
      <p:sp>
        <p:nvSpPr>
          <p:cNvPr name="TextBox 23" id="23"/>
          <p:cNvSpPr txBox="true"/>
          <p:nvPr/>
        </p:nvSpPr>
        <p:spPr>
          <a:xfrm rot="0">
            <a:off x="13327853" y="6309870"/>
            <a:ext cx="4485198" cy="1698585"/>
          </a:xfrm>
          <a:prstGeom prst="rect">
            <a:avLst/>
          </a:prstGeom>
        </p:spPr>
        <p:txBody>
          <a:bodyPr anchor="t" rtlCol="false" tIns="0" lIns="0" bIns="0" rIns="0">
            <a:spAutoFit/>
          </a:bodyPr>
          <a:lstStyle/>
          <a:p>
            <a:pPr algn="l">
              <a:lnSpc>
                <a:spcPts val="3427"/>
              </a:lnSpc>
            </a:pPr>
            <a:r>
              <a:rPr lang="en-US" sz="2501">
                <a:solidFill>
                  <a:srgbClr val="232E2D"/>
                </a:solidFill>
                <a:latin typeface="Inter"/>
                <a:ea typeface="Inter"/>
                <a:cs typeface="Inter"/>
                <a:sym typeface="Inter"/>
              </a:rPr>
              <a:t>Just above θc,A the total population takes a big benefit from more connectivity and the rescue effect.</a:t>
            </a:r>
          </a:p>
        </p:txBody>
      </p:sp>
      <p:sp>
        <p:nvSpPr>
          <p:cNvPr name="AutoShape 24" id="24"/>
          <p:cNvSpPr/>
          <p:nvPr/>
        </p:nvSpPr>
        <p:spPr>
          <a:xfrm>
            <a:off x="816457" y="9495263"/>
            <a:ext cx="16668934" cy="14255"/>
          </a:xfrm>
          <a:prstGeom prst="line">
            <a:avLst/>
          </a:prstGeom>
          <a:ln cap="rnd" w="19050">
            <a:solidFill>
              <a:srgbClr val="C7C4C3"/>
            </a:solidFill>
            <a:prstDash val="solid"/>
            <a:headEnd type="none" len="sm" w="sm"/>
            <a:tailEnd type="none" len="sm" w="sm"/>
          </a:ln>
        </p:spPr>
      </p:sp>
      <p:sp>
        <p:nvSpPr>
          <p:cNvPr name="AutoShape 25" id="25"/>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26" id="26"/>
          <p:cNvGrpSpPr/>
          <p:nvPr/>
        </p:nvGrpSpPr>
        <p:grpSpPr>
          <a:xfrm rot="0">
            <a:off x="822960" y="459105"/>
            <a:ext cx="10048408" cy="617220"/>
            <a:chOff x="0" y="0"/>
            <a:chExt cx="13397877" cy="822960"/>
          </a:xfrm>
        </p:grpSpPr>
        <p:sp>
          <p:nvSpPr>
            <p:cNvPr name="Freeform 27" id="27"/>
            <p:cNvSpPr/>
            <p:nvPr/>
          </p:nvSpPr>
          <p:spPr>
            <a:xfrm flipH="false" flipV="false" rot="0">
              <a:off x="0" y="0"/>
              <a:ext cx="13397877" cy="822960"/>
            </a:xfrm>
            <a:custGeom>
              <a:avLst/>
              <a:gdLst/>
              <a:ahLst/>
              <a:cxnLst/>
              <a:rect r="r" b="b" t="t" l="l"/>
              <a:pathLst>
                <a:path h="822960" w="13397877">
                  <a:moveTo>
                    <a:pt x="0" y="0"/>
                  </a:moveTo>
                  <a:lnTo>
                    <a:pt x="13397877" y="0"/>
                  </a:lnTo>
                  <a:lnTo>
                    <a:pt x="13397877" y="822960"/>
                  </a:lnTo>
                  <a:lnTo>
                    <a:pt x="0" y="822960"/>
                  </a:lnTo>
                  <a:close/>
                </a:path>
              </a:pathLst>
            </a:custGeom>
            <a:blipFill>
              <a:blip r:embed="rId7">
                <a:alphaModFix amt="0"/>
              </a:blip>
              <a:stretch>
                <a:fillRect l="0" t="-209800" r="18100" b="-209800"/>
              </a:stretch>
            </a:blipFill>
          </p:spPr>
        </p:sp>
        <p:sp>
          <p:nvSpPr>
            <p:cNvPr name="TextBox 28" id="28"/>
            <p:cNvSpPr txBox="true"/>
            <p:nvPr/>
          </p:nvSpPr>
          <p:spPr>
            <a:xfrm>
              <a:off x="0" y="0"/>
              <a:ext cx="13397877"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Allee pits: pros and cons of connectivity</a:t>
              </a:r>
            </a:p>
          </p:txBody>
        </p:sp>
      </p:grpSp>
      <p:sp>
        <p:nvSpPr>
          <p:cNvPr name="AutoShape 29" id="29"/>
          <p:cNvSpPr/>
          <p:nvPr/>
        </p:nvSpPr>
        <p:spPr>
          <a:xfrm>
            <a:off x="13320702" y="5021217"/>
            <a:ext cx="743534" cy="0"/>
          </a:xfrm>
          <a:prstGeom prst="line">
            <a:avLst/>
          </a:prstGeom>
          <a:ln cap="rnd" w="28575">
            <a:solidFill>
              <a:srgbClr val="D9D5D4"/>
            </a:solidFill>
            <a:prstDash val="solid"/>
            <a:headEnd type="none" len="sm" w="sm"/>
            <a:tailEnd type="none" len="sm" w="sm"/>
          </a:ln>
        </p:spPr>
      </p:sp>
      <p:sp>
        <p:nvSpPr>
          <p:cNvPr name="TextBox 30" id="30"/>
          <p:cNvSpPr txBox="true"/>
          <p:nvPr/>
        </p:nvSpPr>
        <p:spPr>
          <a:xfrm rot="0">
            <a:off x="823608" y="9671443"/>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Model: Grumbach &amp; Hilker 2025, Fig. 3A–D, recomputed. Drawn with AI assistance (Claude)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59105"/>
            <a:ext cx="10048408" cy="617220"/>
            <a:chOff x="0" y="0"/>
            <a:chExt cx="13397877" cy="822960"/>
          </a:xfrm>
        </p:grpSpPr>
        <p:sp>
          <p:nvSpPr>
            <p:cNvPr name="Freeform 4" id="4"/>
            <p:cNvSpPr/>
            <p:nvPr/>
          </p:nvSpPr>
          <p:spPr>
            <a:xfrm flipH="false" flipV="false" rot="0">
              <a:off x="0" y="0"/>
              <a:ext cx="13397877" cy="822960"/>
            </a:xfrm>
            <a:custGeom>
              <a:avLst/>
              <a:gdLst/>
              <a:ahLst/>
              <a:cxnLst/>
              <a:rect r="r" b="b" t="t" l="l"/>
              <a:pathLst>
                <a:path h="822960" w="13397877">
                  <a:moveTo>
                    <a:pt x="0" y="0"/>
                  </a:moveTo>
                  <a:lnTo>
                    <a:pt x="13397877" y="0"/>
                  </a:lnTo>
                  <a:lnTo>
                    <a:pt x="13397877" y="822960"/>
                  </a:lnTo>
                  <a:lnTo>
                    <a:pt x="0" y="822960"/>
                  </a:lnTo>
                  <a:close/>
                </a:path>
              </a:pathLst>
            </a:custGeom>
            <a:blipFill>
              <a:blip r:embed="rId3">
                <a:alphaModFix amt="0"/>
              </a:blip>
              <a:stretch>
                <a:fillRect l="0" t="-209800" r="18100" b="-209800"/>
              </a:stretch>
            </a:blipFill>
          </p:spPr>
        </p:sp>
        <p:sp>
          <p:nvSpPr>
            <p:cNvPr name="TextBox 5" id="5"/>
            <p:cNvSpPr txBox="true"/>
            <p:nvPr/>
          </p:nvSpPr>
          <p:spPr>
            <a:xfrm>
              <a:off x="0" y="0"/>
              <a:ext cx="13397877"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Allee pits: reaction at different Allee strengths</a:t>
              </a:r>
            </a:p>
          </p:txBody>
        </p:sp>
      </p:grpSp>
      <p:sp>
        <p:nvSpPr>
          <p:cNvPr name="TextBox 6" id="6"/>
          <p:cNvSpPr txBox="true"/>
          <p:nvPr/>
        </p:nvSpPr>
        <p:spPr>
          <a:xfrm rot="0">
            <a:off x="823608" y="1629856"/>
            <a:ext cx="16654634" cy="549069"/>
          </a:xfrm>
          <a:prstGeom prst="rect">
            <a:avLst/>
          </a:prstGeom>
        </p:spPr>
        <p:txBody>
          <a:bodyPr anchor="t" rtlCol="false" tIns="0" lIns="0" bIns="0" rIns="0">
            <a:spAutoFit/>
          </a:bodyPr>
          <a:lstStyle/>
          <a:p>
            <a:pPr algn="l">
              <a:lnSpc>
                <a:spcPts val="2882"/>
              </a:lnSpc>
            </a:pPr>
            <a:r>
              <a:rPr lang="en-US" sz="2401">
                <a:solidFill>
                  <a:srgbClr val="717C7A"/>
                </a:solidFill>
                <a:latin typeface="Inter"/>
                <a:ea typeface="Inter"/>
                <a:cs typeface="Inter"/>
                <a:sym typeface="Inter"/>
              </a:rPr>
              <a:t>Each panel: total population (up) against dispersal rate δ (across). Dashed: no dispersal.</a:t>
            </a:r>
          </a:p>
        </p:txBody>
      </p:sp>
      <p:sp>
        <p:nvSpPr>
          <p:cNvPr name="TextBox 7" id="7"/>
          <p:cNvSpPr txBox="true"/>
          <p:nvPr/>
        </p:nvSpPr>
        <p:spPr>
          <a:xfrm rot="0">
            <a:off x="823608" y="2453464"/>
            <a:ext cx="2333539" cy="48043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E  </a:t>
            </a:r>
            <a:r>
              <a:rPr lang="en-US" sz="2101">
                <a:solidFill>
                  <a:srgbClr val="717C7A"/>
                </a:solidFill>
                <a:latin typeface="Inter"/>
                <a:ea typeface="Inter"/>
                <a:cs typeface="Inter"/>
                <a:sym typeface="Inter"/>
              </a:rPr>
              <a:t>(MB)</a:t>
            </a:r>
          </a:p>
        </p:txBody>
      </p:sp>
      <p:sp>
        <p:nvSpPr>
          <p:cNvPr name="AutoShape 8" id="8"/>
          <p:cNvSpPr/>
          <p:nvPr/>
        </p:nvSpPr>
        <p:spPr>
          <a:xfrm>
            <a:off x="816450" y="2905314"/>
            <a:ext cx="2073305" cy="14294"/>
          </a:xfrm>
          <a:prstGeom prst="line">
            <a:avLst/>
          </a:prstGeom>
          <a:ln cap="rnd" w="9525">
            <a:solidFill>
              <a:srgbClr val="C7C4C3"/>
            </a:solidFill>
            <a:prstDash val="solid"/>
            <a:headEnd type="none" len="sm" w="sm"/>
            <a:tailEnd type="none" len="sm" w="sm"/>
          </a:ln>
        </p:spPr>
      </p:sp>
      <p:grpSp>
        <p:nvGrpSpPr>
          <p:cNvPr name="Group 9" id="9"/>
          <p:cNvGrpSpPr/>
          <p:nvPr/>
        </p:nvGrpSpPr>
        <p:grpSpPr>
          <a:xfrm rot="0">
            <a:off x="823608" y="3139797"/>
            <a:ext cx="2059010" cy="1853108"/>
            <a:chOff x="0" y="0"/>
            <a:chExt cx="2745346" cy="2470810"/>
          </a:xfrm>
        </p:grpSpPr>
        <p:sp>
          <p:nvSpPr>
            <p:cNvPr name="Freeform 10" id="10" descr="pit-EK-0.05.png"/>
            <p:cNvSpPr/>
            <p:nvPr/>
          </p:nvSpPr>
          <p:spPr>
            <a:xfrm flipH="false" flipV="false" rot="0">
              <a:off x="0" y="0"/>
              <a:ext cx="2745359" cy="2470785"/>
            </a:xfrm>
            <a:custGeom>
              <a:avLst/>
              <a:gdLst/>
              <a:ahLst/>
              <a:cxnLst/>
              <a:rect r="r" b="b" t="t" l="l"/>
              <a:pathLst>
                <a:path h="2470785" w="2745359">
                  <a:moveTo>
                    <a:pt x="0" y="0"/>
                  </a:moveTo>
                  <a:lnTo>
                    <a:pt x="2745359" y="0"/>
                  </a:lnTo>
                  <a:lnTo>
                    <a:pt x="2745359" y="2470785"/>
                  </a:lnTo>
                  <a:lnTo>
                    <a:pt x="0" y="2470785"/>
                  </a:lnTo>
                  <a:lnTo>
                    <a:pt x="0" y="0"/>
                  </a:lnTo>
                  <a:close/>
                </a:path>
              </a:pathLst>
            </a:custGeom>
            <a:blipFill>
              <a:blip r:embed="rId4"/>
              <a:stretch>
                <a:fillRect l="0" t="0" r="0" b="-1"/>
              </a:stretch>
            </a:blipFill>
          </p:spPr>
        </p:sp>
      </p:grpSp>
      <p:sp>
        <p:nvSpPr>
          <p:cNvPr name="TextBox 11" id="11"/>
          <p:cNvSpPr txBox="true"/>
          <p:nvPr/>
        </p:nvSpPr>
        <p:spPr>
          <a:xfrm rot="0">
            <a:off x="823608" y="5395184"/>
            <a:ext cx="2196274" cy="558594"/>
          </a:xfrm>
          <a:prstGeom prst="rect">
            <a:avLst/>
          </a:prstGeom>
        </p:spPr>
        <p:txBody>
          <a:bodyPr anchor="t" rtlCol="false" tIns="0" lIns="0" bIns="0" rIns="0">
            <a:spAutoFit/>
          </a:bodyPr>
          <a:lstStyle/>
          <a:p>
            <a:pPr algn="l">
              <a:lnSpc>
                <a:spcPts val="2702"/>
              </a:lnSpc>
            </a:pPr>
            <a:r>
              <a:rPr lang="en-US" sz="2251">
                <a:solidFill>
                  <a:srgbClr val="717C7A"/>
                </a:solidFill>
                <a:latin typeface="Inter"/>
                <a:ea typeface="Inter"/>
                <a:cs typeface="Inter"/>
                <a:sym typeface="Inter"/>
              </a:rPr>
              <a:t>θ = </a:t>
            </a:r>
            <a:r>
              <a:rPr lang="en-US" sz="2251">
                <a:solidFill>
                  <a:srgbClr val="232E2D"/>
                </a:solidFill>
                <a:latin typeface="Inter"/>
                <a:ea typeface="Inter"/>
                <a:cs typeface="Inter"/>
                <a:sym typeface="Inter"/>
              </a:rPr>
              <a:t>0.05</a:t>
            </a:r>
          </a:p>
        </p:txBody>
      </p:sp>
      <p:sp>
        <p:nvSpPr>
          <p:cNvPr name="TextBox 12" id="12"/>
          <p:cNvSpPr txBox="true"/>
          <p:nvPr/>
        </p:nvSpPr>
        <p:spPr>
          <a:xfrm rot="0">
            <a:off x="3255978" y="2453464"/>
            <a:ext cx="2333539" cy="48043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F  (pit–MB)</a:t>
            </a:r>
          </a:p>
        </p:txBody>
      </p:sp>
      <p:sp>
        <p:nvSpPr>
          <p:cNvPr name="AutoShape 13" id="13"/>
          <p:cNvSpPr/>
          <p:nvPr/>
        </p:nvSpPr>
        <p:spPr>
          <a:xfrm>
            <a:off x="3248831" y="2905314"/>
            <a:ext cx="2073305" cy="14294"/>
          </a:xfrm>
          <a:prstGeom prst="line">
            <a:avLst/>
          </a:prstGeom>
          <a:ln cap="rnd" w="9525">
            <a:solidFill>
              <a:srgbClr val="C7C4C3"/>
            </a:solidFill>
            <a:prstDash val="solid"/>
            <a:headEnd type="none" len="sm" w="sm"/>
            <a:tailEnd type="none" len="sm" w="sm"/>
          </a:ln>
        </p:spPr>
      </p:sp>
      <p:grpSp>
        <p:nvGrpSpPr>
          <p:cNvPr name="Group 14" id="14"/>
          <p:cNvGrpSpPr/>
          <p:nvPr/>
        </p:nvGrpSpPr>
        <p:grpSpPr>
          <a:xfrm rot="0">
            <a:off x="3255978" y="3139797"/>
            <a:ext cx="2059010" cy="1853108"/>
            <a:chOff x="0" y="0"/>
            <a:chExt cx="2745346" cy="2470810"/>
          </a:xfrm>
        </p:grpSpPr>
        <p:sp>
          <p:nvSpPr>
            <p:cNvPr name="Freeform 15" id="15" descr="pit-EK-0.165.png"/>
            <p:cNvSpPr/>
            <p:nvPr/>
          </p:nvSpPr>
          <p:spPr>
            <a:xfrm flipH="false" flipV="false" rot="0">
              <a:off x="0" y="0"/>
              <a:ext cx="2745359" cy="2470785"/>
            </a:xfrm>
            <a:custGeom>
              <a:avLst/>
              <a:gdLst/>
              <a:ahLst/>
              <a:cxnLst/>
              <a:rect r="r" b="b" t="t" l="l"/>
              <a:pathLst>
                <a:path h="2470785" w="2745359">
                  <a:moveTo>
                    <a:pt x="0" y="0"/>
                  </a:moveTo>
                  <a:lnTo>
                    <a:pt x="2745359" y="0"/>
                  </a:lnTo>
                  <a:lnTo>
                    <a:pt x="2745359" y="2470785"/>
                  </a:lnTo>
                  <a:lnTo>
                    <a:pt x="0" y="2470785"/>
                  </a:lnTo>
                  <a:lnTo>
                    <a:pt x="0" y="0"/>
                  </a:lnTo>
                  <a:close/>
                </a:path>
              </a:pathLst>
            </a:custGeom>
            <a:blipFill>
              <a:blip r:embed="rId5"/>
              <a:stretch>
                <a:fillRect l="0" t="0" r="0" b="-1"/>
              </a:stretch>
            </a:blipFill>
          </p:spPr>
        </p:sp>
      </p:grpSp>
      <p:sp>
        <p:nvSpPr>
          <p:cNvPr name="TextBox 16" id="16"/>
          <p:cNvSpPr txBox="true"/>
          <p:nvPr/>
        </p:nvSpPr>
        <p:spPr>
          <a:xfrm rot="0">
            <a:off x="3255978" y="5395184"/>
            <a:ext cx="2196274" cy="558594"/>
          </a:xfrm>
          <a:prstGeom prst="rect">
            <a:avLst/>
          </a:prstGeom>
        </p:spPr>
        <p:txBody>
          <a:bodyPr anchor="t" rtlCol="false" tIns="0" lIns="0" bIns="0" rIns="0">
            <a:spAutoFit/>
          </a:bodyPr>
          <a:lstStyle/>
          <a:p>
            <a:pPr algn="l">
              <a:lnSpc>
                <a:spcPts val="2702"/>
              </a:lnSpc>
            </a:pPr>
            <a:r>
              <a:rPr lang="en-US" sz="2251">
                <a:solidFill>
                  <a:srgbClr val="717C7A"/>
                </a:solidFill>
                <a:latin typeface="Inter"/>
                <a:ea typeface="Inter"/>
                <a:cs typeface="Inter"/>
                <a:sym typeface="Inter"/>
              </a:rPr>
              <a:t>θ = </a:t>
            </a:r>
            <a:r>
              <a:rPr lang="en-US" sz="2251">
                <a:solidFill>
                  <a:srgbClr val="232E2D"/>
                </a:solidFill>
                <a:latin typeface="Inter"/>
                <a:ea typeface="Inter"/>
                <a:cs typeface="Inter"/>
                <a:sym typeface="Inter"/>
              </a:rPr>
              <a:t>0.165</a:t>
            </a:r>
          </a:p>
        </p:txBody>
      </p:sp>
      <p:sp>
        <p:nvSpPr>
          <p:cNvPr name="TextBox 17" id="17"/>
          <p:cNvSpPr txBox="true"/>
          <p:nvPr/>
        </p:nvSpPr>
        <p:spPr>
          <a:xfrm rot="0">
            <a:off x="5688349" y="2453464"/>
            <a:ext cx="2333539" cy="48043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G  (pit–UB)</a:t>
            </a:r>
          </a:p>
        </p:txBody>
      </p:sp>
      <p:sp>
        <p:nvSpPr>
          <p:cNvPr name="AutoShape 18" id="18"/>
          <p:cNvSpPr/>
          <p:nvPr/>
        </p:nvSpPr>
        <p:spPr>
          <a:xfrm>
            <a:off x="5681201" y="2905314"/>
            <a:ext cx="2073305" cy="14294"/>
          </a:xfrm>
          <a:prstGeom prst="line">
            <a:avLst/>
          </a:prstGeom>
          <a:ln cap="rnd" w="9525">
            <a:solidFill>
              <a:srgbClr val="C7C4C3"/>
            </a:solidFill>
            <a:prstDash val="solid"/>
            <a:headEnd type="none" len="sm" w="sm"/>
            <a:tailEnd type="none" len="sm" w="sm"/>
          </a:ln>
        </p:spPr>
      </p:sp>
      <p:grpSp>
        <p:nvGrpSpPr>
          <p:cNvPr name="Group 19" id="19"/>
          <p:cNvGrpSpPr/>
          <p:nvPr/>
        </p:nvGrpSpPr>
        <p:grpSpPr>
          <a:xfrm rot="0">
            <a:off x="5688349" y="3139797"/>
            <a:ext cx="2059010" cy="1853108"/>
            <a:chOff x="0" y="0"/>
            <a:chExt cx="2745346" cy="2470810"/>
          </a:xfrm>
        </p:grpSpPr>
        <p:sp>
          <p:nvSpPr>
            <p:cNvPr name="Freeform 20" id="20" descr="pit-EK-0.33.png"/>
            <p:cNvSpPr/>
            <p:nvPr/>
          </p:nvSpPr>
          <p:spPr>
            <a:xfrm flipH="false" flipV="false" rot="0">
              <a:off x="0" y="0"/>
              <a:ext cx="2745359" cy="2470785"/>
            </a:xfrm>
            <a:custGeom>
              <a:avLst/>
              <a:gdLst/>
              <a:ahLst/>
              <a:cxnLst/>
              <a:rect r="r" b="b" t="t" l="l"/>
              <a:pathLst>
                <a:path h="2470785" w="2745359">
                  <a:moveTo>
                    <a:pt x="0" y="0"/>
                  </a:moveTo>
                  <a:lnTo>
                    <a:pt x="2745359" y="0"/>
                  </a:lnTo>
                  <a:lnTo>
                    <a:pt x="2745359" y="2470785"/>
                  </a:lnTo>
                  <a:lnTo>
                    <a:pt x="0" y="2470785"/>
                  </a:lnTo>
                  <a:lnTo>
                    <a:pt x="0" y="0"/>
                  </a:lnTo>
                  <a:close/>
                </a:path>
              </a:pathLst>
            </a:custGeom>
            <a:blipFill>
              <a:blip r:embed="rId6"/>
              <a:stretch>
                <a:fillRect l="0" t="0" r="0" b="-1"/>
              </a:stretch>
            </a:blipFill>
          </p:spPr>
        </p:sp>
      </p:grpSp>
      <p:sp>
        <p:nvSpPr>
          <p:cNvPr name="TextBox 21" id="21"/>
          <p:cNvSpPr txBox="true"/>
          <p:nvPr/>
        </p:nvSpPr>
        <p:spPr>
          <a:xfrm rot="0">
            <a:off x="5688349" y="5395184"/>
            <a:ext cx="2196274" cy="558594"/>
          </a:xfrm>
          <a:prstGeom prst="rect">
            <a:avLst/>
          </a:prstGeom>
        </p:spPr>
        <p:txBody>
          <a:bodyPr anchor="t" rtlCol="false" tIns="0" lIns="0" bIns="0" rIns="0">
            <a:spAutoFit/>
          </a:bodyPr>
          <a:lstStyle/>
          <a:p>
            <a:pPr algn="l">
              <a:lnSpc>
                <a:spcPts val="2702"/>
              </a:lnSpc>
            </a:pPr>
            <a:r>
              <a:rPr lang="en-US" sz="2251">
                <a:solidFill>
                  <a:srgbClr val="717C7A"/>
                </a:solidFill>
                <a:latin typeface="Inter"/>
                <a:ea typeface="Inter"/>
                <a:cs typeface="Inter"/>
                <a:sym typeface="Inter"/>
              </a:rPr>
              <a:t>θ = </a:t>
            </a:r>
            <a:r>
              <a:rPr lang="en-US" sz="2251">
                <a:solidFill>
                  <a:srgbClr val="232E2D"/>
                </a:solidFill>
                <a:latin typeface="Inter"/>
                <a:ea typeface="Inter"/>
                <a:cs typeface="Inter"/>
                <a:sym typeface="Inter"/>
              </a:rPr>
              <a:t>0.33</a:t>
            </a:r>
          </a:p>
        </p:txBody>
      </p:sp>
      <p:sp>
        <p:nvSpPr>
          <p:cNvPr name="TextBox 22" id="22"/>
          <p:cNvSpPr txBox="true"/>
          <p:nvPr/>
        </p:nvSpPr>
        <p:spPr>
          <a:xfrm rot="0">
            <a:off x="8120729" y="2453464"/>
            <a:ext cx="2333539" cy="48043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H  (pit–BTD)</a:t>
            </a:r>
          </a:p>
        </p:txBody>
      </p:sp>
      <p:sp>
        <p:nvSpPr>
          <p:cNvPr name="AutoShape 23" id="23"/>
          <p:cNvSpPr/>
          <p:nvPr/>
        </p:nvSpPr>
        <p:spPr>
          <a:xfrm>
            <a:off x="8113582" y="2905314"/>
            <a:ext cx="2073305" cy="14294"/>
          </a:xfrm>
          <a:prstGeom prst="line">
            <a:avLst/>
          </a:prstGeom>
          <a:ln cap="rnd" w="9525">
            <a:solidFill>
              <a:srgbClr val="C7C4C3"/>
            </a:solidFill>
            <a:prstDash val="solid"/>
            <a:headEnd type="none" len="sm" w="sm"/>
            <a:tailEnd type="none" len="sm" w="sm"/>
          </a:ln>
        </p:spPr>
      </p:sp>
      <p:grpSp>
        <p:nvGrpSpPr>
          <p:cNvPr name="Group 24" id="24"/>
          <p:cNvGrpSpPr/>
          <p:nvPr/>
        </p:nvGrpSpPr>
        <p:grpSpPr>
          <a:xfrm rot="0">
            <a:off x="8120729" y="3139797"/>
            <a:ext cx="2059010" cy="1853108"/>
            <a:chOff x="0" y="0"/>
            <a:chExt cx="2745346" cy="2470810"/>
          </a:xfrm>
        </p:grpSpPr>
        <p:sp>
          <p:nvSpPr>
            <p:cNvPr name="Freeform 25" id="25" descr="pit-EK-0.345.png"/>
            <p:cNvSpPr/>
            <p:nvPr/>
          </p:nvSpPr>
          <p:spPr>
            <a:xfrm flipH="false" flipV="false" rot="0">
              <a:off x="0" y="0"/>
              <a:ext cx="2745359" cy="2470785"/>
            </a:xfrm>
            <a:custGeom>
              <a:avLst/>
              <a:gdLst/>
              <a:ahLst/>
              <a:cxnLst/>
              <a:rect r="r" b="b" t="t" l="l"/>
              <a:pathLst>
                <a:path h="2470785" w="2745359">
                  <a:moveTo>
                    <a:pt x="0" y="0"/>
                  </a:moveTo>
                  <a:lnTo>
                    <a:pt x="2745359" y="0"/>
                  </a:lnTo>
                  <a:lnTo>
                    <a:pt x="2745359" y="2470785"/>
                  </a:lnTo>
                  <a:lnTo>
                    <a:pt x="0" y="2470785"/>
                  </a:lnTo>
                  <a:lnTo>
                    <a:pt x="0" y="0"/>
                  </a:lnTo>
                  <a:close/>
                </a:path>
              </a:pathLst>
            </a:custGeom>
            <a:blipFill>
              <a:blip r:embed="rId7"/>
              <a:stretch>
                <a:fillRect l="0" t="0" r="0" b="-1"/>
              </a:stretch>
            </a:blipFill>
          </p:spPr>
        </p:sp>
      </p:grpSp>
      <p:sp>
        <p:nvSpPr>
          <p:cNvPr name="TextBox 26" id="26"/>
          <p:cNvSpPr txBox="true"/>
          <p:nvPr/>
        </p:nvSpPr>
        <p:spPr>
          <a:xfrm rot="0">
            <a:off x="8120729" y="5395184"/>
            <a:ext cx="2196274" cy="558594"/>
          </a:xfrm>
          <a:prstGeom prst="rect">
            <a:avLst/>
          </a:prstGeom>
        </p:spPr>
        <p:txBody>
          <a:bodyPr anchor="t" rtlCol="false" tIns="0" lIns="0" bIns="0" rIns="0">
            <a:spAutoFit/>
          </a:bodyPr>
          <a:lstStyle/>
          <a:p>
            <a:pPr algn="l">
              <a:lnSpc>
                <a:spcPts val="2702"/>
              </a:lnSpc>
            </a:pPr>
            <a:r>
              <a:rPr lang="en-US" sz="2251">
                <a:solidFill>
                  <a:srgbClr val="717C7A"/>
                </a:solidFill>
                <a:latin typeface="Inter"/>
                <a:ea typeface="Inter"/>
                <a:cs typeface="Inter"/>
                <a:sym typeface="Inter"/>
              </a:rPr>
              <a:t>θ = </a:t>
            </a:r>
            <a:r>
              <a:rPr lang="en-US" sz="2251">
                <a:solidFill>
                  <a:srgbClr val="232E2D"/>
                </a:solidFill>
                <a:latin typeface="Inter"/>
                <a:ea typeface="Inter"/>
                <a:cs typeface="Inter"/>
                <a:sym typeface="Inter"/>
              </a:rPr>
              <a:t>0.345</a:t>
            </a:r>
          </a:p>
        </p:txBody>
      </p:sp>
      <p:sp>
        <p:nvSpPr>
          <p:cNvPr name="TextBox 27" id="27"/>
          <p:cNvSpPr txBox="true"/>
          <p:nvPr/>
        </p:nvSpPr>
        <p:spPr>
          <a:xfrm rot="0">
            <a:off x="10553109" y="2453464"/>
            <a:ext cx="2333539" cy="48043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I  (pit–MD)</a:t>
            </a:r>
          </a:p>
        </p:txBody>
      </p:sp>
      <p:sp>
        <p:nvSpPr>
          <p:cNvPr name="AutoShape 28" id="28"/>
          <p:cNvSpPr/>
          <p:nvPr/>
        </p:nvSpPr>
        <p:spPr>
          <a:xfrm>
            <a:off x="10545952" y="2905314"/>
            <a:ext cx="2073305" cy="14294"/>
          </a:xfrm>
          <a:prstGeom prst="line">
            <a:avLst/>
          </a:prstGeom>
          <a:ln cap="rnd" w="9525">
            <a:solidFill>
              <a:srgbClr val="C7C4C3"/>
            </a:solidFill>
            <a:prstDash val="solid"/>
            <a:headEnd type="none" len="sm" w="sm"/>
            <a:tailEnd type="none" len="sm" w="sm"/>
          </a:ln>
        </p:spPr>
      </p:sp>
      <p:grpSp>
        <p:nvGrpSpPr>
          <p:cNvPr name="Group 29" id="29"/>
          <p:cNvGrpSpPr/>
          <p:nvPr/>
        </p:nvGrpSpPr>
        <p:grpSpPr>
          <a:xfrm rot="0">
            <a:off x="10553109" y="3139797"/>
            <a:ext cx="2059010" cy="1853108"/>
            <a:chOff x="0" y="0"/>
            <a:chExt cx="2745346" cy="2470810"/>
          </a:xfrm>
        </p:grpSpPr>
        <p:sp>
          <p:nvSpPr>
            <p:cNvPr name="Freeform 30" id="30" descr="pit-EK-0.371.png"/>
            <p:cNvSpPr/>
            <p:nvPr/>
          </p:nvSpPr>
          <p:spPr>
            <a:xfrm flipH="false" flipV="false" rot="0">
              <a:off x="0" y="0"/>
              <a:ext cx="2745359" cy="2470785"/>
            </a:xfrm>
            <a:custGeom>
              <a:avLst/>
              <a:gdLst/>
              <a:ahLst/>
              <a:cxnLst/>
              <a:rect r="r" b="b" t="t" l="l"/>
              <a:pathLst>
                <a:path h="2470785" w="2745359">
                  <a:moveTo>
                    <a:pt x="0" y="0"/>
                  </a:moveTo>
                  <a:lnTo>
                    <a:pt x="2745359" y="0"/>
                  </a:lnTo>
                  <a:lnTo>
                    <a:pt x="2745359" y="2470785"/>
                  </a:lnTo>
                  <a:lnTo>
                    <a:pt x="0" y="2470785"/>
                  </a:lnTo>
                  <a:lnTo>
                    <a:pt x="0" y="0"/>
                  </a:lnTo>
                  <a:close/>
                </a:path>
              </a:pathLst>
            </a:custGeom>
            <a:blipFill>
              <a:blip r:embed="rId8"/>
              <a:stretch>
                <a:fillRect l="0" t="0" r="0" b="-1"/>
              </a:stretch>
            </a:blipFill>
          </p:spPr>
        </p:sp>
      </p:grpSp>
      <p:sp>
        <p:nvSpPr>
          <p:cNvPr name="TextBox 31" id="31"/>
          <p:cNvSpPr txBox="true"/>
          <p:nvPr/>
        </p:nvSpPr>
        <p:spPr>
          <a:xfrm rot="0">
            <a:off x="10553109" y="5395184"/>
            <a:ext cx="2196274" cy="558594"/>
          </a:xfrm>
          <a:prstGeom prst="rect">
            <a:avLst/>
          </a:prstGeom>
        </p:spPr>
        <p:txBody>
          <a:bodyPr anchor="t" rtlCol="false" tIns="0" lIns="0" bIns="0" rIns="0">
            <a:spAutoFit/>
          </a:bodyPr>
          <a:lstStyle/>
          <a:p>
            <a:pPr algn="l">
              <a:lnSpc>
                <a:spcPts val="2702"/>
              </a:lnSpc>
            </a:pPr>
            <a:r>
              <a:rPr lang="en-US" sz="2251">
                <a:solidFill>
                  <a:srgbClr val="717C7A"/>
                </a:solidFill>
                <a:latin typeface="Inter"/>
                <a:ea typeface="Inter"/>
                <a:cs typeface="Inter"/>
                <a:sym typeface="Inter"/>
              </a:rPr>
              <a:t>θ = </a:t>
            </a:r>
            <a:r>
              <a:rPr lang="en-US" sz="2251">
                <a:solidFill>
                  <a:srgbClr val="232E2D"/>
                </a:solidFill>
                <a:latin typeface="Inter"/>
                <a:ea typeface="Inter"/>
                <a:cs typeface="Inter"/>
                <a:sym typeface="Inter"/>
              </a:rPr>
              <a:t>0.371</a:t>
            </a:r>
          </a:p>
        </p:txBody>
      </p:sp>
      <p:sp>
        <p:nvSpPr>
          <p:cNvPr name="TextBox 32" id="32"/>
          <p:cNvSpPr txBox="true"/>
          <p:nvPr/>
        </p:nvSpPr>
        <p:spPr>
          <a:xfrm rot="0">
            <a:off x="12985480" y="2453464"/>
            <a:ext cx="2333539" cy="48043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J  </a:t>
            </a:r>
            <a:r>
              <a:rPr lang="en-US" sz="2101">
                <a:solidFill>
                  <a:srgbClr val="717C7A"/>
                </a:solidFill>
                <a:latin typeface="Inter"/>
                <a:ea typeface="Inter"/>
                <a:cs typeface="Inter"/>
                <a:sym typeface="Inter"/>
              </a:rPr>
              <a:t>(MD–Extinct)</a:t>
            </a:r>
          </a:p>
        </p:txBody>
      </p:sp>
      <p:sp>
        <p:nvSpPr>
          <p:cNvPr name="AutoShape 33" id="33"/>
          <p:cNvSpPr/>
          <p:nvPr/>
        </p:nvSpPr>
        <p:spPr>
          <a:xfrm>
            <a:off x="12978332" y="2905314"/>
            <a:ext cx="2073305" cy="14294"/>
          </a:xfrm>
          <a:prstGeom prst="line">
            <a:avLst/>
          </a:prstGeom>
          <a:ln cap="rnd" w="9525">
            <a:solidFill>
              <a:srgbClr val="C7C4C3"/>
            </a:solidFill>
            <a:prstDash val="solid"/>
            <a:headEnd type="none" len="sm" w="sm"/>
            <a:tailEnd type="none" len="sm" w="sm"/>
          </a:ln>
        </p:spPr>
      </p:sp>
      <p:grpSp>
        <p:nvGrpSpPr>
          <p:cNvPr name="Group 34" id="34"/>
          <p:cNvGrpSpPr/>
          <p:nvPr/>
        </p:nvGrpSpPr>
        <p:grpSpPr>
          <a:xfrm rot="0">
            <a:off x="12985480" y="3139797"/>
            <a:ext cx="2059010" cy="1853108"/>
            <a:chOff x="0" y="0"/>
            <a:chExt cx="2745346" cy="2470810"/>
          </a:xfrm>
        </p:grpSpPr>
        <p:sp>
          <p:nvSpPr>
            <p:cNvPr name="Freeform 35" id="35" descr="pit-EK-0.48.png"/>
            <p:cNvSpPr/>
            <p:nvPr/>
          </p:nvSpPr>
          <p:spPr>
            <a:xfrm flipH="false" flipV="false" rot="0">
              <a:off x="0" y="0"/>
              <a:ext cx="2745359" cy="2470785"/>
            </a:xfrm>
            <a:custGeom>
              <a:avLst/>
              <a:gdLst/>
              <a:ahLst/>
              <a:cxnLst/>
              <a:rect r="r" b="b" t="t" l="l"/>
              <a:pathLst>
                <a:path h="2470785" w="2745359">
                  <a:moveTo>
                    <a:pt x="0" y="0"/>
                  </a:moveTo>
                  <a:lnTo>
                    <a:pt x="2745359" y="0"/>
                  </a:lnTo>
                  <a:lnTo>
                    <a:pt x="2745359" y="2470785"/>
                  </a:lnTo>
                  <a:lnTo>
                    <a:pt x="0" y="2470785"/>
                  </a:lnTo>
                  <a:lnTo>
                    <a:pt x="0" y="0"/>
                  </a:lnTo>
                  <a:close/>
                </a:path>
              </a:pathLst>
            </a:custGeom>
            <a:blipFill>
              <a:blip r:embed="rId9"/>
              <a:stretch>
                <a:fillRect l="0" t="0" r="0" b="-1"/>
              </a:stretch>
            </a:blipFill>
          </p:spPr>
        </p:sp>
      </p:grpSp>
      <p:sp>
        <p:nvSpPr>
          <p:cNvPr name="TextBox 36" id="36"/>
          <p:cNvSpPr txBox="true"/>
          <p:nvPr/>
        </p:nvSpPr>
        <p:spPr>
          <a:xfrm rot="0">
            <a:off x="12985480" y="5395184"/>
            <a:ext cx="2196274" cy="558594"/>
          </a:xfrm>
          <a:prstGeom prst="rect">
            <a:avLst/>
          </a:prstGeom>
        </p:spPr>
        <p:txBody>
          <a:bodyPr anchor="t" rtlCol="false" tIns="0" lIns="0" bIns="0" rIns="0">
            <a:spAutoFit/>
          </a:bodyPr>
          <a:lstStyle/>
          <a:p>
            <a:pPr algn="l">
              <a:lnSpc>
                <a:spcPts val="2702"/>
              </a:lnSpc>
            </a:pPr>
            <a:r>
              <a:rPr lang="en-US" sz="2251">
                <a:solidFill>
                  <a:srgbClr val="717C7A"/>
                </a:solidFill>
                <a:latin typeface="Inter"/>
                <a:ea typeface="Inter"/>
                <a:cs typeface="Inter"/>
                <a:sym typeface="Inter"/>
              </a:rPr>
              <a:t>θ = </a:t>
            </a:r>
            <a:r>
              <a:rPr lang="en-US" sz="2251">
                <a:solidFill>
                  <a:srgbClr val="232E2D"/>
                </a:solidFill>
                <a:latin typeface="Inter"/>
                <a:ea typeface="Inter"/>
                <a:cs typeface="Inter"/>
                <a:sym typeface="Inter"/>
              </a:rPr>
              <a:t>0.48</a:t>
            </a:r>
          </a:p>
        </p:txBody>
      </p:sp>
      <p:sp>
        <p:nvSpPr>
          <p:cNvPr name="TextBox 37" id="37"/>
          <p:cNvSpPr txBox="true"/>
          <p:nvPr/>
        </p:nvSpPr>
        <p:spPr>
          <a:xfrm rot="0">
            <a:off x="15417851" y="2453464"/>
            <a:ext cx="2333539" cy="480431"/>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K  </a:t>
            </a:r>
            <a:r>
              <a:rPr lang="en-US" sz="2101">
                <a:solidFill>
                  <a:srgbClr val="717C7A"/>
                </a:solidFill>
                <a:latin typeface="Inter"/>
                <a:ea typeface="Inter"/>
                <a:cs typeface="Inter"/>
                <a:sym typeface="Inter"/>
              </a:rPr>
              <a:t>(Extinct)</a:t>
            </a:r>
          </a:p>
        </p:txBody>
      </p:sp>
      <p:sp>
        <p:nvSpPr>
          <p:cNvPr name="AutoShape 38" id="38"/>
          <p:cNvSpPr/>
          <p:nvPr/>
        </p:nvSpPr>
        <p:spPr>
          <a:xfrm>
            <a:off x="15410703" y="2905314"/>
            <a:ext cx="2073305" cy="14294"/>
          </a:xfrm>
          <a:prstGeom prst="line">
            <a:avLst/>
          </a:prstGeom>
          <a:ln cap="rnd" w="9525">
            <a:solidFill>
              <a:srgbClr val="C7C4C3"/>
            </a:solidFill>
            <a:prstDash val="solid"/>
            <a:headEnd type="none" len="sm" w="sm"/>
            <a:tailEnd type="none" len="sm" w="sm"/>
          </a:ln>
        </p:spPr>
      </p:sp>
      <p:grpSp>
        <p:nvGrpSpPr>
          <p:cNvPr name="Group 39" id="39"/>
          <p:cNvGrpSpPr/>
          <p:nvPr/>
        </p:nvGrpSpPr>
        <p:grpSpPr>
          <a:xfrm rot="0">
            <a:off x="15417851" y="3139797"/>
            <a:ext cx="2059010" cy="1853108"/>
            <a:chOff x="0" y="0"/>
            <a:chExt cx="2745346" cy="2470810"/>
          </a:xfrm>
        </p:grpSpPr>
        <p:sp>
          <p:nvSpPr>
            <p:cNvPr name="Freeform 40" id="40" descr="pit-EK-0.7.png"/>
            <p:cNvSpPr/>
            <p:nvPr/>
          </p:nvSpPr>
          <p:spPr>
            <a:xfrm flipH="false" flipV="false" rot="0">
              <a:off x="0" y="0"/>
              <a:ext cx="2745359" cy="2470785"/>
            </a:xfrm>
            <a:custGeom>
              <a:avLst/>
              <a:gdLst/>
              <a:ahLst/>
              <a:cxnLst/>
              <a:rect r="r" b="b" t="t" l="l"/>
              <a:pathLst>
                <a:path h="2470785" w="2745359">
                  <a:moveTo>
                    <a:pt x="0" y="0"/>
                  </a:moveTo>
                  <a:lnTo>
                    <a:pt x="2745359" y="0"/>
                  </a:lnTo>
                  <a:lnTo>
                    <a:pt x="2745359" y="2470785"/>
                  </a:lnTo>
                  <a:lnTo>
                    <a:pt x="0" y="2470785"/>
                  </a:lnTo>
                  <a:lnTo>
                    <a:pt x="0" y="0"/>
                  </a:lnTo>
                  <a:close/>
                </a:path>
              </a:pathLst>
            </a:custGeom>
            <a:blipFill>
              <a:blip r:embed="rId10"/>
              <a:stretch>
                <a:fillRect l="0" t="0" r="0" b="-1"/>
              </a:stretch>
            </a:blipFill>
          </p:spPr>
        </p:sp>
      </p:grpSp>
      <p:sp>
        <p:nvSpPr>
          <p:cNvPr name="TextBox 41" id="41"/>
          <p:cNvSpPr txBox="true"/>
          <p:nvPr/>
        </p:nvSpPr>
        <p:spPr>
          <a:xfrm rot="0">
            <a:off x="15417851" y="5395184"/>
            <a:ext cx="2196274" cy="558594"/>
          </a:xfrm>
          <a:prstGeom prst="rect">
            <a:avLst/>
          </a:prstGeom>
        </p:spPr>
        <p:txBody>
          <a:bodyPr anchor="t" rtlCol="false" tIns="0" lIns="0" bIns="0" rIns="0">
            <a:spAutoFit/>
          </a:bodyPr>
          <a:lstStyle/>
          <a:p>
            <a:pPr algn="l">
              <a:lnSpc>
                <a:spcPts val="2702"/>
              </a:lnSpc>
            </a:pPr>
            <a:r>
              <a:rPr lang="en-US" sz="2251">
                <a:solidFill>
                  <a:srgbClr val="717C7A"/>
                </a:solidFill>
                <a:latin typeface="Inter"/>
                <a:ea typeface="Inter"/>
                <a:cs typeface="Inter"/>
                <a:sym typeface="Inter"/>
              </a:rPr>
              <a:t>θ = </a:t>
            </a:r>
            <a:r>
              <a:rPr lang="en-US" sz="2251">
                <a:solidFill>
                  <a:srgbClr val="232E2D"/>
                </a:solidFill>
                <a:latin typeface="Inter"/>
                <a:ea typeface="Inter"/>
                <a:cs typeface="Inter"/>
                <a:sym typeface="Inter"/>
              </a:rPr>
              <a:t>0.7</a:t>
            </a:r>
          </a:p>
        </p:txBody>
      </p:sp>
      <p:sp>
        <p:nvSpPr>
          <p:cNvPr name="TextBox 42" id="42"/>
          <p:cNvSpPr txBox="true"/>
          <p:nvPr/>
        </p:nvSpPr>
        <p:spPr>
          <a:xfrm rot="0">
            <a:off x="823608" y="5006630"/>
            <a:ext cx="16654634" cy="411804"/>
          </a:xfrm>
          <a:prstGeom prst="rect">
            <a:avLst/>
          </a:prstGeom>
        </p:spPr>
        <p:txBody>
          <a:bodyPr anchor="t" rtlCol="false" tIns="0" lIns="0" bIns="0" rIns="0">
            <a:spAutoFit/>
          </a:bodyPr>
          <a:lstStyle/>
          <a:p>
            <a:pPr algn="ctr">
              <a:lnSpc>
                <a:spcPts val="2161"/>
              </a:lnSpc>
            </a:pPr>
            <a:r>
              <a:rPr lang="en-US" sz="1801">
                <a:solidFill>
                  <a:srgbClr val="717C7A"/>
                </a:solidFill>
                <a:latin typeface="Inter"/>
                <a:ea typeface="Inter"/>
                <a:cs typeface="Inter"/>
                <a:sym typeface="Inter"/>
              </a:rPr>
              <a:t>dispersal rate δ</a:t>
            </a:r>
          </a:p>
        </p:txBody>
      </p:sp>
      <p:sp>
        <p:nvSpPr>
          <p:cNvPr name="TextBox 43" id="43"/>
          <p:cNvSpPr txBox="true"/>
          <p:nvPr/>
        </p:nvSpPr>
        <p:spPr>
          <a:xfrm rot="0">
            <a:off x="823608" y="5894196"/>
            <a:ext cx="8236039"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Allee strength rises →</a:t>
            </a:r>
          </a:p>
        </p:txBody>
      </p:sp>
      <p:sp>
        <p:nvSpPr>
          <p:cNvPr name="TextBox 44" id="44"/>
          <p:cNvSpPr txBox="true"/>
          <p:nvPr/>
        </p:nvSpPr>
        <p:spPr>
          <a:xfrm rot="0">
            <a:off x="823608" y="6944175"/>
            <a:ext cx="7961500" cy="489956"/>
          </a:xfrm>
          <a:prstGeom prst="rect">
            <a:avLst/>
          </a:prstGeom>
        </p:spPr>
        <p:txBody>
          <a:bodyPr anchor="t" rtlCol="false" tIns="0" lIns="0" bIns="0" rIns="0">
            <a:spAutoFit/>
          </a:bodyPr>
          <a:lstStyle/>
          <a:p>
            <a:pPr algn="l">
              <a:lnSpc>
                <a:spcPts val="2702"/>
              </a:lnSpc>
            </a:pPr>
            <a:r>
              <a:rPr lang="en-US" sz="2251">
                <a:solidFill>
                  <a:srgbClr val="232E2D"/>
                </a:solidFill>
                <a:latin typeface="Inter"/>
                <a:ea typeface="Inter"/>
                <a:cs typeface="Inter"/>
                <a:sym typeface="Inter"/>
              </a:rPr>
              <a:t>MB</a:t>
            </a:r>
            <a:r>
              <a:rPr lang="en-US" sz="2251">
                <a:solidFill>
                  <a:srgbClr val="717C7A"/>
                </a:solidFill>
                <a:latin typeface="Inter"/>
                <a:ea typeface="Inter"/>
                <a:cs typeface="Inter"/>
                <a:sym typeface="Inter"/>
              </a:rPr>
              <a:t>   monotonically beneficial</a:t>
            </a:r>
          </a:p>
        </p:txBody>
      </p:sp>
      <p:sp>
        <p:nvSpPr>
          <p:cNvPr name="TextBox 45" id="45"/>
          <p:cNvSpPr txBox="true"/>
          <p:nvPr/>
        </p:nvSpPr>
        <p:spPr>
          <a:xfrm rot="0">
            <a:off x="823608" y="7381060"/>
            <a:ext cx="7961500" cy="489956"/>
          </a:xfrm>
          <a:prstGeom prst="rect">
            <a:avLst/>
          </a:prstGeom>
        </p:spPr>
        <p:txBody>
          <a:bodyPr anchor="t" rtlCol="false" tIns="0" lIns="0" bIns="0" rIns="0">
            <a:spAutoFit/>
          </a:bodyPr>
          <a:lstStyle/>
          <a:p>
            <a:pPr algn="l">
              <a:lnSpc>
                <a:spcPts val="2702"/>
              </a:lnSpc>
            </a:pPr>
            <a:r>
              <a:rPr lang="en-US" sz="2251">
                <a:solidFill>
                  <a:srgbClr val="232E2D"/>
                </a:solidFill>
                <a:latin typeface="Inter"/>
                <a:ea typeface="Inter"/>
                <a:cs typeface="Inter"/>
                <a:sym typeface="Inter"/>
              </a:rPr>
              <a:t>UB</a:t>
            </a:r>
            <a:r>
              <a:rPr lang="en-US" sz="2251">
                <a:solidFill>
                  <a:srgbClr val="717C7A"/>
                </a:solidFill>
                <a:latin typeface="Inter"/>
                <a:ea typeface="Inter"/>
                <a:cs typeface="Inter"/>
                <a:sym typeface="Inter"/>
              </a:rPr>
              <a:t>   unimodally beneficial</a:t>
            </a:r>
          </a:p>
        </p:txBody>
      </p:sp>
      <p:sp>
        <p:nvSpPr>
          <p:cNvPr name="TextBox 46" id="46"/>
          <p:cNvSpPr txBox="true"/>
          <p:nvPr/>
        </p:nvSpPr>
        <p:spPr>
          <a:xfrm rot="0">
            <a:off x="823608" y="7805016"/>
            <a:ext cx="7961500" cy="489956"/>
          </a:xfrm>
          <a:prstGeom prst="rect">
            <a:avLst/>
          </a:prstGeom>
        </p:spPr>
        <p:txBody>
          <a:bodyPr anchor="t" rtlCol="false" tIns="0" lIns="0" bIns="0" rIns="0">
            <a:spAutoFit/>
          </a:bodyPr>
          <a:lstStyle/>
          <a:p>
            <a:pPr algn="l">
              <a:lnSpc>
                <a:spcPts val="2702"/>
              </a:lnSpc>
            </a:pPr>
            <a:r>
              <a:rPr lang="en-US" sz="2251">
                <a:solidFill>
                  <a:srgbClr val="232E2D"/>
                </a:solidFill>
                <a:latin typeface="Inter"/>
                <a:ea typeface="Inter"/>
                <a:cs typeface="Inter"/>
                <a:sym typeface="Inter"/>
              </a:rPr>
              <a:t>BTD</a:t>
            </a:r>
            <a:r>
              <a:rPr lang="en-US" sz="2251">
                <a:solidFill>
                  <a:srgbClr val="717C7A"/>
                </a:solidFill>
                <a:latin typeface="Inter"/>
                <a:ea typeface="Inter"/>
                <a:cs typeface="Inter"/>
                <a:sym typeface="Inter"/>
              </a:rPr>
              <a:t>   beneficial turning detrimental</a:t>
            </a:r>
          </a:p>
        </p:txBody>
      </p:sp>
      <p:sp>
        <p:nvSpPr>
          <p:cNvPr name="TextBox 47" id="47"/>
          <p:cNvSpPr txBox="true"/>
          <p:nvPr/>
        </p:nvSpPr>
        <p:spPr>
          <a:xfrm rot="0">
            <a:off x="823608" y="8237822"/>
            <a:ext cx="7961500" cy="489956"/>
          </a:xfrm>
          <a:prstGeom prst="rect">
            <a:avLst/>
          </a:prstGeom>
        </p:spPr>
        <p:txBody>
          <a:bodyPr anchor="t" rtlCol="false" tIns="0" lIns="0" bIns="0" rIns="0">
            <a:spAutoFit/>
          </a:bodyPr>
          <a:lstStyle/>
          <a:p>
            <a:pPr algn="l">
              <a:lnSpc>
                <a:spcPts val="2702"/>
              </a:lnSpc>
            </a:pPr>
            <a:r>
              <a:rPr lang="en-US" sz="2251">
                <a:solidFill>
                  <a:srgbClr val="232E2D"/>
                </a:solidFill>
                <a:latin typeface="Inter"/>
                <a:ea typeface="Inter"/>
                <a:cs typeface="Inter"/>
                <a:sym typeface="Inter"/>
              </a:rPr>
              <a:t>MD</a:t>
            </a:r>
            <a:r>
              <a:rPr lang="en-US" sz="2251">
                <a:solidFill>
                  <a:srgbClr val="717C7A"/>
                </a:solidFill>
                <a:latin typeface="Inter"/>
                <a:ea typeface="Inter"/>
                <a:cs typeface="Inter"/>
                <a:sym typeface="Inter"/>
              </a:rPr>
              <a:t>   monotonic decrease</a:t>
            </a:r>
          </a:p>
        </p:txBody>
      </p:sp>
      <p:sp>
        <p:nvSpPr>
          <p:cNvPr name="TextBox 48" id="48"/>
          <p:cNvSpPr txBox="true"/>
          <p:nvPr/>
        </p:nvSpPr>
        <p:spPr>
          <a:xfrm rot="0">
            <a:off x="823608" y="8670629"/>
            <a:ext cx="7961500" cy="489956"/>
          </a:xfrm>
          <a:prstGeom prst="rect">
            <a:avLst/>
          </a:prstGeom>
        </p:spPr>
        <p:txBody>
          <a:bodyPr anchor="t" rtlCol="false" tIns="0" lIns="0" bIns="0" rIns="0">
            <a:spAutoFit/>
          </a:bodyPr>
          <a:lstStyle/>
          <a:p>
            <a:pPr algn="l">
              <a:lnSpc>
                <a:spcPts val="2702"/>
              </a:lnSpc>
            </a:pPr>
            <a:r>
              <a:rPr lang="en-US" sz="2251">
                <a:solidFill>
                  <a:srgbClr val="232E2D"/>
                </a:solidFill>
                <a:latin typeface="Inter"/>
                <a:ea typeface="Inter"/>
                <a:cs typeface="Inter"/>
                <a:sym typeface="Inter"/>
              </a:rPr>
              <a:t>pit–</a:t>
            </a:r>
            <a:r>
              <a:rPr lang="en-US" sz="2251">
                <a:solidFill>
                  <a:srgbClr val="717C7A"/>
                </a:solidFill>
                <a:latin typeface="Inter"/>
                <a:ea typeface="Inter"/>
                <a:cs typeface="Inter"/>
                <a:sym typeface="Inter"/>
              </a:rPr>
              <a:t>   with an Allee pit first</a:t>
            </a:r>
          </a:p>
        </p:txBody>
      </p:sp>
      <p:grpSp>
        <p:nvGrpSpPr>
          <p:cNvPr name="Group 49" id="49"/>
          <p:cNvGrpSpPr/>
          <p:nvPr/>
        </p:nvGrpSpPr>
        <p:grpSpPr>
          <a:xfrm rot="0">
            <a:off x="6882322" y="6834297"/>
            <a:ext cx="10541446" cy="2150085"/>
            <a:chOff x="0" y="0"/>
            <a:chExt cx="9515508" cy="1940830"/>
          </a:xfrm>
        </p:grpSpPr>
        <p:sp>
          <p:nvSpPr>
            <p:cNvPr name="Freeform 50" id="50"/>
            <p:cNvSpPr/>
            <p:nvPr/>
          </p:nvSpPr>
          <p:spPr>
            <a:xfrm flipH="false" flipV="false" rot="0">
              <a:off x="0" y="0"/>
              <a:ext cx="9515547" cy="1940830"/>
            </a:xfrm>
            <a:custGeom>
              <a:avLst/>
              <a:gdLst/>
              <a:ahLst/>
              <a:cxnLst/>
              <a:rect r="r" b="b" t="t" l="l"/>
              <a:pathLst>
                <a:path h="1940830" w="9515547">
                  <a:moveTo>
                    <a:pt x="66367" y="0"/>
                  </a:moveTo>
                  <a:lnTo>
                    <a:pt x="9449181" y="0"/>
                  </a:lnTo>
                  <a:cubicBezTo>
                    <a:pt x="9466782" y="0"/>
                    <a:pt x="9483662" y="6992"/>
                    <a:pt x="9496109" y="19438"/>
                  </a:cubicBezTo>
                  <a:cubicBezTo>
                    <a:pt x="9508555" y="31885"/>
                    <a:pt x="9515547" y="48765"/>
                    <a:pt x="9515547" y="66367"/>
                  </a:cubicBezTo>
                  <a:lnTo>
                    <a:pt x="9515547" y="1874463"/>
                  </a:lnTo>
                  <a:cubicBezTo>
                    <a:pt x="9515547" y="1911117"/>
                    <a:pt x="9485833" y="1940830"/>
                    <a:pt x="9449181" y="1940830"/>
                  </a:cubicBezTo>
                  <a:lnTo>
                    <a:pt x="66367" y="1940830"/>
                  </a:lnTo>
                  <a:cubicBezTo>
                    <a:pt x="48765" y="1940830"/>
                    <a:pt x="31885" y="1933838"/>
                    <a:pt x="19438" y="1921392"/>
                  </a:cubicBezTo>
                  <a:cubicBezTo>
                    <a:pt x="6992" y="1908946"/>
                    <a:pt x="0" y="1892065"/>
                    <a:pt x="0" y="1874463"/>
                  </a:cubicBezTo>
                  <a:lnTo>
                    <a:pt x="0" y="66367"/>
                  </a:lnTo>
                  <a:cubicBezTo>
                    <a:pt x="0" y="48765"/>
                    <a:pt x="6992" y="31885"/>
                    <a:pt x="19438" y="19438"/>
                  </a:cubicBezTo>
                  <a:cubicBezTo>
                    <a:pt x="31885" y="6992"/>
                    <a:pt x="48765" y="0"/>
                    <a:pt x="66367" y="0"/>
                  </a:cubicBezTo>
                  <a:close/>
                </a:path>
              </a:pathLst>
            </a:custGeom>
            <a:solidFill>
              <a:srgbClr val="D9D4CF">
                <a:alpha val="24706"/>
              </a:srgbClr>
            </a:solidFill>
          </p:spPr>
        </p:sp>
      </p:grpSp>
      <p:sp>
        <p:nvSpPr>
          <p:cNvPr name="TextBox 51" id="51"/>
          <p:cNvSpPr txBox="true"/>
          <p:nvPr/>
        </p:nvSpPr>
        <p:spPr>
          <a:xfrm rot="0">
            <a:off x="7398921" y="7240698"/>
            <a:ext cx="10400094" cy="1308708"/>
          </a:xfrm>
          <a:prstGeom prst="rect">
            <a:avLst/>
          </a:prstGeom>
        </p:spPr>
        <p:txBody>
          <a:bodyPr anchor="t" rtlCol="false" tIns="0" lIns="0" bIns="0" rIns="0">
            <a:spAutoFit/>
          </a:bodyPr>
          <a:lstStyle/>
          <a:p>
            <a:pPr algn="l">
              <a:lnSpc>
                <a:spcPts val="3512"/>
              </a:lnSpc>
            </a:pPr>
            <a:r>
              <a:rPr lang="en-US" sz="2702">
                <a:solidFill>
                  <a:srgbClr val="232E2D"/>
                </a:solidFill>
                <a:latin typeface="Inter"/>
                <a:ea typeface="Inter"/>
                <a:cs typeface="Inter"/>
                <a:sym typeface="Inter"/>
              </a:rPr>
              <a:t>Allee pits occur when habitat connectivity causes a subpopulation to fall below a critical Allee threshold without getting enough rescue from neighbouring patches.</a:t>
            </a:r>
          </a:p>
        </p:txBody>
      </p:sp>
      <p:sp>
        <p:nvSpPr>
          <p:cNvPr name="AutoShape 52" id="52"/>
          <p:cNvSpPr/>
          <p:nvPr/>
        </p:nvSpPr>
        <p:spPr>
          <a:xfrm>
            <a:off x="816457" y="9547088"/>
            <a:ext cx="16668934" cy="14255"/>
          </a:xfrm>
          <a:prstGeom prst="line">
            <a:avLst/>
          </a:prstGeom>
          <a:ln cap="rnd" w="19050">
            <a:solidFill>
              <a:srgbClr val="C7C4C3"/>
            </a:solidFill>
            <a:prstDash val="solid"/>
            <a:headEnd type="none" len="sm" w="sm"/>
            <a:tailEnd type="none" len="sm" w="sm"/>
          </a:ln>
        </p:spPr>
      </p:sp>
      <p:sp>
        <p:nvSpPr>
          <p:cNvPr name="TextBox 53" id="53"/>
          <p:cNvSpPr txBox="true"/>
          <p:nvPr/>
        </p:nvSpPr>
        <p:spPr>
          <a:xfrm rot="0">
            <a:off x="815819" y="9728406"/>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Model: Grumbach &amp; Hilker 2025, Fig. 3E–K, recomputed. Drawn with AI assistance (Claude)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6451" y="2004921"/>
            <a:ext cx="7975793" cy="14338"/>
          </a:xfrm>
          <a:prstGeom prst="line">
            <a:avLst/>
          </a:prstGeom>
          <a:ln cap="rnd" w="19050">
            <a:solidFill>
              <a:srgbClr val="C7C4C3"/>
            </a:solidFill>
            <a:prstDash val="solid"/>
            <a:headEnd type="none" len="sm" w="sm"/>
            <a:tailEnd type="none" len="sm" w="sm"/>
          </a:ln>
        </p:spPr>
      </p:sp>
      <p:sp>
        <p:nvSpPr>
          <p:cNvPr name="AutoShape 3" id="3"/>
          <p:cNvSpPr/>
          <p:nvPr/>
        </p:nvSpPr>
        <p:spPr>
          <a:xfrm>
            <a:off x="9509585" y="2004921"/>
            <a:ext cx="7975803" cy="14338"/>
          </a:xfrm>
          <a:prstGeom prst="line">
            <a:avLst/>
          </a:prstGeom>
          <a:ln cap="rnd" w="19050">
            <a:solidFill>
              <a:srgbClr val="C7C4C3"/>
            </a:solidFill>
            <a:prstDash val="solid"/>
            <a:headEnd type="none" len="sm" w="sm"/>
            <a:tailEnd type="none" len="sm" w="sm"/>
          </a:ln>
        </p:spPr>
      </p:sp>
      <p:sp>
        <p:nvSpPr>
          <p:cNvPr name="AutoShape 4" id="4"/>
          <p:cNvSpPr/>
          <p:nvPr/>
        </p:nvSpPr>
        <p:spPr>
          <a:xfrm>
            <a:off x="816457" y="9494226"/>
            <a:ext cx="16668934" cy="14255"/>
          </a:xfrm>
          <a:prstGeom prst="line">
            <a:avLst/>
          </a:prstGeom>
          <a:ln cap="rnd" w="19050">
            <a:solidFill>
              <a:srgbClr val="C7C4C3"/>
            </a:solidFill>
            <a:prstDash val="solid"/>
            <a:headEnd type="none" len="sm" w="sm"/>
            <a:tailEnd type="none" len="sm" w="sm"/>
          </a:ln>
        </p:spPr>
      </p:sp>
      <p:sp>
        <p:nvSpPr>
          <p:cNvPr name="AutoShape 5" id="5"/>
          <p:cNvSpPr/>
          <p:nvPr/>
        </p:nvSpPr>
        <p:spPr>
          <a:xfrm>
            <a:off x="816457" y="7895695"/>
            <a:ext cx="16668934" cy="14255"/>
          </a:xfrm>
          <a:prstGeom prst="line">
            <a:avLst/>
          </a:prstGeom>
          <a:ln cap="rnd" w="19050">
            <a:solidFill>
              <a:srgbClr val="C7C4C3"/>
            </a:solidFill>
            <a:prstDash val="solid"/>
            <a:headEnd type="none" len="sm" w="sm"/>
            <a:tailEnd type="none" len="sm" w="sm"/>
          </a:ln>
        </p:spPr>
      </p:sp>
      <p:sp>
        <p:nvSpPr>
          <p:cNvPr name="AutoShape 6" id="6"/>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7" id="7"/>
          <p:cNvGrpSpPr/>
          <p:nvPr/>
        </p:nvGrpSpPr>
        <p:grpSpPr>
          <a:xfrm rot="0">
            <a:off x="822960" y="459105"/>
            <a:ext cx="10048408" cy="617220"/>
            <a:chOff x="0" y="0"/>
            <a:chExt cx="13397877" cy="822960"/>
          </a:xfrm>
        </p:grpSpPr>
        <p:sp>
          <p:nvSpPr>
            <p:cNvPr name="Freeform 8" id="8"/>
            <p:cNvSpPr/>
            <p:nvPr/>
          </p:nvSpPr>
          <p:spPr>
            <a:xfrm flipH="false" flipV="false" rot="0">
              <a:off x="0" y="0"/>
              <a:ext cx="13397877" cy="822960"/>
            </a:xfrm>
            <a:custGeom>
              <a:avLst/>
              <a:gdLst/>
              <a:ahLst/>
              <a:cxnLst/>
              <a:rect r="r" b="b" t="t" l="l"/>
              <a:pathLst>
                <a:path h="822960" w="13397877">
                  <a:moveTo>
                    <a:pt x="0" y="0"/>
                  </a:moveTo>
                  <a:lnTo>
                    <a:pt x="13397877" y="0"/>
                  </a:lnTo>
                  <a:lnTo>
                    <a:pt x="13397877" y="822960"/>
                  </a:lnTo>
                  <a:lnTo>
                    <a:pt x="0" y="822960"/>
                  </a:lnTo>
                  <a:close/>
                </a:path>
              </a:pathLst>
            </a:custGeom>
            <a:blipFill>
              <a:blip r:embed="rId3">
                <a:alphaModFix amt="0"/>
              </a:blip>
              <a:stretch>
                <a:fillRect l="0" t="-209800" r="18100" b="-209800"/>
              </a:stretch>
            </a:blipFill>
          </p:spPr>
        </p:sp>
        <p:sp>
          <p:nvSpPr>
            <p:cNvPr name="TextBox 9" id="9"/>
            <p:cNvSpPr txBox="true"/>
            <p:nvPr/>
          </p:nvSpPr>
          <p:spPr>
            <a:xfrm>
              <a:off x="0" y="0"/>
              <a:ext cx="13397877"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Rescue and immigration: Glanville fritillary butterfly</a:t>
              </a:r>
            </a:p>
          </p:txBody>
        </p:sp>
      </p:grpSp>
      <p:sp>
        <p:nvSpPr>
          <p:cNvPr name="TextBox 10" id="10"/>
          <p:cNvSpPr txBox="true"/>
          <p:nvPr/>
        </p:nvSpPr>
        <p:spPr>
          <a:xfrm rot="0">
            <a:off x="823608" y="1472546"/>
            <a:ext cx="7961500" cy="361950"/>
          </a:xfrm>
          <a:prstGeom prst="rect">
            <a:avLst/>
          </a:prstGeom>
        </p:spPr>
        <p:txBody>
          <a:bodyPr anchor="t" rtlCol="false" tIns="0" lIns="0" bIns="0" rIns="0">
            <a:spAutoFit/>
          </a:bodyPr>
          <a:lstStyle/>
          <a:p>
            <a:pPr algn="l">
              <a:lnSpc>
                <a:spcPts val="2882"/>
              </a:lnSpc>
            </a:pPr>
            <a:r>
              <a:rPr lang="en-US" sz="2401">
                <a:solidFill>
                  <a:srgbClr val="232E2D"/>
                </a:solidFill>
                <a:latin typeface="Inter"/>
                <a:ea typeface="Inter"/>
                <a:cs typeface="Inter"/>
                <a:sym typeface="Inter"/>
              </a:rPr>
              <a:t>Fraction of increased populations</a:t>
            </a:r>
          </a:p>
        </p:txBody>
      </p:sp>
      <p:sp>
        <p:nvSpPr>
          <p:cNvPr name="TextBox 11" id="11"/>
          <p:cNvSpPr txBox="true"/>
          <p:nvPr/>
        </p:nvSpPr>
        <p:spPr>
          <a:xfrm rot="0">
            <a:off x="1758958" y="6545561"/>
            <a:ext cx="5400001" cy="285750"/>
          </a:xfrm>
          <a:prstGeom prst="rect">
            <a:avLst/>
          </a:prstGeom>
        </p:spPr>
        <p:txBody>
          <a:bodyPr anchor="t" rtlCol="false" tIns="0" lIns="0" bIns="0" rIns="0">
            <a:spAutoFit/>
          </a:bodyPr>
          <a:lstStyle/>
          <a:p>
            <a:pPr algn="r">
              <a:lnSpc>
                <a:spcPts val="2281"/>
              </a:lnSpc>
            </a:pPr>
            <a:r>
              <a:rPr lang="en-US" sz="1901">
                <a:solidFill>
                  <a:srgbClr val="717C7A"/>
                </a:solidFill>
                <a:latin typeface="Inter"/>
                <a:ea typeface="Inter"/>
                <a:cs typeface="Inter"/>
                <a:sym typeface="Inter"/>
              </a:rPr>
              <a:t>Population size (larval groups of 50–100 larvae)</a:t>
            </a:r>
          </a:p>
        </p:txBody>
      </p:sp>
      <p:sp>
        <p:nvSpPr>
          <p:cNvPr name="TextBox 12" id="12"/>
          <p:cNvSpPr txBox="true"/>
          <p:nvPr/>
        </p:nvSpPr>
        <p:spPr>
          <a:xfrm rot="0">
            <a:off x="9516742" y="1472546"/>
            <a:ext cx="7961500" cy="361950"/>
          </a:xfrm>
          <a:prstGeom prst="rect">
            <a:avLst/>
          </a:prstGeom>
        </p:spPr>
        <p:txBody>
          <a:bodyPr anchor="t" rtlCol="false" tIns="0" lIns="0" bIns="0" rIns="0">
            <a:spAutoFit/>
          </a:bodyPr>
          <a:lstStyle/>
          <a:p>
            <a:pPr algn="l">
              <a:lnSpc>
                <a:spcPts val="2882"/>
              </a:lnSpc>
            </a:pPr>
            <a:r>
              <a:rPr lang="en-US" sz="2401">
                <a:solidFill>
                  <a:srgbClr val="232E2D"/>
                </a:solidFill>
                <a:latin typeface="Inter"/>
                <a:ea typeface="Inter"/>
                <a:cs typeface="Inter"/>
                <a:sym typeface="Inter"/>
              </a:rPr>
              <a:t>Production of new</a:t>
            </a:r>
            <a:r>
              <a:rPr lang="en-US" sz="2401">
                <a:solidFill>
                  <a:srgbClr val="232E2D"/>
                </a:solidFill>
                <a:latin typeface="Inter"/>
                <a:ea typeface="Inter"/>
                <a:cs typeface="Inter"/>
                <a:sym typeface="Inter"/>
              </a:rPr>
              <a:t> larval groups per group</a:t>
            </a:r>
          </a:p>
        </p:txBody>
      </p:sp>
      <p:sp>
        <p:nvSpPr>
          <p:cNvPr name="TextBox 13" id="13"/>
          <p:cNvSpPr txBox="true"/>
          <p:nvPr/>
        </p:nvSpPr>
        <p:spPr>
          <a:xfrm rot="0">
            <a:off x="10509784" y="6545561"/>
            <a:ext cx="5353848" cy="285750"/>
          </a:xfrm>
          <a:prstGeom prst="rect">
            <a:avLst/>
          </a:prstGeom>
        </p:spPr>
        <p:txBody>
          <a:bodyPr anchor="t" rtlCol="false" tIns="0" lIns="0" bIns="0" rIns="0">
            <a:spAutoFit/>
          </a:bodyPr>
          <a:lstStyle/>
          <a:p>
            <a:pPr algn="r">
              <a:lnSpc>
                <a:spcPts val="2281"/>
              </a:lnSpc>
            </a:pPr>
            <a:r>
              <a:rPr lang="en-US" sz="1901">
                <a:solidFill>
                  <a:srgbClr val="717C7A"/>
                </a:solidFill>
                <a:latin typeface="Inter"/>
                <a:ea typeface="Inter"/>
                <a:cs typeface="Inter"/>
                <a:sym typeface="Inter"/>
              </a:rPr>
              <a:t>Population size (larval groups of 50–100 larvae)</a:t>
            </a:r>
          </a:p>
        </p:txBody>
      </p:sp>
      <p:sp>
        <p:nvSpPr>
          <p:cNvPr name="TextBox 14" id="14"/>
          <p:cNvSpPr txBox="true"/>
          <p:nvPr/>
        </p:nvSpPr>
        <p:spPr>
          <a:xfrm rot="0">
            <a:off x="823608" y="8311563"/>
            <a:ext cx="6944532" cy="762000"/>
          </a:xfrm>
          <a:prstGeom prst="rect">
            <a:avLst/>
          </a:prstGeom>
        </p:spPr>
        <p:txBody>
          <a:bodyPr anchor="t" rtlCol="false" tIns="0" lIns="0" bIns="0" rIns="0">
            <a:spAutoFit/>
          </a:bodyPr>
          <a:lstStyle/>
          <a:p>
            <a:pPr algn="l">
              <a:lnSpc>
                <a:spcPts val="3002"/>
              </a:lnSpc>
            </a:pPr>
            <a:r>
              <a:rPr lang="en-US" sz="2502">
                <a:solidFill>
                  <a:srgbClr val="232E2D"/>
                </a:solidFill>
                <a:latin typeface="Inter"/>
                <a:ea typeface="Inter"/>
                <a:cs typeface="Inter"/>
                <a:sym typeface="Inter"/>
              </a:rPr>
              <a:t>One larval group: isolated populations did worse on both measures</a:t>
            </a:r>
          </a:p>
        </p:txBody>
      </p:sp>
      <p:sp>
        <p:nvSpPr>
          <p:cNvPr name="TextBox 15" id="15"/>
          <p:cNvSpPr txBox="true"/>
          <p:nvPr/>
        </p:nvSpPr>
        <p:spPr>
          <a:xfrm rot="0">
            <a:off x="9516742" y="8273463"/>
            <a:ext cx="7971029" cy="762000"/>
          </a:xfrm>
          <a:prstGeom prst="rect">
            <a:avLst/>
          </a:prstGeom>
        </p:spPr>
        <p:txBody>
          <a:bodyPr anchor="t" rtlCol="false" tIns="0" lIns="0" bIns="0" rIns="0">
            <a:spAutoFit/>
          </a:bodyPr>
          <a:lstStyle/>
          <a:p>
            <a:pPr algn="l">
              <a:lnSpc>
                <a:spcPts val="3002"/>
              </a:lnSpc>
            </a:pPr>
            <a:r>
              <a:rPr lang="en-US" sz="2502">
                <a:solidFill>
                  <a:srgbClr val="232E2D"/>
                </a:solidFill>
                <a:latin typeface="Inter"/>
                <a:ea typeface="Inter"/>
                <a:cs typeface="Inter"/>
                <a:sym typeface="Inter"/>
              </a:rPr>
              <a:t>Larger populations: no significant difference between isolated and connected</a:t>
            </a:r>
          </a:p>
        </p:txBody>
      </p:sp>
      <p:grpSp>
        <p:nvGrpSpPr>
          <p:cNvPr name="Group 16" id="16"/>
          <p:cNvGrpSpPr/>
          <p:nvPr/>
        </p:nvGrpSpPr>
        <p:grpSpPr>
          <a:xfrm rot="0">
            <a:off x="490366" y="2275141"/>
            <a:ext cx="7961500" cy="4118019"/>
            <a:chOff x="0" y="0"/>
            <a:chExt cx="10615333" cy="5490693"/>
          </a:xfrm>
        </p:grpSpPr>
        <p:sp>
          <p:nvSpPr>
            <p:cNvPr name="Freeform 17" id="17" descr="kuus-1.png"/>
            <p:cNvSpPr/>
            <p:nvPr/>
          </p:nvSpPr>
          <p:spPr>
            <a:xfrm flipH="false" flipV="false" rot="0">
              <a:off x="0" y="0"/>
              <a:ext cx="10615295" cy="5490718"/>
            </a:xfrm>
            <a:custGeom>
              <a:avLst/>
              <a:gdLst/>
              <a:ahLst/>
              <a:cxnLst/>
              <a:rect r="r" b="b" t="t" l="l"/>
              <a:pathLst>
                <a:path h="5490718" w="10615295">
                  <a:moveTo>
                    <a:pt x="0" y="0"/>
                  </a:moveTo>
                  <a:lnTo>
                    <a:pt x="10615295" y="0"/>
                  </a:lnTo>
                  <a:lnTo>
                    <a:pt x="10615295" y="5490718"/>
                  </a:lnTo>
                  <a:lnTo>
                    <a:pt x="0" y="5490718"/>
                  </a:lnTo>
                  <a:lnTo>
                    <a:pt x="0" y="0"/>
                  </a:lnTo>
                  <a:close/>
                </a:path>
              </a:pathLst>
            </a:custGeom>
            <a:blipFill>
              <a:blip r:embed="rId4"/>
              <a:stretch>
                <a:fillRect l="0" t="0" r="0" b="0"/>
              </a:stretch>
            </a:blipFill>
          </p:spPr>
        </p:sp>
      </p:grpSp>
      <p:grpSp>
        <p:nvGrpSpPr>
          <p:cNvPr name="Group 18" id="18"/>
          <p:cNvGrpSpPr/>
          <p:nvPr/>
        </p:nvGrpSpPr>
        <p:grpSpPr>
          <a:xfrm rot="0">
            <a:off x="9183500" y="2275141"/>
            <a:ext cx="7961500" cy="4118019"/>
            <a:chOff x="0" y="0"/>
            <a:chExt cx="10615333" cy="5490693"/>
          </a:xfrm>
        </p:grpSpPr>
        <p:sp>
          <p:nvSpPr>
            <p:cNvPr name="Freeform 19" id="19" descr="kuus-2.png"/>
            <p:cNvSpPr/>
            <p:nvPr/>
          </p:nvSpPr>
          <p:spPr>
            <a:xfrm flipH="false" flipV="false" rot="0">
              <a:off x="0" y="0"/>
              <a:ext cx="10615295" cy="5490718"/>
            </a:xfrm>
            <a:custGeom>
              <a:avLst/>
              <a:gdLst/>
              <a:ahLst/>
              <a:cxnLst/>
              <a:rect r="r" b="b" t="t" l="l"/>
              <a:pathLst>
                <a:path h="5490718" w="10615295">
                  <a:moveTo>
                    <a:pt x="0" y="0"/>
                  </a:moveTo>
                  <a:lnTo>
                    <a:pt x="10615295" y="0"/>
                  </a:lnTo>
                  <a:lnTo>
                    <a:pt x="10615295" y="5490718"/>
                  </a:lnTo>
                  <a:lnTo>
                    <a:pt x="0" y="5490718"/>
                  </a:lnTo>
                  <a:lnTo>
                    <a:pt x="0" y="0"/>
                  </a:lnTo>
                  <a:close/>
                </a:path>
              </a:pathLst>
            </a:custGeom>
            <a:blipFill>
              <a:blip r:embed="rId5"/>
              <a:stretch>
                <a:fillRect l="0" t="0" r="0" b="0"/>
              </a:stretch>
            </a:blipFill>
          </p:spPr>
        </p:sp>
      </p:grpSp>
      <p:sp>
        <p:nvSpPr>
          <p:cNvPr name="TextBox 20" id="20"/>
          <p:cNvSpPr txBox="true"/>
          <p:nvPr/>
        </p:nvSpPr>
        <p:spPr>
          <a:xfrm rot="0">
            <a:off x="823608" y="9670407"/>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Data: Kuussaari et al. 1998, Fig. 4; values digitised, approximate. Drawn with AI assistance (Claude)</a:t>
            </a:r>
          </a:p>
        </p:txBody>
      </p:sp>
      <p:sp>
        <p:nvSpPr>
          <p:cNvPr name="TextBox 21" id="21"/>
          <p:cNvSpPr txBox="true"/>
          <p:nvPr/>
        </p:nvSpPr>
        <p:spPr>
          <a:xfrm rot="0">
            <a:off x="815819" y="7346626"/>
            <a:ext cx="16654634" cy="549069"/>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Mean ± 1 SE, pooled over three annual transitions (1994–96); n = range of sample sizes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6E0D8"/>
        </a:solidFill>
      </p:bgPr>
    </p:bg>
    <p:spTree>
      <p:nvGrpSpPr>
        <p:cNvPr id="1" name=""/>
        <p:cNvGrpSpPr/>
        <p:nvPr/>
      </p:nvGrpSpPr>
      <p:grpSpPr>
        <a:xfrm>
          <a:off x="0" y="0"/>
          <a:ext cx="0" cy="0"/>
          <a:chOff x="0" y="0"/>
          <a:chExt cx="0" cy="0"/>
        </a:xfrm>
      </p:grpSpPr>
      <p:sp>
        <p:nvSpPr>
          <p:cNvPr name="TextBox 2" id="2"/>
          <p:cNvSpPr txBox="true"/>
          <p:nvPr/>
        </p:nvSpPr>
        <p:spPr>
          <a:xfrm rot="0">
            <a:off x="823608" y="1698746"/>
            <a:ext cx="7570358" cy="151447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Setup</a:t>
            </a:r>
          </a:p>
          <a:p>
            <a:pPr algn="l">
              <a:lnSpc>
                <a:spcPts val="1801"/>
              </a:lnSpc>
            </a:pPr>
          </a:p>
          <a:p>
            <a:pPr algn="l">
              <a:lnSpc>
                <a:spcPts val="3840"/>
              </a:lnSpc>
            </a:pPr>
            <a:r>
              <a:rPr lang="en-US" sz="3200">
                <a:solidFill>
                  <a:srgbClr val="232E2D"/>
                </a:solidFill>
                <a:latin typeface="Inter"/>
                <a:ea typeface="Inter"/>
                <a:cs typeface="Inter"/>
                <a:sym typeface="Inter"/>
              </a:rPr>
              <a:t>Water fleas at different starting sizes, plus a predator</a:t>
            </a:r>
          </a:p>
        </p:txBody>
      </p:sp>
      <p:sp>
        <p:nvSpPr>
          <p:cNvPr name="AutoShape 3" id="3"/>
          <p:cNvSpPr/>
          <p:nvPr/>
        </p:nvSpPr>
        <p:spPr>
          <a:xfrm>
            <a:off x="823616" y="3744625"/>
            <a:ext cx="7975793" cy="14338"/>
          </a:xfrm>
          <a:prstGeom prst="line">
            <a:avLst/>
          </a:prstGeom>
          <a:ln cap="rnd" w="19050">
            <a:solidFill>
              <a:srgbClr val="C7C4C3"/>
            </a:solidFill>
            <a:prstDash val="solid"/>
            <a:headEnd type="none" len="sm" w="sm"/>
            <a:tailEnd type="none" len="sm" w="sm"/>
          </a:ln>
        </p:spPr>
      </p:sp>
      <p:sp>
        <p:nvSpPr>
          <p:cNvPr name="TextBox 4" id="4"/>
          <p:cNvSpPr txBox="true"/>
          <p:nvPr/>
        </p:nvSpPr>
        <p:spPr>
          <a:xfrm rot="0">
            <a:off x="823608" y="4100922"/>
            <a:ext cx="7335674" cy="153352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Result</a:t>
            </a:r>
          </a:p>
          <a:p>
            <a:pPr algn="l">
              <a:lnSpc>
                <a:spcPts val="1800"/>
              </a:lnSpc>
            </a:pPr>
          </a:p>
          <a:p>
            <a:pPr algn="l">
              <a:lnSpc>
                <a:spcPts val="3840"/>
              </a:lnSpc>
            </a:pPr>
            <a:r>
              <a:rPr lang="en-US" sz="3200">
                <a:solidFill>
                  <a:srgbClr val="232E2D"/>
                </a:solidFill>
                <a:latin typeface="Inter"/>
                <a:ea typeface="Inter"/>
                <a:cs typeface="Inter"/>
                <a:sym typeface="Inter"/>
              </a:rPr>
              <a:t>Small populations died out faster</a:t>
            </a:r>
          </a:p>
          <a:p>
            <a:pPr algn="l">
              <a:lnSpc>
                <a:spcPts val="1199"/>
              </a:lnSpc>
            </a:pPr>
          </a:p>
          <a:p>
            <a:pPr algn="l">
              <a:lnSpc>
                <a:spcPts val="2882"/>
              </a:lnSpc>
            </a:pPr>
          </a:p>
        </p:txBody>
      </p:sp>
      <p:sp>
        <p:nvSpPr>
          <p:cNvPr name="AutoShape 5" id="5"/>
          <p:cNvSpPr/>
          <p:nvPr/>
        </p:nvSpPr>
        <p:spPr>
          <a:xfrm>
            <a:off x="823625" y="5701122"/>
            <a:ext cx="7975793" cy="14338"/>
          </a:xfrm>
          <a:prstGeom prst="line">
            <a:avLst/>
          </a:prstGeom>
          <a:ln cap="rnd" w="19050">
            <a:solidFill>
              <a:srgbClr val="C7C4C3"/>
            </a:solidFill>
            <a:prstDash val="solid"/>
            <a:headEnd type="none" len="sm" w="sm"/>
            <a:tailEnd type="none" len="sm" w="sm"/>
          </a:ln>
        </p:spPr>
      </p:sp>
      <p:sp>
        <p:nvSpPr>
          <p:cNvPr name="TextBox 6" id="6"/>
          <p:cNvSpPr txBox="true"/>
          <p:nvPr/>
        </p:nvSpPr>
        <p:spPr>
          <a:xfrm rot="0">
            <a:off x="823608" y="6087518"/>
            <a:ext cx="7140103" cy="151447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Blind spot</a:t>
            </a:r>
          </a:p>
          <a:p>
            <a:pPr algn="l">
              <a:lnSpc>
                <a:spcPts val="1800"/>
              </a:lnSpc>
            </a:pPr>
          </a:p>
          <a:p>
            <a:pPr algn="l">
              <a:lnSpc>
                <a:spcPts val="3840"/>
              </a:lnSpc>
            </a:pPr>
            <a:r>
              <a:rPr lang="en-US" sz="3200">
                <a:solidFill>
                  <a:srgbClr val="232E2D"/>
                </a:solidFill>
                <a:latin typeface="Inter"/>
                <a:ea typeface="Inter"/>
                <a:cs typeface="Inter"/>
                <a:sym typeface="Inter"/>
              </a:rPr>
              <a:t>Shows the mechanism clearly, but only in a tank</a:t>
            </a:r>
          </a:p>
        </p:txBody>
      </p:sp>
      <p:sp>
        <p:nvSpPr>
          <p:cNvPr name="AutoShape 7" id="7"/>
          <p:cNvSpPr/>
          <p:nvPr/>
        </p:nvSpPr>
        <p:spPr>
          <a:xfrm rot="2940">
            <a:off x="816454" y="9256014"/>
            <a:ext cx="16668940" cy="0"/>
          </a:xfrm>
          <a:prstGeom prst="line">
            <a:avLst/>
          </a:prstGeom>
          <a:ln cap="rnd" w="19050">
            <a:solidFill>
              <a:srgbClr val="C7C4C3"/>
            </a:solidFill>
            <a:prstDash val="solid"/>
            <a:headEnd type="none" len="sm" w="sm"/>
            <a:tailEnd type="none" len="sm" w="sm"/>
          </a:ln>
        </p:spPr>
      </p:sp>
      <p:sp>
        <p:nvSpPr>
          <p:cNvPr name="AutoShape 8" id="8"/>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9" id="9"/>
          <p:cNvGrpSpPr/>
          <p:nvPr/>
        </p:nvGrpSpPr>
        <p:grpSpPr>
          <a:xfrm rot="0">
            <a:off x="822960" y="459105"/>
            <a:ext cx="8229600" cy="617220"/>
            <a:chOff x="0" y="0"/>
            <a:chExt cx="10972800" cy="822960"/>
          </a:xfrm>
        </p:grpSpPr>
        <p:sp>
          <p:nvSpPr>
            <p:cNvPr name="Freeform 10" id="10"/>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sp>
        <p:sp>
          <p:nvSpPr>
            <p:cNvPr name="TextBox 11" id="11"/>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Evidence: experiment</a:t>
              </a:r>
            </a:p>
          </p:txBody>
        </p:sp>
      </p:grpSp>
      <p:grpSp>
        <p:nvGrpSpPr>
          <p:cNvPr name="Group 12" id="12"/>
          <p:cNvGrpSpPr/>
          <p:nvPr/>
        </p:nvGrpSpPr>
        <p:grpSpPr>
          <a:xfrm rot="0">
            <a:off x="9471441" y="1565029"/>
            <a:ext cx="8006801" cy="7137892"/>
            <a:chOff x="0" y="0"/>
            <a:chExt cx="10675734" cy="9517190"/>
          </a:xfrm>
        </p:grpSpPr>
        <p:sp>
          <p:nvSpPr>
            <p:cNvPr name="Freeform 13" id="13"/>
            <p:cNvSpPr/>
            <p:nvPr/>
          </p:nvSpPr>
          <p:spPr>
            <a:xfrm flipH="false" flipV="false" rot="0">
              <a:off x="0" y="0"/>
              <a:ext cx="10675747" cy="9517253"/>
            </a:xfrm>
            <a:custGeom>
              <a:avLst/>
              <a:gdLst/>
              <a:ahLst/>
              <a:cxnLst/>
              <a:rect r="r" b="b" t="t" l="l"/>
              <a:pathLst>
                <a:path h="9517253" w="10675747">
                  <a:moveTo>
                    <a:pt x="88900" y="0"/>
                  </a:moveTo>
                  <a:lnTo>
                    <a:pt x="10586847" y="0"/>
                  </a:lnTo>
                  <a:cubicBezTo>
                    <a:pt x="10635945" y="0"/>
                    <a:pt x="10675747" y="39802"/>
                    <a:pt x="10675747" y="88900"/>
                  </a:cubicBezTo>
                  <a:lnTo>
                    <a:pt x="10675747" y="9428353"/>
                  </a:lnTo>
                  <a:cubicBezTo>
                    <a:pt x="10675747" y="9451931"/>
                    <a:pt x="10666381" y="9474543"/>
                    <a:pt x="10649709" y="9491215"/>
                  </a:cubicBezTo>
                  <a:cubicBezTo>
                    <a:pt x="10633037" y="9507887"/>
                    <a:pt x="10610424" y="9517253"/>
                    <a:pt x="10586847" y="9517253"/>
                  </a:cubicBezTo>
                  <a:lnTo>
                    <a:pt x="88900" y="9517253"/>
                  </a:lnTo>
                  <a:cubicBezTo>
                    <a:pt x="39802" y="9517253"/>
                    <a:pt x="0" y="9477451"/>
                    <a:pt x="0" y="9428353"/>
                  </a:cubicBezTo>
                  <a:lnTo>
                    <a:pt x="0" y="88900"/>
                  </a:lnTo>
                  <a:cubicBezTo>
                    <a:pt x="0" y="39802"/>
                    <a:pt x="39802" y="0"/>
                    <a:pt x="88900" y="0"/>
                  </a:cubicBezTo>
                  <a:close/>
                </a:path>
              </a:pathLst>
            </a:custGeom>
            <a:blipFill>
              <a:blip r:embed="rId4"/>
              <a:stretch>
                <a:fillRect l="0" t="-6287" r="0" b="-6287"/>
              </a:stretch>
            </a:blipFill>
          </p:spPr>
        </p:sp>
      </p:grpSp>
      <p:sp>
        <p:nvSpPr>
          <p:cNvPr name="TextBox 14" id="14"/>
          <p:cNvSpPr txBox="true"/>
          <p:nvPr/>
        </p:nvSpPr>
        <p:spPr>
          <a:xfrm rot="0">
            <a:off x="823608" y="9393279"/>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Source: Kramer &amp; Drake 2010</a:t>
            </a:r>
          </a:p>
        </p:txBody>
      </p:sp>
      <p:sp>
        <p:nvSpPr>
          <p:cNvPr name="TextBox 15" id="15"/>
          <p:cNvSpPr txBox="true"/>
          <p:nvPr/>
        </p:nvSpPr>
        <p:spPr>
          <a:xfrm rot="0">
            <a:off x="9485166" y="8775583"/>
            <a:ext cx="7988951" cy="558594"/>
          </a:xfrm>
          <a:prstGeom prst="rect">
            <a:avLst/>
          </a:prstGeom>
        </p:spPr>
        <p:txBody>
          <a:bodyPr anchor="t" rtlCol="false" tIns="0" lIns="0" bIns="0" rIns="0">
            <a:spAutoFit/>
          </a:bodyPr>
          <a:lstStyle/>
          <a:p>
            <a:pPr algn="r">
              <a:lnSpc>
                <a:spcPts val="1801"/>
              </a:lnSpc>
            </a:pPr>
            <a:r>
              <a:rPr lang="en-US" sz="1501">
                <a:solidFill>
                  <a:srgbClr val="717C7A"/>
                </a:solidFill>
                <a:latin typeface="Inter"/>
                <a:ea typeface="Inter"/>
                <a:cs typeface="Inter"/>
                <a:sym typeface="Inter"/>
              </a:rPr>
              <a:t>Photo: Stephen Luk, BugGuide (© 2007)</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6E0D8"/>
        </a:solidFill>
      </p:bgPr>
    </p:bg>
    <p:spTree>
      <p:nvGrpSpPr>
        <p:cNvPr id="1" name=""/>
        <p:cNvGrpSpPr/>
        <p:nvPr/>
      </p:nvGrpSpPr>
      <p:grpSpPr>
        <a:xfrm>
          <a:off x="0" y="0"/>
          <a:ext cx="0" cy="0"/>
          <a:chOff x="0" y="0"/>
          <a:chExt cx="0" cy="0"/>
        </a:xfrm>
      </p:grpSpPr>
      <p:sp>
        <p:nvSpPr>
          <p:cNvPr name="AutoShape 2" id="2"/>
          <p:cNvSpPr/>
          <p:nvPr/>
        </p:nvSpPr>
        <p:spPr>
          <a:xfrm>
            <a:off x="823616" y="3744625"/>
            <a:ext cx="7975793" cy="14338"/>
          </a:xfrm>
          <a:prstGeom prst="line">
            <a:avLst/>
          </a:prstGeom>
          <a:ln cap="rnd" w="19050">
            <a:solidFill>
              <a:srgbClr val="C7C4C3"/>
            </a:solidFill>
            <a:prstDash val="solid"/>
            <a:headEnd type="none" len="sm" w="sm"/>
            <a:tailEnd type="none" len="sm" w="sm"/>
          </a:ln>
        </p:spPr>
      </p:sp>
      <p:sp>
        <p:nvSpPr>
          <p:cNvPr name="AutoShape 3" id="3"/>
          <p:cNvSpPr/>
          <p:nvPr/>
        </p:nvSpPr>
        <p:spPr>
          <a:xfrm>
            <a:off x="823625" y="5701122"/>
            <a:ext cx="7975793" cy="14338"/>
          </a:xfrm>
          <a:prstGeom prst="line">
            <a:avLst/>
          </a:prstGeom>
          <a:ln cap="rnd" w="19050">
            <a:solidFill>
              <a:srgbClr val="C7C4C3"/>
            </a:solidFill>
            <a:prstDash val="solid"/>
            <a:headEnd type="none" len="sm" w="sm"/>
            <a:tailEnd type="none" len="sm" w="sm"/>
          </a:ln>
        </p:spPr>
      </p:sp>
      <p:sp>
        <p:nvSpPr>
          <p:cNvPr name="AutoShape 4" id="4"/>
          <p:cNvSpPr/>
          <p:nvPr/>
        </p:nvSpPr>
        <p:spPr>
          <a:xfrm rot="2940">
            <a:off x="816454" y="9256014"/>
            <a:ext cx="16668940" cy="0"/>
          </a:xfrm>
          <a:prstGeom prst="line">
            <a:avLst/>
          </a:prstGeom>
          <a:ln cap="rnd" w="19050">
            <a:solidFill>
              <a:srgbClr val="C7C4C3"/>
            </a:solidFill>
            <a:prstDash val="solid"/>
            <a:headEnd type="none" len="sm" w="sm"/>
            <a:tailEnd type="none" len="sm" w="sm"/>
          </a:ln>
        </p:spPr>
      </p:sp>
      <p:sp>
        <p:nvSpPr>
          <p:cNvPr name="AutoShape 5" id="5"/>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6" id="6"/>
          <p:cNvGrpSpPr/>
          <p:nvPr/>
        </p:nvGrpSpPr>
        <p:grpSpPr>
          <a:xfrm rot="0">
            <a:off x="822960" y="459105"/>
            <a:ext cx="8229600" cy="617220"/>
            <a:chOff x="0" y="0"/>
            <a:chExt cx="10972800" cy="822960"/>
          </a:xfrm>
        </p:grpSpPr>
        <p:sp>
          <p:nvSpPr>
            <p:cNvPr name="Freeform 7" id="7"/>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sp>
        <p:sp>
          <p:nvSpPr>
            <p:cNvPr name="TextBox 8" id="8"/>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Evidence: field data</a:t>
              </a:r>
            </a:p>
          </p:txBody>
        </p:sp>
      </p:grpSp>
      <p:grpSp>
        <p:nvGrpSpPr>
          <p:cNvPr name="Group 9" id="9"/>
          <p:cNvGrpSpPr/>
          <p:nvPr/>
        </p:nvGrpSpPr>
        <p:grpSpPr>
          <a:xfrm rot="0">
            <a:off x="9471441" y="1565029"/>
            <a:ext cx="8006801" cy="7137892"/>
            <a:chOff x="0" y="0"/>
            <a:chExt cx="10675734" cy="9517190"/>
          </a:xfrm>
        </p:grpSpPr>
        <p:sp>
          <p:nvSpPr>
            <p:cNvPr name="Freeform 10" id="10"/>
            <p:cNvSpPr/>
            <p:nvPr/>
          </p:nvSpPr>
          <p:spPr>
            <a:xfrm flipH="false" flipV="false" rot="0">
              <a:off x="0" y="0"/>
              <a:ext cx="10675747" cy="9517253"/>
            </a:xfrm>
            <a:custGeom>
              <a:avLst/>
              <a:gdLst/>
              <a:ahLst/>
              <a:cxnLst/>
              <a:rect r="r" b="b" t="t" l="l"/>
              <a:pathLst>
                <a:path h="9517253" w="10675747">
                  <a:moveTo>
                    <a:pt x="88900" y="0"/>
                  </a:moveTo>
                  <a:lnTo>
                    <a:pt x="10586847" y="0"/>
                  </a:lnTo>
                  <a:cubicBezTo>
                    <a:pt x="10635945" y="0"/>
                    <a:pt x="10675747" y="39802"/>
                    <a:pt x="10675747" y="88900"/>
                  </a:cubicBezTo>
                  <a:lnTo>
                    <a:pt x="10675747" y="9428353"/>
                  </a:lnTo>
                  <a:cubicBezTo>
                    <a:pt x="10675747" y="9451931"/>
                    <a:pt x="10666381" y="9474543"/>
                    <a:pt x="10649709" y="9491215"/>
                  </a:cubicBezTo>
                  <a:cubicBezTo>
                    <a:pt x="10633037" y="9507887"/>
                    <a:pt x="10610424" y="9517253"/>
                    <a:pt x="10586847" y="9517253"/>
                  </a:cubicBezTo>
                  <a:lnTo>
                    <a:pt x="88900" y="9517253"/>
                  </a:lnTo>
                  <a:cubicBezTo>
                    <a:pt x="39802" y="9517253"/>
                    <a:pt x="0" y="9477451"/>
                    <a:pt x="0" y="9428353"/>
                  </a:cubicBezTo>
                  <a:lnTo>
                    <a:pt x="0" y="88900"/>
                  </a:lnTo>
                  <a:cubicBezTo>
                    <a:pt x="0" y="39802"/>
                    <a:pt x="39802" y="0"/>
                    <a:pt x="88900" y="0"/>
                  </a:cubicBezTo>
                  <a:close/>
                </a:path>
              </a:pathLst>
            </a:custGeom>
            <a:blipFill>
              <a:blip r:embed="rId4"/>
              <a:stretch>
                <a:fillRect l="-17010" t="0" r="-17010" b="0"/>
              </a:stretch>
            </a:blipFill>
          </p:spPr>
        </p:sp>
      </p:grpSp>
      <p:sp>
        <p:nvSpPr>
          <p:cNvPr name="TextBox 11" id="11"/>
          <p:cNvSpPr txBox="true"/>
          <p:nvPr/>
        </p:nvSpPr>
        <p:spPr>
          <a:xfrm rot="0">
            <a:off x="823608" y="1698746"/>
            <a:ext cx="7570358" cy="151447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Setup</a:t>
            </a:r>
          </a:p>
          <a:p>
            <a:pPr algn="l">
              <a:lnSpc>
                <a:spcPts val="1801"/>
              </a:lnSpc>
            </a:pPr>
          </a:p>
          <a:p>
            <a:pPr algn="l">
              <a:lnSpc>
                <a:spcPts val="3840"/>
              </a:lnSpc>
            </a:pPr>
            <a:r>
              <a:rPr lang="en-US" sz="3200">
                <a:solidFill>
                  <a:srgbClr val="232E2D"/>
                </a:solidFill>
                <a:latin typeface="Inter"/>
                <a:ea typeface="Inter"/>
                <a:cs typeface="Inter"/>
                <a:sym typeface="Inter"/>
              </a:rPr>
              <a:t>Fox</a:t>
            </a:r>
            <a:r>
              <a:rPr lang="en-US" sz="3200">
                <a:solidFill>
                  <a:srgbClr val="232E2D"/>
                </a:solidFill>
                <a:latin typeface="Inter"/>
                <a:ea typeface="Inter"/>
                <a:cs typeface="Inter"/>
                <a:sym typeface="Inter"/>
              </a:rPr>
              <a:t> populations on separate Channel Islands as natural replicates</a:t>
            </a:r>
          </a:p>
        </p:txBody>
      </p:sp>
      <p:sp>
        <p:nvSpPr>
          <p:cNvPr name="TextBox 12" id="12"/>
          <p:cNvSpPr txBox="true"/>
          <p:nvPr/>
        </p:nvSpPr>
        <p:spPr>
          <a:xfrm rot="0">
            <a:off x="823608" y="4100922"/>
            <a:ext cx="7335674" cy="151447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Result</a:t>
            </a:r>
          </a:p>
          <a:p>
            <a:pPr algn="l">
              <a:lnSpc>
                <a:spcPts val="1800"/>
              </a:lnSpc>
            </a:pPr>
          </a:p>
          <a:p>
            <a:pPr algn="l">
              <a:lnSpc>
                <a:spcPts val="3840"/>
              </a:lnSpc>
            </a:pPr>
            <a:r>
              <a:rPr lang="en-US" sz="3200">
                <a:solidFill>
                  <a:srgbClr val="232E2D"/>
                </a:solidFill>
                <a:latin typeface="Inter"/>
                <a:ea typeface="Inter"/>
                <a:cs typeface="Inter"/>
                <a:sym typeface="Inter"/>
              </a:rPr>
              <a:t>C</a:t>
            </a:r>
            <a:r>
              <a:rPr lang="en-US" sz="3200">
                <a:solidFill>
                  <a:srgbClr val="232E2D"/>
                </a:solidFill>
                <a:latin typeface="Inter"/>
                <a:ea typeface="Inter"/>
                <a:cs typeface="Inter"/>
                <a:sym typeface="Inter"/>
              </a:rPr>
              <a:t>osts won: a weak Allee effect</a:t>
            </a:r>
          </a:p>
          <a:p>
            <a:pPr algn="l">
              <a:lnSpc>
                <a:spcPts val="3840"/>
              </a:lnSpc>
            </a:pPr>
          </a:p>
        </p:txBody>
      </p:sp>
      <p:sp>
        <p:nvSpPr>
          <p:cNvPr name="TextBox 13" id="13"/>
          <p:cNvSpPr txBox="true"/>
          <p:nvPr/>
        </p:nvSpPr>
        <p:spPr>
          <a:xfrm rot="0">
            <a:off x="823608" y="6077993"/>
            <a:ext cx="7140103" cy="151447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Blind spot</a:t>
            </a:r>
          </a:p>
          <a:p>
            <a:pPr algn="l">
              <a:lnSpc>
                <a:spcPts val="1800"/>
              </a:lnSpc>
            </a:pPr>
          </a:p>
          <a:p>
            <a:pPr algn="l">
              <a:lnSpc>
                <a:spcPts val="3840"/>
              </a:lnSpc>
            </a:pPr>
            <a:r>
              <a:rPr lang="en-US" sz="3200">
                <a:solidFill>
                  <a:srgbClr val="232E2D"/>
                </a:solidFill>
                <a:latin typeface="Inter"/>
                <a:ea typeface="Inter"/>
                <a:cs typeface="Inter"/>
                <a:sym typeface="Inter"/>
              </a:rPr>
              <a:t>N</a:t>
            </a:r>
            <a:r>
              <a:rPr lang="en-US" sz="3200">
                <a:solidFill>
                  <a:srgbClr val="232E2D"/>
                </a:solidFill>
                <a:latin typeface="Inter"/>
                <a:ea typeface="Inter"/>
                <a:cs typeface="Inter"/>
                <a:sym typeface="Inter"/>
              </a:rPr>
              <a:t>et effect depends on how the components are weighed</a:t>
            </a:r>
          </a:p>
        </p:txBody>
      </p:sp>
      <p:sp>
        <p:nvSpPr>
          <p:cNvPr name="TextBox 14" id="14"/>
          <p:cNvSpPr txBox="true"/>
          <p:nvPr/>
        </p:nvSpPr>
        <p:spPr>
          <a:xfrm rot="0">
            <a:off x="823608" y="9393279"/>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Source: Angulo et al. 2007</a:t>
            </a:r>
          </a:p>
        </p:txBody>
      </p:sp>
      <p:sp>
        <p:nvSpPr>
          <p:cNvPr name="TextBox 15" id="15"/>
          <p:cNvSpPr txBox="true"/>
          <p:nvPr/>
        </p:nvSpPr>
        <p:spPr>
          <a:xfrm rot="0">
            <a:off x="9485166" y="8775583"/>
            <a:ext cx="7988951" cy="558594"/>
          </a:xfrm>
          <a:prstGeom prst="rect">
            <a:avLst/>
          </a:prstGeom>
        </p:spPr>
        <p:txBody>
          <a:bodyPr anchor="t" rtlCol="false" tIns="0" lIns="0" bIns="0" rIns="0">
            <a:spAutoFit/>
          </a:bodyPr>
          <a:lstStyle/>
          <a:p>
            <a:pPr algn="r">
              <a:lnSpc>
                <a:spcPts val="1801"/>
              </a:lnSpc>
            </a:pPr>
            <a:r>
              <a:rPr lang="en-US" sz="1501">
                <a:solidFill>
                  <a:srgbClr val="717C7A"/>
                </a:solidFill>
                <a:latin typeface="Inter"/>
                <a:ea typeface="Inter"/>
                <a:cs typeface="Inter"/>
                <a:sym typeface="Inter"/>
              </a:rPr>
              <a:t>Photo: Maya Sugarman, KPCC / LAist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11380421" y="4203313"/>
            <a:ext cx="5962090" cy="14256"/>
          </a:xfrm>
          <a:prstGeom prst="line">
            <a:avLst/>
          </a:prstGeom>
          <a:ln cap="rnd" w="9525">
            <a:solidFill>
              <a:srgbClr val="C7C4C3"/>
            </a:solidFill>
            <a:prstDash val="solid"/>
            <a:headEnd type="none" len="sm" w="sm"/>
            <a:tailEnd type="none" len="sm" w="sm"/>
          </a:ln>
        </p:spPr>
      </p:sp>
      <p:sp>
        <p:nvSpPr>
          <p:cNvPr name="AutoShape 3" id="3"/>
          <p:cNvSpPr/>
          <p:nvPr/>
        </p:nvSpPr>
        <p:spPr>
          <a:xfrm>
            <a:off x="11380421" y="6468225"/>
            <a:ext cx="5962090" cy="14256"/>
          </a:xfrm>
          <a:prstGeom prst="line">
            <a:avLst/>
          </a:prstGeom>
          <a:ln cap="rnd" w="9525">
            <a:solidFill>
              <a:srgbClr val="C7C4C3"/>
            </a:solidFill>
            <a:prstDash val="solid"/>
            <a:headEnd type="none" len="sm" w="sm"/>
            <a:tailEnd type="none" len="sm" w="sm"/>
          </a:ln>
        </p:spPr>
      </p:sp>
      <p:sp>
        <p:nvSpPr>
          <p:cNvPr name="AutoShape 4" id="4"/>
          <p:cNvSpPr/>
          <p:nvPr/>
        </p:nvSpPr>
        <p:spPr>
          <a:xfrm rot="2940">
            <a:off x="816454" y="9260776"/>
            <a:ext cx="16668940" cy="0"/>
          </a:xfrm>
          <a:prstGeom prst="line">
            <a:avLst/>
          </a:prstGeom>
          <a:ln cap="rnd" w="9525">
            <a:solidFill>
              <a:srgbClr val="C7C4C3"/>
            </a:solidFill>
            <a:prstDash val="solid"/>
            <a:headEnd type="none" len="sm" w="sm"/>
            <a:tailEnd type="none" len="sm" w="sm"/>
          </a:ln>
        </p:spPr>
      </p:sp>
      <p:sp>
        <p:nvSpPr>
          <p:cNvPr name="AutoShape 5" id="5"/>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6" id="6"/>
          <p:cNvGrpSpPr/>
          <p:nvPr/>
        </p:nvGrpSpPr>
        <p:grpSpPr>
          <a:xfrm rot="0">
            <a:off x="822960" y="459105"/>
            <a:ext cx="8229600" cy="617220"/>
            <a:chOff x="0" y="0"/>
            <a:chExt cx="10972800" cy="822960"/>
          </a:xfrm>
        </p:grpSpPr>
        <p:sp>
          <p:nvSpPr>
            <p:cNvPr name="Freeform 7" id="7"/>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sp>
        <p:sp>
          <p:nvSpPr>
            <p:cNvPr name="TextBox 8" id="8"/>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Evidence: long-term records</a:t>
              </a:r>
            </a:p>
          </p:txBody>
        </p:sp>
      </p:grpSp>
      <p:sp>
        <p:nvSpPr>
          <p:cNvPr name="Freeform 9" id="9"/>
          <p:cNvSpPr/>
          <p:nvPr/>
        </p:nvSpPr>
        <p:spPr>
          <a:xfrm flipH="false" flipV="false" rot="0">
            <a:off x="209435" y="1366950"/>
            <a:ext cx="10732321" cy="6674162"/>
          </a:xfrm>
          <a:custGeom>
            <a:avLst/>
            <a:gdLst/>
            <a:ahLst/>
            <a:cxnLst/>
            <a:rect r="r" b="b" t="t" l="l"/>
            <a:pathLst>
              <a:path h="6674162" w="10732321">
                <a:moveTo>
                  <a:pt x="0" y="0"/>
                </a:moveTo>
                <a:lnTo>
                  <a:pt x="10732321" y="0"/>
                </a:lnTo>
                <a:lnTo>
                  <a:pt x="10732321" y="6674162"/>
                </a:lnTo>
                <a:lnTo>
                  <a:pt x="0" y="6674162"/>
                </a:lnTo>
                <a:lnTo>
                  <a:pt x="0" y="0"/>
                </a:lnTo>
                <a:close/>
              </a:path>
            </a:pathLst>
          </a:custGeom>
          <a:blipFill>
            <a:blip r:embed="rId4"/>
            <a:stretch>
              <a:fillRect l="0" t="0" r="0" b="0"/>
            </a:stretch>
          </a:blipFill>
        </p:spPr>
      </p:sp>
      <p:sp>
        <p:nvSpPr>
          <p:cNvPr name="TextBox 10" id="10"/>
          <p:cNvSpPr txBox="true"/>
          <p:nvPr/>
        </p:nvSpPr>
        <p:spPr>
          <a:xfrm rot="0">
            <a:off x="11387576" y="1899882"/>
            <a:ext cx="5871724" cy="1761069"/>
          </a:xfrm>
          <a:prstGeom prst="rect">
            <a:avLst/>
          </a:prstGeom>
        </p:spPr>
        <p:txBody>
          <a:bodyPr anchor="t" rtlCol="false" tIns="0" lIns="0" bIns="0" rIns="0">
            <a:spAutoFit/>
          </a:bodyPr>
          <a:lstStyle/>
          <a:p>
            <a:pPr algn="l">
              <a:lnSpc>
                <a:spcPts val="3600"/>
              </a:lnSpc>
            </a:pPr>
            <a:r>
              <a:rPr lang="en-US" sz="3000">
                <a:solidFill>
                  <a:srgbClr val="232E2D"/>
                </a:solidFill>
                <a:latin typeface="Inter"/>
                <a:ea typeface="Inter"/>
                <a:cs typeface="Inter"/>
                <a:sym typeface="Inter"/>
              </a:rPr>
              <a:t>50 ye</a:t>
            </a:r>
            <a:r>
              <a:rPr lang="en-US" sz="3000">
                <a:solidFill>
                  <a:srgbClr val="232E2D"/>
                </a:solidFill>
                <a:latin typeface="Inter"/>
                <a:ea typeface="Inter"/>
                <a:cs typeface="Inter"/>
                <a:sym typeface="Inter"/>
              </a:rPr>
              <a:t>ars of stock and recruitment records (1959-2008)</a:t>
            </a:r>
          </a:p>
          <a:p>
            <a:pPr algn="l">
              <a:lnSpc>
                <a:spcPts val="960"/>
              </a:lnSpc>
            </a:pPr>
          </a:p>
          <a:p>
            <a:pPr algn="l">
              <a:lnSpc>
                <a:spcPts val="2882"/>
              </a:lnSpc>
            </a:pPr>
            <a:r>
              <a:rPr lang="en-US" sz="2401">
                <a:solidFill>
                  <a:srgbClr val="717C7A"/>
                </a:solidFill>
                <a:latin typeface="Inter"/>
                <a:ea typeface="Inter"/>
                <a:cs typeface="Inter"/>
                <a:sym typeface="Inter"/>
              </a:rPr>
              <a:t>Not recovered after 30 years of </a:t>
            </a:r>
          </a:p>
          <a:p>
            <a:pPr algn="l">
              <a:lnSpc>
                <a:spcPts val="2882"/>
              </a:lnSpc>
            </a:pPr>
            <a:r>
              <a:rPr lang="en-US" sz="2401">
                <a:solidFill>
                  <a:srgbClr val="717C7A"/>
                </a:solidFill>
                <a:latin typeface="Inter"/>
                <a:ea typeface="Inter"/>
                <a:cs typeface="Inter"/>
                <a:sym typeface="Inter"/>
              </a:rPr>
              <a:t>reduced fishing</a:t>
            </a:r>
          </a:p>
        </p:txBody>
      </p:sp>
      <p:sp>
        <p:nvSpPr>
          <p:cNvPr name="TextBox 11" id="11"/>
          <p:cNvSpPr txBox="true"/>
          <p:nvPr/>
        </p:nvSpPr>
        <p:spPr>
          <a:xfrm rot="0">
            <a:off x="11387576" y="4553617"/>
            <a:ext cx="5947791" cy="480431"/>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Result</a:t>
            </a:r>
          </a:p>
        </p:txBody>
      </p:sp>
      <p:sp>
        <p:nvSpPr>
          <p:cNvPr name="TextBox 12" id="12"/>
          <p:cNvSpPr txBox="true"/>
          <p:nvPr/>
        </p:nvSpPr>
        <p:spPr>
          <a:xfrm rot="0">
            <a:off x="11387576" y="5020323"/>
            <a:ext cx="5947791" cy="914400"/>
          </a:xfrm>
          <a:prstGeom prst="rect">
            <a:avLst/>
          </a:prstGeom>
        </p:spPr>
        <p:txBody>
          <a:bodyPr anchor="t" rtlCol="false" tIns="0" lIns="0" bIns="0" rIns="0">
            <a:spAutoFit/>
          </a:bodyPr>
          <a:lstStyle/>
          <a:p>
            <a:pPr algn="l">
              <a:lnSpc>
                <a:spcPts val="3603"/>
              </a:lnSpc>
            </a:pPr>
            <a:r>
              <a:rPr lang="en-US" sz="3002">
                <a:solidFill>
                  <a:srgbClr val="232E2D"/>
                </a:solidFill>
                <a:latin typeface="Inter"/>
                <a:ea typeface="Inter"/>
                <a:cs typeface="Inter"/>
                <a:sym typeface="Inter"/>
              </a:rPr>
              <a:t>E</a:t>
            </a:r>
            <a:r>
              <a:rPr lang="en-US" sz="3002">
                <a:solidFill>
                  <a:srgbClr val="232E2D"/>
                </a:solidFill>
                <a:latin typeface="Inter"/>
                <a:ea typeface="Inter"/>
                <a:cs typeface="Inter"/>
                <a:sym typeface="Inter"/>
              </a:rPr>
              <a:t>ach tonne of spawners produced fewer young</a:t>
            </a:r>
          </a:p>
        </p:txBody>
      </p:sp>
      <p:sp>
        <p:nvSpPr>
          <p:cNvPr name="TextBox 13" id="13"/>
          <p:cNvSpPr txBox="true"/>
          <p:nvPr/>
        </p:nvSpPr>
        <p:spPr>
          <a:xfrm rot="0">
            <a:off x="11387576" y="6818519"/>
            <a:ext cx="5947791" cy="480431"/>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Blind spot</a:t>
            </a:r>
          </a:p>
        </p:txBody>
      </p:sp>
      <p:sp>
        <p:nvSpPr>
          <p:cNvPr name="TextBox 14" id="14"/>
          <p:cNvSpPr txBox="true"/>
          <p:nvPr/>
        </p:nvSpPr>
        <p:spPr>
          <a:xfrm rot="0">
            <a:off x="11387576" y="7285235"/>
            <a:ext cx="5947791" cy="914400"/>
          </a:xfrm>
          <a:prstGeom prst="rect">
            <a:avLst/>
          </a:prstGeom>
        </p:spPr>
        <p:txBody>
          <a:bodyPr anchor="t" rtlCol="false" tIns="0" lIns="0" bIns="0" rIns="0">
            <a:spAutoFit/>
          </a:bodyPr>
          <a:lstStyle/>
          <a:p>
            <a:pPr algn="l">
              <a:lnSpc>
                <a:spcPts val="3603"/>
              </a:lnSpc>
            </a:pPr>
            <a:r>
              <a:rPr lang="en-US" sz="3002">
                <a:solidFill>
                  <a:srgbClr val="232E2D"/>
                </a:solidFill>
                <a:latin typeface="Inter"/>
                <a:ea typeface="Inter"/>
                <a:cs typeface="Inter"/>
                <a:sym typeface="Inter"/>
              </a:rPr>
              <a:t>The evidence only became strong after the crash</a:t>
            </a:r>
          </a:p>
        </p:txBody>
      </p:sp>
      <p:sp>
        <p:nvSpPr>
          <p:cNvPr name="TextBox 15" id="15"/>
          <p:cNvSpPr txBox="true"/>
          <p:nvPr/>
        </p:nvSpPr>
        <p:spPr>
          <a:xfrm rot="0">
            <a:off x="11394720" y="1419450"/>
            <a:ext cx="5947791" cy="314325"/>
          </a:xfrm>
          <a:prstGeom prst="rect">
            <a:avLst/>
          </a:prstGeom>
        </p:spPr>
        <p:txBody>
          <a:bodyPr anchor="t" rtlCol="false" tIns="0" lIns="0" bIns="0" rIns="0">
            <a:spAutoFit/>
          </a:bodyPr>
          <a:lstStyle/>
          <a:p>
            <a:pPr algn="l">
              <a:lnSpc>
                <a:spcPts val="2521"/>
              </a:lnSpc>
            </a:pPr>
            <a:r>
              <a:rPr lang="en-US" sz="2101">
                <a:solidFill>
                  <a:srgbClr val="717C7A"/>
                </a:solidFill>
                <a:latin typeface="Inter"/>
                <a:ea typeface="Inter"/>
                <a:cs typeface="Inter"/>
                <a:sym typeface="Inter"/>
              </a:rPr>
              <a:t>Setup</a:t>
            </a:r>
          </a:p>
        </p:txBody>
      </p:sp>
      <p:sp>
        <p:nvSpPr>
          <p:cNvPr name="TextBox 16" id="16"/>
          <p:cNvSpPr txBox="true"/>
          <p:nvPr/>
        </p:nvSpPr>
        <p:spPr>
          <a:xfrm rot="0">
            <a:off x="987197" y="8446037"/>
            <a:ext cx="7780631" cy="333375"/>
          </a:xfrm>
          <a:prstGeom prst="rect">
            <a:avLst/>
          </a:prstGeom>
        </p:spPr>
        <p:txBody>
          <a:bodyPr anchor="t" rtlCol="false" tIns="0" lIns="0" bIns="0" rIns="0">
            <a:spAutoFit/>
          </a:bodyPr>
          <a:lstStyle/>
          <a:p>
            <a:pPr algn="l">
              <a:lnSpc>
                <a:spcPts val="2641"/>
              </a:lnSpc>
            </a:pPr>
            <a:r>
              <a:rPr lang="en-US" sz="2201">
                <a:solidFill>
                  <a:srgbClr val="282C34"/>
                </a:solidFill>
                <a:latin typeface="Inter"/>
                <a:ea typeface="Inter"/>
                <a:cs typeface="Inter"/>
                <a:sym typeface="Inter"/>
              </a:rPr>
              <a:t>●  Each dot: one year, 1959-2008 (St Pierre Bank)</a:t>
            </a:r>
          </a:p>
        </p:txBody>
      </p:sp>
      <p:sp>
        <p:nvSpPr>
          <p:cNvPr name="TextBox 17" id="17"/>
          <p:cNvSpPr txBox="true"/>
          <p:nvPr/>
        </p:nvSpPr>
        <p:spPr>
          <a:xfrm rot="0">
            <a:off x="815819" y="9420304"/>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Data: Perälä et al. 2022, Fig. 2c; values digitised, approximate. Drawn with AI assistance (Claude)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59105"/>
            <a:ext cx="8229600" cy="617220"/>
            <a:chOff x="0" y="0"/>
            <a:chExt cx="10972800" cy="822960"/>
          </a:xfrm>
        </p:grpSpPr>
        <p:sp>
          <p:nvSpPr>
            <p:cNvPr name="Freeform 4" id="4"/>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sp>
        <p:sp>
          <p:nvSpPr>
            <p:cNvPr name="TextBox 5" id="5"/>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Two papers, 25 years apart</a:t>
              </a:r>
            </a:p>
          </p:txBody>
        </p:sp>
      </p:grpSp>
      <p:sp>
        <p:nvSpPr>
          <p:cNvPr name="TextBox 6" id="6"/>
          <p:cNvSpPr txBox="true"/>
          <p:nvPr/>
        </p:nvSpPr>
        <p:spPr>
          <a:xfrm rot="0">
            <a:off x="823608" y="1728503"/>
            <a:ext cx="16609333" cy="638175"/>
          </a:xfrm>
          <a:prstGeom prst="rect">
            <a:avLst/>
          </a:prstGeom>
        </p:spPr>
        <p:txBody>
          <a:bodyPr anchor="t" rtlCol="false" tIns="0" lIns="0" bIns="0" rIns="0">
            <a:spAutoFit/>
          </a:bodyPr>
          <a:lstStyle/>
          <a:p>
            <a:pPr algn="l">
              <a:lnSpc>
                <a:spcPts val="5045"/>
              </a:lnSpc>
            </a:pPr>
            <a:r>
              <a:rPr lang="en-US" sz="4204">
                <a:solidFill>
                  <a:srgbClr val="232E2D"/>
                </a:solidFill>
                <a:latin typeface="Inter"/>
                <a:ea typeface="Inter"/>
                <a:cs typeface="Inter"/>
                <a:sym typeface="Inter"/>
              </a:rPr>
              <a:t>Defined in 1999,</a:t>
            </a:r>
            <a:r>
              <a:rPr lang="en-US" sz="4204">
                <a:solidFill>
                  <a:srgbClr val="232E2D"/>
                </a:solidFill>
                <a:latin typeface="Inter"/>
                <a:ea typeface="Inter"/>
                <a:cs typeface="Inter"/>
                <a:sym typeface="Inter"/>
              </a:rPr>
              <a:t> measured in 2024</a:t>
            </a:r>
          </a:p>
        </p:txBody>
      </p:sp>
      <p:sp>
        <p:nvSpPr>
          <p:cNvPr name="AutoShape 7" id="7"/>
          <p:cNvSpPr/>
          <p:nvPr/>
        </p:nvSpPr>
        <p:spPr>
          <a:xfrm>
            <a:off x="816451" y="3056956"/>
            <a:ext cx="7920891" cy="14239"/>
          </a:xfrm>
          <a:prstGeom prst="line">
            <a:avLst/>
          </a:prstGeom>
          <a:ln cap="rnd" w="19050">
            <a:solidFill>
              <a:srgbClr val="C7C4C3"/>
            </a:solidFill>
            <a:prstDash val="solid"/>
            <a:headEnd type="none" len="sm" w="sm"/>
            <a:tailEnd type="none" len="sm" w="sm"/>
          </a:ln>
        </p:spPr>
      </p:sp>
      <p:sp>
        <p:nvSpPr>
          <p:cNvPr name="TextBox 8" id="8"/>
          <p:cNvSpPr txBox="true"/>
          <p:nvPr/>
        </p:nvSpPr>
        <p:spPr>
          <a:xfrm rot="0">
            <a:off x="823608" y="3281455"/>
            <a:ext cx="7906598" cy="949271"/>
          </a:xfrm>
          <a:prstGeom prst="rect">
            <a:avLst/>
          </a:prstGeom>
        </p:spPr>
        <p:txBody>
          <a:bodyPr anchor="t" rtlCol="false" tIns="0" lIns="0" bIns="0" rIns="0">
            <a:spAutoFit/>
          </a:bodyPr>
          <a:lstStyle/>
          <a:p>
            <a:pPr algn="l">
              <a:lnSpc>
                <a:spcPts val="4483"/>
              </a:lnSpc>
            </a:pPr>
            <a:r>
              <a:rPr lang="en-US" sz="3202">
                <a:solidFill>
                  <a:srgbClr val="232E2D"/>
                </a:solidFill>
                <a:latin typeface="Inter"/>
                <a:ea typeface="Inter"/>
                <a:cs typeface="Inter"/>
                <a:sym typeface="Inter"/>
              </a:rPr>
              <a:t>Stephens et al. 1999</a:t>
            </a:r>
          </a:p>
          <a:p>
            <a:pPr algn="l">
              <a:lnSpc>
                <a:spcPts val="3222"/>
              </a:lnSpc>
            </a:pPr>
            <a:r>
              <a:rPr lang="en-US" sz="2301">
                <a:solidFill>
                  <a:srgbClr val="717C7A"/>
                </a:solidFill>
                <a:latin typeface="Inter"/>
                <a:ea typeface="Inter"/>
                <a:cs typeface="Inter"/>
                <a:sym typeface="Inter"/>
              </a:rPr>
              <a:t>Defined the terms, no new data</a:t>
            </a:r>
          </a:p>
        </p:txBody>
      </p:sp>
      <p:sp>
        <p:nvSpPr>
          <p:cNvPr name="TextBox 9" id="9"/>
          <p:cNvSpPr txBox="true"/>
          <p:nvPr/>
        </p:nvSpPr>
        <p:spPr>
          <a:xfrm rot="0">
            <a:off x="823608" y="4711282"/>
            <a:ext cx="7686961" cy="1964019"/>
          </a:xfrm>
          <a:prstGeom prst="rect">
            <a:avLst/>
          </a:prstGeom>
        </p:spPr>
        <p:txBody>
          <a:bodyPr anchor="t" rtlCol="false" tIns="0" lIns="0" bIns="0" rIns="0">
            <a:spAutoFit/>
          </a:bodyPr>
          <a:lstStyle/>
          <a:p>
            <a:pPr algn="l">
              <a:lnSpc>
                <a:spcPts val="3963"/>
              </a:lnSpc>
            </a:pPr>
            <a:r>
              <a:rPr lang="en-US" sz="3002">
                <a:solidFill>
                  <a:srgbClr val="6E7C7A"/>
                </a:solidFill>
                <a:latin typeface="Source Serif Pro"/>
                <a:ea typeface="Source Serif Pro"/>
                <a:cs typeface="Source Serif Pro"/>
                <a:sym typeface="Source Serif Pro"/>
              </a:rPr>
              <a:t>“Whilst theoreticians are principally concerned with demographic Allee effects, empiricists … are usually constrained to the quantification of component Allee effects.”</a:t>
            </a:r>
          </a:p>
        </p:txBody>
      </p:sp>
      <p:sp>
        <p:nvSpPr>
          <p:cNvPr name="AutoShape 10" id="10"/>
          <p:cNvSpPr/>
          <p:nvPr/>
        </p:nvSpPr>
        <p:spPr>
          <a:xfrm>
            <a:off x="9560373" y="3056956"/>
            <a:ext cx="7920891" cy="14239"/>
          </a:xfrm>
          <a:prstGeom prst="line">
            <a:avLst/>
          </a:prstGeom>
          <a:ln cap="rnd" w="19050">
            <a:solidFill>
              <a:srgbClr val="C7C4C3"/>
            </a:solidFill>
            <a:prstDash val="solid"/>
            <a:headEnd type="none" len="sm" w="sm"/>
            <a:tailEnd type="none" len="sm" w="sm"/>
          </a:ln>
        </p:spPr>
      </p:sp>
      <p:sp>
        <p:nvSpPr>
          <p:cNvPr name="TextBox 11" id="11"/>
          <p:cNvSpPr txBox="true"/>
          <p:nvPr/>
        </p:nvSpPr>
        <p:spPr>
          <a:xfrm rot="0">
            <a:off x="9567529" y="3281455"/>
            <a:ext cx="7906598" cy="949271"/>
          </a:xfrm>
          <a:prstGeom prst="rect">
            <a:avLst/>
          </a:prstGeom>
        </p:spPr>
        <p:txBody>
          <a:bodyPr anchor="t" rtlCol="false" tIns="0" lIns="0" bIns="0" rIns="0">
            <a:spAutoFit/>
          </a:bodyPr>
          <a:lstStyle/>
          <a:p>
            <a:pPr algn="l">
              <a:lnSpc>
                <a:spcPts val="4483"/>
              </a:lnSpc>
            </a:pPr>
            <a:r>
              <a:rPr lang="en-US" sz="3202">
                <a:solidFill>
                  <a:srgbClr val="232E2D"/>
                </a:solidFill>
                <a:latin typeface="Inter"/>
                <a:ea typeface="Inter"/>
                <a:cs typeface="Inter"/>
                <a:sym typeface="Inter"/>
              </a:rPr>
              <a:t>Muir et al. 2024</a:t>
            </a:r>
          </a:p>
          <a:p>
            <a:pPr algn="l">
              <a:lnSpc>
                <a:spcPts val="3222"/>
              </a:lnSpc>
            </a:pPr>
            <a:r>
              <a:rPr lang="en-US" sz="2301">
                <a:solidFill>
                  <a:srgbClr val="717C7A"/>
                </a:solidFill>
                <a:latin typeface="Inter"/>
                <a:ea typeface="Inter"/>
                <a:cs typeface="Inter"/>
                <a:sym typeface="Inter"/>
              </a:rPr>
              <a:t>Meta-analysis of 62 experimental studies</a:t>
            </a:r>
          </a:p>
        </p:txBody>
      </p:sp>
      <p:sp>
        <p:nvSpPr>
          <p:cNvPr name="TextBox 12" id="12"/>
          <p:cNvSpPr txBox="true"/>
          <p:nvPr/>
        </p:nvSpPr>
        <p:spPr>
          <a:xfrm rot="0">
            <a:off x="9567529" y="4711282"/>
            <a:ext cx="7686961" cy="2459319"/>
          </a:xfrm>
          <a:prstGeom prst="rect">
            <a:avLst/>
          </a:prstGeom>
        </p:spPr>
        <p:txBody>
          <a:bodyPr anchor="t" rtlCol="false" tIns="0" lIns="0" bIns="0" rIns="0">
            <a:spAutoFit/>
          </a:bodyPr>
          <a:lstStyle/>
          <a:p>
            <a:pPr algn="l">
              <a:lnSpc>
                <a:spcPts val="3963"/>
              </a:lnSpc>
            </a:pPr>
            <a:r>
              <a:rPr lang="en-US" sz="3002">
                <a:solidFill>
                  <a:srgbClr val="6E7C7A"/>
                </a:solidFill>
                <a:latin typeface="Source Serif Pro"/>
                <a:ea typeface="Source Serif Pro"/>
                <a:cs typeface="Source Serif Pro"/>
                <a:sym typeface="Source Serif Pro"/>
              </a:rPr>
              <a:t>“Much of the theoretical literature on Allee effects has focused on demographic Allee effects … In comparison, most experimental work on Allee effects has focused on component Allee effects.”</a:t>
            </a:r>
          </a:p>
        </p:txBody>
      </p:sp>
      <p:grpSp>
        <p:nvGrpSpPr>
          <p:cNvPr name="Group 13" id="13"/>
          <p:cNvGrpSpPr/>
          <p:nvPr/>
        </p:nvGrpSpPr>
        <p:grpSpPr>
          <a:xfrm rot="0">
            <a:off x="814069" y="7808776"/>
            <a:ext cx="16618872" cy="1144582"/>
            <a:chOff x="0" y="0"/>
            <a:chExt cx="30352708" cy="2090465"/>
          </a:xfrm>
        </p:grpSpPr>
        <p:sp>
          <p:nvSpPr>
            <p:cNvPr name="Freeform 14" id="14"/>
            <p:cNvSpPr/>
            <p:nvPr/>
          </p:nvSpPr>
          <p:spPr>
            <a:xfrm flipH="false" flipV="false" rot="0">
              <a:off x="0" y="0"/>
              <a:ext cx="30352746" cy="2090465"/>
            </a:xfrm>
            <a:custGeom>
              <a:avLst/>
              <a:gdLst/>
              <a:ahLst/>
              <a:cxnLst/>
              <a:rect r="r" b="b" t="t" l="l"/>
              <a:pathLst>
                <a:path h="2090465" w="30352746">
                  <a:moveTo>
                    <a:pt x="66152" y="0"/>
                  </a:moveTo>
                  <a:lnTo>
                    <a:pt x="30286595" y="0"/>
                  </a:lnTo>
                  <a:cubicBezTo>
                    <a:pt x="30323129" y="0"/>
                    <a:pt x="30352746" y="29617"/>
                    <a:pt x="30352746" y="66152"/>
                  </a:cubicBezTo>
                  <a:lnTo>
                    <a:pt x="30352746" y="2024313"/>
                  </a:lnTo>
                  <a:cubicBezTo>
                    <a:pt x="30352746" y="2060848"/>
                    <a:pt x="30323129" y="2090465"/>
                    <a:pt x="30286595" y="2090465"/>
                  </a:cubicBezTo>
                  <a:lnTo>
                    <a:pt x="66152" y="2090465"/>
                  </a:lnTo>
                  <a:cubicBezTo>
                    <a:pt x="29617" y="2090465"/>
                    <a:pt x="0" y="2060848"/>
                    <a:pt x="0" y="2024313"/>
                  </a:cubicBezTo>
                  <a:lnTo>
                    <a:pt x="0" y="66152"/>
                  </a:lnTo>
                  <a:cubicBezTo>
                    <a:pt x="0" y="29617"/>
                    <a:pt x="29617" y="0"/>
                    <a:pt x="66152" y="0"/>
                  </a:cubicBezTo>
                  <a:close/>
                </a:path>
              </a:pathLst>
            </a:custGeom>
            <a:solidFill>
              <a:srgbClr val="D9D4CF">
                <a:alpha val="50980"/>
              </a:srgbClr>
            </a:solidFill>
          </p:spPr>
        </p:sp>
      </p:grpSp>
      <p:sp>
        <p:nvSpPr>
          <p:cNvPr name="TextBox 15" id="15"/>
          <p:cNvSpPr txBox="true"/>
          <p:nvPr/>
        </p:nvSpPr>
        <p:spPr>
          <a:xfrm rot="0">
            <a:off x="1157955" y="8132626"/>
            <a:ext cx="16227361" cy="457200"/>
          </a:xfrm>
          <a:prstGeom prst="rect">
            <a:avLst/>
          </a:prstGeom>
        </p:spPr>
        <p:txBody>
          <a:bodyPr anchor="t" rtlCol="false" tIns="0" lIns="0" bIns="0" rIns="0">
            <a:spAutoFit/>
          </a:bodyPr>
          <a:lstStyle/>
          <a:p>
            <a:pPr algn="l">
              <a:lnSpc>
                <a:spcPts val="3602"/>
              </a:lnSpc>
            </a:pPr>
            <a:r>
              <a:rPr lang="en-US" sz="3002">
                <a:solidFill>
                  <a:srgbClr val="232E2D"/>
                </a:solidFill>
                <a:latin typeface="Inter"/>
                <a:ea typeface="Inter"/>
                <a:cs typeface="Inter"/>
                <a:sym typeface="Inter"/>
              </a:rPr>
              <a:t>Same gap, 25 years later: we mostly measure costs to individuals, not whole populations.</a:t>
            </a:r>
          </a:p>
        </p:txBody>
      </p:sp>
      <p:sp>
        <p:nvSpPr>
          <p:cNvPr name="AutoShape 16" id="16"/>
          <p:cNvSpPr/>
          <p:nvPr/>
        </p:nvSpPr>
        <p:spPr>
          <a:xfrm>
            <a:off x="816457" y="9506061"/>
            <a:ext cx="16668934" cy="14255"/>
          </a:xfrm>
          <a:prstGeom prst="line">
            <a:avLst/>
          </a:prstGeom>
          <a:ln cap="rnd" w="19050">
            <a:solidFill>
              <a:srgbClr val="C7C4C3"/>
            </a:solidFill>
            <a:prstDash val="solid"/>
            <a:headEnd type="none" len="sm" w="sm"/>
            <a:tailEnd type="none" len="sm" w="sm"/>
          </a:ln>
        </p:spPr>
      </p:sp>
      <p:sp>
        <p:nvSpPr>
          <p:cNvPr name="TextBox 17" id="17"/>
          <p:cNvSpPr txBox="true"/>
          <p:nvPr/>
        </p:nvSpPr>
        <p:spPr>
          <a:xfrm rot="0">
            <a:off x="823608" y="9640929"/>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Quotes: Stephens et al. 1999, p. 187; Muir et al. 2024, p. 2</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TextBox 2" id="2"/>
          <p:cNvSpPr txBox="true"/>
          <p:nvPr/>
        </p:nvSpPr>
        <p:spPr>
          <a:xfrm rot="0">
            <a:off x="822960" y="2069371"/>
            <a:ext cx="5349240" cy="933450"/>
          </a:xfrm>
          <a:prstGeom prst="rect">
            <a:avLst/>
          </a:prstGeom>
        </p:spPr>
        <p:txBody>
          <a:bodyPr anchor="t" rtlCol="false" tIns="0" lIns="0" bIns="0" rIns="0">
            <a:spAutoFit/>
          </a:bodyPr>
          <a:lstStyle/>
          <a:p>
            <a:pPr algn="l">
              <a:lnSpc>
                <a:spcPts val="3900"/>
              </a:lnSpc>
            </a:pPr>
            <a:r>
              <a:rPr lang="en-US" sz="2600">
                <a:solidFill>
                  <a:srgbClr val="232E2D"/>
                </a:solidFill>
                <a:latin typeface="Inter"/>
                <a:ea typeface="Inter"/>
                <a:cs typeface="Inter"/>
                <a:sym typeface="Inter"/>
              </a:rPr>
              <a:t>Experiments</a:t>
            </a:r>
          </a:p>
          <a:p>
            <a:pPr algn="l">
              <a:lnSpc>
                <a:spcPts val="3600"/>
              </a:lnSpc>
            </a:pPr>
            <a:r>
              <a:rPr lang="en-US" sz="2400" b="true">
                <a:solidFill>
                  <a:srgbClr val="717C7A"/>
                </a:solidFill>
                <a:latin typeface="Inter Bold"/>
                <a:ea typeface="Inter Bold"/>
                <a:cs typeface="Inter Bold"/>
                <a:sym typeface="Inter Bold"/>
              </a:rPr>
              <a:t>62</a:t>
            </a:r>
            <a:r>
              <a:rPr lang="en-US" sz="2400">
                <a:solidFill>
                  <a:srgbClr val="717C7A"/>
                </a:solidFill>
                <a:latin typeface="Inter"/>
                <a:ea typeface="Inter"/>
                <a:cs typeface="Inter"/>
                <a:sym typeface="Inter"/>
              </a:rPr>
              <a:t> studies</a:t>
            </a:r>
          </a:p>
        </p:txBody>
      </p:sp>
      <p:grpSp>
        <p:nvGrpSpPr>
          <p:cNvPr name="Group 3" id="3"/>
          <p:cNvGrpSpPr/>
          <p:nvPr/>
        </p:nvGrpSpPr>
        <p:grpSpPr>
          <a:xfrm rot="0">
            <a:off x="6309360" y="2164621"/>
            <a:ext cx="9601200" cy="685800"/>
            <a:chOff x="0" y="0"/>
            <a:chExt cx="12801600" cy="914400"/>
          </a:xfrm>
        </p:grpSpPr>
        <p:sp>
          <p:nvSpPr>
            <p:cNvPr name="Freeform 4" id="4"/>
            <p:cNvSpPr/>
            <p:nvPr/>
          </p:nvSpPr>
          <p:spPr>
            <a:xfrm flipH="false" flipV="false" rot="0">
              <a:off x="0" y="0"/>
              <a:ext cx="12801600" cy="914400"/>
            </a:xfrm>
            <a:custGeom>
              <a:avLst/>
              <a:gdLst/>
              <a:ahLst/>
              <a:cxnLst/>
              <a:rect r="r" b="b" t="t" l="l"/>
              <a:pathLst>
                <a:path h="914400" w="12801600">
                  <a:moveTo>
                    <a:pt x="0" y="0"/>
                  </a:moveTo>
                  <a:lnTo>
                    <a:pt x="12801600" y="0"/>
                  </a:lnTo>
                  <a:lnTo>
                    <a:pt x="12801600" y="914400"/>
                  </a:lnTo>
                  <a:lnTo>
                    <a:pt x="0" y="914400"/>
                  </a:lnTo>
                  <a:close/>
                </a:path>
              </a:pathLst>
            </a:custGeom>
            <a:blipFill>
              <a:blip r:embed="rId3">
                <a:alphaModFix amt="0"/>
              </a:blip>
              <a:stretch>
                <a:fillRect l="0" t="-222790" r="0" b="-222790"/>
              </a:stretch>
            </a:blipFill>
          </p:spPr>
        </p:sp>
        <p:sp>
          <p:nvSpPr>
            <p:cNvPr name="TextBox 5" id="5"/>
            <p:cNvSpPr txBox="true"/>
            <p:nvPr/>
          </p:nvSpPr>
          <p:spPr>
            <a:xfrm>
              <a:off x="0" y="0"/>
              <a:ext cx="12801600" cy="914400"/>
            </a:xfrm>
            <a:prstGeom prst="rect">
              <a:avLst/>
            </a:prstGeom>
          </p:spPr>
          <p:txBody>
            <a:bodyPr anchor="ctr" rtlCol="false" tIns="0" lIns="0" bIns="0" rIns="0"/>
            <a:lstStyle/>
            <a:p>
              <a:pPr algn="l">
                <a:lnSpc>
                  <a:spcPts val="3600"/>
                </a:lnSpc>
              </a:pPr>
              <a:r>
                <a:rPr lang="en-US" sz="3000">
                  <a:solidFill>
                    <a:srgbClr val="232E2D"/>
                  </a:solidFill>
                  <a:latin typeface="Inter"/>
                  <a:ea typeface="Inter"/>
                  <a:cs typeface="Inter"/>
                  <a:sym typeface="Inter"/>
                </a:rPr>
                <a:t>Clear effects, mostly costs to </a:t>
              </a:r>
              <a:r>
                <a:rPr lang="en-US" sz="3000" u="sng">
                  <a:solidFill>
                    <a:srgbClr val="232E2D"/>
                  </a:solidFill>
                  <a:latin typeface="Inter"/>
                  <a:ea typeface="Inter"/>
                  <a:cs typeface="Inter"/>
                  <a:sym typeface="Inter"/>
                </a:rPr>
                <a:t>individuals</a:t>
              </a:r>
            </a:p>
          </p:txBody>
        </p:sp>
      </p:grpSp>
      <p:sp>
        <p:nvSpPr>
          <p:cNvPr name="AutoShape 6" id="6"/>
          <p:cNvSpPr/>
          <p:nvPr/>
        </p:nvSpPr>
        <p:spPr>
          <a:xfrm>
            <a:off x="814050" y="3388584"/>
            <a:ext cx="16332851" cy="14244"/>
          </a:xfrm>
          <a:prstGeom prst="line">
            <a:avLst/>
          </a:prstGeom>
          <a:ln cap="rnd" w="9525">
            <a:solidFill>
              <a:srgbClr val="C7C4C3"/>
            </a:solidFill>
            <a:prstDash val="solid"/>
            <a:headEnd type="none" len="sm" w="sm"/>
            <a:tailEnd type="none" len="sm" w="sm"/>
          </a:ln>
        </p:spPr>
      </p:sp>
      <p:sp>
        <p:nvSpPr>
          <p:cNvPr name="TextBox 7" id="7"/>
          <p:cNvSpPr txBox="true"/>
          <p:nvPr/>
        </p:nvSpPr>
        <p:spPr>
          <a:xfrm rot="0">
            <a:off x="822960" y="3712390"/>
            <a:ext cx="5349240" cy="933450"/>
          </a:xfrm>
          <a:prstGeom prst="rect">
            <a:avLst/>
          </a:prstGeom>
        </p:spPr>
        <p:txBody>
          <a:bodyPr anchor="t" rtlCol="false" tIns="0" lIns="0" bIns="0" rIns="0">
            <a:spAutoFit/>
          </a:bodyPr>
          <a:lstStyle/>
          <a:p>
            <a:pPr algn="l">
              <a:lnSpc>
                <a:spcPts val="3900"/>
              </a:lnSpc>
            </a:pPr>
            <a:r>
              <a:rPr lang="en-US" sz="2600">
                <a:solidFill>
                  <a:srgbClr val="232E2D"/>
                </a:solidFill>
                <a:latin typeface="Inter"/>
                <a:ea typeface="Inter"/>
                <a:cs typeface="Inter"/>
                <a:sym typeface="Inter"/>
              </a:rPr>
              <a:t>Field: clear evidence, any kind</a:t>
            </a:r>
          </a:p>
          <a:p>
            <a:pPr algn="l">
              <a:lnSpc>
                <a:spcPts val="3600"/>
              </a:lnSpc>
            </a:pPr>
            <a:r>
              <a:rPr lang="en-US" sz="2400" b="true">
                <a:solidFill>
                  <a:srgbClr val="717C7A"/>
                </a:solidFill>
                <a:latin typeface="Inter Bold"/>
                <a:ea typeface="Inter Bold"/>
                <a:cs typeface="Inter Bold"/>
                <a:sym typeface="Inter Bold"/>
              </a:rPr>
              <a:t>63</a:t>
            </a:r>
            <a:r>
              <a:rPr lang="en-US" sz="2400">
                <a:solidFill>
                  <a:srgbClr val="717C7A"/>
                </a:solidFill>
                <a:latin typeface="Inter"/>
                <a:ea typeface="Inter"/>
                <a:cs typeface="Inter"/>
                <a:sym typeface="Inter"/>
              </a:rPr>
              <a:t> of 91</a:t>
            </a:r>
          </a:p>
        </p:txBody>
      </p:sp>
      <p:grpSp>
        <p:nvGrpSpPr>
          <p:cNvPr name="Group 8" id="8"/>
          <p:cNvGrpSpPr/>
          <p:nvPr/>
        </p:nvGrpSpPr>
        <p:grpSpPr>
          <a:xfrm rot="0">
            <a:off x="6309360" y="3898318"/>
            <a:ext cx="9601200" cy="576072"/>
            <a:chOff x="0" y="0"/>
            <a:chExt cx="12801600" cy="768096"/>
          </a:xfrm>
        </p:grpSpPr>
        <p:sp>
          <p:nvSpPr>
            <p:cNvPr name="Freeform 9" id="9"/>
            <p:cNvSpPr/>
            <p:nvPr/>
          </p:nvSpPr>
          <p:spPr>
            <a:xfrm flipH="false" flipV="false" rot="0">
              <a:off x="0" y="0"/>
              <a:ext cx="12801600" cy="768096"/>
            </a:xfrm>
            <a:custGeom>
              <a:avLst/>
              <a:gdLst/>
              <a:ahLst/>
              <a:cxnLst/>
              <a:rect r="r" b="b" t="t" l="l"/>
              <a:pathLst>
                <a:path h="768096" w="12801600">
                  <a:moveTo>
                    <a:pt x="0" y="0"/>
                  </a:moveTo>
                  <a:lnTo>
                    <a:pt x="12801600" y="0"/>
                  </a:lnTo>
                  <a:lnTo>
                    <a:pt x="12801600" y="768096"/>
                  </a:lnTo>
                  <a:lnTo>
                    <a:pt x="0" y="768096"/>
                  </a:lnTo>
                  <a:close/>
                </a:path>
              </a:pathLst>
            </a:custGeom>
            <a:solidFill>
              <a:srgbClr val="E4E2E0"/>
            </a:solidFill>
          </p:spPr>
        </p:sp>
      </p:grpSp>
      <p:grpSp>
        <p:nvGrpSpPr>
          <p:cNvPr name="Group 10" id="10"/>
          <p:cNvGrpSpPr/>
          <p:nvPr/>
        </p:nvGrpSpPr>
        <p:grpSpPr>
          <a:xfrm rot="0">
            <a:off x="6309360" y="3898318"/>
            <a:ext cx="6646983" cy="576072"/>
            <a:chOff x="0" y="0"/>
            <a:chExt cx="8862644" cy="768096"/>
          </a:xfrm>
        </p:grpSpPr>
        <p:sp>
          <p:nvSpPr>
            <p:cNvPr name="Freeform 11" id="11"/>
            <p:cNvSpPr/>
            <p:nvPr/>
          </p:nvSpPr>
          <p:spPr>
            <a:xfrm flipH="false" flipV="false" rot="0">
              <a:off x="0" y="0"/>
              <a:ext cx="8862695" cy="768096"/>
            </a:xfrm>
            <a:custGeom>
              <a:avLst/>
              <a:gdLst/>
              <a:ahLst/>
              <a:cxnLst/>
              <a:rect r="r" b="b" t="t" l="l"/>
              <a:pathLst>
                <a:path h="768096" w="8862695">
                  <a:moveTo>
                    <a:pt x="0" y="0"/>
                  </a:moveTo>
                  <a:lnTo>
                    <a:pt x="8862695" y="0"/>
                  </a:lnTo>
                  <a:lnTo>
                    <a:pt x="8862695" y="768096"/>
                  </a:lnTo>
                  <a:lnTo>
                    <a:pt x="0" y="768096"/>
                  </a:lnTo>
                  <a:close/>
                </a:path>
              </a:pathLst>
            </a:custGeom>
            <a:solidFill>
              <a:srgbClr val="6E7C7A"/>
            </a:solidFill>
          </p:spPr>
        </p:sp>
      </p:grpSp>
      <p:grpSp>
        <p:nvGrpSpPr>
          <p:cNvPr name="Group 12" id="12"/>
          <p:cNvGrpSpPr/>
          <p:nvPr/>
        </p:nvGrpSpPr>
        <p:grpSpPr>
          <a:xfrm rot="0">
            <a:off x="13162083" y="3843454"/>
            <a:ext cx="1645920" cy="685800"/>
            <a:chOff x="0" y="0"/>
            <a:chExt cx="2194560" cy="914400"/>
          </a:xfrm>
        </p:grpSpPr>
        <p:sp>
          <p:nvSpPr>
            <p:cNvPr name="Freeform 13" id="13"/>
            <p:cNvSpPr/>
            <p:nvPr/>
          </p:nvSpPr>
          <p:spPr>
            <a:xfrm flipH="false" flipV="false" rot="0">
              <a:off x="0" y="0"/>
              <a:ext cx="2194560" cy="914400"/>
            </a:xfrm>
            <a:custGeom>
              <a:avLst/>
              <a:gdLst/>
              <a:ahLst/>
              <a:cxnLst/>
              <a:rect r="r" b="b" t="t" l="l"/>
              <a:pathLst>
                <a:path h="914400" w="2194560">
                  <a:moveTo>
                    <a:pt x="0" y="0"/>
                  </a:moveTo>
                  <a:lnTo>
                    <a:pt x="2194560" y="0"/>
                  </a:lnTo>
                  <a:lnTo>
                    <a:pt x="2194560" y="914400"/>
                  </a:lnTo>
                  <a:lnTo>
                    <a:pt x="0" y="914400"/>
                  </a:lnTo>
                  <a:close/>
                </a:path>
              </a:pathLst>
            </a:custGeom>
            <a:blipFill>
              <a:blip r:embed="rId3">
                <a:alphaModFix amt="0"/>
              </a:blip>
              <a:stretch>
                <a:fillRect l="-3459" t="0" r="-3459" b="0"/>
              </a:stretch>
            </a:blipFill>
          </p:spPr>
        </p:sp>
        <p:sp>
          <p:nvSpPr>
            <p:cNvPr name="TextBox 14" id="14"/>
            <p:cNvSpPr txBox="true"/>
            <p:nvPr/>
          </p:nvSpPr>
          <p:spPr>
            <a:xfrm>
              <a:off x="0" y="9525"/>
              <a:ext cx="2194560" cy="904875"/>
            </a:xfrm>
            <a:prstGeom prst="rect">
              <a:avLst/>
            </a:prstGeom>
          </p:spPr>
          <p:txBody>
            <a:bodyPr anchor="ctr" rtlCol="false" tIns="0" lIns="0" bIns="0" rIns="0"/>
            <a:lstStyle/>
            <a:p>
              <a:pPr algn="l">
                <a:lnSpc>
                  <a:spcPts val="3480"/>
                </a:lnSpc>
              </a:pPr>
              <a:r>
                <a:rPr lang="en-US" sz="2900">
                  <a:solidFill>
                    <a:srgbClr val="232E2D"/>
                  </a:solidFill>
                  <a:latin typeface="Aptos"/>
                  <a:ea typeface="Aptos"/>
                  <a:cs typeface="Aptos"/>
                  <a:sym typeface="Aptos"/>
                </a:rPr>
                <a:t>69%</a:t>
              </a:r>
            </a:p>
          </p:txBody>
        </p:sp>
      </p:grpSp>
      <p:sp>
        <p:nvSpPr>
          <p:cNvPr name="AutoShape 15" id="15"/>
          <p:cNvSpPr/>
          <p:nvPr/>
        </p:nvSpPr>
        <p:spPr>
          <a:xfrm>
            <a:off x="814046" y="5031603"/>
            <a:ext cx="16332851" cy="14244"/>
          </a:xfrm>
          <a:prstGeom prst="line">
            <a:avLst/>
          </a:prstGeom>
          <a:ln cap="rnd" w="9525">
            <a:solidFill>
              <a:srgbClr val="C7C4C3"/>
            </a:solidFill>
            <a:prstDash val="solid"/>
            <a:headEnd type="none" len="sm" w="sm"/>
            <a:tailEnd type="none" len="sm" w="sm"/>
          </a:ln>
        </p:spPr>
      </p:sp>
      <p:sp>
        <p:nvSpPr>
          <p:cNvPr name="TextBox 16" id="16"/>
          <p:cNvSpPr txBox="true"/>
          <p:nvPr/>
        </p:nvSpPr>
        <p:spPr>
          <a:xfrm rot="0">
            <a:off x="822960" y="5355410"/>
            <a:ext cx="5349240" cy="933450"/>
          </a:xfrm>
          <a:prstGeom prst="rect">
            <a:avLst/>
          </a:prstGeom>
        </p:spPr>
        <p:txBody>
          <a:bodyPr anchor="t" rtlCol="false" tIns="0" lIns="0" bIns="0" rIns="0">
            <a:spAutoFit/>
          </a:bodyPr>
          <a:lstStyle/>
          <a:p>
            <a:pPr algn="l">
              <a:lnSpc>
                <a:spcPts val="3900"/>
              </a:lnSpc>
            </a:pPr>
            <a:r>
              <a:rPr lang="en-US" sz="2600">
                <a:solidFill>
                  <a:srgbClr val="232E2D"/>
                </a:solidFill>
                <a:latin typeface="Inter"/>
                <a:ea typeface="Inter"/>
                <a:cs typeface="Inter"/>
                <a:sym typeface="Inter"/>
              </a:rPr>
              <a:t>Field: point of no return</a:t>
            </a:r>
          </a:p>
          <a:p>
            <a:pPr algn="l">
              <a:lnSpc>
                <a:spcPts val="3600"/>
              </a:lnSpc>
            </a:pPr>
            <a:r>
              <a:rPr lang="en-US" sz="2400" b="true">
                <a:solidFill>
                  <a:srgbClr val="717C7A"/>
                </a:solidFill>
                <a:latin typeface="Inter Bold"/>
                <a:ea typeface="Inter Bold"/>
                <a:cs typeface="Inter Bold"/>
                <a:sym typeface="Inter Bold"/>
              </a:rPr>
              <a:t>7</a:t>
            </a:r>
            <a:r>
              <a:rPr lang="en-US" sz="2400">
                <a:solidFill>
                  <a:srgbClr val="717C7A"/>
                </a:solidFill>
                <a:latin typeface="Inter"/>
                <a:ea typeface="Inter"/>
                <a:cs typeface="Inter"/>
                <a:sym typeface="Inter"/>
              </a:rPr>
              <a:t> of 91</a:t>
            </a:r>
          </a:p>
        </p:txBody>
      </p:sp>
      <p:grpSp>
        <p:nvGrpSpPr>
          <p:cNvPr name="Group 17" id="17"/>
          <p:cNvGrpSpPr/>
          <p:nvPr/>
        </p:nvGrpSpPr>
        <p:grpSpPr>
          <a:xfrm rot="0">
            <a:off x="6309360" y="5541338"/>
            <a:ext cx="9601200" cy="576072"/>
            <a:chOff x="0" y="0"/>
            <a:chExt cx="12801600" cy="768096"/>
          </a:xfrm>
        </p:grpSpPr>
        <p:sp>
          <p:nvSpPr>
            <p:cNvPr name="Freeform 18" id="18"/>
            <p:cNvSpPr/>
            <p:nvPr/>
          </p:nvSpPr>
          <p:spPr>
            <a:xfrm flipH="false" flipV="false" rot="0">
              <a:off x="0" y="0"/>
              <a:ext cx="12801600" cy="768096"/>
            </a:xfrm>
            <a:custGeom>
              <a:avLst/>
              <a:gdLst/>
              <a:ahLst/>
              <a:cxnLst/>
              <a:rect r="r" b="b" t="t" l="l"/>
              <a:pathLst>
                <a:path h="768096" w="12801600">
                  <a:moveTo>
                    <a:pt x="0" y="0"/>
                  </a:moveTo>
                  <a:lnTo>
                    <a:pt x="12801600" y="0"/>
                  </a:lnTo>
                  <a:lnTo>
                    <a:pt x="12801600" y="768096"/>
                  </a:lnTo>
                  <a:lnTo>
                    <a:pt x="0" y="768096"/>
                  </a:lnTo>
                  <a:close/>
                </a:path>
              </a:pathLst>
            </a:custGeom>
            <a:solidFill>
              <a:srgbClr val="E4E2E0"/>
            </a:solidFill>
          </p:spPr>
        </p:sp>
      </p:grpSp>
      <p:grpSp>
        <p:nvGrpSpPr>
          <p:cNvPr name="Group 19" id="19"/>
          <p:cNvGrpSpPr/>
          <p:nvPr/>
        </p:nvGrpSpPr>
        <p:grpSpPr>
          <a:xfrm rot="0">
            <a:off x="6309360" y="5541338"/>
            <a:ext cx="738549" cy="576072"/>
            <a:chOff x="0" y="0"/>
            <a:chExt cx="984733" cy="768096"/>
          </a:xfrm>
        </p:grpSpPr>
        <p:sp>
          <p:nvSpPr>
            <p:cNvPr name="Freeform 20" id="20"/>
            <p:cNvSpPr/>
            <p:nvPr/>
          </p:nvSpPr>
          <p:spPr>
            <a:xfrm flipH="false" flipV="false" rot="0">
              <a:off x="0" y="0"/>
              <a:ext cx="984758" cy="768096"/>
            </a:xfrm>
            <a:custGeom>
              <a:avLst/>
              <a:gdLst/>
              <a:ahLst/>
              <a:cxnLst/>
              <a:rect r="r" b="b" t="t" l="l"/>
              <a:pathLst>
                <a:path h="768096" w="984758">
                  <a:moveTo>
                    <a:pt x="0" y="0"/>
                  </a:moveTo>
                  <a:lnTo>
                    <a:pt x="984758" y="0"/>
                  </a:lnTo>
                  <a:lnTo>
                    <a:pt x="984758" y="768096"/>
                  </a:lnTo>
                  <a:lnTo>
                    <a:pt x="0" y="768096"/>
                  </a:lnTo>
                  <a:close/>
                </a:path>
              </a:pathLst>
            </a:custGeom>
            <a:solidFill>
              <a:srgbClr val="6E7C7A"/>
            </a:solidFill>
          </p:spPr>
        </p:sp>
      </p:grpSp>
      <p:grpSp>
        <p:nvGrpSpPr>
          <p:cNvPr name="Group 21" id="21"/>
          <p:cNvGrpSpPr/>
          <p:nvPr/>
        </p:nvGrpSpPr>
        <p:grpSpPr>
          <a:xfrm rot="0">
            <a:off x="7253649" y="5486474"/>
            <a:ext cx="1645920" cy="685800"/>
            <a:chOff x="0" y="0"/>
            <a:chExt cx="2194560" cy="914400"/>
          </a:xfrm>
        </p:grpSpPr>
        <p:sp>
          <p:nvSpPr>
            <p:cNvPr name="Freeform 22" id="22"/>
            <p:cNvSpPr/>
            <p:nvPr/>
          </p:nvSpPr>
          <p:spPr>
            <a:xfrm flipH="false" flipV="false" rot="0">
              <a:off x="0" y="0"/>
              <a:ext cx="2194560" cy="914400"/>
            </a:xfrm>
            <a:custGeom>
              <a:avLst/>
              <a:gdLst/>
              <a:ahLst/>
              <a:cxnLst/>
              <a:rect r="r" b="b" t="t" l="l"/>
              <a:pathLst>
                <a:path h="914400" w="2194560">
                  <a:moveTo>
                    <a:pt x="0" y="0"/>
                  </a:moveTo>
                  <a:lnTo>
                    <a:pt x="2194560" y="0"/>
                  </a:lnTo>
                  <a:lnTo>
                    <a:pt x="2194560" y="914400"/>
                  </a:lnTo>
                  <a:lnTo>
                    <a:pt x="0" y="914400"/>
                  </a:lnTo>
                  <a:close/>
                </a:path>
              </a:pathLst>
            </a:custGeom>
            <a:blipFill>
              <a:blip r:embed="rId3">
                <a:alphaModFix amt="0"/>
              </a:blip>
              <a:stretch>
                <a:fillRect l="-3459" t="0" r="-3459" b="0"/>
              </a:stretch>
            </a:blipFill>
          </p:spPr>
        </p:sp>
        <p:sp>
          <p:nvSpPr>
            <p:cNvPr name="TextBox 23" id="23"/>
            <p:cNvSpPr txBox="true"/>
            <p:nvPr/>
          </p:nvSpPr>
          <p:spPr>
            <a:xfrm>
              <a:off x="0" y="9525"/>
              <a:ext cx="2194560" cy="904875"/>
            </a:xfrm>
            <a:prstGeom prst="rect">
              <a:avLst/>
            </a:prstGeom>
          </p:spPr>
          <p:txBody>
            <a:bodyPr anchor="ctr" rtlCol="false" tIns="0" lIns="0" bIns="0" rIns="0"/>
            <a:lstStyle/>
            <a:p>
              <a:pPr algn="l">
                <a:lnSpc>
                  <a:spcPts val="3480"/>
                </a:lnSpc>
              </a:pPr>
              <a:r>
                <a:rPr lang="en-US" sz="2900">
                  <a:solidFill>
                    <a:srgbClr val="232E2D"/>
                  </a:solidFill>
                  <a:latin typeface="Aptos"/>
                  <a:ea typeface="Aptos"/>
                  <a:cs typeface="Aptos"/>
                  <a:sym typeface="Aptos"/>
                </a:rPr>
                <a:t>8%</a:t>
              </a:r>
            </a:p>
          </p:txBody>
        </p:sp>
      </p:grpSp>
      <p:sp>
        <p:nvSpPr>
          <p:cNvPr name="AutoShape 24" id="24"/>
          <p:cNvSpPr/>
          <p:nvPr/>
        </p:nvSpPr>
        <p:spPr>
          <a:xfrm>
            <a:off x="724603" y="6674622"/>
            <a:ext cx="16332851" cy="14244"/>
          </a:xfrm>
          <a:prstGeom prst="line">
            <a:avLst/>
          </a:prstGeom>
          <a:ln cap="rnd" w="9525">
            <a:solidFill>
              <a:srgbClr val="C7C4C3"/>
            </a:solidFill>
            <a:prstDash val="solid"/>
            <a:headEnd type="none" len="sm" w="sm"/>
            <a:tailEnd type="none" len="sm" w="sm"/>
          </a:ln>
        </p:spPr>
      </p:sp>
      <p:sp>
        <p:nvSpPr>
          <p:cNvPr name="TextBox 25" id="25"/>
          <p:cNvSpPr txBox="true"/>
          <p:nvPr/>
        </p:nvSpPr>
        <p:spPr>
          <a:xfrm rot="0">
            <a:off x="822960" y="6998429"/>
            <a:ext cx="5349240" cy="933450"/>
          </a:xfrm>
          <a:prstGeom prst="rect">
            <a:avLst/>
          </a:prstGeom>
        </p:spPr>
        <p:txBody>
          <a:bodyPr anchor="t" rtlCol="false" tIns="0" lIns="0" bIns="0" rIns="0">
            <a:spAutoFit/>
          </a:bodyPr>
          <a:lstStyle/>
          <a:p>
            <a:pPr algn="l">
              <a:lnSpc>
                <a:spcPts val="3900"/>
              </a:lnSpc>
            </a:pPr>
            <a:r>
              <a:rPr lang="en-US" sz="2600">
                <a:solidFill>
                  <a:srgbClr val="232E2D"/>
                </a:solidFill>
                <a:latin typeface="Inter"/>
                <a:ea typeface="Inter"/>
                <a:cs typeface="Inter"/>
                <a:sym typeface="Inter"/>
              </a:rPr>
              <a:t>Wild records: population-level</a:t>
            </a:r>
          </a:p>
          <a:p>
            <a:pPr algn="l">
              <a:lnSpc>
                <a:spcPts val="3600"/>
              </a:lnSpc>
            </a:pPr>
            <a:r>
              <a:rPr lang="en-US" sz="2400" b="true">
                <a:solidFill>
                  <a:srgbClr val="717C7A"/>
                </a:solidFill>
                <a:latin typeface="Inter Bold"/>
                <a:ea typeface="Inter Bold"/>
                <a:cs typeface="Inter Bold"/>
                <a:sym typeface="Inter Bold"/>
              </a:rPr>
              <a:t>13</a:t>
            </a:r>
            <a:r>
              <a:rPr lang="en-US" sz="2400">
                <a:solidFill>
                  <a:srgbClr val="717C7A"/>
                </a:solidFill>
                <a:latin typeface="Inter"/>
                <a:ea typeface="Inter"/>
                <a:cs typeface="Inter"/>
                <a:sym typeface="Inter"/>
              </a:rPr>
              <a:t> of 1,198</a:t>
            </a:r>
          </a:p>
        </p:txBody>
      </p:sp>
      <p:grpSp>
        <p:nvGrpSpPr>
          <p:cNvPr name="Group 26" id="26"/>
          <p:cNvGrpSpPr/>
          <p:nvPr/>
        </p:nvGrpSpPr>
        <p:grpSpPr>
          <a:xfrm rot="0">
            <a:off x="6309360" y="7184357"/>
            <a:ext cx="9601200" cy="576072"/>
            <a:chOff x="0" y="0"/>
            <a:chExt cx="12801600" cy="768096"/>
          </a:xfrm>
        </p:grpSpPr>
        <p:sp>
          <p:nvSpPr>
            <p:cNvPr name="Freeform 27" id="27"/>
            <p:cNvSpPr/>
            <p:nvPr/>
          </p:nvSpPr>
          <p:spPr>
            <a:xfrm flipH="false" flipV="false" rot="0">
              <a:off x="0" y="0"/>
              <a:ext cx="12801600" cy="768096"/>
            </a:xfrm>
            <a:custGeom>
              <a:avLst/>
              <a:gdLst/>
              <a:ahLst/>
              <a:cxnLst/>
              <a:rect r="r" b="b" t="t" l="l"/>
              <a:pathLst>
                <a:path h="768096" w="12801600">
                  <a:moveTo>
                    <a:pt x="0" y="0"/>
                  </a:moveTo>
                  <a:lnTo>
                    <a:pt x="12801600" y="0"/>
                  </a:lnTo>
                  <a:lnTo>
                    <a:pt x="12801600" y="768096"/>
                  </a:lnTo>
                  <a:lnTo>
                    <a:pt x="0" y="768096"/>
                  </a:lnTo>
                  <a:close/>
                </a:path>
              </a:pathLst>
            </a:custGeom>
            <a:solidFill>
              <a:srgbClr val="E4E2E0"/>
            </a:solidFill>
          </p:spPr>
        </p:sp>
      </p:grpSp>
      <p:grpSp>
        <p:nvGrpSpPr>
          <p:cNvPr name="Group 28" id="28"/>
          <p:cNvGrpSpPr/>
          <p:nvPr/>
        </p:nvGrpSpPr>
        <p:grpSpPr>
          <a:xfrm rot="0">
            <a:off x="6309360" y="7184357"/>
            <a:ext cx="104184" cy="576072"/>
            <a:chOff x="0" y="0"/>
            <a:chExt cx="138913" cy="768096"/>
          </a:xfrm>
        </p:grpSpPr>
        <p:sp>
          <p:nvSpPr>
            <p:cNvPr name="Freeform 29" id="29"/>
            <p:cNvSpPr/>
            <p:nvPr/>
          </p:nvSpPr>
          <p:spPr>
            <a:xfrm flipH="false" flipV="false" rot="0">
              <a:off x="0" y="0"/>
              <a:ext cx="138938" cy="768096"/>
            </a:xfrm>
            <a:custGeom>
              <a:avLst/>
              <a:gdLst/>
              <a:ahLst/>
              <a:cxnLst/>
              <a:rect r="r" b="b" t="t" l="l"/>
              <a:pathLst>
                <a:path h="768096" w="138938">
                  <a:moveTo>
                    <a:pt x="0" y="0"/>
                  </a:moveTo>
                  <a:lnTo>
                    <a:pt x="138938" y="0"/>
                  </a:lnTo>
                  <a:lnTo>
                    <a:pt x="138938" y="768096"/>
                  </a:lnTo>
                  <a:lnTo>
                    <a:pt x="0" y="768096"/>
                  </a:lnTo>
                  <a:close/>
                </a:path>
              </a:pathLst>
            </a:custGeom>
            <a:solidFill>
              <a:srgbClr val="6E7C7A"/>
            </a:solidFill>
          </p:spPr>
        </p:sp>
      </p:grpSp>
      <p:grpSp>
        <p:nvGrpSpPr>
          <p:cNvPr name="Group 30" id="30"/>
          <p:cNvGrpSpPr/>
          <p:nvPr/>
        </p:nvGrpSpPr>
        <p:grpSpPr>
          <a:xfrm rot="0">
            <a:off x="6619284" y="7129493"/>
            <a:ext cx="1645920" cy="685800"/>
            <a:chOff x="0" y="0"/>
            <a:chExt cx="2194560" cy="914400"/>
          </a:xfrm>
        </p:grpSpPr>
        <p:sp>
          <p:nvSpPr>
            <p:cNvPr name="Freeform 31" id="31"/>
            <p:cNvSpPr/>
            <p:nvPr/>
          </p:nvSpPr>
          <p:spPr>
            <a:xfrm flipH="false" flipV="false" rot="0">
              <a:off x="0" y="0"/>
              <a:ext cx="2194560" cy="914400"/>
            </a:xfrm>
            <a:custGeom>
              <a:avLst/>
              <a:gdLst/>
              <a:ahLst/>
              <a:cxnLst/>
              <a:rect r="r" b="b" t="t" l="l"/>
              <a:pathLst>
                <a:path h="914400" w="2194560">
                  <a:moveTo>
                    <a:pt x="0" y="0"/>
                  </a:moveTo>
                  <a:lnTo>
                    <a:pt x="2194560" y="0"/>
                  </a:lnTo>
                  <a:lnTo>
                    <a:pt x="2194560" y="914400"/>
                  </a:lnTo>
                  <a:lnTo>
                    <a:pt x="0" y="914400"/>
                  </a:lnTo>
                  <a:close/>
                </a:path>
              </a:pathLst>
            </a:custGeom>
            <a:blipFill>
              <a:blip r:embed="rId3">
                <a:alphaModFix amt="0"/>
              </a:blip>
              <a:stretch>
                <a:fillRect l="-3459" t="0" r="-3459" b="0"/>
              </a:stretch>
            </a:blipFill>
          </p:spPr>
        </p:sp>
        <p:sp>
          <p:nvSpPr>
            <p:cNvPr name="TextBox 32" id="32"/>
            <p:cNvSpPr txBox="true"/>
            <p:nvPr/>
          </p:nvSpPr>
          <p:spPr>
            <a:xfrm>
              <a:off x="0" y="9525"/>
              <a:ext cx="2194560" cy="904875"/>
            </a:xfrm>
            <a:prstGeom prst="rect">
              <a:avLst/>
            </a:prstGeom>
          </p:spPr>
          <p:txBody>
            <a:bodyPr anchor="ctr" rtlCol="false" tIns="0" lIns="0" bIns="0" rIns="0"/>
            <a:lstStyle/>
            <a:p>
              <a:pPr algn="l">
                <a:lnSpc>
                  <a:spcPts val="3480"/>
                </a:lnSpc>
              </a:pPr>
              <a:r>
                <a:rPr lang="en-US" sz="2900">
                  <a:solidFill>
                    <a:srgbClr val="232E2D"/>
                  </a:solidFill>
                  <a:latin typeface="Aptos"/>
                  <a:ea typeface="Aptos"/>
                  <a:cs typeface="Aptos"/>
                  <a:sym typeface="Aptos"/>
                </a:rPr>
                <a:t>1%</a:t>
              </a:r>
            </a:p>
          </p:txBody>
        </p:sp>
      </p:grpSp>
      <p:grpSp>
        <p:nvGrpSpPr>
          <p:cNvPr name="Group 33" id="33"/>
          <p:cNvGrpSpPr/>
          <p:nvPr/>
        </p:nvGrpSpPr>
        <p:grpSpPr>
          <a:xfrm rot="0">
            <a:off x="16349628" y="2266029"/>
            <a:ext cx="1577340" cy="463934"/>
            <a:chOff x="0" y="0"/>
            <a:chExt cx="2103120" cy="618579"/>
          </a:xfrm>
        </p:grpSpPr>
        <p:sp>
          <p:nvSpPr>
            <p:cNvPr name="Freeform 34" id="34"/>
            <p:cNvSpPr/>
            <p:nvPr/>
          </p:nvSpPr>
          <p:spPr>
            <a:xfrm flipH="false" flipV="false" rot="0">
              <a:off x="0" y="0"/>
              <a:ext cx="2103120" cy="618579"/>
            </a:xfrm>
            <a:custGeom>
              <a:avLst/>
              <a:gdLst/>
              <a:ahLst/>
              <a:cxnLst/>
              <a:rect r="r" b="b" t="t" l="l"/>
              <a:pathLst>
                <a:path h="618579" w="2103120">
                  <a:moveTo>
                    <a:pt x="0" y="0"/>
                  </a:moveTo>
                  <a:lnTo>
                    <a:pt x="2103120" y="0"/>
                  </a:lnTo>
                  <a:lnTo>
                    <a:pt x="2103120" y="618579"/>
                  </a:lnTo>
                  <a:lnTo>
                    <a:pt x="0" y="618579"/>
                  </a:lnTo>
                  <a:close/>
                </a:path>
              </a:pathLst>
            </a:custGeom>
            <a:blipFill>
              <a:blip r:embed="rId3">
                <a:alphaModFix amt="0"/>
              </a:blip>
              <a:stretch>
                <a:fillRect l="0" t="-21900" r="0" b="-10594"/>
              </a:stretch>
            </a:blipFill>
          </p:spPr>
        </p:sp>
        <p:sp>
          <p:nvSpPr>
            <p:cNvPr name="TextBox 35" id="35"/>
            <p:cNvSpPr txBox="true"/>
            <p:nvPr/>
          </p:nvSpPr>
          <p:spPr>
            <a:xfrm>
              <a:off x="0" y="0"/>
              <a:ext cx="2103120" cy="618579"/>
            </a:xfrm>
            <a:prstGeom prst="rect">
              <a:avLst/>
            </a:prstGeom>
          </p:spPr>
          <p:txBody>
            <a:bodyPr anchor="ctr" rtlCol="false" tIns="0" lIns="0" bIns="0" rIns="0"/>
            <a:lstStyle/>
            <a:p>
              <a:pPr algn="r">
                <a:lnSpc>
                  <a:spcPts val="2639"/>
                </a:lnSpc>
              </a:pPr>
              <a:r>
                <a:rPr lang="en-US" sz="2199">
                  <a:solidFill>
                    <a:srgbClr val="717C7A"/>
                  </a:solidFill>
                  <a:latin typeface="Inter"/>
                  <a:ea typeface="Inter"/>
                  <a:cs typeface="Inter"/>
                  <a:sym typeface="Inter"/>
                </a:rPr>
                <a:t>weaker test</a:t>
              </a:r>
            </a:p>
          </p:txBody>
        </p:sp>
      </p:grpSp>
      <p:grpSp>
        <p:nvGrpSpPr>
          <p:cNvPr name="Group 36" id="36"/>
          <p:cNvGrpSpPr/>
          <p:nvPr/>
        </p:nvGrpSpPr>
        <p:grpSpPr>
          <a:xfrm rot="0">
            <a:off x="16358235" y="7376343"/>
            <a:ext cx="1577340" cy="463934"/>
            <a:chOff x="0" y="0"/>
            <a:chExt cx="2103120" cy="618579"/>
          </a:xfrm>
        </p:grpSpPr>
        <p:sp>
          <p:nvSpPr>
            <p:cNvPr name="Freeform 37" id="37"/>
            <p:cNvSpPr/>
            <p:nvPr/>
          </p:nvSpPr>
          <p:spPr>
            <a:xfrm flipH="false" flipV="false" rot="0">
              <a:off x="0" y="0"/>
              <a:ext cx="2103120" cy="618579"/>
            </a:xfrm>
            <a:custGeom>
              <a:avLst/>
              <a:gdLst/>
              <a:ahLst/>
              <a:cxnLst/>
              <a:rect r="r" b="b" t="t" l="l"/>
              <a:pathLst>
                <a:path h="618579" w="2103120">
                  <a:moveTo>
                    <a:pt x="0" y="0"/>
                  </a:moveTo>
                  <a:lnTo>
                    <a:pt x="2103120" y="0"/>
                  </a:lnTo>
                  <a:lnTo>
                    <a:pt x="2103120" y="618579"/>
                  </a:lnTo>
                  <a:lnTo>
                    <a:pt x="0" y="618579"/>
                  </a:lnTo>
                  <a:close/>
                </a:path>
              </a:pathLst>
            </a:custGeom>
            <a:blipFill>
              <a:blip r:embed="rId3">
                <a:alphaModFix amt="0"/>
              </a:blip>
              <a:stretch>
                <a:fillRect l="0" t="-21900" r="0" b="-10594"/>
              </a:stretch>
            </a:blipFill>
          </p:spPr>
        </p:sp>
        <p:sp>
          <p:nvSpPr>
            <p:cNvPr name="TextBox 38" id="38"/>
            <p:cNvSpPr txBox="true"/>
            <p:nvPr/>
          </p:nvSpPr>
          <p:spPr>
            <a:xfrm>
              <a:off x="0" y="0"/>
              <a:ext cx="2103120" cy="618579"/>
            </a:xfrm>
            <a:prstGeom prst="rect">
              <a:avLst/>
            </a:prstGeom>
          </p:spPr>
          <p:txBody>
            <a:bodyPr anchor="ctr" rtlCol="false" tIns="0" lIns="0" bIns="0" rIns="0"/>
            <a:lstStyle/>
            <a:p>
              <a:pPr algn="r">
                <a:lnSpc>
                  <a:spcPts val="2639"/>
                </a:lnSpc>
              </a:pPr>
              <a:r>
                <a:rPr lang="en-US" sz="2199">
                  <a:solidFill>
                    <a:srgbClr val="717C7A"/>
                  </a:solidFill>
                  <a:latin typeface="Inter"/>
                  <a:ea typeface="Inter"/>
                  <a:cs typeface="Inter"/>
                  <a:sym typeface="Inter"/>
                </a:rPr>
                <a:t>stricter test</a:t>
              </a:r>
            </a:p>
          </p:txBody>
        </p:sp>
      </p:grpSp>
      <p:sp>
        <p:nvSpPr>
          <p:cNvPr name="AutoShape 39" id="39"/>
          <p:cNvSpPr/>
          <p:nvPr/>
        </p:nvSpPr>
        <p:spPr>
          <a:xfrm>
            <a:off x="17793618" y="3388584"/>
            <a:ext cx="0" cy="3300283"/>
          </a:xfrm>
          <a:prstGeom prst="line">
            <a:avLst/>
          </a:prstGeom>
          <a:ln cap="rnd" w="38100">
            <a:solidFill>
              <a:srgbClr val="B9B6B4"/>
            </a:solidFill>
            <a:prstDash val="solid"/>
            <a:headEnd type="none" len="sm" w="sm"/>
            <a:tailEnd type="arrow" len="sm" w="med"/>
          </a:ln>
        </p:spPr>
      </p:sp>
      <p:sp>
        <p:nvSpPr>
          <p:cNvPr name="AutoShape 40" id="40"/>
          <p:cNvSpPr/>
          <p:nvPr/>
        </p:nvSpPr>
        <p:spPr>
          <a:xfrm rot="2940">
            <a:off x="815816" y="9253538"/>
            <a:ext cx="16655920" cy="0"/>
          </a:xfrm>
          <a:prstGeom prst="line">
            <a:avLst/>
          </a:prstGeom>
          <a:ln cap="rnd" w="9525">
            <a:solidFill>
              <a:srgbClr val="C7C4C3"/>
            </a:solidFill>
            <a:prstDash val="solid"/>
            <a:headEnd type="none" len="sm" w="sm"/>
            <a:tailEnd type="none" len="sm" w="sm"/>
          </a:ln>
        </p:spPr>
      </p:sp>
      <p:sp>
        <p:nvSpPr>
          <p:cNvPr name="AutoShape 41" id="41"/>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42" id="42"/>
          <p:cNvGrpSpPr/>
          <p:nvPr/>
        </p:nvGrpSpPr>
        <p:grpSpPr>
          <a:xfrm rot="0">
            <a:off x="822960" y="459105"/>
            <a:ext cx="8229600" cy="617220"/>
            <a:chOff x="0" y="0"/>
            <a:chExt cx="10972800" cy="822960"/>
          </a:xfrm>
        </p:grpSpPr>
        <p:sp>
          <p:nvSpPr>
            <p:cNvPr name="Freeform 43" id="43"/>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sp>
        <p:sp>
          <p:nvSpPr>
            <p:cNvPr name="TextBox 44" id="44"/>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The stricter the test, the rarer the evidence</a:t>
              </a:r>
            </a:p>
          </p:txBody>
        </p:sp>
      </p:grpSp>
      <p:sp>
        <p:nvSpPr>
          <p:cNvPr name="TextBox 45" id="45"/>
          <p:cNvSpPr txBox="true"/>
          <p:nvPr/>
        </p:nvSpPr>
        <p:spPr>
          <a:xfrm rot="0">
            <a:off x="823608" y="9393279"/>
            <a:ext cx="1665463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Sources: Muir et al. 2024 · Kramer et al. 2009 · Gregory et al. 2010; separate datasets.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grpSp>
        <p:nvGrpSpPr>
          <p:cNvPr name="Group 2" id="2"/>
          <p:cNvGrpSpPr/>
          <p:nvPr/>
        </p:nvGrpSpPr>
        <p:grpSpPr>
          <a:xfrm rot="0">
            <a:off x="830118" y="2319899"/>
            <a:ext cx="3851796" cy="2888847"/>
            <a:chOff x="0" y="0"/>
            <a:chExt cx="5135728" cy="3851796"/>
          </a:xfrm>
        </p:grpSpPr>
        <p:sp>
          <p:nvSpPr>
            <p:cNvPr name="Freeform 3" id="3" descr="Schematic trajectory: Very small"/>
            <p:cNvSpPr/>
            <p:nvPr/>
          </p:nvSpPr>
          <p:spPr>
            <a:xfrm flipH="false" flipV="false" rot="0">
              <a:off x="0" y="0"/>
              <a:ext cx="5135753" cy="3851783"/>
            </a:xfrm>
            <a:custGeom>
              <a:avLst/>
              <a:gdLst/>
              <a:ahLst/>
              <a:cxnLst/>
              <a:rect r="r" b="b" t="t" l="l"/>
              <a:pathLst>
                <a:path h="3851783" w="5135753">
                  <a:moveTo>
                    <a:pt x="0" y="0"/>
                  </a:moveTo>
                  <a:lnTo>
                    <a:pt x="5135753" y="0"/>
                  </a:lnTo>
                  <a:lnTo>
                    <a:pt x="5135753" y="3851783"/>
                  </a:lnTo>
                  <a:lnTo>
                    <a:pt x="0" y="3851783"/>
                  </a:lnTo>
                  <a:lnTo>
                    <a:pt x="0" y="0"/>
                  </a:lnTo>
                  <a:close/>
                </a:path>
              </a:pathLst>
            </a:custGeom>
            <a:blipFill>
              <a:blip r:embed="rId3"/>
              <a:stretch>
                <a:fillRect l="0" t="0" r="0" b="0"/>
              </a:stretch>
            </a:blipFill>
          </p:spPr>
        </p:sp>
      </p:grpSp>
      <p:grpSp>
        <p:nvGrpSpPr>
          <p:cNvPr name="Group 4" id="4"/>
          <p:cNvGrpSpPr/>
          <p:nvPr/>
        </p:nvGrpSpPr>
        <p:grpSpPr>
          <a:xfrm rot="0">
            <a:off x="5093393" y="2319899"/>
            <a:ext cx="3851796" cy="2888847"/>
            <a:chOff x="0" y="0"/>
            <a:chExt cx="5135728" cy="3851796"/>
          </a:xfrm>
        </p:grpSpPr>
        <p:sp>
          <p:nvSpPr>
            <p:cNvPr name="Freeform 5" id="5" descr="Schematic trajectory: Declining"/>
            <p:cNvSpPr/>
            <p:nvPr/>
          </p:nvSpPr>
          <p:spPr>
            <a:xfrm flipH="false" flipV="false" rot="0">
              <a:off x="0" y="0"/>
              <a:ext cx="5135753" cy="3851783"/>
            </a:xfrm>
            <a:custGeom>
              <a:avLst/>
              <a:gdLst/>
              <a:ahLst/>
              <a:cxnLst/>
              <a:rect r="r" b="b" t="t" l="l"/>
              <a:pathLst>
                <a:path h="3851783" w="5135753">
                  <a:moveTo>
                    <a:pt x="0" y="0"/>
                  </a:moveTo>
                  <a:lnTo>
                    <a:pt x="5135753" y="0"/>
                  </a:lnTo>
                  <a:lnTo>
                    <a:pt x="5135753" y="3851783"/>
                  </a:lnTo>
                  <a:lnTo>
                    <a:pt x="0" y="3851783"/>
                  </a:lnTo>
                  <a:lnTo>
                    <a:pt x="0" y="0"/>
                  </a:lnTo>
                  <a:close/>
                </a:path>
              </a:pathLst>
            </a:custGeom>
            <a:blipFill>
              <a:blip r:embed="rId4"/>
              <a:stretch>
                <a:fillRect l="0" t="0" r="0" b="0"/>
              </a:stretch>
            </a:blipFill>
          </p:spPr>
        </p:sp>
      </p:grpSp>
      <p:grpSp>
        <p:nvGrpSpPr>
          <p:cNvPr name="Group 6" id="6"/>
          <p:cNvGrpSpPr/>
          <p:nvPr/>
        </p:nvGrpSpPr>
        <p:grpSpPr>
          <a:xfrm rot="0">
            <a:off x="9356669" y="2319899"/>
            <a:ext cx="3851796" cy="2888847"/>
            <a:chOff x="0" y="0"/>
            <a:chExt cx="5135728" cy="3851796"/>
          </a:xfrm>
        </p:grpSpPr>
        <p:sp>
          <p:nvSpPr>
            <p:cNvPr name="Freeform 7" id="7"/>
            <p:cNvSpPr/>
            <p:nvPr/>
          </p:nvSpPr>
          <p:spPr>
            <a:xfrm flipH="false" flipV="false" rot="0">
              <a:off x="0" y="0"/>
              <a:ext cx="5135753" cy="3851783"/>
            </a:xfrm>
            <a:custGeom>
              <a:avLst/>
              <a:gdLst/>
              <a:ahLst/>
              <a:cxnLst/>
              <a:rect r="r" b="b" t="t" l="l"/>
              <a:pathLst>
                <a:path h="3851783" w="5135753">
                  <a:moveTo>
                    <a:pt x="0" y="0"/>
                  </a:moveTo>
                  <a:lnTo>
                    <a:pt x="5135753" y="0"/>
                  </a:lnTo>
                  <a:lnTo>
                    <a:pt x="5135753" y="3851783"/>
                  </a:lnTo>
                  <a:lnTo>
                    <a:pt x="0" y="3851783"/>
                  </a:lnTo>
                  <a:lnTo>
                    <a:pt x="0" y="0"/>
                  </a:lnTo>
                  <a:close/>
                </a:path>
              </a:pathLst>
            </a:custGeom>
            <a:blipFill>
              <a:blip r:embed="rId5"/>
              <a:stretch>
                <a:fillRect l="0" t="0" r="0" b="0"/>
              </a:stretch>
            </a:blipFill>
          </p:spPr>
        </p:sp>
      </p:grpSp>
      <p:grpSp>
        <p:nvGrpSpPr>
          <p:cNvPr name="Group 8" id="8"/>
          <p:cNvGrpSpPr/>
          <p:nvPr/>
        </p:nvGrpSpPr>
        <p:grpSpPr>
          <a:xfrm rot="0">
            <a:off x="13619945" y="2319899"/>
            <a:ext cx="3851796" cy="2888847"/>
            <a:chOff x="0" y="0"/>
            <a:chExt cx="5135728" cy="3851796"/>
          </a:xfrm>
        </p:grpSpPr>
        <p:sp>
          <p:nvSpPr>
            <p:cNvPr name="Freeform 9" id="9" descr="Schematic trajectory: Newly arrived"/>
            <p:cNvSpPr/>
            <p:nvPr/>
          </p:nvSpPr>
          <p:spPr>
            <a:xfrm flipH="false" flipV="false" rot="0">
              <a:off x="0" y="0"/>
              <a:ext cx="5135753" cy="3851783"/>
            </a:xfrm>
            <a:custGeom>
              <a:avLst/>
              <a:gdLst/>
              <a:ahLst/>
              <a:cxnLst/>
              <a:rect r="r" b="b" t="t" l="l"/>
              <a:pathLst>
                <a:path h="3851783" w="5135753">
                  <a:moveTo>
                    <a:pt x="0" y="0"/>
                  </a:moveTo>
                  <a:lnTo>
                    <a:pt x="5135753" y="0"/>
                  </a:lnTo>
                  <a:lnTo>
                    <a:pt x="5135753" y="3851783"/>
                  </a:lnTo>
                  <a:lnTo>
                    <a:pt x="0" y="3851783"/>
                  </a:lnTo>
                  <a:lnTo>
                    <a:pt x="0" y="0"/>
                  </a:lnTo>
                  <a:close/>
                </a:path>
              </a:pathLst>
            </a:custGeom>
            <a:blipFill>
              <a:blip r:embed="rId6"/>
              <a:stretch>
                <a:fillRect l="0" t="0" r="0" b="0"/>
              </a:stretch>
            </a:blipFill>
          </p:spPr>
        </p:sp>
      </p:grpSp>
      <p:grpSp>
        <p:nvGrpSpPr>
          <p:cNvPr name="Group 10" id="10"/>
          <p:cNvGrpSpPr/>
          <p:nvPr/>
        </p:nvGrpSpPr>
        <p:grpSpPr>
          <a:xfrm rot="0">
            <a:off x="14111320" y="3762203"/>
            <a:ext cx="3291840" cy="411480"/>
            <a:chOff x="0" y="0"/>
            <a:chExt cx="4389120" cy="548640"/>
          </a:xfrm>
        </p:grpSpPr>
        <p:sp>
          <p:nvSpPr>
            <p:cNvPr name="Freeform 11" id="11"/>
            <p:cNvSpPr/>
            <p:nvPr/>
          </p:nvSpPr>
          <p:spPr>
            <a:xfrm flipH="false" flipV="false" rot="0">
              <a:off x="0" y="0"/>
              <a:ext cx="4389120" cy="548640"/>
            </a:xfrm>
            <a:custGeom>
              <a:avLst/>
              <a:gdLst/>
              <a:ahLst/>
              <a:cxnLst/>
              <a:rect r="r" b="b" t="t" l="l"/>
              <a:pathLst>
                <a:path h="548640" w="4389120">
                  <a:moveTo>
                    <a:pt x="0" y="0"/>
                  </a:moveTo>
                  <a:lnTo>
                    <a:pt x="4389120" y="0"/>
                  </a:lnTo>
                  <a:lnTo>
                    <a:pt x="4389120" y="548640"/>
                  </a:lnTo>
                  <a:lnTo>
                    <a:pt x="0" y="548640"/>
                  </a:lnTo>
                  <a:close/>
                </a:path>
              </a:pathLst>
            </a:custGeom>
            <a:blipFill>
              <a:blip r:embed="rId7">
                <a:alphaModFix amt="0"/>
              </a:blip>
              <a:stretch>
                <a:fillRect l="0" t="-105880" r="0" b="-105880"/>
              </a:stretch>
            </a:blipFill>
          </p:spPr>
        </p:sp>
        <p:sp>
          <p:nvSpPr>
            <p:cNvPr name="TextBox 12" id="12"/>
            <p:cNvSpPr txBox="true"/>
            <p:nvPr/>
          </p:nvSpPr>
          <p:spPr>
            <a:xfrm>
              <a:off x="0" y="-9525"/>
              <a:ext cx="4389120" cy="558165"/>
            </a:xfrm>
            <a:prstGeom prst="rect">
              <a:avLst/>
            </a:prstGeom>
          </p:spPr>
          <p:txBody>
            <a:bodyPr anchor="ctr" rtlCol="false" tIns="0" lIns="0" bIns="0" rIns="0"/>
            <a:lstStyle/>
            <a:p>
              <a:pPr algn="r">
                <a:lnSpc>
                  <a:spcPts val="2520"/>
                </a:lnSpc>
              </a:pPr>
              <a:r>
                <a:rPr lang="en-US" sz="2100">
                  <a:solidFill>
                    <a:srgbClr val="717C7A"/>
                  </a:solidFill>
                  <a:latin typeface="Arial"/>
                  <a:ea typeface="Arial"/>
                  <a:cs typeface="Arial"/>
                  <a:sym typeface="Arial"/>
                </a:rPr>
                <a:t>point of no return</a:t>
              </a:r>
            </a:p>
          </p:txBody>
        </p:sp>
      </p:grpSp>
      <p:grpSp>
        <p:nvGrpSpPr>
          <p:cNvPr name="Group 13" id="13"/>
          <p:cNvGrpSpPr/>
          <p:nvPr/>
        </p:nvGrpSpPr>
        <p:grpSpPr>
          <a:xfrm rot="0">
            <a:off x="10097533" y="5005073"/>
            <a:ext cx="1645920" cy="411480"/>
            <a:chOff x="0" y="0"/>
            <a:chExt cx="2194560" cy="548640"/>
          </a:xfrm>
        </p:grpSpPr>
        <p:sp>
          <p:nvSpPr>
            <p:cNvPr name="Freeform 14" id="14"/>
            <p:cNvSpPr/>
            <p:nvPr/>
          </p:nvSpPr>
          <p:spPr>
            <a:xfrm flipH="false" flipV="false" rot="0">
              <a:off x="0" y="0"/>
              <a:ext cx="2194560" cy="548640"/>
            </a:xfrm>
            <a:custGeom>
              <a:avLst/>
              <a:gdLst/>
              <a:ahLst/>
              <a:cxnLst/>
              <a:rect r="r" b="b" t="t" l="l"/>
              <a:pathLst>
                <a:path h="548640" w="2194560">
                  <a:moveTo>
                    <a:pt x="0" y="0"/>
                  </a:moveTo>
                  <a:lnTo>
                    <a:pt x="2194560" y="0"/>
                  </a:lnTo>
                  <a:lnTo>
                    <a:pt x="2194560" y="548640"/>
                  </a:lnTo>
                  <a:lnTo>
                    <a:pt x="0" y="548640"/>
                  </a:lnTo>
                  <a:close/>
                </a:path>
              </a:pathLst>
            </a:custGeom>
            <a:blipFill>
              <a:blip r:embed="rId7">
                <a:alphaModFix amt="0"/>
              </a:blip>
              <a:stretch>
                <a:fillRect l="0" t="-27940" r="0" b="-27940"/>
              </a:stretch>
            </a:blipFill>
          </p:spPr>
        </p:sp>
        <p:sp>
          <p:nvSpPr>
            <p:cNvPr name="TextBox 15" id="15"/>
            <p:cNvSpPr txBox="true"/>
            <p:nvPr/>
          </p:nvSpPr>
          <p:spPr>
            <a:xfrm>
              <a:off x="0" y="-9525"/>
              <a:ext cx="2194560" cy="558165"/>
            </a:xfrm>
            <a:prstGeom prst="rect">
              <a:avLst/>
            </a:prstGeom>
          </p:spPr>
          <p:txBody>
            <a:bodyPr anchor="ctr" rtlCol="false" tIns="0" lIns="0" bIns="0" rIns="0"/>
            <a:lstStyle/>
            <a:p>
              <a:pPr algn="ctr">
                <a:lnSpc>
                  <a:spcPts val="2520"/>
                </a:lnSpc>
              </a:pPr>
              <a:r>
                <a:rPr lang="en-US" sz="2100">
                  <a:solidFill>
                    <a:srgbClr val="717C7A"/>
                  </a:solidFill>
                  <a:latin typeface="Arial"/>
                  <a:ea typeface="Arial"/>
                  <a:cs typeface="Arial"/>
                  <a:sym typeface="Arial"/>
                </a:rPr>
                <a:t>harvest</a:t>
              </a:r>
            </a:p>
          </p:txBody>
        </p:sp>
      </p:grpSp>
      <p:sp>
        <p:nvSpPr>
          <p:cNvPr name="AutoShape 16" id="16"/>
          <p:cNvSpPr/>
          <p:nvPr/>
        </p:nvSpPr>
        <p:spPr>
          <a:xfrm rot="2940">
            <a:off x="815816" y="9253538"/>
            <a:ext cx="16655920" cy="0"/>
          </a:xfrm>
          <a:prstGeom prst="line">
            <a:avLst/>
          </a:prstGeom>
          <a:ln cap="rnd" w="9525">
            <a:solidFill>
              <a:srgbClr val="C7C4C3"/>
            </a:solidFill>
            <a:prstDash val="solid"/>
            <a:headEnd type="none" len="sm" w="sm"/>
            <a:tailEnd type="none" len="sm" w="sm"/>
          </a:ln>
        </p:spPr>
      </p:sp>
      <p:sp>
        <p:nvSpPr>
          <p:cNvPr name="AutoShape 17" id="17"/>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18" id="18"/>
          <p:cNvGrpSpPr/>
          <p:nvPr/>
        </p:nvGrpSpPr>
        <p:grpSpPr>
          <a:xfrm rot="0">
            <a:off x="822960" y="459105"/>
            <a:ext cx="8229600" cy="617220"/>
            <a:chOff x="0" y="0"/>
            <a:chExt cx="10972800" cy="822960"/>
          </a:xfrm>
        </p:grpSpPr>
        <p:sp>
          <p:nvSpPr>
            <p:cNvPr name="Freeform 19" id="19"/>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7">
                <a:alphaModFix amt="0"/>
              </a:blip>
              <a:stretch>
                <a:fillRect l="0" t="-209800" r="0" b="-209800"/>
              </a:stretch>
            </a:blipFill>
          </p:spPr>
        </p:sp>
        <p:sp>
          <p:nvSpPr>
            <p:cNvPr name="TextBox 20" id="20"/>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Hard to see, decisive when it counts</a:t>
              </a:r>
            </a:p>
          </p:txBody>
        </p:sp>
      </p:grpSp>
      <p:sp>
        <p:nvSpPr>
          <p:cNvPr name="TextBox 21" id="21"/>
          <p:cNvSpPr txBox="true"/>
          <p:nvPr/>
        </p:nvSpPr>
        <p:spPr>
          <a:xfrm rot="0">
            <a:off x="837267" y="6016254"/>
            <a:ext cx="3851796" cy="572008"/>
          </a:xfrm>
          <a:prstGeom prst="rect">
            <a:avLst/>
          </a:prstGeom>
        </p:spPr>
        <p:txBody>
          <a:bodyPr anchor="t" rtlCol="false" tIns="0" lIns="0" bIns="0" rIns="0">
            <a:spAutoFit/>
          </a:bodyPr>
          <a:lstStyle/>
          <a:p>
            <a:pPr algn="l">
              <a:lnSpc>
                <a:spcPts val="4736"/>
              </a:lnSpc>
            </a:pPr>
            <a:r>
              <a:rPr lang="en-US" sz="3200">
                <a:solidFill>
                  <a:srgbClr val="232E2D"/>
                </a:solidFill>
                <a:latin typeface="Inter"/>
                <a:ea typeface="Inter"/>
                <a:cs typeface="Inter"/>
                <a:sym typeface="Inter"/>
              </a:rPr>
              <a:t>Very small</a:t>
            </a:r>
          </a:p>
        </p:txBody>
      </p:sp>
      <p:sp>
        <p:nvSpPr>
          <p:cNvPr name="TextBox 22" id="22"/>
          <p:cNvSpPr txBox="true"/>
          <p:nvPr/>
        </p:nvSpPr>
        <p:spPr>
          <a:xfrm rot="0">
            <a:off x="844425" y="6835912"/>
            <a:ext cx="3071381" cy="721614"/>
          </a:xfrm>
          <a:prstGeom prst="rect">
            <a:avLst/>
          </a:prstGeom>
        </p:spPr>
        <p:txBody>
          <a:bodyPr anchor="t" rtlCol="false" tIns="0" lIns="0" bIns="0" rIns="0">
            <a:spAutoFit/>
          </a:bodyPr>
          <a:lstStyle/>
          <a:p>
            <a:pPr algn="l" marL="0" indent="0" lvl="0">
              <a:lnSpc>
                <a:spcPts val="2808"/>
              </a:lnSpc>
              <a:spcBef>
                <a:spcPct val="0"/>
              </a:spcBef>
            </a:pPr>
            <a:r>
              <a:rPr lang="en-US" sz="2700" strike="noStrike" u="none">
                <a:solidFill>
                  <a:srgbClr val="717C7A"/>
                </a:solidFill>
                <a:latin typeface="Inter"/>
                <a:ea typeface="Inter"/>
                <a:cs typeface="Inter"/>
                <a:sym typeface="Inter"/>
              </a:rPr>
              <a:t>Chance alone can tip it under</a:t>
            </a:r>
          </a:p>
        </p:txBody>
      </p:sp>
      <p:sp>
        <p:nvSpPr>
          <p:cNvPr name="TextBox 23" id="23"/>
          <p:cNvSpPr txBox="true"/>
          <p:nvPr/>
        </p:nvSpPr>
        <p:spPr>
          <a:xfrm rot="0">
            <a:off x="5086253" y="6016254"/>
            <a:ext cx="3851796" cy="572008"/>
          </a:xfrm>
          <a:prstGeom prst="rect">
            <a:avLst/>
          </a:prstGeom>
        </p:spPr>
        <p:txBody>
          <a:bodyPr anchor="t" rtlCol="false" tIns="0" lIns="0" bIns="0" rIns="0">
            <a:spAutoFit/>
          </a:bodyPr>
          <a:lstStyle/>
          <a:p>
            <a:pPr algn="l">
              <a:lnSpc>
                <a:spcPts val="4736"/>
              </a:lnSpc>
            </a:pPr>
            <a:r>
              <a:rPr lang="en-US" sz="3200">
                <a:solidFill>
                  <a:srgbClr val="232E2D"/>
                </a:solidFill>
                <a:latin typeface="Inter"/>
                <a:ea typeface="Inter"/>
                <a:cs typeface="Inter"/>
                <a:sym typeface="Inter"/>
              </a:rPr>
              <a:t>Declining</a:t>
            </a:r>
          </a:p>
        </p:txBody>
      </p:sp>
      <p:sp>
        <p:nvSpPr>
          <p:cNvPr name="TextBox 24" id="24"/>
          <p:cNvSpPr txBox="true"/>
          <p:nvPr/>
        </p:nvSpPr>
        <p:spPr>
          <a:xfrm rot="0">
            <a:off x="5093411" y="6835912"/>
            <a:ext cx="3071381" cy="721614"/>
          </a:xfrm>
          <a:prstGeom prst="rect">
            <a:avLst/>
          </a:prstGeom>
        </p:spPr>
        <p:txBody>
          <a:bodyPr anchor="t" rtlCol="false" tIns="0" lIns="0" bIns="0" rIns="0">
            <a:spAutoFit/>
          </a:bodyPr>
          <a:lstStyle/>
          <a:p>
            <a:pPr algn="l" marL="0" indent="0" lvl="0">
              <a:lnSpc>
                <a:spcPts val="2808"/>
              </a:lnSpc>
              <a:spcBef>
                <a:spcPct val="0"/>
              </a:spcBef>
            </a:pPr>
            <a:r>
              <a:rPr lang="en-US" sz="2700">
                <a:solidFill>
                  <a:srgbClr val="717C7A"/>
                </a:solidFill>
                <a:latin typeface="Inter"/>
                <a:ea typeface="Inter"/>
                <a:cs typeface="Inter"/>
                <a:sym typeface="Inter"/>
              </a:rPr>
              <a:t>Slides past the threshold</a:t>
            </a:r>
          </a:p>
        </p:txBody>
      </p:sp>
      <p:sp>
        <p:nvSpPr>
          <p:cNvPr name="TextBox 25" id="25"/>
          <p:cNvSpPr txBox="true"/>
          <p:nvPr/>
        </p:nvSpPr>
        <p:spPr>
          <a:xfrm rot="0">
            <a:off x="9356669" y="6016254"/>
            <a:ext cx="3851796" cy="572008"/>
          </a:xfrm>
          <a:prstGeom prst="rect">
            <a:avLst/>
          </a:prstGeom>
        </p:spPr>
        <p:txBody>
          <a:bodyPr anchor="t" rtlCol="false" tIns="0" lIns="0" bIns="0" rIns="0">
            <a:spAutoFit/>
          </a:bodyPr>
          <a:lstStyle/>
          <a:p>
            <a:pPr algn="l">
              <a:lnSpc>
                <a:spcPts val="4736"/>
              </a:lnSpc>
            </a:pPr>
            <a:r>
              <a:rPr lang="en-US" sz="3200">
                <a:solidFill>
                  <a:srgbClr val="232E2D"/>
                </a:solidFill>
                <a:latin typeface="Inter"/>
                <a:ea typeface="Inter"/>
                <a:cs typeface="Inter"/>
                <a:sym typeface="Inter"/>
              </a:rPr>
              <a:t>Harvested</a:t>
            </a:r>
          </a:p>
        </p:txBody>
      </p:sp>
      <p:sp>
        <p:nvSpPr>
          <p:cNvPr name="TextBox 26" id="26"/>
          <p:cNvSpPr txBox="true"/>
          <p:nvPr/>
        </p:nvSpPr>
        <p:spPr>
          <a:xfrm rot="0">
            <a:off x="9363827" y="6835912"/>
            <a:ext cx="3071381" cy="721614"/>
          </a:xfrm>
          <a:prstGeom prst="rect">
            <a:avLst/>
          </a:prstGeom>
        </p:spPr>
        <p:txBody>
          <a:bodyPr anchor="t" rtlCol="false" tIns="0" lIns="0" bIns="0" rIns="0">
            <a:spAutoFit/>
          </a:bodyPr>
          <a:lstStyle/>
          <a:p>
            <a:pPr algn="l" marL="0" indent="0" lvl="0">
              <a:lnSpc>
                <a:spcPts val="2808"/>
              </a:lnSpc>
              <a:spcBef>
                <a:spcPct val="0"/>
              </a:spcBef>
            </a:pPr>
            <a:r>
              <a:rPr lang="en-US" sz="2700">
                <a:solidFill>
                  <a:srgbClr val="717C7A"/>
                </a:solidFill>
                <a:latin typeface="Inter"/>
                <a:ea typeface="Inter"/>
                <a:cs typeface="Inter"/>
                <a:sym typeface="Inter"/>
              </a:rPr>
              <a:t>Stays low after harvesting stops</a:t>
            </a:r>
          </a:p>
        </p:txBody>
      </p:sp>
      <p:sp>
        <p:nvSpPr>
          <p:cNvPr name="TextBox 27" id="27"/>
          <p:cNvSpPr txBox="true"/>
          <p:nvPr/>
        </p:nvSpPr>
        <p:spPr>
          <a:xfrm rot="0">
            <a:off x="13619945" y="6016254"/>
            <a:ext cx="3851796" cy="572008"/>
          </a:xfrm>
          <a:prstGeom prst="rect">
            <a:avLst/>
          </a:prstGeom>
        </p:spPr>
        <p:txBody>
          <a:bodyPr anchor="t" rtlCol="false" tIns="0" lIns="0" bIns="0" rIns="0">
            <a:spAutoFit/>
          </a:bodyPr>
          <a:lstStyle/>
          <a:p>
            <a:pPr algn="l">
              <a:lnSpc>
                <a:spcPts val="4736"/>
              </a:lnSpc>
            </a:pPr>
            <a:r>
              <a:rPr lang="en-US" sz="3200">
                <a:solidFill>
                  <a:srgbClr val="232E2D"/>
                </a:solidFill>
                <a:latin typeface="Inter"/>
                <a:ea typeface="Inter"/>
                <a:cs typeface="Inter"/>
                <a:sym typeface="Inter"/>
              </a:rPr>
              <a:t>Newly arrived</a:t>
            </a:r>
          </a:p>
        </p:txBody>
      </p:sp>
      <p:sp>
        <p:nvSpPr>
          <p:cNvPr name="TextBox 28" id="28"/>
          <p:cNvSpPr txBox="true"/>
          <p:nvPr/>
        </p:nvSpPr>
        <p:spPr>
          <a:xfrm rot="0">
            <a:off x="13627102" y="6835912"/>
            <a:ext cx="3071381" cy="1074039"/>
          </a:xfrm>
          <a:prstGeom prst="rect">
            <a:avLst/>
          </a:prstGeom>
        </p:spPr>
        <p:txBody>
          <a:bodyPr anchor="t" rtlCol="false" tIns="0" lIns="0" bIns="0" rIns="0">
            <a:spAutoFit/>
          </a:bodyPr>
          <a:lstStyle/>
          <a:p>
            <a:pPr algn="l" marL="0" indent="0" lvl="0">
              <a:lnSpc>
                <a:spcPts val="2808"/>
              </a:lnSpc>
              <a:spcBef>
                <a:spcPct val="0"/>
              </a:spcBef>
            </a:pPr>
            <a:r>
              <a:rPr lang="en-US" sz="2700">
                <a:solidFill>
                  <a:srgbClr val="717C7A"/>
                </a:solidFill>
                <a:latin typeface="Inter"/>
                <a:ea typeface="Inter"/>
                <a:cs typeface="Inter"/>
                <a:sym typeface="Inter"/>
              </a:rPr>
              <a:t>Dies out before establishing: good news for pests</a:t>
            </a:r>
          </a:p>
        </p:txBody>
      </p:sp>
      <p:sp>
        <p:nvSpPr>
          <p:cNvPr name="TextBox 29" id="29"/>
          <p:cNvSpPr txBox="true"/>
          <p:nvPr/>
        </p:nvSpPr>
        <p:spPr>
          <a:xfrm rot="0">
            <a:off x="10563029" y="9393279"/>
            <a:ext cx="6915213" cy="314325"/>
          </a:xfrm>
          <a:prstGeom prst="rect">
            <a:avLst/>
          </a:prstGeom>
        </p:spPr>
        <p:txBody>
          <a:bodyPr anchor="t" rtlCol="false" tIns="0" lIns="0" bIns="0" rIns="0">
            <a:spAutoFit/>
          </a:bodyPr>
          <a:lstStyle/>
          <a:p>
            <a:pPr algn="r">
              <a:lnSpc>
                <a:spcPts val="2401"/>
              </a:lnSpc>
            </a:pPr>
            <a:r>
              <a:rPr lang="en-US" sz="2001">
                <a:solidFill>
                  <a:srgbClr val="717C7A"/>
                </a:solidFill>
                <a:latin typeface="Inter"/>
                <a:ea typeface="Inter"/>
                <a:cs typeface="Inter"/>
                <a:sym typeface="Inter"/>
              </a:rPr>
              <a:t>Schematic, not data. Drawn with AI assistance (Claude)</a:t>
            </a:r>
          </a:p>
        </p:txBody>
      </p:sp>
      <p:sp>
        <p:nvSpPr>
          <p:cNvPr name="TextBox 30" id="30"/>
          <p:cNvSpPr txBox="true"/>
          <p:nvPr/>
        </p:nvSpPr>
        <p:spPr>
          <a:xfrm rot="0">
            <a:off x="844425" y="9393279"/>
            <a:ext cx="9718604" cy="314325"/>
          </a:xfrm>
          <a:prstGeom prst="rect">
            <a:avLst/>
          </a:prstGeom>
        </p:spPr>
        <p:txBody>
          <a:bodyPr anchor="t" rtlCol="false" tIns="0" lIns="0" bIns="0" rIns="0">
            <a:spAutoFit/>
          </a:bodyPr>
          <a:lstStyle/>
          <a:p>
            <a:pPr algn="l">
              <a:lnSpc>
                <a:spcPts val="2401"/>
              </a:lnSpc>
            </a:pPr>
            <a:r>
              <a:rPr lang="en-US" sz="2001">
                <a:solidFill>
                  <a:srgbClr val="717C7A"/>
                </a:solidFill>
                <a:latin typeface="Inter"/>
                <a:ea typeface="Inter"/>
                <a:cs typeface="Inter"/>
                <a:sym typeface="Inter"/>
              </a:rPr>
              <a:t>Population size over time; dashed line: point of no return (strong Allee effect)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4E5B4C"/>
        </a:solidFill>
      </p:bgPr>
    </p:bg>
    <p:spTree>
      <p:nvGrpSpPr>
        <p:cNvPr id="1" name=""/>
        <p:cNvGrpSpPr/>
        <p:nvPr/>
      </p:nvGrpSpPr>
      <p:grpSpPr>
        <a:xfrm>
          <a:off x="0" y="0"/>
          <a:ext cx="0" cy="0"/>
          <a:chOff x="0" y="0"/>
          <a:chExt cx="0" cy="0"/>
        </a:xfrm>
      </p:grpSpPr>
      <p:grpSp>
        <p:nvGrpSpPr>
          <p:cNvPr name="Group 2" id="2"/>
          <p:cNvGrpSpPr/>
          <p:nvPr/>
        </p:nvGrpSpPr>
        <p:grpSpPr>
          <a:xfrm rot="0">
            <a:off x="0" y="0"/>
            <a:ext cx="8229600" cy="10287000"/>
            <a:chOff x="0" y="0"/>
            <a:chExt cx="10972800" cy="13716000"/>
          </a:xfrm>
        </p:grpSpPr>
        <p:sp>
          <p:nvSpPr>
            <p:cNvPr name="Freeform 3" id="3"/>
            <p:cNvSpPr/>
            <p:nvPr/>
          </p:nvSpPr>
          <p:spPr>
            <a:xfrm flipH="false" flipV="false" rot="0">
              <a:off x="0" y="0"/>
              <a:ext cx="10972800" cy="13716000"/>
            </a:xfrm>
            <a:custGeom>
              <a:avLst/>
              <a:gdLst/>
              <a:ahLst/>
              <a:cxnLst/>
              <a:rect r="r" b="b" t="t" l="l"/>
              <a:pathLst>
                <a:path h="13716000" w="10972800">
                  <a:moveTo>
                    <a:pt x="0" y="0"/>
                  </a:moveTo>
                  <a:lnTo>
                    <a:pt x="10972800" y="0"/>
                  </a:lnTo>
                  <a:lnTo>
                    <a:pt x="10972800" y="13716000"/>
                  </a:lnTo>
                  <a:lnTo>
                    <a:pt x="0" y="13716000"/>
                  </a:lnTo>
                  <a:close/>
                </a:path>
              </a:pathLst>
            </a:custGeom>
            <a:solidFill>
              <a:srgbClr val="DDDFDF"/>
            </a:solidFill>
          </p:spPr>
        </p:sp>
      </p:grpSp>
      <p:grpSp>
        <p:nvGrpSpPr>
          <p:cNvPr name="Group 4" id="4"/>
          <p:cNvGrpSpPr/>
          <p:nvPr/>
        </p:nvGrpSpPr>
        <p:grpSpPr>
          <a:xfrm rot="0">
            <a:off x="685800" y="4869180"/>
            <a:ext cx="6858000" cy="548640"/>
            <a:chOff x="0" y="0"/>
            <a:chExt cx="9144000" cy="731520"/>
          </a:xfrm>
        </p:grpSpPr>
        <p:sp>
          <p:nvSpPr>
            <p:cNvPr name="Freeform 5" id="5"/>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562" r="0" b="-193562"/>
              </a:stretch>
            </a:blipFill>
          </p:spPr>
        </p:sp>
        <p:sp>
          <p:nvSpPr>
            <p:cNvPr name="TextBox 6" id="6"/>
            <p:cNvSpPr txBox="true"/>
            <p:nvPr/>
          </p:nvSpPr>
          <p:spPr>
            <a:xfrm>
              <a:off x="0" y="-9525"/>
              <a:ext cx="9144000" cy="741045"/>
            </a:xfrm>
            <a:prstGeom prst="rect">
              <a:avLst/>
            </a:prstGeom>
          </p:spPr>
          <p:txBody>
            <a:bodyPr anchor="ctr" rtlCol="false" tIns="0" lIns="0" bIns="0" rIns="0"/>
            <a:lstStyle/>
            <a:p>
              <a:pPr algn="ctr">
                <a:lnSpc>
                  <a:spcPts val="2879"/>
                </a:lnSpc>
              </a:pPr>
              <a:r>
                <a:rPr lang="en-US" sz="2400">
                  <a:solidFill>
                    <a:srgbClr val="717C7A"/>
                  </a:solidFill>
                  <a:latin typeface="Arial"/>
                  <a:ea typeface="Arial"/>
                  <a:cs typeface="Arial"/>
                  <a:sym typeface="Arial"/>
                </a:rPr>
                <a:t>Same Neanderthal photo as the intro</a:t>
              </a:r>
            </a:p>
          </p:txBody>
        </p:sp>
      </p:grpSp>
      <p:sp>
        <p:nvSpPr>
          <p:cNvPr name="TextBox 7" id="7"/>
          <p:cNvSpPr txBox="true"/>
          <p:nvPr/>
        </p:nvSpPr>
        <p:spPr>
          <a:xfrm rot="0">
            <a:off x="9326880" y="3374707"/>
            <a:ext cx="8092440" cy="638175"/>
          </a:xfrm>
          <a:prstGeom prst="rect">
            <a:avLst/>
          </a:prstGeom>
        </p:spPr>
        <p:txBody>
          <a:bodyPr anchor="t" rtlCol="false" tIns="0" lIns="0" bIns="0" rIns="0">
            <a:spAutoFit/>
          </a:bodyPr>
          <a:lstStyle/>
          <a:p>
            <a:pPr algn="l">
              <a:lnSpc>
                <a:spcPts val="5040"/>
              </a:lnSpc>
            </a:pPr>
            <a:r>
              <a:rPr lang="en-US" sz="4200">
                <a:solidFill>
                  <a:srgbClr val="EBE7E3"/>
                </a:solidFill>
                <a:latin typeface="Inter"/>
                <a:ea typeface="Inter"/>
                <a:cs typeface="Inter"/>
                <a:sym typeface="Inter"/>
              </a:rPr>
              <a:t>Small population</a:t>
            </a:r>
          </a:p>
        </p:txBody>
      </p:sp>
      <p:sp>
        <p:nvSpPr>
          <p:cNvPr name="AutoShape 8" id="8"/>
          <p:cNvSpPr/>
          <p:nvPr/>
        </p:nvSpPr>
        <p:spPr>
          <a:xfrm>
            <a:off x="9319733" y="4575367"/>
            <a:ext cx="8147873" cy="14221"/>
          </a:xfrm>
          <a:prstGeom prst="line">
            <a:avLst/>
          </a:prstGeom>
          <a:ln cap="rnd" w="19050">
            <a:solidFill>
              <a:srgbClr val="EAEAEA"/>
            </a:solidFill>
            <a:prstDash val="solid"/>
            <a:headEnd type="none" len="sm" w="sm"/>
            <a:tailEnd type="none" len="sm" w="sm"/>
          </a:ln>
        </p:spPr>
      </p:sp>
      <p:sp>
        <p:nvSpPr>
          <p:cNvPr name="TextBox 9" id="9"/>
          <p:cNvSpPr txBox="true"/>
          <p:nvPr/>
        </p:nvSpPr>
        <p:spPr>
          <a:xfrm rot="0">
            <a:off x="9326880" y="5089207"/>
            <a:ext cx="8092440" cy="638175"/>
          </a:xfrm>
          <a:prstGeom prst="rect">
            <a:avLst/>
          </a:prstGeom>
        </p:spPr>
        <p:txBody>
          <a:bodyPr anchor="t" rtlCol="false" tIns="0" lIns="0" bIns="0" rIns="0">
            <a:spAutoFit/>
          </a:bodyPr>
          <a:lstStyle/>
          <a:p>
            <a:pPr algn="l">
              <a:lnSpc>
                <a:spcPts val="5040"/>
              </a:lnSpc>
            </a:pPr>
            <a:r>
              <a:rPr lang="en-US" sz="4200">
                <a:solidFill>
                  <a:srgbClr val="EBE7E3"/>
                </a:solidFill>
                <a:latin typeface="Inter"/>
                <a:ea typeface="Inter"/>
                <a:cs typeface="Inter"/>
                <a:sym typeface="Inter"/>
              </a:rPr>
              <a:t>Scattered</a:t>
            </a:r>
          </a:p>
        </p:txBody>
      </p:sp>
      <p:sp>
        <p:nvSpPr>
          <p:cNvPr name="AutoShape 10" id="10"/>
          <p:cNvSpPr/>
          <p:nvPr/>
        </p:nvSpPr>
        <p:spPr>
          <a:xfrm>
            <a:off x="9319733" y="6280342"/>
            <a:ext cx="8147873" cy="14221"/>
          </a:xfrm>
          <a:prstGeom prst="line">
            <a:avLst/>
          </a:prstGeom>
          <a:ln cap="rnd" w="19050">
            <a:solidFill>
              <a:srgbClr val="EAEAEA"/>
            </a:solidFill>
            <a:prstDash val="solid"/>
            <a:headEnd type="none" len="sm" w="sm"/>
            <a:tailEnd type="none" len="sm" w="sm"/>
          </a:ln>
        </p:spPr>
      </p:sp>
      <p:sp>
        <p:nvSpPr>
          <p:cNvPr name="TextBox 11" id="11"/>
          <p:cNvSpPr txBox="true"/>
          <p:nvPr/>
        </p:nvSpPr>
        <p:spPr>
          <a:xfrm rot="0">
            <a:off x="9326880" y="6803707"/>
            <a:ext cx="8092440" cy="638175"/>
          </a:xfrm>
          <a:prstGeom prst="rect">
            <a:avLst/>
          </a:prstGeom>
        </p:spPr>
        <p:txBody>
          <a:bodyPr anchor="t" rtlCol="false" tIns="0" lIns="0" bIns="0" rIns="0">
            <a:spAutoFit/>
          </a:bodyPr>
          <a:lstStyle/>
          <a:p>
            <a:pPr algn="l">
              <a:lnSpc>
                <a:spcPts val="5040"/>
              </a:lnSpc>
            </a:pPr>
            <a:r>
              <a:rPr lang="en-US" sz="4200">
                <a:solidFill>
                  <a:srgbClr val="EBE7E3"/>
                </a:solidFill>
                <a:latin typeface="Inter"/>
                <a:ea typeface="Inter"/>
                <a:cs typeface="Inter"/>
                <a:sym typeface="Inter"/>
              </a:rPr>
              <a:t>Possibly cut off</a:t>
            </a:r>
          </a:p>
        </p:txBody>
      </p:sp>
      <p:grpSp>
        <p:nvGrpSpPr>
          <p:cNvPr name="Group 12" id="12"/>
          <p:cNvGrpSpPr/>
          <p:nvPr/>
        </p:nvGrpSpPr>
        <p:grpSpPr>
          <a:xfrm rot="0">
            <a:off x="0" y="0"/>
            <a:ext cx="8229600" cy="10287000"/>
            <a:chOff x="0" y="0"/>
            <a:chExt cx="10972800" cy="13716000"/>
          </a:xfrm>
        </p:grpSpPr>
        <p:sp>
          <p:nvSpPr>
            <p:cNvPr name="Freeform 13" id="13"/>
            <p:cNvSpPr/>
            <p:nvPr/>
          </p:nvSpPr>
          <p:spPr>
            <a:xfrm flipH="false" flipV="false" rot="0">
              <a:off x="0" y="0"/>
              <a:ext cx="10972788" cy="13716000"/>
            </a:xfrm>
            <a:custGeom>
              <a:avLst/>
              <a:gdLst/>
              <a:ahLst/>
              <a:cxnLst/>
              <a:rect r="r" b="b" t="t" l="l"/>
              <a:pathLst>
                <a:path h="13716000" w="10972788">
                  <a:moveTo>
                    <a:pt x="0" y="0"/>
                  </a:moveTo>
                  <a:lnTo>
                    <a:pt x="10972788" y="0"/>
                  </a:lnTo>
                  <a:lnTo>
                    <a:pt x="10972788" y="13716000"/>
                  </a:lnTo>
                  <a:lnTo>
                    <a:pt x="0" y="13716000"/>
                  </a:lnTo>
                  <a:close/>
                </a:path>
              </a:pathLst>
            </a:custGeom>
            <a:blipFill>
              <a:blip r:embed="rId4"/>
              <a:stretch>
                <a:fillRect l="-111831" t="-4896" r="-8723" b="-71547"/>
              </a:stretch>
            </a:blipFill>
          </p:spPr>
        </p:sp>
      </p:grpSp>
      <p:sp>
        <p:nvSpPr>
          <p:cNvPr name="AutoShape 14" id="14"/>
          <p:cNvSpPr/>
          <p:nvPr/>
        </p:nvSpPr>
        <p:spPr>
          <a:xfrm flipV="true">
            <a:off x="8229600" y="395742"/>
            <a:ext cx="9242133" cy="0"/>
          </a:xfrm>
          <a:prstGeom prst="line">
            <a:avLst/>
          </a:prstGeom>
          <a:ln cap="rnd" w="19050">
            <a:solidFill>
              <a:srgbClr val="F4F2F1"/>
            </a:solidFill>
            <a:prstDash val="solid"/>
            <a:headEnd type="none" len="sm" w="sm"/>
            <a:tailEnd type="none" len="sm" w="sm"/>
          </a:ln>
        </p:spPr>
      </p:sp>
      <p:grpSp>
        <p:nvGrpSpPr>
          <p:cNvPr name="Group 15" id="15"/>
          <p:cNvGrpSpPr/>
          <p:nvPr/>
        </p:nvGrpSpPr>
        <p:grpSpPr>
          <a:xfrm rot="0">
            <a:off x="15049870" y="500062"/>
            <a:ext cx="2417736" cy="617220"/>
            <a:chOff x="0" y="0"/>
            <a:chExt cx="3223647" cy="822960"/>
          </a:xfrm>
        </p:grpSpPr>
        <p:sp>
          <p:nvSpPr>
            <p:cNvPr name="Freeform 16" id="16"/>
            <p:cNvSpPr/>
            <p:nvPr/>
          </p:nvSpPr>
          <p:spPr>
            <a:xfrm flipH="false" flipV="false" rot="0">
              <a:off x="0" y="0"/>
              <a:ext cx="3223647" cy="822960"/>
            </a:xfrm>
            <a:custGeom>
              <a:avLst/>
              <a:gdLst/>
              <a:ahLst/>
              <a:cxnLst/>
              <a:rect r="r" b="b" t="t" l="l"/>
              <a:pathLst>
                <a:path h="822960" w="3223647">
                  <a:moveTo>
                    <a:pt x="0" y="0"/>
                  </a:moveTo>
                  <a:lnTo>
                    <a:pt x="3223647" y="0"/>
                  </a:lnTo>
                  <a:lnTo>
                    <a:pt x="3223647" y="822960"/>
                  </a:lnTo>
                  <a:lnTo>
                    <a:pt x="0" y="822960"/>
                  </a:lnTo>
                  <a:close/>
                </a:path>
              </a:pathLst>
            </a:custGeom>
            <a:blipFill>
              <a:blip r:embed="rId3">
                <a:alphaModFix amt="0"/>
              </a:blip>
              <a:stretch>
                <a:fillRect l="0" t="-209800" r="-240384" b="-209800"/>
              </a:stretch>
            </a:blipFill>
          </p:spPr>
        </p:sp>
        <p:sp>
          <p:nvSpPr>
            <p:cNvPr name="TextBox 17" id="17"/>
            <p:cNvSpPr txBox="true"/>
            <p:nvPr/>
          </p:nvSpPr>
          <p:spPr>
            <a:xfrm>
              <a:off x="0" y="0"/>
              <a:ext cx="3223647" cy="822960"/>
            </a:xfrm>
            <a:prstGeom prst="rect">
              <a:avLst/>
            </a:prstGeom>
          </p:spPr>
          <p:txBody>
            <a:bodyPr anchor="ctr" rtlCol="false" tIns="0" lIns="0" bIns="0" rIns="0"/>
            <a:lstStyle/>
            <a:p>
              <a:pPr algn="l">
                <a:lnSpc>
                  <a:spcPts val="3600"/>
                </a:lnSpc>
              </a:pPr>
              <a:r>
                <a:rPr lang="en-US" sz="3000">
                  <a:solidFill>
                    <a:srgbClr val="F4F2F1"/>
                  </a:solidFill>
                  <a:latin typeface="Source Serif Pro"/>
                  <a:ea typeface="Source Serif Pro"/>
                  <a:cs typeface="Source Serif Pro"/>
                  <a:sym typeface="Source Serif Pro"/>
                </a:rPr>
                <a:t>Neanderthals</a:t>
              </a:r>
            </a:p>
          </p:txBody>
        </p:sp>
      </p:grpSp>
      <p:sp>
        <p:nvSpPr>
          <p:cNvPr name="TextBox 18" id="18"/>
          <p:cNvSpPr txBox="true"/>
          <p:nvPr/>
        </p:nvSpPr>
        <p:spPr>
          <a:xfrm rot="0">
            <a:off x="343167" y="9736445"/>
            <a:ext cx="7686961" cy="558594"/>
          </a:xfrm>
          <a:prstGeom prst="rect">
            <a:avLst/>
          </a:prstGeom>
        </p:spPr>
        <p:txBody>
          <a:bodyPr anchor="t" rtlCol="false" tIns="0" lIns="0" bIns="0" rIns="0">
            <a:spAutoFit/>
          </a:bodyPr>
          <a:lstStyle/>
          <a:p>
            <a:pPr algn="l">
              <a:lnSpc>
                <a:spcPts val="1801"/>
              </a:lnSpc>
            </a:pPr>
            <a:r>
              <a:rPr lang="en-US" sz="1501">
                <a:solidFill>
                  <a:srgbClr val="FFFFFF"/>
                </a:solidFill>
                <a:latin typeface="Inter"/>
                <a:ea typeface="Inter"/>
                <a:cs typeface="Inter"/>
                <a:sym typeface="Inter"/>
              </a:rPr>
              <a:t>Photo: Photaro, World History Encyclopedia (CC BY-SA 4.0)</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4E5B4C"/>
        </a:solidFill>
      </p:bgPr>
    </p:bg>
    <p:spTree>
      <p:nvGrpSpPr>
        <p:cNvPr id="1" name=""/>
        <p:cNvGrpSpPr/>
        <p:nvPr/>
      </p:nvGrpSpPr>
      <p:grpSpPr>
        <a:xfrm>
          <a:off x="0" y="0"/>
          <a:ext cx="0" cy="0"/>
          <a:chOff x="0" y="0"/>
          <a:chExt cx="0" cy="0"/>
        </a:xfrm>
      </p:grpSpPr>
      <p:grpSp>
        <p:nvGrpSpPr>
          <p:cNvPr name="Group 2" id="2"/>
          <p:cNvGrpSpPr/>
          <p:nvPr/>
        </p:nvGrpSpPr>
        <p:grpSpPr>
          <a:xfrm rot="0">
            <a:off x="0" y="0"/>
            <a:ext cx="8229600" cy="10287000"/>
            <a:chOff x="0" y="0"/>
            <a:chExt cx="10972800" cy="13716000"/>
          </a:xfrm>
        </p:grpSpPr>
        <p:sp>
          <p:nvSpPr>
            <p:cNvPr name="Freeform 3" id="3"/>
            <p:cNvSpPr/>
            <p:nvPr/>
          </p:nvSpPr>
          <p:spPr>
            <a:xfrm flipH="false" flipV="false" rot="0">
              <a:off x="0" y="0"/>
              <a:ext cx="10972800" cy="13716000"/>
            </a:xfrm>
            <a:custGeom>
              <a:avLst/>
              <a:gdLst/>
              <a:ahLst/>
              <a:cxnLst/>
              <a:rect r="r" b="b" t="t" l="l"/>
              <a:pathLst>
                <a:path h="13716000" w="10972800">
                  <a:moveTo>
                    <a:pt x="0" y="0"/>
                  </a:moveTo>
                  <a:lnTo>
                    <a:pt x="10972800" y="0"/>
                  </a:lnTo>
                  <a:lnTo>
                    <a:pt x="10972800" y="13716000"/>
                  </a:lnTo>
                  <a:lnTo>
                    <a:pt x="0" y="13716000"/>
                  </a:lnTo>
                  <a:close/>
                </a:path>
              </a:pathLst>
            </a:custGeom>
            <a:solidFill>
              <a:srgbClr val="DDDFDF"/>
            </a:solidFill>
          </p:spPr>
        </p:sp>
      </p:grpSp>
      <p:grpSp>
        <p:nvGrpSpPr>
          <p:cNvPr name="Group 4" id="4"/>
          <p:cNvGrpSpPr/>
          <p:nvPr/>
        </p:nvGrpSpPr>
        <p:grpSpPr>
          <a:xfrm rot="0">
            <a:off x="685800" y="4869180"/>
            <a:ext cx="6858000" cy="548640"/>
            <a:chOff x="0" y="0"/>
            <a:chExt cx="9144000" cy="731520"/>
          </a:xfrm>
        </p:grpSpPr>
        <p:sp>
          <p:nvSpPr>
            <p:cNvPr name="Freeform 5" id="5"/>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562" r="0" b="-193562"/>
              </a:stretch>
            </a:blipFill>
          </p:spPr>
        </p:sp>
        <p:sp>
          <p:nvSpPr>
            <p:cNvPr name="TextBox 6" id="6"/>
            <p:cNvSpPr txBox="true"/>
            <p:nvPr/>
          </p:nvSpPr>
          <p:spPr>
            <a:xfrm>
              <a:off x="0" y="-9525"/>
              <a:ext cx="9144000" cy="741045"/>
            </a:xfrm>
            <a:prstGeom prst="rect">
              <a:avLst/>
            </a:prstGeom>
          </p:spPr>
          <p:txBody>
            <a:bodyPr anchor="ctr" rtlCol="false" tIns="0" lIns="0" bIns="0" rIns="0"/>
            <a:lstStyle/>
            <a:p>
              <a:pPr algn="ctr">
                <a:lnSpc>
                  <a:spcPts val="2879"/>
                </a:lnSpc>
              </a:pPr>
              <a:r>
                <a:rPr lang="en-US" sz="2400">
                  <a:solidFill>
                    <a:srgbClr val="717C7A"/>
                  </a:solidFill>
                  <a:latin typeface="Arial"/>
                  <a:ea typeface="Arial"/>
                  <a:cs typeface="Arial"/>
                  <a:sym typeface="Arial"/>
                </a:rPr>
                <a:t>Same Neanderthal photo as the intro</a:t>
              </a:r>
            </a:p>
          </p:txBody>
        </p:sp>
      </p:grpSp>
      <p:grpSp>
        <p:nvGrpSpPr>
          <p:cNvPr name="Group 7" id="7"/>
          <p:cNvGrpSpPr/>
          <p:nvPr/>
        </p:nvGrpSpPr>
        <p:grpSpPr>
          <a:xfrm rot="0">
            <a:off x="9166860" y="4679566"/>
            <a:ext cx="8092440" cy="943328"/>
            <a:chOff x="0" y="0"/>
            <a:chExt cx="10789920" cy="1257770"/>
          </a:xfrm>
        </p:grpSpPr>
        <p:sp>
          <p:nvSpPr>
            <p:cNvPr name="Freeform 8" id="8"/>
            <p:cNvSpPr/>
            <p:nvPr/>
          </p:nvSpPr>
          <p:spPr>
            <a:xfrm flipH="false" flipV="false" rot="0">
              <a:off x="0" y="0"/>
              <a:ext cx="10789920" cy="1257770"/>
            </a:xfrm>
            <a:custGeom>
              <a:avLst/>
              <a:gdLst/>
              <a:ahLst/>
              <a:cxnLst/>
              <a:rect r="r" b="b" t="t" l="l"/>
              <a:pathLst>
                <a:path h="1257770" w="10789920">
                  <a:moveTo>
                    <a:pt x="0" y="0"/>
                  </a:moveTo>
                  <a:lnTo>
                    <a:pt x="10789920" y="0"/>
                  </a:lnTo>
                  <a:lnTo>
                    <a:pt x="10789920" y="1257770"/>
                  </a:lnTo>
                  <a:lnTo>
                    <a:pt x="0" y="1257770"/>
                  </a:lnTo>
                  <a:close/>
                </a:path>
              </a:pathLst>
            </a:custGeom>
            <a:blipFill>
              <a:blip r:embed="rId3">
                <a:alphaModFix amt="0"/>
              </a:blip>
              <a:stretch>
                <a:fillRect l="0" t="-123534" r="0" b="-110774"/>
              </a:stretch>
            </a:blipFill>
          </p:spPr>
        </p:sp>
        <p:sp>
          <p:nvSpPr>
            <p:cNvPr name="TextBox 9" id="9"/>
            <p:cNvSpPr txBox="true"/>
            <p:nvPr/>
          </p:nvSpPr>
          <p:spPr>
            <a:xfrm>
              <a:off x="0" y="0"/>
              <a:ext cx="10789920" cy="1257770"/>
            </a:xfrm>
            <a:prstGeom prst="rect">
              <a:avLst/>
            </a:prstGeom>
          </p:spPr>
          <p:txBody>
            <a:bodyPr anchor="ctr" rtlCol="false" tIns="0" lIns="0" bIns="0" rIns="0"/>
            <a:lstStyle/>
            <a:p>
              <a:pPr algn="l">
                <a:lnSpc>
                  <a:spcPts val="5399"/>
                </a:lnSpc>
              </a:pPr>
              <a:r>
                <a:rPr lang="en-US" sz="4499">
                  <a:solidFill>
                    <a:srgbClr val="EBE7E3"/>
                  </a:solidFill>
                  <a:latin typeface="Inter"/>
                  <a:ea typeface="Inter"/>
                  <a:cs typeface="Inter"/>
                  <a:sym typeface="Inter"/>
                </a:rPr>
                <a:t>Cause of extinction: </a:t>
              </a:r>
              <a:r>
                <a:rPr lang="en-US" sz="4499" u="sng">
                  <a:solidFill>
                    <a:srgbClr val="EBE7E3"/>
                  </a:solidFill>
                  <a:latin typeface="Inter"/>
                  <a:ea typeface="Inter"/>
                  <a:cs typeface="Inter"/>
                  <a:sym typeface="Inter"/>
                </a:rPr>
                <a:t>unproven</a:t>
              </a:r>
            </a:p>
          </p:txBody>
        </p:sp>
      </p:grpSp>
      <p:grpSp>
        <p:nvGrpSpPr>
          <p:cNvPr name="Group 10" id="10"/>
          <p:cNvGrpSpPr/>
          <p:nvPr/>
        </p:nvGrpSpPr>
        <p:grpSpPr>
          <a:xfrm rot="0">
            <a:off x="0" y="0"/>
            <a:ext cx="8229600" cy="10287000"/>
            <a:chOff x="0" y="0"/>
            <a:chExt cx="10972800" cy="13716000"/>
          </a:xfrm>
        </p:grpSpPr>
        <p:sp>
          <p:nvSpPr>
            <p:cNvPr name="Freeform 11" id="11"/>
            <p:cNvSpPr/>
            <p:nvPr/>
          </p:nvSpPr>
          <p:spPr>
            <a:xfrm flipH="false" flipV="false" rot="0">
              <a:off x="0" y="0"/>
              <a:ext cx="10972788" cy="13716000"/>
            </a:xfrm>
            <a:custGeom>
              <a:avLst/>
              <a:gdLst/>
              <a:ahLst/>
              <a:cxnLst/>
              <a:rect r="r" b="b" t="t" l="l"/>
              <a:pathLst>
                <a:path h="13716000" w="10972788">
                  <a:moveTo>
                    <a:pt x="0" y="0"/>
                  </a:moveTo>
                  <a:lnTo>
                    <a:pt x="10972788" y="0"/>
                  </a:lnTo>
                  <a:lnTo>
                    <a:pt x="10972788" y="13716000"/>
                  </a:lnTo>
                  <a:lnTo>
                    <a:pt x="0" y="13716000"/>
                  </a:lnTo>
                  <a:close/>
                </a:path>
              </a:pathLst>
            </a:custGeom>
            <a:blipFill>
              <a:blip r:embed="rId4"/>
              <a:stretch>
                <a:fillRect l="-111831" t="-4896" r="-8723" b="-71547"/>
              </a:stretch>
            </a:blipFill>
          </p:spPr>
        </p:sp>
      </p:grpSp>
      <p:sp>
        <p:nvSpPr>
          <p:cNvPr name="AutoShape 12" id="12"/>
          <p:cNvSpPr/>
          <p:nvPr/>
        </p:nvSpPr>
        <p:spPr>
          <a:xfrm>
            <a:off x="8229600" y="395742"/>
            <a:ext cx="9242133" cy="0"/>
          </a:xfrm>
          <a:prstGeom prst="line">
            <a:avLst/>
          </a:prstGeom>
          <a:ln cap="rnd" w="19050">
            <a:solidFill>
              <a:srgbClr val="F4F2F1"/>
            </a:solidFill>
            <a:prstDash val="solid"/>
            <a:headEnd type="none" len="sm" w="sm"/>
            <a:tailEnd type="none" len="sm" w="sm"/>
          </a:ln>
        </p:spPr>
      </p:sp>
      <p:grpSp>
        <p:nvGrpSpPr>
          <p:cNvPr name="Group 13" id="13"/>
          <p:cNvGrpSpPr/>
          <p:nvPr/>
        </p:nvGrpSpPr>
        <p:grpSpPr>
          <a:xfrm rot="0">
            <a:off x="15049870" y="500062"/>
            <a:ext cx="2417736" cy="617220"/>
            <a:chOff x="0" y="0"/>
            <a:chExt cx="3223647" cy="822960"/>
          </a:xfrm>
        </p:grpSpPr>
        <p:sp>
          <p:nvSpPr>
            <p:cNvPr name="Freeform 14" id="14"/>
            <p:cNvSpPr/>
            <p:nvPr/>
          </p:nvSpPr>
          <p:spPr>
            <a:xfrm flipH="false" flipV="false" rot="0">
              <a:off x="0" y="0"/>
              <a:ext cx="3223647" cy="822960"/>
            </a:xfrm>
            <a:custGeom>
              <a:avLst/>
              <a:gdLst/>
              <a:ahLst/>
              <a:cxnLst/>
              <a:rect r="r" b="b" t="t" l="l"/>
              <a:pathLst>
                <a:path h="822960" w="3223647">
                  <a:moveTo>
                    <a:pt x="0" y="0"/>
                  </a:moveTo>
                  <a:lnTo>
                    <a:pt x="3223647" y="0"/>
                  </a:lnTo>
                  <a:lnTo>
                    <a:pt x="3223647" y="822960"/>
                  </a:lnTo>
                  <a:lnTo>
                    <a:pt x="0" y="822960"/>
                  </a:lnTo>
                  <a:close/>
                </a:path>
              </a:pathLst>
            </a:custGeom>
            <a:blipFill>
              <a:blip r:embed="rId3">
                <a:alphaModFix amt="0"/>
              </a:blip>
              <a:stretch>
                <a:fillRect l="0" t="-209800" r="-240384" b="-209800"/>
              </a:stretch>
            </a:blipFill>
          </p:spPr>
        </p:sp>
        <p:sp>
          <p:nvSpPr>
            <p:cNvPr name="TextBox 15" id="15"/>
            <p:cNvSpPr txBox="true"/>
            <p:nvPr/>
          </p:nvSpPr>
          <p:spPr>
            <a:xfrm>
              <a:off x="0" y="0"/>
              <a:ext cx="3223647" cy="822960"/>
            </a:xfrm>
            <a:prstGeom prst="rect">
              <a:avLst/>
            </a:prstGeom>
          </p:spPr>
          <p:txBody>
            <a:bodyPr anchor="ctr" rtlCol="false" tIns="0" lIns="0" bIns="0" rIns="0"/>
            <a:lstStyle/>
            <a:p>
              <a:pPr algn="l">
                <a:lnSpc>
                  <a:spcPts val="3600"/>
                </a:lnSpc>
              </a:pPr>
              <a:r>
                <a:rPr lang="en-US" sz="3000">
                  <a:solidFill>
                    <a:srgbClr val="F4F2F1"/>
                  </a:solidFill>
                  <a:latin typeface="Source Serif Pro"/>
                  <a:ea typeface="Source Serif Pro"/>
                  <a:cs typeface="Source Serif Pro"/>
                  <a:sym typeface="Source Serif Pro"/>
                </a:rPr>
                <a:t>Neanderthals</a:t>
              </a:r>
            </a:p>
          </p:txBody>
        </p:sp>
      </p:grpSp>
      <p:sp>
        <p:nvSpPr>
          <p:cNvPr name="TextBox 16" id="16"/>
          <p:cNvSpPr txBox="true"/>
          <p:nvPr/>
        </p:nvSpPr>
        <p:spPr>
          <a:xfrm rot="0">
            <a:off x="343167" y="9736445"/>
            <a:ext cx="7686961" cy="558594"/>
          </a:xfrm>
          <a:prstGeom prst="rect">
            <a:avLst/>
          </a:prstGeom>
        </p:spPr>
        <p:txBody>
          <a:bodyPr anchor="t" rtlCol="false" tIns="0" lIns="0" bIns="0" rIns="0">
            <a:spAutoFit/>
          </a:bodyPr>
          <a:lstStyle/>
          <a:p>
            <a:pPr algn="l">
              <a:lnSpc>
                <a:spcPts val="1801"/>
              </a:lnSpc>
            </a:pPr>
            <a:r>
              <a:rPr lang="en-US" sz="1501">
                <a:solidFill>
                  <a:srgbClr val="FFFFFF"/>
                </a:solidFill>
                <a:latin typeface="Inter"/>
                <a:ea typeface="Inter"/>
                <a:cs typeface="Inter"/>
                <a:sym typeface="Inter"/>
              </a:rPr>
              <a:t>Photo: Photaro, World History Encyclopedia (CC BY-SA 4.0)</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212E2D"/>
        </a:solidFill>
      </p:bgPr>
    </p:bg>
    <p:spTree>
      <p:nvGrpSpPr>
        <p:cNvPr id="1" name=""/>
        <p:cNvGrpSpPr/>
        <p:nvPr/>
      </p:nvGrpSpPr>
      <p:grpSpPr>
        <a:xfrm>
          <a:off x="0" y="0"/>
          <a:ext cx="0" cy="0"/>
          <a:chOff x="0" y="0"/>
          <a:chExt cx="0" cy="0"/>
        </a:xfrm>
      </p:grpSpPr>
      <p:sp>
        <p:nvSpPr>
          <p:cNvPr name="TextBox 2" id="2"/>
          <p:cNvSpPr txBox="true"/>
          <p:nvPr/>
        </p:nvSpPr>
        <p:spPr>
          <a:xfrm rot="0">
            <a:off x="822960" y="3437492"/>
            <a:ext cx="16436340" cy="1000125"/>
          </a:xfrm>
          <a:prstGeom prst="rect">
            <a:avLst/>
          </a:prstGeom>
        </p:spPr>
        <p:txBody>
          <a:bodyPr anchor="t" rtlCol="false" tIns="0" lIns="0" bIns="0" rIns="0">
            <a:spAutoFit/>
          </a:bodyPr>
          <a:lstStyle/>
          <a:p>
            <a:pPr algn="l">
              <a:lnSpc>
                <a:spcPts val="7800"/>
              </a:lnSpc>
            </a:pPr>
            <a:r>
              <a:rPr lang="en-US" sz="6500">
                <a:solidFill>
                  <a:srgbClr val="EBE7E3"/>
                </a:solidFill>
                <a:latin typeface="Inter"/>
                <a:ea typeface="Inter"/>
                <a:cs typeface="Inter"/>
                <a:sym typeface="Inter"/>
              </a:rPr>
              <a:t>Not a curiosity, but a fundamental driver.</a:t>
            </a:r>
          </a:p>
        </p:txBody>
      </p:sp>
      <p:sp>
        <p:nvSpPr>
          <p:cNvPr name="AutoShape 3" id="3"/>
          <p:cNvSpPr/>
          <p:nvPr/>
        </p:nvSpPr>
        <p:spPr>
          <a:xfrm>
            <a:off x="815819" y="381498"/>
            <a:ext cx="16655914" cy="14244"/>
          </a:xfrm>
          <a:prstGeom prst="line">
            <a:avLst/>
          </a:prstGeom>
          <a:ln cap="rnd" w="19050">
            <a:solidFill>
              <a:srgbClr val="F4F2F1"/>
            </a:solidFill>
            <a:prstDash val="solid"/>
            <a:headEnd type="none" len="sm" w="sm"/>
            <a:tailEnd type="none" len="sm" w="sm"/>
          </a:ln>
        </p:spPr>
      </p:sp>
      <p:grpSp>
        <p:nvGrpSpPr>
          <p:cNvPr name="Group 4" id="4"/>
          <p:cNvGrpSpPr/>
          <p:nvPr/>
        </p:nvGrpSpPr>
        <p:grpSpPr>
          <a:xfrm rot="0">
            <a:off x="822960" y="459105"/>
            <a:ext cx="8229600" cy="617220"/>
            <a:chOff x="0" y="0"/>
            <a:chExt cx="10972800" cy="822960"/>
          </a:xfrm>
        </p:grpSpPr>
        <p:sp>
          <p:nvSpPr>
            <p:cNvPr name="Freeform 5" id="5"/>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sp>
        <p:sp>
          <p:nvSpPr>
            <p:cNvPr name="TextBox 6" id="6"/>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F4F2F1"/>
                  </a:solidFill>
                  <a:latin typeface="Source Serif Pro"/>
                  <a:ea typeface="Source Serif Pro"/>
                  <a:cs typeface="Source Serif Pro"/>
                  <a:sym typeface="Source Serif Pro"/>
                </a:rPr>
                <a:t>Curiosity or driver?</a:t>
              </a:r>
            </a:p>
          </p:txBody>
        </p:sp>
      </p:grpSp>
      <p:sp>
        <p:nvSpPr>
          <p:cNvPr name="TextBox 7" id="7"/>
          <p:cNvSpPr txBox="true"/>
          <p:nvPr/>
        </p:nvSpPr>
        <p:spPr>
          <a:xfrm rot="0">
            <a:off x="815819" y="4962525"/>
            <a:ext cx="16436340" cy="1485900"/>
          </a:xfrm>
          <a:prstGeom prst="rect">
            <a:avLst/>
          </a:prstGeom>
        </p:spPr>
        <p:txBody>
          <a:bodyPr anchor="t" rtlCol="false" tIns="0" lIns="0" bIns="0" rIns="0">
            <a:spAutoFit/>
          </a:bodyPr>
          <a:lstStyle/>
          <a:p>
            <a:pPr algn="l">
              <a:lnSpc>
                <a:spcPts val="5880"/>
              </a:lnSpc>
            </a:pPr>
            <a:r>
              <a:rPr lang="en-US" sz="4900">
                <a:solidFill>
                  <a:srgbClr val="9FB3B2"/>
                </a:solidFill>
                <a:latin typeface="Source Serif Pro"/>
                <a:ea typeface="Source Serif Pro"/>
                <a:cs typeface="Source Serif Pro"/>
                <a:sym typeface="Source Serif Pro"/>
              </a:rPr>
              <a:t>Decides the fate of small, declining, and harvested populations, often before we can detect it.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59105"/>
            <a:ext cx="8229600" cy="617220"/>
            <a:chOff x="0" y="0"/>
            <a:chExt cx="10972800" cy="822960"/>
          </a:xfrm>
        </p:grpSpPr>
        <p:sp>
          <p:nvSpPr>
            <p:cNvPr name="Freeform 4" id="4"/>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2">
                <a:alphaModFix amt="0"/>
              </a:blip>
              <a:stretch>
                <a:fillRect l="0" t="-209800" r="0" b="-209800"/>
              </a:stretch>
            </a:blipFill>
          </p:spPr>
        </p:sp>
        <p:sp>
          <p:nvSpPr>
            <p:cNvPr name="TextBox 5" id="5"/>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Group</a:t>
              </a:r>
            </a:p>
          </p:txBody>
        </p:sp>
      </p:grpSp>
      <p:sp>
        <p:nvSpPr>
          <p:cNvPr name="Freeform 6" id="6"/>
          <p:cNvSpPr/>
          <p:nvPr/>
        </p:nvSpPr>
        <p:spPr>
          <a:xfrm flipH="false" flipV="false" rot="0">
            <a:off x="4779614" y="5672344"/>
            <a:ext cx="3552794" cy="3552794"/>
          </a:xfrm>
          <a:custGeom>
            <a:avLst/>
            <a:gdLst/>
            <a:ahLst/>
            <a:cxnLst/>
            <a:rect r="r" b="b" t="t" l="l"/>
            <a:pathLst>
              <a:path h="3552794" w="3552794">
                <a:moveTo>
                  <a:pt x="0" y="0"/>
                </a:moveTo>
                <a:lnTo>
                  <a:pt x="3552794" y="0"/>
                </a:lnTo>
                <a:lnTo>
                  <a:pt x="3552794" y="3552794"/>
                </a:lnTo>
                <a:lnTo>
                  <a:pt x="0" y="3552794"/>
                </a:lnTo>
                <a:lnTo>
                  <a:pt x="0" y="0"/>
                </a:lnTo>
                <a:close/>
              </a:path>
            </a:pathLst>
          </a:custGeom>
          <a:blipFill>
            <a:blip r:embed="rId3"/>
            <a:stretch>
              <a:fillRect l="0" t="0" r="0" b="0"/>
            </a:stretch>
          </a:blipFill>
        </p:spPr>
      </p:sp>
      <p:sp>
        <p:nvSpPr>
          <p:cNvPr name="Freeform 7" id="7"/>
          <p:cNvSpPr/>
          <p:nvPr/>
        </p:nvSpPr>
        <p:spPr>
          <a:xfrm flipH="false" flipV="false" rot="0">
            <a:off x="4859230" y="1352581"/>
            <a:ext cx="3469430" cy="3552794"/>
          </a:xfrm>
          <a:custGeom>
            <a:avLst/>
            <a:gdLst/>
            <a:ahLst/>
            <a:cxnLst/>
            <a:rect r="r" b="b" t="t" l="l"/>
            <a:pathLst>
              <a:path h="3552794" w="3469430">
                <a:moveTo>
                  <a:pt x="0" y="0"/>
                </a:moveTo>
                <a:lnTo>
                  <a:pt x="3469430" y="0"/>
                </a:lnTo>
                <a:lnTo>
                  <a:pt x="3469430" y="3552794"/>
                </a:lnTo>
                <a:lnTo>
                  <a:pt x="0" y="3552794"/>
                </a:lnTo>
                <a:lnTo>
                  <a:pt x="0" y="0"/>
                </a:lnTo>
                <a:close/>
              </a:path>
            </a:pathLst>
          </a:custGeom>
          <a:blipFill>
            <a:blip r:embed="rId4"/>
            <a:stretch>
              <a:fillRect l="-26520" t="-25333" r="-20947" b="-24772"/>
            </a:stretch>
          </a:blipFill>
        </p:spPr>
      </p:sp>
      <p:sp>
        <p:nvSpPr>
          <p:cNvPr name="Freeform 8" id="8"/>
          <p:cNvSpPr/>
          <p:nvPr/>
        </p:nvSpPr>
        <p:spPr>
          <a:xfrm flipH="false" flipV="false" rot="0">
            <a:off x="608720" y="1326475"/>
            <a:ext cx="3552794" cy="3552794"/>
          </a:xfrm>
          <a:custGeom>
            <a:avLst/>
            <a:gdLst/>
            <a:ahLst/>
            <a:cxnLst/>
            <a:rect r="r" b="b" t="t" l="l"/>
            <a:pathLst>
              <a:path h="3552794" w="3552794">
                <a:moveTo>
                  <a:pt x="0" y="0"/>
                </a:moveTo>
                <a:lnTo>
                  <a:pt x="3552794" y="0"/>
                </a:lnTo>
                <a:lnTo>
                  <a:pt x="3552794" y="3552794"/>
                </a:lnTo>
                <a:lnTo>
                  <a:pt x="0" y="3552794"/>
                </a:lnTo>
                <a:lnTo>
                  <a:pt x="0" y="0"/>
                </a:lnTo>
                <a:close/>
              </a:path>
            </a:pathLst>
          </a:custGeom>
          <a:blipFill>
            <a:blip r:embed="rId5"/>
            <a:stretch>
              <a:fillRect l="-1983" t="-25789" r="-91160" b="-19037"/>
            </a:stretch>
          </a:blipFill>
        </p:spPr>
      </p:sp>
      <p:sp>
        <p:nvSpPr>
          <p:cNvPr name="Freeform 9" id="9"/>
          <p:cNvSpPr/>
          <p:nvPr/>
        </p:nvSpPr>
        <p:spPr>
          <a:xfrm flipH="false" flipV="false" rot="0">
            <a:off x="8838589" y="5705506"/>
            <a:ext cx="3552794" cy="3552794"/>
          </a:xfrm>
          <a:custGeom>
            <a:avLst/>
            <a:gdLst/>
            <a:ahLst/>
            <a:cxnLst/>
            <a:rect r="r" b="b" t="t" l="l"/>
            <a:pathLst>
              <a:path h="3552794" w="3552794">
                <a:moveTo>
                  <a:pt x="0" y="0"/>
                </a:moveTo>
                <a:lnTo>
                  <a:pt x="3552794" y="0"/>
                </a:lnTo>
                <a:lnTo>
                  <a:pt x="3552794" y="3552794"/>
                </a:lnTo>
                <a:lnTo>
                  <a:pt x="0" y="3552794"/>
                </a:lnTo>
                <a:lnTo>
                  <a:pt x="0" y="0"/>
                </a:lnTo>
                <a:close/>
              </a:path>
            </a:pathLst>
          </a:custGeom>
          <a:blipFill>
            <a:blip r:embed="rId6"/>
            <a:stretch>
              <a:fillRect l="-17996" t="0" r="-1404" b="-19401"/>
            </a:stretch>
          </a:blipFill>
        </p:spPr>
      </p:sp>
      <p:sp>
        <p:nvSpPr>
          <p:cNvPr name="Freeform 10" id="10"/>
          <p:cNvSpPr/>
          <p:nvPr/>
        </p:nvSpPr>
        <p:spPr>
          <a:xfrm flipH="false" flipV="false" rot="0">
            <a:off x="9052560" y="1352581"/>
            <a:ext cx="3552794" cy="3552794"/>
          </a:xfrm>
          <a:custGeom>
            <a:avLst/>
            <a:gdLst/>
            <a:ahLst/>
            <a:cxnLst/>
            <a:rect r="r" b="b" t="t" l="l"/>
            <a:pathLst>
              <a:path h="3552794" w="3552794">
                <a:moveTo>
                  <a:pt x="0" y="0"/>
                </a:moveTo>
                <a:lnTo>
                  <a:pt x="3552794" y="0"/>
                </a:lnTo>
                <a:lnTo>
                  <a:pt x="3552794" y="3552794"/>
                </a:lnTo>
                <a:lnTo>
                  <a:pt x="0" y="3552794"/>
                </a:lnTo>
                <a:lnTo>
                  <a:pt x="0" y="0"/>
                </a:lnTo>
                <a:close/>
              </a:path>
            </a:pathLst>
          </a:custGeom>
          <a:blipFill>
            <a:blip r:embed="rId7"/>
            <a:stretch>
              <a:fillRect l="-57403" t="0" r="-20374" b="0"/>
            </a:stretch>
          </a:blipFill>
        </p:spPr>
      </p:sp>
      <p:sp>
        <p:nvSpPr>
          <p:cNvPr name="Freeform 11" id="11"/>
          <p:cNvSpPr/>
          <p:nvPr/>
        </p:nvSpPr>
        <p:spPr>
          <a:xfrm flipH="false" flipV="false" rot="0">
            <a:off x="608720" y="5705506"/>
            <a:ext cx="3552794" cy="3552794"/>
          </a:xfrm>
          <a:custGeom>
            <a:avLst/>
            <a:gdLst/>
            <a:ahLst/>
            <a:cxnLst/>
            <a:rect r="r" b="b" t="t" l="l"/>
            <a:pathLst>
              <a:path h="3552794" w="3552794">
                <a:moveTo>
                  <a:pt x="0" y="0"/>
                </a:moveTo>
                <a:lnTo>
                  <a:pt x="3552794" y="0"/>
                </a:lnTo>
                <a:lnTo>
                  <a:pt x="3552794" y="3552794"/>
                </a:lnTo>
                <a:lnTo>
                  <a:pt x="0" y="3552794"/>
                </a:lnTo>
                <a:lnTo>
                  <a:pt x="0" y="0"/>
                </a:lnTo>
                <a:close/>
              </a:path>
            </a:pathLst>
          </a:custGeom>
          <a:blipFill>
            <a:blip r:embed="rId8"/>
            <a:stretch>
              <a:fillRect l="-23186" t="-17149" r="-25674" b="-66230"/>
            </a:stretch>
          </a:blipFill>
        </p:spPr>
      </p:sp>
      <p:sp>
        <p:nvSpPr>
          <p:cNvPr name="TextBox 12" id="12"/>
          <p:cNvSpPr txBox="true"/>
          <p:nvPr/>
        </p:nvSpPr>
        <p:spPr>
          <a:xfrm rot="0">
            <a:off x="4779614" y="9501363"/>
            <a:ext cx="3694545" cy="314325"/>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Marco Olukayode Otubushin</a:t>
            </a:r>
          </a:p>
        </p:txBody>
      </p:sp>
      <p:sp>
        <p:nvSpPr>
          <p:cNvPr name="TextBox 13" id="13"/>
          <p:cNvSpPr txBox="true"/>
          <p:nvPr/>
        </p:nvSpPr>
        <p:spPr>
          <a:xfrm rot="0">
            <a:off x="4859230" y="5126919"/>
            <a:ext cx="2241889" cy="314325"/>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Zoe Ferencová</a:t>
            </a:r>
          </a:p>
        </p:txBody>
      </p:sp>
      <p:sp>
        <p:nvSpPr>
          <p:cNvPr name="TextBox 14" id="14"/>
          <p:cNvSpPr txBox="true"/>
          <p:nvPr/>
        </p:nvSpPr>
        <p:spPr>
          <a:xfrm rot="0">
            <a:off x="608720" y="5126919"/>
            <a:ext cx="2241889" cy="314325"/>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Aron Koçi</a:t>
            </a:r>
          </a:p>
        </p:txBody>
      </p:sp>
      <p:sp>
        <p:nvSpPr>
          <p:cNvPr name="TextBox 15" id="15"/>
          <p:cNvSpPr txBox="true"/>
          <p:nvPr/>
        </p:nvSpPr>
        <p:spPr>
          <a:xfrm rot="0">
            <a:off x="8838589" y="9505950"/>
            <a:ext cx="3694545" cy="314325"/>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Cristhiam Alvarado Diaz</a:t>
            </a:r>
          </a:p>
        </p:txBody>
      </p:sp>
      <p:sp>
        <p:nvSpPr>
          <p:cNvPr name="TextBox 16" id="16"/>
          <p:cNvSpPr txBox="true"/>
          <p:nvPr/>
        </p:nvSpPr>
        <p:spPr>
          <a:xfrm rot="0">
            <a:off x="9052560" y="5126919"/>
            <a:ext cx="3694545" cy="314325"/>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Laaura Mahsa Dashab</a:t>
            </a:r>
          </a:p>
        </p:txBody>
      </p:sp>
      <p:sp>
        <p:nvSpPr>
          <p:cNvPr name="TextBox 17" id="17"/>
          <p:cNvSpPr txBox="true"/>
          <p:nvPr/>
        </p:nvSpPr>
        <p:spPr>
          <a:xfrm rot="0">
            <a:off x="608720" y="9505950"/>
            <a:ext cx="3694545" cy="314325"/>
          </a:xfrm>
          <a:prstGeom prst="rect">
            <a:avLst/>
          </a:prstGeom>
        </p:spPr>
        <p:txBody>
          <a:bodyPr anchor="t" rtlCol="false" tIns="0" lIns="0" bIns="0" rIns="0">
            <a:spAutoFit/>
          </a:bodyPr>
          <a:lstStyle/>
          <a:p>
            <a:pPr algn="l">
              <a:lnSpc>
                <a:spcPts val="2521"/>
              </a:lnSpc>
            </a:pPr>
            <a:r>
              <a:rPr lang="en-US" sz="2101">
                <a:solidFill>
                  <a:srgbClr val="232E2D"/>
                </a:solidFill>
                <a:latin typeface="Inter"/>
                <a:ea typeface="Inter"/>
                <a:cs typeface="Inter"/>
                <a:sym typeface="Inter"/>
              </a:rPr>
              <a:t>Eren Şengül</a:t>
            </a:r>
          </a:p>
        </p:txBody>
      </p:sp>
      <p:grpSp>
        <p:nvGrpSpPr>
          <p:cNvPr name="Group 18" id="18"/>
          <p:cNvGrpSpPr/>
          <p:nvPr/>
        </p:nvGrpSpPr>
        <p:grpSpPr>
          <a:xfrm rot="0">
            <a:off x="13333310" y="1352581"/>
            <a:ext cx="4138423" cy="7872557"/>
            <a:chOff x="0" y="0"/>
            <a:chExt cx="7425142" cy="14124912"/>
          </a:xfrm>
        </p:grpSpPr>
        <p:sp>
          <p:nvSpPr>
            <p:cNvPr name="Freeform 19" id="19"/>
            <p:cNvSpPr/>
            <p:nvPr/>
          </p:nvSpPr>
          <p:spPr>
            <a:xfrm flipH="false" flipV="false" rot="0">
              <a:off x="0" y="0"/>
              <a:ext cx="7425180" cy="14124911"/>
            </a:xfrm>
            <a:custGeom>
              <a:avLst/>
              <a:gdLst/>
              <a:ahLst/>
              <a:cxnLst/>
              <a:rect r="r" b="b" t="t" l="l"/>
              <a:pathLst>
                <a:path h="14124911" w="7425180">
                  <a:moveTo>
                    <a:pt x="265650" y="0"/>
                  </a:moveTo>
                  <a:lnTo>
                    <a:pt x="7159530" y="0"/>
                  </a:lnTo>
                  <a:cubicBezTo>
                    <a:pt x="7306245" y="0"/>
                    <a:pt x="7425180" y="118936"/>
                    <a:pt x="7425180" y="265650"/>
                  </a:cubicBezTo>
                  <a:lnTo>
                    <a:pt x="7425180" y="13859261"/>
                  </a:lnTo>
                  <a:cubicBezTo>
                    <a:pt x="7425180" y="13929716"/>
                    <a:pt x="7397192" y="13997285"/>
                    <a:pt x="7347373" y="14047104"/>
                  </a:cubicBezTo>
                  <a:cubicBezTo>
                    <a:pt x="7297554" y="14096924"/>
                    <a:pt x="7229985" y="14124911"/>
                    <a:pt x="7159530" y="14124911"/>
                  </a:cubicBezTo>
                  <a:lnTo>
                    <a:pt x="265650" y="14124911"/>
                  </a:lnTo>
                  <a:cubicBezTo>
                    <a:pt x="195195" y="14124911"/>
                    <a:pt x="127626" y="14096924"/>
                    <a:pt x="77807" y="14047104"/>
                  </a:cubicBezTo>
                  <a:cubicBezTo>
                    <a:pt x="27988" y="13997285"/>
                    <a:pt x="0" y="13929716"/>
                    <a:pt x="0" y="13859261"/>
                  </a:cubicBezTo>
                  <a:lnTo>
                    <a:pt x="0" y="265650"/>
                  </a:lnTo>
                  <a:cubicBezTo>
                    <a:pt x="0" y="195195"/>
                    <a:pt x="27988" y="127626"/>
                    <a:pt x="77807" y="77807"/>
                  </a:cubicBezTo>
                  <a:cubicBezTo>
                    <a:pt x="127626" y="27988"/>
                    <a:pt x="195195" y="0"/>
                    <a:pt x="265650" y="0"/>
                  </a:cubicBezTo>
                  <a:close/>
                </a:path>
              </a:pathLst>
            </a:custGeom>
            <a:solidFill>
              <a:srgbClr val="DDDFDF">
                <a:alpha val="73725"/>
              </a:srgbClr>
            </a:solidFill>
          </p:spPr>
        </p:sp>
      </p:grpSp>
      <p:sp>
        <p:nvSpPr>
          <p:cNvPr name="TextBox 20" id="20"/>
          <p:cNvSpPr txBox="true"/>
          <p:nvPr/>
        </p:nvSpPr>
        <p:spPr>
          <a:xfrm rot="0">
            <a:off x="13707761" y="1744992"/>
            <a:ext cx="3162970" cy="409575"/>
          </a:xfrm>
          <a:prstGeom prst="rect">
            <a:avLst/>
          </a:prstGeom>
        </p:spPr>
        <p:txBody>
          <a:bodyPr anchor="t" rtlCol="false" tIns="0" lIns="0" bIns="0" rIns="0">
            <a:spAutoFit/>
          </a:bodyPr>
          <a:lstStyle/>
          <a:p>
            <a:pPr algn="ctr">
              <a:lnSpc>
                <a:spcPts val="3241"/>
              </a:lnSpc>
              <a:spcBef>
                <a:spcPct val="0"/>
              </a:spcBef>
            </a:pPr>
            <a:r>
              <a:rPr lang="en-US" sz="2701">
                <a:solidFill>
                  <a:srgbClr val="232E2D"/>
                </a:solidFill>
                <a:latin typeface="Source Serif Pro"/>
                <a:ea typeface="Source Serif Pro"/>
                <a:cs typeface="Source Serif Pro"/>
                <a:sym typeface="Source Serif Pro"/>
              </a:rPr>
              <a:t>Group Contributions</a:t>
            </a:r>
          </a:p>
        </p:txBody>
      </p:sp>
      <p:sp>
        <p:nvSpPr>
          <p:cNvPr name="TextBox 21" id="21"/>
          <p:cNvSpPr txBox="true"/>
          <p:nvPr/>
        </p:nvSpPr>
        <p:spPr>
          <a:xfrm rot="0">
            <a:off x="13707761" y="2605294"/>
            <a:ext cx="3794669" cy="6153150"/>
          </a:xfrm>
          <a:prstGeom prst="rect">
            <a:avLst/>
          </a:prstGeom>
        </p:spPr>
        <p:txBody>
          <a:bodyPr anchor="t" rtlCol="false" tIns="0" lIns="0" bIns="0" rIns="0">
            <a:spAutoFit/>
          </a:bodyPr>
          <a:lstStyle/>
          <a:p>
            <a:pPr algn="l">
              <a:lnSpc>
                <a:spcPts val="2879"/>
              </a:lnSpc>
            </a:pPr>
            <a:r>
              <a:rPr lang="en-US" sz="2400">
                <a:solidFill>
                  <a:srgbClr val="232E2D"/>
                </a:solidFill>
                <a:latin typeface="Inter"/>
                <a:ea typeface="Inter"/>
                <a:cs typeface="Inter"/>
                <a:sym typeface="Inter"/>
              </a:rPr>
              <a:t>Aron: introduction, conclusion</a:t>
            </a:r>
          </a:p>
          <a:p>
            <a:pPr algn="l">
              <a:lnSpc>
                <a:spcPts val="2879"/>
              </a:lnSpc>
            </a:pPr>
          </a:p>
          <a:p>
            <a:pPr algn="l">
              <a:lnSpc>
                <a:spcPts val="2879"/>
              </a:lnSpc>
            </a:pPr>
            <a:r>
              <a:rPr lang="en-US" sz="2400">
                <a:solidFill>
                  <a:srgbClr val="232E2D"/>
                </a:solidFill>
                <a:latin typeface="Inter"/>
                <a:ea typeface="Inter"/>
                <a:cs typeface="Inter"/>
                <a:sym typeface="Inter"/>
              </a:rPr>
              <a:t>Zoe: introduction, conclusion, slide design</a:t>
            </a:r>
          </a:p>
          <a:p>
            <a:pPr algn="l">
              <a:lnSpc>
                <a:spcPts val="2879"/>
              </a:lnSpc>
            </a:pPr>
          </a:p>
          <a:p>
            <a:pPr algn="l">
              <a:lnSpc>
                <a:spcPts val="2879"/>
              </a:lnSpc>
            </a:pPr>
            <a:r>
              <a:rPr lang="en-US" sz="2400">
                <a:solidFill>
                  <a:srgbClr val="232E2D"/>
                </a:solidFill>
                <a:latin typeface="Inter"/>
                <a:ea typeface="Inter"/>
                <a:cs typeface="Inter"/>
                <a:sym typeface="Inter"/>
              </a:rPr>
              <a:t>Laaura: component, strong and weak Allee effects</a:t>
            </a:r>
          </a:p>
          <a:p>
            <a:pPr algn="l">
              <a:lnSpc>
                <a:spcPts val="2879"/>
              </a:lnSpc>
            </a:pPr>
          </a:p>
          <a:p>
            <a:pPr algn="l">
              <a:lnSpc>
                <a:spcPts val="2879"/>
              </a:lnSpc>
            </a:pPr>
            <a:r>
              <a:rPr lang="en-US" sz="2400">
                <a:solidFill>
                  <a:srgbClr val="232E2D"/>
                </a:solidFill>
                <a:latin typeface="Inter"/>
                <a:ea typeface="Inter"/>
                <a:cs typeface="Inter"/>
                <a:sym typeface="Inter"/>
              </a:rPr>
              <a:t>Eren: demographic and strong Allee effect</a:t>
            </a:r>
          </a:p>
          <a:p>
            <a:pPr algn="l">
              <a:lnSpc>
                <a:spcPts val="2879"/>
              </a:lnSpc>
            </a:pPr>
          </a:p>
          <a:p>
            <a:pPr algn="l">
              <a:lnSpc>
                <a:spcPts val="2879"/>
              </a:lnSpc>
            </a:pPr>
            <a:r>
              <a:rPr lang="en-US" sz="2400">
                <a:solidFill>
                  <a:srgbClr val="232E2D"/>
                </a:solidFill>
                <a:latin typeface="Inter"/>
                <a:ea typeface="Inter"/>
                <a:cs typeface="Inter"/>
                <a:sym typeface="Inter"/>
              </a:rPr>
              <a:t>Marco: rescue and immigration</a:t>
            </a:r>
          </a:p>
          <a:p>
            <a:pPr algn="l">
              <a:lnSpc>
                <a:spcPts val="2879"/>
              </a:lnSpc>
            </a:pPr>
          </a:p>
          <a:p>
            <a:pPr algn="l">
              <a:lnSpc>
                <a:spcPts val="2879"/>
              </a:lnSpc>
              <a:spcBef>
                <a:spcPct val="0"/>
              </a:spcBef>
            </a:pPr>
            <a:r>
              <a:rPr lang="en-US" sz="2400">
                <a:solidFill>
                  <a:srgbClr val="232E2D"/>
                </a:solidFill>
                <a:latin typeface="Inter"/>
                <a:ea typeface="Inter"/>
                <a:cs typeface="Inter"/>
                <a:sym typeface="Inter"/>
              </a:rPr>
              <a:t>Cristhiam: evidence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59105"/>
            <a:ext cx="8229600" cy="617220"/>
            <a:chOff x="0" y="0"/>
            <a:chExt cx="10972800" cy="822960"/>
          </a:xfrm>
        </p:grpSpPr>
        <p:sp>
          <p:nvSpPr>
            <p:cNvPr name="Freeform 4" id="4"/>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2">
                <a:alphaModFix amt="0"/>
              </a:blip>
              <a:stretch>
                <a:fillRect l="0" t="-209800" r="0" b="-209800"/>
              </a:stretch>
            </a:blipFill>
          </p:spPr>
        </p:sp>
        <p:sp>
          <p:nvSpPr>
            <p:cNvPr name="TextBox 5" id="5"/>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References</a:t>
              </a:r>
            </a:p>
          </p:txBody>
        </p:sp>
      </p:grpSp>
      <p:sp>
        <p:nvSpPr>
          <p:cNvPr name="TextBox 6" id="6"/>
          <p:cNvSpPr txBox="true"/>
          <p:nvPr/>
        </p:nvSpPr>
        <p:spPr>
          <a:xfrm rot="0">
            <a:off x="814069" y="1329440"/>
            <a:ext cx="16654634" cy="8252710"/>
          </a:xfrm>
          <a:prstGeom prst="rect">
            <a:avLst/>
          </a:prstGeom>
        </p:spPr>
        <p:txBody>
          <a:bodyPr anchor="t" rtlCol="false" tIns="0" lIns="0" bIns="0" rIns="0">
            <a:spAutoFit/>
          </a:bodyPr>
          <a:lstStyle/>
          <a:p>
            <a:pPr algn="l">
              <a:lnSpc>
                <a:spcPts val="2624"/>
              </a:lnSpc>
            </a:pPr>
            <a:r>
              <a:rPr lang="en-US" sz="2151">
                <a:solidFill>
                  <a:srgbClr val="232E2D"/>
                </a:solidFill>
                <a:latin typeface="Inter"/>
                <a:ea typeface="Inter"/>
                <a:cs typeface="Inter"/>
                <a:sym typeface="Inter"/>
              </a:rPr>
              <a:t>Allee, W.C. (1931) Animal Aggregations: A Study in General Sociology. University of Chicago Press, Chicago.</a:t>
            </a:r>
          </a:p>
          <a:p>
            <a:pPr algn="l">
              <a:lnSpc>
                <a:spcPts val="1708"/>
              </a:lnSpc>
            </a:pPr>
          </a:p>
          <a:p>
            <a:pPr algn="l">
              <a:lnSpc>
                <a:spcPts val="2624"/>
              </a:lnSpc>
            </a:pPr>
            <a:r>
              <a:rPr lang="en-US" sz="2151">
                <a:solidFill>
                  <a:srgbClr val="232E2D"/>
                </a:solidFill>
                <a:latin typeface="Inter"/>
                <a:ea typeface="Inter"/>
                <a:cs typeface="Inter"/>
                <a:sym typeface="Inter"/>
              </a:rPr>
              <a:t>Allee, W.C. (1938) The Social Life of Animals. William Heinemann, London.</a:t>
            </a:r>
          </a:p>
          <a:p>
            <a:pPr algn="l">
              <a:lnSpc>
                <a:spcPts val="1708"/>
              </a:lnSpc>
            </a:pPr>
          </a:p>
          <a:p>
            <a:pPr algn="l">
              <a:lnSpc>
                <a:spcPts val="2624"/>
              </a:lnSpc>
            </a:pPr>
            <a:r>
              <a:rPr lang="en-US" sz="2151">
                <a:solidFill>
                  <a:srgbClr val="232E2D"/>
                </a:solidFill>
                <a:latin typeface="Inter"/>
                <a:ea typeface="Inter"/>
                <a:cs typeface="Inter"/>
                <a:sym typeface="Inter"/>
              </a:rPr>
              <a:t>Angulo, E., Roemer, G.W., Berec, L., Gascoigne, J. &amp; Courchamp, F. (2007) Double Allee effects and extinction in the island fox. </a:t>
            </a:r>
            <a:r>
              <a:rPr lang="en-US" sz="2151" i="true">
                <a:solidFill>
                  <a:srgbClr val="232E2D"/>
                </a:solidFill>
                <a:latin typeface="Inter Italics"/>
                <a:ea typeface="Inter Italics"/>
                <a:cs typeface="Inter Italics"/>
                <a:sym typeface="Inter Italics"/>
              </a:rPr>
              <a:t>Conservation Biology</a:t>
            </a:r>
            <a:r>
              <a:rPr lang="en-US" sz="2151">
                <a:solidFill>
                  <a:srgbClr val="232E2D"/>
                </a:solidFill>
                <a:latin typeface="Inter"/>
                <a:ea typeface="Inter"/>
                <a:cs typeface="Inter"/>
                <a:sym typeface="Inter"/>
              </a:rPr>
              <a:t>, 21, 1082–1091.</a:t>
            </a:r>
          </a:p>
          <a:p>
            <a:pPr algn="l">
              <a:lnSpc>
                <a:spcPts val="1708"/>
              </a:lnSpc>
            </a:pPr>
          </a:p>
          <a:p>
            <a:pPr algn="l">
              <a:lnSpc>
                <a:spcPts val="2624"/>
              </a:lnSpc>
            </a:pPr>
            <a:r>
              <a:rPr lang="en-US" sz="2151">
                <a:solidFill>
                  <a:srgbClr val="232E2D"/>
                </a:solidFill>
                <a:latin typeface="Inter"/>
                <a:ea typeface="Inter"/>
                <a:cs typeface="Inter"/>
                <a:sym typeface="Inter"/>
              </a:rPr>
              <a:t>Angulo, E., Rasmussen, G.S.A., Macdonald, D.W. &amp; Courchamp, F. (2013) Do social groups prevent Allee effect related extinctions? The case of wild dogs. </a:t>
            </a:r>
            <a:r>
              <a:rPr lang="en-US" sz="2151" i="true">
                <a:solidFill>
                  <a:srgbClr val="232E2D"/>
                </a:solidFill>
                <a:latin typeface="Inter Italics"/>
                <a:ea typeface="Inter Italics"/>
                <a:cs typeface="Inter Italics"/>
                <a:sym typeface="Inter Italics"/>
              </a:rPr>
              <a:t>Frontiers in Zoology</a:t>
            </a:r>
            <a:r>
              <a:rPr lang="en-US" sz="2151">
                <a:solidFill>
                  <a:srgbClr val="232E2D"/>
                </a:solidFill>
                <a:latin typeface="Inter"/>
                <a:ea typeface="Inter"/>
                <a:cs typeface="Inter"/>
                <a:sym typeface="Inter"/>
              </a:rPr>
              <a:t>, 10, 11.</a:t>
            </a:r>
          </a:p>
          <a:p>
            <a:pPr algn="l">
              <a:lnSpc>
                <a:spcPts val="1708"/>
              </a:lnSpc>
            </a:pPr>
          </a:p>
          <a:p>
            <a:pPr algn="l">
              <a:lnSpc>
                <a:spcPts val="2624"/>
              </a:lnSpc>
            </a:pPr>
            <a:r>
              <a:rPr lang="en-US" sz="2151">
                <a:solidFill>
                  <a:srgbClr val="232E2D"/>
                </a:solidFill>
                <a:latin typeface="Inter"/>
                <a:ea typeface="Inter"/>
                <a:cs typeface="Inter"/>
                <a:sym typeface="Inter"/>
              </a:rPr>
              <a:t>Branco, M., Dokhelar, T., Brockerhoff, E.G., Liebhold, A.M. &amp; Jactel, H. (2024) Widespread experimental evidence of Allee effects in insects: a meta-analysis. </a:t>
            </a:r>
            <a:r>
              <a:rPr lang="en-US" sz="2151" i="true">
                <a:solidFill>
                  <a:srgbClr val="232E2D"/>
                </a:solidFill>
                <a:latin typeface="Inter Italics"/>
                <a:ea typeface="Inter Italics"/>
                <a:cs typeface="Inter Italics"/>
                <a:sym typeface="Inter Italics"/>
              </a:rPr>
              <a:t>Entomologia Generalis</a:t>
            </a:r>
            <a:r>
              <a:rPr lang="en-US" sz="2151">
                <a:solidFill>
                  <a:srgbClr val="232E2D"/>
                </a:solidFill>
                <a:latin typeface="Inter"/>
                <a:ea typeface="Inter"/>
                <a:cs typeface="Inter"/>
                <a:sym typeface="Inter"/>
              </a:rPr>
              <a:t>, 44, 765–778.</a:t>
            </a:r>
          </a:p>
          <a:p>
            <a:pPr algn="l">
              <a:lnSpc>
                <a:spcPts val="1708"/>
              </a:lnSpc>
            </a:pPr>
          </a:p>
          <a:p>
            <a:pPr algn="l">
              <a:lnSpc>
                <a:spcPts val="2624"/>
              </a:lnSpc>
            </a:pPr>
            <a:r>
              <a:rPr lang="en-US" sz="2151">
                <a:solidFill>
                  <a:srgbClr val="232E2D"/>
                </a:solidFill>
                <a:latin typeface="Inter"/>
                <a:ea typeface="Inter"/>
                <a:cs typeface="Inter"/>
                <a:sym typeface="Inter"/>
              </a:rPr>
              <a:t>Brashares, J.S., Werner, J.R. &amp; Sinclair, A.R.E. (2010) Social ‘meltdown’ in the demise of an island endemic: Allee effects and the Vancouver Island marmot. </a:t>
            </a:r>
            <a:r>
              <a:rPr lang="en-US" sz="2151" i="true">
                <a:solidFill>
                  <a:srgbClr val="232E2D"/>
                </a:solidFill>
                <a:latin typeface="Inter Italics"/>
                <a:ea typeface="Inter Italics"/>
                <a:cs typeface="Inter Italics"/>
                <a:sym typeface="Inter Italics"/>
              </a:rPr>
              <a:t>Journal of Animal Ecology</a:t>
            </a:r>
            <a:r>
              <a:rPr lang="en-US" sz="2151">
                <a:solidFill>
                  <a:srgbClr val="232E2D"/>
                </a:solidFill>
                <a:latin typeface="Inter"/>
                <a:ea typeface="Inter"/>
                <a:cs typeface="Inter"/>
                <a:sym typeface="Inter"/>
              </a:rPr>
              <a:t>, 79, 965–973.</a:t>
            </a:r>
          </a:p>
          <a:p>
            <a:pPr algn="l">
              <a:lnSpc>
                <a:spcPts val="1708"/>
              </a:lnSpc>
            </a:pPr>
          </a:p>
          <a:p>
            <a:pPr algn="l">
              <a:lnSpc>
                <a:spcPts val="2624"/>
              </a:lnSpc>
            </a:pPr>
            <a:r>
              <a:rPr lang="en-US" sz="2151">
                <a:solidFill>
                  <a:srgbClr val="232E2D"/>
                </a:solidFill>
                <a:latin typeface="Inter"/>
                <a:ea typeface="Inter"/>
                <a:cs typeface="Inter"/>
                <a:sym typeface="Inter"/>
              </a:rPr>
              <a:t>Brown, J.H. &amp; Kodric-Brown, A. (1977) Turnover rates in insular biogeography: effect of immigration on extinction. </a:t>
            </a:r>
            <a:r>
              <a:rPr lang="en-US" sz="2151" i="true">
                <a:solidFill>
                  <a:srgbClr val="232E2D"/>
                </a:solidFill>
                <a:latin typeface="Inter Italics"/>
                <a:ea typeface="Inter Italics"/>
                <a:cs typeface="Inter Italics"/>
                <a:sym typeface="Inter Italics"/>
              </a:rPr>
              <a:t>Ecology</a:t>
            </a:r>
            <a:r>
              <a:rPr lang="en-US" sz="2151">
                <a:solidFill>
                  <a:srgbClr val="232E2D"/>
                </a:solidFill>
                <a:latin typeface="Inter"/>
                <a:ea typeface="Inter"/>
                <a:cs typeface="Inter"/>
                <a:sym typeface="Inter"/>
              </a:rPr>
              <a:t>, 58, 445–449.</a:t>
            </a:r>
          </a:p>
          <a:p>
            <a:pPr algn="l">
              <a:lnSpc>
                <a:spcPts val="1708"/>
              </a:lnSpc>
            </a:pPr>
          </a:p>
          <a:p>
            <a:pPr algn="l">
              <a:lnSpc>
                <a:spcPts val="2624"/>
              </a:lnSpc>
            </a:pPr>
            <a:r>
              <a:rPr lang="en-US" sz="2151">
                <a:solidFill>
                  <a:srgbClr val="232E2D"/>
                </a:solidFill>
                <a:latin typeface="Inter"/>
                <a:ea typeface="Inter"/>
                <a:cs typeface="Inter"/>
                <a:sym typeface="Inter"/>
              </a:rPr>
              <a:t>Courchamp, F., Clutton-Brock, T. &amp; Grenfell, B. (1999) Inverse density dependence and the Allee effect. </a:t>
            </a:r>
            <a:r>
              <a:rPr lang="en-US" sz="2151" i="true">
                <a:solidFill>
                  <a:srgbClr val="232E2D"/>
                </a:solidFill>
                <a:latin typeface="Inter Italics"/>
                <a:ea typeface="Inter Italics"/>
                <a:cs typeface="Inter Italics"/>
                <a:sym typeface="Inter Italics"/>
              </a:rPr>
              <a:t>Trends in Ecology &amp; Evolution</a:t>
            </a:r>
            <a:r>
              <a:rPr lang="en-US" sz="2151">
                <a:solidFill>
                  <a:srgbClr val="232E2D"/>
                </a:solidFill>
                <a:latin typeface="Inter"/>
                <a:ea typeface="Inter"/>
                <a:cs typeface="Inter"/>
                <a:sym typeface="Inter"/>
              </a:rPr>
              <a:t>, 14, 405–410.</a:t>
            </a:r>
          </a:p>
          <a:p>
            <a:pPr algn="l">
              <a:lnSpc>
                <a:spcPts val="1708"/>
              </a:lnSpc>
            </a:pPr>
          </a:p>
          <a:p>
            <a:pPr algn="l">
              <a:lnSpc>
                <a:spcPts val="2624"/>
              </a:lnSpc>
            </a:pPr>
            <a:r>
              <a:rPr lang="en-US" sz="2151">
                <a:solidFill>
                  <a:srgbClr val="232E2D"/>
                </a:solidFill>
                <a:latin typeface="Inter"/>
                <a:ea typeface="Inter"/>
                <a:cs typeface="Inter"/>
                <a:sym typeface="Inter"/>
              </a:rPr>
              <a:t>Drake, J.M. &amp; Kramer, A.M. (2011) Allee effects. </a:t>
            </a:r>
            <a:r>
              <a:rPr lang="en-US" sz="2151" i="true">
                <a:solidFill>
                  <a:srgbClr val="232E2D"/>
                </a:solidFill>
                <a:latin typeface="Inter Italics"/>
                <a:ea typeface="Inter Italics"/>
                <a:cs typeface="Inter Italics"/>
                <a:sym typeface="Inter Italics"/>
              </a:rPr>
              <a:t>Nature Education Knowledge</a:t>
            </a:r>
            <a:r>
              <a:rPr lang="en-US" sz="2151">
                <a:solidFill>
                  <a:srgbClr val="232E2D"/>
                </a:solidFill>
                <a:latin typeface="Inter"/>
                <a:ea typeface="Inter"/>
                <a:cs typeface="Inter"/>
                <a:sym typeface="Inter"/>
              </a:rPr>
              <a:t>, 3(10), 2.</a:t>
            </a:r>
          </a:p>
          <a:p>
            <a:pPr algn="l">
              <a:lnSpc>
                <a:spcPts val="1708"/>
              </a:lnSpc>
            </a:pPr>
          </a:p>
          <a:p>
            <a:pPr algn="l">
              <a:lnSpc>
                <a:spcPts val="2624"/>
              </a:lnSpc>
            </a:pPr>
            <a:r>
              <a:rPr lang="en-US" sz="2151">
                <a:solidFill>
                  <a:srgbClr val="232E2D"/>
                </a:solidFill>
                <a:latin typeface="Inter"/>
                <a:ea typeface="Inter"/>
                <a:cs typeface="Inter"/>
                <a:sym typeface="Inter"/>
              </a:rPr>
              <a:t>Gascoigne, J., Berec, L., Gregory, S. &amp; Courchamp, F. (2009) Dangerously few liaisons: a review of mate-finding Allee effects. </a:t>
            </a:r>
            <a:r>
              <a:rPr lang="en-US" sz="2151" i="true">
                <a:solidFill>
                  <a:srgbClr val="232E2D"/>
                </a:solidFill>
                <a:latin typeface="Inter Italics"/>
                <a:ea typeface="Inter Italics"/>
                <a:cs typeface="Inter Italics"/>
                <a:sym typeface="Inter Italics"/>
              </a:rPr>
              <a:t>Population Ecology</a:t>
            </a:r>
            <a:r>
              <a:rPr lang="en-US" sz="2151">
                <a:solidFill>
                  <a:srgbClr val="232E2D"/>
                </a:solidFill>
                <a:latin typeface="Inter"/>
                <a:ea typeface="Inter"/>
                <a:cs typeface="Inter"/>
                <a:sym typeface="Inter"/>
              </a:rPr>
              <a:t>, 51, 355–372.</a:t>
            </a:r>
          </a:p>
          <a:p>
            <a:pPr algn="l">
              <a:lnSpc>
                <a:spcPts val="1708"/>
              </a:lnSpc>
            </a:pPr>
          </a:p>
          <a:p>
            <a:pPr algn="l">
              <a:lnSpc>
                <a:spcPts val="2624"/>
              </a:lnSpc>
            </a:pPr>
            <a:r>
              <a:rPr lang="en-US" sz="2151">
                <a:solidFill>
                  <a:srgbClr val="232E2D"/>
                </a:solidFill>
                <a:latin typeface="Inter"/>
                <a:ea typeface="Inter"/>
                <a:cs typeface="Inter"/>
                <a:sym typeface="Inter"/>
              </a:rPr>
              <a:t>Gregory, S.D., Bradshaw, C.J.A., Brook, B.W. &amp; Courchamp, F. (2010) Limited evidence for the demographic Allee effect from numerous species across taxa. Ecology, 91, 2151–2161.</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59105"/>
            <a:ext cx="8229600" cy="617220"/>
            <a:chOff x="0" y="0"/>
            <a:chExt cx="10972800" cy="822960"/>
          </a:xfrm>
        </p:grpSpPr>
        <p:sp>
          <p:nvSpPr>
            <p:cNvPr name="Freeform 4" id="4"/>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2">
                <a:alphaModFix amt="0"/>
              </a:blip>
              <a:stretch>
                <a:fillRect l="0" t="-209800" r="0" b="-209800"/>
              </a:stretch>
            </a:blipFill>
          </p:spPr>
        </p:sp>
        <p:sp>
          <p:nvSpPr>
            <p:cNvPr name="TextBox 5" id="5"/>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References (cont.)</a:t>
              </a:r>
            </a:p>
          </p:txBody>
        </p:sp>
      </p:grpSp>
      <p:sp>
        <p:nvSpPr>
          <p:cNvPr name="TextBox 6" id="6"/>
          <p:cNvSpPr txBox="true"/>
          <p:nvPr/>
        </p:nvSpPr>
        <p:spPr>
          <a:xfrm rot="0">
            <a:off x="816457" y="1279082"/>
            <a:ext cx="16654634" cy="7719310"/>
          </a:xfrm>
          <a:prstGeom prst="rect">
            <a:avLst/>
          </a:prstGeom>
        </p:spPr>
        <p:txBody>
          <a:bodyPr anchor="t" rtlCol="false" tIns="0" lIns="0" bIns="0" rIns="0">
            <a:spAutoFit/>
          </a:bodyPr>
          <a:lstStyle/>
          <a:p>
            <a:pPr algn="l">
              <a:lnSpc>
                <a:spcPts val="2624"/>
              </a:lnSpc>
            </a:pPr>
            <a:r>
              <a:rPr lang="en-US" sz="2151">
                <a:solidFill>
                  <a:srgbClr val="232E2D"/>
                </a:solidFill>
                <a:latin typeface="Inter"/>
                <a:ea typeface="Inter"/>
                <a:cs typeface="Inter"/>
                <a:sym typeface="Inter"/>
              </a:rPr>
              <a:t>Grumbach, C. &amp; Hilker, F.M. (2025) Allee pits in metapopulations: critical dispersal rates for connectivity to be beneficial. </a:t>
            </a:r>
            <a:r>
              <a:rPr lang="en-US" sz="2151" i="true">
                <a:solidFill>
                  <a:srgbClr val="232E2D"/>
                </a:solidFill>
                <a:latin typeface="Inter Italics"/>
                <a:ea typeface="Inter Italics"/>
                <a:cs typeface="Inter Italics"/>
                <a:sym typeface="Inter Italics"/>
              </a:rPr>
              <a:t>Theoretical Ecology</a:t>
            </a:r>
            <a:r>
              <a:rPr lang="en-US" sz="2151">
                <a:solidFill>
                  <a:srgbClr val="232E2D"/>
                </a:solidFill>
                <a:latin typeface="Inter"/>
                <a:ea typeface="Inter"/>
                <a:cs typeface="Inter"/>
                <a:sym typeface="Inter"/>
              </a:rPr>
              <a:t>, 18, 5.</a:t>
            </a:r>
          </a:p>
          <a:p>
            <a:pPr algn="l">
              <a:lnSpc>
                <a:spcPts val="1708"/>
              </a:lnSpc>
            </a:pPr>
          </a:p>
          <a:p>
            <a:pPr algn="l">
              <a:lnSpc>
                <a:spcPts val="2624"/>
              </a:lnSpc>
            </a:pPr>
            <a:r>
              <a:rPr lang="en-US" sz="2151">
                <a:solidFill>
                  <a:srgbClr val="232E2D"/>
                </a:solidFill>
                <a:latin typeface="Inter"/>
                <a:ea typeface="Inter"/>
                <a:cs typeface="Inter"/>
                <a:sym typeface="Inter"/>
              </a:rPr>
              <a:t>Kramer, A.M., Dennis, B., Liebhold, A.M. &amp; Drake, J.M. (2009) The evidence for Allee effects. </a:t>
            </a:r>
            <a:r>
              <a:rPr lang="en-US" sz="2151" i="true">
                <a:solidFill>
                  <a:srgbClr val="232E2D"/>
                </a:solidFill>
                <a:latin typeface="Inter Italics"/>
                <a:ea typeface="Inter Italics"/>
                <a:cs typeface="Inter Italics"/>
                <a:sym typeface="Inter Italics"/>
              </a:rPr>
              <a:t>Population Ecology</a:t>
            </a:r>
            <a:r>
              <a:rPr lang="en-US" sz="2151">
                <a:solidFill>
                  <a:srgbClr val="232E2D"/>
                </a:solidFill>
                <a:latin typeface="Inter"/>
                <a:ea typeface="Inter"/>
                <a:cs typeface="Inter"/>
                <a:sym typeface="Inter"/>
              </a:rPr>
              <a:t>, 51, 341–354.</a:t>
            </a:r>
          </a:p>
          <a:p>
            <a:pPr algn="l">
              <a:lnSpc>
                <a:spcPts val="1708"/>
              </a:lnSpc>
            </a:pPr>
          </a:p>
          <a:p>
            <a:pPr algn="l">
              <a:lnSpc>
                <a:spcPts val="2624"/>
              </a:lnSpc>
            </a:pPr>
            <a:r>
              <a:rPr lang="en-US" sz="2151">
                <a:solidFill>
                  <a:srgbClr val="232E2D"/>
                </a:solidFill>
                <a:latin typeface="Inter"/>
                <a:ea typeface="Inter"/>
                <a:cs typeface="Inter"/>
                <a:sym typeface="Inter"/>
              </a:rPr>
              <a:t>Kramer, A.M. &amp; Drake, J.M. (2010) Experimental demonstration of population extinction due to a predator-driven Allee effect. </a:t>
            </a:r>
            <a:r>
              <a:rPr lang="en-US" sz="2151" i="true">
                <a:solidFill>
                  <a:srgbClr val="232E2D"/>
                </a:solidFill>
                <a:latin typeface="Inter Italics"/>
                <a:ea typeface="Inter Italics"/>
                <a:cs typeface="Inter Italics"/>
                <a:sym typeface="Inter Italics"/>
              </a:rPr>
              <a:t>Journal of Animal Ecology</a:t>
            </a:r>
            <a:r>
              <a:rPr lang="en-US" sz="2151">
                <a:solidFill>
                  <a:srgbClr val="232E2D"/>
                </a:solidFill>
                <a:latin typeface="Inter"/>
                <a:ea typeface="Inter"/>
                <a:cs typeface="Inter"/>
                <a:sym typeface="Inter"/>
              </a:rPr>
              <a:t>, 79, 633–639.</a:t>
            </a:r>
          </a:p>
          <a:p>
            <a:pPr algn="l">
              <a:lnSpc>
                <a:spcPts val="1708"/>
              </a:lnSpc>
            </a:pPr>
          </a:p>
          <a:p>
            <a:pPr algn="l">
              <a:lnSpc>
                <a:spcPts val="2624"/>
              </a:lnSpc>
            </a:pPr>
            <a:r>
              <a:rPr lang="en-US" sz="2151">
                <a:solidFill>
                  <a:srgbClr val="232E2D"/>
                </a:solidFill>
                <a:latin typeface="Inter"/>
                <a:ea typeface="Inter"/>
                <a:cs typeface="Inter"/>
                <a:sym typeface="Inter"/>
              </a:rPr>
              <a:t>Kuussaari, M., Saccheri, I., Camara, M. &amp; Hanski, I. (1998) Allee effect and population dynamics in the Glanville fritillary butterfly. </a:t>
            </a:r>
            <a:r>
              <a:rPr lang="en-US" sz="2151" i="true">
                <a:solidFill>
                  <a:srgbClr val="232E2D"/>
                </a:solidFill>
                <a:latin typeface="Inter Italics"/>
                <a:ea typeface="Inter Italics"/>
                <a:cs typeface="Inter Italics"/>
                <a:sym typeface="Inter Italics"/>
              </a:rPr>
              <a:t>Oikos</a:t>
            </a:r>
            <a:r>
              <a:rPr lang="en-US" sz="2151">
                <a:solidFill>
                  <a:srgbClr val="232E2D"/>
                </a:solidFill>
                <a:latin typeface="Inter"/>
                <a:ea typeface="Inter"/>
                <a:cs typeface="Inter"/>
                <a:sym typeface="Inter"/>
              </a:rPr>
              <a:t>, 82, 384–392.</a:t>
            </a:r>
          </a:p>
          <a:p>
            <a:pPr algn="l">
              <a:lnSpc>
                <a:spcPts val="1708"/>
              </a:lnSpc>
            </a:pPr>
          </a:p>
          <a:p>
            <a:pPr algn="l">
              <a:lnSpc>
                <a:spcPts val="2624"/>
              </a:lnSpc>
            </a:pPr>
            <a:r>
              <a:rPr lang="en-US" sz="2151">
                <a:solidFill>
                  <a:srgbClr val="232E2D"/>
                </a:solidFill>
                <a:latin typeface="Inter"/>
                <a:ea typeface="Inter"/>
                <a:cs typeface="Inter"/>
                <a:sym typeface="Inter"/>
              </a:rPr>
              <a:t>Liebhold, A. &amp; Bascompte, J. (2003) The Allee effect, stochastic dynamics and the eradication of alien species. </a:t>
            </a:r>
            <a:r>
              <a:rPr lang="en-US" sz="2151" i="true">
                <a:solidFill>
                  <a:srgbClr val="232E2D"/>
                </a:solidFill>
                <a:latin typeface="Inter Italics"/>
                <a:ea typeface="Inter Italics"/>
                <a:cs typeface="Inter Italics"/>
                <a:sym typeface="Inter Italics"/>
              </a:rPr>
              <a:t>Ecology Letters</a:t>
            </a:r>
            <a:r>
              <a:rPr lang="en-US" sz="2151">
                <a:solidFill>
                  <a:srgbClr val="232E2D"/>
                </a:solidFill>
                <a:latin typeface="Inter"/>
                <a:ea typeface="Inter"/>
                <a:cs typeface="Inter"/>
                <a:sym typeface="Inter"/>
              </a:rPr>
              <a:t>, 6, 133–140.</a:t>
            </a:r>
          </a:p>
          <a:p>
            <a:pPr algn="l">
              <a:lnSpc>
                <a:spcPts val="1708"/>
              </a:lnSpc>
            </a:pPr>
          </a:p>
          <a:p>
            <a:pPr algn="l">
              <a:lnSpc>
                <a:spcPts val="2624"/>
              </a:lnSpc>
            </a:pPr>
            <a:r>
              <a:rPr lang="en-US" sz="2151">
                <a:solidFill>
                  <a:srgbClr val="232E2D"/>
                </a:solidFill>
                <a:latin typeface="Inter"/>
                <a:ea typeface="Inter"/>
                <a:cs typeface="Inter"/>
                <a:sym typeface="Inter"/>
              </a:rPr>
              <a:t>Muir, E.J., Lajeunesse, M.J. &amp; Kramer, A.M. (2024) The magnitude of Allee effects varies across Allee mechanisms, but not taxonomic groups. </a:t>
            </a:r>
            <a:r>
              <a:rPr lang="en-US" sz="2151" i="true">
                <a:solidFill>
                  <a:srgbClr val="232E2D"/>
                </a:solidFill>
                <a:latin typeface="Inter Italics"/>
                <a:ea typeface="Inter Italics"/>
                <a:cs typeface="Inter Italics"/>
                <a:sym typeface="Inter Italics"/>
              </a:rPr>
              <a:t>Oikos</a:t>
            </a:r>
            <a:r>
              <a:rPr lang="en-US" sz="2151">
                <a:solidFill>
                  <a:srgbClr val="232E2D"/>
                </a:solidFill>
                <a:latin typeface="Inter"/>
                <a:ea typeface="Inter"/>
                <a:cs typeface="Inter"/>
                <a:sym typeface="Inter"/>
              </a:rPr>
              <a:t>, 2024, e10386.</a:t>
            </a:r>
            <a:r>
              <a:rPr lang="en-US" sz="2151">
                <a:solidFill>
                  <a:srgbClr val="717C7A"/>
                </a:solidFill>
                <a:latin typeface="Inter"/>
                <a:ea typeface="Inter"/>
                <a:cs typeface="Inter"/>
                <a:sym typeface="Inter"/>
              </a:rPr>
              <a:t>  ● class paper</a:t>
            </a:r>
          </a:p>
          <a:p>
            <a:pPr algn="l">
              <a:lnSpc>
                <a:spcPts val="1708"/>
              </a:lnSpc>
            </a:pPr>
          </a:p>
          <a:p>
            <a:pPr algn="l">
              <a:lnSpc>
                <a:spcPts val="2624"/>
              </a:lnSpc>
            </a:pPr>
            <a:r>
              <a:rPr lang="en-US" sz="2151">
                <a:solidFill>
                  <a:srgbClr val="232E2D"/>
                </a:solidFill>
                <a:latin typeface="Inter"/>
                <a:ea typeface="Inter"/>
                <a:cs typeface="Inter"/>
                <a:sym typeface="Inter"/>
              </a:rPr>
              <a:t>Perälä, T., Hutchings, J.A. &amp; Kuparinen, A. (2022) Allee effects and the Allee-effect zone in northwest Atlantic cod. </a:t>
            </a:r>
            <a:r>
              <a:rPr lang="en-US" sz="2151" i="true">
                <a:solidFill>
                  <a:srgbClr val="232E2D"/>
                </a:solidFill>
                <a:latin typeface="Inter Italics"/>
                <a:ea typeface="Inter Italics"/>
                <a:cs typeface="Inter Italics"/>
                <a:sym typeface="Inter Italics"/>
              </a:rPr>
              <a:t>Biology Letters</a:t>
            </a:r>
            <a:r>
              <a:rPr lang="en-US" sz="2151">
                <a:solidFill>
                  <a:srgbClr val="232E2D"/>
                </a:solidFill>
                <a:latin typeface="Inter"/>
                <a:ea typeface="Inter"/>
                <a:cs typeface="Inter"/>
                <a:sym typeface="Inter"/>
              </a:rPr>
              <a:t>, 18, 20210439.</a:t>
            </a:r>
          </a:p>
          <a:p>
            <a:pPr algn="l">
              <a:lnSpc>
                <a:spcPts val="1708"/>
              </a:lnSpc>
            </a:pPr>
          </a:p>
          <a:p>
            <a:pPr algn="l">
              <a:lnSpc>
                <a:spcPts val="2624"/>
              </a:lnSpc>
            </a:pPr>
            <a:r>
              <a:rPr lang="en-US" sz="2151">
                <a:solidFill>
                  <a:srgbClr val="232E2D"/>
                </a:solidFill>
                <a:latin typeface="Inter"/>
                <a:ea typeface="Inter"/>
                <a:cs typeface="Inter"/>
                <a:sym typeface="Inter"/>
              </a:rPr>
              <a:t>Stephens, P.A., Sutherland, W.J. &amp; Freckleton, R.P. (1999) What is the Allee effect? </a:t>
            </a:r>
            <a:r>
              <a:rPr lang="en-US" sz="2151" i="true">
                <a:solidFill>
                  <a:srgbClr val="232E2D"/>
                </a:solidFill>
                <a:latin typeface="Inter Italics"/>
                <a:ea typeface="Inter Italics"/>
                <a:cs typeface="Inter Italics"/>
                <a:sym typeface="Inter Italics"/>
              </a:rPr>
              <a:t>Oikos</a:t>
            </a:r>
            <a:r>
              <a:rPr lang="en-US" sz="2151">
                <a:solidFill>
                  <a:srgbClr val="232E2D"/>
                </a:solidFill>
                <a:latin typeface="Inter"/>
                <a:ea typeface="Inter"/>
                <a:cs typeface="Inter"/>
                <a:sym typeface="Inter"/>
              </a:rPr>
              <a:t>, 87, 185–190.</a:t>
            </a:r>
            <a:r>
              <a:rPr lang="en-US" sz="2151">
                <a:solidFill>
                  <a:srgbClr val="717C7A"/>
                </a:solidFill>
                <a:latin typeface="Inter"/>
                <a:ea typeface="Inter"/>
                <a:cs typeface="Inter"/>
                <a:sym typeface="Inter"/>
              </a:rPr>
              <a:t>  ● class paper</a:t>
            </a:r>
          </a:p>
          <a:p>
            <a:pPr algn="l">
              <a:lnSpc>
                <a:spcPts val="1708"/>
              </a:lnSpc>
            </a:pPr>
          </a:p>
          <a:p>
            <a:pPr algn="l">
              <a:lnSpc>
                <a:spcPts val="2624"/>
              </a:lnSpc>
            </a:pPr>
            <a:r>
              <a:rPr lang="en-US" sz="2151">
                <a:solidFill>
                  <a:srgbClr val="232E2D"/>
                </a:solidFill>
                <a:latin typeface="Inter"/>
                <a:ea typeface="Inter"/>
                <a:cs typeface="Inter"/>
                <a:sym typeface="Inter"/>
              </a:rPr>
              <a:t>Vaesen, K., Scherjon, F., Hemerik, L. &amp; Verpoorte, A. (2019) Inbreeding, Allee effects and stochasticity might be sufficient to account for Neanderthal extinction. </a:t>
            </a:r>
            <a:r>
              <a:rPr lang="en-US" sz="2151" i="true">
                <a:solidFill>
                  <a:srgbClr val="232E2D"/>
                </a:solidFill>
                <a:latin typeface="Inter Italics"/>
                <a:ea typeface="Inter Italics"/>
                <a:cs typeface="Inter Italics"/>
                <a:sym typeface="Inter Italics"/>
              </a:rPr>
              <a:t>PLoS ONE</a:t>
            </a:r>
            <a:r>
              <a:rPr lang="en-US" sz="2151">
                <a:solidFill>
                  <a:srgbClr val="232E2D"/>
                </a:solidFill>
                <a:latin typeface="Inter"/>
                <a:ea typeface="Inter"/>
                <a:cs typeface="Inter"/>
                <a:sym typeface="Inter"/>
              </a:rPr>
              <a:t>, 14, e0225117.</a:t>
            </a:r>
          </a:p>
          <a:p>
            <a:pPr algn="l">
              <a:lnSpc>
                <a:spcPts val="1708"/>
              </a:lnSpc>
            </a:pPr>
          </a:p>
          <a:p>
            <a:pPr algn="l">
              <a:lnSpc>
                <a:spcPts val="2624"/>
              </a:lnSpc>
            </a:pPr>
            <a:r>
              <a:rPr lang="en-US" sz="2151">
                <a:solidFill>
                  <a:srgbClr val="232E2D"/>
                </a:solidFill>
                <a:latin typeface="Inter"/>
                <a:ea typeface="Inter"/>
                <a:cs typeface="Inter"/>
                <a:sym typeface="Inter"/>
              </a:rPr>
              <a:t>Wang, M.-H. &amp; Kot, M. (2001) Speeds of invasion in a model with strong or weak Allee effects. </a:t>
            </a:r>
            <a:r>
              <a:rPr lang="en-US" sz="2151" i="true">
                <a:solidFill>
                  <a:srgbClr val="232E2D"/>
                </a:solidFill>
                <a:latin typeface="Inter Italics"/>
                <a:ea typeface="Inter Italics"/>
                <a:cs typeface="Inter Italics"/>
                <a:sym typeface="Inter Italics"/>
              </a:rPr>
              <a:t>Mathematical Biosciences</a:t>
            </a:r>
            <a:r>
              <a:rPr lang="en-US" sz="2151">
                <a:solidFill>
                  <a:srgbClr val="232E2D"/>
                </a:solidFill>
                <a:latin typeface="Inter"/>
                <a:ea typeface="Inter"/>
                <a:cs typeface="Inter"/>
                <a:sym typeface="Inter"/>
              </a:rPr>
              <a:t>, 171, 83–97.</a:t>
            </a:r>
          </a:p>
        </p:txBody>
      </p:sp>
      <p:sp>
        <p:nvSpPr>
          <p:cNvPr name="AutoShape 7" id="7"/>
          <p:cNvSpPr/>
          <p:nvPr/>
        </p:nvSpPr>
        <p:spPr>
          <a:xfrm>
            <a:off x="816457" y="9496536"/>
            <a:ext cx="16668934" cy="14255"/>
          </a:xfrm>
          <a:prstGeom prst="line">
            <a:avLst/>
          </a:prstGeom>
          <a:ln cap="rnd" w="19050">
            <a:solidFill>
              <a:srgbClr val="C7C4C3"/>
            </a:solidFill>
            <a:prstDash val="solid"/>
            <a:headEnd type="none" len="sm" w="sm"/>
            <a:tailEnd type="none" len="sm" w="sm"/>
          </a:ln>
        </p:spPr>
      </p:sp>
      <p:sp>
        <p:nvSpPr>
          <p:cNvPr name="TextBox 8" id="8"/>
          <p:cNvSpPr txBox="true"/>
          <p:nvPr/>
        </p:nvSpPr>
        <p:spPr>
          <a:xfrm rot="0">
            <a:off x="823608" y="9640929"/>
            <a:ext cx="16609333" cy="266700"/>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  Assigned class paper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59105"/>
            <a:ext cx="8229600" cy="617220"/>
            <a:chOff x="0" y="0"/>
            <a:chExt cx="10972800" cy="822960"/>
          </a:xfrm>
        </p:grpSpPr>
        <p:sp>
          <p:nvSpPr>
            <p:cNvPr name="Freeform 4" id="4"/>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2">
                <a:alphaModFix amt="0"/>
              </a:blip>
              <a:stretch>
                <a:fillRect l="0" t="-209800" r="0" b="-209800"/>
              </a:stretch>
            </a:blipFill>
          </p:spPr>
        </p:sp>
        <p:sp>
          <p:nvSpPr>
            <p:cNvPr name="TextBox 5" id="5"/>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Image credits and AI use</a:t>
              </a:r>
            </a:p>
          </p:txBody>
        </p:sp>
      </p:grpSp>
      <p:sp>
        <p:nvSpPr>
          <p:cNvPr name="TextBox 6" id="6"/>
          <p:cNvSpPr txBox="true"/>
          <p:nvPr/>
        </p:nvSpPr>
        <p:spPr>
          <a:xfrm rot="0">
            <a:off x="823608" y="1715843"/>
            <a:ext cx="1647206"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Slide</a:t>
            </a:r>
          </a:p>
        </p:txBody>
      </p:sp>
      <p:sp>
        <p:nvSpPr>
          <p:cNvPr name="TextBox 7" id="7"/>
          <p:cNvSpPr txBox="true"/>
          <p:nvPr/>
        </p:nvSpPr>
        <p:spPr>
          <a:xfrm rot="0">
            <a:off x="2470814" y="1715843"/>
            <a:ext cx="4392549"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Image</a:t>
            </a:r>
          </a:p>
        </p:txBody>
      </p:sp>
      <p:sp>
        <p:nvSpPr>
          <p:cNvPr name="TextBox 8" id="8"/>
          <p:cNvSpPr txBox="true"/>
          <p:nvPr/>
        </p:nvSpPr>
        <p:spPr>
          <a:xfrm rot="0">
            <a:off x="6863363" y="1715843"/>
            <a:ext cx="10569578"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Credit: creator, source (licence)</a:t>
            </a:r>
          </a:p>
        </p:txBody>
      </p:sp>
      <p:sp>
        <p:nvSpPr>
          <p:cNvPr name="AutoShape 9" id="9"/>
          <p:cNvSpPr/>
          <p:nvPr/>
        </p:nvSpPr>
        <p:spPr>
          <a:xfrm rot="2940">
            <a:off x="816454" y="2118122"/>
            <a:ext cx="16668941" cy="0"/>
          </a:xfrm>
          <a:prstGeom prst="line">
            <a:avLst/>
          </a:prstGeom>
          <a:ln cap="rnd" w="19050">
            <a:solidFill>
              <a:srgbClr val="C7C4C3"/>
            </a:solidFill>
            <a:prstDash val="solid"/>
            <a:headEnd type="none" len="sm" w="sm"/>
            <a:tailEnd type="none" len="sm" w="sm"/>
          </a:ln>
        </p:spPr>
      </p:sp>
      <p:sp>
        <p:nvSpPr>
          <p:cNvPr name="TextBox 10" id="10"/>
          <p:cNvSpPr txBox="true"/>
          <p:nvPr/>
        </p:nvSpPr>
        <p:spPr>
          <a:xfrm rot="0">
            <a:off x="823608" y="2255387"/>
            <a:ext cx="1647206" cy="304800"/>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1, 26, 27</a:t>
            </a:r>
          </a:p>
        </p:txBody>
      </p:sp>
      <p:sp>
        <p:nvSpPr>
          <p:cNvPr name="TextBox 11" id="11"/>
          <p:cNvSpPr txBox="true"/>
          <p:nvPr/>
        </p:nvSpPr>
        <p:spPr>
          <a:xfrm rot="0">
            <a:off x="2470814" y="2255387"/>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Neanderthal model</a:t>
            </a:r>
          </a:p>
        </p:txBody>
      </p:sp>
      <p:sp>
        <p:nvSpPr>
          <p:cNvPr name="TextBox 12" id="12"/>
          <p:cNvSpPr txBox="true"/>
          <p:nvPr/>
        </p:nvSpPr>
        <p:spPr>
          <a:xfrm rot="0">
            <a:off x="6863363" y="2255387"/>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Photaro, World History Encyclopedia (CC BY-SA 4.0)</a:t>
            </a:r>
          </a:p>
        </p:txBody>
      </p:sp>
      <p:sp>
        <p:nvSpPr>
          <p:cNvPr name="TextBox 13" id="13"/>
          <p:cNvSpPr txBox="true"/>
          <p:nvPr/>
        </p:nvSpPr>
        <p:spPr>
          <a:xfrm rot="0">
            <a:off x="823608" y="2687774"/>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8</a:t>
            </a:r>
          </a:p>
        </p:txBody>
      </p:sp>
      <p:sp>
        <p:nvSpPr>
          <p:cNvPr name="TextBox 14" id="14"/>
          <p:cNvSpPr txBox="true"/>
          <p:nvPr/>
        </p:nvSpPr>
        <p:spPr>
          <a:xfrm rot="0">
            <a:off x="2470814" y="2687774"/>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Sea urchins</a:t>
            </a:r>
          </a:p>
        </p:txBody>
      </p:sp>
      <p:sp>
        <p:nvSpPr>
          <p:cNvPr name="TextBox 15" id="15"/>
          <p:cNvSpPr txBox="true"/>
          <p:nvPr/>
        </p:nvSpPr>
        <p:spPr>
          <a:xfrm rot="0">
            <a:off x="6863363" y="2687774"/>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UC Irvine Samueli School of Engineering news (no credit given)</a:t>
            </a:r>
          </a:p>
        </p:txBody>
      </p:sp>
      <p:sp>
        <p:nvSpPr>
          <p:cNvPr name="TextBox 16" id="16"/>
          <p:cNvSpPr txBox="true"/>
          <p:nvPr/>
        </p:nvSpPr>
        <p:spPr>
          <a:xfrm rot="0">
            <a:off x="823608" y="3120171"/>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8</a:t>
            </a:r>
          </a:p>
        </p:txBody>
      </p:sp>
      <p:sp>
        <p:nvSpPr>
          <p:cNvPr name="TextBox 17" id="17"/>
          <p:cNvSpPr txBox="true"/>
          <p:nvPr/>
        </p:nvSpPr>
        <p:spPr>
          <a:xfrm rot="0">
            <a:off x="2470814" y="3120171"/>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Vancouver Island marmots</a:t>
            </a:r>
          </a:p>
        </p:txBody>
      </p:sp>
      <p:sp>
        <p:nvSpPr>
          <p:cNvPr name="TextBox 18" id="18"/>
          <p:cNvSpPr txBox="true"/>
          <p:nvPr/>
        </p:nvSpPr>
        <p:spPr>
          <a:xfrm rot="0">
            <a:off x="6863363" y="3120171"/>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Wired (photographer: see credit under photo)</a:t>
            </a:r>
          </a:p>
        </p:txBody>
      </p:sp>
      <p:sp>
        <p:nvSpPr>
          <p:cNvPr name="TextBox 19" id="19"/>
          <p:cNvSpPr txBox="true"/>
          <p:nvPr/>
        </p:nvSpPr>
        <p:spPr>
          <a:xfrm rot="0">
            <a:off x="823608" y="3552558"/>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8</a:t>
            </a:r>
          </a:p>
        </p:txBody>
      </p:sp>
      <p:sp>
        <p:nvSpPr>
          <p:cNvPr name="TextBox 20" id="20"/>
          <p:cNvSpPr txBox="true"/>
          <p:nvPr/>
        </p:nvSpPr>
        <p:spPr>
          <a:xfrm rot="0">
            <a:off x="2470814" y="3552558"/>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African wild dogs</a:t>
            </a:r>
          </a:p>
        </p:txBody>
      </p:sp>
      <p:sp>
        <p:nvSpPr>
          <p:cNvPr name="TextBox 21" id="21"/>
          <p:cNvSpPr txBox="true"/>
          <p:nvPr/>
        </p:nvSpPr>
        <p:spPr>
          <a:xfrm rot="0">
            <a:off x="6863363" y="3552558"/>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Conscious Explorer magazine (no credit given)</a:t>
            </a:r>
          </a:p>
        </p:txBody>
      </p:sp>
      <p:sp>
        <p:nvSpPr>
          <p:cNvPr name="TextBox 22" id="22"/>
          <p:cNvSpPr txBox="true"/>
          <p:nvPr/>
        </p:nvSpPr>
        <p:spPr>
          <a:xfrm rot="0">
            <a:off x="823608" y="3984946"/>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8</a:t>
            </a:r>
          </a:p>
        </p:txBody>
      </p:sp>
      <p:sp>
        <p:nvSpPr>
          <p:cNvPr name="TextBox 23" id="23"/>
          <p:cNvSpPr txBox="true"/>
          <p:nvPr/>
        </p:nvSpPr>
        <p:spPr>
          <a:xfrm rot="0">
            <a:off x="2470814" y="3984946"/>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Bark beetles</a:t>
            </a:r>
          </a:p>
        </p:txBody>
      </p:sp>
      <p:sp>
        <p:nvSpPr>
          <p:cNvPr name="TextBox 24" id="24"/>
          <p:cNvSpPr txBox="true"/>
          <p:nvPr/>
        </p:nvSpPr>
        <p:spPr>
          <a:xfrm rot="0">
            <a:off x="6863363" y="3984946"/>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Crested Butte News (no credit given)</a:t>
            </a:r>
          </a:p>
        </p:txBody>
      </p:sp>
      <p:sp>
        <p:nvSpPr>
          <p:cNvPr name="TextBox 25" id="25"/>
          <p:cNvSpPr txBox="true"/>
          <p:nvPr/>
        </p:nvSpPr>
        <p:spPr>
          <a:xfrm rot="0">
            <a:off x="823608" y="4417343"/>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11</a:t>
            </a:r>
          </a:p>
        </p:txBody>
      </p:sp>
      <p:sp>
        <p:nvSpPr>
          <p:cNvPr name="TextBox 26" id="26"/>
          <p:cNvSpPr txBox="true"/>
          <p:nvPr/>
        </p:nvSpPr>
        <p:spPr>
          <a:xfrm rot="0">
            <a:off x="2470814" y="4417343"/>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African wild dog pups</a:t>
            </a:r>
          </a:p>
        </p:txBody>
      </p:sp>
      <p:sp>
        <p:nvSpPr>
          <p:cNvPr name="TextBox 27" id="27"/>
          <p:cNvSpPr txBox="true"/>
          <p:nvPr/>
        </p:nvSpPr>
        <p:spPr>
          <a:xfrm rot="0">
            <a:off x="6863363" y="4417343"/>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Sabi Sabi Private Game Reserve, via Africa Endeavours</a:t>
            </a:r>
          </a:p>
        </p:txBody>
      </p:sp>
      <p:sp>
        <p:nvSpPr>
          <p:cNvPr name="TextBox 28" id="28"/>
          <p:cNvSpPr txBox="true"/>
          <p:nvPr/>
        </p:nvSpPr>
        <p:spPr>
          <a:xfrm rot="0">
            <a:off x="823608" y="4849730"/>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13</a:t>
            </a:r>
          </a:p>
        </p:txBody>
      </p:sp>
      <p:sp>
        <p:nvSpPr>
          <p:cNvPr name="TextBox 29" id="29"/>
          <p:cNvSpPr txBox="true"/>
          <p:nvPr/>
        </p:nvSpPr>
        <p:spPr>
          <a:xfrm rot="0">
            <a:off x="2470814" y="4849730"/>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Flour beetle (Tribolium)</a:t>
            </a:r>
          </a:p>
        </p:txBody>
      </p:sp>
      <p:sp>
        <p:nvSpPr>
          <p:cNvPr name="TextBox 30" id="30"/>
          <p:cNvSpPr txBox="true"/>
          <p:nvPr/>
        </p:nvSpPr>
        <p:spPr>
          <a:xfrm rot="0">
            <a:off x="6863363" y="4849730"/>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Local Hero pest control blog (no credit given)</a:t>
            </a:r>
          </a:p>
        </p:txBody>
      </p:sp>
      <p:sp>
        <p:nvSpPr>
          <p:cNvPr name="TextBox 31" id="31"/>
          <p:cNvSpPr txBox="true"/>
          <p:nvPr/>
        </p:nvSpPr>
        <p:spPr>
          <a:xfrm rot="0">
            <a:off x="823608" y="5282127"/>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15</a:t>
            </a:r>
          </a:p>
        </p:txBody>
      </p:sp>
      <p:sp>
        <p:nvSpPr>
          <p:cNvPr name="TextBox 32" id="32"/>
          <p:cNvSpPr txBox="true"/>
          <p:nvPr/>
        </p:nvSpPr>
        <p:spPr>
          <a:xfrm rot="0">
            <a:off x="2470814" y="5282127"/>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Gypsy (spongy) moth</a:t>
            </a:r>
          </a:p>
        </p:txBody>
      </p:sp>
      <p:sp>
        <p:nvSpPr>
          <p:cNvPr name="TextBox 33" id="33"/>
          <p:cNvSpPr txBox="true"/>
          <p:nvPr/>
        </p:nvSpPr>
        <p:spPr>
          <a:xfrm rot="0">
            <a:off x="6863363" y="5282127"/>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Tamás Nestor, Butterfly Conservation</a:t>
            </a:r>
          </a:p>
        </p:txBody>
      </p:sp>
      <p:sp>
        <p:nvSpPr>
          <p:cNvPr name="TextBox 34" id="34"/>
          <p:cNvSpPr txBox="true"/>
          <p:nvPr/>
        </p:nvSpPr>
        <p:spPr>
          <a:xfrm rot="0">
            <a:off x="823608" y="5714514"/>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20</a:t>
            </a:r>
          </a:p>
        </p:txBody>
      </p:sp>
      <p:sp>
        <p:nvSpPr>
          <p:cNvPr name="TextBox 35" id="35"/>
          <p:cNvSpPr txBox="true"/>
          <p:nvPr/>
        </p:nvSpPr>
        <p:spPr>
          <a:xfrm rot="0">
            <a:off x="2470814" y="5714514"/>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Water fleas (Daphnia)</a:t>
            </a:r>
          </a:p>
        </p:txBody>
      </p:sp>
      <p:sp>
        <p:nvSpPr>
          <p:cNvPr name="TextBox 36" id="36"/>
          <p:cNvSpPr txBox="true"/>
          <p:nvPr/>
        </p:nvSpPr>
        <p:spPr>
          <a:xfrm rot="0">
            <a:off x="6863363" y="5714514"/>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Stephen Luk, BugGuide (© 2007)</a:t>
            </a:r>
          </a:p>
        </p:txBody>
      </p:sp>
      <p:sp>
        <p:nvSpPr>
          <p:cNvPr name="TextBox 37" id="37"/>
          <p:cNvSpPr txBox="true"/>
          <p:nvPr/>
        </p:nvSpPr>
        <p:spPr>
          <a:xfrm rot="0">
            <a:off x="823608" y="6146911"/>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21</a:t>
            </a:r>
          </a:p>
        </p:txBody>
      </p:sp>
      <p:sp>
        <p:nvSpPr>
          <p:cNvPr name="TextBox 38" id="38"/>
          <p:cNvSpPr txBox="true"/>
          <p:nvPr/>
        </p:nvSpPr>
        <p:spPr>
          <a:xfrm rot="0">
            <a:off x="2470814" y="6146911"/>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Island fox</a:t>
            </a:r>
          </a:p>
        </p:txBody>
      </p:sp>
      <p:sp>
        <p:nvSpPr>
          <p:cNvPr name="TextBox 39" id="39"/>
          <p:cNvSpPr txBox="true"/>
          <p:nvPr/>
        </p:nvSpPr>
        <p:spPr>
          <a:xfrm rot="0">
            <a:off x="6863363" y="6146911"/>
            <a:ext cx="10569578"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Maya Sugarman, KPCC / LAist</a:t>
            </a:r>
          </a:p>
        </p:txBody>
      </p:sp>
      <p:sp>
        <p:nvSpPr>
          <p:cNvPr name="TextBox 40" id="40"/>
          <p:cNvSpPr txBox="true"/>
          <p:nvPr/>
        </p:nvSpPr>
        <p:spPr>
          <a:xfrm rot="0">
            <a:off x="823608" y="6579299"/>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10</a:t>
            </a:r>
          </a:p>
        </p:txBody>
      </p:sp>
      <p:sp>
        <p:nvSpPr>
          <p:cNvPr name="TextBox 41" id="41"/>
          <p:cNvSpPr txBox="true"/>
          <p:nvPr/>
        </p:nvSpPr>
        <p:spPr>
          <a:xfrm rot="0">
            <a:off x="2470814" y="6579299"/>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Elephant icons</a:t>
            </a:r>
          </a:p>
        </p:txBody>
      </p:sp>
      <p:sp>
        <p:nvSpPr>
          <p:cNvPr name="TextBox 42" id="42"/>
          <p:cNvSpPr txBox="true"/>
          <p:nvPr/>
        </p:nvSpPr>
        <p:spPr>
          <a:xfrm rot="0">
            <a:off x="6863363" y="6579299"/>
            <a:ext cx="10569578" cy="304800"/>
          </a:xfrm>
          <a:prstGeom prst="rect">
            <a:avLst/>
          </a:prstGeom>
        </p:spPr>
        <p:txBody>
          <a:bodyPr anchor="t" rtlCol="false" tIns="0" lIns="0" bIns="0" rIns="0">
            <a:spAutoFit/>
          </a:bodyPr>
          <a:lstStyle/>
          <a:p>
            <a:pPr algn="l" marL="0" indent="0" lvl="0">
              <a:lnSpc>
                <a:spcPts val="2341"/>
              </a:lnSpc>
              <a:spcBef>
                <a:spcPct val="0"/>
              </a:spcBef>
            </a:pPr>
            <a:r>
              <a:rPr lang="en-US" sz="1951" strike="noStrike" u="none">
                <a:solidFill>
                  <a:srgbClr val="232E2D"/>
                </a:solidFill>
                <a:latin typeface="Inter"/>
                <a:ea typeface="Inter"/>
                <a:cs typeface="Inter"/>
                <a:sym typeface="Inter"/>
              </a:rPr>
              <a:t>Canva</a:t>
            </a:r>
          </a:p>
        </p:txBody>
      </p:sp>
      <p:sp>
        <p:nvSpPr>
          <p:cNvPr name="TextBox 43" id="43"/>
          <p:cNvSpPr txBox="true"/>
          <p:nvPr/>
        </p:nvSpPr>
        <p:spPr>
          <a:xfrm rot="0">
            <a:off x="823608" y="7011695"/>
            <a:ext cx="1647206"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2, 5, 6</a:t>
            </a:r>
          </a:p>
        </p:txBody>
      </p:sp>
      <p:sp>
        <p:nvSpPr>
          <p:cNvPr name="TextBox 44" id="44"/>
          <p:cNvSpPr txBox="true"/>
          <p:nvPr/>
        </p:nvSpPr>
        <p:spPr>
          <a:xfrm rot="0">
            <a:off x="2470814" y="7011695"/>
            <a:ext cx="4392549" cy="421329"/>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Base map of Europe</a:t>
            </a:r>
          </a:p>
        </p:txBody>
      </p:sp>
      <p:sp>
        <p:nvSpPr>
          <p:cNvPr name="TextBox 45" id="45"/>
          <p:cNvSpPr txBox="true"/>
          <p:nvPr/>
        </p:nvSpPr>
        <p:spPr>
          <a:xfrm rot="0">
            <a:off x="6863363" y="7011695"/>
            <a:ext cx="10569578" cy="600075"/>
          </a:xfrm>
          <a:prstGeom prst="rect">
            <a:avLst/>
          </a:prstGeom>
        </p:spPr>
        <p:txBody>
          <a:bodyPr anchor="t" rtlCol="false" tIns="0" lIns="0" bIns="0" rIns="0">
            <a:spAutoFit/>
          </a:bodyPr>
          <a:lstStyle/>
          <a:p>
            <a:pPr algn="l">
              <a:lnSpc>
                <a:spcPts val="2341"/>
              </a:lnSpc>
            </a:pPr>
            <a:r>
              <a:rPr lang="en-US" sz="1951">
                <a:solidFill>
                  <a:srgbClr val="232E2D"/>
                </a:solidFill>
                <a:latin typeface="Inter"/>
                <a:ea typeface="Inter"/>
                <a:cs typeface="Inter"/>
                <a:sym typeface="Inter"/>
              </a:rPr>
              <a:t>Natural Earth (public domain); Drawn with AI assistance (Claude)</a:t>
            </a:r>
          </a:p>
          <a:p>
            <a:pPr algn="l">
              <a:lnSpc>
                <a:spcPts val="2341"/>
              </a:lnSpc>
            </a:pPr>
          </a:p>
        </p:txBody>
      </p:sp>
      <p:sp>
        <p:nvSpPr>
          <p:cNvPr name="AutoShape 46" id="46"/>
          <p:cNvSpPr/>
          <p:nvPr/>
        </p:nvSpPr>
        <p:spPr>
          <a:xfrm>
            <a:off x="816457" y="7657992"/>
            <a:ext cx="16668934" cy="14255"/>
          </a:xfrm>
          <a:prstGeom prst="line">
            <a:avLst/>
          </a:prstGeom>
          <a:ln cap="rnd" w="19050">
            <a:solidFill>
              <a:srgbClr val="C7C4C3"/>
            </a:solidFill>
            <a:prstDash val="solid"/>
            <a:headEnd type="none" len="sm" w="sm"/>
            <a:tailEnd type="none" len="sm" w="sm"/>
          </a:ln>
        </p:spPr>
      </p:sp>
      <p:sp>
        <p:nvSpPr>
          <p:cNvPr name="TextBox 47" id="47"/>
          <p:cNvSpPr txBox="true"/>
          <p:nvPr/>
        </p:nvSpPr>
        <p:spPr>
          <a:xfrm rot="0">
            <a:off x="823608" y="7909122"/>
            <a:ext cx="16654634" cy="970384"/>
          </a:xfrm>
          <a:prstGeom prst="rect">
            <a:avLst/>
          </a:prstGeom>
        </p:spPr>
        <p:txBody>
          <a:bodyPr anchor="t" rtlCol="false" tIns="0" lIns="0" bIns="0" rIns="0">
            <a:spAutoFit/>
          </a:bodyPr>
          <a:lstStyle/>
          <a:p>
            <a:pPr algn="l">
              <a:lnSpc>
                <a:spcPts val="2576"/>
              </a:lnSpc>
            </a:pPr>
            <a:r>
              <a:rPr lang="en-US" sz="1951" b="true">
                <a:solidFill>
                  <a:srgbClr val="232E2D"/>
                </a:solidFill>
                <a:latin typeface="Inter Bold"/>
                <a:ea typeface="Inter Bold"/>
                <a:cs typeface="Inter Bold"/>
                <a:sym typeface="Inter Bold"/>
              </a:rPr>
              <a:t>AI use. </a:t>
            </a:r>
            <a:r>
              <a:rPr lang="en-US" sz="1951">
                <a:solidFill>
                  <a:srgbClr val="232E2D"/>
                </a:solidFill>
                <a:latin typeface="Inter"/>
                <a:ea typeface="Inter"/>
                <a:cs typeface="Inter"/>
                <a:sym typeface="Inter"/>
              </a:rPr>
              <a:t>We used Claude to reconstruct the charts marked “Drawn with AI assistance (Claude)” from the published figures and models named in each footer. The group checked every reconstruction against the original figure. We also used AI to help us find papers, organize our sources (and keep track of them for our reference slide), and double check the facts in our final product against the papers we used.</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59105"/>
            <a:ext cx="8229600" cy="617220"/>
            <a:chOff x="0" y="0"/>
            <a:chExt cx="10972800" cy="822960"/>
          </a:xfrm>
        </p:grpSpPr>
        <p:sp>
          <p:nvSpPr>
            <p:cNvPr name="Freeform 4" id="4"/>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2">
                <a:alphaModFix amt="0"/>
              </a:blip>
              <a:stretch>
                <a:fillRect l="0" t="-209800" r="0" b="-209800"/>
              </a:stretch>
            </a:blipFill>
          </p:spPr>
        </p:sp>
        <p:sp>
          <p:nvSpPr>
            <p:cNvPr name="TextBox 5" id="5"/>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Study guide: key terms</a:t>
              </a:r>
            </a:p>
          </p:txBody>
        </p:sp>
      </p:grpSp>
      <p:sp>
        <p:nvSpPr>
          <p:cNvPr name="TextBox 6" id="6"/>
          <p:cNvSpPr txBox="true"/>
          <p:nvPr/>
        </p:nvSpPr>
        <p:spPr>
          <a:xfrm rot="0">
            <a:off x="14732889" y="600875"/>
            <a:ext cx="2745343" cy="549069"/>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1 / 3</a:t>
            </a:r>
          </a:p>
        </p:txBody>
      </p:sp>
      <p:sp>
        <p:nvSpPr>
          <p:cNvPr name="AutoShape 7" id="7"/>
          <p:cNvSpPr/>
          <p:nvPr/>
        </p:nvSpPr>
        <p:spPr>
          <a:xfrm rot="2939">
            <a:off x="816454" y="9260776"/>
            <a:ext cx="16668941" cy="0"/>
          </a:xfrm>
          <a:prstGeom prst="line">
            <a:avLst/>
          </a:prstGeom>
          <a:ln cap="rnd" w="9525">
            <a:solidFill>
              <a:srgbClr val="C7C4C3"/>
            </a:solidFill>
            <a:prstDash val="solid"/>
            <a:headEnd type="none" len="sm" w="sm"/>
            <a:tailEnd type="none" len="sm" w="sm"/>
          </a:ln>
        </p:spPr>
      </p:sp>
      <p:sp>
        <p:nvSpPr>
          <p:cNvPr name="TextBox 8" id="8"/>
          <p:cNvSpPr txBox="true"/>
          <p:nvPr/>
        </p:nvSpPr>
        <p:spPr>
          <a:xfrm rot="0">
            <a:off x="823608" y="9393279"/>
            <a:ext cx="16609333" cy="558594"/>
          </a:xfrm>
          <a:prstGeom prst="rect">
            <a:avLst/>
          </a:prstGeom>
        </p:spPr>
        <p:txBody>
          <a:bodyPr anchor="t" rtlCol="false" tIns="0" lIns="0" bIns="0" rIns="0">
            <a:spAutoFit/>
          </a:bodyPr>
          <a:lstStyle/>
          <a:p>
            <a:pPr algn="l">
              <a:lnSpc>
                <a:spcPts val="1981"/>
              </a:lnSpc>
            </a:pPr>
            <a:r>
              <a:rPr lang="en-US" sz="1651">
                <a:solidFill>
                  <a:srgbClr val="717C7A"/>
                </a:solidFill>
                <a:latin typeface="Inter"/>
                <a:ea typeface="Inter"/>
                <a:cs typeface="Inter"/>
                <a:sym typeface="Inter"/>
              </a:rPr>
              <a:t>Sources: Stephens et al. 1999  ·  Angulo et al. 2013  ·  Brashares et al. 2010  ·  Angulo et al. 2007  ·  Liebhold &amp; Bascompte 2003  ·  Kuussaari et al. 1998</a:t>
            </a:r>
          </a:p>
        </p:txBody>
      </p:sp>
      <p:sp>
        <p:nvSpPr>
          <p:cNvPr name="TextBox 9" id="9"/>
          <p:cNvSpPr txBox="true"/>
          <p:nvPr/>
        </p:nvSpPr>
        <p:spPr>
          <a:xfrm rot="0">
            <a:off x="823608" y="1647206"/>
            <a:ext cx="3500314" cy="974598"/>
          </a:xfrm>
          <a:prstGeom prst="rect">
            <a:avLst/>
          </a:prstGeom>
        </p:spPr>
        <p:txBody>
          <a:bodyPr anchor="t" rtlCol="false" tIns="0" lIns="0" bIns="0" rIns="0">
            <a:spAutoFit/>
          </a:bodyPr>
          <a:lstStyle/>
          <a:p>
            <a:pPr algn="l">
              <a:lnSpc>
                <a:spcPts val="2882"/>
              </a:lnSpc>
            </a:pPr>
            <a:r>
              <a:rPr lang="en-US" sz="2401">
                <a:solidFill>
                  <a:srgbClr val="232E2D"/>
                </a:solidFill>
                <a:latin typeface="Source Serif Pro"/>
                <a:ea typeface="Source Serif Pro"/>
                <a:cs typeface="Source Serif Pro"/>
                <a:sym typeface="Source Serif Pro"/>
              </a:rPr>
              <a:t>Allee effect</a:t>
            </a:r>
          </a:p>
        </p:txBody>
      </p:sp>
      <p:sp>
        <p:nvSpPr>
          <p:cNvPr name="TextBox 10" id="10"/>
          <p:cNvSpPr txBox="true"/>
          <p:nvPr/>
        </p:nvSpPr>
        <p:spPr>
          <a:xfrm rot="0">
            <a:off x="4529823" y="1628156"/>
            <a:ext cx="5902490" cy="106228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The smaller the population, the lower each individual’s chance of surviving or reproducing.</a:t>
            </a:r>
          </a:p>
        </p:txBody>
      </p:sp>
      <p:sp>
        <p:nvSpPr>
          <p:cNvPr name="AutoShape 11" id="11"/>
          <p:cNvSpPr/>
          <p:nvPr/>
        </p:nvSpPr>
        <p:spPr>
          <a:xfrm rot="5100">
            <a:off x="816445" y="2685679"/>
            <a:ext cx="9623012" cy="0"/>
          </a:xfrm>
          <a:prstGeom prst="line">
            <a:avLst/>
          </a:prstGeom>
          <a:ln cap="rnd" w="9525">
            <a:solidFill>
              <a:srgbClr val="C7C4C3"/>
            </a:solidFill>
            <a:prstDash val="solid"/>
            <a:headEnd type="none" len="sm" w="sm"/>
            <a:tailEnd type="none" len="sm" w="sm"/>
          </a:ln>
        </p:spPr>
      </p:sp>
      <p:sp>
        <p:nvSpPr>
          <p:cNvPr name="TextBox 12" id="12"/>
          <p:cNvSpPr txBox="true"/>
          <p:nvPr/>
        </p:nvSpPr>
        <p:spPr>
          <a:xfrm rot="0">
            <a:off x="823608" y="2827706"/>
            <a:ext cx="3500314" cy="974598"/>
          </a:xfrm>
          <a:prstGeom prst="rect">
            <a:avLst/>
          </a:prstGeom>
        </p:spPr>
        <p:txBody>
          <a:bodyPr anchor="t" rtlCol="false" tIns="0" lIns="0" bIns="0" rIns="0">
            <a:spAutoFit/>
          </a:bodyPr>
          <a:lstStyle/>
          <a:p>
            <a:pPr algn="l">
              <a:lnSpc>
                <a:spcPts val="2882"/>
              </a:lnSpc>
            </a:pPr>
            <a:r>
              <a:rPr lang="en-US" sz="2401">
                <a:solidFill>
                  <a:srgbClr val="232E2D"/>
                </a:solidFill>
                <a:latin typeface="Source Serif Pro"/>
                <a:ea typeface="Source Serif Pro"/>
                <a:cs typeface="Source Serif Pro"/>
                <a:sym typeface="Source Serif Pro"/>
              </a:rPr>
              <a:t>Component Allee effect</a:t>
            </a:r>
          </a:p>
        </p:txBody>
      </p:sp>
      <p:sp>
        <p:nvSpPr>
          <p:cNvPr name="TextBox 13" id="13"/>
          <p:cNvSpPr txBox="true"/>
          <p:nvPr/>
        </p:nvSpPr>
        <p:spPr>
          <a:xfrm rot="0">
            <a:off x="4529823" y="2808656"/>
            <a:ext cx="5902490" cy="106228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One part of fitness, like pup survival or mating success, gets worse at low numbers.</a:t>
            </a:r>
          </a:p>
          <a:p>
            <a:pPr algn="l">
              <a:lnSpc>
                <a:spcPts val="2269"/>
              </a:lnSpc>
            </a:pPr>
            <a:r>
              <a:rPr lang="en-US" sz="1801">
                <a:solidFill>
                  <a:srgbClr val="717C7A"/>
                </a:solidFill>
                <a:latin typeface="Inter"/>
                <a:ea typeface="Inter"/>
                <a:cs typeface="Inter"/>
                <a:sym typeface="Inter"/>
              </a:rPr>
              <a:t>Example: African wild dogs</a:t>
            </a:r>
          </a:p>
        </p:txBody>
      </p:sp>
      <p:sp>
        <p:nvSpPr>
          <p:cNvPr name="AutoShape 14" id="14"/>
          <p:cNvSpPr/>
          <p:nvPr/>
        </p:nvSpPr>
        <p:spPr>
          <a:xfrm rot="5099">
            <a:off x="816445" y="3866169"/>
            <a:ext cx="9623012" cy="0"/>
          </a:xfrm>
          <a:prstGeom prst="line">
            <a:avLst/>
          </a:prstGeom>
          <a:ln cap="rnd" w="9525">
            <a:solidFill>
              <a:srgbClr val="C7C4C3"/>
            </a:solidFill>
            <a:prstDash val="solid"/>
            <a:headEnd type="none" len="sm" w="sm"/>
            <a:tailEnd type="none" len="sm" w="sm"/>
          </a:ln>
        </p:spPr>
      </p:sp>
      <p:sp>
        <p:nvSpPr>
          <p:cNvPr name="TextBox 15" id="15"/>
          <p:cNvSpPr txBox="true"/>
          <p:nvPr/>
        </p:nvSpPr>
        <p:spPr>
          <a:xfrm rot="0">
            <a:off x="823608" y="4008206"/>
            <a:ext cx="3500314" cy="974598"/>
          </a:xfrm>
          <a:prstGeom prst="rect">
            <a:avLst/>
          </a:prstGeom>
        </p:spPr>
        <p:txBody>
          <a:bodyPr anchor="t" rtlCol="false" tIns="0" lIns="0" bIns="0" rIns="0">
            <a:spAutoFit/>
          </a:bodyPr>
          <a:lstStyle/>
          <a:p>
            <a:pPr algn="l">
              <a:lnSpc>
                <a:spcPts val="2882"/>
              </a:lnSpc>
            </a:pPr>
            <a:r>
              <a:rPr lang="en-US" sz="2401">
                <a:solidFill>
                  <a:srgbClr val="232E2D"/>
                </a:solidFill>
                <a:latin typeface="Source Serif Pro"/>
                <a:ea typeface="Source Serif Pro"/>
                <a:cs typeface="Source Serif Pro"/>
                <a:sym typeface="Source Serif Pro"/>
              </a:rPr>
              <a:t>Demographic Allee effect</a:t>
            </a:r>
          </a:p>
        </p:txBody>
      </p:sp>
      <p:sp>
        <p:nvSpPr>
          <p:cNvPr name="TextBox 16" id="16"/>
          <p:cNvSpPr txBox="true"/>
          <p:nvPr/>
        </p:nvSpPr>
        <p:spPr>
          <a:xfrm rot="0">
            <a:off x="4529823" y="3989156"/>
            <a:ext cx="5902490" cy="106228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The costs add up: growth per individual of the whole population falls at low numbers.</a:t>
            </a:r>
          </a:p>
          <a:p>
            <a:pPr algn="l">
              <a:lnSpc>
                <a:spcPts val="2269"/>
              </a:lnSpc>
            </a:pPr>
            <a:r>
              <a:rPr lang="en-US" sz="1801">
                <a:solidFill>
                  <a:srgbClr val="717C7A"/>
                </a:solidFill>
                <a:latin typeface="Inter"/>
                <a:ea typeface="Inter"/>
                <a:cs typeface="Inter"/>
                <a:sym typeface="Inter"/>
              </a:rPr>
              <a:t>Example: Vancouver Island marmots</a:t>
            </a:r>
          </a:p>
        </p:txBody>
      </p:sp>
      <p:sp>
        <p:nvSpPr>
          <p:cNvPr name="AutoShape 17" id="17"/>
          <p:cNvSpPr/>
          <p:nvPr/>
        </p:nvSpPr>
        <p:spPr>
          <a:xfrm rot="5100">
            <a:off x="816445" y="5046669"/>
            <a:ext cx="9623012" cy="0"/>
          </a:xfrm>
          <a:prstGeom prst="line">
            <a:avLst/>
          </a:prstGeom>
          <a:ln cap="rnd" w="9525">
            <a:solidFill>
              <a:srgbClr val="C7C4C3"/>
            </a:solidFill>
            <a:prstDash val="solid"/>
            <a:headEnd type="none" len="sm" w="sm"/>
            <a:tailEnd type="none" len="sm" w="sm"/>
          </a:ln>
        </p:spPr>
      </p:sp>
      <p:sp>
        <p:nvSpPr>
          <p:cNvPr name="TextBox 18" id="18"/>
          <p:cNvSpPr txBox="true"/>
          <p:nvPr/>
        </p:nvSpPr>
        <p:spPr>
          <a:xfrm rot="0">
            <a:off x="823608" y="5188706"/>
            <a:ext cx="3500314" cy="974598"/>
          </a:xfrm>
          <a:prstGeom prst="rect">
            <a:avLst/>
          </a:prstGeom>
        </p:spPr>
        <p:txBody>
          <a:bodyPr anchor="t" rtlCol="false" tIns="0" lIns="0" bIns="0" rIns="0">
            <a:spAutoFit/>
          </a:bodyPr>
          <a:lstStyle/>
          <a:p>
            <a:pPr algn="l">
              <a:lnSpc>
                <a:spcPts val="2882"/>
              </a:lnSpc>
            </a:pPr>
            <a:r>
              <a:rPr lang="en-US" sz="2401">
                <a:solidFill>
                  <a:srgbClr val="232E2D"/>
                </a:solidFill>
                <a:latin typeface="Source Serif Pro"/>
                <a:ea typeface="Source Serif Pro"/>
                <a:cs typeface="Source Serif Pro"/>
                <a:sym typeface="Source Serif Pro"/>
              </a:rPr>
              <a:t>Weak Allee effect</a:t>
            </a:r>
          </a:p>
        </p:txBody>
      </p:sp>
      <p:sp>
        <p:nvSpPr>
          <p:cNvPr name="TextBox 19" id="19"/>
          <p:cNvSpPr txBox="true"/>
          <p:nvPr/>
        </p:nvSpPr>
        <p:spPr>
          <a:xfrm rot="0">
            <a:off x="4529823" y="5169656"/>
            <a:ext cx="5902490" cy="106228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Small populations grow more slowly, but growth stays positive. No threshold.</a:t>
            </a:r>
          </a:p>
          <a:p>
            <a:pPr algn="l">
              <a:lnSpc>
                <a:spcPts val="2269"/>
              </a:lnSpc>
            </a:pPr>
            <a:r>
              <a:rPr lang="en-US" sz="1801">
                <a:solidFill>
                  <a:srgbClr val="717C7A"/>
                </a:solidFill>
                <a:latin typeface="Inter"/>
                <a:ea typeface="Inter"/>
                <a:cs typeface="Inter"/>
                <a:sym typeface="Inter"/>
              </a:rPr>
              <a:t>Example: Channel Island foxes</a:t>
            </a:r>
          </a:p>
        </p:txBody>
      </p:sp>
      <p:sp>
        <p:nvSpPr>
          <p:cNvPr name="AutoShape 20" id="20"/>
          <p:cNvSpPr/>
          <p:nvPr/>
        </p:nvSpPr>
        <p:spPr>
          <a:xfrm rot="5100">
            <a:off x="816445" y="6227169"/>
            <a:ext cx="9623012" cy="0"/>
          </a:xfrm>
          <a:prstGeom prst="line">
            <a:avLst/>
          </a:prstGeom>
          <a:ln cap="rnd" w="9525">
            <a:solidFill>
              <a:srgbClr val="C7C4C3"/>
            </a:solidFill>
            <a:prstDash val="solid"/>
            <a:headEnd type="none" len="sm" w="sm"/>
            <a:tailEnd type="none" len="sm" w="sm"/>
          </a:ln>
        </p:spPr>
      </p:sp>
      <p:sp>
        <p:nvSpPr>
          <p:cNvPr name="TextBox 21" id="21"/>
          <p:cNvSpPr txBox="true"/>
          <p:nvPr/>
        </p:nvSpPr>
        <p:spPr>
          <a:xfrm rot="0">
            <a:off x="823608" y="6369196"/>
            <a:ext cx="3500314" cy="974598"/>
          </a:xfrm>
          <a:prstGeom prst="rect">
            <a:avLst/>
          </a:prstGeom>
        </p:spPr>
        <p:txBody>
          <a:bodyPr anchor="t" rtlCol="false" tIns="0" lIns="0" bIns="0" rIns="0">
            <a:spAutoFit/>
          </a:bodyPr>
          <a:lstStyle/>
          <a:p>
            <a:pPr algn="l">
              <a:lnSpc>
                <a:spcPts val="2882"/>
              </a:lnSpc>
            </a:pPr>
            <a:r>
              <a:rPr lang="en-US" sz="2401">
                <a:solidFill>
                  <a:srgbClr val="232E2D"/>
                </a:solidFill>
                <a:latin typeface="Source Serif Pro"/>
                <a:ea typeface="Source Serif Pro"/>
                <a:cs typeface="Source Serif Pro"/>
                <a:sym typeface="Source Serif Pro"/>
              </a:rPr>
              <a:t>Strong Allee effect</a:t>
            </a:r>
          </a:p>
        </p:txBody>
      </p:sp>
      <p:sp>
        <p:nvSpPr>
          <p:cNvPr name="TextBox 22" id="22"/>
          <p:cNvSpPr txBox="true"/>
          <p:nvPr/>
        </p:nvSpPr>
        <p:spPr>
          <a:xfrm rot="0">
            <a:off x="4529823" y="6350146"/>
            <a:ext cx="5902490" cy="106228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Below a critical size, the Allee threshold, growth turns negative: more die than are born.</a:t>
            </a:r>
          </a:p>
          <a:p>
            <a:pPr algn="l">
              <a:lnSpc>
                <a:spcPts val="2269"/>
              </a:lnSpc>
            </a:pPr>
            <a:r>
              <a:rPr lang="en-US" sz="1801">
                <a:solidFill>
                  <a:srgbClr val="717C7A"/>
                </a:solidFill>
                <a:latin typeface="Inter"/>
                <a:ea typeface="Inter"/>
                <a:cs typeface="Inter"/>
                <a:sym typeface="Inter"/>
              </a:rPr>
              <a:t>Example: Gypsy moth, ≈107 males per colony</a:t>
            </a:r>
          </a:p>
        </p:txBody>
      </p:sp>
      <p:sp>
        <p:nvSpPr>
          <p:cNvPr name="AutoShape 23" id="23"/>
          <p:cNvSpPr/>
          <p:nvPr/>
        </p:nvSpPr>
        <p:spPr>
          <a:xfrm rot="5100">
            <a:off x="816445" y="7407669"/>
            <a:ext cx="9623012" cy="0"/>
          </a:xfrm>
          <a:prstGeom prst="line">
            <a:avLst/>
          </a:prstGeom>
          <a:ln cap="rnd" w="9525">
            <a:solidFill>
              <a:srgbClr val="C7C4C3"/>
            </a:solidFill>
            <a:prstDash val="solid"/>
            <a:headEnd type="none" len="sm" w="sm"/>
            <a:tailEnd type="none" len="sm" w="sm"/>
          </a:ln>
        </p:spPr>
      </p:sp>
      <p:sp>
        <p:nvSpPr>
          <p:cNvPr name="TextBox 24" id="24"/>
          <p:cNvSpPr txBox="true"/>
          <p:nvPr/>
        </p:nvSpPr>
        <p:spPr>
          <a:xfrm rot="0">
            <a:off x="823608" y="7549696"/>
            <a:ext cx="3500314" cy="974598"/>
          </a:xfrm>
          <a:prstGeom prst="rect">
            <a:avLst/>
          </a:prstGeom>
        </p:spPr>
        <p:txBody>
          <a:bodyPr anchor="t" rtlCol="false" tIns="0" lIns="0" bIns="0" rIns="0">
            <a:spAutoFit/>
          </a:bodyPr>
          <a:lstStyle/>
          <a:p>
            <a:pPr algn="l">
              <a:lnSpc>
                <a:spcPts val="2882"/>
              </a:lnSpc>
            </a:pPr>
            <a:r>
              <a:rPr lang="en-US" sz="2401">
                <a:solidFill>
                  <a:srgbClr val="232E2D"/>
                </a:solidFill>
                <a:latin typeface="Source Serif Pro"/>
                <a:ea typeface="Source Serif Pro"/>
                <a:cs typeface="Source Serif Pro"/>
                <a:sym typeface="Source Serif Pro"/>
              </a:rPr>
              <a:t>Rescue effect</a:t>
            </a:r>
          </a:p>
        </p:txBody>
      </p:sp>
      <p:sp>
        <p:nvSpPr>
          <p:cNvPr name="TextBox 25" id="25"/>
          <p:cNvSpPr txBox="true"/>
          <p:nvPr/>
        </p:nvSpPr>
        <p:spPr>
          <a:xfrm rot="0">
            <a:off x="4529823" y="7530646"/>
            <a:ext cx="5902490" cy="106228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Immigrants from connected populations top up a small one. Isolated ones get no rescue.</a:t>
            </a:r>
          </a:p>
          <a:p>
            <a:pPr algn="l">
              <a:lnSpc>
                <a:spcPts val="2269"/>
              </a:lnSpc>
            </a:pPr>
            <a:r>
              <a:rPr lang="en-US" sz="1801">
                <a:solidFill>
                  <a:srgbClr val="717C7A"/>
                </a:solidFill>
                <a:latin typeface="Inter"/>
                <a:ea typeface="Inter"/>
                <a:cs typeface="Inter"/>
                <a:sym typeface="Inter"/>
              </a:rPr>
              <a:t>Example: Glanville fritillary</a:t>
            </a:r>
          </a:p>
        </p:txBody>
      </p:sp>
      <p:sp>
        <p:nvSpPr>
          <p:cNvPr name="TextBox 26" id="26"/>
          <p:cNvSpPr txBox="true"/>
          <p:nvPr/>
        </p:nvSpPr>
        <p:spPr>
          <a:xfrm rot="0">
            <a:off x="11255912" y="1578569"/>
            <a:ext cx="6177029"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Growth per individual</a:t>
            </a:r>
          </a:p>
        </p:txBody>
      </p:sp>
      <p:sp>
        <p:nvSpPr>
          <p:cNvPr name="AutoShape 27" id="27"/>
          <p:cNvSpPr/>
          <p:nvPr/>
        </p:nvSpPr>
        <p:spPr>
          <a:xfrm rot="5389500">
            <a:off x="9395641" y="4456424"/>
            <a:ext cx="4681404" cy="0"/>
          </a:xfrm>
          <a:prstGeom prst="line">
            <a:avLst/>
          </a:prstGeom>
          <a:ln cap="rnd" w="9525">
            <a:solidFill>
              <a:srgbClr val="C7C4C3"/>
            </a:solidFill>
            <a:prstDash val="solid"/>
            <a:headEnd type="none" len="sm" w="sm"/>
            <a:tailEnd type="none" len="sm" w="sm"/>
          </a:ln>
        </p:spPr>
      </p:sp>
      <p:sp>
        <p:nvSpPr>
          <p:cNvPr name="AutoShape 28" id="28"/>
          <p:cNvSpPr/>
          <p:nvPr/>
        </p:nvSpPr>
        <p:spPr>
          <a:xfrm rot="8939">
            <a:off x="11729190" y="5389836"/>
            <a:ext cx="5505002" cy="0"/>
          </a:xfrm>
          <a:prstGeom prst="line">
            <a:avLst/>
          </a:prstGeom>
          <a:ln cap="rnd" w="9525">
            <a:solidFill>
              <a:srgbClr val="717C7A"/>
            </a:solidFill>
            <a:prstDash val="solid"/>
            <a:headEnd type="none" len="sm" w="sm"/>
            <a:tailEnd type="none" len="sm" w="sm"/>
          </a:ln>
        </p:spPr>
      </p:sp>
      <p:sp>
        <p:nvSpPr>
          <p:cNvPr name="TextBox 29" id="29"/>
          <p:cNvSpPr txBox="true"/>
          <p:nvPr/>
        </p:nvSpPr>
        <p:spPr>
          <a:xfrm rot="0">
            <a:off x="11255912" y="5243608"/>
            <a:ext cx="384353"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0</a:t>
            </a:r>
          </a:p>
        </p:txBody>
      </p:sp>
      <p:sp>
        <p:nvSpPr>
          <p:cNvPr name="TextBox 30" id="30"/>
          <p:cNvSpPr txBox="true"/>
          <p:nvPr/>
        </p:nvSpPr>
        <p:spPr>
          <a:xfrm rot="0">
            <a:off x="14207157" y="6904539"/>
            <a:ext cx="3019882" cy="343167"/>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Population size →</a:t>
            </a:r>
          </a:p>
        </p:txBody>
      </p:sp>
      <p:sp>
        <p:nvSpPr>
          <p:cNvPr name="Freeform 31" id="31"/>
          <p:cNvSpPr/>
          <p:nvPr/>
        </p:nvSpPr>
        <p:spPr>
          <a:xfrm flipH="false" flipV="false" rot="0">
            <a:off x="11725523" y="2573122"/>
            <a:ext cx="5512346" cy="2842708"/>
          </a:xfrm>
          <a:custGeom>
            <a:avLst/>
            <a:gdLst/>
            <a:ahLst/>
            <a:cxnLst/>
            <a:rect r="r" b="b" t="t" l="l"/>
            <a:pathLst>
              <a:path h="2842708" w="5512346">
                <a:moveTo>
                  <a:pt x="0" y="0"/>
                </a:moveTo>
                <a:lnTo>
                  <a:pt x="5512346" y="0"/>
                </a:lnTo>
                <a:lnTo>
                  <a:pt x="5512346" y="2842707"/>
                </a:lnTo>
                <a:lnTo>
                  <a:pt x="0" y="28427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2" id="32"/>
          <p:cNvSpPr/>
          <p:nvPr/>
        </p:nvSpPr>
        <p:spPr>
          <a:xfrm flipH="false" flipV="false" rot="0">
            <a:off x="11714864" y="3786940"/>
            <a:ext cx="5523338" cy="1628708"/>
          </a:xfrm>
          <a:custGeom>
            <a:avLst/>
            <a:gdLst/>
            <a:ahLst/>
            <a:cxnLst/>
            <a:rect r="r" b="b" t="t" l="l"/>
            <a:pathLst>
              <a:path h="1628708" w="5523338">
                <a:moveTo>
                  <a:pt x="0" y="0"/>
                </a:moveTo>
                <a:lnTo>
                  <a:pt x="5523338" y="0"/>
                </a:lnTo>
                <a:lnTo>
                  <a:pt x="5523338" y="1628708"/>
                </a:lnTo>
                <a:lnTo>
                  <a:pt x="0" y="16287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3" id="33"/>
          <p:cNvSpPr/>
          <p:nvPr/>
        </p:nvSpPr>
        <p:spPr>
          <a:xfrm flipH="false" flipV="false" rot="0">
            <a:off x="12043867" y="4683824"/>
            <a:ext cx="5192354" cy="1968475"/>
          </a:xfrm>
          <a:custGeom>
            <a:avLst/>
            <a:gdLst/>
            <a:ahLst/>
            <a:cxnLst/>
            <a:rect r="r" b="b" t="t" l="l"/>
            <a:pathLst>
              <a:path h="1968475" w="5192354">
                <a:moveTo>
                  <a:pt x="0" y="0"/>
                </a:moveTo>
                <a:lnTo>
                  <a:pt x="5192354" y="0"/>
                </a:lnTo>
                <a:lnTo>
                  <a:pt x="5192354" y="1968474"/>
                </a:lnTo>
                <a:lnTo>
                  <a:pt x="0" y="19684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4" id="34"/>
          <p:cNvSpPr txBox="true"/>
          <p:nvPr/>
        </p:nvSpPr>
        <p:spPr>
          <a:xfrm rot="0">
            <a:off x="12010882" y="2155098"/>
            <a:ext cx="2196274" cy="343167"/>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No Allee effect</a:t>
            </a:r>
          </a:p>
        </p:txBody>
      </p:sp>
      <p:sp>
        <p:nvSpPr>
          <p:cNvPr name="TextBox 35" id="35"/>
          <p:cNvSpPr txBox="true"/>
          <p:nvPr/>
        </p:nvSpPr>
        <p:spPr>
          <a:xfrm rot="0">
            <a:off x="12491323" y="3308404"/>
            <a:ext cx="1647206" cy="343167"/>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Weak</a:t>
            </a:r>
          </a:p>
        </p:txBody>
      </p:sp>
      <p:sp>
        <p:nvSpPr>
          <p:cNvPr name="TextBox 36" id="36"/>
          <p:cNvSpPr txBox="true"/>
          <p:nvPr/>
        </p:nvSpPr>
        <p:spPr>
          <a:xfrm rot="0">
            <a:off x="14207157" y="4214108"/>
            <a:ext cx="1647206" cy="343167"/>
          </a:xfrm>
          <a:prstGeom prst="rect">
            <a:avLst/>
          </a:prstGeom>
        </p:spPr>
        <p:txBody>
          <a:bodyPr anchor="t" rtlCol="false" tIns="0" lIns="0" bIns="0" rIns="0">
            <a:spAutoFit/>
          </a:bodyPr>
          <a:lstStyle/>
          <a:p>
            <a:pPr algn="l">
              <a:lnSpc>
                <a:spcPts val="2161"/>
              </a:lnSpc>
            </a:pPr>
            <a:r>
              <a:rPr lang="en-US" sz="1801">
                <a:solidFill>
                  <a:srgbClr val="232E2D"/>
                </a:solidFill>
                <a:latin typeface="Inter"/>
                <a:ea typeface="Inter"/>
                <a:cs typeface="Inter"/>
                <a:sym typeface="Inter"/>
              </a:rPr>
              <a:t>Strong</a:t>
            </a:r>
          </a:p>
        </p:txBody>
      </p:sp>
      <p:grpSp>
        <p:nvGrpSpPr>
          <p:cNvPr name="Group 37" id="37"/>
          <p:cNvGrpSpPr/>
          <p:nvPr/>
        </p:nvGrpSpPr>
        <p:grpSpPr>
          <a:xfrm rot="0">
            <a:off x="12752127" y="5312245"/>
            <a:ext cx="164725" cy="164725"/>
            <a:chOff x="0" y="0"/>
            <a:chExt cx="219634" cy="219634"/>
          </a:xfrm>
        </p:grpSpPr>
        <p:sp>
          <p:nvSpPr>
            <p:cNvPr name="Freeform 38" id="38"/>
            <p:cNvSpPr/>
            <p:nvPr/>
          </p:nvSpPr>
          <p:spPr>
            <a:xfrm flipH="false" flipV="false" rot="0">
              <a:off x="0" y="0"/>
              <a:ext cx="219710" cy="219710"/>
            </a:xfrm>
            <a:custGeom>
              <a:avLst/>
              <a:gdLst/>
              <a:ahLst/>
              <a:cxnLst/>
              <a:rect r="r" b="b" t="t" l="l"/>
              <a:pathLst>
                <a:path h="219710" w="219710">
                  <a:moveTo>
                    <a:pt x="0" y="109855"/>
                  </a:moveTo>
                  <a:cubicBezTo>
                    <a:pt x="0" y="49149"/>
                    <a:pt x="49149" y="0"/>
                    <a:pt x="109855" y="0"/>
                  </a:cubicBezTo>
                  <a:cubicBezTo>
                    <a:pt x="170561" y="0"/>
                    <a:pt x="219710" y="49149"/>
                    <a:pt x="219710" y="109855"/>
                  </a:cubicBezTo>
                  <a:cubicBezTo>
                    <a:pt x="219710" y="170561"/>
                    <a:pt x="170561" y="219710"/>
                    <a:pt x="109855" y="219710"/>
                  </a:cubicBezTo>
                  <a:cubicBezTo>
                    <a:pt x="49149" y="219710"/>
                    <a:pt x="0" y="170434"/>
                    <a:pt x="0" y="109855"/>
                  </a:cubicBezTo>
                  <a:close/>
                </a:path>
              </a:pathLst>
            </a:custGeom>
            <a:solidFill>
              <a:srgbClr val="232E2D"/>
            </a:solidFill>
          </p:spPr>
        </p:sp>
      </p:grpSp>
      <p:sp>
        <p:nvSpPr>
          <p:cNvPr name="TextBox 39" id="39"/>
          <p:cNvSpPr txBox="true"/>
          <p:nvPr/>
        </p:nvSpPr>
        <p:spPr>
          <a:xfrm rot="0">
            <a:off x="12999206" y="5504412"/>
            <a:ext cx="2608078" cy="686333"/>
          </a:xfrm>
          <a:prstGeom prst="rect">
            <a:avLst/>
          </a:prstGeom>
        </p:spPr>
        <p:txBody>
          <a:bodyPr anchor="t" rtlCol="false" tIns="0" lIns="0" bIns="0" rIns="0">
            <a:spAutoFit/>
          </a:bodyPr>
          <a:lstStyle/>
          <a:p>
            <a:pPr algn="l">
              <a:lnSpc>
                <a:spcPts val="2161"/>
              </a:lnSpc>
            </a:pPr>
            <a:r>
              <a:rPr lang="en-US" sz="1801">
                <a:solidFill>
                  <a:srgbClr val="232E2D"/>
                </a:solidFill>
                <a:latin typeface="Inter"/>
                <a:ea typeface="Inter"/>
                <a:cs typeface="Inter"/>
                <a:sym typeface="Inter"/>
              </a:rPr>
              <a:t>Allee threshold</a:t>
            </a:r>
          </a:p>
          <a:p>
            <a:pPr algn="l">
              <a:lnSpc>
                <a:spcPts val="2161"/>
              </a:lnSpc>
            </a:pPr>
            <a:r>
              <a:rPr lang="en-US" sz="1801">
                <a:solidFill>
                  <a:srgbClr val="717C7A"/>
                </a:solidFill>
                <a:latin typeface="Inter"/>
                <a:ea typeface="Inter"/>
                <a:cs typeface="Inter"/>
                <a:sym typeface="Inter"/>
              </a:rPr>
              <a:t>below it, growth &lt; 0</a:t>
            </a:r>
          </a:p>
        </p:txBody>
      </p:sp>
      <p:sp>
        <p:nvSpPr>
          <p:cNvPr name="TextBox 40" id="40"/>
          <p:cNvSpPr txBox="true"/>
          <p:nvPr/>
        </p:nvSpPr>
        <p:spPr>
          <a:xfrm rot="0">
            <a:off x="11255912" y="7343794"/>
            <a:ext cx="6177029"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Schematic, not data. Drawn with AI assistance (Claude)</a:t>
            </a:r>
          </a:p>
        </p:txBody>
      </p:sp>
      <p:grpSp>
        <p:nvGrpSpPr>
          <p:cNvPr name="Group 41" id="41"/>
          <p:cNvGrpSpPr/>
          <p:nvPr/>
        </p:nvGrpSpPr>
        <p:grpSpPr>
          <a:xfrm rot="0">
            <a:off x="11255912" y="7824235"/>
            <a:ext cx="6218206" cy="1166774"/>
            <a:chOff x="0" y="0"/>
            <a:chExt cx="8290941" cy="1555699"/>
          </a:xfrm>
        </p:grpSpPr>
        <p:sp>
          <p:nvSpPr>
            <p:cNvPr name="Freeform 42" id="42"/>
            <p:cNvSpPr/>
            <p:nvPr/>
          </p:nvSpPr>
          <p:spPr>
            <a:xfrm flipH="false" flipV="false" rot="0">
              <a:off x="0" y="0"/>
              <a:ext cx="8290941" cy="1555750"/>
            </a:xfrm>
            <a:custGeom>
              <a:avLst/>
              <a:gdLst/>
              <a:ahLst/>
              <a:cxnLst/>
              <a:rect r="r" b="b" t="t" l="l"/>
              <a:pathLst>
                <a:path h="1555750" w="8290941">
                  <a:moveTo>
                    <a:pt x="127000" y="0"/>
                  </a:moveTo>
                  <a:lnTo>
                    <a:pt x="8163941" y="0"/>
                  </a:lnTo>
                  <a:cubicBezTo>
                    <a:pt x="8197624" y="0"/>
                    <a:pt x="8229926" y="13380"/>
                    <a:pt x="8253743" y="37197"/>
                  </a:cubicBezTo>
                  <a:cubicBezTo>
                    <a:pt x="8277561" y="61015"/>
                    <a:pt x="8290941" y="93318"/>
                    <a:pt x="8290941" y="127000"/>
                  </a:cubicBezTo>
                  <a:lnTo>
                    <a:pt x="8290941" y="1428750"/>
                  </a:lnTo>
                  <a:cubicBezTo>
                    <a:pt x="8290941" y="1498890"/>
                    <a:pt x="8234081" y="1555750"/>
                    <a:pt x="8163941" y="1555750"/>
                  </a:cubicBezTo>
                  <a:lnTo>
                    <a:pt x="127000" y="1555750"/>
                  </a:lnTo>
                  <a:cubicBezTo>
                    <a:pt x="56860" y="1555750"/>
                    <a:pt x="0" y="1498890"/>
                    <a:pt x="0" y="1428750"/>
                  </a:cubicBezTo>
                  <a:lnTo>
                    <a:pt x="0" y="127000"/>
                  </a:lnTo>
                  <a:cubicBezTo>
                    <a:pt x="0" y="56860"/>
                    <a:pt x="56860" y="0"/>
                    <a:pt x="127000" y="0"/>
                  </a:cubicBezTo>
                  <a:close/>
                </a:path>
              </a:pathLst>
            </a:custGeom>
            <a:solidFill>
              <a:srgbClr val="E7E4E0"/>
            </a:solidFill>
          </p:spPr>
        </p:sp>
      </p:grpSp>
      <p:sp>
        <p:nvSpPr>
          <p:cNvPr name="TextBox 43" id="43"/>
          <p:cNvSpPr txBox="true"/>
          <p:nvPr/>
        </p:nvSpPr>
        <p:spPr>
          <a:xfrm rot="0">
            <a:off x="11530451" y="7951975"/>
            <a:ext cx="5696588" cy="970397"/>
          </a:xfrm>
          <a:prstGeom prst="rect">
            <a:avLst/>
          </a:prstGeom>
        </p:spPr>
        <p:txBody>
          <a:bodyPr anchor="t" rtlCol="false" tIns="0" lIns="0" bIns="0" rIns="0">
            <a:spAutoFit/>
          </a:bodyPr>
          <a:lstStyle/>
          <a:p>
            <a:pPr algn="l">
              <a:lnSpc>
                <a:spcPts val="2269"/>
              </a:lnSpc>
            </a:pPr>
            <a:r>
              <a:rPr lang="en-US" sz="1801">
                <a:solidFill>
                  <a:srgbClr val="232E2D"/>
                </a:solidFill>
                <a:latin typeface="Inter"/>
                <a:ea typeface="Inter"/>
                <a:cs typeface="Inter"/>
                <a:sym typeface="Inter"/>
              </a:rPr>
              <a:t>Being few also means less competition. A cost to individuals only shows up in the population if it outweighs that.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59105"/>
            <a:ext cx="8229600" cy="617220"/>
            <a:chOff x="0" y="0"/>
            <a:chExt cx="10972800" cy="822960"/>
          </a:xfrm>
        </p:grpSpPr>
        <p:sp>
          <p:nvSpPr>
            <p:cNvPr name="Freeform 4" id="4"/>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2">
                <a:alphaModFix amt="0"/>
              </a:blip>
              <a:stretch>
                <a:fillRect l="0" t="-209800" r="0" b="-209800"/>
              </a:stretch>
            </a:blipFill>
          </p:spPr>
        </p:sp>
        <p:sp>
          <p:nvSpPr>
            <p:cNvPr name="TextBox 5" id="5"/>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Study guide: how to spot each one</a:t>
              </a:r>
            </a:p>
          </p:txBody>
        </p:sp>
      </p:grpSp>
      <p:sp>
        <p:nvSpPr>
          <p:cNvPr name="TextBox 6" id="6"/>
          <p:cNvSpPr txBox="true"/>
          <p:nvPr/>
        </p:nvSpPr>
        <p:spPr>
          <a:xfrm rot="0">
            <a:off x="14732889" y="600875"/>
            <a:ext cx="2745343" cy="266700"/>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2 / 3</a:t>
            </a:r>
          </a:p>
        </p:txBody>
      </p:sp>
      <p:sp>
        <p:nvSpPr>
          <p:cNvPr name="AutoShape 7" id="7"/>
          <p:cNvSpPr/>
          <p:nvPr/>
        </p:nvSpPr>
        <p:spPr>
          <a:xfrm rot="2939">
            <a:off x="816454" y="9260776"/>
            <a:ext cx="16668941" cy="0"/>
          </a:xfrm>
          <a:prstGeom prst="line">
            <a:avLst/>
          </a:prstGeom>
          <a:ln cap="rnd" w="9525">
            <a:solidFill>
              <a:srgbClr val="C7C4C3"/>
            </a:solidFill>
            <a:prstDash val="solid"/>
            <a:headEnd type="none" len="sm" w="sm"/>
            <a:tailEnd type="none" len="sm" w="sm"/>
          </a:ln>
        </p:spPr>
      </p:sp>
      <p:sp>
        <p:nvSpPr>
          <p:cNvPr name="TextBox 8" id="8"/>
          <p:cNvSpPr txBox="true"/>
          <p:nvPr/>
        </p:nvSpPr>
        <p:spPr>
          <a:xfrm rot="0">
            <a:off x="823608" y="9393279"/>
            <a:ext cx="16609333" cy="558594"/>
          </a:xfrm>
          <a:prstGeom prst="rect">
            <a:avLst/>
          </a:prstGeom>
        </p:spPr>
        <p:txBody>
          <a:bodyPr anchor="t" rtlCol="false" tIns="0" lIns="0" bIns="0" rIns="0">
            <a:spAutoFit/>
          </a:bodyPr>
          <a:lstStyle/>
          <a:p>
            <a:pPr algn="l">
              <a:lnSpc>
                <a:spcPts val="1981"/>
              </a:lnSpc>
            </a:pPr>
            <a:r>
              <a:rPr lang="en-US" sz="1651">
                <a:solidFill>
                  <a:srgbClr val="717C7A"/>
                </a:solidFill>
                <a:latin typeface="Inter"/>
                <a:ea typeface="Inter"/>
                <a:cs typeface="Inter"/>
                <a:sym typeface="Inter"/>
              </a:rPr>
              <a:t>Sources: Angulo et al. 2013  ·  Brashares et al. 2010  ·  Angulo et al. 2007  ·  Liebhold &amp; Bascompte 2003  ·  Kuussaari et al. 1998  ·  Grumbach &amp; Hilker 2025</a:t>
            </a:r>
          </a:p>
        </p:txBody>
      </p:sp>
      <p:sp>
        <p:nvSpPr>
          <p:cNvPr name="TextBox 9" id="9"/>
          <p:cNvSpPr txBox="true"/>
          <p:nvPr/>
        </p:nvSpPr>
        <p:spPr>
          <a:xfrm rot="0">
            <a:off x="823608" y="1647206"/>
            <a:ext cx="2745343"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Concept</a:t>
            </a:r>
          </a:p>
        </p:txBody>
      </p:sp>
      <p:sp>
        <p:nvSpPr>
          <p:cNvPr name="TextBox 10" id="10"/>
          <p:cNvSpPr txBox="true"/>
          <p:nvPr/>
        </p:nvSpPr>
        <p:spPr>
          <a:xfrm rot="0">
            <a:off x="3568951" y="1647206"/>
            <a:ext cx="4323921"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Plot against population size</a:t>
            </a:r>
          </a:p>
        </p:txBody>
      </p:sp>
      <p:sp>
        <p:nvSpPr>
          <p:cNvPr name="TextBox 11" id="11"/>
          <p:cNvSpPr txBox="true"/>
          <p:nvPr/>
        </p:nvSpPr>
        <p:spPr>
          <a:xfrm rot="0">
            <a:off x="7892863" y="1647206"/>
            <a:ext cx="4049382"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What you would see</a:t>
            </a:r>
          </a:p>
        </p:txBody>
      </p:sp>
      <p:sp>
        <p:nvSpPr>
          <p:cNvPr name="TextBox 12" id="12"/>
          <p:cNvSpPr txBox="true"/>
          <p:nvPr/>
        </p:nvSpPr>
        <p:spPr>
          <a:xfrm rot="0">
            <a:off x="11942245" y="1647206"/>
            <a:ext cx="5531872"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Example from our talk</a:t>
            </a:r>
          </a:p>
        </p:txBody>
      </p:sp>
      <p:sp>
        <p:nvSpPr>
          <p:cNvPr name="AutoShape 13" id="13"/>
          <p:cNvSpPr/>
          <p:nvPr/>
        </p:nvSpPr>
        <p:spPr>
          <a:xfrm rot="2940">
            <a:off x="816454" y="2026796"/>
            <a:ext cx="16668941" cy="0"/>
          </a:xfrm>
          <a:prstGeom prst="line">
            <a:avLst/>
          </a:prstGeom>
          <a:ln cap="rnd" w="9525">
            <a:solidFill>
              <a:srgbClr val="C7C4C3"/>
            </a:solidFill>
            <a:prstDash val="solid"/>
            <a:headEnd type="none" len="sm" w="sm"/>
            <a:tailEnd type="none" len="sm" w="sm"/>
          </a:ln>
        </p:spPr>
      </p:sp>
      <p:sp>
        <p:nvSpPr>
          <p:cNvPr name="TextBox 14" id="14"/>
          <p:cNvSpPr txBox="true"/>
          <p:nvPr/>
        </p:nvSpPr>
        <p:spPr>
          <a:xfrm rot="0">
            <a:off x="823608" y="2177224"/>
            <a:ext cx="2539441" cy="1034825"/>
          </a:xfrm>
          <a:prstGeom prst="rect">
            <a:avLst/>
          </a:prstGeom>
        </p:spPr>
        <p:txBody>
          <a:bodyPr anchor="t" rtlCol="false" tIns="0" lIns="0" bIns="0" rIns="0">
            <a:spAutoFit/>
          </a:bodyPr>
          <a:lstStyle/>
          <a:p>
            <a:pPr algn="l">
              <a:lnSpc>
                <a:spcPts val="3215"/>
              </a:lnSpc>
            </a:pPr>
            <a:r>
              <a:rPr lang="en-US" sz="2551">
                <a:solidFill>
                  <a:srgbClr val="232E2D"/>
                </a:solidFill>
                <a:latin typeface="Source Serif Pro"/>
                <a:ea typeface="Source Serif Pro"/>
                <a:cs typeface="Source Serif Pro"/>
                <a:sym typeface="Source Serif Pro"/>
              </a:rPr>
              <a:t>Component</a:t>
            </a:r>
          </a:p>
        </p:txBody>
      </p:sp>
      <p:sp>
        <p:nvSpPr>
          <p:cNvPr name="TextBox 15" id="15"/>
          <p:cNvSpPr txBox="true"/>
          <p:nvPr/>
        </p:nvSpPr>
        <p:spPr>
          <a:xfrm rot="0">
            <a:off x="3568951" y="2177224"/>
            <a:ext cx="4118019"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One fitness measure (survival, mating success, pups per adult)</a:t>
            </a:r>
          </a:p>
        </p:txBody>
      </p:sp>
      <p:sp>
        <p:nvSpPr>
          <p:cNvPr name="TextBox 16" id="16"/>
          <p:cNvSpPr txBox="true"/>
          <p:nvPr/>
        </p:nvSpPr>
        <p:spPr>
          <a:xfrm rot="0">
            <a:off x="7892863" y="2177224"/>
            <a:ext cx="384348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Rises with group or population size</a:t>
            </a:r>
          </a:p>
        </p:txBody>
      </p:sp>
      <p:sp>
        <p:nvSpPr>
          <p:cNvPr name="TextBox 17" id="17"/>
          <p:cNvSpPr txBox="true"/>
          <p:nvPr/>
        </p:nvSpPr>
        <p:spPr>
          <a:xfrm rot="0">
            <a:off x="11942245" y="2177224"/>
            <a:ext cx="532597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Wild dogs: pup survival rose with pack size up to ≈12, with no population-level effect</a:t>
            </a:r>
          </a:p>
        </p:txBody>
      </p:sp>
      <p:sp>
        <p:nvSpPr>
          <p:cNvPr name="AutoShape 18" id="18"/>
          <p:cNvSpPr/>
          <p:nvPr/>
        </p:nvSpPr>
        <p:spPr>
          <a:xfrm rot="2939">
            <a:off x="816454" y="3179836"/>
            <a:ext cx="16668940" cy="0"/>
          </a:xfrm>
          <a:prstGeom prst="line">
            <a:avLst/>
          </a:prstGeom>
          <a:ln cap="rnd" w="9525">
            <a:solidFill>
              <a:srgbClr val="C7C4C3"/>
            </a:solidFill>
            <a:prstDash val="solid"/>
            <a:headEnd type="none" len="sm" w="sm"/>
            <a:tailEnd type="none" len="sm" w="sm"/>
          </a:ln>
        </p:spPr>
      </p:sp>
      <p:sp>
        <p:nvSpPr>
          <p:cNvPr name="TextBox 19" id="19"/>
          <p:cNvSpPr txBox="true"/>
          <p:nvPr/>
        </p:nvSpPr>
        <p:spPr>
          <a:xfrm rot="0">
            <a:off x="823608" y="3330273"/>
            <a:ext cx="2539441" cy="1034825"/>
          </a:xfrm>
          <a:prstGeom prst="rect">
            <a:avLst/>
          </a:prstGeom>
        </p:spPr>
        <p:txBody>
          <a:bodyPr anchor="t" rtlCol="false" tIns="0" lIns="0" bIns="0" rIns="0">
            <a:spAutoFit/>
          </a:bodyPr>
          <a:lstStyle/>
          <a:p>
            <a:pPr algn="l">
              <a:lnSpc>
                <a:spcPts val="3215"/>
              </a:lnSpc>
            </a:pPr>
            <a:r>
              <a:rPr lang="en-US" sz="2551">
                <a:solidFill>
                  <a:srgbClr val="232E2D"/>
                </a:solidFill>
                <a:latin typeface="Source Serif Pro"/>
                <a:ea typeface="Source Serif Pro"/>
                <a:cs typeface="Source Serif Pro"/>
                <a:sym typeface="Source Serif Pro"/>
              </a:rPr>
              <a:t>Demographic</a:t>
            </a:r>
          </a:p>
        </p:txBody>
      </p:sp>
      <p:sp>
        <p:nvSpPr>
          <p:cNvPr name="TextBox 20" id="20"/>
          <p:cNvSpPr txBox="true"/>
          <p:nvPr/>
        </p:nvSpPr>
        <p:spPr>
          <a:xfrm rot="0">
            <a:off x="3568951" y="3330273"/>
            <a:ext cx="4118019"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Growth per individual of the whole population</a:t>
            </a:r>
          </a:p>
        </p:txBody>
      </p:sp>
      <p:sp>
        <p:nvSpPr>
          <p:cNvPr name="TextBox 21" id="21"/>
          <p:cNvSpPr txBox="true"/>
          <p:nvPr/>
        </p:nvSpPr>
        <p:spPr>
          <a:xfrm rot="0">
            <a:off x="7892863" y="3330273"/>
            <a:ext cx="384348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Lower growth at smaller sizes</a:t>
            </a:r>
          </a:p>
        </p:txBody>
      </p:sp>
      <p:sp>
        <p:nvSpPr>
          <p:cNvPr name="TextBox 22" id="22"/>
          <p:cNvSpPr txBox="true"/>
          <p:nvPr/>
        </p:nvSpPr>
        <p:spPr>
          <a:xfrm rot="0">
            <a:off x="11942245" y="3330273"/>
            <a:ext cx="532597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Marmots: growth went negative at small sizes (38 years of counts; correlational)</a:t>
            </a:r>
          </a:p>
        </p:txBody>
      </p:sp>
      <p:sp>
        <p:nvSpPr>
          <p:cNvPr name="AutoShape 23" id="23"/>
          <p:cNvSpPr/>
          <p:nvPr/>
        </p:nvSpPr>
        <p:spPr>
          <a:xfrm rot="2939">
            <a:off x="816454" y="4332884"/>
            <a:ext cx="16668940" cy="0"/>
          </a:xfrm>
          <a:prstGeom prst="line">
            <a:avLst/>
          </a:prstGeom>
          <a:ln cap="rnd" w="9525">
            <a:solidFill>
              <a:srgbClr val="C7C4C3"/>
            </a:solidFill>
            <a:prstDash val="solid"/>
            <a:headEnd type="none" len="sm" w="sm"/>
            <a:tailEnd type="none" len="sm" w="sm"/>
          </a:ln>
        </p:spPr>
      </p:sp>
      <p:sp>
        <p:nvSpPr>
          <p:cNvPr name="TextBox 24" id="24"/>
          <p:cNvSpPr txBox="true"/>
          <p:nvPr/>
        </p:nvSpPr>
        <p:spPr>
          <a:xfrm rot="0">
            <a:off x="823608" y="4483313"/>
            <a:ext cx="2539441" cy="1034825"/>
          </a:xfrm>
          <a:prstGeom prst="rect">
            <a:avLst/>
          </a:prstGeom>
        </p:spPr>
        <p:txBody>
          <a:bodyPr anchor="t" rtlCol="false" tIns="0" lIns="0" bIns="0" rIns="0">
            <a:spAutoFit/>
          </a:bodyPr>
          <a:lstStyle/>
          <a:p>
            <a:pPr algn="l">
              <a:lnSpc>
                <a:spcPts val="3215"/>
              </a:lnSpc>
            </a:pPr>
            <a:r>
              <a:rPr lang="en-US" sz="2551">
                <a:solidFill>
                  <a:srgbClr val="232E2D"/>
                </a:solidFill>
                <a:latin typeface="Source Serif Pro"/>
                <a:ea typeface="Source Serif Pro"/>
                <a:cs typeface="Source Serif Pro"/>
                <a:sym typeface="Source Serif Pro"/>
              </a:rPr>
              <a:t>Weak</a:t>
            </a:r>
          </a:p>
        </p:txBody>
      </p:sp>
      <p:sp>
        <p:nvSpPr>
          <p:cNvPr name="TextBox 25" id="25"/>
          <p:cNvSpPr txBox="true"/>
          <p:nvPr/>
        </p:nvSpPr>
        <p:spPr>
          <a:xfrm rot="0">
            <a:off x="3568951" y="4483313"/>
            <a:ext cx="4118019"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Growth per individual at low numbers</a:t>
            </a:r>
          </a:p>
        </p:txBody>
      </p:sp>
      <p:sp>
        <p:nvSpPr>
          <p:cNvPr name="TextBox 26" id="26"/>
          <p:cNvSpPr txBox="true"/>
          <p:nvPr/>
        </p:nvSpPr>
        <p:spPr>
          <a:xfrm rot="0">
            <a:off x="7892863" y="4483313"/>
            <a:ext cx="384348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Reduced, but still above zero</a:t>
            </a:r>
          </a:p>
        </p:txBody>
      </p:sp>
      <p:sp>
        <p:nvSpPr>
          <p:cNvPr name="TextBox 27" id="27"/>
          <p:cNvSpPr txBox="true"/>
          <p:nvPr/>
        </p:nvSpPr>
        <p:spPr>
          <a:xfrm rot="0">
            <a:off x="11942245" y="4483313"/>
            <a:ext cx="532597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Island foxes: costs beat bigger litters, so small populations grew more slowly</a:t>
            </a:r>
          </a:p>
        </p:txBody>
      </p:sp>
      <p:sp>
        <p:nvSpPr>
          <p:cNvPr name="AutoShape 28" id="28"/>
          <p:cNvSpPr/>
          <p:nvPr/>
        </p:nvSpPr>
        <p:spPr>
          <a:xfrm rot="2940">
            <a:off x="816454" y="5485924"/>
            <a:ext cx="16668940" cy="0"/>
          </a:xfrm>
          <a:prstGeom prst="line">
            <a:avLst/>
          </a:prstGeom>
          <a:ln cap="rnd" w="9525">
            <a:solidFill>
              <a:srgbClr val="C7C4C3"/>
            </a:solidFill>
            <a:prstDash val="solid"/>
            <a:headEnd type="none" len="sm" w="sm"/>
            <a:tailEnd type="none" len="sm" w="sm"/>
          </a:ln>
        </p:spPr>
      </p:sp>
      <p:sp>
        <p:nvSpPr>
          <p:cNvPr name="TextBox 29" id="29"/>
          <p:cNvSpPr txBox="true"/>
          <p:nvPr/>
        </p:nvSpPr>
        <p:spPr>
          <a:xfrm rot="0">
            <a:off x="823608" y="5636362"/>
            <a:ext cx="2539441" cy="1034825"/>
          </a:xfrm>
          <a:prstGeom prst="rect">
            <a:avLst/>
          </a:prstGeom>
        </p:spPr>
        <p:txBody>
          <a:bodyPr anchor="t" rtlCol="false" tIns="0" lIns="0" bIns="0" rIns="0">
            <a:spAutoFit/>
          </a:bodyPr>
          <a:lstStyle/>
          <a:p>
            <a:pPr algn="l">
              <a:lnSpc>
                <a:spcPts val="3215"/>
              </a:lnSpc>
            </a:pPr>
            <a:r>
              <a:rPr lang="en-US" sz="2551">
                <a:solidFill>
                  <a:srgbClr val="232E2D"/>
                </a:solidFill>
                <a:latin typeface="Source Serif Pro"/>
                <a:ea typeface="Source Serif Pro"/>
                <a:cs typeface="Source Serif Pro"/>
                <a:sym typeface="Source Serif Pro"/>
              </a:rPr>
              <a:t>Strong</a:t>
            </a:r>
          </a:p>
        </p:txBody>
      </p:sp>
      <p:sp>
        <p:nvSpPr>
          <p:cNvPr name="TextBox 30" id="30"/>
          <p:cNvSpPr txBox="true"/>
          <p:nvPr/>
        </p:nvSpPr>
        <p:spPr>
          <a:xfrm rot="0">
            <a:off x="3568951" y="5636362"/>
            <a:ext cx="4118019"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Where growth per individual crosses zero</a:t>
            </a:r>
          </a:p>
        </p:txBody>
      </p:sp>
      <p:sp>
        <p:nvSpPr>
          <p:cNvPr name="TextBox 31" id="31"/>
          <p:cNvSpPr txBox="true"/>
          <p:nvPr/>
        </p:nvSpPr>
        <p:spPr>
          <a:xfrm rot="0">
            <a:off x="7892863" y="5636362"/>
            <a:ext cx="384348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Negative below a threshold</a:t>
            </a:r>
          </a:p>
        </p:txBody>
      </p:sp>
      <p:sp>
        <p:nvSpPr>
          <p:cNvPr name="TextBox 32" id="32"/>
          <p:cNvSpPr txBox="true"/>
          <p:nvPr/>
        </p:nvSpPr>
        <p:spPr>
          <a:xfrm rot="0">
            <a:off x="11942245" y="5636362"/>
            <a:ext cx="532597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Gypsy moth: growth negative below ≈107 males trapped per colony</a:t>
            </a:r>
          </a:p>
        </p:txBody>
      </p:sp>
      <p:sp>
        <p:nvSpPr>
          <p:cNvPr name="AutoShape 33" id="33"/>
          <p:cNvSpPr/>
          <p:nvPr/>
        </p:nvSpPr>
        <p:spPr>
          <a:xfrm rot="2939">
            <a:off x="816454" y="6638973"/>
            <a:ext cx="16668940" cy="0"/>
          </a:xfrm>
          <a:prstGeom prst="line">
            <a:avLst/>
          </a:prstGeom>
          <a:ln cap="rnd" w="9525">
            <a:solidFill>
              <a:srgbClr val="C7C4C3"/>
            </a:solidFill>
            <a:prstDash val="solid"/>
            <a:headEnd type="none" len="sm" w="sm"/>
            <a:tailEnd type="none" len="sm" w="sm"/>
          </a:ln>
        </p:spPr>
      </p:sp>
      <p:sp>
        <p:nvSpPr>
          <p:cNvPr name="TextBox 34" id="34"/>
          <p:cNvSpPr txBox="true"/>
          <p:nvPr/>
        </p:nvSpPr>
        <p:spPr>
          <a:xfrm rot="0">
            <a:off x="823608" y="6789401"/>
            <a:ext cx="2539441" cy="1034825"/>
          </a:xfrm>
          <a:prstGeom prst="rect">
            <a:avLst/>
          </a:prstGeom>
        </p:spPr>
        <p:txBody>
          <a:bodyPr anchor="t" rtlCol="false" tIns="0" lIns="0" bIns="0" rIns="0">
            <a:spAutoFit/>
          </a:bodyPr>
          <a:lstStyle/>
          <a:p>
            <a:pPr algn="l">
              <a:lnSpc>
                <a:spcPts val="3215"/>
              </a:lnSpc>
            </a:pPr>
            <a:r>
              <a:rPr lang="en-US" sz="2551">
                <a:solidFill>
                  <a:srgbClr val="232E2D"/>
                </a:solidFill>
                <a:latin typeface="Source Serif Pro"/>
                <a:ea typeface="Source Serif Pro"/>
                <a:cs typeface="Source Serif Pro"/>
                <a:sym typeface="Source Serif Pro"/>
              </a:rPr>
              <a:t>Rescue</a:t>
            </a:r>
          </a:p>
        </p:txBody>
      </p:sp>
      <p:sp>
        <p:nvSpPr>
          <p:cNvPr name="TextBox 35" id="35"/>
          <p:cNvSpPr txBox="true"/>
          <p:nvPr/>
        </p:nvSpPr>
        <p:spPr>
          <a:xfrm rot="0">
            <a:off x="3568951" y="6789401"/>
            <a:ext cx="4118019"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Connected vs isolated small populations</a:t>
            </a:r>
          </a:p>
        </p:txBody>
      </p:sp>
      <p:sp>
        <p:nvSpPr>
          <p:cNvPr name="TextBox 36" id="36"/>
          <p:cNvSpPr txBox="true"/>
          <p:nvPr/>
        </p:nvSpPr>
        <p:spPr>
          <a:xfrm rot="0">
            <a:off x="7892863" y="6789401"/>
            <a:ext cx="384348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Isolated ones do worse; no gap when large</a:t>
            </a:r>
          </a:p>
        </p:txBody>
      </p:sp>
      <p:sp>
        <p:nvSpPr>
          <p:cNvPr name="TextBox 37" id="37"/>
          <p:cNvSpPr txBox="true"/>
          <p:nvPr/>
        </p:nvSpPr>
        <p:spPr>
          <a:xfrm rot="0">
            <a:off x="11942245" y="6789401"/>
            <a:ext cx="5325970" cy="1034825"/>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Glanville fritillary: one-larval-group populations did worse when isolated</a:t>
            </a:r>
          </a:p>
        </p:txBody>
      </p:sp>
      <p:grpSp>
        <p:nvGrpSpPr>
          <p:cNvPr name="Group 38" id="38"/>
          <p:cNvGrpSpPr/>
          <p:nvPr/>
        </p:nvGrpSpPr>
        <p:grpSpPr>
          <a:xfrm rot="0">
            <a:off x="823608" y="8167402"/>
            <a:ext cx="16654634" cy="892235"/>
            <a:chOff x="0" y="0"/>
            <a:chExt cx="22206179" cy="1189647"/>
          </a:xfrm>
        </p:grpSpPr>
        <p:sp>
          <p:nvSpPr>
            <p:cNvPr name="Freeform 39" id="39"/>
            <p:cNvSpPr/>
            <p:nvPr/>
          </p:nvSpPr>
          <p:spPr>
            <a:xfrm flipH="false" flipV="false" rot="0">
              <a:off x="0" y="0"/>
              <a:ext cx="22206204" cy="1189609"/>
            </a:xfrm>
            <a:custGeom>
              <a:avLst/>
              <a:gdLst/>
              <a:ahLst/>
              <a:cxnLst/>
              <a:rect r="r" b="b" t="t" l="l"/>
              <a:pathLst>
                <a:path h="1189609" w="22206204">
                  <a:moveTo>
                    <a:pt x="127000" y="0"/>
                  </a:moveTo>
                  <a:lnTo>
                    <a:pt x="22079204" y="0"/>
                  </a:lnTo>
                  <a:cubicBezTo>
                    <a:pt x="22149344" y="0"/>
                    <a:pt x="22206204" y="56860"/>
                    <a:pt x="22206204" y="127000"/>
                  </a:cubicBezTo>
                  <a:lnTo>
                    <a:pt x="22206204" y="1062609"/>
                  </a:lnTo>
                  <a:cubicBezTo>
                    <a:pt x="22206204" y="1096292"/>
                    <a:pt x="22192824" y="1128594"/>
                    <a:pt x="22169007" y="1152412"/>
                  </a:cubicBezTo>
                  <a:cubicBezTo>
                    <a:pt x="22145189" y="1176229"/>
                    <a:pt x="22112887" y="1189609"/>
                    <a:pt x="22079204" y="1189609"/>
                  </a:cubicBezTo>
                  <a:lnTo>
                    <a:pt x="127000" y="1189609"/>
                  </a:lnTo>
                  <a:cubicBezTo>
                    <a:pt x="56860" y="1189609"/>
                    <a:pt x="0" y="1132749"/>
                    <a:pt x="0" y="1062609"/>
                  </a:cubicBezTo>
                  <a:lnTo>
                    <a:pt x="0" y="127000"/>
                  </a:lnTo>
                  <a:cubicBezTo>
                    <a:pt x="0" y="56860"/>
                    <a:pt x="56860" y="0"/>
                    <a:pt x="127000" y="0"/>
                  </a:cubicBezTo>
                  <a:close/>
                </a:path>
              </a:pathLst>
            </a:custGeom>
            <a:solidFill>
              <a:srgbClr val="E7E4E0"/>
            </a:solidFill>
          </p:spPr>
        </p:sp>
      </p:grpSp>
      <p:grpSp>
        <p:nvGrpSpPr>
          <p:cNvPr name="Group 40" id="40"/>
          <p:cNvGrpSpPr/>
          <p:nvPr/>
        </p:nvGrpSpPr>
        <p:grpSpPr>
          <a:xfrm rot="0">
            <a:off x="1098137" y="8236039"/>
            <a:ext cx="16197539" cy="754970"/>
            <a:chOff x="0" y="0"/>
            <a:chExt cx="21596718" cy="1006626"/>
          </a:xfrm>
        </p:grpSpPr>
        <p:sp>
          <p:nvSpPr>
            <p:cNvPr name="Freeform 41" id="41"/>
            <p:cNvSpPr/>
            <p:nvPr/>
          </p:nvSpPr>
          <p:spPr>
            <a:xfrm flipH="false" flipV="false" rot="0">
              <a:off x="0" y="0"/>
              <a:ext cx="21596713" cy="1006625"/>
            </a:xfrm>
            <a:custGeom>
              <a:avLst/>
              <a:gdLst/>
              <a:ahLst/>
              <a:cxnLst/>
              <a:rect r="r" b="b" t="t" l="l"/>
              <a:pathLst>
                <a:path h="1006625" w="21596713">
                  <a:moveTo>
                    <a:pt x="0" y="0"/>
                  </a:moveTo>
                  <a:lnTo>
                    <a:pt x="21596713" y="0"/>
                  </a:lnTo>
                  <a:lnTo>
                    <a:pt x="21596713" y="1006625"/>
                  </a:lnTo>
                  <a:lnTo>
                    <a:pt x="0" y="1006625"/>
                  </a:lnTo>
                  <a:close/>
                </a:path>
              </a:pathLst>
            </a:custGeom>
            <a:blipFill>
              <a:blip r:embed="rId2">
                <a:alphaModFix amt="0"/>
              </a:blip>
              <a:stretch>
                <a:fillRect l="0" t="-368043" r="0" b="-368043"/>
              </a:stretch>
            </a:blipFill>
          </p:spPr>
        </p:sp>
        <p:sp>
          <p:nvSpPr>
            <p:cNvPr name="TextBox 42" id="42"/>
            <p:cNvSpPr txBox="true"/>
            <p:nvPr/>
          </p:nvSpPr>
          <p:spPr>
            <a:xfrm>
              <a:off x="0" y="-19050"/>
              <a:ext cx="21596718" cy="1025676"/>
            </a:xfrm>
            <a:prstGeom prst="rect">
              <a:avLst/>
            </a:prstGeom>
          </p:spPr>
          <p:txBody>
            <a:bodyPr anchor="ctr" rtlCol="false" tIns="0" lIns="0" bIns="0" rIns="0"/>
            <a:lstStyle/>
            <a:p>
              <a:pPr algn="l">
                <a:lnSpc>
                  <a:spcPts val="2458"/>
                </a:lnSpc>
              </a:pPr>
              <a:r>
                <a:rPr lang="en-US" sz="1951" b="true">
                  <a:solidFill>
                    <a:srgbClr val="232E2D"/>
                  </a:solidFill>
                  <a:latin typeface="Inter Bold"/>
                  <a:ea typeface="Inter Bold"/>
                  <a:cs typeface="Inter Bold"/>
                  <a:sym typeface="Inter Bold"/>
                </a:rPr>
                <a:t>Note</a:t>
              </a:r>
              <a:r>
                <a:rPr lang="en-US" sz="1951" b="true">
                  <a:solidFill>
                    <a:srgbClr val="232E2D"/>
                  </a:solidFill>
                  <a:latin typeface="Inter Bold"/>
                  <a:ea typeface="Inter Bold"/>
                  <a:cs typeface="Inter Bold"/>
                  <a:sym typeface="Inter Bold"/>
                </a:rPr>
                <a:t>: immigration can hurt too. </a:t>
              </a:r>
              <a:r>
                <a:rPr lang="en-US" sz="1951">
                  <a:solidFill>
                    <a:srgbClr val="232E2D"/>
                  </a:solidFill>
                  <a:latin typeface="Inter"/>
                  <a:ea typeface="Inter"/>
                  <a:cs typeface="Inter"/>
                  <a:sym typeface="Inter"/>
                </a:rPr>
                <a:t>In a two-patch model, dispersal can rescue a small patch or drain one below its threshold, an “Allee pit”. Which one happens depends on how strong the Allee effect is.</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4F2F1"/>
        </a:solidFill>
      </p:bgPr>
    </p:bg>
    <p:spTree>
      <p:nvGrpSpPr>
        <p:cNvPr id="1" name=""/>
        <p:cNvGrpSpPr/>
        <p:nvPr/>
      </p:nvGrpSpPr>
      <p:grpSpPr>
        <a:xfrm>
          <a:off x="0" y="0"/>
          <a:ext cx="0" cy="0"/>
          <a:chOff x="0" y="0"/>
          <a:chExt cx="0" cy="0"/>
        </a:xfrm>
      </p:grpSpPr>
      <p:sp>
        <p:nvSpPr>
          <p:cNvPr name="AutoShape 2" id="2"/>
          <p:cNvSpPr/>
          <p:nvPr/>
        </p:nvSpPr>
        <p:spPr>
          <a:xfrm>
            <a:off x="815819" y="381498"/>
            <a:ext cx="16655914" cy="14244"/>
          </a:xfrm>
          <a:prstGeom prst="line">
            <a:avLst/>
          </a:prstGeom>
          <a:ln cap="rnd" w="19050">
            <a:solidFill>
              <a:srgbClr val="212E2D"/>
            </a:solidFill>
            <a:prstDash val="solid"/>
            <a:headEnd type="none" len="sm" w="sm"/>
            <a:tailEnd type="none" len="sm" w="sm"/>
          </a:ln>
        </p:spPr>
      </p:sp>
      <p:grpSp>
        <p:nvGrpSpPr>
          <p:cNvPr name="Group 3" id="3"/>
          <p:cNvGrpSpPr/>
          <p:nvPr/>
        </p:nvGrpSpPr>
        <p:grpSpPr>
          <a:xfrm rot="0">
            <a:off x="822960" y="459105"/>
            <a:ext cx="8229600" cy="617220"/>
            <a:chOff x="0" y="0"/>
            <a:chExt cx="10972800" cy="822960"/>
          </a:xfrm>
        </p:grpSpPr>
        <p:sp>
          <p:nvSpPr>
            <p:cNvPr name="Freeform 4" id="4"/>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2">
                <a:alphaModFix amt="0"/>
              </a:blip>
              <a:stretch>
                <a:fillRect l="0" t="-209800" r="0" b="-209800"/>
              </a:stretch>
            </a:blipFill>
          </p:spPr>
        </p:sp>
        <p:sp>
          <p:nvSpPr>
            <p:cNvPr name="TextBox 5" id="5"/>
            <p:cNvSpPr txBox="true"/>
            <p:nvPr/>
          </p:nvSpPr>
          <p:spPr>
            <a:xfrm>
              <a:off x="0" y="0"/>
              <a:ext cx="10972800" cy="822960"/>
            </a:xfrm>
            <a:prstGeom prst="rect">
              <a:avLst/>
            </a:prstGeom>
          </p:spPr>
          <p:txBody>
            <a:bodyPr anchor="ctr" rtlCol="false" tIns="0" lIns="0" bIns="0" rIns="0"/>
            <a:lstStyle/>
            <a:p>
              <a:pPr algn="l">
                <a:lnSpc>
                  <a:spcPts val="3600"/>
                </a:lnSpc>
              </a:pPr>
              <a:r>
                <a:rPr lang="en-US" sz="3000">
                  <a:solidFill>
                    <a:srgbClr val="212E2D"/>
                  </a:solidFill>
                  <a:latin typeface="Source Serif Pro"/>
                  <a:ea typeface="Source Serif Pro"/>
                  <a:cs typeface="Source Serif Pro"/>
                  <a:sym typeface="Source Serif Pro"/>
                </a:rPr>
                <a:t>Study guide: the evidence and our answer</a:t>
              </a:r>
            </a:p>
          </p:txBody>
        </p:sp>
      </p:grpSp>
      <p:sp>
        <p:nvSpPr>
          <p:cNvPr name="TextBox 6" id="6"/>
          <p:cNvSpPr txBox="true"/>
          <p:nvPr/>
        </p:nvSpPr>
        <p:spPr>
          <a:xfrm rot="0">
            <a:off x="14732889" y="600875"/>
            <a:ext cx="2745343" cy="266700"/>
          </a:xfrm>
          <a:prstGeom prst="rect">
            <a:avLst/>
          </a:prstGeom>
        </p:spPr>
        <p:txBody>
          <a:bodyPr anchor="t" rtlCol="false" tIns="0" lIns="0" bIns="0" rIns="0">
            <a:spAutoFit/>
          </a:bodyPr>
          <a:lstStyle/>
          <a:p>
            <a:pPr algn="r">
              <a:lnSpc>
                <a:spcPts val="2161"/>
              </a:lnSpc>
            </a:pPr>
            <a:r>
              <a:rPr lang="en-US" sz="1801">
                <a:solidFill>
                  <a:srgbClr val="717C7A"/>
                </a:solidFill>
                <a:latin typeface="Inter"/>
                <a:ea typeface="Inter"/>
                <a:cs typeface="Inter"/>
                <a:sym typeface="Inter"/>
              </a:rPr>
              <a:t>3 / 3</a:t>
            </a:r>
          </a:p>
        </p:txBody>
      </p:sp>
      <p:sp>
        <p:nvSpPr>
          <p:cNvPr name="AutoShape 7" id="7"/>
          <p:cNvSpPr/>
          <p:nvPr/>
        </p:nvSpPr>
        <p:spPr>
          <a:xfrm rot="2939">
            <a:off x="816454" y="9260776"/>
            <a:ext cx="16668941" cy="0"/>
          </a:xfrm>
          <a:prstGeom prst="line">
            <a:avLst/>
          </a:prstGeom>
          <a:ln cap="rnd" w="9525">
            <a:solidFill>
              <a:srgbClr val="C7C4C3"/>
            </a:solidFill>
            <a:prstDash val="solid"/>
            <a:headEnd type="none" len="sm" w="sm"/>
            <a:tailEnd type="none" len="sm" w="sm"/>
          </a:ln>
        </p:spPr>
      </p:sp>
      <p:sp>
        <p:nvSpPr>
          <p:cNvPr name="TextBox 8" id="8"/>
          <p:cNvSpPr txBox="true"/>
          <p:nvPr/>
        </p:nvSpPr>
        <p:spPr>
          <a:xfrm rot="0">
            <a:off x="823608" y="9393279"/>
            <a:ext cx="16609333" cy="558594"/>
          </a:xfrm>
          <a:prstGeom prst="rect">
            <a:avLst/>
          </a:prstGeom>
        </p:spPr>
        <p:txBody>
          <a:bodyPr anchor="t" rtlCol="false" tIns="0" lIns="0" bIns="0" rIns="0">
            <a:spAutoFit/>
          </a:bodyPr>
          <a:lstStyle/>
          <a:p>
            <a:pPr algn="l">
              <a:lnSpc>
                <a:spcPts val="1981"/>
              </a:lnSpc>
            </a:pPr>
            <a:r>
              <a:rPr lang="en-US" sz="1651">
                <a:solidFill>
                  <a:srgbClr val="717C7A"/>
                </a:solidFill>
                <a:latin typeface="Inter"/>
                <a:ea typeface="Inter"/>
                <a:cs typeface="Inter"/>
                <a:sym typeface="Inter"/>
              </a:rPr>
              <a:t>Sources: Kramer &amp; Drake 2010  ·  Angulo et al. 2007  ·  Perälä et al. 2022  ·  Muir et al. 2024  ·  Kramer et al. 2009  ·  Gregory et al. 2010  ·  Stephens et al. 1999</a:t>
            </a:r>
          </a:p>
        </p:txBody>
      </p:sp>
      <p:sp>
        <p:nvSpPr>
          <p:cNvPr name="TextBox 9" id="9"/>
          <p:cNvSpPr txBox="true"/>
          <p:nvPr/>
        </p:nvSpPr>
        <p:spPr>
          <a:xfrm rot="0">
            <a:off x="823608" y="1626194"/>
            <a:ext cx="10981382" cy="266700"/>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Three ways to look for an Allee effect</a:t>
            </a:r>
          </a:p>
        </p:txBody>
      </p:sp>
      <p:sp>
        <p:nvSpPr>
          <p:cNvPr name="AutoShape 10" id="10"/>
          <p:cNvSpPr/>
          <p:nvPr/>
        </p:nvSpPr>
        <p:spPr>
          <a:xfrm>
            <a:off x="816454" y="2051843"/>
            <a:ext cx="5367718" cy="14334"/>
          </a:xfrm>
          <a:prstGeom prst="line">
            <a:avLst/>
          </a:prstGeom>
          <a:ln cap="rnd" w="9525">
            <a:solidFill>
              <a:srgbClr val="C7C4C3"/>
            </a:solidFill>
            <a:prstDash val="solid"/>
            <a:headEnd type="none" len="sm" w="sm"/>
            <a:tailEnd type="none" len="sm" w="sm"/>
          </a:ln>
        </p:spPr>
      </p:sp>
      <p:sp>
        <p:nvSpPr>
          <p:cNvPr name="TextBox 11" id="11"/>
          <p:cNvSpPr txBox="true"/>
          <p:nvPr/>
        </p:nvSpPr>
        <p:spPr>
          <a:xfrm rot="0">
            <a:off x="823608" y="2223726"/>
            <a:ext cx="5353421" cy="549069"/>
          </a:xfrm>
          <a:prstGeom prst="rect">
            <a:avLst/>
          </a:prstGeom>
        </p:spPr>
        <p:txBody>
          <a:bodyPr anchor="t" rtlCol="false" tIns="0" lIns="0" bIns="0" rIns="0">
            <a:spAutoFit/>
          </a:bodyPr>
          <a:lstStyle/>
          <a:p>
            <a:pPr algn="l">
              <a:lnSpc>
                <a:spcPts val="3062"/>
              </a:lnSpc>
            </a:pPr>
            <a:r>
              <a:rPr lang="en-US" sz="2551">
                <a:solidFill>
                  <a:srgbClr val="232E2D"/>
                </a:solidFill>
                <a:latin typeface="Source Serif Pro"/>
                <a:ea typeface="Source Serif Pro"/>
                <a:cs typeface="Source Serif Pro"/>
                <a:sym typeface="Source Serif Pro"/>
              </a:rPr>
              <a:t>Experiment</a:t>
            </a:r>
          </a:p>
        </p:txBody>
      </p:sp>
      <p:sp>
        <p:nvSpPr>
          <p:cNvPr name="TextBox 12" id="12"/>
          <p:cNvSpPr txBox="true"/>
          <p:nvPr/>
        </p:nvSpPr>
        <p:spPr>
          <a:xfrm rot="0">
            <a:off x="823608" y="2753744"/>
            <a:ext cx="5216157" cy="774021"/>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Water fleas + a predator: small populations died out faster</a:t>
            </a:r>
          </a:p>
        </p:txBody>
      </p:sp>
      <p:sp>
        <p:nvSpPr>
          <p:cNvPr name="TextBox 13" id="13"/>
          <p:cNvSpPr txBox="true"/>
          <p:nvPr/>
        </p:nvSpPr>
        <p:spPr>
          <a:xfrm rot="0">
            <a:off x="823608" y="3586877"/>
            <a:ext cx="5353421" cy="695858"/>
          </a:xfrm>
          <a:prstGeom prst="rect">
            <a:avLst/>
          </a:prstGeom>
        </p:spPr>
        <p:txBody>
          <a:bodyPr anchor="t" rtlCol="false" tIns="0" lIns="0" bIns="0" rIns="0">
            <a:spAutoFit/>
          </a:bodyPr>
          <a:lstStyle/>
          <a:p>
            <a:pPr algn="l">
              <a:lnSpc>
                <a:spcPts val="2269"/>
              </a:lnSpc>
            </a:pPr>
            <a:r>
              <a:rPr lang="en-US" sz="1801">
                <a:solidFill>
                  <a:srgbClr val="717C7A"/>
                </a:solidFill>
                <a:latin typeface="Inter"/>
                <a:ea typeface="Inter"/>
                <a:cs typeface="Inter"/>
                <a:sym typeface="Inter"/>
              </a:rPr>
              <a:t>Strength  </a:t>
            </a:r>
            <a:r>
              <a:rPr lang="en-US" sz="1801">
                <a:solidFill>
                  <a:srgbClr val="232E2D"/>
                </a:solidFill>
                <a:latin typeface="Inter"/>
                <a:ea typeface="Inter"/>
                <a:cs typeface="Inter"/>
                <a:sym typeface="Inter"/>
              </a:rPr>
              <a:t>Mechanism shown clearly</a:t>
            </a:r>
          </a:p>
          <a:p>
            <a:pPr algn="l">
              <a:lnSpc>
                <a:spcPts val="2269"/>
              </a:lnSpc>
            </a:pPr>
            <a:r>
              <a:rPr lang="en-US" sz="1801">
                <a:solidFill>
                  <a:srgbClr val="717C7A"/>
                </a:solidFill>
                <a:latin typeface="Inter"/>
                <a:ea typeface="Inter"/>
                <a:cs typeface="Inter"/>
                <a:sym typeface="Inter"/>
              </a:rPr>
              <a:t>Blind spot  </a:t>
            </a:r>
            <a:r>
              <a:rPr lang="en-US" sz="1801">
                <a:solidFill>
                  <a:srgbClr val="232E2D"/>
                </a:solidFill>
                <a:latin typeface="Inter"/>
                <a:ea typeface="Inter"/>
                <a:cs typeface="Inter"/>
                <a:sym typeface="Inter"/>
              </a:rPr>
              <a:t>Only in a tank</a:t>
            </a:r>
          </a:p>
        </p:txBody>
      </p:sp>
      <p:sp>
        <p:nvSpPr>
          <p:cNvPr name="AutoShape 14" id="14"/>
          <p:cNvSpPr/>
          <p:nvPr/>
        </p:nvSpPr>
        <p:spPr>
          <a:xfrm rot="9179">
            <a:off x="6467732" y="2054247"/>
            <a:ext cx="5367738" cy="0"/>
          </a:xfrm>
          <a:prstGeom prst="line">
            <a:avLst/>
          </a:prstGeom>
          <a:ln cap="rnd" w="9525">
            <a:solidFill>
              <a:srgbClr val="C7C4C3"/>
            </a:solidFill>
            <a:prstDash val="solid"/>
            <a:headEnd type="none" len="sm" w="sm"/>
            <a:tailEnd type="none" len="sm" w="sm"/>
          </a:ln>
        </p:spPr>
      </p:sp>
      <p:sp>
        <p:nvSpPr>
          <p:cNvPr name="TextBox 15" id="15"/>
          <p:cNvSpPr txBox="true"/>
          <p:nvPr/>
        </p:nvSpPr>
        <p:spPr>
          <a:xfrm rot="0">
            <a:off x="6474895" y="2223726"/>
            <a:ext cx="5353421" cy="549069"/>
          </a:xfrm>
          <a:prstGeom prst="rect">
            <a:avLst/>
          </a:prstGeom>
        </p:spPr>
        <p:txBody>
          <a:bodyPr anchor="t" rtlCol="false" tIns="0" lIns="0" bIns="0" rIns="0">
            <a:spAutoFit/>
          </a:bodyPr>
          <a:lstStyle/>
          <a:p>
            <a:pPr algn="l">
              <a:lnSpc>
                <a:spcPts val="3062"/>
              </a:lnSpc>
            </a:pPr>
            <a:r>
              <a:rPr lang="en-US" sz="2551">
                <a:solidFill>
                  <a:srgbClr val="232E2D"/>
                </a:solidFill>
                <a:latin typeface="Source Serif Pro"/>
                <a:ea typeface="Source Serif Pro"/>
                <a:cs typeface="Source Serif Pro"/>
                <a:sym typeface="Source Serif Pro"/>
              </a:rPr>
              <a:t>Field data</a:t>
            </a:r>
          </a:p>
        </p:txBody>
      </p:sp>
      <p:sp>
        <p:nvSpPr>
          <p:cNvPr name="TextBox 16" id="16"/>
          <p:cNvSpPr txBox="true"/>
          <p:nvPr/>
        </p:nvSpPr>
        <p:spPr>
          <a:xfrm rot="0">
            <a:off x="6474895" y="2753744"/>
            <a:ext cx="5216157" cy="774021"/>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Island foxes on separate islands: costs won, a weak effect</a:t>
            </a:r>
          </a:p>
        </p:txBody>
      </p:sp>
      <p:sp>
        <p:nvSpPr>
          <p:cNvPr name="TextBox 17" id="17"/>
          <p:cNvSpPr txBox="true"/>
          <p:nvPr/>
        </p:nvSpPr>
        <p:spPr>
          <a:xfrm rot="0">
            <a:off x="6474895" y="3586877"/>
            <a:ext cx="5353421" cy="695858"/>
          </a:xfrm>
          <a:prstGeom prst="rect">
            <a:avLst/>
          </a:prstGeom>
        </p:spPr>
        <p:txBody>
          <a:bodyPr anchor="t" rtlCol="false" tIns="0" lIns="0" bIns="0" rIns="0">
            <a:spAutoFit/>
          </a:bodyPr>
          <a:lstStyle/>
          <a:p>
            <a:pPr algn="l">
              <a:lnSpc>
                <a:spcPts val="2269"/>
              </a:lnSpc>
            </a:pPr>
            <a:r>
              <a:rPr lang="en-US" sz="1801">
                <a:solidFill>
                  <a:srgbClr val="717C7A"/>
                </a:solidFill>
                <a:latin typeface="Inter"/>
                <a:ea typeface="Inter"/>
                <a:cs typeface="Inter"/>
                <a:sym typeface="Inter"/>
              </a:rPr>
              <a:t>Strength  </a:t>
            </a:r>
            <a:r>
              <a:rPr lang="en-US" sz="1801">
                <a:solidFill>
                  <a:srgbClr val="232E2D"/>
                </a:solidFill>
                <a:latin typeface="Inter"/>
                <a:ea typeface="Inter"/>
                <a:cs typeface="Inter"/>
                <a:sym typeface="Inter"/>
              </a:rPr>
              <a:t>Real populations</a:t>
            </a:r>
          </a:p>
          <a:p>
            <a:pPr algn="l">
              <a:lnSpc>
                <a:spcPts val="2269"/>
              </a:lnSpc>
            </a:pPr>
            <a:r>
              <a:rPr lang="en-US" sz="1801">
                <a:solidFill>
                  <a:srgbClr val="717C7A"/>
                </a:solidFill>
                <a:latin typeface="Inter"/>
                <a:ea typeface="Inter"/>
                <a:cs typeface="Inter"/>
                <a:sym typeface="Inter"/>
              </a:rPr>
              <a:t>Blind spot  </a:t>
            </a:r>
            <a:r>
              <a:rPr lang="en-US" sz="1801">
                <a:solidFill>
                  <a:srgbClr val="232E2D"/>
                </a:solidFill>
                <a:latin typeface="Inter"/>
                <a:ea typeface="Inter"/>
                <a:cs typeface="Inter"/>
                <a:sym typeface="Inter"/>
              </a:rPr>
              <a:t>Hard to untangle the components</a:t>
            </a:r>
          </a:p>
        </p:txBody>
      </p:sp>
      <p:sp>
        <p:nvSpPr>
          <p:cNvPr name="AutoShape 18" id="18"/>
          <p:cNvSpPr/>
          <p:nvPr/>
        </p:nvSpPr>
        <p:spPr>
          <a:xfrm rot="9179">
            <a:off x="12119029" y="2054247"/>
            <a:ext cx="5367738" cy="0"/>
          </a:xfrm>
          <a:prstGeom prst="line">
            <a:avLst/>
          </a:prstGeom>
          <a:ln cap="rnd" w="9525">
            <a:solidFill>
              <a:srgbClr val="C7C4C3"/>
            </a:solidFill>
            <a:prstDash val="solid"/>
            <a:headEnd type="none" len="sm" w="sm"/>
            <a:tailEnd type="none" len="sm" w="sm"/>
          </a:ln>
        </p:spPr>
      </p:sp>
      <p:sp>
        <p:nvSpPr>
          <p:cNvPr name="TextBox 19" id="19"/>
          <p:cNvSpPr txBox="true"/>
          <p:nvPr/>
        </p:nvSpPr>
        <p:spPr>
          <a:xfrm rot="0">
            <a:off x="12126192" y="2223726"/>
            <a:ext cx="5353421" cy="549069"/>
          </a:xfrm>
          <a:prstGeom prst="rect">
            <a:avLst/>
          </a:prstGeom>
        </p:spPr>
        <p:txBody>
          <a:bodyPr anchor="t" rtlCol="false" tIns="0" lIns="0" bIns="0" rIns="0">
            <a:spAutoFit/>
          </a:bodyPr>
          <a:lstStyle/>
          <a:p>
            <a:pPr algn="l">
              <a:lnSpc>
                <a:spcPts val="3062"/>
              </a:lnSpc>
            </a:pPr>
            <a:r>
              <a:rPr lang="en-US" sz="2551">
                <a:solidFill>
                  <a:srgbClr val="232E2D"/>
                </a:solidFill>
                <a:latin typeface="Source Serif Pro"/>
                <a:ea typeface="Source Serif Pro"/>
                <a:cs typeface="Source Serif Pro"/>
                <a:sym typeface="Source Serif Pro"/>
              </a:rPr>
              <a:t>Long-term records</a:t>
            </a:r>
          </a:p>
        </p:txBody>
      </p:sp>
      <p:sp>
        <p:nvSpPr>
          <p:cNvPr name="TextBox 20" id="20"/>
          <p:cNvSpPr txBox="true"/>
          <p:nvPr/>
        </p:nvSpPr>
        <p:spPr>
          <a:xfrm rot="0">
            <a:off x="12126192" y="2753744"/>
            <a:ext cx="5216157" cy="774021"/>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Atlantic cod: below ≈90,000 t, each adult produced fewer young</a:t>
            </a:r>
          </a:p>
        </p:txBody>
      </p:sp>
      <p:sp>
        <p:nvSpPr>
          <p:cNvPr name="TextBox 21" id="21"/>
          <p:cNvSpPr txBox="true"/>
          <p:nvPr/>
        </p:nvSpPr>
        <p:spPr>
          <a:xfrm rot="0">
            <a:off x="12126192" y="3586877"/>
            <a:ext cx="5353421" cy="695858"/>
          </a:xfrm>
          <a:prstGeom prst="rect">
            <a:avLst/>
          </a:prstGeom>
        </p:spPr>
        <p:txBody>
          <a:bodyPr anchor="t" rtlCol="false" tIns="0" lIns="0" bIns="0" rIns="0">
            <a:spAutoFit/>
          </a:bodyPr>
          <a:lstStyle/>
          <a:p>
            <a:pPr algn="l">
              <a:lnSpc>
                <a:spcPts val="2269"/>
              </a:lnSpc>
            </a:pPr>
            <a:r>
              <a:rPr lang="en-US" sz="1801">
                <a:solidFill>
                  <a:srgbClr val="717C7A"/>
                </a:solidFill>
                <a:latin typeface="Inter"/>
                <a:ea typeface="Inter"/>
                <a:cs typeface="Inter"/>
                <a:sym typeface="Inter"/>
              </a:rPr>
              <a:t>Strength  </a:t>
            </a:r>
            <a:r>
              <a:rPr lang="en-US" sz="1801">
                <a:solidFill>
                  <a:srgbClr val="232E2D"/>
                </a:solidFill>
                <a:latin typeface="Inter"/>
                <a:ea typeface="Inter"/>
                <a:cs typeface="Inter"/>
                <a:sym typeface="Inter"/>
              </a:rPr>
              <a:t>Whole population, decades</a:t>
            </a:r>
          </a:p>
          <a:p>
            <a:pPr algn="l">
              <a:lnSpc>
                <a:spcPts val="2269"/>
              </a:lnSpc>
            </a:pPr>
            <a:r>
              <a:rPr lang="en-US" sz="1801">
                <a:solidFill>
                  <a:srgbClr val="717C7A"/>
                </a:solidFill>
                <a:latin typeface="Inter"/>
                <a:ea typeface="Inter"/>
                <a:cs typeface="Inter"/>
                <a:sym typeface="Inter"/>
              </a:rPr>
              <a:t>Blind spot  </a:t>
            </a:r>
            <a:r>
              <a:rPr lang="en-US" sz="1801">
                <a:solidFill>
                  <a:srgbClr val="232E2D"/>
                </a:solidFill>
                <a:latin typeface="Inter"/>
                <a:ea typeface="Inter"/>
                <a:cs typeface="Inter"/>
                <a:sym typeface="Inter"/>
              </a:rPr>
              <a:t>Evidence only strong after the crash</a:t>
            </a:r>
          </a:p>
        </p:txBody>
      </p:sp>
      <p:sp>
        <p:nvSpPr>
          <p:cNvPr name="TextBox 22" id="22"/>
          <p:cNvSpPr txBox="true"/>
          <p:nvPr/>
        </p:nvSpPr>
        <p:spPr>
          <a:xfrm rot="0">
            <a:off x="823608" y="4577448"/>
            <a:ext cx="10981382" cy="411804"/>
          </a:xfrm>
          <a:prstGeom prst="rect">
            <a:avLst/>
          </a:prstGeom>
        </p:spPr>
        <p:txBody>
          <a:bodyPr anchor="t" rtlCol="false" tIns="0" lIns="0" bIns="0" rIns="0">
            <a:spAutoFit/>
          </a:bodyPr>
          <a:lstStyle/>
          <a:p>
            <a:pPr algn="l">
              <a:lnSpc>
                <a:spcPts val="2161"/>
              </a:lnSpc>
            </a:pPr>
            <a:r>
              <a:rPr lang="en-US" sz="1801">
                <a:solidFill>
                  <a:srgbClr val="717C7A"/>
                </a:solidFill>
                <a:latin typeface="Inter"/>
                <a:ea typeface="Inter"/>
                <a:cs typeface="Inter"/>
                <a:sym typeface="Inter"/>
              </a:rPr>
              <a:t>The stricter the test, the rarer the evidence</a:t>
            </a:r>
          </a:p>
        </p:txBody>
      </p:sp>
      <p:sp>
        <p:nvSpPr>
          <p:cNvPr name="AutoShape 23" id="23"/>
          <p:cNvSpPr/>
          <p:nvPr/>
        </p:nvSpPr>
        <p:spPr>
          <a:xfrm rot="9180">
            <a:off x="816445" y="5005492"/>
            <a:ext cx="5367738" cy="0"/>
          </a:xfrm>
          <a:prstGeom prst="line">
            <a:avLst/>
          </a:prstGeom>
          <a:ln cap="rnd" w="9525">
            <a:solidFill>
              <a:srgbClr val="C7C4C3"/>
            </a:solidFill>
            <a:prstDash val="solid"/>
            <a:headEnd type="none" len="sm" w="sm"/>
            <a:tailEnd type="none" len="sm" w="sm"/>
          </a:ln>
        </p:spPr>
      </p:sp>
      <p:sp>
        <p:nvSpPr>
          <p:cNvPr name="TextBox 24" id="24"/>
          <p:cNvSpPr txBox="true"/>
          <p:nvPr/>
        </p:nvSpPr>
        <p:spPr>
          <a:xfrm rot="0">
            <a:off x="823608" y="5157045"/>
            <a:ext cx="5353421" cy="676808"/>
          </a:xfrm>
          <a:prstGeom prst="rect">
            <a:avLst/>
          </a:prstGeom>
        </p:spPr>
        <p:txBody>
          <a:bodyPr anchor="t" rtlCol="false" tIns="0" lIns="0" bIns="0" rIns="0">
            <a:spAutoFit/>
          </a:bodyPr>
          <a:lstStyle/>
          <a:p>
            <a:pPr algn="l">
              <a:lnSpc>
                <a:spcPts val="4683"/>
              </a:lnSpc>
            </a:pPr>
            <a:r>
              <a:rPr lang="en-US" sz="3903">
                <a:solidFill>
                  <a:srgbClr val="232E2D"/>
                </a:solidFill>
                <a:latin typeface="Source Serif Pro"/>
                <a:ea typeface="Source Serif Pro"/>
                <a:cs typeface="Source Serif Pro"/>
                <a:sym typeface="Source Serif Pro"/>
              </a:rPr>
              <a:t>62</a:t>
            </a:r>
          </a:p>
        </p:txBody>
      </p:sp>
      <p:sp>
        <p:nvSpPr>
          <p:cNvPr name="TextBox 25" id="25"/>
          <p:cNvSpPr txBox="true"/>
          <p:nvPr/>
        </p:nvSpPr>
        <p:spPr>
          <a:xfrm rot="0">
            <a:off x="823608" y="5883440"/>
            <a:ext cx="5216157" cy="1048550"/>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experiments pooled: the effect is real; its size depends on mechanism, not taxon</a:t>
            </a:r>
          </a:p>
        </p:txBody>
      </p:sp>
      <p:sp>
        <p:nvSpPr>
          <p:cNvPr name="AutoShape 26" id="26"/>
          <p:cNvSpPr/>
          <p:nvPr/>
        </p:nvSpPr>
        <p:spPr>
          <a:xfrm rot="9180">
            <a:off x="6467732" y="5005492"/>
            <a:ext cx="5367738" cy="0"/>
          </a:xfrm>
          <a:prstGeom prst="line">
            <a:avLst/>
          </a:prstGeom>
          <a:ln cap="rnd" w="9525">
            <a:solidFill>
              <a:srgbClr val="C7C4C3"/>
            </a:solidFill>
            <a:prstDash val="solid"/>
            <a:headEnd type="none" len="sm" w="sm"/>
            <a:tailEnd type="none" len="sm" w="sm"/>
          </a:ln>
        </p:spPr>
      </p:sp>
      <p:sp>
        <p:nvSpPr>
          <p:cNvPr name="TextBox 27" id="27"/>
          <p:cNvSpPr txBox="true"/>
          <p:nvPr/>
        </p:nvSpPr>
        <p:spPr>
          <a:xfrm rot="0">
            <a:off x="6474895" y="5157045"/>
            <a:ext cx="5353421" cy="676808"/>
          </a:xfrm>
          <a:prstGeom prst="rect">
            <a:avLst/>
          </a:prstGeom>
        </p:spPr>
        <p:txBody>
          <a:bodyPr anchor="t" rtlCol="false" tIns="0" lIns="0" bIns="0" rIns="0">
            <a:spAutoFit/>
          </a:bodyPr>
          <a:lstStyle/>
          <a:p>
            <a:pPr algn="l">
              <a:lnSpc>
                <a:spcPts val="4683"/>
              </a:lnSpc>
            </a:pPr>
            <a:r>
              <a:rPr lang="en-US" sz="3903">
                <a:solidFill>
                  <a:srgbClr val="232E2D"/>
                </a:solidFill>
                <a:latin typeface="Source Serif Pro"/>
                <a:ea typeface="Source Serif Pro"/>
                <a:cs typeface="Source Serif Pro"/>
                <a:sym typeface="Source Serif Pro"/>
              </a:rPr>
              <a:t>7 of 91</a:t>
            </a:r>
          </a:p>
        </p:txBody>
      </p:sp>
      <p:sp>
        <p:nvSpPr>
          <p:cNvPr name="TextBox 28" id="28"/>
          <p:cNvSpPr txBox="true"/>
          <p:nvPr/>
        </p:nvSpPr>
        <p:spPr>
          <a:xfrm rot="0">
            <a:off x="6474895" y="5883440"/>
            <a:ext cx="5216157" cy="1048550"/>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field studies found a point of no return (63 found some sign)</a:t>
            </a:r>
          </a:p>
        </p:txBody>
      </p:sp>
      <p:sp>
        <p:nvSpPr>
          <p:cNvPr name="AutoShape 29" id="29"/>
          <p:cNvSpPr/>
          <p:nvPr/>
        </p:nvSpPr>
        <p:spPr>
          <a:xfrm rot="9179">
            <a:off x="12119029" y="5005492"/>
            <a:ext cx="5367738" cy="0"/>
          </a:xfrm>
          <a:prstGeom prst="line">
            <a:avLst/>
          </a:prstGeom>
          <a:ln cap="rnd" w="9525">
            <a:solidFill>
              <a:srgbClr val="C7C4C3"/>
            </a:solidFill>
            <a:prstDash val="solid"/>
            <a:headEnd type="none" len="sm" w="sm"/>
            <a:tailEnd type="none" len="sm" w="sm"/>
          </a:ln>
        </p:spPr>
      </p:sp>
      <p:sp>
        <p:nvSpPr>
          <p:cNvPr name="TextBox 30" id="30"/>
          <p:cNvSpPr txBox="true"/>
          <p:nvPr/>
        </p:nvSpPr>
        <p:spPr>
          <a:xfrm rot="0">
            <a:off x="12126192" y="5157045"/>
            <a:ext cx="5353421" cy="676808"/>
          </a:xfrm>
          <a:prstGeom prst="rect">
            <a:avLst/>
          </a:prstGeom>
        </p:spPr>
        <p:txBody>
          <a:bodyPr anchor="t" rtlCol="false" tIns="0" lIns="0" bIns="0" rIns="0">
            <a:spAutoFit/>
          </a:bodyPr>
          <a:lstStyle/>
          <a:p>
            <a:pPr algn="l">
              <a:lnSpc>
                <a:spcPts val="4683"/>
              </a:lnSpc>
            </a:pPr>
            <a:r>
              <a:rPr lang="en-US" sz="3903">
                <a:solidFill>
                  <a:srgbClr val="232E2D"/>
                </a:solidFill>
                <a:latin typeface="Source Serif Pro"/>
                <a:ea typeface="Source Serif Pro"/>
                <a:cs typeface="Source Serif Pro"/>
                <a:sym typeface="Source Serif Pro"/>
              </a:rPr>
              <a:t>13 of 1,198</a:t>
            </a:r>
          </a:p>
        </p:txBody>
      </p:sp>
      <p:sp>
        <p:nvSpPr>
          <p:cNvPr name="TextBox 31" id="31"/>
          <p:cNvSpPr txBox="true"/>
          <p:nvPr/>
        </p:nvSpPr>
        <p:spPr>
          <a:xfrm rot="0">
            <a:off x="12126192" y="5883440"/>
            <a:ext cx="5216157" cy="1048550"/>
          </a:xfrm>
          <a:prstGeom prst="rect">
            <a:avLst/>
          </a:prstGeom>
        </p:spPr>
        <p:txBody>
          <a:bodyPr anchor="t" rtlCol="false" tIns="0" lIns="0" bIns="0" rIns="0">
            <a:spAutoFit/>
          </a:bodyPr>
          <a:lstStyle/>
          <a:p>
            <a:pPr algn="l">
              <a:lnSpc>
                <a:spcPts val="2458"/>
              </a:lnSpc>
            </a:pPr>
            <a:r>
              <a:rPr lang="en-US" sz="1951">
                <a:solidFill>
                  <a:srgbClr val="232E2D"/>
                </a:solidFill>
                <a:latin typeface="Inter"/>
                <a:ea typeface="Inter"/>
                <a:cs typeface="Inter"/>
                <a:sym typeface="Inter"/>
              </a:rPr>
              <a:t>long-term records fit an Allee model best</a:t>
            </a:r>
          </a:p>
        </p:txBody>
      </p:sp>
      <p:grpSp>
        <p:nvGrpSpPr>
          <p:cNvPr name="Group 32" id="32"/>
          <p:cNvGrpSpPr/>
          <p:nvPr/>
        </p:nvGrpSpPr>
        <p:grpSpPr>
          <a:xfrm rot="0">
            <a:off x="823608" y="7137892"/>
            <a:ext cx="16654634" cy="1853108"/>
            <a:chOff x="0" y="0"/>
            <a:chExt cx="22206179" cy="2470810"/>
          </a:xfrm>
        </p:grpSpPr>
        <p:sp>
          <p:nvSpPr>
            <p:cNvPr name="Freeform 33" id="33"/>
            <p:cNvSpPr/>
            <p:nvPr/>
          </p:nvSpPr>
          <p:spPr>
            <a:xfrm flipH="false" flipV="false" rot="0">
              <a:off x="0" y="0"/>
              <a:ext cx="22206204" cy="2470785"/>
            </a:xfrm>
            <a:custGeom>
              <a:avLst/>
              <a:gdLst/>
              <a:ahLst/>
              <a:cxnLst/>
              <a:rect r="r" b="b" t="t" l="l"/>
              <a:pathLst>
                <a:path h="2470785" w="22206204">
                  <a:moveTo>
                    <a:pt x="127000" y="0"/>
                  </a:moveTo>
                  <a:lnTo>
                    <a:pt x="22079204" y="0"/>
                  </a:lnTo>
                  <a:cubicBezTo>
                    <a:pt x="22149344" y="0"/>
                    <a:pt x="22206204" y="56860"/>
                    <a:pt x="22206204" y="127000"/>
                  </a:cubicBezTo>
                  <a:lnTo>
                    <a:pt x="22206204" y="2343785"/>
                  </a:lnTo>
                  <a:cubicBezTo>
                    <a:pt x="22206204" y="2413925"/>
                    <a:pt x="22149344" y="2470785"/>
                    <a:pt x="22079204" y="2470785"/>
                  </a:cubicBezTo>
                  <a:lnTo>
                    <a:pt x="127000" y="2470785"/>
                  </a:lnTo>
                  <a:cubicBezTo>
                    <a:pt x="93318" y="2470785"/>
                    <a:pt x="61015" y="2457405"/>
                    <a:pt x="37197" y="2433588"/>
                  </a:cubicBezTo>
                  <a:cubicBezTo>
                    <a:pt x="13380" y="2409771"/>
                    <a:pt x="0" y="2377467"/>
                    <a:pt x="0" y="2343785"/>
                  </a:cubicBezTo>
                  <a:lnTo>
                    <a:pt x="0" y="127000"/>
                  </a:lnTo>
                  <a:cubicBezTo>
                    <a:pt x="0" y="56860"/>
                    <a:pt x="56860" y="0"/>
                    <a:pt x="127000" y="0"/>
                  </a:cubicBezTo>
                  <a:close/>
                </a:path>
              </a:pathLst>
            </a:custGeom>
            <a:solidFill>
              <a:srgbClr val="E7E4E0"/>
            </a:solidFill>
          </p:spPr>
        </p:sp>
      </p:grpSp>
      <p:sp>
        <p:nvSpPr>
          <p:cNvPr name="TextBox 34" id="34"/>
          <p:cNvSpPr txBox="true"/>
          <p:nvPr/>
        </p:nvSpPr>
        <p:spPr>
          <a:xfrm rot="0">
            <a:off x="1098137" y="7327118"/>
            <a:ext cx="7686961" cy="1347776"/>
          </a:xfrm>
          <a:prstGeom prst="rect">
            <a:avLst/>
          </a:prstGeom>
        </p:spPr>
        <p:txBody>
          <a:bodyPr anchor="t" rtlCol="false" tIns="0" lIns="0" bIns="0" rIns="0">
            <a:spAutoFit/>
          </a:bodyPr>
          <a:lstStyle/>
          <a:p>
            <a:pPr algn="l">
              <a:lnSpc>
                <a:spcPts val="2269"/>
              </a:lnSpc>
            </a:pPr>
            <a:r>
              <a:rPr lang="en-US" sz="1801">
                <a:solidFill>
                  <a:srgbClr val="717C7A"/>
                </a:solidFill>
                <a:latin typeface="Inter"/>
                <a:ea typeface="Inter"/>
                <a:cs typeface="Inter"/>
                <a:sym typeface="Inter"/>
              </a:rPr>
              <a:t>Classic vs modern</a:t>
            </a:r>
          </a:p>
          <a:p>
            <a:pPr algn="l">
              <a:lnSpc>
                <a:spcPts val="1259"/>
              </a:lnSpc>
            </a:pPr>
          </a:p>
          <a:p>
            <a:pPr algn="l">
              <a:lnSpc>
                <a:spcPts val="2458"/>
              </a:lnSpc>
            </a:pPr>
            <a:r>
              <a:rPr lang="en-US" sz="1951">
                <a:solidFill>
                  <a:srgbClr val="232E2D"/>
                </a:solidFill>
                <a:latin typeface="Inter"/>
                <a:ea typeface="Inter"/>
                <a:cs typeface="Inter"/>
                <a:sym typeface="Inter"/>
              </a:rPr>
              <a:t>Stephens 1999 defined component vs demographic. Muir 2024 measured it. Same gap: theory is about populations, experiments measure individuals.</a:t>
            </a:r>
          </a:p>
        </p:txBody>
      </p:sp>
      <p:sp>
        <p:nvSpPr>
          <p:cNvPr name="AutoShape 35" id="35"/>
          <p:cNvSpPr/>
          <p:nvPr/>
        </p:nvSpPr>
        <p:spPr>
          <a:xfrm rot="5366220">
            <a:off x="8423767" y="8059684"/>
            <a:ext cx="1455677" cy="0"/>
          </a:xfrm>
          <a:prstGeom prst="line">
            <a:avLst/>
          </a:prstGeom>
          <a:ln cap="rnd" w="9525">
            <a:solidFill>
              <a:srgbClr val="C7C4C3"/>
            </a:solidFill>
            <a:prstDash val="solid"/>
            <a:headEnd type="none" len="sm" w="sm"/>
            <a:tailEnd type="none" len="sm" w="sm"/>
          </a:ln>
        </p:spPr>
      </p:sp>
      <p:sp>
        <p:nvSpPr>
          <p:cNvPr name="TextBox 36" id="36"/>
          <p:cNvSpPr txBox="true"/>
          <p:nvPr/>
        </p:nvSpPr>
        <p:spPr>
          <a:xfrm rot="0">
            <a:off x="9471441" y="7336643"/>
            <a:ext cx="7755598" cy="1347776"/>
          </a:xfrm>
          <a:prstGeom prst="rect">
            <a:avLst/>
          </a:prstGeom>
        </p:spPr>
        <p:txBody>
          <a:bodyPr anchor="t" rtlCol="false" tIns="0" lIns="0" bIns="0" rIns="0">
            <a:spAutoFit/>
          </a:bodyPr>
          <a:lstStyle/>
          <a:p>
            <a:pPr algn="l">
              <a:lnSpc>
                <a:spcPts val="2269"/>
              </a:lnSpc>
            </a:pPr>
            <a:r>
              <a:rPr lang="en-US" sz="1801">
                <a:solidFill>
                  <a:srgbClr val="717C7A"/>
                </a:solidFill>
                <a:latin typeface="Inter"/>
                <a:ea typeface="Inter"/>
                <a:cs typeface="Inter"/>
                <a:sym typeface="Inter"/>
              </a:rPr>
              <a:t>Our answer</a:t>
            </a:r>
          </a:p>
          <a:p>
            <a:pPr algn="l">
              <a:lnSpc>
                <a:spcPts val="1259"/>
              </a:lnSpc>
            </a:pPr>
          </a:p>
          <a:p>
            <a:pPr algn="l">
              <a:lnSpc>
                <a:spcPts val="2458"/>
              </a:lnSpc>
            </a:pPr>
            <a:r>
              <a:rPr lang="en-US" sz="1951">
                <a:solidFill>
                  <a:srgbClr val="232E2D"/>
                </a:solidFill>
                <a:latin typeface="Inter"/>
                <a:ea typeface="Inter"/>
                <a:cs typeface="Inter"/>
                <a:sym typeface="Inter"/>
              </a:rPr>
              <a:t>Not a curiosity, but a fundamental driver: it decides the fate of small, declining, harvested and newly arrived populations, often before we can detect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DAHXf1CBKHM</dc:identifier>
  <dcterms:modified xsi:type="dcterms:W3CDTF">2011-08-01T06:04:30Z</dcterms:modified>
  <cp:revision>1</cp:revision>
  <dc:title>Population Ecology Essentials</dc:title>
</cp:coreProperties>
</file>