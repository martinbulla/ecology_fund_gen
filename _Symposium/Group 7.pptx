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oboto Slab"/>
      <p:regular r:id="rId36"/>
      <p:bold r:id="rId37"/>
    </p:embeddedFont>
    <p:embeddedFont>
      <p:font typeface="Roboto"/>
      <p:regular r:id="rId38"/>
      <p:bold r:id="rId39"/>
      <p:italic r:id="rId40"/>
      <p:boldItalic r:id="rId41"/>
    </p:embeddedFont>
    <p:embeddedFont>
      <p:font typeface="Nunito"/>
      <p:regular r:id="rId42"/>
      <p:bold r:id="rId43"/>
      <p:italic r:id="rId44"/>
      <p:boldItalic r:id="rId45"/>
    </p:embeddedFont>
    <p:embeddedFont>
      <p:font typeface="Lobster"/>
      <p:regular r:id="rId46"/>
    </p:embeddedFont>
    <p:embeddedFont>
      <p:font typeface="Amatic SC"/>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099AB2-EB89-4C36-84CB-C12FAD55500C}">
  <a:tblStyle styleId="{14099AB2-EB89-4C36-84CB-C12FAD5550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4.xml"/><Relationship Id="rId42" Type="http://schemas.openxmlformats.org/officeDocument/2006/relationships/font" Target="fonts/Nunito-regular.fntdata"/><Relationship Id="rId41" Type="http://schemas.openxmlformats.org/officeDocument/2006/relationships/font" Target="fonts/Roboto-boldItalic.fntdata"/><Relationship Id="rId22" Type="http://schemas.openxmlformats.org/officeDocument/2006/relationships/slide" Target="slides/slide16.xml"/><Relationship Id="rId44" Type="http://schemas.openxmlformats.org/officeDocument/2006/relationships/font" Target="fonts/Nunito-italic.fntdata"/><Relationship Id="rId21" Type="http://schemas.openxmlformats.org/officeDocument/2006/relationships/slide" Target="slides/slide15.xml"/><Relationship Id="rId43" Type="http://schemas.openxmlformats.org/officeDocument/2006/relationships/font" Target="fonts/Nunito-bold.fntdata"/><Relationship Id="rId24" Type="http://schemas.openxmlformats.org/officeDocument/2006/relationships/slide" Target="slides/slide18.xml"/><Relationship Id="rId46" Type="http://schemas.openxmlformats.org/officeDocument/2006/relationships/font" Target="fonts/Lobster-regular.fntdata"/><Relationship Id="rId23" Type="http://schemas.openxmlformats.org/officeDocument/2006/relationships/slide" Target="slides/slide17.xml"/><Relationship Id="rId45"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AmaticSC-bold.fntdata"/><Relationship Id="rId25" Type="http://schemas.openxmlformats.org/officeDocument/2006/relationships/slide" Target="slides/slide19.xml"/><Relationship Id="rId47" Type="http://schemas.openxmlformats.org/officeDocument/2006/relationships/font" Target="fonts/AmaticSC-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Slab-bold.fntdata"/><Relationship Id="rId14" Type="http://schemas.openxmlformats.org/officeDocument/2006/relationships/slide" Target="slides/slide8.xml"/><Relationship Id="rId36" Type="http://schemas.openxmlformats.org/officeDocument/2006/relationships/font" Target="fonts/RobotoSlab-regular.fntdata"/><Relationship Id="rId17" Type="http://schemas.openxmlformats.org/officeDocument/2006/relationships/slide" Target="slides/slide11.xml"/><Relationship Id="rId39" Type="http://schemas.openxmlformats.org/officeDocument/2006/relationships/font" Target="fonts/Roboto-bold.fntdata"/><Relationship Id="rId16" Type="http://schemas.openxmlformats.org/officeDocument/2006/relationships/slide" Target="slides/slide10.xml"/><Relationship Id="rId38" Type="http://schemas.openxmlformats.org/officeDocument/2006/relationships/font" Target="fonts/Robo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4dd6c79d45c4e5e3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4dd6c79d45c4e5e3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3737918bb995eb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3737918bb995eb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491fd3d6136c57c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491fd3d6136c57c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ru">
                <a:solidFill>
                  <a:schemeClr val="dk1"/>
                </a:solidFill>
              </a:rPr>
              <a:t>The "Big Five" Events:</a:t>
            </a:r>
            <a:r>
              <a:rPr lang="ru">
                <a:solidFill>
                  <a:schemeClr val="dk1"/>
                </a:solidFill>
              </a:rPr>
              <a:t> Over the last 500 million years, Earth has suffered five catastrophic wipeouts. As you can see on the graph, these are the End Ordovician (86% of species lost), Late Devonian (75%), End Permian (96%), End Triassic (80%), and End Cretaceous (76%).</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ru">
                <a:solidFill>
                  <a:schemeClr val="dk1"/>
                </a:solidFill>
              </a:rPr>
              <a:t>The Shared Metric:</a:t>
            </a:r>
            <a:r>
              <a:rPr lang="ru">
                <a:solidFill>
                  <a:schemeClr val="dk1"/>
                </a:solidFill>
              </a:rPr>
              <a:t> While background extinction is normal, these five historical spikes share one defining trait: each wiped out </a:t>
            </a:r>
            <a:r>
              <a:rPr b="1" lang="ru">
                <a:solidFill>
                  <a:schemeClr val="dk1"/>
                </a:solidFill>
              </a:rPr>
              <a:t>at least 75%</a:t>
            </a:r>
            <a:r>
              <a:rPr lang="ru">
                <a:solidFill>
                  <a:schemeClr val="dk1"/>
                </a:solidFill>
              </a:rPr>
              <a:t> of all global species.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ru">
                <a:solidFill>
                  <a:schemeClr val="dk1"/>
                </a:solidFill>
              </a:rPr>
              <a:t>The Modern Spike:</a:t>
            </a:r>
            <a:r>
              <a:rPr lang="ru">
                <a:solidFill>
                  <a:schemeClr val="dk1"/>
                </a:solidFill>
              </a:rPr>
              <a:t> Now look at the far right (the zero mark). That dotted line with a question mark represents the current, human-driven crisis.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ru">
                <a:solidFill>
                  <a:schemeClr val="dk1"/>
                </a:solidFill>
              </a:rPr>
              <a:t>The Core Question:</a:t>
            </a:r>
            <a:r>
              <a:rPr lang="ru">
                <a:solidFill>
                  <a:schemeClr val="dk1"/>
                </a:solidFill>
              </a:rPr>
              <a:t> Are we officially entering a 6th mass extinction?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ru">
                <a:solidFill>
                  <a:schemeClr val="dk1"/>
                </a:solidFill>
              </a:rPr>
              <a:t>How We Measure It:</a:t>
            </a:r>
            <a:r>
              <a:rPr lang="ru">
                <a:solidFill>
                  <a:schemeClr val="dk1"/>
                </a:solidFill>
              </a:rPr>
              <a:t> Because we are actively in the middle of this event, we can't just count the total species lost yet. Instead, we must measure the </a:t>
            </a:r>
            <a:r>
              <a:rPr b="1" lang="ru">
                <a:solidFill>
                  <a:schemeClr val="dk1"/>
                </a:solidFill>
              </a:rPr>
              <a:t>speed</a:t>
            </a:r>
            <a:r>
              <a:rPr lang="ru">
                <a:solidFill>
                  <a:schemeClr val="dk1"/>
                </a:solidFill>
              </a:rPr>
              <a:t> of current extinctions against the normal, natural baseline.</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491fd3d6136c57c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491fd3d6136c57c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e7b8764a236ab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e7b8764a236ab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accent3"/>
                </a:solidFill>
              </a:rPr>
              <a:t>Ceballos means Modern extinction rate compared to BGER</a:t>
            </a:r>
            <a:endParaRPr>
              <a:solidFill>
                <a:schemeClr val="accent3"/>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4dd6c79d45c4e5e3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4dd6c79d45c4e5e3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accent3"/>
                </a:solidFill>
                <a:latin typeface="Roboto"/>
                <a:ea typeface="Roboto"/>
                <a:cs typeface="Roboto"/>
                <a:sym typeface="Roboto"/>
              </a:rPr>
              <a:t>Scientists charted the </a:t>
            </a:r>
            <a:r>
              <a:rPr lang="ru">
                <a:solidFill>
                  <a:schemeClr val="accent3"/>
                </a:solidFill>
                <a:latin typeface="Roboto"/>
                <a:ea typeface="Roboto"/>
                <a:cs typeface="Roboto"/>
                <a:sym typeface="Roboto"/>
              </a:rPr>
              <a:t>appearance</a:t>
            </a:r>
            <a:r>
              <a:rPr lang="ru">
                <a:solidFill>
                  <a:schemeClr val="accent3"/>
                </a:solidFill>
                <a:latin typeface="Roboto"/>
                <a:ea typeface="Roboto"/>
                <a:cs typeface="Roboto"/>
                <a:sym typeface="Roboto"/>
              </a:rPr>
              <a:t> and disappearance of fossilized mammal families and genera over millions of years</a:t>
            </a:r>
            <a:r>
              <a:rPr lang="ru">
                <a:solidFill>
                  <a:schemeClr val="accent3"/>
                </a:solidFill>
              </a:rPr>
              <a:t> </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lnSpc>
                <a:spcPct val="115000"/>
              </a:lnSpc>
              <a:spcBef>
                <a:spcPts val="0"/>
              </a:spcBef>
              <a:spcAft>
                <a:spcPts val="0"/>
              </a:spcAft>
              <a:buNone/>
            </a:pPr>
            <a:r>
              <a:rPr lang="ru">
                <a:solidFill>
                  <a:schemeClr val="accent3"/>
                </a:solidFill>
                <a:latin typeface="Roboto"/>
                <a:ea typeface="Roboto"/>
                <a:cs typeface="Roboto"/>
                <a:sym typeface="Roboto"/>
              </a:rPr>
              <a:t>and he (Barnosky 2011) used </a:t>
            </a:r>
            <a:r>
              <a:rPr lang="ru">
                <a:solidFill>
                  <a:schemeClr val="accent3"/>
                </a:solidFill>
                <a:latin typeface="Roboto"/>
                <a:ea typeface="Roboto"/>
                <a:cs typeface="Roboto"/>
                <a:sym typeface="Roboto"/>
              </a:rPr>
              <a:t>paleontological databases, subfossil remains, and historical records </a:t>
            </a:r>
            <a:endParaRPr>
              <a:solidFill>
                <a:schemeClr val="accent3"/>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ru">
                <a:solidFill>
                  <a:schemeClr val="accent3"/>
                </a:solidFill>
                <a:latin typeface="Roboto"/>
                <a:ea typeface="Roboto"/>
                <a:cs typeface="Roboto"/>
                <a:sym typeface="Roboto"/>
              </a:rPr>
              <a:t>Stratigraphic - mapping where sediments (fossils) occur in soil to determine the age of it</a:t>
            </a:r>
            <a:endParaRPr>
              <a:solidFill>
                <a:schemeClr val="accent3"/>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ru">
                <a:solidFill>
                  <a:schemeClr val="accent3"/>
                </a:solidFill>
                <a:latin typeface="Roboto"/>
                <a:ea typeface="Roboto"/>
                <a:cs typeface="Roboto"/>
                <a:sym typeface="Roboto"/>
              </a:rPr>
              <a:t>We will get into why this E/MSY data is higher than previous studies in a little bit</a:t>
            </a:r>
            <a:endParaRPr>
              <a:solidFill>
                <a:schemeClr val="accent3"/>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ru">
                <a:solidFill>
                  <a:schemeClr val="accent3"/>
                </a:solidFill>
                <a:latin typeface="Roboto"/>
                <a:ea typeface="Roboto"/>
                <a:cs typeface="Roboto"/>
                <a:sym typeface="Roboto"/>
              </a:rPr>
              <a:t>Now that we know what BGER is, we will have to look at this boring but easy to understand table to understand the modern extinction rate</a:t>
            </a:r>
            <a:endParaRPr>
              <a:solidFill>
                <a:schemeClr val="accent3"/>
              </a:solidFill>
              <a:latin typeface="Roboto"/>
              <a:ea typeface="Roboto"/>
              <a:cs typeface="Roboto"/>
              <a:sym typeface="Roboto"/>
            </a:endParaRPr>
          </a:p>
          <a:p>
            <a:pPr indent="0" lvl="0" marL="0" rtl="0" algn="l">
              <a:spcBef>
                <a:spcPts val="1200"/>
              </a:spcBef>
              <a:spcAft>
                <a:spcPts val="0"/>
              </a:spcAft>
              <a:buNone/>
            </a:pPr>
            <a:r>
              <a:t/>
            </a:r>
            <a:endParaRPr>
              <a:solidFill>
                <a:srgbClr val="F6B26B"/>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30a5d94f2492ce7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30a5d94f2492ce7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accent3"/>
                </a:solidFill>
              </a:rPr>
              <a:t>Table 1 was used to calculate the modern extinction rates in table 2</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spcBef>
                <a:spcPts val="0"/>
              </a:spcBef>
              <a:spcAft>
                <a:spcPts val="0"/>
              </a:spcAft>
              <a:buNone/>
            </a:pPr>
            <a:r>
              <a:rPr lang="ru">
                <a:solidFill>
                  <a:schemeClr val="accent3"/>
                </a:solidFill>
              </a:rPr>
              <a:t>It uses data from the International Union for Conservation of Nature (IUCN) </a:t>
            </a:r>
            <a:endParaRPr>
              <a:solidFill>
                <a:schemeClr val="accent3"/>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4dd6c79d45c4e5e3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4dd6c79d45c4e5e3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1629852d771897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1629852d771897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ru" sz="1200">
                <a:solidFill>
                  <a:schemeClr val="accent3"/>
                </a:solidFill>
                <a:latin typeface="Times New Roman"/>
                <a:ea typeface="Times New Roman"/>
                <a:cs typeface="Times New Roman"/>
                <a:sym typeface="Times New Roman"/>
              </a:rPr>
              <a:t>For the highly conservative rate (EX) since the 1500s so in the last 514 years 338 vertebrates went extinct so that would be: 77 mammals + 140 birds + 21 reptiles +...</a:t>
            </a:r>
            <a:endParaRPr sz="1200">
              <a:solidFill>
                <a:schemeClr val="accent3"/>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accent3"/>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ru" sz="1200">
                <a:solidFill>
                  <a:schemeClr val="accent3"/>
                </a:solidFill>
                <a:latin typeface="Times New Roman"/>
                <a:ea typeface="Times New Roman"/>
                <a:cs typeface="Times New Roman"/>
                <a:sym typeface="Times New Roman"/>
              </a:rPr>
              <a:t>From 1900 to 2014, in 114 years, 198 vertebrates went extinct </a:t>
            </a:r>
            <a:endParaRPr sz="1200">
              <a:solidFill>
                <a:schemeClr val="accent3"/>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accent3"/>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ru" sz="1200">
                <a:solidFill>
                  <a:schemeClr val="accent3"/>
                </a:solidFill>
                <a:latin typeface="Times New Roman"/>
                <a:ea typeface="Times New Roman"/>
                <a:cs typeface="Times New Roman"/>
                <a:sym typeface="Times New Roman"/>
              </a:rPr>
              <a:t>Key Takeaway from Table 1</a:t>
            </a:r>
            <a:r>
              <a:rPr lang="ru" sz="1200">
                <a:solidFill>
                  <a:schemeClr val="accent3"/>
                </a:solidFill>
                <a:latin typeface="Times New Roman"/>
                <a:ea typeface="Times New Roman"/>
                <a:cs typeface="Times New Roman"/>
                <a:sym typeface="Times New Roman"/>
              </a:rPr>
              <a:t>: The vast majority of documented extinctions occurred </a:t>
            </a:r>
            <a:r>
              <a:rPr b="1" lang="ru" sz="1200">
                <a:solidFill>
                  <a:schemeClr val="accent3"/>
                </a:solidFill>
                <a:latin typeface="Times New Roman"/>
                <a:ea typeface="Times New Roman"/>
                <a:cs typeface="Times New Roman"/>
                <a:sym typeface="Times New Roman"/>
              </a:rPr>
              <a:t>after 1900. </a:t>
            </a:r>
            <a:r>
              <a:rPr lang="ru" sz="1200">
                <a:solidFill>
                  <a:schemeClr val="accent3"/>
                </a:solidFill>
                <a:latin typeface="Times New Roman"/>
                <a:ea typeface="Times New Roman"/>
                <a:cs typeface="Times New Roman"/>
                <a:sym typeface="Times New Roman"/>
              </a:rPr>
              <a:t>146 out of 148 amphibian extinctions recorded since 1500 happened after 1900. So there were only 2 extinctions in 400 years (1500-1900).</a:t>
            </a:r>
            <a:endParaRPr sz="1200">
              <a:solidFill>
                <a:schemeClr val="accent3"/>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ru" sz="1200">
                <a:solidFill>
                  <a:schemeClr val="accent3"/>
                </a:solidFill>
                <a:latin typeface="Times New Roman"/>
                <a:ea typeface="Times New Roman"/>
                <a:cs typeface="Times New Roman"/>
                <a:sym typeface="Times New Roman"/>
              </a:rPr>
              <a:t>Conclusion: Under the 2 E/MSY background rate, 9 vertebrate extinctions would have been expected since 1900; but, under the conservative rate, 468 more vertebrates have gone extinct so the background rate had not persisted across all vertebrates.</a:t>
            </a:r>
            <a:endParaRPr sz="1200">
              <a:solidFill>
                <a:schemeClr val="accent3"/>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accent3"/>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21629852d771897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21629852d771897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accent3"/>
                </a:solidFill>
              </a:rPr>
              <a:t>This graph is a visual representation of table 1 to show that there has been an extinction spike starting from the 1900s as well as to show that modern extinction rate is much higher than BGER relative to time.</a:t>
            </a:r>
            <a:endParaRPr>
              <a:solidFill>
                <a:schemeClr val="accent3"/>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21629852d771897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21629852d771897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accent3"/>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21629852d771897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21629852d771897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ED561B"/>
                </a:solidFill>
              </a:rPr>
              <a:t>As mentioned on the first slide, the background rate was rounded up to 2E/MSY, double the previous estimate and this is to get the lowest bound data possible to disprove “threat inflation”.</a:t>
            </a:r>
            <a:endParaRPr>
              <a:solidFill>
                <a:srgbClr val="ED561B"/>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733a394a4a6d63d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733a394a4a6d63d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7f29446e131927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7f29446e131927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733a394a4a6d63d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733a394a4a6d63d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733a394a4a6d63d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33a394a4a6d63d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4f5f8edb2d546b6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4f5f8edb2d546b6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4f5f8edb2d546b6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4f5f8edb2d546b6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7103a8c97eacb48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7103a8c97eacb48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21629852d7718978_4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21629852d7718978_4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Definition the same as on slide</a:t>
            </a:r>
            <a:br>
              <a:rPr lang="ru"/>
            </a:br>
            <a:r>
              <a:rPr lang="ru"/>
              <a:t>Primary drivers - it is mainly triggered by habitat loss, fragmentation, pollution, or the loss of key partner species (such as pollinators)</a:t>
            </a:r>
            <a:br>
              <a:rPr lang="ru"/>
            </a:br>
            <a:r>
              <a:rPr lang="ru"/>
              <a:t>Time lag (1) - Animal and plant species rarely </a:t>
            </a:r>
            <a:r>
              <a:rPr lang="ru"/>
              <a:t>disappear</a:t>
            </a:r>
            <a:r>
              <a:rPr lang="ru"/>
              <a:t> immediately when their habitat is destroyed; instead, isolated populations survive for a while in small patches, but face declining breeding rates, higher competition for food, etc. which then lead to extinction</a:t>
            </a:r>
            <a:br>
              <a:rPr lang="ru"/>
            </a:br>
            <a:r>
              <a:rPr lang="ru"/>
              <a:t>Time lag (2) - time between habitat damge and species extinction can range from years or decades (for insects and birds) to centuries (for long-lived plants/trees)</a:t>
            </a:r>
            <a:br>
              <a:rPr lang="ru"/>
            </a:br>
            <a:r>
              <a:rPr lang="ru"/>
              <a:t>Conservation window - because affected species still remain alive during this “grace period”, extinction debt represents a window where we still have a chance to restore habitats and prevent species extinction from happening at all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21629852d7718978_4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h21629852d7718978_4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The expansion of farmlands and roadbuilding has fragmented the canopy, isolating populations into smaller forest patches</a:t>
            </a:r>
            <a:br>
              <a:rPr lang="ru"/>
            </a:br>
            <a:r>
              <a:rPr lang="ru"/>
              <a:t>Because spider monkeys depend on continuous canopy to move, they can’t cross open land.</a:t>
            </a:r>
            <a:br>
              <a:rPr lang="ru"/>
            </a:br>
            <a:r>
              <a:rPr lang="ru"/>
              <a:t>Although adults survived the initial tree clearing, shrinking territories lower their breeding rates and intensify competition for fruit.</a:t>
            </a:r>
            <a:br>
              <a:rPr lang="ru"/>
            </a:br>
            <a:r>
              <a:rPr lang="ru"/>
              <a:t>As a result, these isolated groups survive temporarily as the “walking dead” facing extinction as older generations die without being replaced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21629852d7718978_4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21629852d7718978_4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The shrub relies on native pollinating bird species to produce seeds and reproduce.</a:t>
            </a:r>
            <a:br>
              <a:rPr lang="ru"/>
            </a:br>
            <a:r>
              <a:rPr lang="ru"/>
              <a:t>When several of these key pollinators went locally extinct around 1870, the shrub lost its primary means of reproduction.</a:t>
            </a:r>
            <a:br>
              <a:rPr lang="ru"/>
            </a:br>
            <a:r>
              <a:rPr lang="ru"/>
              <a:t>Because the Taurepo shrub plants are so long lived, mature individuals have survived over a century without successfully generating new offspring.</a:t>
            </a:r>
            <a:br>
              <a:rPr lang="ru"/>
            </a:br>
            <a:r>
              <a:rPr lang="ru"/>
              <a:t>The adult plants still stand today, but because reproduction has largely ceased, the species is in extinction debt, which will be collected when the remaining plants reach the end of </a:t>
            </a:r>
            <a:r>
              <a:rPr lang="ru"/>
              <a:t>their lifespan.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ec67906f3d7473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ec67906f3d7473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1F1F1F"/>
                </a:solidFill>
                <a:latin typeface="Roboto"/>
                <a:ea typeface="Roboto"/>
                <a:cs typeface="Roboto"/>
                <a:sym typeface="Roboto"/>
              </a:rPr>
              <a:t>Following the introduction of mammalian predators (such as rats and stoats) and clearing of native forests, both the bellbird and stitchbird suffered local extinctions across the North Island mainland around 1870.</a:t>
            </a:r>
            <a:br>
              <a:rPr lang="ru">
                <a:solidFill>
                  <a:srgbClr val="1F1F1F"/>
                </a:solidFill>
                <a:latin typeface="Roboto"/>
                <a:ea typeface="Roboto"/>
                <a:cs typeface="Roboto"/>
                <a:sym typeface="Roboto"/>
              </a:rPr>
            </a:br>
            <a:r>
              <a:rPr lang="ru">
                <a:solidFill>
                  <a:srgbClr val="1F1F1F"/>
                </a:solidFill>
                <a:latin typeface="Roboto"/>
                <a:ea typeface="Roboto"/>
                <a:cs typeface="Roboto"/>
                <a:sym typeface="Roboto"/>
              </a:rPr>
              <a:t>While stitchbirds survived on predator-free offshore island sanctuaries (like Hauturu / Little Barrier Island) and bellbirds remained abundant on offshore islands, they vanished from the mainland where the Taurepo shrubs grow.</a:t>
            </a:r>
            <a:r>
              <a:rPr lang="ru">
                <a:solidFill>
                  <a:schemeClr val="dk1"/>
                </a:solidFill>
              </a:rPr>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21d06dbf7462d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21d06dbf7462d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117137d66ce132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117137d66ce132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accent3"/>
                </a:solidFill>
              </a:rPr>
              <a:t>FOR </a:t>
            </a:r>
            <a:endParaRPr>
              <a:solidFill>
                <a:schemeClr val="accent3"/>
              </a:solidFill>
            </a:endParaRPr>
          </a:p>
          <a:p>
            <a:pPr indent="-298450" lvl="0" marL="457200" rtl="0" algn="l">
              <a:spcBef>
                <a:spcPts val="0"/>
              </a:spcBef>
              <a:spcAft>
                <a:spcPts val="0"/>
              </a:spcAft>
              <a:buClr>
                <a:schemeClr val="accent3"/>
              </a:buClr>
              <a:buSzPts val="1100"/>
              <a:buAutoNum type="arabicParenR"/>
            </a:pPr>
            <a:r>
              <a:rPr lang="ru">
                <a:solidFill>
                  <a:schemeClr val="accent3"/>
                </a:solidFill>
              </a:rPr>
              <a:t>Modern is 22 - 53x higher than the background rate and it is 100x higher for amphibians </a:t>
            </a:r>
            <a:endParaRPr>
              <a:solidFill>
                <a:schemeClr val="accent3"/>
              </a:solidFill>
            </a:endParaRPr>
          </a:p>
          <a:p>
            <a:pPr indent="0" lvl="0" marL="0" rtl="0" algn="l">
              <a:spcBef>
                <a:spcPts val="0"/>
              </a:spcBef>
              <a:spcAft>
                <a:spcPts val="0"/>
              </a:spcAft>
              <a:buNone/>
            </a:pPr>
            <a:r>
              <a:rPr lang="ru">
                <a:solidFill>
                  <a:schemeClr val="accent3"/>
                </a:solidFill>
              </a:rPr>
              <a:t>3) Mammals, fresh water fishes, birds, amphibians and reptiles showed a massive spike in extinction after the 1900s</a:t>
            </a:r>
            <a:endParaRPr>
              <a:solidFill>
                <a:schemeClr val="accent3"/>
              </a:solidFill>
            </a:endParaRPr>
          </a:p>
          <a:p>
            <a:pPr indent="0" lvl="0" marL="0" rtl="0" algn="l">
              <a:spcBef>
                <a:spcPts val="0"/>
              </a:spcBef>
              <a:spcAft>
                <a:spcPts val="0"/>
              </a:spcAft>
              <a:buNone/>
            </a:pPr>
            <a:r>
              <a:rPr lang="ru">
                <a:solidFill>
                  <a:schemeClr val="accent3"/>
                </a:solidFill>
              </a:rPr>
              <a:t>4) Doubling background rate by only counting species from the IUCN red list and excluding </a:t>
            </a:r>
            <a:r>
              <a:rPr lang="ru">
                <a:solidFill>
                  <a:schemeClr val="accent3"/>
                </a:solidFill>
              </a:rPr>
              <a:t>theoretical</a:t>
            </a:r>
            <a:r>
              <a:rPr lang="ru">
                <a:solidFill>
                  <a:schemeClr val="accent3"/>
                </a:solidFill>
              </a:rPr>
              <a:t> models gave us BGER double the previous estimate </a:t>
            </a:r>
            <a:endParaRPr>
              <a:solidFill>
                <a:schemeClr val="accent3"/>
              </a:solidFill>
            </a:endParaRPr>
          </a:p>
          <a:p>
            <a:pPr indent="0" lvl="0" marL="0" rtl="0" algn="l">
              <a:spcBef>
                <a:spcPts val="0"/>
              </a:spcBef>
              <a:spcAft>
                <a:spcPts val="0"/>
              </a:spcAft>
              <a:buNone/>
            </a:pPr>
            <a:r>
              <a:rPr lang="ru">
                <a:solidFill>
                  <a:schemeClr val="accent3"/>
                </a:solidFill>
              </a:rPr>
              <a:t>so that we get the lower bound answer while comparing the BGER to Modern </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spcBef>
                <a:spcPts val="0"/>
              </a:spcBef>
              <a:spcAft>
                <a:spcPts val="0"/>
              </a:spcAft>
              <a:buNone/>
            </a:pPr>
            <a:r>
              <a:rPr lang="ru">
                <a:solidFill>
                  <a:schemeClr val="accent3"/>
                </a:solidFill>
              </a:rPr>
              <a:t>AGAINST</a:t>
            </a:r>
            <a:endParaRPr>
              <a:solidFill>
                <a:schemeClr val="accent3"/>
              </a:solidFill>
            </a:endParaRPr>
          </a:p>
          <a:p>
            <a:pPr indent="-298450" lvl="0" marL="457200" rtl="0" algn="l">
              <a:spcBef>
                <a:spcPts val="0"/>
              </a:spcBef>
              <a:spcAft>
                <a:spcPts val="0"/>
              </a:spcAft>
              <a:buClr>
                <a:schemeClr val="accent3"/>
              </a:buClr>
              <a:buSzPts val="1100"/>
              <a:buAutoNum type="arabicParenR"/>
            </a:pPr>
            <a:r>
              <a:rPr lang="ru">
                <a:solidFill>
                  <a:schemeClr val="accent3"/>
                </a:solidFill>
              </a:rPr>
              <a:t> A</a:t>
            </a:r>
            <a:r>
              <a:rPr lang="ru">
                <a:solidFill>
                  <a:schemeClr val="accent3"/>
                </a:solidFill>
              </a:rPr>
              <a:t>s mentioned earlier,  a mass extinction is the loss of 75% of all species around the world but less than 0.1% have gone extinct. </a:t>
            </a:r>
            <a:endParaRPr>
              <a:solidFill>
                <a:schemeClr val="accent3"/>
              </a:solidFill>
            </a:endParaRPr>
          </a:p>
          <a:p>
            <a:pPr indent="0" lvl="0" marL="0" rtl="0" algn="l">
              <a:spcBef>
                <a:spcPts val="0"/>
              </a:spcBef>
              <a:spcAft>
                <a:spcPts val="0"/>
              </a:spcAft>
              <a:buNone/>
            </a:pPr>
            <a:r>
              <a:rPr lang="ru">
                <a:solidFill>
                  <a:schemeClr val="accent3"/>
                </a:solidFill>
              </a:rPr>
              <a:t>AND less 0.8% of well </a:t>
            </a:r>
            <a:r>
              <a:rPr lang="ru">
                <a:solidFill>
                  <a:schemeClr val="accent3"/>
                </a:solidFill>
              </a:rPr>
              <a:t>assessed land vertebrates have gone extinct which is miles away from the threshold of 75% </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spcBef>
                <a:spcPts val="0"/>
              </a:spcBef>
              <a:spcAft>
                <a:spcPts val="0"/>
              </a:spcAft>
              <a:buNone/>
            </a:pPr>
            <a:r>
              <a:rPr lang="ru">
                <a:solidFill>
                  <a:schemeClr val="accent3"/>
                </a:solidFill>
              </a:rPr>
              <a:t>3) Wiens counters that roughly 70% of documented extinctions are geographically skewed to highly vulnerable island ecosystems. Because this acceleration is heavily localized rather than continental, he argues it is not the uniform global wipeout required to declare a true mass extinction. </a:t>
            </a:r>
            <a:endParaRPr>
              <a:solidFill>
                <a:schemeClr val="accent3"/>
              </a:solidFill>
            </a:endParaRPr>
          </a:p>
          <a:p>
            <a:pPr indent="0" lvl="0" marL="0" rtl="0" algn="l">
              <a:spcBef>
                <a:spcPts val="0"/>
              </a:spcBef>
              <a:spcAft>
                <a:spcPts val="0"/>
              </a:spcAft>
              <a:buNone/>
            </a:pPr>
            <a:r>
              <a:rPr lang="ru">
                <a:solidFill>
                  <a:schemeClr val="accent3"/>
                </a:solidFill>
              </a:rPr>
              <a:t>4) non-threatened species which makes up over 50% of accessed species will disappear without a specific cause</a:t>
            </a:r>
            <a:endParaRPr>
              <a:solidFill>
                <a:schemeClr val="accent3"/>
              </a:solidFill>
            </a:endParaRPr>
          </a:p>
          <a:p>
            <a:pPr indent="0" lvl="0" marL="0" rtl="0" algn="l">
              <a:spcBef>
                <a:spcPts val="0"/>
              </a:spcBef>
              <a:spcAft>
                <a:spcPts val="0"/>
              </a:spcAft>
              <a:buNone/>
            </a:pPr>
            <a:r>
              <a:rPr lang="ru">
                <a:solidFill>
                  <a:schemeClr val="accent3"/>
                </a:solidFill>
              </a:rPr>
              <a:t>and ignores invertebrates and insects which make up 97% of species diversity.</a:t>
            </a:r>
            <a:endParaRPr>
              <a:solidFill>
                <a:schemeClr val="accent3"/>
              </a:solidFill>
            </a:endParaRPr>
          </a:p>
          <a:p>
            <a:pPr indent="0" lvl="0" marL="0" rtl="0" algn="l">
              <a:spcBef>
                <a:spcPts val="0"/>
              </a:spcBef>
              <a:spcAft>
                <a:spcPts val="0"/>
              </a:spcAft>
              <a:buNone/>
            </a:pPr>
            <a:r>
              <a:rPr lang="ru">
                <a:solidFill>
                  <a:schemeClr val="accent3"/>
                </a:solidFill>
              </a:rPr>
              <a:t>Also ignores successful conservation efforts</a:t>
            </a:r>
            <a:endParaRPr>
              <a:solidFill>
                <a:schemeClr val="accent3"/>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733a394a4a6d63d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733a394a4a6d63d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ru">
                <a:solidFill>
                  <a:schemeClr val="dk1"/>
                </a:solidFill>
              </a:rPr>
              <a:t>1. Verdict (Hourglass):</a:t>
            </a:r>
            <a:r>
              <a:rPr lang="ru">
                <a:solidFill>
                  <a:schemeClr val="dk1"/>
                </a:solidFill>
              </a:rPr>
              <a:t> Falling sand = Ceballos’s velocity warning. Remaining sand = Wiens’s magnitude (we still have time). The "mass extinction" label is just a distraction from the data.</a:t>
            </a:r>
            <a:endParaRPr>
              <a:solidFill>
                <a:schemeClr val="dk1"/>
              </a:solidFill>
            </a:endParaRPr>
          </a:p>
          <a:p>
            <a:pPr indent="0" lvl="0" marL="0" rtl="0" algn="l">
              <a:spcBef>
                <a:spcPts val="0"/>
              </a:spcBef>
              <a:spcAft>
                <a:spcPts val="0"/>
              </a:spcAft>
              <a:buClr>
                <a:schemeClr val="dk1"/>
              </a:buClr>
              <a:buSzPts val="1100"/>
              <a:buFont typeface="Arial"/>
              <a:buNone/>
            </a:pPr>
            <a:r>
              <a:rPr b="1" lang="ru">
                <a:solidFill>
                  <a:schemeClr val="dk1"/>
                </a:solidFill>
              </a:rPr>
              <a:t>2. Driver (Footprint):</a:t>
            </a:r>
            <a:r>
              <a:rPr lang="ru">
                <a:solidFill>
                  <a:schemeClr val="dk1"/>
                </a:solidFill>
              </a:rPr>
              <a:t> Both papers completely agree on the cause. There is no meteor—the crisis is driven by our land-use, agriculture, and habitat destruction.</a:t>
            </a:r>
            <a:endParaRPr>
              <a:solidFill>
                <a:schemeClr val="dk1"/>
              </a:solidFill>
            </a:endParaRPr>
          </a:p>
          <a:p>
            <a:pPr indent="0" lvl="0" marL="0" rtl="0" algn="l">
              <a:spcBef>
                <a:spcPts val="0"/>
              </a:spcBef>
              <a:spcAft>
                <a:spcPts val="0"/>
              </a:spcAft>
              <a:buClr>
                <a:schemeClr val="dk1"/>
              </a:buClr>
              <a:buSzPts val="1100"/>
              <a:buFont typeface="Arial"/>
              <a:buNone/>
            </a:pPr>
            <a:r>
              <a:rPr b="1" lang="ru">
                <a:solidFill>
                  <a:schemeClr val="dk1"/>
                </a:solidFill>
              </a:rPr>
              <a:t>3. Solution (Tree):</a:t>
            </a:r>
            <a:r>
              <a:rPr lang="ru">
                <a:solidFill>
                  <a:schemeClr val="dk1"/>
                </a:solidFill>
              </a:rPr>
              <a:t> Targeted conservation. Wiens shows extinctions are heavily concentrated in island hotspots, meaning our response can be precise. Humanity’s footprint caused the crisis, but if we act now, our fingerprint is the solution.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117137d66ce132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117137d66ce132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5ca2bf9d6e83904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5ca2bf9d6e83904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oumnh.ox.ac.uk/earths-five-mass-extinctio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zooinstitutes.com/animals/white-cheeked-spider-monkey-6200/" TargetMode="External"/><Relationship Id="rId4" Type="http://schemas.openxmlformats.org/officeDocument/2006/relationships/hyperlink" Target="https://zooinstitutes.com/animals/white-cheeked-spider-monkey-6200/" TargetMode="External"/><Relationship Id="rId5" Type="http://schemas.openxmlformats.org/officeDocument/2006/relationships/hyperlink" Target="https://zooinstitutes.com/animals/white-cheeked-spider-monkey-6200/" TargetMode="External"/><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artandscienceofhorticulture.weebly.com/rhabdothamnus-solandri.html" TargetMode="Externa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hyperlink" Target="https://birdsoftheworld.org/bow/species/nezbel1/cur/introduction?media=photos" TargetMode="External"/><Relationship Id="rId6" Type="http://schemas.openxmlformats.org/officeDocument/2006/relationships/hyperlink" Target="https://www.flickr.com/photos/stevex2/601726523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8.jpg"/><Relationship Id="rId5" Type="http://schemas.openxmlformats.org/officeDocument/2006/relationships/image" Target="../media/image22.png"/><Relationship Id="rId6" Type="http://schemas.openxmlformats.org/officeDocument/2006/relationships/image" Target="../media/image27.jpg"/><Relationship Id="rId7"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www.worldwildlife.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216357"/>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ru" sz="4500">
                <a:latin typeface="Nunito"/>
                <a:ea typeface="Nunito"/>
                <a:cs typeface="Nunito"/>
                <a:sym typeface="Nunito"/>
              </a:rPr>
              <a:t>Global Change Ecology</a:t>
            </a:r>
            <a:endParaRPr b="1" sz="4500">
              <a:latin typeface="Nunito"/>
              <a:ea typeface="Nunito"/>
              <a:cs typeface="Nunito"/>
              <a:sym typeface="Nunito"/>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ru" sz="1050">
                <a:latin typeface="Nunito"/>
                <a:ea typeface="Nunito"/>
                <a:cs typeface="Nunito"/>
                <a:sym typeface="Nunito"/>
              </a:rPr>
              <a:t>João Maria Domingos </a:t>
            </a:r>
            <a:r>
              <a:rPr lang="ru" sz="1050">
                <a:latin typeface="Nunito"/>
                <a:ea typeface="Nunito"/>
                <a:cs typeface="Nunito"/>
                <a:sym typeface="Nunito"/>
              </a:rPr>
              <a:t>Lourenço</a:t>
            </a:r>
            <a:r>
              <a:rPr lang="ru" sz="1050">
                <a:latin typeface="Nunito"/>
                <a:ea typeface="Nunito"/>
                <a:cs typeface="Nunito"/>
                <a:sym typeface="Nunito"/>
              </a:rPr>
              <a:t> Marreiros Loureiro, </a:t>
            </a:r>
            <a:endParaRPr sz="1050">
              <a:latin typeface="Nunito"/>
              <a:ea typeface="Nunito"/>
              <a:cs typeface="Nunito"/>
              <a:sym typeface="Nunito"/>
            </a:endParaRPr>
          </a:p>
          <a:p>
            <a:pPr indent="0" lvl="0" marL="0" rtl="0" algn="ctr">
              <a:lnSpc>
                <a:spcPct val="115000"/>
              </a:lnSpc>
              <a:spcBef>
                <a:spcPts val="0"/>
              </a:spcBef>
              <a:spcAft>
                <a:spcPts val="0"/>
              </a:spcAft>
              <a:buNone/>
            </a:pPr>
            <a:r>
              <a:rPr lang="ru" sz="1050">
                <a:latin typeface="Nunito"/>
                <a:ea typeface="Nunito"/>
                <a:cs typeface="Nunito"/>
                <a:sym typeface="Nunito"/>
              </a:rPr>
              <a:t>Kandl Matyáš, </a:t>
            </a:r>
            <a:endParaRPr sz="1050">
              <a:latin typeface="Nunito"/>
              <a:ea typeface="Nunito"/>
              <a:cs typeface="Nunito"/>
              <a:sym typeface="Nunito"/>
            </a:endParaRPr>
          </a:p>
          <a:p>
            <a:pPr indent="0" lvl="0" marL="0" rtl="0" algn="ctr">
              <a:lnSpc>
                <a:spcPct val="115000"/>
              </a:lnSpc>
              <a:spcBef>
                <a:spcPts val="0"/>
              </a:spcBef>
              <a:spcAft>
                <a:spcPts val="0"/>
              </a:spcAft>
              <a:buNone/>
            </a:pPr>
            <a:r>
              <a:rPr lang="ru" sz="1050">
                <a:latin typeface="Nunito"/>
                <a:ea typeface="Nunito"/>
                <a:cs typeface="Nunito"/>
                <a:sym typeface="Nunito"/>
              </a:rPr>
              <a:t>Casian Romana, </a:t>
            </a:r>
            <a:endParaRPr sz="1050">
              <a:latin typeface="Nunito"/>
              <a:ea typeface="Nunito"/>
              <a:cs typeface="Nunito"/>
              <a:sym typeface="Nunito"/>
            </a:endParaRPr>
          </a:p>
          <a:p>
            <a:pPr indent="0" lvl="0" marL="0" rtl="0" algn="ctr">
              <a:lnSpc>
                <a:spcPct val="115000"/>
              </a:lnSpc>
              <a:spcBef>
                <a:spcPts val="0"/>
              </a:spcBef>
              <a:spcAft>
                <a:spcPts val="0"/>
              </a:spcAft>
              <a:buNone/>
            </a:pPr>
            <a:r>
              <a:rPr lang="ru" sz="1050">
                <a:latin typeface="Nunito"/>
                <a:ea typeface="Nunito"/>
                <a:cs typeface="Nunito"/>
                <a:sym typeface="Nunito"/>
              </a:rPr>
              <a:t>Kripa Thapa, </a:t>
            </a:r>
            <a:endParaRPr sz="1050">
              <a:latin typeface="Nunito"/>
              <a:ea typeface="Nunito"/>
              <a:cs typeface="Nunito"/>
              <a:sym typeface="Nunito"/>
            </a:endParaRPr>
          </a:p>
          <a:p>
            <a:pPr indent="0" lvl="0" marL="0" rtl="0" algn="ctr">
              <a:lnSpc>
                <a:spcPct val="115000"/>
              </a:lnSpc>
              <a:spcBef>
                <a:spcPts val="0"/>
              </a:spcBef>
              <a:spcAft>
                <a:spcPts val="0"/>
              </a:spcAft>
              <a:buNone/>
            </a:pPr>
            <a:r>
              <a:rPr lang="ru" sz="1050">
                <a:latin typeface="Nunito"/>
                <a:ea typeface="Nunito"/>
                <a:cs typeface="Nunito"/>
                <a:sym typeface="Nunito"/>
              </a:rPr>
              <a:t>Phone Thant Kyaw</a:t>
            </a:r>
            <a:endParaRPr sz="1050">
              <a:latin typeface="Nunito"/>
              <a:ea typeface="Nunito"/>
              <a:cs typeface="Nunito"/>
              <a:sym typeface="Nunito"/>
            </a:endParaRPr>
          </a:p>
        </p:txBody>
      </p:sp>
      <p:sp>
        <p:nvSpPr>
          <p:cNvPr id="65" name="Google Shape;6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2287200" y="841602"/>
            <a:ext cx="4569600" cy="292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sz="4500">
                <a:solidFill>
                  <a:schemeClr val="accent6"/>
                </a:solidFill>
                <a:latin typeface="Nunito"/>
                <a:ea typeface="Nunito"/>
                <a:cs typeface="Nunito"/>
                <a:sym typeface="Nunito"/>
              </a:rPr>
              <a:t>The Big Five</a:t>
            </a:r>
            <a:endParaRPr sz="4500">
              <a:solidFill>
                <a:schemeClr val="accent6"/>
              </a:solidFill>
              <a:latin typeface="Nunito"/>
              <a:ea typeface="Nunito"/>
              <a:cs typeface="Nunito"/>
              <a:sym typeface="Nunito"/>
            </a:endParaRPr>
          </a:p>
        </p:txBody>
      </p:sp>
      <p:sp>
        <p:nvSpPr>
          <p:cNvPr id="71" name="Google Shape;7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72" name="Google Shape;72;p14"/>
          <p:cNvSpPr/>
          <p:nvPr/>
        </p:nvSpPr>
        <p:spPr>
          <a:xfrm>
            <a:off x="1435650" y="1074450"/>
            <a:ext cx="6272700" cy="2994600"/>
          </a:xfrm>
          <a:prstGeom prst="frame">
            <a:avLst>
              <a:gd fmla="val 1525"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 name="Google Shape;73;p14"/>
          <p:cNvSpPr txBox="1"/>
          <p:nvPr/>
        </p:nvSpPr>
        <p:spPr>
          <a:xfrm>
            <a:off x="3129601" y="3180272"/>
            <a:ext cx="2884800" cy="46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ru" sz="1800">
                <a:solidFill>
                  <a:schemeClr val="accent5"/>
                </a:solidFill>
                <a:latin typeface="Nunito"/>
                <a:ea typeface="Nunito"/>
                <a:cs typeface="Nunito"/>
                <a:sym typeface="Nunito"/>
              </a:rPr>
              <a:t>Previously in the series…</a:t>
            </a:r>
            <a:endParaRPr i="1" sz="1800">
              <a:solidFill>
                <a:schemeClr val="accent5"/>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5"/>
          <p:cNvPicPr preferRelativeResize="0"/>
          <p:nvPr/>
        </p:nvPicPr>
        <p:blipFill>
          <a:blip r:embed="rId3">
            <a:alphaModFix/>
          </a:blip>
          <a:stretch>
            <a:fillRect/>
          </a:stretch>
        </p:blipFill>
        <p:spPr>
          <a:xfrm>
            <a:off x="152400" y="190825"/>
            <a:ext cx="8839201" cy="4704825"/>
          </a:xfrm>
          <a:prstGeom prst="rect">
            <a:avLst/>
          </a:prstGeom>
          <a:noFill/>
          <a:ln>
            <a:noFill/>
          </a:ln>
        </p:spPr>
      </p:pic>
      <p:sp>
        <p:nvSpPr>
          <p:cNvPr id="79" name="Google Shape;79;p15"/>
          <p:cNvSpPr txBox="1"/>
          <p:nvPr/>
        </p:nvSpPr>
        <p:spPr>
          <a:xfrm>
            <a:off x="152400" y="4895650"/>
            <a:ext cx="3405900" cy="1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700" u="sng">
                <a:solidFill>
                  <a:schemeClr val="hlink"/>
                </a:solidFill>
                <a:hlinkClick r:id="rId4"/>
              </a:rPr>
              <a:t>Earth’s five mass extinctions | Oxford University Museum of Natural History</a:t>
            </a:r>
            <a:r>
              <a:rPr lang="ru" sz="700" u="sng"/>
              <a:t> </a:t>
            </a:r>
            <a:endParaRPr sz="700" u="sng">
              <a:solidFill>
                <a:schemeClr val="dk1"/>
              </a:solidFill>
              <a:latin typeface="Roboto"/>
              <a:ea typeface="Roboto"/>
              <a:cs typeface="Roboto"/>
              <a:sym typeface="Roboto"/>
            </a:endParaRPr>
          </a:p>
        </p:txBody>
      </p:sp>
      <p:sp>
        <p:nvSpPr>
          <p:cNvPr id="80" name="Google Shape;80;p15"/>
          <p:cNvSpPr txBox="1"/>
          <p:nvPr>
            <p:ph idx="12" type="sldNum"/>
          </p:nvPr>
        </p:nvSpPr>
        <p:spPr>
          <a:xfrm>
            <a:off x="8595308" y="47849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2711981" y="-53909"/>
            <a:ext cx="33519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ru" sz="2500">
                <a:solidFill>
                  <a:schemeClr val="accent6"/>
                </a:solidFill>
                <a:latin typeface="Nunito"/>
                <a:ea typeface="Nunito"/>
                <a:cs typeface="Nunito"/>
                <a:sym typeface="Nunito"/>
              </a:rPr>
              <a:t>The Big Five</a:t>
            </a:r>
            <a:endParaRPr i="1" sz="2500">
              <a:solidFill>
                <a:schemeClr val="accent6"/>
              </a:solidFill>
              <a:latin typeface="Nunito"/>
              <a:ea typeface="Nunito"/>
              <a:cs typeface="Nunito"/>
              <a:sym typeface="Nunito"/>
            </a:endParaRPr>
          </a:p>
        </p:txBody>
      </p:sp>
      <p:pic>
        <p:nvPicPr>
          <p:cNvPr id="86" name="Google Shape;86;p16"/>
          <p:cNvPicPr preferRelativeResize="0"/>
          <p:nvPr/>
        </p:nvPicPr>
        <p:blipFill>
          <a:blip r:embed="rId3">
            <a:alphaModFix/>
          </a:blip>
          <a:stretch>
            <a:fillRect/>
          </a:stretch>
        </p:blipFill>
        <p:spPr>
          <a:xfrm>
            <a:off x="948750" y="515500"/>
            <a:ext cx="7246497" cy="4296649"/>
          </a:xfrm>
          <a:prstGeom prst="rect">
            <a:avLst/>
          </a:prstGeom>
          <a:noFill/>
          <a:ln>
            <a:noFill/>
          </a:ln>
        </p:spPr>
      </p:pic>
      <p:sp>
        <p:nvSpPr>
          <p:cNvPr id="87" name="Google Shape;87;p16"/>
          <p:cNvSpPr txBox="1"/>
          <p:nvPr/>
        </p:nvSpPr>
        <p:spPr>
          <a:xfrm>
            <a:off x="5961897" y="4812150"/>
            <a:ext cx="3182100" cy="29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700" u="sng">
                <a:solidFill>
                  <a:schemeClr val="accent5"/>
                </a:solidFill>
                <a:latin typeface="Roboto"/>
                <a:ea typeface="Roboto"/>
                <a:cs typeface="Roboto"/>
                <a:sym typeface="Roboto"/>
              </a:rPr>
              <a:t>https://en.wikipedia.org/wiki/Extinction_event</a:t>
            </a:r>
            <a:endParaRPr sz="700" u="sng">
              <a:solidFill>
                <a:schemeClr val="accent5"/>
              </a:solidFill>
              <a:latin typeface="Roboto"/>
              <a:ea typeface="Roboto"/>
              <a:cs typeface="Roboto"/>
              <a:sym typeface="Roboto"/>
            </a:endParaRPr>
          </a:p>
        </p:txBody>
      </p:sp>
      <p:sp>
        <p:nvSpPr>
          <p:cNvPr id="88" name="Google Shape;88;p16"/>
          <p:cNvSpPr txBox="1"/>
          <p:nvPr>
            <p:ph idx="12" type="sldNum"/>
          </p:nvPr>
        </p:nvSpPr>
        <p:spPr>
          <a:xfrm>
            <a:off x="8595308" y="47849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p:nvPr/>
        </p:nvSpPr>
        <p:spPr>
          <a:xfrm>
            <a:off x="1435650" y="1074450"/>
            <a:ext cx="6272700" cy="2994600"/>
          </a:xfrm>
          <a:prstGeom prst="frame">
            <a:avLst>
              <a:gd fmla="val 1525"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7"/>
          <p:cNvSpPr txBox="1"/>
          <p:nvPr>
            <p:ph idx="4294967295" type="ctrTitle"/>
          </p:nvPr>
        </p:nvSpPr>
        <p:spPr>
          <a:xfrm>
            <a:off x="1680302" y="1843060"/>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u" sz="4500">
                <a:solidFill>
                  <a:schemeClr val="accent6"/>
                </a:solidFill>
                <a:latin typeface="Nunito"/>
                <a:ea typeface="Nunito"/>
                <a:cs typeface="Nunito"/>
                <a:sym typeface="Nunito"/>
              </a:rPr>
              <a:t>How </a:t>
            </a:r>
            <a:r>
              <a:rPr lang="ru" sz="4500">
                <a:solidFill>
                  <a:schemeClr val="accent6"/>
                </a:solidFill>
                <a:latin typeface="Nunito"/>
                <a:ea typeface="Nunito"/>
                <a:cs typeface="Nunito"/>
                <a:sym typeface="Nunito"/>
              </a:rPr>
              <a:t>t</a:t>
            </a:r>
            <a:r>
              <a:rPr lang="ru" sz="4500">
                <a:solidFill>
                  <a:schemeClr val="accent6"/>
                </a:solidFill>
                <a:latin typeface="Nunito"/>
                <a:ea typeface="Nunito"/>
                <a:cs typeface="Nunito"/>
                <a:sym typeface="Nunito"/>
              </a:rPr>
              <a:t>o </a:t>
            </a:r>
            <a:r>
              <a:rPr lang="ru" sz="4500">
                <a:solidFill>
                  <a:schemeClr val="accent6"/>
                </a:solidFill>
                <a:latin typeface="Nunito"/>
                <a:ea typeface="Nunito"/>
                <a:cs typeface="Nunito"/>
                <a:sym typeface="Nunito"/>
              </a:rPr>
              <a:t>d</a:t>
            </a:r>
            <a:r>
              <a:rPr lang="ru" sz="4500">
                <a:solidFill>
                  <a:schemeClr val="accent6"/>
                </a:solidFill>
                <a:latin typeface="Nunito"/>
                <a:ea typeface="Nunito"/>
                <a:cs typeface="Nunito"/>
                <a:sym typeface="Nunito"/>
              </a:rPr>
              <a:t>efine an </a:t>
            </a:r>
            <a:r>
              <a:rPr lang="ru" sz="4500">
                <a:solidFill>
                  <a:schemeClr val="accent6"/>
                </a:solidFill>
                <a:latin typeface="Nunito"/>
                <a:ea typeface="Nunito"/>
                <a:cs typeface="Nunito"/>
                <a:sym typeface="Nunito"/>
              </a:rPr>
              <a:t>e</a:t>
            </a:r>
            <a:r>
              <a:rPr lang="ru" sz="4500">
                <a:solidFill>
                  <a:schemeClr val="accent6"/>
                </a:solidFill>
                <a:latin typeface="Nunito"/>
                <a:ea typeface="Nunito"/>
                <a:cs typeface="Nunito"/>
                <a:sym typeface="Nunito"/>
              </a:rPr>
              <a:t>xtinction?</a:t>
            </a:r>
            <a:endParaRPr sz="4500">
              <a:solidFill>
                <a:schemeClr val="accent6"/>
              </a:solidFill>
              <a:latin typeface="Nunito"/>
              <a:ea typeface="Nunito"/>
              <a:cs typeface="Nunito"/>
              <a:sym typeface="Nunito"/>
            </a:endParaRPr>
          </a:p>
        </p:txBody>
      </p:sp>
      <p:sp>
        <p:nvSpPr>
          <p:cNvPr id="95" name="Google Shape;95;p17"/>
          <p:cNvSpPr txBox="1"/>
          <p:nvPr>
            <p:ph idx="12" type="sldNum"/>
          </p:nvPr>
        </p:nvSpPr>
        <p:spPr>
          <a:xfrm>
            <a:off x="8595308" y="47849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p:nvPr/>
        </p:nvSpPr>
        <p:spPr>
          <a:xfrm>
            <a:off x="292616" y="804600"/>
            <a:ext cx="8412600" cy="3534300"/>
          </a:xfrm>
          <a:prstGeom prst="roundRect">
            <a:avLst>
              <a:gd fmla="val 3026"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02" name="Google Shape;102;p18"/>
          <p:cNvSpPr txBox="1"/>
          <p:nvPr/>
        </p:nvSpPr>
        <p:spPr>
          <a:xfrm>
            <a:off x="790800" y="1353300"/>
            <a:ext cx="7562400" cy="24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lang="ru" sz="2000">
                <a:solidFill>
                  <a:schemeClr val="accent5"/>
                </a:solidFill>
                <a:latin typeface="Nunito"/>
                <a:ea typeface="Nunito"/>
                <a:cs typeface="Nunito"/>
                <a:sym typeface="Nunito"/>
              </a:rPr>
              <a:t>Ceballos</a:t>
            </a:r>
            <a:r>
              <a:rPr b="1" lang="ru" sz="2000">
                <a:solidFill>
                  <a:srgbClr val="FFFFFF"/>
                </a:solidFill>
                <a:latin typeface="Nunito"/>
                <a:ea typeface="Nunito"/>
                <a:cs typeface="Nunito"/>
                <a:sym typeface="Nunito"/>
              </a:rPr>
              <a:t> </a:t>
            </a:r>
            <a:r>
              <a:rPr lang="ru" sz="2000">
                <a:solidFill>
                  <a:srgbClr val="FFFFFF"/>
                </a:solidFill>
                <a:latin typeface="Nunito"/>
                <a:ea typeface="Nunito"/>
                <a:cs typeface="Nunito"/>
                <a:sym typeface="Nunito"/>
              </a:rPr>
              <a:t>defines a mass extinction by </a:t>
            </a:r>
            <a:r>
              <a:rPr b="1" i="1" lang="ru" sz="2000">
                <a:solidFill>
                  <a:srgbClr val="FFFFFF"/>
                </a:solidFill>
                <a:latin typeface="Nunito"/>
                <a:ea typeface="Nunito"/>
                <a:cs typeface="Nunito"/>
                <a:sym typeface="Nunito"/>
              </a:rPr>
              <a:t>how fast species are currently disappearing</a:t>
            </a:r>
            <a:r>
              <a:rPr lang="ru" sz="2000">
                <a:solidFill>
                  <a:srgbClr val="FFFFFF"/>
                </a:solidFill>
                <a:latin typeface="Nunito"/>
                <a:ea typeface="Nunito"/>
                <a:cs typeface="Nunito"/>
                <a:sym typeface="Nunito"/>
              </a:rPr>
              <a:t> relative to geological background levels.</a:t>
            </a:r>
            <a:endParaRPr sz="2000">
              <a:solidFill>
                <a:srgbClr val="FFFFFF"/>
              </a:solidFill>
              <a:latin typeface="Nunito"/>
              <a:ea typeface="Nunito"/>
              <a:cs typeface="Nunito"/>
              <a:sym typeface="Nunito"/>
            </a:endParaRPr>
          </a:p>
          <a:p>
            <a:pPr indent="0" lvl="0" marL="457200" rtl="0" algn="l">
              <a:lnSpc>
                <a:spcPct val="115000"/>
              </a:lnSpc>
              <a:spcBef>
                <a:spcPts val="1100"/>
              </a:spcBef>
              <a:spcAft>
                <a:spcPts val="0"/>
              </a:spcAft>
              <a:buNone/>
            </a:pPr>
            <a:r>
              <a:t/>
            </a:r>
            <a:endParaRPr sz="2000">
              <a:solidFill>
                <a:srgbClr val="FFFFFF"/>
              </a:solidFill>
              <a:latin typeface="Nunito"/>
              <a:ea typeface="Nunito"/>
              <a:cs typeface="Nunito"/>
              <a:sym typeface="Nunito"/>
            </a:endParaRPr>
          </a:p>
          <a:p>
            <a:pPr indent="0" lvl="0" marL="0" rtl="0" algn="l">
              <a:lnSpc>
                <a:spcPct val="115000"/>
              </a:lnSpc>
              <a:spcBef>
                <a:spcPts val="1100"/>
              </a:spcBef>
              <a:spcAft>
                <a:spcPts val="0"/>
              </a:spcAft>
              <a:buNone/>
            </a:pPr>
            <a:r>
              <a:rPr lang="ru" sz="2000">
                <a:solidFill>
                  <a:schemeClr val="accent5"/>
                </a:solidFill>
                <a:latin typeface="Nunito"/>
                <a:ea typeface="Nunito"/>
                <a:cs typeface="Nunito"/>
                <a:sym typeface="Nunito"/>
              </a:rPr>
              <a:t>Wiens &amp; Saban</a:t>
            </a:r>
            <a:r>
              <a:rPr lang="ru" sz="2000">
                <a:solidFill>
                  <a:srgbClr val="FFFFFF"/>
                </a:solidFill>
                <a:latin typeface="Nunito"/>
                <a:ea typeface="Nunito"/>
                <a:cs typeface="Nunito"/>
                <a:sym typeface="Nunito"/>
              </a:rPr>
              <a:t> defines a mass extinction by </a:t>
            </a:r>
            <a:r>
              <a:rPr b="1" i="1" lang="ru" sz="2000">
                <a:solidFill>
                  <a:schemeClr val="dk1"/>
                </a:solidFill>
                <a:latin typeface="Nunito"/>
                <a:ea typeface="Nunito"/>
                <a:cs typeface="Nunito"/>
                <a:sym typeface="Nunito"/>
              </a:rPr>
              <a:t>how many total species are lost</a:t>
            </a:r>
            <a:r>
              <a:rPr lang="ru" sz="2000">
                <a:solidFill>
                  <a:srgbClr val="FFFFFF"/>
                </a:solidFill>
                <a:latin typeface="Nunito"/>
                <a:ea typeface="Nunito"/>
                <a:cs typeface="Nunito"/>
                <a:sym typeface="Nunito"/>
              </a:rPr>
              <a:t> (requiring 75% total loss)</a:t>
            </a:r>
            <a:endParaRPr sz="2000">
              <a:solidFill>
                <a:srgbClr val="FFFFFF"/>
              </a:solidFill>
              <a:latin typeface="Nunito"/>
              <a:ea typeface="Nunito"/>
              <a:cs typeface="Nunito"/>
              <a:sym typeface="Nunito"/>
            </a:endParaRPr>
          </a:p>
          <a:p>
            <a:pPr indent="0" lvl="0" marL="0" rtl="0" algn="l">
              <a:spcBef>
                <a:spcPts val="1100"/>
              </a:spcBef>
              <a:spcAft>
                <a:spcPts val="0"/>
              </a:spcAft>
              <a:buNone/>
            </a:pPr>
            <a:r>
              <a:t/>
            </a:r>
            <a:endParaRPr sz="2000">
              <a:solidFill>
                <a:srgbClr val="9E9E9E"/>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p:nvPr/>
        </p:nvSpPr>
        <p:spPr>
          <a:xfrm>
            <a:off x="278900" y="1275600"/>
            <a:ext cx="8412600" cy="3534300"/>
          </a:xfrm>
          <a:prstGeom prst="roundRect">
            <a:avLst>
              <a:gd fmla="val 3026"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 name="Google Shape;108;p19"/>
          <p:cNvSpPr txBox="1"/>
          <p:nvPr>
            <p:ph type="title"/>
          </p:nvPr>
        </p:nvSpPr>
        <p:spPr>
          <a:xfrm>
            <a:off x="712800" y="384885"/>
            <a:ext cx="7718400" cy="68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i="1" lang="ru" sz="2600">
                <a:latin typeface="Nunito"/>
                <a:ea typeface="Nunito"/>
                <a:cs typeface="Nunito"/>
                <a:sym typeface="Nunito"/>
              </a:rPr>
              <a:t>Measuring Background Extinction Rate (BGER)</a:t>
            </a:r>
            <a:endParaRPr i="1" sz="2600">
              <a:latin typeface="Nunito"/>
              <a:ea typeface="Nunito"/>
              <a:cs typeface="Nunito"/>
              <a:sym typeface="Nunito"/>
            </a:endParaRPr>
          </a:p>
        </p:txBody>
      </p:sp>
      <p:sp>
        <p:nvSpPr>
          <p:cNvPr id="109" name="Google Shape;109;p19"/>
          <p:cNvSpPr txBox="1"/>
          <p:nvPr>
            <p:ph idx="1" type="body"/>
          </p:nvPr>
        </p:nvSpPr>
        <p:spPr>
          <a:xfrm>
            <a:off x="387900" y="1426477"/>
            <a:ext cx="2346300" cy="3444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i="1" lang="ru">
                <a:solidFill>
                  <a:schemeClr val="accent5"/>
                </a:solidFill>
                <a:latin typeface="Nunito"/>
                <a:ea typeface="Nunito"/>
                <a:cs typeface="Nunito"/>
                <a:sym typeface="Nunito"/>
              </a:rPr>
              <a:t>What is the background extinction rate?</a:t>
            </a:r>
            <a:endParaRPr i="1">
              <a:solidFill>
                <a:schemeClr val="accent5"/>
              </a:solidFill>
              <a:latin typeface="Nunito"/>
              <a:ea typeface="Nunito"/>
              <a:cs typeface="Nunito"/>
              <a:sym typeface="Nunito"/>
            </a:endParaRPr>
          </a:p>
          <a:p>
            <a:pPr indent="0" lvl="0" marL="0" rtl="0" algn="l">
              <a:spcBef>
                <a:spcPts val="1200"/>
              </a:spcBef>
              <a:spcAft>
                <a:spcPts val="1200"/>
              </a:spcAft>
              <a:buNone/>
            </a:pPr>
            <a:r>
              <a:rPr lang="ru">
                <a:latin typeface="Nunito"/>
                <a:ea typeface="Nunito"/>
                <a:cs typeface="Nunito"/>
                <a:sym typeface="Nunito"/>
              </a:rPr>
              <a:t>It represents the </a:t>
            </a:r>
            <a:r>
              <a:rPr b="1" lang="ru">
                <a:latin typeface="Nunito"/>
                <a:ea typeface="Nunito"/>
                <a:cs typeface="Nunito"/>
                <a:sym typeface="Nunito"/>
              </a:rPr>
              <a:t>natural pace at which species </a:t>
            </a:r>
            <a:r>
              <a:rPr b="1" lang="ru">
                <a:latin typeface="Nunito"/>
                <a:ea typeface="Nunito"/>
                <a:cs typeface="Nunito"/>
                <a:sym typeface="Nunito"/>
              </a:rPr>
              <a:t>disappear</a:t>
            </a:r>
            <a:r>
              <a:rPr b="1" lang="ru">
                <a:latin typeface="Nunito"/>
                <a:ea typeface="Nunito"/>
                <a:cs typeface="Nunito"/>
                <a:sym typeface="Nunito"/>
              </a:rPr>
              <a:t> </a:t>
            </a:r>
            <a:r>
              <a:rPr lang="ru">
                <a:latin typeface="Nunito"/>
                <a:ea typeface="Nunito"/>
                <a:cs typeface="Nunito"/>
                <a:sym typeface="Nunito"/>
              </a:rPr>
              <a:t>over geological without the impact of humans.</a:t>
            </a:r>
            <a:endParaRPr>
              <a:latin typeface="Nunito"/>
              <a:ea typeface="Nunito"/>
              <a:cs typeface="Nunito"/>
              <a:sym typeface="Nunito"/>
            </a:endParaRPr>
          </a:p>
        </p:txBody>
      </p:sp>
      <p:sp>
        <p:nvSpPr>
          <p:cNvPr id="110" name="Google Shape;110;p19"/>
          <p:cNvSpPr txBox="1"/>
          <p:nvPr>
            <p:ph idx="1" type="body"/>
          </p:nvPr>
        </p:nvSpPr>
        <p:spPr>
          <a:xfrm>
            <a:off x="2864066" y="1426475"/>
            <a:ext cx="3237000" cy="344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ru">
                <a:solidFill>
                  <a:schemeClr val="accent5"/>
                </a:solidFill>
                <a:latin typeface="Nunito"/>
                <a:ea typeface="Nunito"/>
                <a:cs typeface="Nunito"/>
                <a:sym typeface="Nunito"/>
              </a:rPr>
              <a:t>How is it measured?</a:t>
            </a:r>
            <a:endParaRPr i="1">
              <a:solidFill>
                <a:schemeClr val="accent5"/>
              </a:solidFill>
              <a:latin typeface="Nunito"/>
              <a:ea typeface="Nunito"/>
              <a:cs typeface="Nunito"/>
              <a:sym typeface="Nunito"/>
            </a:endParaRPr>
          </a:p>
          <a:p>
            <a:pPr indent="0" lvl="0" marL="0" rtl="0" algn="l">
              <a:spcBef>
                <a:spcPts val="1200"/>
              </a:spcBef>
              <a:spcAft>
                <a:spcPts val="0"/>
              </a:spcAft>
              <a:buNone/>
            </a:pPr>
            <a:r>
              <a:rPr lang="ru">
                <a:solidFill>
                  <a:srgbClr val="FFFFFF"/>
                </a:solidFill>
                <a:latin typeface="Nunito"/>
                <a:ea typeface="Nunito"/>
                <a:cs typeface="Nunito"/>
                <a:sym typeface="Nunito"/>
              </a:rPr>
              <a:t>U</a:t>
            </a:r>
            <a:r>
              <a:rPr lang="ru">
                <a:solidFill>
                  <a:srgbClr val="FFFFFF"/>
                </a:solidFill>
                <a:latin typeface="Nunito"/>
                <a:ea typeface="Nunito"/>
                <a:cs typeface="Nunito"/>
                <a:sym typeface="Nunito"/>
              </a:rPr>
              <a:t>sing the P</a:t>
            </a:r>
            <a:r>
              <a:rPr lang="ru">
                <a:solidFill>
                  <a:srgbClr val="FFFFFF"/>
                </a:solidFill>
                <a:latin typeface="Nunito"/>
                <a:ea typeface="Nunito"/>
                <a:cs typeface="Nunito"/>
                <a:sym typeface="Nunito"/>
              </a:rPr>
              <a:t>hanerozoic marine invertebrate fossil record.</a:t>
            </a:r>
            <a:endParaRPr>
              <a:solidFill>
                <a:srgbClr val="FFFFFF"/>
              </a:solidFill>
              <a:latin typeface="Nunito"/>
              <a:ea typeface="Nunito"/>
              <a:cs typeface="Nunito"/>
              <a:sym typeface="Nunito"/>
            </a:endParaRPr>
          </a:p>
          <a:p>
            <a:pPr indent="0" lvl="0" marL="0" rtl="0" algn="l">
              <a:spcBef>
                <a:spcPts val="1200"/>
              </a:spcBef>
              <a:spcAft>
                <a:spcPts val="1200"/>
              </a:spcAft>
              <a:buNone/>
            </a:pPr>
            <a:r>
              <a:rPr lang="ru">
                <a:solidFill>
                  <a:srgbClr val="FFFFFF"/>
                </a:solidFill>
                <a:latin typeface="Nunito"/>
                <a:ea typeface="Nunito"/>
                <a:cs typeface="Nunito"/>
                <a:sym typeface="Nunito"/>
              </a:rPr>
              <a:t>charting the </a:t>
            </a:r>
            <a:r>
              <a:rPr b="1" lang="ru">
                <a:solidFill>
                  <a:srgbClr val="FFFFFF"/>
                </a:solidFill>
                <a:latin typeface="Nunito"/>
                <a:ea typeface="Nunito"/>
                <a:cs typeface="Nunito"/>
                <a:sym typeface="Nunito"/>
              </a:rPr>
              <a:t>stratigraphic ranges of thousands of mammal species</a:t>
            </a:r>
            <a:r>
              <a:rPr lang="ru">
                <a:solidFill>
                  <a:srgbClr val="FFFFFF"/>
                </a:solidFill>
                <a:latin typeface="Nunito"/>
                <a:ea typeface="Nunito"/>
                <a:cs typeface="Nunito"/>
                <a:sym typeface="Nunito"/>
              </a:rPr>
              <a:t> </a:t>
            </a:r>
            <a:endParaRPr>
              <a:latin typeface="Nunito"/>
              <a:ea typeface="Nunito"/>
              <a:cs typeface="Nunito"/>
              <a:sym typeface="Nunito"/>
            </a:endParaRPr>
          </a:p>
        </p:txBody>
      </p:sp>
      <p:sp>
        <p:nvSpPr>
          <p:cNvPr id="111" name="Google Shape;111;p19"/>
          <p:cNvSpPr txBox="1"/>
          <p:nvPr>
            <p:ph idx="1" type="body"/>
          </p:nvPr>
        </p:nvSpPr>
        <p:spPr>
          <a:xfrm>
            <a:off x="6409800" y="1426475"/>
            <a:ext cx="2346300" cy="344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ru">
                <a:solidFill>
                  <a:schemeClr val="accent5"/>
                </a:solidFill>
                <a:latin typeface="Nunito"/>
                <a:ea typeface="Nunito"/>
                <a:cs typeface="Nunito"/>
                <a:sym typeface="Nunito"/>
              </a:rPr>
              <a:t>How much </a:t>
            </a:r>
            <a:r>
              <a:rPr i="1" lang="ru">
                <a:solidFill>
                  <a:schemeClr val="accent5"/>
                </a:solidFill>
                <a:latin typeface="Nunito"/>
                <a:ea typeface="Nunito"/>
                <a:cs typeface="Nunito"/>
                <a:sym typeface="Nunito"/>
              </a:rPr>
              <a:t>is the BGER?</a:t>
            </a:r>
            <a:endParaRPr i="1">
              <a:solidFill>
                <a:schemeClr val="accent5"/>
              </a:solidFill>
              <a:latin typeface="Nunito"/>
              <a:ea typeface="Nunito"/>
              <a:cs typeface="Nunito"/>
              <a:sym typeface="Nunito"/>
            </a:endParaRPr>
          </a:p>
          <a:p>
            <a:pPr indent="0" lvl="0" marL="0" rtl="0" algn="l">
              <a:spcBef>
                <a:spcPts val="1200"/>
              </a:spcBef>
              <a:spcAft>
                <a:spcPts val="0"/>
              </a:spcAft>
              <a:buNone/>
            </a:pPr>
            <a:r>
              <a:rPr lang="ru">
                <a:latin typeface="Nunito"/>
                <a:ea typeface="Nunito"/>
                <a:cs typeface="Nunito"/>
                <a:sym typeface="Nunito"/>
              </a:rPr>
              <a:t>0.1-1E/MSY</a:t>
            </a:r>
            <a:endParaRPr>
              <a:latin typeface="Nunito"/>
              <a:ea typeface="Nunito"/>
              <a:cs typeface="Nunito"/>
              <a:sym typeface="Nunito"/>
            </a:endParaRPr>
          </a:p>
          <a:p>
            <a:pPr indent="0" lvl="0" marL="0" rtl="0" algn="l">
              <a:spcBef>
                <a:spcPts val="1200"/>
              </a:spcBef>
              <a:spcAft>
                <a:spcPts val="0"/>
              </a:spcAft>
              <a:buNone/>
            </a:pPr>
            <a:r>
              <a:rPr lang="ru">
                <a:latin typeface="Nunito"/>
                <a:ea typeface="Nunito"/>
                <a:cs typeface="Nunito"/>
                <a:sym typeface="Nunito"/>
              </a:rPr>
              <a:t>1.8~ rounded up to 2E/MSY</a:t>
            </a:r>
            <a:endParaRPr>
              <a:latin typeface="Nunito"/>
              <a:ea typeface="Nunito"/>
              <a:cs typeface="Nunito"/>
              <a:sym typeface="Nunito"/>
            </a:endParaRPr>
          </a:p>
          <a:p>
            <a:pPr indent="0" lvl="0" marL="0" rtl="0" algn="l">
              <a:spcBef>
                <a:spcPts val="1200"/>
              </a:spcBef>
              <a:spcAft>
                <a:spcPts val="1200"/>
              </a:spcAft>
              <a:buNone/>
            </a:pPr>
            <a:r>
              <a:rPr lang="ru">
                <a:latin typeface="Nunito"/>
                <a:ea typeface="Nunito"/>
                <a:cs typeface="Nunito"/>
                <a:sym typeface="Nunito"/>
              </a:rPr>
              <a:t>1 species extinctions per 10,000 species per 100 years</a:t>
            </a:r>
            <a:endParaRPr>
              <a:latin typeface="Nunito"/>
              <a:ea typeface="Nunito"/>
              <a:cs typeface="Nunito"/>
              <a:sym typeface="Nunito"/>
            </a:endParaRPr>
          </a:p>
        </p:txBody>
      </p:sp>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0"/>
          <p:cNvPicPr preferRelativeResize="0"/>
          <p:nvPr/>
        </p:nvPicPr>
        <p:blipFill>
          <a:blip r:embed="rId3">
            <a:alphaModFix/>
          </a:blip>
          <a:stretch>
            <a:fillRect/>
          </a:stretch>
        </p:blipFill>
        <p:spPr>
          <a:xfrm>
            <a:off x="137625" y="580150"/>
            <a:ext cx="8868750" cy="3983203"/>
          </a:xfrm>
          <a:prstGeom prst="rect">
            <a:avLst/>
          </a:prstGeom>
          <a:noFill/>
          <a:ln>
            <a:noFill/>
          </a:ln>
        </p:spPr>
      </p:pic>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19" name="Google Shape;119;p20"/>
          <p:cNvSpPr/>
          <p:nvPr/>
        </p:nvSpPr>
        <p:spPr>
          <a:xfrm>
            <a:off x="8071475" y="1413900"/>
            <a:ext cx="311700" cy="456600"/>
          </a:xfrm>
          <a:prstGeom prst="downArrow">
            <a:avLst>
              <a:gd fmla="val 50000" name="adj1"/>
              <a:gd fmla="val 50000" name="adj2"/>
            </a:avLst>
          </a:prstGeom>
          <a:solidFill>
            <a:srgbClr val="FF0000"/>
          </a:solidFill>
          <a:ln cap="flat" cmpd="sng" w="9525">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 name="Google Shape;120;p20"/>
          <p:cNvSpPr/>
          <p:nvPr/>
        </p:nvSpPr>
        <p:spPr>
          <a:xfrm rot="5400000">
            <a:off x="6832225" y="1666475"/>
            <a:ext cx="311700" cy="456600"/>
          </a:xfrm>
          <a:prstGeom prst="downArrow">
            <a:avLst>
              <a:gd fmla="val 50000" name="adj1"/>
              <a:gd fmla="val 50000" name="adj2"/>
            </a:avLst>
          </a:prstGeom>
          <a:solidFill>
            <a:srgbClr val="FF0000"/>
          </a:solidFill>
          <a:ln cap="flat" cmpd="sng" w="9525">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1" name="Google Shape;121;p20"/>
          <p:cNvSpPr/>
          <p:nvPr/>
        </p:nvSpPr>
        <p:spPr>
          <a:xfrm rot="5400000">
            <a:off x="4076525" y="1666475"/>
            <a:ext cx="311700" cy="456600"/>
          </a:xfrm>
          <a:prstGeom prst="downArrow">
            <a:avLst>
              <a:gd fmla="val 50000" name="adj1"/>
              <a:gd fmla="val 50000" name="adj2"/>
            </a:avLst>
          </a:prstGeom>
          <a:solidFill>
            <a:srgbClr val="FF0000"/>
          </a:solidFill>
          <a:ln cap="flat" cmpd="sng" w="9525">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1000"/>
                                        <p:tgtEl>
                                          <p:spTgt spid="1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1000"/>
                                        <p:tgtEl>
                                          <p:spTgt spid="1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1000"/>
                                        <p:tgtEl>
                                          <p:spTgt spid="121"/>
                                        </p:tgtEl>
                                        <p:attrNameLst>
                                          <p:attrName>ppt_w</p:attrName>
                                        </p:attrNameLst>
                                      </p:cBhvr>
                                      <p:tavLst>
                                        <p:tav fmla="" tm="0">
                                          <p:val>
                                            <p:strVal val="0"/>
                                          </p:val>
                                        </p:tav>
                                        <p:tav fmla="" tm="100000">
                                          <p:val>
                                            <p:strVal val="#ppt_w"/>
                                          </p:val>
                                        </p:tav>
                                      </p:tavLst>
                                    </p:anim>
                                    <p:anim calcmode="lin" valueType="num">
                                      <p:cBhvr additive="base">
                                        <p:cTn dur="1000"/>
                                        <p:tgtEl>
                                          <p:spTgt spid="12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 type="body"/>
          </p:nvPr>
        </p:nvSpPr>
        <p:spPr>
          <a:xfrm>
            <a:off x="92250" y="3163451"/>
            <a:ext cx="3258900" cy="144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700">
                <a:solidFill>
                  <a:schemeClr val="accent5"/>
                </a:solidFill>
                <a:latin typeface="Nunito"/>
                <a:ea typeface="Nunito"/>
                <a:cs typeface="Nunito"/>
                <a:sym typeface="Nunito"/>
              </a:rPr>
              <a:t>Conservative:</a:t>
            </a:r>
            <a:endParaRPr sz="1700">
              <a:solidFill>
                <a:schemeClr val="accent5"/>
              </a:solidFill>
              <a:latin typeface="Nunito"/>
              <a:ea typeface="Nunito"/>
              <a:cs typeface="Nunito"/>
              <a:sym typeface="Nunito"/>
            </a:endParaRPr>
          </a:p>
          <a:p>
            <a:pPr indent="0" lvl="0" marL="0" rtl="0" algn="l">
              <a:spcBef>
                <a:spcPts val="1200"/>
              </a:spcBef>
              <a:spcAft>
                <a:spcPts val="1200"/>
              </a:spcAft>
              <a:buNone/>
            </a:pPr>
            <a:r>
              <a:rPr lang="ru" sz="1700">
                <a:latin typeface="Nunito"/>
                <a:ea typeface="Nunito"/>
                <a:cs typeface="Nunito"/>
                <a:sym typeface="Nunito"/>
              </a:rPr>
              <a:t>Consider the extinct species, extinct in the wild, possibly extinct from the Red list.</a:t>
            </a:r>
            <a:endParaRPr sz="1700">
              <a:latin typeface="Nunito"/>
              <a:ea typeface="Nunito"/>
              <a:cs typeface="Nunito"/>
              <a:sym typeface="Nunito"/>
            </a:endParaRPr>
          </a:p>
        </p:txBody>
      </p:sp>
      <p:sp>
        <p:nvSpPr>
          <p:cNvPr id="127" name="Google Shape;127;p21"/>
          <p:cNvSpPr txBox="1"/>
          <p:nvPr>
            <p:ph idx="2" type="body"/>
          </p:nvPr>
        </p:nvSpPr>
        <p:spPr>
          <a:xfrm>
            <a:off x="92250" y="1707000"/>
            <a:ext cx="3000300" cy="144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700">
                <a:solidFill>
                  <a:schemeClr val="accent5"/>
                </a:solidFill>
                <a:latin typeface="Nunito"/>
                <a:ea typeface="Nunito"/>
                <a:cs typeface="Nunito"/>
                <a:sym typeface="Nunito"/>
              </a:rPr>
              <a:t>Highly </a:t>
            </a:r>
            <a:r>
              <a:rPr lang="ru" sz="1700">
                <a:solidFill>
                  <a:schemeClr val="accent5"/>
                </a:solidFill>
                <a:latin typeface="Nunito"/>
                <a:ea typeface="Nunito"/>
                <a:cs typeface="Nunito"/>
                <a:sym typeface="Nunito"/>
              </a:rPr>
              <a:t>conservative:</a:t>
            </a:r>
            <a:endParaRPr sz="1700">
              <a:latin typeface="Nunito"/>
              <a:ea typeface="Nunito"/>
              <a:cs typeface="Nunito"/>
              <a:sym typeface="Nunito"/>
            </a:endParaRPr>
          </a:p>
          <a:p>
            <a:pPr indent="0" lvl="0" marL="0" rtl="0" algn="l">
              <a:spcBef>
                <a:spcPts val="1200"/>
              </a:spcBef>
              <a:spcAft>
                <a:spcPts val="1200"/>
              </a:spcAft>
              <a:buNone/>
            </a:pPr>
            <a:r>
              <a:rPr lang="ru" sz="1700">
                <a:latin typeface="Nunito"/>
                <a:ea typeface="Nunito"/>
                <a:cs typeface="Nunito"/>
                <a:sym typeface="Nunito"/>
              </a:rPr>
              <a:t>Only considering the officially extinct species from the Red list.</a:t>
            </a:r>
            <a:endParaRPr sz="1700">
              <a:latin typeface="Nunito"/>
              <a:ea typeface="Nunito"/>
              <a:cs typeface="Nunito"/>
              <a:sym typeface="Nunito"/>
            </a:endParaRPr>
          </a:p>
        </p:txBody>
      </p:sp>
      <p:sp>
        <p:nvSpPr>
          <p:cNvPr id="128" name="Google Shape;128;p21"/>
          <p:cNvSpPr txBox="1"/>
          <p:nvPr/>
        </p:nvSpPr>
        <p:spPr>
          <a:xfrm>
            <a:off x="92250" y="195850"/>
            <a:ext cx="28692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ru" sz="2500">
                <a:solidFill>
                  <a:schemeClr val="accent6"/>
                </a:solidFill>
                <a:latin typeface="Nunito"/>
                <a:ea typeface="Nunito"/>
                <a:cs typeface="Nunito"/>
                <a:sym typeface="Nunito"/>
              </a:rPr>
              <a:t>Conservative VS Highly Conservative </a:t>
            </a:r>
            <a:endParaRPr i="1" sz="2500">
              <a:solidFill>
                <a:schemeClr val="accent6"/>
              </a:solidFill>
              <a:latin typeface="Nunito"/>
              <a:ea typeface="Nunito"/>
              <a:cs typeface="Nunito"/>
              <a:sym typeface="Nunito"/>
            </a:endParaRPr>
          </a:p>
        </p:txBody>
      </p:sp>
      <p:sp>
        <p:nvSpPr>
          <p:cNvPr id="129" name="Google Shape;129;p21"/>
          <p:cNvSpPr txBox="1"/>
          <p:nvPr>
            <p:ph idx="12" type="sldNum"/>
          </p:nvPr>
        </p:nvSpPr>
        <p:spPr>
          <a:xfrm>
            <a:off x="-322842" y="-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30" name="Google Shape;130;p21"/>
          <p:cNvPicPr preferRelativeResize="0"/>
          <p:nvPr/>
        </p:nvPicPr>
        <p:blipFill>
          <a:blip r:embed="rId3">
            <a:alphaModFix/>
          </a:blip>
          <a:stretch>
            <a:fillRect/>
          </a:stretch>
        </p:blipFill>
        <p:spPr>
          <a:xfrm>
            <a:off x="3295400" y="89075"/>
            <a:ext cx="5717450" cy="4965350"/>
          </a:xfrm>
          <a:prstGeom prst="rect">
            <a:avLst/>
          </a:prstGeom>
          <a:noFill/>
          <a:ln>
            <a:noFill/>
          </a:ln>
        </p:spPr>
      </p:pic>
      <p:sp>
        <p:nvSpPr>
          <p:cNvPr id="131" name="Google Shape;131;p21"/>
          <p:cNvSpPr/>
          <p:nvPr/>
        </p:nvSpPr>
        <p:spPr>
          <a:xfrm rot="5400000">
            <a:off x="7474532" y="1633272"/>
            <a:ext cx="388800" cy="256200"/>
          </a:xfrm>
          <a:prstGeom prst="downArrow">
            <a:avLst>
              <a:gd fmla="val 50000" name="adj1"/>
              <a:gd fmla="val 50000" name="adj2"/>
            </a:avLst>
          </a:prstGeom>
          <a:solidFill>
            <a:srgbClr val="FF0000"/>
          </a:solidFill>
          <a:ln cap="flat" cmpd="sng" w="9525">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2" name="Google Shape;132;p21"/>
          <p:cNvSpPr/>
          <p:nvPr/>
        </p:nvSpPr>
        <p:spPr>
          <a:xfrm rot="5400000">
            <a:off x="5725329" y="1633272"/>
            <a:ext cx="388800" cy="256200"/>
          </a:xfrm>
          <a:prstGeom prst="downArrow">
            <a:avLst>
              <a:gd fmla="val 50000" name="adj1"/>
              <a:gd fmla="val 50000" name="adj2"/>
            </a:avLst>
          </a:prstGeom>
          <a:solidFill>
            <a:srgbClr val="FF0000"/>
          </a:solidFill>
          <a:ln cap="flat" cmpd="sng" w="9525">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2"/>
          <p:cNvPicPr preferRelativeResize="0"/>
          <p:nvPr/>
        </p:nvPicPr>
        <p:blipFill>
          <a:blip r:embed="rId3">
            <a:alphaModFix/>
          </a:blip>
          <a:stretch>
            <a:fillRect/>
          </a:stretch>
        </p:blipFill>
        <p:spPr>
          <a:xfrm>
            <a:off x="137625" y="169450"/>
            <a:ext cx="8868750" cy="3983203"/>
          </a:xfrm>
          <a:prstGeom prst="rect">
            <a:avLst/>
          </a:prstGeom>
          <a:noFill/>
          <a:ln>
            <a:noFill/>
          </a:ln>
        </p:spPr>
      </p:pic>
      <p:sp>
        <p:nvSpPr>
          <p:cNvPr id="138" name="Google Shape;13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39" name="Google Shape;139;p22"/>
          <p:cNvSpPr txBox="1"/>
          <p:nvPr/>
        </p:nvSpPr>
        <p:spPr>
          <a:xfrm>
            <a:off x="137625" y="4284500"/>
            <a:ext cx="4204200" cy="66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u" u="sng">
                <a:solidFill>
                  <a:schemeClr val="accent6"/>
                </a:solidFill>
                <a:latin typeface="Nunito"/>
                <a:ea typeface="Nunito"/>
                <a:cs typeface="Nunito"/>
                <a:sym typeface="Nunito"/>
              </a:rPr>
              <a:t>338-198=140</a:t>
            </a:r>
            <a:r>
              <a:rPr lang="ru">
                <a:solidFill>
                  <a:srgbClr val="FFFFFF"/>
                </a:solidFill>
                <a:latin typeface="Nunito"/>
                <a:ea typeface="Nunito"/>
                <a:cs typeface="Nunito"/>
                <a:sym typeface="Nunito"/>
              </a:rPr>
              <a:t> species went extinct in 400 years for the highly conservative scenario. </a:t>
            </a:r>
            <a:endParaRPr>
              <a:solidFill>
                <a:srgbClr val="FFFFFF"/>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p:txBody>
      </p:sp>
      <p:sp>
        <p:nvSpPr>
          <p:cNvPr id="140" name="Google Shape;140;p22"/>
          <p:cNvSpPr txBox="1"/>
          <p:nvPr/>
        </p:nvSpPr>
        <p:spPr>
          <a:xfrm>
            <a:off x="4341825" y="4276094"/>
            <a:ext cx="4578000" cy="6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ru" u="sng">
                <a:solidFill>
                  <a:schemeClr val="accent6"/>
                </a:solidFill>
                <a:latin typeface="Nunito"/>
                <a:ea typeface="Nunito"/>
                <a:cs typeface="Nunito"/>
                <a:sym typeface="Nunito"/>
              </a:rPr>
              <a:t>617</a:t>
            </a:r>
            <a:r>
              <a:rPr b="1" lang="ru" u="sng">
                <a:solidFill>
                  <a:schemeClr val="accent6"/>
                </a:solidFill>
                <a:latin typeface="Nunito"/>
                <a:ea typeface="Nunito"/>
                <a:cs typeface="Nunito"/>
                <a:sym typeface="Nunito"/>
              </a:rPr>
              <a:t>-338=279</a:t>
            </a:r>
            <a:r>
              <a:rPr lang="ru">
                <a:solidFill>
                  <a:srgbClr val="FFFFFF"/>
                </a:solidFill>
                <a:latin typeface="Nunito"/>
                <a:ea typeface="Nunito"/>
                <a:cs typeface="Nunito"/>
                <a:sym typeface="Nunito"/>
              </a:rPr>
              <a:t> extra species became extinct in the wild or possibly extinct in the conservative scenario.</a:t>
            </a:r>
            <a:endParaRPr>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46" name="Google Shape;146;p23"/>
          <p:cNvPicPr preferRelativeResize="0"/>
          <p:nvPr/>
        </p:nvPicPr>
        <p:blipFill>
          <a:blip r:embed="rId3">
            <a:alphaModFix/>
          </a:blip>
          <a:stretch>
            <a:fillRect/>
          </a:stretch>
        </p:blipFill>
        <p:spPr>
          <a:xfrm>
            <a:off x="205613" y="152400"/>
            <a:ext cx="8732780" cy="4510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52" name="Google Shape;152;p24"/>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3" name="Google Shape;15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54" name="Google Shape;154;p24"/>
          <p:cNvPicPr preferRelativeResize="0"/>
          <p:nvPr/>
        </p:nvPicPr>
        <p:blipFill>
          <a:blip r:embed="rId3">
            <a:alphaModFix/>
          </a:blip>
          <a:stretch>
            <a:fillRect/>
          </a:stretch>
        </p:blipFill>
        <p:spPr>
          <a:xfrm>
            <a:off x="152400" y="61913"/>
            <a:ext cx="5257800" cy="5019675"/>
          </a:xfrm>
          <a:prstGeom prst="rect">
            <a:avLst/>
          </a:prstGeom>
          <a:noFill/>
          <a:ln>
            <a:noFill/>
          </a:ln>
        </p:spPr>
      </p:pic>
      <p:sp>
        <p:nvSpPr>
          <p:cNvPr id="155" name="Google Shape;155;p24"/>
          <p:cNvSpPr txBox="1"/>
          <p:nvPr/>
        </p:nvSpPr>
        <p:spPr>
          <a:xfrm>
            <a:off x="5710425" y="1371175"/>
            <a:ext cx="32253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rgbClr val="FFFFFF"/>
                </a:solidFill>
                <a:latin typeface="Nunito"/>
                <a:ea typeface="Nunito"/>
                <a:cs typeface="Nunito"/>
                <a:sym typeface="Nunito"/>
              </a:rPr>
              <a:t> Table 2 translates the raw numbers from Table 1 into an elevation multiplier, showing how many times modern extinction rates exceed the benchmark background rate of 2 E/MSY.</a:t>
            </a:r>
            <a:endParaRPr sz="1800">
              <a:solidFill>
                <a:srgbClr val="FFFFFF"/>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61" name="Google Shape;161;p25"/>
          <p:cNvPicPr preferRelativeResize="0"/>
          <p:nvPr/>
        </p:nvPicPr>
        <p:blipFill rotWithShape="1">
          <a:blip r:embed="rId3">
            <a:alphaModFix/>
          </a:blip>
          <a:srcRect b="0" l="0" r="0" t="0"/>
          <a:stretch/>
        </p:blipFill>
        <p:spPr>
          <a:xfrm>
            <a:off x="103225" y="152400"/>
            <a:ext cx="4081204" cy="4838700"/>
          </a:xfrm>
          <a:prstGeom prst="rect">
            <a:avLst/>
          </a:prstGeom>
          <a:noFill/>
          <a:ln>
            <a:noFill/>
          </a:ln>
        </p:spPr>
      </p:pic>
      <p:sp>
        <p:nvSpPr>
          <p:cNvPr id="162" name="Google Shape;162;p25"/>
          <p:cNvSpPr txBox="1"/>
          <p:nvPr/>
        </p:nvSpPr>
        <p:spPr>
          <a:xfrm>
            <a:off x="4485132" y="973800"/>
            <a:ext cx="4316100" cy="31959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rPr i="1" lang="ru" sz="1800">
                <a:solidFill>
                  <a:srgbClr val="FFFFFF"/>
                </a:solidFill>
                <a:latin typeface="Nunito"/>
                <a:ea typeface="Nunito"/>
                <a:cs typeface="Nunito"/>
                <a:sym typeface="Nunito"/>
              </a:rPr>
              <a:t>“Our analysis shows that current extinction rates vastly exceed natural average background rates, even when (i) the background rate is considered to be double previous estimates and when (ii) data on modern vertebrate extinctions are treated in the most conservative plausible way.”</a:t>
            </a:r>
            <a:endParaRPr i="1" sz="1800">
              <a:solidFill>
                <a:srgbClr val="FFFFFF"/>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1762650" y="526350"/>
            <a:ext cx="56187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sz="4500">
                <a:solidFill>
                  <a:schemeClr val="accent6"/>
                </a:solidFill>
                <a:latin typeface="Nunito"/>
                <a:ea typeface="Nunito"/>
                <a:cs typeface="Nunito"/>
                <a:sym typeface="Nunito"/>
              </a:rPr>
              <a:t>Human Impact On Species And Biodiversity Loss</a:t>
            </a:r>
            <a:endParaRPr sz="4500">
              <a:solidFill>
                <a:schemeClr val="accent6"/>
              </a:solidFill>
              <a:latin typeface="Nunito"/>
              <a:ea typeface="Nunito"/>
              <a:cs typeface="Nunito"/>
              <a:sym typeface="Nunito"/>
            </a:endParaRPr>
          </a:p>
        </p:txBody>
      </p:sp>
      <p:sp>
        <p:nvSpPr>
          <p:cNvPr id="168" name="Google Shape;16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69" name="Google Shape;169;p26"/>
          <p:cNvSpPr/>
          <p:nvPr/>
        </p:nvSpPr>
        <p:spPr>
          <a:xfrm>
            <a:off x="1435650" y="1074450"/>
            <a:ext cx="6272700" cy="2994600"/>
          </a:xfrm>
          <a:prstGeom prst="frame">
            <a:avLst>
              <a:gd fmla="val 1525"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p:nvPr/>
        </p:nvSpPr>
        <p:spPr>
          <a:xfrm>
            <a:off x="0" y="477000"/>
            <a:ext cx="9144000" cy="4189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75" name="Google Shape;175;p27"/>
          <p:cNvPicPr preferRelativeResize="0"/>
          <p:nvPr/>
        </p:nvPicPr>
        <p:blipFill rotWithShape="1">
          <a:blip r:embed="rId3">
            <a:alphaModFix/>
          </a:blip>
          <a:srcRect b="0" l="1884" r="0" t="0"/>
          <a:stretch/>
        </p:blipFill>
        <p:spPr>
          <a:xfrm>
            <a:off x="157738" y="1216830"/>
            <a:ext cx="8828525" cy="2709850"/>
          </a:xfrm>
          <a:prstGeom prst="rect">
            <a:avLst/>
          </a:prstGeom>
          <a:noFill/>
          <a:ln>
            <a:noFill/>
          </a:ln>
        </p:spPr>
      </p:pic>
      <p:sp>
        <p:nvSpPr>
          <p:cNvPr id="176" name="Google Shape;17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p:nvPr/>
        </p:nvSpPr>
        <p:spPr>
          <a:xfrm>
            <a:off x="4416550" y="-25"/>
            <a:ext cx="4727400" cy="5143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Roboto"/>
              <a:ea typeface="Roboto"/>
              <a:cs typeface="Roboto"/>
              <a:sym typeface="Roboto"/>
            </a:endParaRPr>
          </a:p>
        </p:txBody>
      </p:sp>
      <p:pic>
        <p:nvPicPr>
          <p:cNvPr id="182" name="Google Shape;182;p28"/>
          <p:cNvPicPr preferRelativeResize="0"/>
          <p:nvPr/>
        </p:nvPicPr>
        <p:blipFill>
          <a:blip r:embed="rId3">
            <a:alphaModFix/>
          </a:blip>
          <a:stretch>
            <a:fillRect/>
          </a:stretch>
        </p:blipFill>
        <p:spPr>
          <a:xfrm>
            <a:off x="4618589" y="2086756"/>
            <a:ext cx="4454665" cy="2812479"/>
          </a:xfrm>
          <a:prstGeom prst="rect">
            <a:avLst/>
          </a:prstGeom>
          <a:noFill/>
          <a:ln>
            <a:noFill/>
          </a:ln>
        </p:spPr>
      </p:pic>
      <p:sp>
        <p:nvSpPr>
          <p:cNvPr id="183" name="Google Shape;183;p28"/>
          <p:cNvSpPr txBox="1"/>
          <p:nvPr>
            <p:ph idx="12" type="sldNum"/>
          </p:nvPr>
        </p:nvSpPr>
        <p:spPr>
          <a:xfrm>
            <a:off x="8674501" y="0"/>
            <a:ext cx="4695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84" name="Google Shape;184;p28"/>
          <p:cNvPicPr preferRelativeResize="0"/>
          <p:nvPr/>
        </p:nvPicPr>
        <p:blipFill>
          <a:blip r:embed="rId4">
            <a:alphaModFix/>
          </a:blip>
          <a:stretch>
            <a:fillRect/>
          </a:stretch>
        </p:blipFill>
        <p:spPr>
          <a:xfrm>
            <a:off x="507893" y="151151"/>
            <a:ext cx="3359325" cy="4841198"/>
          </a:xfrm>
          <a:prstGeom prst="rect">
            <a:avLst/>
          </a:prstGeom>
          <a:noFill/>
          <a:ln>
            <a:noFill/>
          </a:ln>
        </p:spPr>
      </p:pic>
      <p:sp>
        <p:nvSpPr>
          <p:cNvPr id="185" name="Google Shape;185;p28"/>
          <p:cNvSpPr txBox="1"/>
          <p:nvPr/>
        </p:nvSpPr>
        <p:spPr>
          <a:xfrm>
            <a:off x="4618600" y="151150"/>
            <a:ext cx="4323300" cy="19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700">
                <a:solidFill>
                  <a:schemeClr val="dk1"/>
                </a:solidFill>
                <a:latin typeface="Nunito"/>
                <a:ea typeface="Nunito"/>
                <a:cs typeface="Nunito"/>
                <a:sym typeface="Nunito"/>
              </a:rPr>
              <a:t>Habitat loss and fragmentation endanger 85% of species on the IUCN’s Red List. </a:t>
            </a:r>
            <a:endParaRPr sz="1700">
              <a:solidFill>
                <a:schemeClr val="dk1"/>
              </a:solidFill>
              <a:latin typeface="Nunito"/>
              <a:ea typeface="Nunito"/>
              <a:cs typeface="Nunito"/>
              <a:sym typeface="Nunito"/>
            </a:endParaRPr>
          </a:p>
          <a:p>
            <a:pPr indent="0" lvl="0" marL="0" rtl="0" algn="l">
              <a:lnSpc>
                <a:spcPct val="115000"/>
              </a:lnSpc>
              <a:spcBef>
                <a:spcPts val="0"/>
              </a:spcBef>
              <a:spcAft>
                <a:spcPts val="0"/>
              </a:spcAft>
              <a:buNone/>
            </a:pPr>
            <a:r>
              <a:rPr lang="ru" sz="1700">
                <a:solidFill>
                  <a:schemeClr val="dk1"/>
                </a:solidFill>
                <a:latin typeface="Nunito"/>
                <a:ea typeface="Nunito"/>
                <a:cs typeface="Nunito"/>
                <a:sym typeface="Nunito"/>
              </a:rPr>
              <a:t>Agriculture is a big factor, as forests, meadows and wetlands are cleared for grazing and fields. </a:t>
            </a:r>
            <a:endParaRPr sz="1700">
              <a:solidFill>
                <a:schemeClr val="dk1"/>
              </a:solidFill>
              <a:latin typeface="Nunito"/>
              <a:ea typeface="Nunito"/>
              <a:cs typeface="Nunito"/>
              <a:sym typeface="Nunito"/>
            </a:endParaRPr>
          </a:p>
          <a:p>
            <a:pPr indent="0" lvl="0" marL="0" rtl="0" algn="l">
              <a:spcBef>
                <a:spcPts val="0"/>
              </a:spcBef>
              <a:spcAft>
                <a:spcPts val="0"/>
              </a:spcAft>
              <a:buNone/>
            </a:pPr>
            <a:r>
              <a:t/>
            </a:r>
            <a:endParaRPr sz="1700">
              <a:solidFill>
                <a:schemeClr val="dk1"/>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9"/>
          <p:cNvPicPr preferRelativeResize="0"/>
          <p:nvPr/>
        </p:nvPicPr>
        <p:blipFill>
          <a:blip r:embed="rId3">
            <a:alphaModFix/>
          </a:blip>
          <a:stretch>
            <a:fillRect/>
          </a:stretch>
        </p:blipFill>
        <p:spPr>
          <a:xfrm>
            <a:off x="900925" y="715826"/>
            <a:ext cx="7342125" cy="4243523"/>
          </a:xfrm>
          <a:prstGeom prst="rect">
            <a:avLst/>
          </a:prstGeom>
          <a:noFill/>
          <a:ln>
            <a:noFill/>
          </a:ln>
        </p:spPr>
      </p:pic>
      <p:sp>
        <p:nvSpPr>
          <p:cNvPr id="191" name="Google Shape;19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92" name="Google Shape;192;p29"/>
          <p:cNvSpPr txBox="1"/>
          <p:nvPr/>
        </p:nvSpPr>
        <p:spPr>
          <a:xfrm>
            <a:off x="3150588" y="-6"/>
            <a:ext cx="2842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3000">
                <a:solidFill>
                  <a:schemeClr val="dk1"/>
                </a:solidFill>
                <a:latin typeface="Nunito"/>
                <a:ea typeface="Nunito"/>
                <a:cs typeface="Nunito"/>
                <a:sym typeface="Nunito"/>
              </a:rPr>
              <a:t>Deforestation </a:t>
            </a:r>
            <a:endParaRPr sz="3000">
              <a:solidFill>
                <a:schemeClr val="dk1"/>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98" name="Google Shape;198;p30"/>
          <p:cNvSpPr txBox="1"/>
          <p:nvPr/>
        </p:nvSpPr>
        <p:spPr>
          <a:xfrm>
            <a:off x="777240" y="697679"/>
            <a:ext cx="2016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sz="3000">
                <a:solidFill>
                  <a:schemeClr val="accent6"/>
                </a:solidFill>
                <a:latin typeface="Nunito"/>
                <a:ea typeface="Nunito"/>
                <a:cs typeface="Nunito"/>
                <a:sym typeface="Nunito"/>
              </a:rPr>
              <a:t>Pollution</a:t>
            </a:r>
            <a:endParaRPr sz="3000">
              <a:solidFill>
                <a:schemeClr val="accent6"/>
              </a:solidFill>
              <a:latin typeface="Nunito"/>
              <a:ea typeface="Nunito"/>
              <a:cs typeface="Nunito"/>
              <a:sym typeface="Nunito"/>
            </a:endParaRPr>
          </a:p>
        </p:txBody>
      </p:sp>
      <p:pic>
        <p:nvPicPr>
          <p:cNvPr id="199" name="Google Shape;199;p30"/>
          <p:cNvPicPr preferRelativeResize="0"/>
          <p:nvPr/>
        </p:nvPicPr>
        <p:blipFill>
          <a:blip r:embed="rId3">
            <a:alphaModFix/>
          </a:blip>
          <a:stretch>
            <a:fillRect/>
          </a:stretch>
        </p:blipFill>
        <p:spPr>
          <a:xfrm>
            <a:off x="3898851" y="117934"/>
            <a:ext cx="5122301" cy="3891700"/>
          </a:xfrm>
          <a:prstGeom prst="rect">
            <a:avLst/>
          </a:prstGeom>
          <a:noFill/>
          <a:ln>
            <a:noFill/>
          </a:ln>
        </p:spPr>
      </p:pic>
      <p:pic>
        <p:nvPicPr>
          <p:cNvPr id="200" name="Google Shape;200;p30"/>
          <p:cNvPicPr preferRelativeResize="0"/>
          <p:nvPr/>
        </p:nvPicPr>
        <p:blipFill>
          <a:blip r:embed="rId4">
            <a:alphaModFix/>
          </a:blip>
          <a:stretch>
            <a:fillRect/>
          </a:stretch>
        </p:blipFill>
        <p:spPr>
          <a:xfrm>
            <a:off x="137150" y="2073275"/>
            <a:ext cx="3594053" cy="272152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206" name="Google Shape;206;p31"/>
          <p:cNvPicPr preferRelativeResize="0"/>
          <p:nvPr/>
        </p:nvPicPr>
        <p:blipFill>
          <a:blip r:embed="rId3">
            <a:alphaModFix/>
          </a:blip>
          <a:stretch>
            <a:fillRect/>
          </a:stretch>
        </p:blipFill>
        <p:spPr>
          <a:xfrm>
            <a:off x="152400" y="152400"/>
            <a:ext cx="4611885" cy="4838700"/>
          </a:xfrm>
          <a:prstGeom prst="rect">
            <a:avLst/>
          </a:prstGeom>
          <a:noFill/>
          <a:ln>
            <a:noFill/>
          </a:ln>
        </p:spPr>
      </p:pic>
      <p:pic>
        <p:nvPicPr>
          <p:cNvPr id="207" name="Google Shape;207;p31"/>
          <p:cNvPicPr preferRelativeResize="0"/>
          <p:nvPr/>
        </p:nvPicPr>
        <p:blipFill>
          <a:blip r:embed="rId4">
            <a:alphaModFix/>
          </a:blip>
          <a:stretch>
            <a:fillRect/>
          </a:stretch>
        </p:blipFill>
        <p:spPr>
          <a:xfrm>
            <a:off x="4916685" y="152400"/>
            <a:ext cx="4074915" cy="2709818"/>
          </a:xfrm>
          <a:prstGeom prst="rect">
            <a:avLst/>
          </a:prstGeom>
          <a:noFill/>
          <a:ln>
            <a:noFill/>
          </a:ln>
        </p:spPr>
      </p:pic>
      <p:sp>
        <p:nvSpPr>
          <p:cNvPr id="208" name="Google Shape;208;p31"/>
          <p:cNvSpPr txBox="1"/>
          <p:nvPr/>
        </p:nvSpPr>
        <p:spPr>
          <a:xfrm>
            <a:off x="5724751" y="3632903"/>
            <a:ext cx="2747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sz="3000">
                <a:solidFill>
                  <a:schemeClr val="accent6"/>
                </a:solidFill>
                <a:latin typeface="Nunito"/>
                <a:ea typeface="Nunito"/>
                <a:cs typeface="Nunito"/>
                <a:sym typeface="Nunito"/>
              </a:rPr>
              <a:t>Poaching</a:t>
            </a:r>
            <a:endParaRPr sz="3000">
              <a:solidFill>
                <a:schemeClr val="accent6"/>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214" name="Google Shape;214;p32"/>
          <p:cNvSpPr txBox="1"/>
          <p:nvPr/>
        </p:nvSpPr>
        <p:spPr>
          <a:xfrm>
            <a:off x="1533900" y="2133150"/>
            <a:ext cx="60762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sz="4500">
                <a:solidFill>
                  <a:schemeClr val="accent6"/>
                </a:solidFill>
                <a:latin typeface="Nunito"/>
                <a:ea typeface="Nunito"/>
                <a:cs typeface="Nunito"/>
                <a:sym typeface="Nunito"/>
              </a:rPr>
              <a:t>Extinction Debt</a:t>
            </a:r>
            <a:endParaRPr sz="4500">
              <a:solidFill>
                <a:schemeClr val="accent6"/>
              </a:solidFill>
              <a:latin typeface="Nunito"/>
              <a:ea typeface="Nunito"/>
              <a:cs typeface="Nunito"/>
              <a:sym typeface="Nunito"/>
            </a:endParaRPr>
          </a:p>
        </p:txBody>
      </p:sp>
      <p:sp>
        <p:nvSpPr>
          <p:cNvPr id="215" name="Google Shape;215;p32"/>
          <p:cNvSpPr/>
          <p:nvPr/>
        </p:nvSpPr>
        <p:spPr>
          <a:xfrm>
            <a:off x="1435650" y="1074450"/>
            <a:ext cx="6272700" cy="2994600"/>
          </a:xfrm>
          <a:prstGeom prst="frame">
            <a:avLst>
              <a:gd fmla="val 1525"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i="1" lang="ru"/>
              <a:t>Extinction Debt</a:t>
            </a:r>
            <a:endParaRPr i="1"/>
          </a:p>
        </p:txBody>
      </p:sp>
      <p:sp>
        <p:nvSpPr>
          <p:cNvPr id="221" name="Google Shape;22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222" name="Google Shape;222;p3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ru">
                <a:solidFill>
                  <a:schemeClr val="accent6"/>
                </a:solidFill>
              </a:rPr>
              <a:t>Definition</a:t>
            </a:r>
            <a:r>
              <a:rPr b="1" lang="ru"/>
              <a:t>:</a:t>
            </a:r>
            <a:r>
              <a:rPr lang="ru"/>
              <a:t> future or delayed extinction of species caused by </a:t>
            </a:r>
            <a:r>
              <a:rPr lang="ru"/>
              <a:t>environmental</a:t>
            </a:r>
            <a:r>
              <a:rPr lang="ru"/>
              <a:t> disruptions that </a:t>
            </a:r>
            <a:r>
              <a:rPr lang="ru"/>
              <a:t>occurred</a:t>
            </a:r>
            <a:r>
              <a:rPr lang="ru"/>
              <a:t> in the past</a:t>
            </a:r>
            <a:endParaRPr/>
          </a:p>
          <a:p>
            <a:pPr indent="0" lvl="0" marL="0" rtl="0" algn="l">
              <a:spcBef>
                <a:spcPts val="1200"/>
              </a:spcBef>
              <a:spcAft>
                <a:spcPts val="0"/>
              </a:spcAft>
              <a:buNone/>
            </a:pPr>
            <a:r>
              <a:rPr b="1" lang="ru">
                <a:solidFill>
                  <a:schemeClr val="accent6"/>
                </a:solidFill>
              </a:rPr>
              <a:t>Primary Drivers</a:t>
            </a:r>
            <a:r>
              <a:rPr b="1" lang="ru"/>
              <a:t>:</a:t>
            </a:r>
            <a:r>
              <a:rPr lang="ru"/>
              <a:t> habitat loss and fragmentation,</a:t>
            </a:r>
            <a:r>
              <a:rPr lang="ru"/>
              <a:t> pollution,</a:t>
            </a:r>
            <a:r>
              <a:rPr lang="ru"/>
              <a:t> or loss of partner species</a:t>
            </a:r>
            <a:endParaRPr/>
          </a:p>
          <a:p>
            <a:pPr indent="0" lvl="0" marL="0" rtl="0" algn="l">
              <a:spcBef>
                <a:spcPts val="1200"/>
              </a:spcBef>
              <a:spcAft>
                <a:spcPts val="0"/>
              </a:spcAft>
              <a:buNone/>
            </a:pPr>
            <a:r>
              <a:rPr b="1" lang="ru">
                <a:solidFill>
                  <a:schemeClr val="accent6"/>
                </a:solidFill>
              </a:rPr>
              <a:t>The Time Lag</a:t>
            </a:r>
            <a:r>
              <a:rPr b="1" lang="ru"/>
              <a:t>:</a:t>
            </a:r>
            <a:r>
              <a:rPr lang="ru"/>
              <a:t> the time between habitat damage and </a:t>
            </a:r>
            <a:r>
              <a:rPr lang="ru"/>
              <a:t>species extinction can range from years or decades to even centuries</a:t>
            </a:r>
            <a:endParaRPr/>
          </a:p>
          <a:p>
            <a:pPr indent="0" lvl="0" marL="0" rtl="0" algn="l">
              <a:spcBef>
                <a:spcPts val="1200"/>
              </a:spcBef>
              <a:spcAft>
                <a:spcPts val="1200"/>
              </a:spcAft>
              <a:buNone/>
            </a:pPr>
            <a:r>
              <a:rPr b="1" lang="ru">
                <a:solidFill>
                  <a:schemeClr val="accent6"/>
                </a:solidFill>
              </a:rPr>
              <a:t>Conservation Window</a:t>
            </a:r>
            <a:r>
              <a:rPr b="1" lang="ru"/>
              <a:t>: </a:t>
            </a:r>
            <a:r>
              <a:rPr lang="ru"/>
              <a:t>extinction debt represents a small window where habitat restoration can prevent species loss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p:nvPr/>
        </p:nvSpPr>
        <p:spPr>
          <a:xfrm>
            <a:off x="310883" y="960125"/>
            <a:ext cx="8564100" cy="3900000"/>
          </a:xfrm>
          <a:prstGeom prst="roundRect">
            <a:avLst>
              <a:gd fmla="val 4546"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8" name="Google Shape;228;p34"/>
          <p:cNvSpPr txBox="1"/>
          <p:nvPr>
            <p:ph type="title"/>
          </p:nvPr>
        </p:nvSpPr>
        <p:spPr>
          <a:xfrm>
            <a:off x="387900" y="211137"/>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i="1" lang="ru" sz="2600">
                <a:solidFill>
                  <a:schemeClr val="accent6"/>
                </a:solidFill>
                <a:latin typeface="Nunito"/>
                <a:ea typeface="Nunito"/>
                <a:cs typeface="Nunito"/>
                <a:sym typeface="Nunito"/>
              </a:rPr>
              <a:t>White-Cheeked Spider Monkey (Ateles Marginatus)</a:t>
            </a:r>
            <a:endParaRPr i="1" sz="2600">
              <a:solidFill>
                <a:schemeClr val="accent6"/>
              </a:solidFill>
              <a:latin typeface="Nunito"/>
              <a:ea typeface="Nunito"/>
              <a:cs typeface="Nunito"/>
              <a:sym typeface="Nunito"/>
            </a:endParaRPr>
          </a:p>
        </p:txBody>
      </p:sp>
      <p:sp>
        <p:nvSpPr>
          <p:cNvPr id="229" name="Google Shape;229;p34"/>
          <p:cNvSpPr txBox="1"/>
          <p:nvPr>
            <p:ph idx="12" type="sldNum"/>
          </p:nvPr>
        </p:nvSpPr>
        <p:spPr>
          <a:xfrm>
            <a:off x="8472450" y="4663225"/>
            <a:ext cx="671700" cy="5718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230" name="Google Shape;230;p34"/>
          <p:cNvSpPr txBox="1"/>
          <p:nvPr>
            <p:ph idx="1" type="body"/>
          </p:nvPr>
        </p:nvSpPr>
        <p:spPr>
          <a:xfrm>
            <a:off x="387900" y="1513321"/>
            <a:ext cx="5984700" cy="3255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u" sz="2000">
                <a:latin typeface="Nunito"/>
                <a:ea typeface="Nunito"/>
                <a:cs typeface="Nunito"/>
                <a:sym typeface="Nunito"/>
              </a:rPr>
              <a:t>Location - Brazilian Amazon</a:t>
            </a:r>
            <a:endParaRPr sz="2000">
              <a:latin typeface="Nunito"/>
              <a:ea typeface="Nunito"/>
              <a:cs typeface="Nunito"/>
              <a:sym typeface="Nunito"/>
            </a:endParaRPr>
          </a:p>
          <a:p>
            <a:pPr indent="0" lvl="0" marL="0" rtl="0" algn="l">
              <a:spcBef>
                <a:spcPts val="1200"/>
              </a:spcBef>
              <a:spcAft>
                <a:spcPts val="0"/>
              </a:spcAft>
              <a:buNone/>
            </a:pPr>
            <a:r>
              <a:rPr lang="ru" sz="2000">
                <a:solidFill>
                  <a:schemeClr val="accent5"/>
                </a:solidFill>
                <a:latin typeface="Nunito"/>
                <a:ea typeface="Nunito"/>
                <a:cs typeface="Nunito"/>
                <a:sym typeface="Nunito"/>
              </a:rPr>
              <a:t>Why is it in extinction debt</a:t>
            </a:r>
            <a:r>
              <a:rPr lang="ru" sz="2000">
                <a:latin typeface="Nunito"/>
                <a:ea typeface="Nunito"/>
                <a:cs typeface="Nunito"/>
                <a:sym typeface="Nunito"/>
              </a:rPr>
              <a:t>:</a:t>
            </a:r>
            <a:br>
              <a:rPr lang="ru">
                <a:latin typeface="Nunito"/>
                <a:ea typeface="Nunito"/>
                <a:cs typeface="Nunito"/>
                <a:sym typeface="Nunito"/>
              </a:rPr>
            </a:br>
            <a:r>
              <a:rPr lang="ru">
                <a:solidFill>
                  <a:schemeClr val="accent5"/>
                </a:solidFill>
                <a:latin typeface="Nunito"/>
                <a:ea typeface="Nunito"/>
                <a:cs typeface="Nunito"/>
                <a:sym typeface="Nunito"/>
              </a:rPr>
              <a:t>-</a:t>
            </a:r>
            <a:r>
              <a:rPr lang="ru">
                <a:latin typeface="Nunito"/>
                <a:ea typeface="Nunito"/>
                <a:cs typeface="Nunito"/>
                <a:sym typeface="Nunito"/>
              </a:rPr>
              <a:t> expansion of farmlands lead to habitat fragmentation</a:t>
            </a:r>
            <a:br>
              <a:rPr lang="ru">
                <a:latin typeface="Nunito"/>
                <a:ea typeface="Nunito"/>
                <a:cs typeface="Nunito"/>
                <a:sym typeface="Nunito"/>
              </a:rPr>
            </a:br>
            <a:r>
              <a:rPr lang="ru">
                <a:solidFill>
                  <a:schemeClr val="accent5"/>
                </a:solidFill>
                <a:latin typeface="Nunito"/>
                <a:ea typeface="Nunito"/>
                <a:cs typeface="Nunito"/>
                <a:sym typeface="Nunito"/>
              </a:rPr>
              <a:t>-</a:t>
            </a:r>
            <a:r>
              <a:rPr lang="ru">
                <a:latin typeface="Nunito"/>
                <a:ea typeface="Nunito"/>
                <a:cs typeface="Nunito"/>
                <a:sym typeface="Nunito"/>
              </a:rPr>
              <a:t> lowered breeding rates and higher competition for food</a:t>
            </a:r>
            <a:endParaRPr>
              <a:latin typeface="Nunito"/>
              <a:ea typeface="Nunito"/>
              <a:cs typeface="Nunito"/>
              <a:sym typeface="Nunito"/>
            </a:endParaRPr>
          </a:p>
          <a:p>
            <a:pPr indent="0" lvl="0" marL="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0"/>
              </a:spcAft>
              <a:buNone/>
            </a:pPr>
            <a:r>
              <a:rPr lang="ru" sz="1100">
                <a:latin typeface="Nunito"/>
                <a:ea typeface="Nunito"/>
                <a:cs typeface="Nunito"/>
                <a:sym typeface="Nunito"/>
              </a:rPr>
              <a:t>(photo link: </a:t>
            </a:r>
            <a:r>
              <a:rPr lang="ru" sz="1100" u="sng">
                <a:solidFill>
                  <a:schemeClr val="hlink"/>
                </a:solidFill>
                <a:latin typeface="Nunito"/>
                <a:ea typeface="Nunito"/>
                <a:cs typeface="Nunito"/>
                <a:sym typeface="Nunito"/>
                <a:hlinkClick r:id="rId3"/>
              </a:rPr>
              <a:t>https://zooinstitutes.com/animals/</a:t>
            </a:r>
            <a:br>
              <a:rPr lang="ru" sz="1100" u="sng">
                <a:solidFill>
                  <a:schemeClr val="hlink"/>
                </a:solidFill>
                <a:latin typeface="Nunito"/>
                <a:ea typeface="Nunito"/>
                <a:cs typeface="Nunito"/>
                <a:sym typeface="Nunito"/>
                <a:hlinkClick r:id="rId4"/>
              </a:rPr>
            </a:br>
            <a:r>
              <a:rPr lang="ru" sz="1100" u="sng">
                <a:solidFill>
                  <a:schemeClr val="hlink"/>
                </a:solidFill>
                <a:latin typeface="Nunito"/>
                <a:ea typeface="Nunito"/>
                <a:cs typeface="Nunito"/>
                <a:sym typeface="Nunito"/>
                <a:hlinkClick r:id="rId5"/>
              </a:rPr>
              <a:t>white-cheeked-spider-monkey-6200/</a:t>
            </a:r>
            <a:r>
              <a:rPr lang="ru" sz="1100">
                <a:solidFill>
                  <a:srgbClr val="000000"/>
                </a:solidFill>
                <a:latin typeface="Nunito"/>
                <a:ea typeface="Nunito"/>
                <a:cs typeface="Nunito"/>
                <a:sym typeface="Nunito"/>
              </a:rPr>
              <a:t> </a:t>
            </a:r>
            <a:r>
              <a:rPr lang="ru" sz="1100">
                <a:latin typeface="Nunito"/>
                <a:ea typeface="Nunito"/>
                <a:cs typeface="Nunito"/>
                <a:sym typeface="Nunito"/>
              </a:rPr>
              <a:t>)</a:t>
            </a:r>
            <a:endParaRPr sz="1100">
              <a:latin typeface="Nunito"/>
              <a:ea typeface="Nunito"/>
              <a:cs typeface="Nunito"/>
              <a:sym typeface="Nunito"/>
            </a:endParaRPr>
          </a:p>
          <a:p>
            <a:pPr indent="0" lvl="0" marL="0" rtl="0" algn="l">
              <a:spcBef>
                <a:spcPts val="1200"/>
              </a:spcBef>
              <a:spcAft>
                <a:spcPts val="1200"/>
              </a:spcAft>
              <a:buNone/>
            </a:pPr>
            <a:r>
              <a:t/>
            </a:r>
            <a:endParaRPr>
              <a:latin typeface="Nunito"/>
              <a:ea typeface="Nunito"/>
              <a:cs typeface="Nunito"/>
              <a:sym typeface="Nunito"/>
            </a:endParaRPr>
          </a:p>
        </p:txBody>
      </p:sp>
      <p:pic>
        <p:nvPicPr>
          <p:cNvPr id="231" name="Google Shape;231;p34"/>
          <p:cNvPicPr preferRelativeResize="0"/>
          <p:nvPr/>
        </p:nvPicPr>
        <p:blipFill>
          <a:blip r:embed="rId6">
            <a:alphaModFix/>
          </a:blip>
          <a:stretch>
            <a:fillRect/>
          </a:stretch>
        </p:blipFill>
        <p:spPr>
          <a:xfrm>
            <a:off x="6385897" y="2978347"/>
            <a:ext cx="2398075" cy="1798550"/>
          </a:xfrm>
          <a:prstGeom prst="rect">
            <a:avLst/>
          </a:prstGeom>
          <a:noFill/>
          <a:ln>
            <a:noFill/>
          </a:ln>
        </p:spPr>
      </p:pic>
      <p:pic>
        <p:nvPicPr>
          <p:cNvPr id="232" name="Google Shape;232;p34"/>
          <p:cNvPicPr preferRelativeResize="0"/>
          <p:nvPr/>
        </p:nvPicPr>
        <p:blipFill>
          <a:blip r:embed="rId7">
            <a:alphaModFix/>
          </a:blip>
          <a:stretch>
            <a:fillRect/>
          </a:stretch>
        </p:blipFill>
        <p:spPr>
          <a:xfrm>
            <a:off x="6363997" y="1034409"/>
            <a:ext cx="2441875" cy="1831425"/>
          </a:xfrm>
          <a:prstGeom prst="rect">
            <a:avLst/>
          </a:prstGeom>
          <a:noFill/>
          <a:ln>
            <a:noFill/>
          </a:ln>
        </p:spPr>
      </p:pic>
      <p:pic>
        <p:nvPicPr>
          <p:cNvPr id="233" name="Google Shape;233;p34"/>
          <p:cNvPicPr preferRelativeResize="0"/>
          <p:nvPr/>
        </p:nvPicPr>
        <p:blipFill>
          <a:blip r:embed="rId8">
            <a:alphaModFix/>
          </a:blip>
          <a:stretch>
            <a:fillRect/>
          </a:stretch>
        </p:blipFill>
        <p:spPr>
          <a:xfrm>
            <a:off x="3934918" y="3028693"/>
            <a:ext cx="1831425" cy="1831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p:nvPr/>
        </p:nvSpPr>
        <p:spPr>
          <a:xfrm>
            <a:off x="387900" y="1280177"/>
            <a:ext cx="8368200" cy="3383100"/>
          </a:xfrm>
          <a:prstGeom prst="roundRect">
            <a:avLst>
              <a:gd fmla="val 482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3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i="1" lang="ru" sz="2600">
                <a:solidFill>
                  <a:schemeClr val="accent6"/>
                </a:solidFill>
                <a:latin typeface="Nunito"/>
                <a:ea typeface="Nunito"/>
                <a:cs typeface="Nunito"/>
                <a:sym typeface="Nunito"/>
              </a:rPr>
              <a:t>Rhabdothamnus solandri (Taurepo Shrub)</a:t>
            </a:r>
            <a:endParaRPr i="1" sz="2600">
              <a:solidFill>
                <a:schemeClr val="accent6"/>
              </a:solidFill>
              <a:latin typeface="Nunito"/>
              <a:ea typeface="Nunito"/>
              <a:cs typeface="Nunito"/>
              <a:sym typeface="Nunito"/>
            </a:endParaRPr>
          </a:p>
        </p:txBody>
      </p:sp>
      <p:sp>
        <p:nvSpPr>
          <p:cNvPr id="240" name="Google Shape;240;p35"/>
          <p:cNvSpPr txBox="1"/>
          <p:nvPr>
            <p:ph idx="1" type="body"/>
          </p:nvPr>
        </p:nvSpPr>
        <p:spPr>
          <a:xfrm>
            <a:off x="387900" y="1489825"/>
            <a:ext cx="47283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000">
                <a:latin typeface="Nunito"/>
                <a:ea typeface="Nunito"/>
                <a:cs typeface="Nunito"/>
                <a:sym typeface="Nunito"/>
              </a:rPr>
              <a:t>Location - New Zealand</a:t>
            </a:r>
            <a:endParaRPr sz="2000">
              <a:latin typeface="Nunito"/>
              <a:ea typeface="Nunito"/>
              <a:cs typeface="Nunito"/>
              <a:sym typeface="Nunito"/>
            </a:endParaRPr>
          </a:p>
          <a:p>
            <a:pPr indent="0" lvl="0" marL="0" rtl="0" algn="l">
              <a:spcBef>
                <a:spcPts val="1200"/>
              </a:spcBef>
              <a:spcAft>
                <a:spcPts val="0"/>
              </a:spcAft>
              <a:buNone/>
            </a:pPr>
            <a:r>
              <a:rPr lang="ru" sz="2000">
                <a:solidFill>
                  <a:schemeClr val="accent5"/>
                </a:solidFill>
                <a:latin typeface="Nunito"/>
                <a:ea typeface="Nunito"/>
                <a:cs typeface="Nunito"/>
                <a:sym typeface="Nunito"/>
              </a:rPr>
              <a:t>Why is it in extinction debt</a:t>
            </a:r>
            <a:r>
              <a:rPr lang="ru" sz="2000">
                <a:latin typeface="Nunito"/>
                <a:ea typeface="Nunito"/>
                <a:cs typeface="Nunito"/>
                <a:sym typeface="Nunito"/>
              </a:rPr>
              <a:t>:</a:t>
            </a:r>
            <a:br>
              <a:rPr lang="ru" sz="2000">
                <a:latin typeface="Nunito"/>
                <a:ea typeface="Nunito"/>
                <a:cs typeface="Nunito"/>
                <a:sym typeface="Nunito"/>
              </a:rPr>
            </a:br>
            <a:r>
              <a:rPr lang="ru">
                <a:solidFill>
                  <a:schemeClr val="accent5"/>
                </a:solidFill>
                <a:latin typeface="Nunito"/>
                <a:ea typeface="Nunito"/>
                <a:cs typeface="Nunito"/>
                <a:sym typeface="Nunito"/>
              </a:rPr>
              <a:t>-</a:t>
            </a:r>
            <a:r>
              <a:rPr lang="ru">
                <a:latin typeface="Nunito"/>
                <a:ea typeface="Nunito"/>
                <a:cs typeface="Nunito"/>
                <a:sym typeface="Nunito"/>
              </a:rPr>
              <a:t> the shrub relies on native bird pollinators</a:t>
            </a:r>
            <a:br>
              <a:rPr lang="ru">
                <a:latin typeface="Nunito"/>
                <a:ea typeface="Nunito"/>
                <a:cs typeface="Nunito"/>
                <a:sym typeface="Nunito"/>
              </a:rPr>
            </a:br>
            <a:r>
              <a:rPr lang="ru">
                <a:solidFill>
                  <a:schemeClr val="accent5"/>
                </a:solidFill>
                <a:latin typeface="Nunito"/>
                <a:ea typeface="Nunito"/>
                <a:cs typeface="Nunito"/>
                <a:sym typeface="Nunito"/>
              </a:rPr>
              <a:t>-</a:t>
            </a:r>
            <a:r>
              <a:rPr lang="ru">
                <a:latin typeface="Nunito"/>
                <a:ea typeface="Nunito"/>
                <a:cs typeface="Nunito"/>
                <a:sym typeface="Nunito"/>
              </a:rPr>
              <a:t> several of said pollinators went</a:t>
            </a:r>
            <a:br>
              <a:rPr lang="ru">
                <a:latin typeface="Nunito"/>
                <a:ea typeface="Nunito"/>
                <a:cs typeface="Nunito"/>
                <a:sym typeface="Nunito"/>
              </a:rPr>
            </a:br>
            <a:r>
              <a:rPr lang="ru">
                <a:latin typeface="Nunito"/>
                <a:ea typeface="Nunito"/>
                <a:cs typeface="Nunito"/>
                <a:sym typeface="Nunito"/>
              </a:rPr>
              <a:t>  locally extinct around 1870</a:t>
            </a:r>
            <a:endParaRPr>
              <a:latin typeface="Nunito"/>
              <a:ea typeface="Nunito"/>
              <a:cs typeface="Nunito"/>
              <a:sym typeface="Nunito"/>
            </a:endParaRPr>
          </a:p>
          <a:p>
            <a:pPr indent="0" lvl="0" marL="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rPr lang="ru" sz="1100">
                <a:latin typeface="Nunito"/>
                <a:ea typeface="Nunito"/>
                <a:cs typeface="Nunito"/>
                <a:sym typeface="Nunito"/>
              </a:rPr>
              <a:t>(photo link: </a:t>
            </a:r>
            <a:r>
              <a:rPr lang="ru" sz="1100" u="sng">
                <a:solidFill>
                  <a:schemeClr val="hlink"/>
                </a:solidFill>
                <a:latin typeface="Nunito"/>
                <a:ea typeface="Nunito"/>
                <a:cs typeface="Nunito"/>
                <a:sym typeface="Nunito"/>
                <a:hlinkClick r:id="rId3"/>
              </a:rPr>
              <a:t>Rhabdothamnus solandri - Art and Science of Horticulture</a:t>
            </a:r>
            <a:r>
              <a:rPr lang="ru" sz="1100">
                <a:latin typeface="Nunito"/>
                <a:ea typeface="Nunito"/>
                <a:cs typeface="Nunito"/>
                <a:sym typeface="Nunito"/>
              </a:rPr>
              <a:t>)</a:t>
            </a:r>
            <a:r>
              <a:rPr lang="ru" sz="1100">
                <a:solidFill>
                  <a:srgbClr val="000000"/>
                </a:solidFill>
                <a:latin typeface="Nunito"/>
                <a:ea typeface="Nunito"/>
                <a:cs typeface="Nunito"/>
                <a:sym typeface="Nunito"/>
              </a:rPr>
              <a:t> </a:t>
            </a:r>
            <a:endParaRPr sz="1100">
              <a:latin typeface="Nunito"/>
              <a:ea typeface="Nunito"/>
              <a:cs typeface="Nunito"/>
              <a:sym typeface="Nunito"/>
            </a:endParaRPr>
          </a:p>
        </p:txBody>
      </p:sp>
      <p:sp>
        <p:nvSpPr>
          <p:cNvPr id="241" name="Google Shape;24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242" name="Google Shape;242;p35"/>
          <p:cNvPicPr preferRelativeResize="0"/>
          <p:nvPr/>
        </p:nvPicPr>
        <p:blipFill>
          <a:blip r:embed="rId4">
            <a:alphaModFix/>
          </a:blip>
          <a:stretch>
            <a:fillRect/>
          </a:stretch>
        </p:blipFill>
        <p:spPr>
          <a:xfrm>
            <a:off x="5453313" y="1610700"/>
            <a:ext cx="3037426" cy="2278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4414836" y="3404775"/>
            <a:ext cx="4268100" cy="58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ru" sz="1500">
                <a:latin typeface="Nunito"/>
                <a:ea typeface="Nunito"/>
                <a:cs typeface="Nunito"/>
                <a:sym typeface="Nunito"/>
              </a:rPr>
              <a:t>Stitchbird</a:t>
            </a:r>
            <a:br>
              <a:rPr lang="ru" sz="1500">
                <a:latin typeface="Nunito"/>
                <a:ea typeface="Nunito"/>
                <a:cs typeface="Nunito"/>
                <a:sym typeface="Nunito"/>
              </a:rPr>
            </a:br>
            <a:r>
              <a:rPr lang="ru" sz="1500">
                <a:latin typeface="Nunito"/>
                <a:ea typeface="Nunito"/>
                <a:cs typeface="Nunito"/>
                <a:sym typeface="Nunito"/>
              </a:rPr>
              <a:t>(Māori: Hihi / Latin: Notiomystis cincta)</a:t>
            </a:r>
            <a:endParaRPr sz="1500">
              <a:latin typeface="Nunito"/>
              <a:ea typeface="Nunito"/>
              <a:cs typeface="Nunito"/>
              <a:sym typeface="Nunito"/>
            </a:endParaRPr>
          </a:p>
        </p:txBody>
      </p:sp>
      <p:sp>
        <p:nvSpPr>
          <p:cNvPr id="248" name="Google Shape;248;p36"/>
          <p:cNvSpPr txBox="1"/>
          <p:nvPr>
            <p:ph idx="1" type="body"/>
          </p:nvPr>
        </p:nvSpPr>
        <p:spPr>
          <a:xfrm>
            <a:off x="152074" y="3253575"/>
            <a:ext cx="45717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SzPts val="1018"/>
              <a:buNone/>
            </a:pPr>
            <a:r>
              <a:rPr lang="ru" sz="1550">
                <a:latin typeface="Nunito"/>
                <a:ea typeface="Nunito"/>
                <a:cs typeface="Nunito"/>
                <a:sym typeface="Nunito"/>
              </a:rPr>
              <a:t>Bellbird</a:t>
            </a:r>
            <a:br>
              <a:rPr lang="ru" sz="1550">
                <a:latin typeface="Nunito"/>
                <a:ea typeface="Nunito"/>
                <a:cs typeface="Nunito"/>
                <a:sym typeface="Nunito"/>
              </a:rPr>
            </a:br>
            <a:r>
              <a:rPr lang="ru" sz="1550">
                <a:latin typeface="Nunito"/>
                <a:ea typeface="Nunito"/>
                <a:cs typeface="Nunito"/>
                <a:sym typeface="Nunito"/>
              </a:rPr>
              <a:t>(Māori: Korimako / Latin: Anthornis melanura)</a:t>
            </a:r>
            <a:endParaRPr sz="1550">
              <a:latin typeface="Nunito"/>
              <a:ea typeface="Nunito"/>
              <a:cs typeface="Nunito"/>
              <a:sym typeface="Nunito"/>
            </a:endParaRPr>
          </a:p>
        </p:txBody>
      </p:sp>
      <p:sp>
        <p:nvSpPr>
          <p:cNvPr id="249" name="Google Shape;24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250" name="Google Shape;250;p36"/>
          <p:cNvPicPr preferRelativeResize="0"/>
          <p:nvPr/>
        </p:nvPicPr>
        <p:blipFill>
          <a:blip r:embed="rId3">
            <a:alphaModFix/>
          </a:blip>
          <a:stretch>
            <a:fillRect/>
          </a:stretch>
        </p:blipFill>
        <p:spPr>
          <a:xfrm>
            <a:off x="1174788" y="987851"/>
            <a:ext cx="2526252" cy="1894676"/>
          </a:xfrm>
          <a:prstGeom prst="rect">
            <a:avLst/>
          </a:prstGeom>
          <a:noFill/>
          <a:ln>
            <a:noFill/>
          </a:ln>
        </p:spPr>
      </p:pic>
      <p:pic>
        <p:nvPicPr>
          <p:cNvPr id="251" name="Google Shape;251;p36"/>
          <p:cNvPicPr preferRelativeResize="0"/>
          <p:nvPr/>
        </p:nvPicPr>
        <p:blipFill>
          <a:blip r:embed="rId4">
            <a:alphaModFix/>
          </a:blip>
          <a:stretch>
            <a:fillRect/>
          </a:stretch>
        </p:blipFill>
        <p:spPr>
          <a:xfrm>
            <a:off x="5128583" y="987851"/>
            <a:ext cx="2840625" cy="1894674"/>
          </a:xfrm>
          <a:prstGeom prst="rect">
            <a:avLst/>
          </a:prstGeom>
          <a:noFill/>
          <a:ln>
            <a:noFill/>
          </a:ln>
        </p:spPr>
      </p:pic>
      <p:sp>
        <p:nvSpPr>
          <p:cNvPr id="252" name="Google Shape;252;p36"/>
          <p:cNvSpPr txBox="1"/>
          <p:nvPr/>
        </p:nvSpPr>
        <p:spPr>
          <a:xfrm>
            <a:off x="360550" y="4320575"/>
            <a:ext cx="8248800" cy="7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100">
                <a:solidFill>
                  <a:schemeClr val="dk1"/>
                </a:solidFill>
                <a:latin typeface="Roboto"/>
                <a:ea typeface="Roboto"/>
                <a:cs typeface="Roboto"/>
                <a:sym typeface="Roboto"/>
              </a:rPr>
              <a:t>Photo links:</a:t>
            </a:r>
            <a:br>
              <a:rPr lang="ru" sz="1100">
                <a:solidFill>
                  <a:schemeClr val="dk1"/>
                </a:solidFill>
                <a:latin typeface="Roboto"/>
                <a:ea typeface="Roboto"/>
                <a:cs typeface="Roboto"/>
                <a:sym typeface="Roboto"/>
              </a:rPr>
            </a:br>
            <a:r>
              <a:rPr lang="ru" sz="1100">
                <a:solidFill>
                  <a:schemeClr val="dk1"/>
                </a:solidFill>
                <a:latin typeface="Roboto"/>
                <a:ea typeface="Roboto"/>
                <a:cs typeface="Roboto"/>
                <a:sym typeface="Roboto"/>
              </a:rPr>
              <a:t>Bellbird - </a:t>
            </a:r>
            <a:r>
              <a:rPr lang="ru" sz="1100" u="sng">
                <a:solidFill>
                  <a:schemeClr val="hlink"/>
                </a:solidFill>
                <a:hlinkClick r:id="rId5"/>
              </a:rPr>
              <a:t>New Zealand Bellbird - Anthornis melanura - Birds of the World</a:t>
            </a:r>
            <a:r>
              <a:rPr lang="ru" sz="1100"/>
              <a:t> </a:t>
            </a:r>
            <a:br>
              <a:rPr lang="ru" sz="1100"/>
            </a:br>
            <a:r>
              <a:rPr lang="ru" sz="1100">
                <a:solidFill>
                  <a:schemeClr val="dk1"/>
                </a:solidFill>
                <a:latin typeface="Roboto"/>
                <a:ea typeface="Roboto"/>
                <a:cs typeface="Roboto"/>
                <a:sym typeface="Roboto"/>
              </a:rPr>
              <a:t>Stitch</a:t>
            </a:r>
            <a:r>
              <a:rPr lang="ru" sz="1100">
                <a:solidFill>
                  <a:schemeClr val="dk1"/>
                </a:solidFill>
                <a:latin typeface="Roboto"/>
                <a:ea typeface="Roboto"/>
                <a:cs typeface="Roboto"/>
                <a:sym typeface="Roboto"/>
              </a:rPr>
              <a:t>bird - </a:t>
            </a:r>
            <a:r>
              <a:rPr lang="ru" sz="1100" u="sng">
                <a:solidFill>
                  <a:schemeClr val="hlink"/>
                </a:solidFill>
                <a:hlinkClick r:id="rId6"/>
              </a:rPr>
              <a:t>Hihi - stitchbird - Notiomystis cincta | Photographed at Zea… | Flickr</a:t>
            </a:r>
            <a:r>
              <a:rPr lang="ru" sz="1100"/>
              <a:t> </a:t>
            </a:r>
            <a:endParaRPr sz="11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258" name="Google Shape;258;p37"/>
          <p:cNvSpPr txBox="1"/>
          <p:nvPr/>
        </p:nvSpPr>
        <p:spPr>
          <a:xfrm>
            <a:off x="2782050" y="2133150"/>
            <a:ext cx="35799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sz="4500">
                <a:solidFill>
                  <a:schemeClr val="accent6"/>
                </a:solidFill>
                <a:latin typeface="Nunito"/>
                <a:ea typeface="Nunito"/>
                <a:cs typeface="Nunito"/>
                <a:sym typeface="Nunito"/>
              </a:rPr>
              <a:t>Conclusions </a:t>
            </a:r>
            <a:endParaRPr sz="4500">
              <a:solidFill>
                <a:schemeClr val="accent6"/>
              </a:solidFill>
              <a:latin typeface="Nunito"/>
              <a:ea typeface="Nunito"/>
              <a:cs typeface="Nunito"/>
              <a:sym typeface="Nunito"/>
            </a:endParaRPr>
          </a:p>
        </p:txBody>
      </p:sp>
      <p:sp>
        <p:nvSpPr>
          <p:cNvPr id="259" name="Google Shape;259;p37"/>
          <p:cNvSpPr/>
          <p:nvPr/>
        </p:nvSpPr>
        <p:spPr>
          <a:xfrm>
            <a:off x="1435650" y="1074450"/>
            <a:ext cx="6272700" cy="2994600"/>
          </a:xfrm>
          <a:prstGeom prst="frame">
            <a:avLst>
              <a:gd fmla="val 1525"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p:nvPr/>
        </p:nvSpPr>
        <p:spPr>
          <a:xfrm>
            <a:off x="223987" y="493785"/>
            <a:ext cx="8682300" cy="4219800"/>
          </a:xfrm>
          <a:prstGeom prst="roundRect">
            <a:avLst>
              <a:gd fmla="val 2168"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5" name="Google Shape;26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graphicFrame>
        <p:nvGraphicFramePr>
          <p:cNvPr id="266" name="Google Shape;266;p38"/>
          <p:cNvGraphicFramePr/>
          <p:nvPr/>
        </p:nvGraphicFramePr>
        <p:xfrm>
          <a:off x="331550" y="594688"/>
          <a:ext cx="3000000" cy="3000000"/>
        </p:xfrm>
        <a:graphic>
          <a:graphicData uri="http://schemas.openxmlformats.org/drawingml/2006/table">
            <a:tbl>
              <a:tblPr>
                <a:noFill/>
                <a:tableStyleId>{14099AB2-EB89-4C36-84CB-C12FAD55500C}</a:tableStyleId>
              </a:tblPr>
              <a:tblGrid>
                <a:gridCol w="4240450"/>
                <a:gridCol w="4240450"/>
              </a:tblGrid>
              <a:tr h="790825">
                <a:tc>
                  <a:txBody>
                    <a:bodyPr/>
                    <a:lstStyle/>
                    <a:p>
                      <a:pPr indent="0" lvl="0" marL="0" rtl="0" algn="ctr">
                        <a:spcBef>
                          <a:spcPts val="0"/>
                        </a:spcBef>
                        <a:spcAft>
                          <a:spcPts val="0"/>
                        </a:spcAft>
                        <a:buNone/>
                      </a:pPr>
                      <a:r>
                        <a:rPr lang="ru" sz="1600">
                          <a:solidFill>
                            <a:schemeClr val="accent6"/>
                          </a:solidFill>
                          <a:latin typeface="Nunito"/>
                          <a:ea typeface="Nunito"/>
                          <a:cs typeface="Nunito"/>
                          <a:sym typeface="Nunito"/>
                        </a:rPr>
                        <a:t>Reasons </a:t>
                      </a:r>
                      <a:r>
                        <a:rPr i="1" lang="ru" sz="1600">
                          <a:solidFill>
                            <a:schemeClr val="accent6"/>
                          </a:solidFill>
                          <a:latin typeface="Nunito"/>
                          <a:ea typeface="Nunito"/>
                          <a:cs typeface="Nunito"/>
                          <a:sym typeface="Nunito"/>
                        </a:rPr>
                        <a:t>FOR</a:t>
                      </a:r>
                      <a:r>
                        <a:rPr lang="ru" sz="1600">
                          <a:solidFill>
                            <a:schemeClr val="accent6"/>
                          </a:solidFill>
                          <a:latin typeface="Nunito"/>
                          <a:ea typeface="Nunito"/>
                          <a:cs typeface="Nunito"/>
                          <a:sym typeface="Nunito"/>
                        </a:rPr>
                        <a:t> the sixth mass extinction</a:t>
                      </a:r>
                      <a:endParaRPr sz="1600">
                        <a:solidFill>
                          <a:schemeClr val="accent6"/>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ru" sz="1600">
                          <a:solidFill>
                            <a:schemeClr val="accent6"/>
                          </a:solidFill>
                          <a:latin typeface="Nunito"/>
                          <a:ea typeface="Nunito"/>
                          <a:cs typeface="Nunito"/>
                          <a:sym typeface="Nunito"/>
                        </a:rPr>
                        <a:t>Reasons </a:t>
                      </a:r>
                      <a:r>
                        <a:rPr i="1" lang="ru" sz="1600">
                          <a:solidFill>
                            <a:schemeClr val="accent6"/>
                          </a:solidFill>
                          <a:latin typeface="Nunito"/>
                          <a:ea typeface="Nunito"/>
                          <a:cs typeface="Nunito"/>
                          <a:sym typeface="Nunito"/>
                        </a:rPr>
                        <a:t>AGAINST</a:t>
                      </a:r>
                      <a:r>
                        <a:rPr lang="ru" sz="1600">
                          <a:solidFill>
                            <a:schemeClr val="accent6"/>
                          </a:solidFill>
                          <a:latin typeface="Nunito"/>
                          <a:ea typeface="Nunito"/>
                          <a:cs typeface="Nunito"/>
                          <a:sym typeface="Nunito"/>
                        </a:rPr>
                        <a:t> the sixth mass extinction</a:t>
                      </a:r>
                      <a:endParaRPr sz="1600">
                        <a:solidFill>
                          <a:schemeClr val="accent6"/>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90825">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Modern extinction rate vastly exceeds the background extinction rate</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Total species loss remains extremely low</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90825">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Number of vertebrate species that went extinct in the last 100 years would have taken 800 - 1000 years to go extinct naturally.</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Elevated extinction alone do not support a mass extinctions</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90825">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Severe taxon-wide acceleration in extinction</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Historical extinctions are heavily biased towards islands.</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790825">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Robustness of data</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ru">
                          <a:solidFill>
                            <a:srgbClr val="FFFFFF"/>
                          </a:solidFill>
                          <a:latin typeface="Nunito"/>
                          <a:ea typeface="Nunito"/>
                          <a:cs typeface="Nunito"/>
                          <a:sym typeface="Nunito"/>
                        </a:rPr>
                        <a:t>Unrealistic assumptions and </a:t>
                      </a:r>
                      <a:r>
                        <a:rPr lang="ru">
                          <a:solidFill>
                            <a:srgbClr val="FFFFFF"/>
                          </a:solidFill>
                          <a:latin typeface="Nunito"/>
                          <a:ea typeface="Nunito"/>
                          <a:cs typeface="Nunito"/>
                          <a:sym typeface="Nunito"/>
                        </a:rPr>
                        <a:t>omission</a:t>
                      </a:r>
                      <a:r>
                        <a:rPr lang="ru">
                          <a:solidFill>
                            <a:srgbClr val="FFFFFF"/>
                          </a:solidFill>
                          <a:latin typeface="Nunito"/>
                          <a:ea typeface="Nunito"/>
                          <a:cs typeface="Nunito"/>
                          <a:sym typeface="Nunito"/>
                        </a:rPr>
                        <a:t> of invertebrates </a:t>
                      </a:r>
                      <a:endParaRPr>
                        <a:solidFill>
                          <a:srgbClr val="FFFFFF"/>
                        </a:solidFill>
                        <a:latin typeface="Nunito"/>
                        <a:ea typeface="Nunito"/>
                        <a:cs typeface="Nunito"/>
                        <a:sym typeface="Nunito"/>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aphicFrame>
        <p:nvGraphicFramePr>
          <p:cNvPr id="271" name="Google Shape;271;p39"/>
          <p:cNvGraphicFramePr/>
          <p:nvPr/>
        </p:nvGraphicFramePr>
        <p:xfrm>
          <a:off x="199800" y="1293955"/>
          <a:ext cx="3000000" cy="3000000"/>
        </p:xfrm>
        <a:graphic>
          <a:graphicData uri="http://schemas.openxmlformats.org/drawingml/2006/table">
            <a:tbl>
              <a:tblPr>
                <a:noFill/>
                <a:tableStyleId>{14099AB2-EB89-4C36-84CB-C12FAD55500C}</a:tableStyleId>
              </a:tblPr>
              <a:tblGrid>
                <a:gridCol w="2865625"/>
                <a:gridCol w="2963975"/>
                <a:gridCol w="2914800"/>
              </a:tblGrid>
              <a:tr h="381000">
                <a:tc>
                  <a:txBody>
                    <a:bodyPr/>
                    <a:lstStyle/>
                    <a:p>
                      <a:pPr indent="0" lvl="0" marL="457200" rtl="0" algn="l">
                        <a:spcBef>
                          <a:spcPts val="0"/>
                        </a:spcBef>
                        <a:spcAft>
                          <a:spcPts val="0"/>
                        </a:spcAft>
                        <a:buNone/>
                      </a:pPr>
                      <a:r>
                        <a:rPr b="1" lang="ru" sz="1500">
                          <a:solidFill>
                            <a:schemeClr val="accent6"/>
                          </a:solidFill>
                        </a:rPr>
                        <a:t>1. The Verdict: Mass Extinction? </a:t>
                      </a:r>
                      <a:endParaRPr b="1" sz="1500">
                        <a:solidFill>
                          <a:schemeClr val="accent6"/>
                        </a:solidFill>
                      </a:endParaRPr>
                    </a:p>
                  </a:txBody>
                  <a:tcPr marT="91425" marB="91425" marR="91425" marL="91425"/>
                </a:tc>
                <a:tc>
                  <a:txBody>
                    <a:bodyPr/>
                    <a:lstStyle/>
                    <a:p>
                      <a:pPr indent="0" lvl="0" marL="457200" rtl="0" algn="l">
                        <a:spcBef>
                          <a:spcPts val="0"/>
                        </a:spcBef>
                        <a:spcAft>
                          <a:spcPts val="0"/>
                        </a:spcAft>
                        <a:buNone/>
                      </a:pPr>
                      <a:r>
                        <a:rPr b="1" lang="ru" sz="1500">
                          <a:solidFill>
                            <a:schemeClr val="accent6"/>
                          </a:solidFill>
                        </a:rPr>
                        <a:t>2. The Driver: Humanity's Impact </a:t>
                      </a:r>
                      <a:endParaRPr b="1" sz="1500">
                        <a:solidFill>
                          <a:schemeClr val="accent6"/>
                        </a:solidFill>
                      </a:endParaRPr>
                    </a:p>
                  </a:txBody>
                  <a:tcPr marT="91425" marB="91425" marR="91425" marL="91425"/>
                </a:tc>
                <a:tc>
                  <a:txBody>
                    <a:bodyPr/>
                    <a:lstStyle/>
                    <a:p>
                      <a:pPr indent="0" lvl="0" marL="457200" rtl="0" algn="l">
                        <a:spcBef>
                          <a:spcPts val="0"/>
                        </a:spcBef>
                        <a:spcAft>
                          <a:spcPts val="0"/>
                        </a:spcAft>
                        <a:buNone/>
                      </a:pPr>
                      <a:r>
                        <a:rPr b="1" lang="ru" sz="1500">
                          <a:solidFill>
                            <a:schemeClr val="accent6"/>
                          </a:solidFill>
                        </a:rPr>
                        <a:t>3. The Solution: Conservation </a:t>
                      </a:r>
                      <a:endParaRPr b="1" sz="1500">
                        <a:solidFill>
                          <a:schemeClr val="accent6"/>
                        </a:solidFill>
                      </a:endParaRPr>
                    </a:p>
                  </a:txBody>
                  <a:tcPr marT="91425" marB="91425" marR="91425" marL="91425"/>
                </a:tc>
              </a:tr>
            </a:tbl>
          </a:graphicData>
        </a:graphic>
      </p:graphicFrame>
      <p:sp>
        <p:nvSpPr>
          <p:cNvPr id="272" name="Google Shape;272;p39"/>
          <p:cNvSpPr txBox="1"/>
          <p:nvPr/>
        </p:nvSpPr>
        <p:spPr>
          <a:xfrm>
            <a:off x="761100" y="329375"/>
            <a:ext cx="7621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2500">
                <a:solidFill>
                  <a:schemeClr val="accent6"/>
                </a:solidFill>
                <a:latin typeface="Nunito"/>
                <a:ea typeface="Nunito"/>
                <a:cs typeface="Nunito"/>
                <a:sym typeface="Nunito"/>
              </a:rPr>
              <a:t>The Warning, The Reality, and The Solution </a:t>
            </a:r>
            <a:endParaRPr b="1" sz="2500">
              <a:solidFill>
                <a:schemeClr val="accent6"/>
              </a:solidFill>
              <a:latin typeface="Nunito"/>
              <a:ea typeface="Nunito"/>
              <a:cs typeface="Nunito"/>
              <a:sym typeface="Nunito"/>
            </a:endParaRPr>
          </a:p>
        </p:txBody>
      </p:sp>
      <p:pic>
        <p:nvPicPr>
          <p:cNvPr id="273" name="Google Shape;273;p39"/>
          <p:cNvPicPr preferRelativeResize="0"/>
          <p:nvPr/>
        </p:nvPicPr>
        <p:blipFill>
          <a:blip r:embed="rId3">
            <a:alphaModFix/>
          </a:blip>
          <a:stretch>
            <a:fillRect/>
          </a:stretch>
        </p:blipFill>
        <p:spPr>
          <a:xfrm>
            <a:off x="477100" y="2200913"/>
            <a:ext cx="2385876" cy="2757675"/>
          </a:xfrm>
          <a:prstGeom prst="rect">
            <a:avLst/>
          </a:prstGeom>
          <a:noFill/>
          <a:ln>
            <a:noFill/>
          </a:ln>
        </p:spPr>
      </p:pic>
      <p:pic>
        <p:nvPicPr>
          <p:cNvPr id="274" name="Google Shape;274;p39"/>
          <p:cNvPicPr preferRelativeResize="0"/>
          <p:nvPr/>
        </p:nvPicPr>
        <p:blipFill>
          <a:blip r:embed="rId4">
            <a:alphaModFix/>
          </a:blip>
          <a:stretch>
            <a:fillRect/>
          </a:stretch>
        </p:blipFill>
        <p:spPr>
          <a:xfrm>
            <a:off x="3705113" y="2237038"/>
            <a:ext cx="1878401" cy="2685450"/>
          </a:xfrm>
          <a:prstGeom prst="rect">
            <a:avLst/>
          </a:prstGeom>
          <a:noFill/>
          <a:ln>
            <a:noFill/>
          </a:ln>
        </p:spPr>
      </p:pic>
      <p:pic>
        <p:nvPicPr>
          <p:cNvPr id="275" name="Google Shape;275;p39"/>
          <p:cNvPicPr preferRelativeResize="0"/>
          <p:nvPr/>
        </p:nvPicPr>
        <p:blipFill>
          <a:blip r:embed="rId5">
            <a:alphaModFix/>
          </a:blip>
          <a:stretch>
            <a:fillRect/>
          </a:stretch>
        </p:blipFill>
        <p:spPr>
          <a:xfrm>
            <a:off x="6244849" y="2309987"/>
            <a:ext cx="2532274" cy="2539549"/>
          </a:xfrm>
          <a:prstGeom prst="rect">
            <a:avLst/>
          </a:prstGeom>
          <a:noFill/>
          <a:ln>
            <a:noFill/>
          </a:ln>
        </p:spPr>
      </p:pic>
      <p:sp>
        <p:nvSpPr>
          <p:cNvPr id="276" name="Google Shape;276;p39"/>
          <p:cNvSpPr txBox="1"/>
          <p:nvPr/>
        </p:nvSpPr>
        <p:spPr>
          <a:xfrm>
            <a:off x="477100" y="4901100"/>
            <a:ext cx="660600" cy="24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400">
                <a:solidFill>
                  <a:schemeClr val="dk1"/>
                </a:solidFill>
                <a:latin typeface="Roboto"/>
                <a:ea typeface="Roboto"/>
                <a:cs typeface="Roboto"/>
                <a:sym typeface="Roboto"/>
              </a:rPr>
              <a:t>Image Src:Pinterest</a:t>
            </a:r>
            <a:endParaRPr sz="400">
              <a:solidFill>
                <a:schemeClr val="dk1"/>
              </a:solidFill>
              <a:latin typeface="Roboto"/>
              <a:ea typeface="Roboto"/>
              <a:cs typeface="Roboto"/>
              <a:sym typeface="Roboto"/>
            </a:endParaRPr>
          </a:p>
        </p:txBody>
      </p:sp>
      <p:sp>
        <p:nvSpPr>
          <p:cNvPr id="277" name="Google Shape;277;p39"/>
          <p:cNvSpPr txBox="1"/>
          <p:nvPr>
            <p:ph idx="12" type="sldNum"/>
          </p:nvPr>
        </p:nvSpPr>
        <p:spPr>
          <a:xfrm>
            <a:off x="8595308" y="4753155"/>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p:nvPr/>
        </p:nvSpPr>
        <p:spPr>
          <a:xfrm>
            <a:off x="278900" y="384575"/>
            <a:ext cx="8568000" cy="4413600"/>
          </a:xfrm>
          <a:prstGeom prst="roundRect">
            <a:avLst>
              <a:gd fmla="val 3026"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40"/>
          <p:cNvSpPr txBox="1"/>
          <p:nvPr>
            <p:ph type="title"/>
          </p:nvPr>
        </p:nvSpPr>
        <p:spPr>
          <a:xfrm>
            <a:off x="378800" y="458025"/>
            <a:ext cx="8368200" cy="68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u" sz="3500">
                <a:solidFill>
                  <a:schemeClr val="accent5"/>
                </a:solidFill>
                <a:latin typeface="Lobster"/>
                <a:ea typeface="Lobster"/>
                <a:cs typeface="Lobster"/>
                <a:sym typeface="Lobster"/>
              </a:rPr>
              <a:t>Our Group Members </a:t>
            </a:r>
            <a:endParaRPr sz="3500">
              <a:solidFill>
                <a:schemeClr val="accent5"/>
              </a:solidFill>
              <a:latin typeface="Lobster"/>
              <a:ea typeface="Lobster"/>
              <a:cs typeface="Lobster"/>
              <a:sym typeface="Lobster"/>
            </a:endParaRPr>
          </a:p>
        </p:txBody>
      </p:sp>
      <p:sp>
        <p:nvSpPr>
          <p:cNvPr id="284" name="Google Shape;28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285" name="Google Shape;285;p40"/>
          <p:cNvPicPr preferRelativeResize="0"/>
          <p:nvPr/>
        </p:nvPicPr>
        <p:blipFill>
          <a:blip r:embed="rId3">
            <a:alphaModFix/>
          </a:blip>
          <a:stretch>
            <a:fillRect/>
          </a:stretch>
        </p:blipFill>
        <p:spPr>
          <a:xfrm>
            <a:off x="478075" y="1686288"/>
            <a:ext cx="1328199" cy="1770924"/>
          </a:xfrm>
          <a:prstGeom prst="rect">
            <a:avLst/>
          </a:prstGeom>
          <a:noFill/>
          <a:ln>
            <a:noFill/>
          </a:ln>
        </p:spPr>
      </p:pic>
      <p:sp>
        <p:nvSpPr>
          <p:cNvPr id="286" name="Google Shape;286;p40"/>
          <p:cNvSpPr/>
          <p:nvPr/>
        </p:nvSpPr>
        <p:spPr>
          <a:xfrm>
            <a:off x="472675" y="3533175"/>
            <a:ext cx="1328100" cy="1086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sz="1900">
                <a:solidFill>
                  <a:schemeClr val="dk2"/>
                </a:solidFill>
                <a:latin typeface="Amatic SC"/>
                <a:ea typeface="Amatic SC"/>
                <a:cs typeface="Amatic SC"/>
                <a:sym typeface="Amatic SC"/>
              </a:rPr>
              <a:t>Phone Thant Kyaw</a:t>
            </a:r>
            <a:endParaRPr b="1" sz="1900">
              <a:solidFill>
                <a:schemeClr val="dk2"/>
              </a:solidFill>
              <a:latin typeface="Amatic SC"/>
              <a:ea typeface="Amatic SC"/>
              <a:cs typeface="Amatic SC"/>
              <a:sym typeface="Amatic SC"/>
            </a:endParaRPr>
          </a:p>
          <a:p>
            <a:pPr indent="0" lvl="0" marL="0" rtl="0" algn="l">
              <a:spcBef>
                <a:spcPts val="0"/>
              </a:spcBef>
              <a:spcAft>
                <a:spcPts val="0"/>
              </a:spcAft>
              <a:buNone/>
            </a:pPr>
            <a:r>
              <a:rPr b="1" lang="ru" sz="1200">
                <a:solidFill>
                  <a:schemeClr val="dk2"/>
                </a:solidFill>
                <a:latin typeface="Amatic SC"/>
                <a:ea typeface="Amatic SC"/>
                <a:cs typeface="Amatic SC"/>
                <a:sym typeface="Amatic SC"/>
              </a:rPr>
              <a:t>Background vs Contemporary extinction rate</a:t>
            </a:r>
            <a:endParaRPr b="1" sz="1200">
              <a:solidFill>
                <a:schemeClr val="dk2"/>
              </a:solidFill>
              <a:latin typeface="Amatic SC"/>
              <a:ea typeface="Amatic SC"/>
              <a:cs typeface="Amatic SC"/>
              <a:sym typeface="Amatic SC"/>
            </a:endParaRPr>
          </a:p>
        </p:txBody>
      </p:sp>
      <p:sp>
        <p:nvSpPr>
          <p:cNvPr id="287" name="Google Shape;287;p40"/>
          <p:cNvSpPr/>
          <p:nvPr/>
        </p:nvSpPr>
        <p:spPr>
          <a:xfrm>
            <a:off x="3899750" y="3533175"/>
            <a:ext cx="1328100" cy="1086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sz="2100">
                <a:solidFill>
                  <a:schemeClr val="dk2"/>
                </a:solidFill>
                <a:latin typeface="Amatic SC"/>
                <a:ea typeface="Amatic SC"/>
                <a:cs typeface="Amatic SC"/>
                <a:sym typeface="Amatic SC"/>
              </a:rPr>
              <a:t>Casian Romana</a:t>
            </a:r>
            <a:endParaRPr b="1" sz="2100">
              <a:solidFill>
                <a:schemeClr val="dk2"/>
              </a:solidFill>
              <a:latin typeface="Amatic SC"/>
              <a:ea typeface="Amatic SC"/>
              <a:cs typeface="Amatic SC"/>
              <a:sym typeface="Amatic SC"/>
            </a:endParaRPr>
          </a:p>
          <a:p>
            <a:pPr indent="0" lvl="0" marL="0" rtl="0" algn="ctr">
              <a:spcBef>
                <a:spcPts val="0"/>
              </a:spcBef>
              <a:spcAft>
                <a:spcPts val="0"/>
              </a:spcAft>
              <a:buNone/>
            </a:pPr>
            <a:r>
              <a:rPr b="1" lang="ru" sz="1500">
                <a:solidFill>
                  <a:schemeClr val="dk2"/>
                </a:solidFill>
                <a:latin typeface="Amatic SC"/>
                <a:ea typeface="Amatic SC"/>
                <a:cs typeface="Amatic SC"/>
                <a:sym typeface="Amatic SC"/>
              </a:rPr>
              <a:t>Human impact</a:t>
            </a:r>
            <a:endParaRPr b="1" sz="1500">
              <a:solidFill>
                <a:schemeClr val="dk2"/>
              </a:solidFill>
              <a:latin typeface="Amatic SC"/>
              <a:ea typeface="Amatic SC"/>
              <a:cs typeface="Amatic SC"/>
              <a:sym typeface="Amatic SC"/>
            </a:endParaRPr>
          </a:p>
        </p:txBody>
      </p:sp>
      <p:sp>
        <p:nvSpPr>
          <p:cNvPr id="288" name="Google Shape;288;p40"/>
          <p:cNvSpPr/>
          <p:nvPr/>
        </p:nvSpPr>
        <p:spPr>
          <a:xfrm>
            <a:off x="2183463" y="3533175"/>
            <a:ext cx="1328100" cy="1086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ru" sz="2100">
                <a:solidFill>
                  <a:schemeClr val="dk2"/>
                </a:solidFill>
                <a:latin typeface="Amatic SC"/>
                <a:ea typeface="Amatic SC"/>
                <a:cs typeface="Amatic SC"/>
                <a:sym typeface="Amatic SC"/>
              </a:rPr>
              <a:t>Matyáš Kandl</a:t>
            </a:r>
            <a:br>
              <a:rPr b="1" lang="ru" sz="2100">
                <a:solidFill>
                  <a:schemeClr val="dk2"/>
                </a:solidFill>
                <a:latin typeface="Amatic SC"/>
                <a:ea typeface="Amatic SC"/>
                <a:cs typeface="Amatic SC"/>
                <a:sym typeface="Amatic SC"/>
              </a:rPr>
            </a:br>
            <a:r>
              <a:rPr b="1" lang="ru" sz="1200">
                <a:solidFill>
                  <a:schemeClr val="dk2"/>
                </a:solidFill>
                <a:latin typeface="Amatic SC"/>
                <a:ea typeface="Amatic SC"/>
                <a:cs typeface="Amatic SC"/>
                <a:sym typeface="Amatic SC"/>
              </a:rPr>
              <a:t>Extinction debt</a:t>
            </a:r>
            <a:endParaRPr b="1">
              <a:solidFill>
                <a:schemeClr val="dk2"/>
              </a:solidFill>
              <a:latin typeface="Roboto"/>
              <a:ea typeface="Roboto"/>
              <a:cs typeface="Roboto"/>
              <a:sym typeface="Roboto"/>
            </a:endParaRPr>
          </a:p>
        </p:txBody>
      </p:sp>
      <p:sp>
        <p:nvSpPr>
          <p:cNvPr id="289" name="Google Shape;289;p40"/>
          <p:cNvSpPr/>
          <p:nvPr/>
        </p:nvSpPr>
        <p:spPr>
          <a:xfrm>
            <a:off x="7337725" y="3533175"/>
            <a:ext cx="1328100" cy="1086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sz="2100">
                <a:solidFill>
                  <a:schemeClr val="lt1"/>
                </a:solidFill>
                <a:latin typeface="Amatic SC"/>
                <a:ea typeface="Amatic SC"/>
                <a:cs typeface="Amatic SC"/>
                <a:sym typeface="Amatic SC"/>
              </a:rPr>
              <a:t>João Loureiro</a:t>
            </a:r>
            <a:endParaRPr b="1" sz="2100">
              <a:solidFill>
                <a:schemeClr val="lt1"/>
              </a:solidFill>
              <a:latin typeface="Amatic SC"/>
              <a:ea typeface="Amatic SC"/>
              <a:cs typeface="Amatic SC"/>
              <a:sym typeface="Amatic SC"/>
            </a:endParaRPr>
          </a:p>
          <a:p>
            <a:pPr indent="0" lvl="0" marL="0" rtl="0" algn="ctr">
              <a:spcBef>
                <a:spcPts val="0"/>
              </a:spcBef>
              <a:spcAft>
                <a:spcPts val="0"/>
              </a:spcAft>
              <a:buNone/>
            </a:pPr>
            <a:r>
              <a:rPr b="1" lang="ru" sz="1600">
                <a:solidFill>
                  <a:schemeClr val="lt1"/>
                </a:solidFill>
                <a:latin typeface="Amatic SC"/>
                <a:ea typeface="Amatic SC"/>
                <a:cs typeface="Amatic SC"/>
                <a:sym typeface="Amatic SC"/>
              </a:rPr>
              <a:t>Human Impact </a:t>
            </a:r>
            <a:endParaRPr b="1" sz="1600">
              <a:solidFill>
                <a:schemeClr val="lt1"/>
              </a:solidFill>
              <a:latin typeface="Amatic SC"/>
              <a:ea typeface="Amatic SC"/>
              <a:cs typeface="Amatic SC"/>
              <a:sym typeface="Amatic SC"/>
            </a:endParaRPr>
          </a:p>
        </p:txBody>
      </p:sp>
      <p:pic>
        <p:nvPicPr>
          <p:cNvPr id="290" name="Google Shape;290;p40" title="7CF5E875-2199-4664-97D0-2A6770B0B79E.jpeg"/>
          <p:cNvPicPr preferRelativeResize="0"/>
          <p:nvPr/>
        </p:nvPicPr>
        <p:blipFill rotWithShape="1">
          <a:blip r:embed="rId4">
            <a:alphaModFix/>
          </a:blip>
          <a:srcRect b="0" l="9429" r="9429" t="0"/>
          <a:stretch/>
        </p:blipFill>
        <p:spPr>
          <a:xfrm>
            <a:off x="5624100" y="1686288"/>
            <a:ext cx="1328200" cy="1770926"/>
          </a:xfrm>
          <a:prstGeom prst="rect">
            <a:avLst/>
          </a:prstGeom>
          <a:noFill/>
          <a:ln>
            <a:noFill/>
          </a:ln>
        </p:spPr>
      </p:pic>
      <p:sp>
        <p:nvSpPr>
          <p:cNvPr id="291" name="Google Shape;291;p40"/>
          <p:cNvSpPr/>
          <p:nvPr/>
        </p:nvSpPr>
        <p:spPr>
          <a:xfrm>
            <a:off x="5621438" y="3533175"/>
            <a:ext cx="1328100" cy="10866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300">
              <a:solidFill>
                <a:schemeClr val="lt1"/>
              </a:solidFill>
              <a:latin typeface="Amatic SC"/>
              <a:ea typeface="Amatic SC"/>
              <a:cs typeface="Amatic SC"/>
              <a:sym typeface="Amatic SC"/>
            </a:endParaRPr>
          </a:p>
        </p:txBody>
      </p:sp>
      <p:pic>
        <p:nvPicPr>
          <p:cNvPr id="292" name="Google Shape;292;p40"/>
          <p:cNvPicPr preferRelativeResize="0"/>
          <p:nvPr/>
        </p:nvPicPr>
        <p:blipFill>
          <a:blip r:embed="rId5">
            <a:alphaModFix/>
          </a:blip>
          <a:stretch>
            <a:fillRect/>
          </a:stretch>
        </p:blipFill>
        <p:spPr>
          <a:xfrm>
            <a:off x="2183475" y="1686300"/>
            <a:ext cx="1328100" cy="1810152"/>
          </a:xfrm>
          <a:prstGeom prst="rect">
            <a:avLst/>
          </a:prstGeom>
          <a:noFill/>
          <a:ln>
            <a:noFill/>
          </a:ln>
        </p:spPr>
      </p:pic>
      <p:pic>
        <p:nvPicPr>
          <p:cNvPr id="293" name="Google Shape;293;p40"/>
          <p:cNvPicPr preferRelativeResize="0"/>
          <p:nvPr/>
        </p:nvPicPr>
        <p:blipFill rotWithShape="1">
          <a:blip r:embed="rId6">
            <a:alphaModFix/>
          </a:blip>
          <a:srcRect b="0" l="0" r="21912" t="26123"/>
          <a:stretch/>
        </p:blipFill>
        <p:spPr>
          <a:xfrm>
            <a:off x="3905175" y="1686300"/>
            <a:ext cx="1328100" cy="1770901"/>
          </a:xfrm>
          <a:prstGeom prst="rect">
            <a:avLst/>
          </a:prstGeom>
          <a:noFill/>
          <a:ln>
            <a:noFill/>
          </a:ln>
        </p:spPr>
      </p:pic>
      <p:sp>
        <p:nvSpPr>
          <p:cNvPr id="294" name="Google Shape;294;p40"/>
          <p:cNvSpPr txBox="1"/>
          <p:nvPr/>
        </p:nvSpPr>
        <p:spPr>
          <a:xfrm>
            <a:off x="5758388" y="3724900"/>
            <a:ext cx="1048800" cy="2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ru" sz="2100">
                <a:solidFill>
                  <a:schemeClr val="lt1"/>
                </a:solidFill>
                <a:latin typeface="Amatic SC"/>
                <a:ea typeface="Amatic SC"/>
                <a:cs typeface="Amatic SC"/>
                <a:sym typeface="Amatic SC"/>
              </a:rPr>
              <a:t>KRIPA THAPA</a:t>
            </a:r>
            <a:endParaRPr sz="1600">
              <a:solidFill>
                <a:schemeClr val="dk1"/>
              </a:solidFill>
              <a:latin typeface="Roboto"/>
              <a:ea typeface="Roboto"/>
              <a:cs typeface="Roboto"/>
              <a:sym typeface="Roboto"/>
            </a:endParaRPr>
          </a:p>
        </p:txBody>
      </p:sp>
      <p:sp>
        <p:nvSpPr>
          <p:cNvPr id="295" name="Google Shape;295;p40"/>
          <p:cNvSpPr txBox="1"/>
          <p:nvPr/>
        </p:nvSpPr>
        <p:spPr>
          <a:xfrm>
            <a:off x="5618727" y="4096275"/>
            <a:ext cx="1328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600">
                <a:solidFill>
                  <a:schemeClr val="lt1"/>
                </a:solidFill>
                <a:latin typeface="Amatic SC"/>
                <a:ea typeface="Amatic SC"/>
                <a:cs typeface="Amatic SC"/>
                <a:sym typeface="Amatic SC"/>
              </a:rPr>
              <a:t>Big 5,Conclusion</a:t>
            </a:r>
            <a:endParaRPr b="1" sz="1600">
              <a:solidFill>
                <a:schemeClr val="lt1"/>
              </a:solidFill>
              <a:latin typeface="Amatic SC"/>
              <a:ea typeface="Amatic SC"/>
              <a:cs typeface="Amatic SC"/>
              <a:sym typeface="Amatic SC"/>
            </a:endParaRPr>
          </a:p>
        </p:txBody>
      </p:sp>
      <p:pic>
        <p:nvPicPr>
          <p:cNvPr id="296" name="Google Shape;296;p40"/>
          <p:cNvPicPr preferRelativeResize="0"/>
          <p:nvPr/>
        </p:nvPicPr>
        <p:blipFill>
          <a:blip r:embed="rId7">
            <a:alphaModFix/>
          </a:blip>
          <a:stretch>
            <a:fillRect/>
          </a:stretch>
        </p:blipFill>
        <p:spPr>
          <a:xfrm>
            <a:off x="7343125" y="1720026"/>
            <a:ext cx="1328100" cy="176969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type="title"/>
          </p:nvPr>
        </p:nvSpPr>
        <p:spPr>
          <a:xfrm>
            <a:off x="387897" y="78258"/>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ru" sz="2500">
                <a:latin typeface="Nunito"/>
                <a:ea typeface="Nunito"/>
                <a:cs typeface="Nunito"/>
                <a:sym typeface="Nunito"/>
              </a:rPr>
              <a:t>References</a:t>
            </a:r>
            <a:endParaRPr sz="2500">
              <a:latin typeface="Nunito"/>
              <a:ea typeface="Nunito"/>
              <a:cs typeface="Nunito"/>
              <a:sym typeface="Nunito"/>
            </a:endParaRPr>
          </a:p>
        </p:txBody>
      </p:sp>
      <p:sp>
        <p:nvSpPr>
          <p:cNvPr id="302" name="Google Shape;302;p41"/>
          <p:cNvSpPr txBox="1"/>
          <p:nvPr/>
        </p:nvSpPr>
        <p:spPr>
          <a:xfrm>
            <a:off x="387897" y="734685"/>
            <a:ext cx="5688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https://en.wikipedia.org/wiki/Extinction_event</a:t>
            </a:r>
            <a:endParaRPr sz="1300">
              <a:solidFill>
                <a:schemeClr val="lt2"/>
              </a:solidFill>
              <a:latin typeface="Nunito"/>
              <a:ea typeface="Nunito"/>
              <a:cs typeface="Nunito"/>
              <a:sym typeface="Nunito"/>
            </a:endParaRPr>
          </a:p>
        </p:txBody>
      </p:sp>
      <p:sp>
        <p:nvSpPr>
          <p:cNvPr id="303" name="Google Shape;303;p41"/>
          <p:cNvSpPr txBox="1"/>
          <p:nvPr/>
        </p:nvSpPr>
        <p:spPr>
          <a:xfrm>
            <a:off x="387897" y="1071258"/>
            <a:ext cx="344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https://www.iucnredlist.org/</a:t>
            </a:r>
            <a:endParaRPr sz="1300">
              <a:solidFill>
                <a:schemeClr val="lt2"/>
              </a:solidFill>
              <a:latin typeface="Nunito"/>
              <a:ea typeface="Nunito"/>
              <a:cs typeface="Nunito"/>
              <a:sym typeface="Nunito"/>
            </a:endParaRPr>
          </a:p>
        </p:txBody>
      </p:sp>
      <p:sp>
        <p:nvSpPr>
          <p:cNvPr id="304" name="Google Shape;304;p41"/>
          <p:cNvSpPr txBox="1"/>
          <p:nvPr/>
        </p:nvSpPr>
        <p:spPr>
          <a:xfrm>
            <a:off x="387897" y="1349383"/>
            <a:ext cx="3516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https://www.science.org/</a:t>
            </a:r>
            <a:endParaRPr sz="1300">
              <a:solidFill>
                <a:schemeClr val="lt2"/>
              </a:solidFill>
              <a:latin typeface="Nunito"/>
              <a:ea typeface="Nunito"/>
              <a:cs typeface="Nunito"/>
              <a:sym typeface="Nunito"/>
            </a:endParaRPr>
          </a:p>
        </p:txBody>
      </p:sp>
      <p:sp>
        <p:nvSpPr>
          <p:cNvPr id="305" name="Google Shape;305;p41"/>
          <p:cNvSpPr txBox="1"/>
          <p:nvPr/>
        </p:nvSpPr>
        <p:spPr>
          <a:xfrm>
            <a:off x="387897" y="2250246"/>
            <a:ext cx="3328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https://ourworldindata.org/</a:t>
            </a:r>
            <a:endParaRPr sz="1300">
              <a:solidFill>
                <a:schemeClr val="lt2"/>
              </a:solidFill>
              <a:latin typeface="Nunito"/>
              <a:ea typeface="Nunito"/>
              <a:cs typeface="Nunito"/>
              <a:sym typeface="Nunito"/>
            </a:endParaRPr>
          </a:p>
        </p:txBody>
      </p:sp>
      <p:sp>
        <p:nvSpPr>
          <p:cNvPr id="306" name="Google Shape;306;p41"/>
          <p:cNvSpPr txBox="1"/>
          <p:nvPr/>
        </p:nvSpPr>
        <p:spPr>
          <a:xfrm>
            <a:off x="387897" y="2591733"/>
            <a:ext cx="512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https://earth.org/human-activity-land-surface-changes/</a:t>
            </a:r>
            <a:endParaRPr sz="1300">
              <a:solidFill>
                <a:schemeClr val="lt2"/>
              </a:solidFill>
              <a:latin typeface="Nunito"/>
              <a:ea typeface="Nunito"/>
              <a:cs typeface="Nunito"/>
              <a:sym typeface="Nunito"/>
            </a:endParaRPr>
          </a:p>
        </p:txBody>
      </p:sp>
      <p:sp>
        <p:nvSpPr>
          <p:cNvPr id="307" name="Google Shape;307;p41"/>
          <p:cNvSpPr txBox="1"/>
          <p:nvPr/>
        </p:nvSpPr>
        <p:spPr>
          <a:xfrm>
            <a:off x="387897" y="3011379"/>
            <a:ext cx="7242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https://commons.wikimedia.org/wiki/Main_Page</a:t>
            </a:r>
            <a:endParaRPr sz="1300">
              <a:solidFill>
                <a:schemeClr val="lt2"/>
              </a:solidFill>
              <a:latin typeface="Nunito"/>
              <a:ea typeface="Nunito"/>
              <a:cs typeface="Nunito"/>
              <a:sym typeface="Nunito"/>
            </a:endParaRPr>
          </a:p>
        </p:txBody>
      </p:sp>
      <p:sp>
        <p:nvSpPr>
          <p:cNvPr id="308" name="Google Shape;308;p41"/>
          <p:cNvSpPr txBox="1"/>
          <p:nvPr>
            <p:ph idx="12" type="sldNum"/>
          </p:nvPr>
        </p:nvSpPr>
        <p:spPr>
          <a:xfrm>
            <a:off x="8298472" y="45978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309" name="Google Shape;309;p41"/>
          <p:cNvSpPr txBox="1"/>
          <p:nvPr/>
        </p:nvSpPr>
        <p:spPr>
          <a:xfrm>
            <a:off x="387897" y="3431029"/>
            <a:ext cx="7242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uFill>
                  <a:noFill/>
                </a:uFill>
                <a:latin typeface="Nunito"/>
                <a:ea typeface="Nunito"/>
                <a:cs typeface="Nunito"/>
                <a:sym typeface="Nunito"/>
                <a:hlinkClick r:id="rId3">
                  <a:extLst>
                    <a:ext uri="{A12FA001-AC4F-418D-AE19-62706E023703}">
                      <ahyp:hlinkClr val="tx"/>
                    </a:ext>
                  </a:extLst>
                </a:hlinkClick>
              </a:rPr>
              <a:t>WWF | (WWF) Endangered Species Conservation</a:t>
            </a:r>
            <a:r>
              <a:rPr lang="ru" sz="1300">
                <a:solidFill>
                  <a:schemeClr val="lt2"/>
                </a:solidFill>
                <a:latin typeface="Nunito"/>
                <a:ea typeface="Nunito"/>
                <a:cs typeface="Nunito"/>
                <a:sym typeface="Nunito"/>
              </a:rPr>
              <a:t> </a:t>
            </a:r>
            <a:endParaRPr sz="1300">
              <a:solidFill>
                <a:schemeClr val="lt2"/>
              </a:solidFill>
              <a:latin typeface="Nunito"/>
              <a:ea typeface="Nunito"/>
              <a:cs typeface="Nunito"/>
              <a:sym typeface="Nunito"/>
            </a:endParaRPr>
          </a:p>
        </p:txBody>
      </p:sp>
      <p:sp>
        <p:nvSpPr>
          <p:cNvPr id="310" name="Google Shape;310;p41"/>
          <p:cNvSpPr txBox="1"/>
          <p:nvPr/>
        </p:nvSpPr>
        <p:spPr>
          <a:xfrm>
            <a:off x="387897" y="4270323"/>
            <a:ext cx="7242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300">
                <a:solidFill>
                  <a:schemeClr val="lt2"/>
                </a:solidFill>
                <a:latin typeface="Nunito"/>
                <a:ea typeface="Nunito"/>
                <a:cs typeface="Nunito"/>
                <a:sym typeface="Nunito"/>
              </a:rPr>
              <a:t>Wiens, J. J., &amp; Saban, A. (2025). Questioning the sixth mass extinction. Trends in Ecology &amp; Evolution. </a:t>
            </a:r>
            <a:endParaRPr b="1" sz="1300">
              <a:solidFill>
                <a:schemeClr val="lt2"/>
              </a:solidFill>
              <a:latin typeface="Nunito"/>
              <a:ea typeface="Nunito"/>
              <a:cs typeface="Nunito"/>
              <a:sym typeface="Nunito"/>
            </a:endParaRPr>
          </a:p>
        </p:txBody>
      </p:sp>
      <p:sp>
        <p:nvSpPr>
          <p:cNvPr id="311" name="Google Shape;311;p41"/>
          <p:cNvSpPr txBox="1"/>
          <p:nvPr/>
        </p:nvSpPr>
        <p:spPr>
          <a:xfrm>
            <a:off x="387897" y="3772488"/>
            <a:ext cx="8633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300">
                <a:solidFill>
                  <a:schemeClr val="lt2"/>
                </a:solidFill>
                <a:latin typeface="Nunito"/>
                <a:ea typeface="Nunito"/>
                <a:cs typeface="Nunito"/>
                <a:sym typeface="Nunito"/>
              </a:rPr>
              <a:t>Ceballos, G., Ehrlich, P. R., Barnosky, A. D., García, A., Pringle, R. M., &amp; Palmer, T. M. (2015). Accelerated modern human-induced species losses: Entering the sixth mass extinction. Science Advances, 1(5), e1400253. </a:t>
            </a:r>
            <a:endParaRPr b="1" sz="1300">
              <a:solidFill>
                <a:schemeClr val="lt2"/>
              </a:solidFill>
              <a:latin typeface="Nunito"/>
              <a:ea typeface="Nunito"/>
              <a:cs typeface="Nunito"/>
              <a:sym typeface="Nunito"/>
            </a:endParaRPr>
          </a:p>
        </p:txBody>
      </p:sp>
      <p:sp>
        <p:nvSpPr>
          <p:cNvPr id="312" name="Google Shape;312;p41"/>
          <p:cNvSpPr txBox="1"/>
          <p:nvPr/>
        </p:nvSpPr>
        <p:spPr>
          <a:xfrm>
            <a:off x="387897" y="1770450"/>
            <a:ext cx="79941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300">
                <a:solidFill>
                  <a:schemeClr val="lt2"/>
                </a:solidFill>
                <a:latin typeface="Nunito"/>
                <a:ea typeface="Nunito"/>
                <a:cs typeface="Nunito"/>
                <a:sym typeface="Nunito"/>
              </a:rPr>
              <a:t>https://onlinelibrary.wiley.com/doi/full/10.1111/gcb.16689https://onlinelibrary.wiley.com/doi/full/10.1111/gcb.16689</a:t>
            </a:r>
            <a:endParaRPr sz="1300">
              <a:solidFill>
                <a:schemeClr val="lt2"/>
              </a:solidFill>
              <a:latin typeface="Nunito"/>
              <a:ea typeface="Nunito"/>
              <a:cs typeface="Nunito"/>
              <a:sym typeface="Nunito"/>
            </a:endParaRPr>
          </a:p>
          <a:p>
            <a:pPr indent="0" lvl="0" marL="0" rtl="0" algn="l">
              <a:spcBef>
                <a:spcPts val="0"/>
              </a:spcBef>
              <a:spcAft>
                <a:spcPts val="0"/>
              </a:spcAft>
              <a:buNone/>
            </a:pPr>
            <a:r>
              <a:t/>
            </a:r>
            <a:endParaRPr sz="1300">
              <a:solidFill>
                <a:schemeClr val="lt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