
<file path=[Content_Types].xml><?xml version="1.0" encoding="utf-8"?>
<Types xmlns="http://schemas.openxmlformats.org/package/2006/content-types">
  <Default Extension="jpeg" ContentType="image/jpeg"/>
  <Default Extension="jpg" ContentType="image/jpeg"/>
  <Default Extension="org&amp;utm_campaign=index&amp;utm_content=original"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8"/>
  </p:notesMasterIdLst>
  <p:sldIdLst>
    <p:sldId id="256" r:id="rId5"/>
    <p:sldId id="298" r:id="rId6"/>
    <p:sldId id="261" r:id="rId7"/>
    <p:sldId id="299" r:id="rId8"/>
    <p:sldId id="291" r:id="rId9"/>
    <p:sldId id="268" r:id="rId10"/>
    <p:sldId id="270" r:id="rId11"/>
    <p:sldId id="269" r:id="rId12"/>
    <p:sldId id="292" r:id="rId13"/>
    <p:sldId id="300" r:id="rId14"/>
    <p:sldId id="266" r:id="rId15"/>
    <p:sldId id="296" r:id="rId16"/>
    <p:sldId id="282" r:id="rId17"/>
    <p:sldId id="283" r:id="rId18"/>
    <p:sldId id="287" r:id="rId19"/>
    <p:sldId id="288" r:id="rId20"/>
    <p:sldId id="275" r:id="rId21"/>
    <p:sldId id="285" r:id="rId22"/>
    <p:sldId id="280" r:id="rId23"/>
    <p:sldId id="303" r:id="rId24"/>
    <p:sldId id="301" r:id="rId25"/>
    <p:sldId id="302" r:id="rId26"/>
    <p:sldId id="297" r:id="rId27"/>
  </p:sldIdLst>
  <p:sldSz cx="12192000" cy="6858000"/>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ýchozí oddíl" id="{90EEEC4B-B187-4F86-A496-B0F5D992593F}">
          <p14:sldIdLst>
            <p14:sldId id="256"/>
            <p14:sldId id="298"/>
            <p14:sldId id="261"/>
            <p14:sldId id="299"/>
            <p14:sldId id="291"/>
            <p14:sldId id="268"/>
            <p14:sldId id="270"/>
            <p14:sldId id="269"/>
            <p14:sldId id="292"/>
            <p14:sldId id="300"/>
            <p14:sldId id="266"/>
            <p14:sldId id="296"/>
            <p14:sldId id="282"/>
            <p14:sldId id="283"/>
            <p14:sldId id="287"/>
            <p14:sldId id="288"/>
            <p14:sldId id="275"/>
            <p14:sldId id="285"/>
            <p14:sldId id="280"/>
            <p14:sldId id="303"/>
            <p14:sldId id="301"/>
            <p14:sldId id="302"/>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A8A"/>
    <a:srgbClr val="2F340E"/>
    <a:srgbClr val="EA688D"/>
    <a:srgbClr val="637053"/>
    <a:srgbClr val="FF00FF"/>
    <a:srgbClr val="E6FFB3"/>
    <a:srgbClr val="23350D"/>
    <a:srgbClr val="CC6600"/>
    <a:srgbClr val="698824"/>
    <a:srgbClr val="95AB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B3DDD2-845D-4CA6-89EB-E6356BBCD744}" v="34" dt="2026-10-19T16:00:24.822"/>
  </p1510:revLst>
</p1510:revInfo>
</file>

<file path=ppt/tableStyles.xml><?xml version="1.0" encoding="utf-8"?>
<a:tblStyleLst xmlns:a="http://schemas.openxmlformats.org/drawingml/2006/main" def="{5C22544A-7EE6-4342-B048-85BDC9FD1C3A}">
  <a:tblStyle styleId="{5C22544A-7EE6-4342-B048-85BDC9FD1C3A}" styleName="Střední styl 2 – zvýraznění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Střední styl 2 – zvýraznění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Střední styl 2 – zvýraznění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Světlý styl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Bez stylu, bez mřížky">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5" autoAdjust="0"/>
    <p:restoredTop sz="57786" autoAdjust="0"/>
  </p:normalViewPr>
  <p:slideViewPr>
    <p:cSldViewPr snapToGrid="0">
      <p:cViewPr varScale="1">
        <p:scale>
          <a:sx n="43" d="100"/>
          <a:sy n="43" d="100"/>
        </p:scale>
        <p:origin x="72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Zástupný symbol pro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3A79D2-BB39-4EC7-9715-C06F559B15D8}" type="datetimeFigureOut">
              <a:rPr lang="en-GB" smtClean="0"/>
              <a:t>19/10/2026</a:t>
            </a:fld>
            <a:endParaRPr lang="en-GB"/>
          </a:p>
        </p:txBody>
      </p:sp>
      <p:sp>
        <p:nvSpPr>
          <p:cNvPr id="4" name="Zástupný symbol pro obrázek snímk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Zástupný symbol pro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6" name="Zástupný symbol pro zápatí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Zástupný symbol pro číslo snímk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291304-6742-4EC9-8A7D-2B16349E49D6}" type="slidenum">
              <a:rPr lang="en-GB" smtClean="0"/>
              <a:t>‹#›</a:t>
            </a:fld>
            <a:endParaRPr lang="en-GB"/>
          </a:p>
        </p:txBody>
      </p:sp>
    </p:spTree>
    <p:extLst>
      <p:ext uri="{BB962C8B-B14F-4D97-AF65-F5344CB8AC3E}">
        <p14:creationId xmlns:p14="http://schemas.microsoft.com/office/powerpoint/2010/main" val="546743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txBody>
          <a:bodyPr/>
          <a:lstStyle/>
          <a:p>
            <a:endParaRPr lang="en-GB"/>
          </a:p>
        </p:txBody>
      </p:sp>
      <p:sp>
        <p:nvSpPr>
          <p:cNvPr id="3" name="Zástupný symbol pro poznámky 2"/>
          <p:cNvSpPr>
            <a:spLocks noGrp="1"/>
          </p:cNvSpPr>
          <p:nvPr>
            <p:ph type="body" idx="1"/>
          </p:nvPr>
        </p:nvSpPr>
        <p:spPr/>
        <p:txBody>
          <a:bodyPr/>
          <a:lstStyle/>
          <a:p>
            <a:r>
              <a:rPr lang="cs-CZ" dirty="0" err="1"/>
              <a:t>Every</a:t>
            </a:r>
            <a:r>
              <a:rPr lang="cs-CZ" dirty="0"/>
              <a:t> </a:t>
            </a:r>
            <a:r>
              <a:rPr lang="cs-CZ" dirty="0" err="1"/>
              <a:t>organism</a:t>
            </a:r>
            <a:r>
              <a:rPr lang="cs-CZ" dirty="0"/>
              <a:t> </a:t>
            </a:r>
            <a:r>
              <a:rPr lang="cs-CZ" dirty="0" err="1"/>
              <a:t>is</a:t>
            </a:r>
            <a:r>
              <a:rPr lang="cs-CZ" dirty="0"/>
              <a:t> part </a:t>
            </a:r>
            <a:r>
              <a:rPr lang="cs-CZ" dirty="0" err="1"/>
              <a:t>of</a:t>
            </a:r>
            <a:r>
              <a:rPr lang="cs-CZ" dirty="0"/>
              <a:t> a </a:t>
            </a:r>
            <a:r>
              <a:rPr lang="cs-CZ" dirty="0" err="1"/>
              <a:t>constantly</a:t>
            </a:r>
            <a:r>
              <a:rPr lang="cs-CZ" dirty="0"/>
              <a:t> </a:t>
            </a:r>
            <a:r>
              <a:rPr lang="cs-CZ" dirty="0" err="1"/>
              <a:t>changing</a:t>
            </a:r>
            <a:r>
              <a:rPr lang="cs-CZ" dirty="0"/>
              <a:t> story, </a:t>
            </a:r>
            <a:r>
              <a:rPr lang="cs-CZ" dirty="0" err="1"/>
              <a:t>shaped</a:t>
            </a:r>
            <a:r>
              <a:rPr lang="cs-CZ" dirty="0"/>
              <a:t> by </a:t>
            </a:r>
            <a:r>
              <a:rPr lang="cs-CZ" dirty="0" err="1"/>
              <a:t>the</a:t>
            </a:r>
            <a:r>
              <a:rPr lang="cs-CZ" dirty="0"/>
              <a:t> environment </a:t>
            </a:r>
            <a:r>
              <a:rPr lang="cs-CZ" dirty="0" err="1"/>
              <a:t>it</a:t>
            </a:r>
            <a:r>
              <a:rPr lang="cs-CZ" dirty="0"/>
              <a:t> </a:t>
            </a:r>
            <a:r>
              <a:rPr lang="cs-CZ" dirty="0" err="1"/>
              <a:t>lives</a:t>
            </a:r>
            <a:r>
              <a:rPr lang="cs-CZ" dirty="0"/>
              <a:t> in and </a:t>
            </a:r>
            <a:r>
              <a:rPr lang="cs-CZ" dirty="0" err="1"/>
              <a:t>the</a:t>
            </a:r>
            <a:r>
              <a:rPr lang="cs-CZ" dirty="0"/>
              <a:t> </a:t>
            </a:r>
            <a:r>
              <a:rPr lang="cs-CZ" dirty="0" err="1"/>
              <a:t>evolutionary</a:t>
            </a:r>
            <a:r>
              <a:rPr lang="cs-CZ" dirty="0"/>
              <a:t> </a:t>
            </a:r>
            <a:r>
              <a:rPr lang="cs-CZ" dirty="0" err="1"/>
              <a:t>pressures</a:t>
            </a:r>
            <a:r>
              <a:rPr lang="cs-CZ" dirty="0"/>
              <a:t> </a:t>
            </a:r>
            <a:r>
              <a:rPr lang="cs-CZ" dirty="0" err="1"/>
              <a:t>it</a:t>
            </a:r>
            <a:r>
              <a:rPr lang="cs-CZ" dirty="0"/>
              <a:t> </a:t>
            </a:r>
            <a:r>
              <a:rPr lang="cs-CZ" dirty="0" err="1"/>
              <a:t>faces</a:t>
            </a:r>
            <a:r>
              <a:rPr lang="cs-CZ" dirty="0"/>
              <a:t>. </a:t>
            </a:r>
            <a:r>
              <a:rPr lang="cs-CZ" dirty="0" err="1"/>
              <a:t>Eco-evolutionary</a:t>
            </a:r>
            <a:r>
              <a:rPr lang="cs-CZ" dirty="0"/>
              <a:t> </a:t>
            </a:r>
            <a:r>
              <a:rPr lang="cs-CZ" dirty="0" err="1"/>
              <a:t>dynamics</a:t>
            </a:r>
            <a:r>
              <a:rPr lang="cs-CZ" dirty="0"/>
              <a:t> and </a:t>
            </a:r>
            <a:r>
              <a:rPr lang="cs-CZ" dirty="0" err="1"/>
              <a:t>life</a:t>
            </a:r>
            <a:r>
              <a:rPr lang="cs-CZ" dirty="0"/>
              <a:t> </a:t>
            </a:r>
            <a:r>
              <a:rPr lang="cs-CZ" dirty="0" err="1"/>
              <a:t>histories</a:t>
            </a:r>
            <a:r>
              <a:rPr lang="cs-CZ" dirty="0"/>
              <a:t> </a:t>
            </a:r>
            <a:r>
              <a:rPr lang="cs-CZ" dirty="0" err="1"/>
              <a:t>explore</a:t>
            </a:r>
            <a:r>
              <a:rPr lang="cs-CZ" dirty="0"/>
              <a:t> </a:t>
            </a:r>
            <a:r>
              <a:rPr lang="cs-CZ" dirty="0" err="1"/>
              <a:t>how</a:t>
            </a:r>
            <a:r>
              <a:rPr lang="cs-CZ" dirty="0"/>
              <a:t> these </a:t>
            </a:r>
            <a:r>
              <a:rPr lang="cs-CZ" dirty="0" err="1"/>
              <a:t>interactions</a:t>
            </a:r>
            <a:r>
              <a:rPr lang="cs-CZ" dirty="0"/>
              <a:t> </a:t>
            </a:r>
            <a:r>
              <a:rPr lang="cs-CZ" dirty="0" err="1"/>
              <a:t>unfold</a:t>
            </a:r>
            <a:r>
              <a:rPr lang="cs-CZ" dirty="0"/>
              <a:t> </a:t>
            </a:r>
            <a:r>
              <a:rPr lang="cs-CZ" dirty="0" err="1"/>
              <a:t>over</a:t>
            </a:r>
            <a:r>
              <a:rPr lang="cs-CZ" dirty="0"/>
              <a:t> </a:t>
            </a:r>
            <a:r>
              <a:rPr lang="cs-CZ" dirty="0" err="1"/>
              <a:t>time</a:t>
            </a:r>
            <a:r>
              <a:rPr lang="cs-CZ" dirty="0"/>
              <a:t>, </a:t>
            </a:r>
            <a:r>
              <a:rPr lang="cs-CZ" dirty="0" err="1"/>
              <a:t>influencing</a:t>
            </a:r>
            <a:r>
              <a:rPr lang="cs-CZ" dirty="0"/>
              <a:t> </a:t>
            </a:r>
            <a:r>
              <a:rPr lang="cs-CZ" dirty="0" err="1"/>
              <a:t>how</a:t>
            </a:r>
            <a:r>
              <a:rPr lang="cs-CZ" dirty="0"/>
              <a:t> species </a:t>
            </a:r>
            <a:r>
              <a:rPr lang="cs-CZ" dirty="0" err="1"/>
              <a:t>survive</a:t>
            </a:r>
            <a:r>
              <a:rPr lang="cs-CZ" dirty="0"/>
              <a:t>, </a:t>
            </a:r>
            <a:r>
              <a:rPr lang="cs-CZ" dirty="0" err="1"/>
              <a:t>reproduce</a:t>
            </a:r>
            <a:r>
              <a:rPr lang="cs-CZ" dirty="0"/>
              <a:t>, </a:t>
            </a:r>
            <a:r>
              <a:rPr lang="cs-CZ" dirty="0" err="1"/>
              <a:t>adapt</a:t>
            </a:r>
            <a:r>
              <a:rPr lang="cs-CZ" dirty="0"/>
              <a:t>, and </a:t>
            </a:r>
            <a:r>
              <a:rPr lang="cs-CZ" dirty="0" err="1"/>
              <a:t>shape</a:t>
            </a:r>
            <a:r>
              <a:rPr lang="cs-CZ" dirty="0"/>
              <a:t> </a:t>
            </a:r>
            <a:r>
              <a:rPr lang="cs-CZ" dirty="0" err="1"/>
              <a:t>the</a:t>
            </a:r>
            <a:r>
              <a:rPr lang="cs-CZ" dirty="0"/>
              <a:t> </a:t>
            </a:r>
            <a:r>
              <a:rPr lang="cs-CZ" dirty="0" err="1"/>
              <a:t>world</a:t>
            </a:r>
            <a:r>
              <a:rPr lang="cs-CZ" dirty="0"/>
              <a:t> </a:t>
            </a:r>
            <a:r>
              <a:rPr lang="cs-CZ" dirty="0" err="1"/>
              <a:t>around</a:t>
            </a:r>
            <a:r>
              <a:rPr lang="cs-CZ" dirty="0"/>
              <a:t> </a:t>
            </a:r>
            <a:r>
              <a:rPr lang="cs-CZ" dirty="0" err="1"/>
              <a:t>them</a:t>
            </a:r>
            <a:r>
              <a:rPr lang="cs-CZ"/>
              <a:t>.</a:t>
            </a:r>
            <a:endParaRPr lang="en-GB" dirty="0"/>
          </a:p>
        </p:txBody>
      </p:sp>
      <p:sp>
        <p:nvSpPr>
          <p:cNvPr id="4" name="Zástupný symbol pro číslo snímku 3"/>
          <p:cNvSpPr>
            <a:spLocks noGrp="1"/>
          </p:cNvSpPr>
          <p:nvPr>
            <p:ph type="sldNum" sz="quarter" idx="5"/>
          </p:nvPr>
        </p:nvSpPr>
        <p:spPr/>
        <p:txBody>
          <a:bodyPr/>
          <a:lstStyle/>
          <a:p>
            <a:fld id="{D8291304-6742-4EC9-8A7D-2B16349E49D6}" type="slidenum">
              <a:rPr lang="en-GB" smtClean="0"/>
              <a:t>1</a:t>
            </a:fld>
            <a:endParaRPr lang="en-GB"/>
          </a:p>
        </p:txBody>
      </p:sp>
    </p:spTree>
    <p:extLst>
      <p:ext uri="{BB962C8B-B14F-4D97-AF65-F5344CB8AC3E}">
        <p14:creationId xmlns:p14="http://schemas.microsoft.com/office/powerpoint/2010/main" val="1896966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txBody>
          <a:bodyPr/>
          <a:lstStyle/>
          <a:p>
            <a:endParaRPr lang="en-GB"/>
          </a:p>
        </p:txBody>
      </p:sp>
      <p:sp>
        <p:nvSpPr>
          <p:cNvPr id="3" name="Zástupný symbol pro poznámky 2"/>
          <p:cNvSpPr>
            <a:spLocks noGrp="1"/>
          </p:cNvSpPr>
          <p:nvPr>
            <p:ph type="body" idx="1"/>
          </p:nvPr>
        </p:nvSpPr>
        <p:spPr/>
        <p:txBody>
          <a:bodyPr/>
          <a:lstStyle/>
          <a:p>
            <a:r>
              <a:rPr lang="en-GB" noProof="0" dirty="0"/>
              <a:t>To answer the question, we have to understand certain dynamics that are present in nature. We will try to explain how they occur, and how different changes can affect</a:t>
            </a:r>
            <a:r>
              <a:rPr lang="cs-CZ" noProof="0" dirty="0"/>
              <a:t>,</a:t>
            </a:r>
            <a:r>
              <a:rPr lang="en-GB" noProof="0" dirty="0"/>
              <a:t> and reshape species. </a:t>
            </a:r>
            <a:endParaRPr lang="cs-CZ" noProof="0" dirty="0"/>
          </a:p>
        </p:txBody>
      </p:sp>
      <p:sp>
        <p:nvSpPr>
          <p:cNvPr id="4" name="Zástupný symbol pro číslo snímku 3"/>
          <p:cNvSpPr>
            <a:spLocks noGrp="1"/>
          </p:cNvSpPr>
          <p:nvPr>
            <p:ph type="sldNum" sz="quarter" idx="5"/>
          </p:nvPr>
        </p:nvSpPr>
        <p:spPr/>
        <p:txBody>
          <a:bodyPr/>
          <a:lstStyle/>
          <a:p>
            <a:fld id="{D8291304-6742-4EC9-8A7D-2B16349E49D6}" type="slidenum">
              <a:rPr lang="en-GB" smtClean="0"/>
              <a:t>2</a:t>
            </a:fld>
            <a:endParaRPr lang="en-GB"/>
          </a:p>
        </p:txBody>
      </p:sp>
    </p:spTree>
    <p:extLst>
      <p:ext uri="{BB962C8B-B14F-4D97-AF65-F5344CB8AC3E}">
        <p14:creationId xmlns:p14="http://schemas.microsoft.com/office/powerpoint/2010/main" val="17231895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To begin with, we need to understand what eco-evolutionary dynamics are. This term describes interactions between ecology and evolution occurring on contemporary time scales. This means that if evolution can happen at the pace of ecology, changes to either one, will affect the other. For example, ecological differences can cause trait evolution over years, and evolution can shape ecological patterns and processes over long</a:t>
            </a:r>
            <a:r>
              <a:rPr lang="cs-CZ"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time scales </a:t>
            </a:r>
            <a:r>
              <a:rPr lang="en-US" sz="1200" kern="1200" dirty="0">
                <a:solidFill>
                  <a:srgbClr val="C00000"/>
                </a:solidFill>
                <a:effectLst/>
                <a:latin typeface="+mn-lt"/>
                <a:ea typeface="+mn-ea"/>
                <a:cs typeface="+mn-cs"/>
              </a:rPr>
              <a:t>(</a:t>
            </a:r>
            <a:r>
              <a:rPr lang="en-US" sz="1200" b="1" kern="1200" dirty="0">
                <a:solidFill>
                  <a:srgbClr val="C00000"/>
                </a:solidFill>
                <a:effectLst/>
                <a:latin typeface="+mn-lt"/>
                <a:ea typeface="+mn-ea"/>
                <a:cs typeface="+mn-cs"/>
              </a:rPr>
              <a:t>such as photosynthesis</a:t>
            </a:r>
            <a:r>
              <a:rPr lang="en-US" sz="1200" kern="1200" dirty="0">
                <a:solidFill>
                  <a:schemeClr val="tx1"/>
                </a:solidFill>
                <a:effectLst/>
                <a:latin typeface="+mn-lt"/>
                <a:ea typeface="+mn-ea"/>
                <a:cs typeface="+mn-cs"/>
              </a:rPr>
              <a:t>); however, short-term evolutionary changes can also affect ecological processes under certain conditions. This is what weaves ecological and evolutionary dynamics together in contemporary times, ultimately defining eco-evolutionary dynamics.</a:t>
            </a:r>
            <a:r>
              <a:rPr lang="el-GR"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Additionally, we have to understand what is Life History Theory.</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D8291304-6742-4EC9-8A7D-2B16349E49D6}" type="slidenum">
              <a:rPr lang="en-GB" smtClean="0"/>
              <a:t>3</a:t>
            </a:fld>
            <a:endParaRPr lang="en-GB"/>
          </a:p>
        </p:txBody>
      </p:sp>
    </p:spTree>
    <p:extLst>
      <p:ext uri="{BB962C8B-B14F-4D97-AF65-F5344CB8AC3E}">
        <p14:creationId xmlns:p14="http://schemas.microsoft.com/office/powerpoint/2010/main" val="25992833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txBody>
          <a:bodyPr/>
          <a:lstStyle/>
          <a:p>
            <a:endParaRPr lang="en-GB"/>
          </a:p>
        </p:txBody>
      </p:sp>
      <p:sp>
        <p:nvSpPr>
          <p:cNvPr id="3" name="Zástupný symbol pro poznámky 2"/>
          <p:cNvSpPr>
            <a:spLocks noGrp="1"/>
          </p:cNvSpPr>
          <p:nvPr>
            <p:ph type="body" idx="1"/>
          </p:nvPr>
        </p:nvSpPr>
        <p:spPr/>
        <p:txBody>
          <a:bodyPr/>
          <a:lstStyle/>
          <a:p>
            <a:endParaRPr lang="cs-CZ"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Life history theory explains that every individual organism goes through a cycle: it is born, survives, develops, possibly reproduces, and eventually dies. An organism's </a:t>
            </a:r>
            <a:r>
              <a:rPr lang="en-GB" sz="1200" b="1" kern="1200" dirty="0">
                <a:solidFill>
                  <a:schemeClr val="tx1"/>
                </a:solidFill>
                <a:effectLst/>
                <a:latin typeface="+mn-lt"/>
                <a:ea typeface="+mn-ea"/>
                <a:cs typeface="+mn-cs"/>
              </a:rPr>
              <a:t>life history</a:t>
            </a:r>
            <a:r>
              <a:rPr lang="en-GB" sz="1200" kern="1200" dirty="0">
                <a:solidFill>
                  <a:schemeClr val="tx1"/>
                </a:solidFill>
                <a:effectLst/>
                <a:latin typeface="+mn-lt"/>
                <a:ea typeface="+mn-ea"/>
                <a:cs typeface="+mn-cs"/>
              </a:rPr>
              <a:t> is the specific pathway it follows across its lifespan.</a:t>
            </a:r>
            <a:endParaRPr lang="cs-CZ" sz="1200" kern="1200" dirty="0">
              <a:solidFill>
                <a:schemeClr val="tx1"/>
              </a:solidFill>
              <a:effectLst/>
              <a:latin typeface="+mn-lt"/>
              <a:ea typeface="+mn-ea"/>
              <a:cs typeface="+mn-cs"/>
            </a:endParaRPr>
          </a:p>
          <a:p>
            <a:endParaRPr lang="cs-CZ" sz="1200" kern="1200" noProof="0" dirty="0">
              <a:solidFill>
                <a:schemeClr val="tx1"/>
              </a:solidFill>
              <a:effectLst/>
              <a:latin typeface="+mn-lt"/>
              <a:ea typeface="+mn-ea"/>
              <a:cs typeface="+mn-cs"/>
            </a:endParaRPr>
          </a:p>
          <a:p>
            <a:endParaRPr lang="el-GR" sz="1200" b="1" kern="1200" dirty="0">
              <a:solidFill>
                <a:schemeClr val="tx1"/>
              </a:solidFill>
              <a:effectLst/>
              <a:latin typeface="+mn-lt"/>
              <a:ea typeface="+mn-ea"/>
              <a:cs typeface="+mn-cs"/>
            </a:endParaRPr>
          </a:p>
          <a:p>
            <a:pPr lvl="0"/>
            <a:endParaRPr lang="en-GB" sz="1200" kern="1200" dirty="0">
              <a:solidFill>
                <a:schemeClr val="tx1"/>
              </a:solidFill>
              <a:effectLst/>
              <a:latin typeface="+mn-lt"/>
              <a:ea typeface="+mn-ea"/>
              <a:cs typeface="+mn-cs"/>
            </a:endParaRPr>
          </a:p>
          <a:p>
            <a:endParaRPr lang="en-GB" noProof="0" dirty="0"/>
          </a:p>
        </p:txBody>
      </p:sp>
      <p:sp>
        <p:nvSpPr>
          <p:cNvPr id="4" name="Zástupný symbol pro číslo snímku 3"/>
          <p:cNvSpPr>
            <a:spLocks noGrp="1"/>
          </p:cNvSpPr>
          <p:nvPr>
            <p:ph type="sldNum" sz="quarter" idx="5"/>
          </p:nvPr>
        </p:nvSpPr>
        <p:spPr/>
        <p:txBody>
          <a:bodyPr/>
          <a:lstStyle/>
          <a:p>
            <a:fld id="{D8291304-6742-4EC9-8A7D-2B16349E49D6}" type="slidenum">
              <a:rPr lang="en-GB" smtClean="0"/>
              <a:t>4</a:t>
            </a:fld>
            <a:endParaRPr lang="en-GB"/>
          </a:p>
        </p:txBody>
      </p:sp>
    </p:spTree>
    <p:extLst>
      <p:ext uri="{BB962C8B-B14F-4D97-AF65-F5344CB8AC3E}">
        <p14:creationId xmlns:p14="http://schemas.microsoft.com/office/powerpoint/2010/main" val="3663102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n-GB" sz="1200" b="1" kern="1200" dirty="0">
                <a:solidFill>
                  <a:schemeClr val="tx1"/>
                </a:solidFill>
                <a:effectLst/>
                <a:latin typeface="+mn-lt"/>
                <a:ea typeface="+mn-ea"/>
                <a:cs typeface="+mn-cs"/>
              </a:rPr>
              <a:t>Life history traits</a:t>
            </a:r>
            <a:r>
              <a:rPr lang="en-GB" sz="1200" kern="1200" dirty="0">
                <a:solidFill>
                  <a:schemeClr val="tx1"/>
                </a:solidFill>
                <a:effectLst/>
                <a:latin typeface="+mn-lt"/>
                <a:ea typeface="+mn-ea"/>
                <a:cs typeface="+mn-cs"/>
              </a:rPr>
              <a:t> are traits that relate to the timing and occurrence of each stage, key events across the lifecycle. Here are some examples of different traits across multiple species:</a:t>
            </a:r>
            <a:endParaRPr lang="cs-CZ" sz="1200" kern="1200" dirty="0">
              <a:solidFill>
                <a:schemeClr val="tx1"/>
              </a:solidFill>
              <a:effectLst/>
              <a:latin typeface="+mn-lt"/>
              <a:ea typeface="+mn-ea"/>
              <a:cs typeface="+mn-cs"/>
            </a:endParaRPr>
          </a:p>
          <a:p>
            <a:pPr lvl="0"/>
            <a:endParaRPr lang="en-GB"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D8291304-6742-4EC9-8A7D-2B16349E49D6}" type="slidenum">
              <a:rPr lang="en-GB" smtClean="0"/>
              <a:t>5</a:t>
            </a:fld>
            <a:endParaRPr lang="en-GB"/>
          </a:p>
        </p:txBody>
      </p:sp>
    </p:spTree>
    <p:extLst>
      <p:ext uri="{BB962C8B-B14F-4D97-AF65-F5344CB8AC3E}">
        <p14:creationId xmlns:p14="http://schemas.microsoft.com/office/powerpoint/2010/main" val="520107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txBody>
          <a:bodyPr/>
          <a:lstStyle/>
          <a:p>
            <a:endParaRPr lang="en-GB"/>
          </a:p>
        </p:txBody>
      </p:sp>
      <p:sp>
        <p:nvSpPr>
          <p:cNvPr id="3" name="Zástupný symbol pro poznámky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b="1" kern="1200" dirty="0">
                <a:solidFill>
                  <a:schemeClr val="tx1"/>
                </a:solidFill>
                <a:effectLst/>
                <a:latin typeface="+mn-lt"/>
                <a:ea typeface="+mn-ea"/>
                <a:cs typeface="+mn-cs"/>
              </a:rPr>
              <a:t>Age and size at maturity:</a:t>
            </a:r>
            <a:r>
              <a:rPr lang="hu-HU" sz="1200" kern="1200" dirty="0">
                <a:solidFill>
                  <a:schemeClr val="tx1"/>
                </a:solidFill>
                <a:effectLst/>
                <a:latin typeface="+mn-lt"/>
                <a:ea typeface="+mn-ea"/>
                <a:cs typeface="+mn-cs"/>
              </a:rPr>
              <a:t> How old and large an organism is when it begins reproducing. For instance, the Eurasian harvest mouse reaches maturity in just 5–7 weeks, is 55–75 mm long, and </a:t>
            </a:r>
            <a:r>
              <a:rPr lang="hu-HU" sz="1200" b="0" kern="1200" dirty="0">
                <a:solidFill>
                  <a:schemeClr val="tx1"/>
                </a:solidFill>
                <a:effectLst/>
                <a:latin typeface="+mn-lt"/>
                <a:ea typeface="+mn-ea"/>
                <a:cs typeface="+mn-cs"/>
              </a:rPr>
              <a:t>weighs</a:t>
            </a:r>
            <a:r>
              <a:rPr lang="hu-HU" sz="1200" kern="1200" dirty="0">
                <a:solidFill>
                  <a:schemeClr val="tx1"/>
                </a:solidFill>
                <a:effectLst/>
                <a:latin typeface="+mn-lt"/>
                <a:ea typeface="+mn-ea"/>
                <a:cs typeface="+mn-cs"/>
              </a:rPr>
              <a:t> 4–11 grams, whereas an adult male African bush elephant reaches maturity at 12–20 years, stands </a:t>
            </a:r>
            <a:r>
              <a:rPr lang="en-US" sz="1200" kern="1200" dirty="0">
                <a:solidFill>
                  <a:schemeClr val="tx1"/>
                </a:solidFill>
                <a:effectLst/>
                <a:latin typeface="+mn-lt"/>
                <a:ea typeface="+mn-ea"/>
                <a:cs typeface="+mn-cs"/>
              </a:rPr>
              <a:t>at </a:t>
            </a:r>
            <a:r>
              <a:rPr lang="hu-HU" sz="1200" kern="1200" dirty="0">
                <a:solidFill>
                  <a:schemeClr val="tx1"/>
                </a:solidFill>
                <a:effectLst/>
                <a:latin typeface="+mn-lt"/>
                <a:ea typeface="+mn-ea"/>
                <a:cs typeface="+mn-cs"/>
              </a:rPr>
              <a:t>3 meters tall at the shoulder, and </a:t>
            </a:r>
            <a:r>
              <a:rPr lang="hu-HU" sz="1200" b="0" kern="1200" dirty="0">
                <a:solidFill>
                  <a:schemeClr val="tx1"/>
                </a:solidFill>
                <a:effectLst/>
                <a:latin typeface="+mn-lt"/>
                <a:ea typeface="+mn-ea"/>
                <a:cs typeface="+mn-cs"/>
              </a:rPr>
              <a:t>weighs </a:t>
            </a:r>
            <a:r>
              <a:rPr lang="hu-HU" sz="1200" kern="1200" dirty="0">
                <a:solidFill>
                  <a:schemeClr val="tx1"/>
                </a:solidFill>
                <a:effectLst/>
                <a:latin typeface="+mn-lt"/>
                <a:ea typeface="+mn-ea"/>
                <a:cs typeface="+mn-cs"/>
              </a:rPr>
              <a:t>around 6 tons.</a:t>
            </a:r>
            <a:endParaRPr lang="el-GR" sz="1200" kern="1200" dirty="0">
              <a:solidFill>
                <a:schemeClr val="tx1"/>
              </a:solidFill>
              <a:effectLst/>
              <a:latin typeface="+mn-lt"/>
              <a:ea typeface="+mn-ea"/>
              <a:cs typeface="+mn-cs"/>
            </a:endParaRPr>
          </a:p>
          <a:p>
            <a:endParaRPr lang="en-GB" dirty="0"/>
          </a:p>
        </p:txBody>
      </p:sp>
      <p:sp>
        <p:nvSpPr>
          <p:cNvPr id="4" name="Zástupný symbol pro číslo snímku 3"/>
          <p:cNvSpPr>
            <a:spLocks noGrp="1"/>
          </p:cNvSpPr>
          <p:nvPr>
            <p:ph type="sldNum" sz="quarter" idx="5"/>
          </p:nvPr>
        </p:nvSpPr>
        <p:spPr/>
        <p:txBody>
          <a:bodyPr/>
          <a:lstStyle/>
          <a:p>
            <a:fld id="{D8291304-6742-4EC9-8A7D-2B16349E49D6}" type="slidenum">
              <a:rPr lang="en-GB" smtClean="0"/>
              <a:t>6</a:t>
            </a:fld>
            <a:endParaRPr lang="en-GB"/>
          </a:p>
        </p:txBody>
      </p:sp>
    </p:spTree>
    <p:extLst>
      <p:ext uri="{BB962C8B-B14F-4D97-AF65-F5344CB8AC3E}">
        <p14:creationId xmlns:p14="http://schemas.microsoft.com/office/powerpoint/2010/main" val="33001504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kern="1200" dirty="0">
                <a:solidFill>
                  <a:schemeClr val="tx1"/>
                </a:solidFill>
                <a:effectLst/>
                <a:latin typeface="+mn-lt"/>
                <a:ea typeface="+mn-ea"/>
                <a:cs typeface="+mn-cs"/>
              </a:rPr>
              <a:t>Parity:</a:t>
            </a:r>
            <a:r>
              <a:rPr lang="en-GB" sz="1200" kern="1200" dirty="0">
                <a:solidFill>
                  <a:schemeClr val="tx1"/>
                </a:solidFill>
                <a:effectLst/>
                <a:latin typeface="+mn-lt"/>
                <a:ea typeface="+mn-ea"/>
                <a:cs typeface="+mn-cs"/>
              </a:rPr>
              <a:t> This refers to reproductive frequency. </a:t>
            </a:r>
            <a:r>
              <a:rPr lang="en-GB" sz="1200" b="1" kern="1200" dirty="0">
                <a:solidFill>
                  <a:schemeClr val="tx1"/>
                </a:solidFill>
                <a:effectLst/>
                <a:latin typeface="+mn-lt"/>
                <a:ea typeface="+mn-ea"/>
                <a:cs typeface="+mn-cs"/>
              </a:rPr>
              <a:t>Semelparous</a:t>
            </a:r>
            <a:r>
              <a:rPr lang="en-GB" sz="1200" kern="1200" dirty="0">
                <a:solidFill>
                  <a:schemeClr val="tx1"/>
                </a:solidFill>
                <a:effectLst/>
                <a:latin typeface="+mn-lt"/>
                <a:ea typeface="+mn-ea"/>
                <a:cs typeface="+mn-cs"/>
              </a:rPr>
              <a:t> species, such as Pacific salmon, reproduce only once in their lifetime and die shortly after. In contrast, </a:t>
            </a:r>
            <a:r>
              <a:rPr lang="en-GB" sz="1200" b="1" kern="1200" dirty="0">
                <a:solidFill>
                  <a:schemeClr val="tx1"/>
                </a:solidFill>
                <a:effectLst/>
                <a:latin typeface="+mn-lt"/>
                <a:ea typeface="+mn-ea"/>
                <a:cs typeface="+mn-cs"/>
              </a:rPr>
              <a:t>iteroparous</a:t>
            </a:r>
            <a:r>
              <a:rPr lang="en-GB" sz="1200" kern="1200" dirty="0">
                <a:solidFill>
                  <a:schemeClr val="tx1"/>
                </a:solidFill>
                <a:effectLst/>
                <a:latin typeface="+mn-lt"/>
                <a:ea typeface="+mn-ea"/>
                <a:cs typeface="+mn-cs"/>
              </a:rPr>
              <a:t> species, like the European rabbit, reproduce multiple times.</a:t>
            </a:r>
            <a:endParaRPr lang="cs-CZ"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D8291304-6742-4EC9-8A7D-2B16349E49D6}" type="slidenum">
              <a:rPr lang="en-GB" smtClean="0"/>
              <a:t>7</a:t>
            </a:fld>
            <a:endParaRPr lang="en-GB"/>
          </a:p>
        </p:txBody>
      </p:sp>
    </p:spTree>
    <p:extLst>
      <p:ext uri="{BB962C8B-B14F-4D97-AF65-F5344CB8AC3E}">
        <p14:creationId xmlns:p14="http://schemas.microsoft.com/office/powerpoint/2010/main" val="18769364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n-GB" sz="1200" b="1" kern="1200" dirty="0">
                <a:solidFill>
                  <a:schemeClr val="tx1"/>
                </a:solidFill>
                <a:effectLst/>
                <a:latin typeface="+mn-lt"/>
                <a:ea typeface="+mn-ea"/>
                <a:cs typeface="+mn-cs"/>
              </a:rPr>
              <a:t>Parental investment:</a:t>
            </a:r>
            <a:r>
              <a:rPr lang="en-GB" sz="1200" kern="1200" dirty="0">
                <a:solidFill>
                  <a:schemeClr val="tx1"/>
                </a:solidFill>
                <a:effectLst/>
                <a:latin typeface="+mn-lt"/>
                <a:ea typeface="+mn-ea"/>
                <a:cs typeface="+mn-cs"/>
              </a:rPr>
              <a:t> The amount of energy, time, and resources parents dedicate to feeding, protecting, and raising their offspring. The acacia tree spends minimum energy and time to parental investment, while American robin protects, feeds, and spend time to raise its offspring.</a:t>
            </a:r>
            <a:endParaRPr lang="el-GR" dirty="0"/>
          </a:p>
        </p:txBody>
      </p:sp>
      <p:sp>
        <p:nvSpPr>
          <p:cNvPr id="4" name="Θέση αριθμού διαφάνειας 3"/>
          <p:cNvSpPr>
            <a:spLocks noGrp="1"/>
          </p:cNvSpPr>
          <p:nvPr>
            <p:ph type="sldNum" sz="quarter" idx="5"/>
          </p:nvPr>
        </p:nvSpPr>
        <p:spPr/>
        <p:txBody>
          <a:bodyPr/>
          <a:lstStyle/>
          <a:p>
            <a:fld id="{D8291304-6742-4EC9-8A7D-2B16349E49D6}" type="slidenum">
              <a:rPr lang="en-GB" smtClean="0"/>
              <a:t>8</a:t>
            </a:fld>
            <a:endParaRPr lang="en-GB"/>
          </a:p>
        </p:txBody>
      </p:sp>
    </p:spTree>
    <p:extLst>
      <p:ext uri="{BB962C8B-B14F-4D97-AF65-F5344CB8AC3E}">
        <p14:creationId xmlns:p14="http://schemas.microsoft.com/office/powerpoint/2010/main" val="463082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kern="1200" dirty="0">
                <a:solidFill>
                  <a:schemeClr val="tx1"/>
                </a:solidFill>
                <a:effectLst/>
                <a:latin typeface="+mn-lt"/>
                <a:ea typeface="+mn-ea"/>
                <a:cs typeface="+mn-cs"/>
              </a:rPr>
              <a:t>A life history strategy</a:t>
            </a:r>
            <a:r>
              <a:rPr lang="en-GB" sz="1200" kern="1200" dirty="0">
                <a:solidFill>
                  <a:schemeClr val="tx1"/>
                </a:solidFill>
                <a:effectLst/>
                <a:latin typeface="+mn-lt"/>
                <a:ea typeface="+mn-ea"/>
                <a:cs typeface="+mn-cs"/>
              </a:rPr>
              <a:t> refers to the suite of reproductive and survival traits organisms adopt to maximize their evolutionary fitness in specific environments. Because resources and energy are limited, organisms face </a:t>
            </a:r>
            <a:r>
              <a:rPr lang="en-GB" sz="1200" b="1" kern="1200" dirty="0">
                <a:solidFill>
                  <a:schemeClr val="tx1"/>
                </a:solidFill>
                <a:effectLst/>
                <a:latin typeface="+mn-lt"/>
                <a:ea typeface="+mn-ea"/>
                <a:cs typeface="+mn-cs"/>
              </a:rPr>
              <a:t>trade-offs. </a:t>
            </a:r>
            <a:r>
              <a:rPr lang="en-GB" sz="1200" b="0" kern="1200" dirty="0">
                <a:solidFill>
                  <a:schemeClr val="tx1"/>
                </a:solidFill>
                <a:effectLst/>
                <a:latin typeface="+mn-lt"/>
                <a:ea typeface="+mn-ea"/>
                <a:cs typeface="+mn-cs"/>
              </a:rPr>
              <a:t>A</a:t>
            </a:r>
            <a:r>
              <a:rPr lang="en-GB" sz="1200" kern="1200" dirty="0">
                <a:solidFill>
                  <a:schemeClr val="tx1"/>
                </a:solidFill>
                <a:effectLst/>
                <a:latin typeface="+mn-lt"/>
                <a:ea typeface="+mn-ea"/>
                <a:cs typeface="+mn-cs"/>
              </a:rPr>
              <a:t>llocating more energy to one trait, such as growth or reproduction, often comes at the direct expense of another, such as </a:t>
            </a:r>
            <a:r>
              <a:rPr lang="en-GB" sz="1200" kern="1200">
                <a:solidFill>
                  <a:schemeClr val="tx1"/>
                </a:solidFill>
                <a:effectLst/>
                <a:latin typeface="+mn-lt"/>
                <a:ea typeface="+mn-ea"/>
                <a:cs typeface="+mn-cs"/>
              </a:rPr>
              <a:t>survival.“ </a:t>
            </a:r>
            <a:endParaRPr lang="cs-CZ"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D8291304-6742-4EC9-8A7D-2B16349E49D6}" type="slidenum">
              <a:rPr lang="en-GB" smtClean="0"/>
              <a:t>9</a:t>
            </a:fld>
            <a:endParaRPr lang="en-GB"/>
          </a:p>
        </p:txBody>
      </p:sp>
    </p:spTree>
    <p:extLst>
      <p:ext uri="{BB962C8B-B14F-4D97-AF65-F5344CB8AC3E}">
        <p14:creationId xmlns:p14="http://schemas.microsoft.com/office/powerpoint/2010/main" val="2944548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54534-6E78-6B2A-B5B7-3CE190D1A255}"/>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A4753926-36FF-06FC-D835-C34B99FE37E2}"/>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F114FAAC-F5D2-B23B-B7FA-DBBA34620717}"/>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Species cannot freely range across life history trait space.</a:t>
            </a:r>
            <a:endParaRPr lang="cs-CZ" sz="1200" kern="1200" dirty="0">
              <a:solidFill>
                <a:schemeClr val="tx1"/>
              </a:solidFill>
              <a:effectLst/>
              <a:latin typeface="+mn-lt"/>
              <a:ea typeface="+mn-ea"/>
              <a:cs typeface="+mn-cs"/>
            </a:endParaRPr>
          </a:p>
          <a:p>
            <a:endParaRPr lang="cs-CZ" sz="1200" kern="1200" dirty="0">
              <a:solidFill>
                <a:schemeClr val="tx1"/>
              </a:solidFill>
              <a:effectLst/>
              <a:latin typeface="+mn-lt"/>
              <a:ea typeface="+mn-ea"/>
              <a:cs typeface="+mn-cs"/>
            </a:endParaRPr>
          </a:p>
          <a:p>
            <a:r>
              <a:rPr lang="cs-CZ" dirty="0" err="1"/>
              <a:t>Life</a:t>
            </a:r>
            <a:r>
              <a:rPr lang="cs-CZ" dirty="0"/>
              <a:t> </a:t>
            </a:r>
            <a:r>
              <a:rPr lang="cs-CZ" dirty="0" err="1"/>
              <a:t>history</a:t>
            </a:r>
            <a:r>
              <a:rPr lang="cs-CZ" dirty="0"/>
              <a:t> </a:t>
            </a:r>
            <a:r>
              <a:rPr lang="cs-CZ" dirty="0" err="1"/>
              <a:t>strategies</a:t>
            </a:r>
            <a:r>
              <a:rPr lang="cs-CZ" dirty="0"/>
              <a:t> are </a:t>
            </a:r>
            <a:r>
              <a:rPr lang="cs-CZ" dirty="0" err="1"/>
              <a:t>typically</a:t>
            </a:r>
            <a:r>
              <a:rPr lang="cs-CZ" dirty="0"/>
              <a:t> </a:t>
            </a:r>
            <a:r>
              <a:rPr lang="cs-CZ" dirty="0" err="1"/>
              <a:t>structured</a:t>
            </a:r>
            <a:r>
              <a:rPr lang="cs-CZ" dirty="0"/>
              <a:t> </a:t>
            </a:r>
            <a:r>
              <a:rPr lang="cs-CZ" dirty="0" err="1"/>
              <a:t>along</a:t>
            </a:r>
            <a:r>
              <a:rPr lang="cs-CZ" dirty="0"/>
              <a:t> </a:t>
            </a:r>
            <a:r>
              <a:rPr lang="cs-CZ" dirty="0" err="1"/>
              <a:t>an</a:t>
            </a:r>
            <a:r>
              <a:rPr lang="cs-CZ" dirty="0"/>
              <a:t> axis </a:t>
            </a:r>
            <a:r>
              <a:rPr lang="cs-CZ" dirty="0" err="1"/>
              <a:t>defined</a:t>
            </a:r>
            <a:r>
              <a:rPr lang="cs-CZ" dirty="0"/>
              <a:t> by </a:t>
            </a:r>
            <a:r>
              <a:rPr lang="cs-CZ" dirty="0" err="1"/>
              <a:t>the</a:t>
            </a:r>
            <a:r>
              <a:rPr lang="cs-CZ" dirty="0"/>
              <a:t> </a:t>
            </a:r>
            <a:r>
              <a:rPr lang="cs-CZ" dirty="0" err="1"/>
              <a:t>trade-off</a:t>
            </a:r>
            <a:r>
              <a:rPr lang="cs-CZ" dirty="0"/>
              <a:t> </a:t>
            </a:r>
            <a:r>
              <a:rPr lang="cs-CZ" dirty="0" err="1"/>
              <a:t>between</a:t>
            </a:r>
            <a:r>
              <a:rPr lang="cs-CZ" dirty="0"/>
              <a:t> </a:t>
            </a:r>
            <a:r>
              <a:rPr lang="cs-CZ" dirty="0" err="1"/>
              <a:t>allocation</a:t>
            </a:r>
            <a:r>
              <a:rPr lang="cs-CZ" dirty="0"/>
              <a:t> </a:t>
            </a:r>
            <a:r>
              <a:rPr lang="cs-CZ" dirty="0" err="1"/>
              <a:t>of</a:t>
            </a:r>
            <a:r>
              <a:rPr lang="cs-CZ" dirty="0"/>
              <a:t> </a:t>
            </a:r>
            <a:r>
              <a:rPr lang="cs-CZ" dirty="0" err="1"/>
              <a:t>time</a:t>
            </a:r>
            <a:r>
              <a:rPr lang="cs-CZ" dirty="0"/>
              <a:t> to </a:t>
            </a:r>
            <a:r>
              <a:rPr lang="cs-CZ" dirty="0" err="1"/>
              <a:t>reproduction</a:t>
            </a:r>
            <a:r>
              <a:rPr lang="cs-CZ" dirty="0"/>
              <a:t> and development versus </a:t>
            </a:r>
            <a:r>
              <a:rPr lang="cs-CZ" dirty="0" err="1"/>
              <a:t>survival</a:t>
            </a:r>
            <a:r>
              <a:rPr lang="cs-CZ" dirty="0"/>
              <a:t>. (</a:t>
            </a:r>
            <a:r>
              <a:rPr lang="cs-CZ" dirty="0" err="1"/>
              <a:t>Stott</a:t>
            </a:r>
            <a:r>
              <a:rPr lang="cs-CZ" dirty="0"/>
              <a:t>, I. et. al. (2024))</a:t>
            </a:r>
            <a:endParaRPr lang="cs-CZ" sz="1200" kern="1200" dirty="0">
              <a:solidFill>
                <a:schemeClr val="tx1"/>
              </a:solidFill>
              <a:effectLst/>
              <a:latin typeface="+mn-lt"/>
              <a:ea typeface="+mn-ea"/>
              <a:cs typeface="+mn-cs"/>
            </a:endParaRPr>
          </a:p>
          <a:p>
            <a:endParaRPr lang="cs-CZ"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That’s why there are limited possibilities of trait combinations. To define the structure of variation of life history across taxa we can use the fast-slow continuum. </a:t>
            </a:r>
            <a:endParaRPr lang="el-GR" dirty="0"/>
          </a:p>
        </p:txBody>
      </p:sp>
      <p:sp>
        <p:nvSpPr>
          <p:cNvPr id="4" name="Θέση αριθμού διαφάνειας 3">
            <a:extLst>
              <a:ext uri="{FF2B5EF4-FFF2-40B4-BE49-F238E27FC236}">
                <a16:creationId xmlns:a16="http://schemas.microsoft.com/office/drawing/2014/main" id="{B45D6015-8652-67CE-7737-3AB1F44F9C75}"/>
              </a:ext>
            </a:extLst>
          </p:cNvPr>
          <p:cNvSpPr>
            <a:spLocks noGrp="1"/>
          </p:cNvSpPr>
          <p:nvPr>
            <p:ph type="sldNum" sz="quarter" idx="5"/>
          </p:nvPr>
        </p:nvSpPr>
        <p:spPr/>
        <p:txBody>
          <a:bodyPr/>
          <a:lstStyle/>
          <a:p>
            <a:fld id="{D8291304-6742-4EC9-8A7D-2B16349E49D6}" type="slidenum">
              <a:rPr lang="en-GB" smtClean="0"/>
              <a:t>10</a:t>
            </a:fld>
            <a:endParaRPr lang="en-GB"/>
          </a:p>
        </p:txBody>
      </p:sp>
    </p:spTree>
    <p:extLst>
      <p:ext uri="{BB962C8B-B14F-4D97-AF65-F5344CB8AC3E}">
        <p14:creationId xmlns:p14="http://schemas.microsoft.com/office/powerpoint/2010/main" val="3952450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The fast-slow continuum is defined along two extremes that represent the trade-offs in life history variation.</a:t>
            </a:r>
            <a:endParaRPr lang="el-GR" sz="1200" kern="1200" dirty="0">
              <a:solidFill>
                <a:schemeClr val="tx1"/>
              </a:solidFill>
              <a:effectLst/>
              <a:latin typeface="+mn-lt"/>
              <a:ea typeface="+mn-ea"/>
              <a:cs typeface="+mn-cs"/>
            </a:endParaRPr>
          </a:p>
          <a:p>
            <a:endParaRPr lang="el-GR" b="1" dirty="0"/>
          </a:p>
        </p:txBody>
      </p:sp>
      <p:sp>
        <p:nvSpPr>
          <p:cNvPr id="4" name="Θέση αριθμού διαφάνειας 3"/>
          <p:cNvSpPr>
            <a:spLocks noGrp="1"/>
          </p:cNvSpPr>
          <p:nvPr>
            <p:ph type="sldNum" sz="quarter" idx="5"/>
          </p:nvPr>
        </p:nvSpPr>
        <p:spPr/>
        <p:txBody>
          <a:bodyPr/>
          <a:lstStyle/>
          <a:p>
            <a:fld id="{D8291304-6742-4EC9-8A7D-2B16349E49D6}" type="slidenum">
              <a:rPr lang="en-GB" smtClean="0"/>
              <a:t>11</a:t>
            </a:fld>
            <a:endParaRPr lang="en-GB"/>
          </a:p>
        </p:txBody>
      </p:sp>
    </p:spTree>
    <p:extLst>
      <p:ext uri="{BB962C8B-B14F-4D97-AF65-F5344CB8AC3E}">
        <p14:creationId xmlns:p14="http://schemas.microsoft.com/office/powerpoint/2010/main" val="38927345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en-GB" sz="1200" kern="1200" dirty="0">
                <a:solidFill>
                  <a:schemeClr val="tx1"/>
                </a:solidFill>
                <a:effectLst/>
                <a:latin typeface="+mn-lt"/>
                <a:ea typeface="+mn-ea"/>
                <a:cs typeface="+mn-cs"/>
              </a:rPr>
              <a:t>On one side is the </a:t>
            </a:r>
            <a:r>
              <a:rPr lang="en-GB" sz="1200" b="1" kern="1200" dirty="0">
                <a:solidFill>
                  <a:schemeClr val="tx1"/>
                </a:solidFill>
                <a:effectLst/>
                <a:latin typeface="+mn-lt"/>
                <a:ea typeface="+mn-ea"/>
                <a:cs typeface="+mn-cs"/>
              </a:rPr>
              <a:t>A) fast continuum</a:t>
            </a:r>
            <a:r>
              <a:rPr lang="en-GB" sz="1200" kern="1200" dirty="0">
                <a:solidFill>
                  <a:schemeClr val="tx1"/>
                </a:solidFill>
                <a:effectLst/>
                <a:latin typeface="+mn-lt"/>
                <a:ea typeface="+mn-ea"/>
                <a:cs typeface="+mn-cs"/>
              </a:rPr>
              <a:t> – defined by rapid growth, high reproduction and shorter lifespan. As an example, we can look at the fruit fly, it has a life cycle of 10 to 12 days in room temperature.</a:t>
            </a:r>
            <a:endParaRPr lang="cs-CZ"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On the other side is the </a:t>
            </a:r>
            <a:r>
              <a:rPr lang="en-GB" sz="1200" b="1" kern="1200" dirty="0">
                <a:solidFill>
                  <a:schemeClr val="tx1"/>
                </a:solidFill>
                <a:effectLst/>
                <a:latin typeface="+mn-lt"/>
                <a:ea typeface="+mn-ea"/>
                <a:cs typeface="+mn-cs"/>
              </a:rPr>
              <a:t>B) slow continuum</a:t>
            </a:r>
            <a:r>
              <a:rPr lang="en-GB" sz="1200" kern="1200" dirty="0">
                <a:solidFill>
                  <a:schemeClr val="tx1"/>
                </a:solidFill>
                <a:effectLst/>
                <a:latin typeface="+mn-lt"/>
                <a:ea typeface="+mn-ea"/>
                <a:cs typeface="+mn-cs"/>
              </a:rPr>
              <a:t> – represents organisms with slow growth, long life span and lower reproduction. One example of species that is categorized as slow species is Przewalski horse, with age at maturity at 4 to 5 years old and lifespan in captivity of around 20 years (it has been only studied in captivity so far)</a:t>
            </a:r>
            <a:endParaRPr lang="cs-CZ" sz="1200" kern="1200" dirty="0">
              <a:solidFill>
                <a:schemeClr val="tx1"/>
              </a:solidFill>
              <a:effectLst/>
              <a:latin typeface="+mn-lt"/>
              <a:ea typeface="+mn-ea"/>
              <a:cs typeface="+mn-cs"/>
            </a:endParaRPr>
          </a:p>
          <a:p>
            <a:endParaRPr lang="en-GB" dirty="0"/>
          </a:p>
        </p:txBody>
      </p:sp>
      <p:sp>
        <p:nvSpPr>
          <p:cNvPr id="4" name="Zástupný symbol pro číslo snímku 3"/>
          <p:cNvSpPr>
            <a:spLocks noGrp="1"/>
          </p:cNvSpPr>
          <p:nvPr>
            <p:ph type="sldNum" sz="quarter" idx="5"/>
          </p:nvPr>
        </p:nvSpPr>
        <p:spPr/>
        <p:txBody>
          <a:bodyPr/>
          <a:lstStyle/>
          <a:p>
            <a:fld id="{D8291304-6742-4EC9-8A7D-2B16349E49D6}" type="slidenum">
              <a:rPr lang="en-GB" smtClean="0"/>
              <a:t>12</a:t>
            </a:fld>
            <a:endParaRPr lang="en-GB"/>
          </a:p>
        </p:txBody>
      </p:sp>
    </p:spTree>
    <p:extLst>
      <p:ext uri="{BB962C8B-B14F-4D97-AF65-F5344CB8AC3E}">
        <p14:creationId xmlns:p14="http://schemas.microsoft.com/office/powerpoint/2010/main" val="23945559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fi-FI" sz="1200" kern="1200" dirty="0">
                <a:solidFill>
                  <a:schemeClr val="tx1"/>
                </a:solidFill>
                <a:effectLst/>
                <a:latin typeface="+mn-lt"/>
                <a:ea typeface="+mn-ea"/>
                <a:cs typeface="+mn-cs"/>
              </a:rPr>
              <a:t>PACE OF LIFE SYNDROMES</a:t>
            </a:r>
            <a:endParaRPr lang="cs-CZ" sz="1200" kern="1200" dirty="0">
              <a:solidFill>
                <a:schemeClr val="tx1"/>
              </a:solidFill>
              <a:effectLst/>
              <a:latin typeface="+mn-lt"/>
              <a:ea typeface="+mn-ea"/>
              <a:cs typeface="+mn-cs"/>
            </a:endParaRPr>
          </a:p>
          <a:p>
            <a:r>
              <a:rPr lang="fi-FI" sz="1200" kern="1200" dirty="0">
                <a:solidFill>
                  <a:schemeClr val="tx1"/>
                </a:solidFill>
                <a:effectLst/>
                <a:latin typeface="+mn-lt"/>
                <a:ea typeface="+mn-ea"/>
                <a:cs typeface="+mn-cs"/>
              </a:rPr>
              <a:t>Another way to identify the variation across taxa and expand the fast-slow continuum is pace of life syndromes (POLS). It takes the idea of fast-slow continuum a step further. Fast-slow continuum mainly focuses on life history traits such as growth, reproduction and lifespan. POLS suggests that life history traits may also be connected to other characteries, such as behaviour, physiology and metabolism. </a:t>
            </a:r>
            <a:endParaRPr lang="cs-CZ" sz="1200" kern="1200" dirty="0">
              <a:solidFill>
                <a:schemeClr val="tx1"/>
              </a:solidFill>
              <a:effectLst/>
              <a:latin typeface="+mn-lt"/>
              <a:ea typeface="+mn-ea"/>
              <a:cs typeface="+mn-cs"/>
            </a:endParaRPr>
          </a:p>
          <a:p>
            <a:r>
              <a:rPr lang="fi-FI" sz="1200" kern="1200" dirty="0">
                <a:solidFill>
                  <a:schemeClr val="tx1"/>
                </a:solidFill>
                <a:effectLst/>
                <a:latin typeface="+mn-lt"/>
                <a:ea typeface="+mn-ea"/>
                <a:cs typeface="+mn-cs"/>
              </a:rPr>
              <a:t>For example, animals with  faster pace of life might be more active and take more risks when searching for food. Animals with slower pace of life might behave more cautiously. These traits may be connected because they are part of the same life strategy. </a:t>
            </a:r>
            <a:endParaRPr lang="cs-CZ" sz="1200" kern="1200" dirty="0">
              <a:solidFill>
                <a:schemeClr val="tx1"/>
              </a:solidFill>
              <a:effectLst/>
              <a:latin typeface="+mn-lt"/>
              <a:ea typeface="+mn-ea"/>
              <a:cs typeface="+mn-cs"/>
            </a:endParaRPr>
          </a:p>
          <a:p>
            <a:r>
              <a:rPr lang="fi-FI" sz="1200" kern="1200" dirty="0">
                <a:solidFill>
                  <a:schemeClr val="tx1"/>
                </a:solidFill>
                <a:effectLst/>
                <a:latin typeface="+mn-lt"/>
                <a:ea typeface="+mn-ea"/>
                <a:cs typeface="+mn-cs"/>
              </a:rPr>
              <a:t>However, these connections are not similar for all the species. The strategy of the animal depends on the environment it lives in, and the traits doesn’t always change together. For example, a brave animal doesn’t necessarily reproduce earlier or have a shorter lifespan. There are also differences between individuals because they can live in different environments and face different risks. </a:t>
            </a:r>
            <a:endParaRPr lang="cs-CZ" sz="1200" kern="1200" dirty="0">
              <a:solidFill>
                <a:schemeClr val="tx1"/>
              </a:solidFill>
              <a:effectLst/>
              <a:latin typeface="+mn-lt"/>
              <a:ea typeface="+mn-ea"/>
              <a:cs typeface="+mn-cs"/>
            </a:endParaRPr>
          </a:p>
          <a:p>
            <a:endParaRPr lang="en-GB" dirty="0"/>
          </a:p>
        </p:txBody>
      </p:sp>
      <p:sp>
        <p:nvSpPr>
          <p:cNvPr id="4" name="Zástupný symbol pro číslo snímku 3"/>
          <p:cNvSpPr>
            <a:spLocks noGrp="1"/>
          </p:cNvSpPr>
          <p:nvPr>
            <p:ph type="sldNum" sz="quarter" idx="5"/>
          </p:nvPr>
        </p:nvSpPr>
        <p:spPr/>
        <p:txBody>
          <a:bodyPr/>
          <a:lstStyle/>
          <a:p>
            <a:fld id="{D8291304-6742-4EC9-8A7D-2B16349E49D6}" type="slidenum">
              <a:rPr lang="en-GB" smtClean="0"/>
              <a:t>13</a:t>
            </a:fld>
            <a:endParaRPr lang="en-GB"/>
          </a:p>
        </p:txBody>
      </p:sp>
    </p:spTree>
    <p:extLst>
      <p:ext uri="{BB962C8B-B14F-4D97-AF65-F5344CB8AC3E}">
        <p14:creationId xmlns:p14="http://schemas.microsoft.com/office/powerpoint/2010/main" val="33031071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i-FI" sz="1200" kern="1200" dirty="0">
                <a:solidFill>
                  <a:schemeClr val="tx1"/>
                </a:solidFill>
                <a:effectLst/>
                <a:latin typeface="+mn-lt"/>
                <a:ea typeface="+mn-ea"/>
                <a:cs typeface="+mn-cs"/>
              </a:rPr>
              <a:t>Interesting comparison could be a hummingbird and a sloth. Hummingbirds are very active and use a lot of energy and live shorter than sloths that have less active lifestyle and low energy consumption. </a:t>
            </a:r>
            <a:endParaRPr lang="cs-CZ" sz="1200" kern="1200" dirty="0">
              <a:solidFill>
                <a:schemeClr val="tx1"/>
              </a:solidFill>
              <a:effectLst/>
              <a:latin typeface="+mn-lt"/>
              <a:ea typeface="+mn-ea"/>
              <a:cs typeface="+mn-cs"/>
            </a:endParaRPr>
          </a:p>
          <a:p>
            <a:endParaRPr lang="en-GB" dirty="0"/>
          </a:p>
        </p:txBody>
      </p:sp>
      <p:sp>
        <p:nvSpPr>
          <p:cNvPr id="4" name="Zástupný symbol pro číslo snímku 3"/>
          <p:cNvSpPr>
            <a:spLocks noGrp="1"/>
          </p:cNvSpPr>
          <p:nvPr>
            <p:ph type="sldNum" sz="quarter" idx="5"/>
          </p:nvPr>
        </p:nvSpPr>
        <p:spPr/>
        <p:txBody>
          <a:bodyPr/>
          <a:lstStyle/>
          <a:p>
            <a:fld id="{D8291304-6742-4EC9-8A7D-2B16349E49D6}" type="slidenum">
              <a:rPr lang="en-GB" smtClean="0"/>
              <a:t>14</a:t>
            </a:fld>
            <a:endParaRPr lang="en-GB"/>
          </a:p>
        </p:txBody>
      </p:sp>
    </p:spTree>
    <p:extLst>
      <p:ext uri="{BB962C8B-B14F-4D97-AF65-F5344CB8AC3E}">
        <p14:creationId xmlns:p14="http://schemas.microsoft.com/office/powerpoint/2010/main" val="11858173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dirty="0" err="1"/>
              <a:t>With</a:t>
            </a:r>
            <a:r>
              <a:rPr lang="cs-CZ" dirty="0"/>
              <a:t> </a:t>
            </a:r>
            <a:r>
              <a:rPr lang="cs-CZ" dirty="0" err="1"/>
              <a:t>the</a:t>
            </a:r>
            <a:r>
              <a:rPr lang="cs-CZ" dirty="0"/>
              <a:t> pace-</a:t>
            </a:r>
            <a:r>
              <a:rPr lang="cs-CZ" dirty="0" err="1"/>
              <a:t>of</a:t>
            </a:r>
            <a:r>
              <a:rPr lang="cs-CZ" dirty="0"/>
              <a:t>-</a:t>
            </a:r>
            <a:r>
              <a:rPr lang="cs-CZ" dirty="0" err="1"/>
              <a:t>life</a:t>
            </a:r>
            <a:r>
              <a:rPr lang="cs-CZ" dirty="0"/>
              <a:t> </a:t>
            </a:r>
            <a:r>
              <a:rPr lang="cs-CZ" dirty="0" err="1"/>
              <a:t>syndromes</a:t>
            </a:r>
            <a:r>
              <a:rPr lang="cs-CZ" dirty="0"/>
              <a:t> </a:t>
            </a:r>
            <a:r>
              <a:rPr lang="cs-CZ" dirty="0" err="1"/>
              <a:t>we</a:t>
            </a:r>
            <a:r>
              <a:rPr lang="cs-CZ" dirty="0"/>
              <a:t> </a:t>
            </a:r>
            <a:r>
              <a:rPr lang="cs-CZ" dirty="0" err="1"/>
              <a:t>gat</a:t>
            </a:r>
            <a:r>
              <a:rPr lang="cs-CZ" dirty="0"/>
              <a:t> </a:t>
            </a:r>
            <a:r>
              <a:rPr lang="cs-CZ" dirty="0" err="1"/>
              <a:t>back</a:t>
            </a:r>
            <a:r>
              <a:rPr lang="cs-CZ" dirty="0"/>
              <a:t> to </a:t>
            </a:r>
            <a:r>
              <a:rPr lang="cs-CZ" dirty="0" err="1"/>
              <a:t>the</a:t>
            </a:r>
            <a:r>
              <a:rPr lang="cs-CZ" dirty="0"/>
              <a:t> </a:t>
            </a:r>
            <a:r>
              <a:rPr lang="cs-CZ" dirty="0" err="1"/>
              <a:t>question</a:t>
            </a:r>
            <a:r>
              <a:rPr lang="cs-CZ" dirty="0"/>
              <a:t>, </a:t>
            </a:r>
            <a:r>
              <a:rPr lang="cs-CZ" dirty="0" err="1"/>
              <a:t>if</a:t>
            </a:r>
            <a:r>
              <a:rPr lang="cs-CZ" dirty="0"/>
              <a:t> </a:t>
            </a:r>
            <a:r>
              <a:rPr lang="cs-CZ" dirty="0" err="1"/>
              <a:t>the</a:t>
            </a:r>
            <a:r>
              <a:rPr lang="cs-CZ" dirty="0"/>
              <a:t> fast-</a:t>
            </a:r>
            <a:r>
              <a:rPr lang="cs-CZ" dirty="0" err="1"/>
              <a:t>slow</a:t>
            </a:r>
            <a:r>
              <a:rPr lang="cs-CZ" dirty="0"/>
              <a:t> </a:t>
            </a:r>
            <a:r>
              <a:rPr lang="cs-CZ" dirty="0" err="1"/>
              <a:t>continuum</a:t>
            </a:r>
            <a:r>
              <a:rPr lang="cs-CZ" dirty="0"/>
              <a:t> </a:t>
            </a:r>
            <a:r>
              <a:rPr lang="cs-CZ" dirty="0" err="1"/>
              <a:t>is</a:t>
            </a:r>
            <a:r>
              <a:rPr lang="cs-CZ" dirty="0"/>
              <a:t> </a:t>
            </a:r>
            <a:r>
              <a:rPr lang="cs-CZ" dirty="0" err="1"/>
              <a:t>enought</a:t>
            </a:r>
            <a:r>
              <a:rPr lang="cs-CZ" dirty="0"/>
              <a:t> to </a:t>
            </a:r>
            <a:r>
              <a:rPr lang="cs-CZ" dirty="0" err="1"/>
              <a:t>define</a:t>
            </a:r>
            <a:r>
              <a:rPr lang="cs-CZ" dirty="0"/>
              <a:t> </a:t>
            </a:r>
            <a:r>
              <a:rPr lang="cs-CZ" dirty="0" err="1"/>
              <a:t>variation</a:t>
            </a:r>
            <a:r>
              <a:rPr lang="cs-CZ" dirty="0"/>
              <a:t> </a:t>
            </a:r>
            <a:r>
              <a:rPr lang="cs-CZ" dirty="0" err="1"/>
              <a:t>of</a:t>
            </a:r>
            <a:r>
              <a:rPr lang="cs-CZ" dirty="0"/>
              <a:t> </a:t>
            </a:r>
            <a:r>
              <a:rPr lang="cs-CZ" dirty="0" err="1"/>
              <a:t>life</a:t>
            </a:r>
            <a:r>
              <a:rPr lang="cs-CZ" dirty="0"/>
              <a:t> </a:t>
            </a:r>
            <a:r>
              <a:rPr lang="cs-CZ" dirty="0" err="1"/>
              <a:t>history</a:t>
            </a:r>
            <a:r>
              <a:rPr lang="cs-CZ" dirty="0"/>
              <a:t> </a:t>
            </a:r>
            <a:r>
              <a:rPr lang="cs-CZ" dirty="0" err="1"/>
              <a:t>variation</a:t>
            </a:r>
            <a:r>
              <a:rPr lang="cs-CZ" dirty="0"/>
              <a:t>.</a:t>
            </a:r>
          </a:p>
          <a:p>
            <a:endParaRPr lang="cs-CZ" dirty="0"/>
          </a:p>
          <a:p>
            <a:r>
              <a:rPr lang="cs-CZ" sz="1200" kern="1200" dirty="0">
                <a:solidFill>
                  <a:schemeClr val="tx1"/>
                </a:solidFill>
                <a:effectLst/>
                <a:latin typeface="+mn-lt"/>
                <a:ea typeface="+mn-ea"/>
                <a:cs typeface="+mn-cs"/>
              </a:rPr>
              <a:t>F</a:t>
            </a:r>
            <a:r>
              <a:rPr lang="en-GB" sz="1200" kern="1200" dirty="0" err="1">
                <a:solidFill>
                  <a:schemeClr val="tx1"/>
                </a:solidFill>
                <a:effectLst/>
                <a:latin typeface="+mn-lt"/>
                <a:ea typeface="+mn-ea"/>
                <a:cs typeface="+mn-cs"/>
              </a:rPr>
              <a:t>ast</a:t>
            </a:r>
            <a:r>
              <a:rPr lang="en-GB" sz="1200" kern="1200" dirty="0">
                <a:solidFill>
                  <a:schemeClr val="tx1"/>
                </a:solidFill>
                <a:effectLst/>
                <a:latin typeface="+mn-lt"/>
                <a:ea typeface="+mn-ea"/>
                <a:cs typeface="+mn-cs"/>
              </a:rPr>
              <a:t> slow continuum is recognized as the dominant axis for explaining life history, but it is </a:t>
            </a:r>
            <a:r>
              <a:rPr lang="cs-CZ" sz="1200" kern="1200" dirty="0" err="1">
                <a:solidFill>
                  <a:schemeClr val="tx1"/>
                </a:solidFill>
                <a:effectLst/>
                <a:latin typeface="+mn-lt"/>
                <a:ea typeface="+mn-ea"/>
                <a:cs typeface="+mn-cs"/>
              </a:rPr>
              <a:t>increasingly</a:t>
            </a:r>
            <a:r>
              <a:rPr lang="en-GB" sz="1200" kern="1200" dirty="0">
                <a:solidFill>
                  <a:schemeClr val="tx1"/>
                </a:solidFill>
                <a:effectLst/>
                <a:latin typeface="+mn-lt"/>
                <a:ea typeface="+mn-ea"/>
                <a:cs typeface="+mn-cs"/>
              </a:rPr>
              <a:t> more evident that it is insufficient for providing the full picture and it is required to have more than one axis of life history variation.</a:t>
            </a:r>
            <a:endParaRPr lang="cs-CZ" sz="1200" kern="1200" dirty="0">
              <a:solidFill>
                <a:schemeClr val="tx1"/>
              </a:solidFill>
              <a:effectLst/>
              <a:latin typeface="+mn-lt"/>
              <a:ea typeface="+mn-ea"/>
              <a:cs typeface="+mn-cs"/>
            </a:endParaRPr>
          </a:p>
          <a:p>
            <a:endParaRPr lang="cs-CZ"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It provides broad picture for tetrapods (mammals, birds…), vascular plants and corals, but there is lack of studies and evidence supporting its applicability in invertebrate, except insects. </a:t>
            </a:r>
            <a:endParaRPr lang="en-GB" dirty="0"/>
          </a:p>
        </p:txBody>
      </p:sp>
      <p:sp>
        <p:nvSpPr>
          <p:cNvPr id="4" name="Zástupný symbol pro číslo snímku 3"/>
          <p:cNvSpPr>
            <a:spLocks noGrp="1"/>
          </p:cNvSpPr>
          <p:nvPr>
            <p:ph type="sldNum" sz="quarter" idx="5"/>
          </p:nvPr>
        </p:nvSpPr>
        <p:spPr/>
        <p:txBody>
          <a:bodyPr/>
          <a:lstStyle/>
          <a:p>
            <a:fld id="{D8291304-6742-4EC9-8A7D-2B16349E49D6}" type="slidenum">
              <a:rPr lang="en-GB" smtClean="0"/>
              <a:t>15</a:t>
            </a:fld>
            <a:endParaRPr lang="en-GB"/>
          </a:p>
        </p:txBody>
      </p:sp>
    </p:spTree>
    <p:extLst>
      <p:ext uri="{BB962C8B-B14F-4D97-AF65-F5344CB8AC3E}">
        <p14:creationId xmlns:p14="http://schemas.microsoft.com/office/powerpoint/2010/main" val="41372018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dirty="0"/>
              <a:t>Many </a:t>
            </a:r>
            <a:r>
              <a:rPr lang="cs-CZ" dirty="0" err="1"/>
              <a:t>organisms</a:t>
            </a:r>
            <a:r>
              <a:rPr lang="cs-CZ" dirty="0"/>
              <a:t> </a:t>
            </a:r>
            <a:r>
              <a:rPr lang="cs-CZ" dirty="0" err="1"/>
              <a:t>fall</a:t>
            </a:r>
            <a:r>
              <a:rPr lang="cs-CZ" dirty="0"/>
              <a:t> out </a:t>
            </a:r>
            <a:r>
              <a:rPr lang="cs-CZ" dirty="0" err="1"/>
              <a:t>of</a:t>
            </a:r>
            <a:r>
              <a:rPr lang="cs-CZ" dirty="0"/>
              <a:t> </a:t>
            </a:r>
            <a:r>
              <a:rPr lang="cs-CZ" dirty="0" err="1"/>
              <a:t>its</a:t>
            </a:r>
            <a:r>
              <a:rPr lang="cs-CZ" dirty="0"/>
              <a:t> </a:t>
            </a:r>
            <a:r>
              <a:rPr lang="cs-CZ" dirty="0" err="1"/>
              <a:t>predictions</a:t>
            </a:r>
            <a:r>
              <a:rPr lang="cs-CZ" dirty="0"/>
              <a:t>, </a:t>
            </a:r>
            <a:r>
              <a:rPr lang="cs-CZ" dirty="0" err="1"/>
              <a:t>for</a:t>
            </a:r>
            <a:r>
              <a:rPr lang="cs-CZ" dirty="0"/>
              <a:t> </a:t>
            </a:r>
            <a:r>
              <a:rPr lang="cs-CZ" dirty="0" err="1"/>
              <a:t>example</a:t>
            </a:r>
            <a:r>
              <a:rPr lang="cs-CZ" dirty="0"/>
              <a:t> </a:t>
            </a:r>
            <a:r>
              <a:rPr lang="cs-CZ" dirty="0" err="1"/>
              <a:t>marine</a:t>
            </a:r>
            <a:r>
              <a:rPr lang="cs-CZ" dirty="0"/>
              <a:t> </a:t>
            </a:r>
            <a:r>
              <a:rPr lang="cs-CZ" dirty="0" err="1"/>
              <a:t>turtles</a:t>
            </a:r>
            <a:r>
              <a:rPr lang="cs-CZ" dirty="0"/>
              <a:t> and most </a:t>
            </a:r>
            <a:r>
              <a:rPr lang="cs-CZ" dirty="0" err="1"/>
              <a:t>trees</a:t>
            </a:r>
            <a:r>
              <a:rPr lang="cs-CZ" dirty="0"/>
              <a:t>. </a:t>
            </a:r>
          </a:p>
          <a:p>
            <a:endParaRPr lang="cs-CZ" dirty="0"/>
          </a:p>
          <a:p>
            <a:r>
              <a:rPr lang="en-GB" sz="1200" kern="1200" dirty="0">
                <a:solidFill>
                  <a:schemeClr val="tx1"/>
                </a:solidFill>
                <a:effectLst/>
                <a:latin typeface="+mn-lt"/>
                <a:ea typeface="+mn-ea"/>
                <a:cs typeface="+mn-cs"/>
              </a:rPr>
              <a:t>If we look at the trees, we see that they have longer life span, mature late, and grow slower but also have high reproduction. If it followed fast-slow continuum prediction reproduction would be lower.</a:t>
            </a:r>
            <a:endParaRPr lang="cs-CZ" sz="1200" kern="1200" dirty="0">
              <a:solidFill>
                <a:schemeClr val="tx1"/>
              </a:solidFill>
              <a:effectLst/>
              <a:latin typeface="+mn-lt"/>
              <a:ea typeface="+mn-ea"/>
              <a:cs typeface="+mn-cs"/>
            </a:endParaRPr>
          </a:p>
          <a:p>
            <a:endParaRPr lang="cs-CZ"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Growing evidence suggests the existence of multiple different axis along developmental and reproductive patterns</a:t>
            </a:r>
            <a:endParaRPr lang="cs-CZ" sz="1200" kern="1200" dirty="0">
              <a:solidFill>
                <a:schemeClr val="tx1"/>
              </a:solidFill>
              <a:effectLst/>
              <a:latin typeface="+mn-lt"/>
              <a:ea typeface="+mn-ea"/>
              <a:cs typeface="+mn-cs"/>
            </a:endParaRPr>
          </a:p>
          <a:p>
            <a:endParaRPr lang="en-GB" dirty="0"/>
          </a:p>
        </p:txBody>
      </p:sp>
      <p:sp>
        <p:nvSpPr>
          <p:cNvPr id="4" name="Zástupný symbol pro číslo snímku 3"/>
          <p:cNvSpPr>
            <a:spLocks noGrp="1"/>
          </p:cNvSpPr>
          <p:nvPr>
            <p:ph type="sldNum" sz="quarter" idx="5"/>
          </p:nvPr>
        </p:nvSpPr>
        <p:spPr/>
        <p:txBody>
          <a:bodyPr/>
          <a:lstStyle/>
          <a:p>
            <a:fld id="{D8291304-6742-4EC9-8A7D-2B16349E49D6}" type="slidenum">
              <a:rPr lang="en-GB" smtClean="0"/>
              <a:t>16</a:t>
            </a:fld>
            <a:endParaRPr lang="en-GB"/>
          </a:p>
        </p:txBody>
      </p:sp>
    </p:spTree>
    <p:extLst>
      <p:ext uri="{BB962C8B-B14F-4D97-AF65-F5344CB8AC3E}">
        <p14:creationId xmlns:p14="http://schemas.microsoft.com/office/powerpoint/2010/main" val="9408321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dirty="0" err="1"/>
              <a:t>One</a:t>
            </a:r>
            <a:r>
              <a:rPr lang="cs-CZ" dirty="0"/>
              <a:t> </a:t>
            </a:r>
            <a:r>
              <a:rPr lang="cs-CZ" dirty="0" err="1"/>
              <a:t>of</a:t>
            </a:r>
            <a:r>
              <a:rPr lang="cs-CZ" dirty="0"/>
              <a:t> </a:t>
            </a:r>
            <a:r>
              <a:rPr lang="cs-CZ" dirty="0" err="1"/>
              <a:t>the</a:t>
            </a:r>
            <a:r>
              <a:rPr lang="cs-CZ" dirty="0"/>
              <a:t> </a:t>
            </a:r>
            <a:r>
              <a:rPr lang="cs-CZ" dirty="0" err="1"/>
              <a:t>possible</a:t>
            </a:r>
            <a:r>
              <a:rPr lang="cs-CZ" dirty="0"/>
              <a:t> </a:t>
            </a:r>
            <a:r>
              <a:rPr lang="cs-CZ" dirty="0" err="1"/>
              <a:t>axes</a:t>
            </a:r>
            <a:r>
              <a:rPr lang="cs-CZ" dirty="0"/>
              <a:t> </a:t>
            </a:r>
            <a:r>
              <a:rPr lang="cs-CZ" dirty="0" err="1"/>
              <a:t>is</a:t>
            </a:r>
            <a:r>
              <a:rPr lang="cs-CZ" dirty="0"/>
              <a:t> </a:t>
            </a:r>
            <a:r>
              <a:rPr lang="cs-CZ" dirty="0" err="1"/>
              <a:t>the</a:t>
            </a:r>
            <a:r>
              <a:rPr lang="cs-CZ" dirty="0"/>
              <a:t> </a:t>
            </a:r>
            <a:r>
              <a:rPr lang="en-GB" sz="1200" b="1" noProof="0" dirty="0">
                <a:solidFill>
                  <a:srgbClr val="D2DA8A"/>
                </a:solidFill>
                <a:latin typeface="Bahnschrift Condensed" panose="020B0502040204020203" pitchFamily="34" charset="0"/>
              </a:rPr>
              <a:t>High vs. low recruitment rates (stature–recruitment’ axis)</a:t>
            </a:r>
            <a:endParaRPr lang="cs-CZ" sz="1200" b="1" noProof="0" dirty="0">
              <a:solidFill>
                <a:srgbClr val="D2DA8A"/>
              </a:solidFill>
              <a:latin typeface="Bahnschrift Condensed" panose="020B0502040204020203" pitchFamily="34" charset="0"/>
            </a:endParaRPr>
          </a:p>
          <a:p>
            <a:r>
              <a:rPr lang="cs-CZ" sz="1200" b="1" noProof="0" dirty="0">
                <a:solidFill>
                  <a:srgbClr val="D2DA8A"/>
                </a:solidFill>
                <a:latin typeface="Bahnschrift Condensed" panose="020B0502040204020203" pitchFamily="34" charset="0"/>
              </a:rPr>
              <a:t>=</a:t>
            </a:r>
            <a:r>
              <a:rPr lang="cs-CZ" sz="1200" b="0" noProof="0" dirty="0">
                <a:solidFill>
                  <a:srgbClr val="D2DA8A"/>
                </a:solidFill>
                <a:latin typeface="Bahnschrift Condensed" panose="020B0502040204020203" pitchFamily="34" charset="0"/>
              </a:rPr>
              <a:t> </a:t>
            </a:r>
            <a:r>
              <a:rPr lang="en-GB" sz="1200" kern="1200" dirty="0">
                <a:solidFill>
                  <a:schemeClr val="tx1"/>
                </a:solidFill>
                <a:effectLst/>
                <a:latin typeface="+mn-lt"/>
                <a:ea typeface="+mn-ea"/>
                <a:cs typeface="+mn-cs"/>
              </a:rPr>
              <a:t>defined as the addition of new individuals to a defined segment of a population</a:t>
            </a:r>
            <a:endParaRPr lang="cs-CZ" sz="1200" kern="1200" dirty="0">
              <a:solidFill>
                <a:schemeClr val="tx1"/>
              </a:solidFill>
              <a:effectLst/>
              <a:latin typeface="+mn-lt"/>
              <a:ea typeface="+mn-ea"/>
              <a:cs typeface="+mn-cs"/>
            </a:endParaRPr>
          </a:p>
          <a:p>
            <a:endParaRPr lang="cs-CZ" sz="1200" b="1" kern="1200" dirty="0">
              <a:solidFill>
                <a:schemeClr val="tx1"/>
              </a:solidFill>
              <a:effectLst/>
              <a:latin typeface="+mn-lt"/>
              <a:ea typeface="+mn-ea"/>
              <a:cs typeface="+mn-cs"/>
            </a:endParaRPr>
          </a:p>
          <a:p>
            <a:r>
              <a:rPr lang="cs-CZ" sz="1200" b="0" kern="1200" dirty="0">
                <a:solidFill>
                  <a:schemeClr val="tx1"/>
                </a:solidFill>
                <a:effectLst/>
                <a:latin typeface="+mn-lt"/>
                <a:ea typeface="+mn-ea"/>
                <a:cs typeface="+mn-cs"/>
              </a:rPr>
              <a:t>As </a:t>
            </a:r>
            <a:r>
              <a:rPr lang="cs-CZ" sz="1200" b="0" kern="1200" dirty="0" err="1">
                <a:solidFill>
                  <a:schemeClr val="tx1"/>
                </a:solidFill>
                <a:effectLst/>
                <a:latin typeface="+mn-lt"/>
                <a:ea typeface="+mn-ea"/>
                <a:cs typeface="+mn-cs"/>
              </a:rPr>
              <a:t>an</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example</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we</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can</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take</a:t>
            </a:r>
            <a:r>
              <a:rPr lang="cs-CZ" sz="1200" b="0" kern="1200" dirty="0">
                <a:solidFill>
                  <a:schemeClr val="tx1"/>
                </a:solidFill>
                <a:effectLst/>
                <a:latin typeface="+mn-lt"/>
                <a:ea typeface="+mn-ea"/>
                <a:cs typeface="+mn-cs"/>
              </a:rPr>
              <a:t> a </a:t>
            </a:r>
            <a:r>
              <a:rPr lang="cs-CZ" sz="1200" b="0" kern="1200" dirty="0" err="1">
                <a:solidFill>
                  <a:schemeClr val="tx1"/>
                </a:solidFill>
                <a:effectLst/>
                <a:latin typeface="+mn-lt"/>
                <a:ea typeface="+mn-ea"/>
                <a:cs typeface="+mn-cs"/>
              </a:rPr>
              <a:t>look</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at</a:t>
            </a:r>
            <a:r>
              <a:rPr lang="cs-CZ" sz="1200" b="0" kern="1200" dirty="0">
                <a:solidFill>
                  <a:schemeClr val="tx1"/>
                </a:solidFill>
                <a:effectLst/>
                <a:latin typeface="+mn-lt"/>
                <a:ea typeface="+mn-ea"/>
                <a:cs typeface="+mn-cs"/>
              </a:rPr>
              <a:t> these </a:t>
            </a:r>
            <a:r>
              <a:rPr lang="cs-CZ" sz="1200" b="0" kern="1200" dirty="0" err="1">
                <a:solidFill>
                  <a:schemeClr val="tx1"/>
                </a:solidFill>
                <a:effectLst/>
                <a:latin typeface="+mn-lt"/>
                <a:ea typeface="+mn-ea"/>
                <a:cs typeface="+mn-cs"/>
              </a:rPr>
              <a:t>two</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tropical</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trees</a:t>
            </a:r>
            <a:r>
              <a:rPr lang="cs-CZ" sz="1200" b="0" kern="1200" dirty="0">
                <a:solidFill>
                  <a:schemeClr val="tx1"/>
                </a:solidFill>
                <a:effectLst/>
                <a:latin typeface="+mn-lt"/>
                <a:ea typeface="+mn-ea"/>
                <a:cs typeface="+mn-cs"/>
              </a:rPr>
              <a:t>.</a:t>
            </a:r>
          </a:p>
          <a:p>
            <a:endParaRPr lang="cs-CZ" sz="1200" b="0" kern="1200" dirty="0">
              <a:solidFill>
                <a:schemeClr val="tx1"/>
              </a:solidFill>
              <a:effectLst/>
              <a:latin typeface="+mn-lt"/>
              <a:ea typeface="+mn-ea"/>
              <a:cs typeface="+mn-cs"/>
            </a:endParaRPr>
          </a:p>
          <a:p>
            <a:r>
              <a:rPr lang="cs-CZ" sz="1200" b="0" kern="1200" dirty="0" err="1">
                <a:solidFill>
                  <a:schemeClr val="tx1"/>
                </a:solidFill>
                <a:effectLst/>
                <a:latin typeface="+mn-lt"/>
                <a:ea typeface="+mn-ea"/>
                <a:cs typeface="+mn-cs"/>
              </a:rPr>
              <a:t>The</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high</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recruitment</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rates</a:t>
            </a:r>
            <a:r>
              <a:rPr lang="cs-CZ" sz="1200" b="0" kern="1200" dirty="0">
                <a:solidFill>
                  <a:schemeClr val="tx1"/>
                </a:solidFill>
                <a:effectLst/>
                <a:latin typeface="+mn-lt"/>
                <a:ea typeface="+mn-ea"/>
                <a:cs typeface="+mn-cs"/>
              </a:rPr>
              <a:t> end </a:t>
            </a:r>
            <a:r>
              <a:rPr lang="cs-CZ" sz="1200" b="0" kern="1200" dirty="0" err="1">
                <a:solidFill>
                  <a:schemeClr val="tx1"/>
                </a:solidFill>
                <a:effectLst/>
                <a:latin typeface="+mn-lt"/>
                <a:ea typeface="+mn-ea"/>
                <a:cs typeface="+mn-cs"/>
              </a:rPr>
              <a:t>is</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represented</a:t>
            </a:r>
            <a:r>
              <a:rPr lang="cs-CZ" sz="1200" b="0" kern="1200" dirty="0">
                <a:solidFill>
                  <a:schemeClr val="tx1"/>
                </a:solidFill>
                <a:effectLst/>
                <a:latin typeface="+mn-lt"/>
                <a:ea typeface="+mn-ea"/>
                <a:cs typeface="+mn-cs"/>
              </a:rPr>
              <a:t> by </a:t>
            </a:r>
            <a:r>
              <a:rPr lang="cs-CZ" sz="1200" b="0" kern="1200" dirty="0" err="1">
                <a:solidFill>
                  <a:schemeClr val="tx1"/>
                </a:solidFill>
                <a:effectLst/>
                <a:latin typeface="+mn-lt"/>
                <a:ea typeface="+mn-ea"/>
                <a:cs typeface="+mn-cs"/>
              </a:rPr>
              <a:t>wild</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coffee</a:t>
            </a:r>
            <a:r>
              <a:rPr lang="cs-CZ" sz="1200" b="0" kern="1200" dirty="0">
                <a:solidFill>
                  <a:schemeClr val="tx1"/>
                </a:solidFill>
                <a:effectLst/>
                <a:latin typeface="+mn-lt"/>
                <a:ea typeface="+mn-ea"/>
                <a:cs typeface="+mn-cs"/>
              </a:rPr>
              <a:t> plant, </a:t>
            </a:r>
            <a:r>
              <a:rPr lang="cs-CZ" sz="1200" b="0" kern="1200" dirty="0" err="1">
                <a:solidFill>
                  <a:schemeClr val="tx1"/>
                </a:solidFill>
                <a:effectLst/>
                <a:latin typeface="+mn-lt"/>
                <a:ea typeface="+mn-ea"/>
                <a:cs typeface="+mn-cs"/>
              </a:rPr>
              <a:t>creates</a:t>
            </a:r>
            <a:r>
              <a:rPr lang="cs-CZ" sz="1200" b="0" kern="1200" dirty="0">
                <a:solidFill>
                  <a:schemeClr val="tx1"/>
                </a:solidFill>
                <a:effectLst/>
                <a:latin typeface="+mn-lt"/>
                <a:ea typeface="+mn-ea"/>
                <a:cs typeface="+mn-cs"/>
              </a:rPr>
              <a:t> a lot </a:t>
            </a:r>
            <a:r>
              <a:rPr lang="cs-CZ" sz="1200" b="0" kern="1200" dirty="0" err="1">
                <a:solidFill>
                  <a:schemeClr val="tx1"/>
                </a:solidFill>
                <a:effectLst/>
                <a:latin typeface="+mn-lt"/>
                <a:ea typeface="+mn-ea"/>
                <a:cs typeface="+mn-cs"/>
              </a:rPr>
              <a:t>of</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seeds</a:t>
            </a:r>
            <a:r>
              <a:rPr lang="cs-CZ" sz="1200" b="0" kern="1200" dirty="0">
                <a:solidFill>
                  <a:schemeClr val="tx1"/>
                </a:solidFill>
                <a:effectLst/>
                <a:latin typeface="+mn-lt"/>
                <a:ea typeface="+mn-ea"/>
                <a:cs typeface="+mn-cs"/>
              </a:rPr>
              <a:t>, mortality </a:t>
            </a:r>
            <a:r>
              <a:rPr lang="cs-CZ" sz="1200" b="0" kern="1200" dirty="0" err="1">
                <a:solidFill>
                  <a:schemeClr val="tx1"/>
                </a:solidFill>
                <a:effectLst/>
                <a:latin typeface="+mn-lt"/>
                <a:ea typeface="+mn-ea"/>
                <a:cs typeface="+mn-cs"/>
              </a:rPr>
              <a:t>of</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its</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juvenile</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stage</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is</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low</a:t>
            </a:r>
            <a:r>
              <a:rPr lang="cs-CZ" sz="1200" b="0" kern="1200" dirty="0">
                <a:solidFill>
                  <a:schemeClr val="tx1"/>
                </a:solidFill>
                <a:effectLst/>
                <a:latin typeface="+mn-lt"/>
                <a:ea typeface="+mn-ea"/>
                <a:cs typeface="+mn-cs"/>
              </a:rPr>
              <a:t> and </a:t>
            </a:r>
            <a:r>
              <a:rPr lang="cs-CZ" sz="1200" b="0" kern="1200" dirty="0" err="1">
                <a:solidFill>
                  <a:schemeClr val="tx1"/>
                </a:solidFill>
                <a:effectLst/>
                <a:latin typeface="+mn-lt"/>
                <a:ea typeface="+mn-ea"/>
                <a:cs typeface="+mn-cs"/>
              </a:rPr>
              <a:t>reproduces</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after</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reaching</a:t>
            </a:r>
            <a:r>
              <a:rPr lang="cs-CZ" sz="1200" b="0" kern="1200" dirty="0">
                <a:solidFill>
                  <a:schemeClr val="tx1"/>
                </a:solidFill>
                <a:effectLst/>
                <a:latin typeface="+mn-lt"/>
                <a:ea typeface="+mn-ea"/>
                <a:cs typeface="+mn-cs"/>
              </a:rPr>
              <a:t> 1 to 3 meter </a:t>
            </a:r>
            <a:r>
              <a:rPr lang="cs-CZ" sz="1200" b="0" kern="1200" dirty="0" err="1">
                <a:solidFill>
                  <a:schemeClr val="tx1"/>
                </a:solidFill>
                <a:effectLst/>
                <a:latin typeface="+mn-lt"/>
                <a:ea typeface="+mn-ea"/>
                <a:cs typeface="+mn-cs"/>
              </a:rPr>
              <a:t>tall</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After</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that</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its</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survival</a:t>
            </a:r>
            <a:r>
              <a:rPr lang="cs-CZ" sz="1200" b="0" kern="1200" dirty="0">
                <a:solidFill>
                  <a:schemeClr val="tx1"/>
                </a:solidFill>
                <a:effectLst/>
                <a:latin typeface="+mn-lt"/>
                <a:ea typeface="+mn-ea"/>
                <a:cs typeface="+mn-cs"/>
              </a:rPr>
              <a:t> and </a:t>
            </a:r>
            <a:r>
              <a:rPr lang="cs-CZ" sz="1200" b="0" kern="1200" dirty="0" err="1">
                <a:solidFill>
                  <a:schemeClr val="tx1"/>
                </a:solidFill>
                <a:effectLst/>
                <a:latin typeface="+mn-lt"/>
                <a:ea typeface="+mn-ea"/>
                <a:cs typeface="+mn-cs"/>
              </a:rPr>
              <a:t>growth</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decline</a:t>
            </a:r>
            <a:r>
              <a:rPr lang="cs-CZ" sz="1200" b="0" kern="1200" dirty="0">
                <a:solidFill>
                  <a:schemeClr val="tx1"/>
                </a:solidFill>
                <a:effectLst/>
                <a:latin typeface="+mn-lt"/>
                <a:ea typeface="+mn-ea"/>
                <a:cs typeface="+mn-cs"/>
              </a:rPr>
              <a:t>.</a:t>
            </a:r>
          </a:p>
          <a:p>
            <a:endParaRPr lang="cs-CZ" sz="1200" b="0" kern="1200" dirty="0">
              <a:solidFill>
                <a:schemeClr val="tx1"/>
              </a:solidFill>
              <a:effectLst/>
              <a:latin typeface="+mn-lt"/>
              <a:ea typeface="+mn-ea"/>
              <a:cs typeface="+mn-cs"/>
            </a:endParaRPr>
          </a:p>
          <a:p>
            <a:r>
              <a:rPr lang="cs-CZ" sz="1200" b="0" kern="1200" dirty="0">
                <a:solidFill>
                  <a:schemeClr val="tx1"/>
                </a:solidFill>
                <a:effectLst/>
                <a:latin typeface="+mn-lt"/>
                <a:ea typeface="+mn-ea"/>
                <a:cs typeface="+mn-cs"/>
              </a:rPr>
              <a:t>On </a:t>
            </a:r>
            <a:r>
              <a:rPr lang="cs-CZ" sz="1200" b="0" kern="1200" dirty="0" err="1">
                <a:solidFill>
                  <a:schemeClr val="tx1"/>
                </a:solidFill>
                <a:effectLst/>
                <a:latin typeface="+mn-lt"/>
                <a:ea typeface="+mn-ea"/>
                <a:cs typeface="+mn-cs"/>
              </a:rPr>
              <a:t>the</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other</a:t>
            </a:r>
            <a:r>
              <a:rPr lang="cs-CZ" sz="1200" b="0" kern="1200" dirty="0">
                <a:solidFill>
                  <a:schemeClr val="tx1"/>
                </a:solidFill>
                <a:effectLst/>
                <a:latin typeface="+mn-lt"/>
                <a:ea typeface="+mn-ea"/>
                <a:cs typeface="+mn-cs"/>
              </a:rPr>
              <a:t> end, </a:t>
            </a:r>
            <a:r>
              <a:rPr lang="cs-CZ" sz="1200" b="0" kern="1200" dirty="0" err="1">
                <a:solidFill>
                  <a:schemeClr val="tx1"/>
                </a:solidFill>
                <a:effectLst/>
                <a:latin typeface="+mn-lt"/>
                <a:ea typeface="+mn-ea"/>
                <a:cs typeface="+mn-cs"/>
              </a:rPr>
              <a:t>we</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see</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the</a:t>
            </a:r>
            <a:r>
              <a:rPr lang="cs-CZ" sz="1200" b="0" kern="1200" dirty="0">
                <a:solidFill>
                  <a:schemeClr val="tx1"/>
                </a:solidFill>
                <a:effectLst/>
                <a:latin typeface="+mn-lt"/>
                <a:ea typeface="+mn-ea"/>
                <a:cs typeface="+mn-cs"/>
              </a:rPr>
              <a:t> kapok </a:t>
            </a:r>
            <a:r>
              <a:rPr lang="cs-CZ" sz="1200" b="0" kern="1200" dirty="0" err="1">
                <a:solidFill>
                  <a:schemeClr val="tx1"/>
                </a:solidFill>
                <a:effectLst/>
                <a:latin typeface="+mn-lt"/>
                <a:ea typeface="+mn-ea"/>
                <a:cs typeface="+mn-cs"/>
              </a:rPr>
              <a:t>tree</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this</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tree</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also</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creates</a:t>
            </a:r>
            <a:r>
              <a:rPr lang="cs-CZ" sz="1200" b="0" kern="1200" dirty="0">
                <a:solidFill>
                  <a:schemeClr val="tx1"/>
                </a:solidFill>
                <a:effectLst/>
                <a:latin typeface="+mn-lt"/>
                <a:ea typeface="+mn-ea"/>
                <a:cs typeface="+mn-cs"/>
              </a:rPr>
              <a:t> a lot </a:t>
            </a:r>
            <a:r>
              <a:rPr lang="cs-CZ" sz="1200" b="0" kern="1200" dirty="0" err="1">
                <a:solidFill>
                  <a:schemeClr val="tx1"/>
                </a:solidFill>
                <a:effectLst/>
                <a:latin typeface="+mn-lt"/>
                <a:ea typeface="+mn-ea"/>
                <a:cs typeface="+mn-cs"/>
              </a:rPr>
              <a:t>of</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seeds</a:t>
            </a:r>
            <a:r>
              <a:rPr lang="cs-CZ" sz="1200" b="0" kern="1200" dirty="0">
                <a:solidFill>
                  <a:schemeClr val="tx1"/>
                </a:solidFill>
                <a:effectLst/>
                <a:latin typeface="+mn-lt"/>
                <a:ea typeface="+mn-ea"/>
                <a:cs typeface="+mn-cs"/>
              </a:rPr>
              <a:t>, but </a:t>
            </a:r>
            <a:r>
              <a:rPr lang="cs-CZ" sz="1200" b="0" kern="1200" dirty="0" err="1">
                <a:solidFill>
                  <a:schemeClr val="tx1"/>
                </a:solidFill>
                <a:effectLst/>
                <a:latin typeface="+mn-lt"/>
                <a:ea typeface="+mn-ea"/>
                <a:cs typeface="+mn-cs"/>
              </a:rPr>
              <a:t>the</a:t>
            </a:r>
            <a:r>
              <a:rPr lang="cs-CZ" sz="1200" b="0" kern="1200" dirty="0">
                <a:solidFill>
                  <a:schemeClr val="tx1"/>
                </a:solidFill>
                <a:effectLst/>
                <a:latin typeface="+mn-lt"/>
                <a:ea typeface="+mn-ea"/>
                <a:cs typeface="+mn-cs"/>
              </a:rPr>
              <a:t> mortality </a:t>
            </a:r>
            <a:r>
              <a:rPr lang="cs-CZ" sz="1200" b="0" kern="1200" dirty="0" err="1">
                <a:solidFill>
                  <a:schemeClr val="tx1"/>
                </a:solidFill>
                <a:effectLst/>
                <a:latin typeface="+mn-lt"/>
                <a:ea typeface="+mn-ea"/>
                <a:cs typeface="+mn-cs"/>
              </a:rPr>
              <a:t>of</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juveniles</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is</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high</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because</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it</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needs</a:t>
            </a:r>
            <a:r>
              <a:rPr lang="cs-CZ" sz="1200" b="0" kern="1200" dirty="0">
                <a:solidFill>
                  <a:schemeClr val="tx1"/>
                </a:solidFill>
                <a:effectLst/>
                <a:latin typeface="+mn-lt"/>
                <a:ea typeface="+mn-ea"/>
                <a:cs typeface="+mn-cs"/>
              </a:rPr>
              <a:t> direct </a:t>
            </a:r>
            <a:r>
              <a:rPr lang="cs-CZ" sz="1200" b="0" kern="1200" dirty="0" err="1">
                <a:solidFill>
                  <a:schemeClr val="tx1"/>
                </a:solidFill>
                <a:effectLst/>
                <a:latin typeface="+mn-lt"/>
                <a:ea typeface="+mn-ea"/>
                <a:cs typeface="+mn-cs"/>
              </a:rPr>
              <a:t>sunlight</a:t>
            </a:r>
            <a:r>
              <a:rPr lang="cs-CZ" sz="1200" b="0" kern="1200" dirty="0">
                <a:solidFill>
                  <a:schemeClr val="tx1"/>
                </a:solidFill>
                <a:effectLst/>
                <a:latin typeface="+mn-lt"/>
                <a:ea typeface="+mn-ea"/>
                <a:cs typeface="+mn-cs"/>
              </a:rPr>
              <a:t> to </a:t>
            </a:r>
            <a:r>
              <a:rPr lang="cs-CZ" sz="1200" b="0" kern="1200" dirty="0" err="1">
                <a:solidFill>
                  <a:schemeClr val="tx1"/>
                </a:solidFill>
                <a:effectLst/>
                <a:latin typeface="+mn-lt"/>
                <a:ea typeface="+mn-ea"/>
                <a:cs typeface="+mn-cs"/>
              </a:rPr>
              <a:t>grow</a:t>
            </a:r>
            <a:r>
              <a:rPr lang="cs-CZ" sz="1200" b="0" kern="1200" dirty="0">
                <a:solidFill>
                  <a:schemeClr val="tx1"/>
                </a:solidFill>
                <a:effectLst/>
                <a:latin typeface="+mn-lt"/>
                <a:ea typeface="+mn-ea"/>
                <a:cs typeface="+mn-cs"/>
              </a:rPr>
              <a:t> and </a:t>
            </a:r>
            <a:r>
              <a:rPr lang="cs-CZ" sz="1200" b="0" kern="1200" dirty="0" err="1">
                <a:solidFill>
                  <a:schemeClr val="tx1"/>
                </a:solidFill>
                <a:effectLst/>
                <a:latin typeface="+mn-lt"/>
                <a:ea typeface="+mn-ea"/>
                <a:cs typeface="+mn-cs"/>
              </a:rPr>
              <a:t>develop</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Once</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it</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reaches</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adulthood</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survival</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rate</a:t>
            </a:r>
            <a:r>
              <a:rPr lang="cs-CZ" sz="1200" b="0" kern="1200" dirty="0">
                <a:solidFill>
                  <a:schemeClr val="tx1"/>
                </a:solidFill>
                <a:effectLst/>
                <a:latin typeface="+mn-lt"/>
                <a:ea typeface="+mn-ea"/>
                <a:cs typeface="+mn-cs"/>
              </a:rPr>
              <a:t> and </a:t>
            </a:r>
            <a:r>
              <a:rPr lang="cs-CZ" sz="1200" b="0" kern="1200" dirty="0" err="1">
                <a:solidFill>
                  <a:schemeClr val="tx1"/>
                </a:solidFill>
                <a:effectLst/>
                <a:latin typeface="+mn-lt"/>
                <a:ea typeface="+mn-ea"/>
                <a:cs typeface="+mn-cs"/>
              </a:rPr>
              <a:t>growth</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rapidly</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increase</a:t>
            </a:r>
            <a:r>
              <a:rPr lang="cs-CZ" sz="1200" b="0" kern="1200" dirty="0">
                <a:solidFill>
                  <a:schemeClr val="tx1"/>
                </a:solidFill>
                <a:effectLst/>
                <a:latin typeface="+mn-lt"/>
                <a:ea typeface="+mn-ea"/>
                <a:cs typeface="+mn-cs"/>
              </a:rPr>
              <a:t>.</a:t>
            </a:r>
          </a:p>
          <a:p>
            <a:endParaRPr lang="cs-CZ" sz="1200" b="0" kern="1200" dirty="0">
              <a:solidFill>
                <a:schemeClr val="tx1"/>
              </a:solidFill>
              <a:effectLst/>
              <a:latin typeface="+mn-lt"/>
              <a:ea typeface="+mn-ea"/>
              <a:cs typeface="+mn-cs"/>
            </a:endParaRPr>
          </a:p>
          <a:p>
            <a:r>
              <a:rPr lang="cs-CZ" sz="1200" b="0" kern="1200" dirty="0" err="1">
                <a:solidFill>
                  <a:schemeClr val="tx1"/>
                </a:solidFill>
                <a:effectLst/>
                <a:latin typeface="+mn-lt"/>
                <a:ea typeface="+mn-ea"/>
                <a:cs typeface="+mn-cs"/>
              </a:rPr>
              <a:t>If</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this</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was</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according</a:t>
            </a:r>
            <a:r>
              <a:rPr lang="cs-CZ" sz="1200" b="0" kern="1200" dirty="0">
                <a:solidFill>
                  <a:schemeClr val="tx1"/>
                </a:solidFill>
                <a:effectLst/>
                <a:latin typeface="+mn-lt"/>
                <a:ea typeface="+mn-ea"/>
                <a:cs typeface="+mn-cs"/>
              </a:rPr>
              <a:t> to fast-</a:t>
            </a:r>
            <a:r>
              <a:rPr lang="cs-CZ" sz="1200" b="0" kern="1200" dirty="0" err="1">
                <a:solidFill>
                  <a:schemeClr val="tx1"/>
                </a:solidFill>
                <a:effectLst/>
                <a:latin typeface="+mn-lt"/>
                <a:ea typeface="+mn-ea"/>
                <a:cs typeface="+mn-cs"/>
              </a:rPr>
              <a:t>slow</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continuum</a:t>
            </a:r>
            <a:r>
              <a:rPr lang="cs-CZ" sz="1200" b="0" kern="1200" dirty="0">
                <a:solidFill>
                  <a:schemeClr val="tx1"/>
                </a:solidFill>
                <a:effectLst/>
                <a:latin typeface="+mn-lt"/>
                <a:ea typeface="+mn-ea"/>
                <a:cs typeface="+mn-cs"/>
              </a:rPr>
              <a:t>, mortality </a:t>
            </a:r>
            <a:r>
              <a:rPr lang="cs-CZ" sz="1200" b="0" kern="1200" dirty="0" err="1">
                <a:solidFill>
                  <a:schemeClr val="tx1"/>
                </a:solidFill>
                <a:effectLst/>
                <a:latin typeface="+mn-lt"/>
                <a:ea typeface="+mn-ea"/>
                <a:cs typeface="+mn-cs"/>
              </a:rPr>
              <a:t>of</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juveniles</a:t>
            </a:r>
            <a:r>
              <a:rPr lang="cs-CZ" sz="1200" b="0" kern="1200" dirty="0">
                <a:solidFill>
                  <a:schemeClr val="tx1"/>
                </a:solidFill>
                <a:effectLst/>
                <a:latin typeface="+mn-lt"/>
                <a:ea typeface="+mn-ea"/>
                <a:cs typeface="+mn-cs"/>
              </a:rPr>
              <a:t> in </a:t>
            </a:r>
            <a:r>
              <a:rPr lang="cs-CZ" sz="1200" b="0" kern="1200" dirty="0" err="1">
                <a:solidFill>
                  <a:schemeClr val="tx1"/>
                </a:solidFill>
                <a:effectLst/>
                <a:latin typeface="+mn-lt"/>
                <a:ea typeface="+mn-ea"/>
                <a:cs typeface="+mn-cs"/>
              </a:rPr>
              <a:t>wild</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coffee</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would</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be</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high</a:t>
            </a:r>
            <a:r>
              <a:rPr lang="cs-CZ" sz="1200" b="0" kern="1200" dirty="0">
                <a:solidFill>
                  <a:schemeClr val="tx1"/>
                </a:solidFill>
                <a:effectLst/>
                <a:latin typeface="+mn-lt"/>
                <a:ea typeface="+mn-ea"/>
                <a:cs typeface="+mn-cs"/>
              </a:rPr>
              <a:t>, and </a:t>
            </a:r>
            <a:r>
              <a:rPr lang="cs-CZ" sz="1200" b="0" kern="1200" dirty="0" err="1">
                <a:solidFill>
                  <a:schemeClr val="tx1"/>
                </a:solidFill>
                <a:effectLst/>
                <a:latin typeface="+mn-lt"/>
                <a:ea typeface="+mn-ea"/>
                <a:cs typeface="+mn-cs"/>
              </a:rPr>
              <a:t>the</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other</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way</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around</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for</a:t>
            </a:r>
            <a:r>
              <a:rPr lang="cs-CZ" sz="1200" b="0" kern="1200" dirty="0">
                <a:solidFill>
                  <a:schemeClr val="tx1"/>
                </a:solidFill>
                <a:effectLst/>
                <a:latin typeface="+mn-lt"/>
                <a:ea typeface="+mn-ea"/>
                <a:cs typeface="+mn-cs"/>
              </a:rPr>
              <a:t> </a:t>
            </a:r>
            <a:r>
              <a:rPr lang="cs-CZ" sz="1200" b="0" kern="1200" dirty="0" err="1">
                <a:solidFill>
                  <a:schemeClr val="tx1"/>
                </a:solidFill>
                <a:effectLst/>
                <a:latin typeface="+mn-lt"/>
                <a:ea typeface="+mn-ea"/>
                <a:cs typeface="+mn-cs"/>
              </a:rPr>
              <a:t>the</a:t>
            </a:r>
            <a:r>
              <a:rPr lang="cs-CZ" sz="1200" b="0" kern="1200" dirty="0">
                <a:solidFill>
                  <a:schemeClr val="tx1"/>
                </a:solidFill>
                <a:effectLst/>
                <a:latin typeface="+mn-lt"/>
                <a:ea typeface="+mn-ea"/>
                <a:cs typeface="+mn-cs"/>
              </a:rPr>
              <a:t> kapok </a:t>
            </a:r>
            <a:r>
              <a:rPr lang="cs-CZ" sz="1200" b="0" kern="1200" dirty="0" err="1">
                <a:solidFill>
                  <a:schemeClr val="tx1"/>
                </a:solidFill>
                <a:effectLst/>
                <a:latin typeface="+mn-lt"/>
                <a:ea typeface="+mn-ea"/>
                <a:cs typeface="+mn-cs"/>
              </a:rPr>
              <a:t>tree</a:t>
            </a:r>
            <a:r>
              <a:rPr lang="cs-CZ" sz="1200" b="0" kern="1200" dirty="0">
                <a:solidFill>
                  <a:schemeClr val="tx1"/>
                </a:solidFill>
                <a:effectLst/>
                <a:latin typeface="+mn-lt"/>
                <a:ea typeface="+mn-ea"/>
                <a:cs typeface="+mn-cs"/>
              </a:rPr>
              <a:t>.</a:t>
            </a:r>
            <a:endParaRPr lang="en-GB" b="0" dirty="0"/>
          </a:p>
        </p:txBody>
      </p:sp>
      <p:sp>
        <p:nvSpPr>
          <p:cNvPr id="4" name="Zástupný symbol pro číslo snímku 3"/>
          <p:cNvSpPr>
            <a:spLocks noGrp="1"/>
          </p:cNvSpPr>
          <p:nvPr>
            <p:ph type="sldNum" sz="quarter" idx="5"/>
          </p:nvPr>
        </p:nvSpPr>
        <p:spPr/>
        <p:txBody>
          <a:bodyPr/>
          <a:lstStyle/>
          <a:p>
            <a:fld id="{D8291304-6742-4EC9-8A7D-2B16349E49D6}" type="slidenum">
              <a:rPr lang="en-GB" smtClean="0"/>
              <a:t>17</a:t>
            </a:fld>
            <a:endParaRPr lang="en-GB"/>
          </a:p>
        </p:txBody>
      </p:sp>
    </p:spTree>
    <p:extLst>
      <p:ext uri="{BB962C8B-B14F-4D97-AF65-F5344CB8AC3E}">
        <p14:creationId xmlns:p14="http://schemas.microsoft.com/office/powerpoint/2010/main" val="39955541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An other axis is Altricial Vs precocial offspring</a:t>
            </a:r>
          </a:p>
          <a:p>
            <a:pPr marL="0" marR="0" lvl="0" indent="0" algn="l" defTabSz="914400" rtl="0" eaLnBrk="1" fontAlgn="auto" latinLnBrk="0" hangingPunct="1">
              <a:lnSpc>
                <a:spcPct val="100000"/>
              </a:lnSpc>
              <a:spcBef>
                <a:spcPts val="0"/>
              </a:spcBef>
              <a:spcAft>
                <a:spcPts val="0"/>
              </a:spcAft>
              <a:buClrTx/>
              <a:buSzTx/>
              <a:buFontTx/>
              <a:buNone/>
              <a:tabLst/>
              <a:defRPr/>
            </a:pPr>
            <a:br>
              <a:rPr lang="hu-HU" sz="1200" kern="1200" dirty="0">
                <a:solidFill>
                  <a:schemeClr val="tx1"/>
                </a:solidFill>
                <a:effectLst/>
                <a:latin typeface="+mn-lt"/>
                <a:ea typeface="+mn-ea"/>
                <a:cs typeface="+mn-cs"/>
              </a:rPr>
            </a:br>
            <a:r>
              <a:rPr lang="hu-HU" sz="1200" kern="1200" dirty="0">
                <a:solidFill>
                  <a:schemeClr val="tx1"/>
                </a:solidFill>
                <a:effectLst/>
                <a:latin typeface="+mn-lt"/>
                <a:ea typeface="+mn-ea"/>
                <a:cs typeface="+mn-cs"/>
              </a:rPr>
              <a:t>The difference precociality altriciality is most noticeable in birds</a:t>
            </a:r>
          </a:p>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t>
            </a:r>
            <a:br>
              <a:rPr lang="hu-HU" sz="1200" kern="1200" dirty="0">
                <a:solidFill>
                  <a:schemeClr val="tx1"/>
                </a:solidFill>
                <a:effectLst/>
                <a:latin typeface="+mn-lt"/>
                <a:ea typeface="+mn-ea"/>
                <a:cs typeface="+mn-cs"/>
              </a:rPr>
            </a:br>
            <a:r>
              <a:rPr lang="hu-HU" sz="1200" kern="1200" dirty="0">
                <a:solidFill>
                  <a:schemeClr val="tx1"/>
                </a:solidFill>
                <a:effectLst/>
                <a:latin typeface="+mn-lt"/>
                <a:ea typeface="+mn-ea"/>
                <a:cs typeface="+mn-cs"/>
              </a:rPr>
              <a:t>Precocial: the offsprings are capable of movement and self sufficiency stood after birth. They are almost fully developed when born. Their eyes are open and they already have hair or down feathers. They aren't confined to nests. The parents energy goes into prenatal development, like the eggs of a precocial bird is higher in calories to help the chick develop inside the egg. Animals that have precocial offspring are ungulates, ducks and turkeys.</a:t>
            </a:r>
          </a:p>
          <a:p>
            <a:pPr marL="0" marR="0" lvl="0" indent="0" algn="l" defTabSz="914400" rtl="0" eaLnBrk="1" fontAlgn="auto" latinLnBrk="0" hangingPunct="1">
              <a:lnSpc>
                <a:spcPct val="100000"/>
              </a:lnSpc>
              <a:spcBef>
                <a:spcPts val="0"/>
              </a:spcBef>
              <a:spcAft>
                <a:spcPts val="0"/>
              </a:spcAft>
              <a:buClrTx/>
              <a:buSzTx/>
              <a:buFontTx/>
              <a:buNone/>
              <a:tabLst/>
              <a:defRPr/>
            </a:pPr>
            <a:br>
              <a:rPr lang="hu-HU" sz="1200" kern="1200" dirty="0">
                <a:solidFill>
                  <a:schemeClr val="tx1"/>
                </a:solidFill>
                <a:effectLst/>
                <a:latin typeface="+mn-lt"/>
                <a:ea typeface="+mn-ea"/>
                <a:cs typeface="+mn-cs"/>
              </a:rPr>
            </a:br>
            <a:r>
              <a:rPr lang="hu-HU" sz="1200" kern="1200" dirty="0">
                <a:solidFill>
                  <a:schemeClr val="tx1"/>
                </a:solidFill>
                <a:effectLst/>
                <a:latin typeface="+mn-lt"/>
                <a:ea typeface="+mn-ea"/>
                <a:cs typeface="+mn-cs"/>
              </a:rPr>
              <a:t>Altricial: The offsprings are born immature and helpless. They are often born naked, with no hair or down feathers. They are confined to nests or burrows. The parents energy goes into parental care after birth. Animals that have altricial offspring are passerine birds, rodents and humans</a:t>
            </a:r>
          </a:p>
          <a:p>
            <a:pPr marL="0" marR="0" lvl="0" indent="0" algn="l" defTabSz="914400" rtl="0" eaLnBrk="1" fontAlgn="auto" latinLnBrk="0" hangingPunct="1">
              <a:lnSpc>
                <a:spcPct val="100000"/>
              </a:lnSpc>
              <a:spcBef>
                <a:spcPts val="0"/>
              </a:spcBef>
              <a:spcAft>
                <a:spcPts val="0"/>
              </a:spcAft>
              <a:buClrTx/>
              <a:buSzTx/>
              <a:buFontTx/>
              <a:buNone/>
              <a:tabLst/>
              <a:defRPr/>
            </a:pPr>
            <a:br>
              <a:rPr lang="hu-HU" sz="1200" kern="1200" dirty="0">
                <a:solidFill>
                  <a:schemeClr val="tx1"/>
                </a:solidFill>
                <a:effectLst/>
                <a:latin typeface="+mn-lt"/>
                <a:ea typeface="+mn-ea"/>
                <a:cs typeface="+mn-cs"/>
              </a:rPr>
            </a:br>
            <a:r>
              <a:rPr lang="hu-HU" sz="1200" kern="1200" dirty="0">
                <a:solidFill>
                  <a:schemeClr val="tx1"/>
                </a:solidFill>
                <a:effectLst/>
                <a:latin typeface="+mn-lt"/>
                <a:ea typeface="+mn-ea"/>
                <a:cs typeface="+mn-cs"/>
              </a:rPr>
              <a:t>But the degree of development at birth isn't just black or white. It's more of a gradient. There is also semi-precocial and semi-altricial offsprings. Like the offsprings of parrots.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hu-HU"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noProof="0" dirty="0">
                <a:solidFill>
                  <a:srgbClr val="D2DA8A"/>
                </a:solidFill>
                <a:latin typeface="Bahnschrift SemiLight SemiConde" panose="020B0502040204020203" pitchFamily="34" charset="0"/>
              </a:rPr>
              <a:t>Another possible axes include for example: </a:t>
            </a:r>
            <a:r>
              <a:rPr lang="en-GB" sz="1200" noProof="0" dirty="0" err="1">
                <a:solidFill>
                  <a:srgbClr val="D2DA8A"/>
                </a:solidFill>
                <a:latin typeface="Bahnschrift SemiLight SemiConde" panose="020B0502040204020203" pitchFamily="34" charset="0"/>
              </a:rPr>
              <a:t>Semelparity</a:t>
            </a:r>
            <a:r>
              <a:rPr lang="en-GB" sz="1200" noProof="0" dirty="0">
                <a:solidFill>
                  <a:srgbClr val="D2DA8A"/>
                </a:solidFill>
                <a:latin typeface="Bahnschrift SemiLight SemiConde" panose="020B0502040204020203" pitchFamily="34" charset="0"/>
              </a:rPr>
              <a:t> vs. Iteroparity, Environmental and Plant Functional Axes,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cs-CZ" sz="1200" kern="1200" dirty="0">
              <a:solidFill>
                <a:schemeClr val="tx1"/>
              </a:solidFill>
              <a:effectLst/>
              <a:latin typeface="+mn-lt"/>
              <a:ea typeface="+mn-ea"/>
              <a:cs typeface="+mn-cs"/>
            </a:endParaRPr>
          </a:p>
          <a:p>
            <a:endParaRPr lang="en-GB" dirty="0"/>
          </a:p>
        </p:txBody>
      </p:sp>
      <p:sp>
        <p:nvSpPr>
          <p:cNvPr id="4" name="Zástupný symbol pro číslo snímku 3"/>
          <p:cNvSpPr>
            <a:spLocks noGrp="1"/>
          </p:cNvSpPr>
          <p:nvPr>
            <p:ph type="sldNum" sz="quarter" idx="5"/>
          </p:nvPr>
        </p:nvSpPr>
        <p:spPr/>
        <p:txBody>
          <a:bodyPr/>
          <a:lstStyle/>
          <a:p>
            <a:fld id="{D8291304-6742-4EC9-8A7D-2B16349E49D6}" type="slidenum">
              <a:rPr lang="en-GB" smtClean="0"/>
              <a:t>18</a:t>
            </a:fld>
            <a:endParaRPr lang="en-GB"/>
          </a:p>
        </p:txBody>
      </p:sp>
    </p:spTree>
    <p:extLst>
      <p:ext uri="{BB962C8B-B14F-4D97-AF65-F5344CB8AC3E}">
        <p14:creationId xmlns:p14="http://schemas.microsoft.com/office/powerpoint/2010/main" val="1951491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dirty="0"/>
          </a:p>
        </p:txBody>
      </p:sp>
      <p:sp>
        <p:nvSpPr>
          <p:cNvPr id="4" name="Zástupný symbol pro číslo snímku 3"/>
          <p:cNvSpPr>
            <a:spLocks noGrp="1"/>
          </p:cNvSpPr>
          <p:nvPr>
            <p:ph type="sldNum" sz="quarter" idx="5"/>
          </p:nvPr>
        </p:nvSpPr>
        <p:spPr/>
        <p:txBody>
          <a:bodyPr/>
          <a:lstStyle/>
          <a:p>
            <a:fld id="{D8291304-6742-4EC9-8A7D-2B16349E49D6}" type="slidenum">
              <a:rPr lang="en-GB" smtClean="0"/>
              <a:t>23</a:t>
            </a:fld>
            <a:endParaRPr lang="en-GB"/>
          </a:p>
        </p:txBody>
      </p:sp>
    </p:spTree>
    <p:extLst>
      <p:ext uri="{BB962C8B-B14F-4D97-AF65-F5344CB8AC3E}">
        <p14:creationId xmlns:p14="http://schemas.microsoft.com/office/powerpoint/2010/main" val="501082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9520498-5C02-B059-E68F-8D874FE6CB74}"/>
              </a:ext>
            </a:extLst>
          </p:cNvPr>
          <p:cNvSpPr>
            <a:spLocks noGrp="1"/>
          </p:cNvSpPr>
          <p:nvPr>
            <p:ph type="ctrTitle"/>
          </p:nvPr>
        </p:nvSpPr>
        <p:spPr>
          <a:xfrm>
            <a:off x="1524000" y="1122363"/>
            <a:ext cx="9144000" cy="2387600"/>
          </a:xfrm>
        </p:spPr>
        <p:txBody>
          <a:bodyPr anchor="b"/>
          <a:lstStyle>
            <a:lvl1pPr algn="ctr">
              <a:defRPr sz="6000"/>
            </a:lvl1pPr>
          </a:lstStyle>
          <a:p>
            <a:r>
              <a:rPr lang="cs-CZ"/>
              <a:t>Kliknutím lze upravit styl.</a:t>
            </a:r>
          </a:p>
        </p:txBody>
      </p:sp>
      <p:sp>
        <p:nvSpPr>
          <p:cNvPr id="3" name="Podnadpis 2">
            <a:extLst>
              <a:ext uri="{FF2B5EF4-FFF2-40B4-BE49-F238E27FC236}">
                <a16:creationId xmlns:a16="http://schemas.microsoft.com/office/drawing/2014/main" id="{71502F64-BB2D-88AB-87B3-963150E5D2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p>
        </p:txBody>
      </p:sp>
      <p:sp>
        <p:nvSpPr>
          <p:cNvPr id="4" name="Zástupný symbol pro datum 3">
            <a:extLst>
              <a:ext uri="{FF2B5EF4-FFF2-40B4-BE49-F238E27FC236}">
                <a16:creationId xmlns:a16="http://schemas.microsoft.com/office/drawing/2014/main" id="{6EA946D8-F4B1-A241-8DCE-9BEDE6E93913}"/>
              </a:ext>
            </a:extLst>
          </p:cNvPr>
          <p:cNvSpPr>
            <a:spLocks noGrp="1"/>
          </p:cNvSpPr>
          <p:nvPr>
            <p:ph type="dt" sz="half" idx="10"/>
          </p:nvPr>
        </p:nvSpPr>
        <p:spPr/>
        <p:txBody>
          <a:bodyPr/>
          <a:lstStyle/>
          <a:p>
            <a:fld id="{699EA9CD-56D9-4853-9BCA-8ED84788C2FD}" type="datetimeFigureOut">
              <a:rPr lang="cs-CZ" smtClean="0"/>
              <a:t>19.10.2026</a:t>
            </a:fld>
            <a:endParaRPr lang="cs-CZ"/>
          </a:p>
        </p:txBody>
      </p:sp>
      <p:sp>
        <p:nvSpPr>
          <p:cNvPr id="5" name="Zástupný symbol pro zápatí 4">
            <a:extLst>
              <a:ext uri="{FF2B5EF4-FFF2-40B4-BE49-F238E27FC236}">
                <a16:creationId xmlns:a16="http://schemas.microsoft.com/office/drawing/2014/main" id="{B8AABEFA-A936-43AF-9FF2-8FD0FA29423A}"/>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151F73DB-45C8-585C-E9D2-16C1278D6BF0}"/>
              </a:ext>
            </a:extLst>
          </p:cNvPr>
          <p:cNvSpPr>
            <a:spLocks noGrp="1"/>
          </p:cNvSpPr>
          <p:nvPr>
            <p:ph type="sldNum" sz="quarter" idx="12"/>
          </p:nvPr>
        </p:nvSpPr>
        <p:spPr/>
        <p:txBody>
          <a:bodyPr/>
          <a:lstStyle/>
          <a:p>
            <a:fld id="{18BCD8AD-F091-4FF9-8677-F99AF3A7AC3D}" type="slidenum">
              <a:rPr lang="cs-CZ" smtClean="0"/>
              <a:t>‹#›</a:t>
            </a:fld>
            <a:endParaRPr lang="cs-CZ"/>
          </a:p>
        </p:txBody>
      </p:sp>
    </p:spTree>
    <p:extLst>
      <p:ext uri="{BB962C8B-B14F-4D97-AF65-F5344CB8AC3E}">
        <p14:creationId xmlns:p14="http://schemas.microsoft.com/office/powerpoint/2010/main" val="1121346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E9C48CF-4E6B-F015-77D0-77AD260F5AB1}"/>
              </a:ext>
            </a:extLst>
          </p:cNvPr>
          <p:cNvSpPr>
            <a:spLocks noGrp="1"/>
          </p:cNvSpPr>
          <p:nvPr>
            <p:ph type="title"/>
          </p:nvPr>
        </p:nvSpPr>
        <p:spPr/>
        <p:txBody>
          <a:bodyPr/>
          <a:lstStyle/>
          <a:p>
            <a:r>
              <a:rPr lang="cs-CZ"/>
              <a:t>Kliknutím lze upravit styl.</a:t>
            </a:r>
          </a:p>
        </p:txBody>
      </p:sp>
      <p:sp>
        <p:nvSpPr>
          <p:cNvPr id="3" name="Zástupný obsah 2">
            <a:extLst>
              <a:ext uri="{FF2B5EF4-FFF2-40B4-BE49-F238E27FC236}">
                <a16:creationId xmlns:a16="http://schemas.microsoft.com/office/drawing/2014/main" id="{6BE249A4-1730-AAAF-46ED-5E16B78FEA62}"/>
              </a:ext>
            </a:extLst>
          </p:cNvPr>
          <p:cNvSpPr>
            <a:spLocks noGrp="1"/>
          </p:cNvSpPr>
          <p:nvPr>
            <p:ph idx="1"/>
          </p:nvPr>
        </p:nvSpPr>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A18306E7-69CC-5990-5C47-CE1395B3C5C1}"/>
              </a:ext>
            </a:extLst>
          </p:cNvPr>
          <p:cNvSpPr>
            <a:spLocks noGrp="1"/>
          </p:cNvSpPr>
          <p:nvPr>
            <p:ph type="dt" sz="half" idx="10"/>
          </p:nvPr>
        </p:nvSpPr>
        <p:spPr/>
        <p:txBody>
          <a:bodyPr/>
          <a:lstStyle/>
          <a:p>
            <a:fld id="{699EA9CD-56D9-4853-9BCA-8ED84788C2FD}" type="datetimeFigureOut">
              <a:rPr lang="cs-CZ" smtClean="0"/>
              <a:t>19.10.2026</a:t>
            </a:fld>
            <a:endParaRPr lang="cs-CZ"/>
          </a:p>
        </p:txBody>
      </p:sp>
      <p:sp>
        <p:nvSpPr>
          <p:cNvPr id="5" name="Zástupný symbol pro zápatí 4">
            <a:extLst>
              <a:ext uri="{FF2B5EF4-FFF2-40B4-BE49-F238E27FC236}">
                <a16:creationId xmlns:a16="http://schemas.microsoft.com/office/drawing/2014/main" id="{75B324B7-F177-867E-B25D-B0B87D8AC694}"/>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1F39416C-64E6-2DFE-AF5C-DA2BF6BAACAF}"/>
              </a:ext>
            </a:extLst>
          </p:cNvPr>
          <p:cNvSpPr>
            <a:spLocks noGrp="1"/>
          </p:cNvSpPr>
          <p:nvPr>
            <p:ph type="sldNum" sz="quarter" idx="12"/>
          </p:nvPr>
        </p:nvSpPr>
        <p:spPr/>
        <p:txBody>
          <a:bodyPr/>
          <a:lstStyle/>
          <a:p>
            <a:fld id="{18BCD8AD-F091-4FF9-8677-F99AF3A7AC3D}" type="slidenum">
              <a:rPr lang="cs-CZ" smtClean="0"/>
              <a:t>‹#›</a:t>
            </a:fld>
            <a:endParaRPr lang="cs-CZ"/>
          </a:p>
        </p:txBody>
      </p:sp>
    </p:spTree>
    <p:extLst>
      <p:ext uri="{BB962C8B-B14F-4D97-AF65-F5344CB8AC3E}">
        <p14:creationId xmlns:p14="http://schemas.microsoft.com/office/powerpoint/2010/main" val="3025451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oddílu">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13E241C-8551-4054-D71B-268D4A98D93A}"/>
              </a:ext>
            </a:extLst>
          </p:cNvPr>
          <p:cNvSpPr>
            <a:spLocks noGrp="1"/>
          </p:cNvSpPr>
          <p:nvPr>
            <p:ph type="title"/>
          </p:nvPr>
        </p:nvSpPr>
        <p:spPr>
          <a:xfrm>
            <a:off x="831850" y="1709738"/>
            <a:ext cx="10515600" cy="2852737"/>
          </a:xfrm>
        </p:spPr>
        <p:txBody>
          <a:bodyPr anchor="b"/>
          <a:lstStyle>
            <a:lvl1pPr>
              <a:defRPr sz="6000"/>
            </a:lvl1pPr>
          </a:lstStyle>
          <a:p>
            <a:r>
              <a:rPr lang="cs-CZ"/>
              <a:t>Kliknutím lze upravit styl.</a:t>
            </a:r>
          </a:p>
        </p:txBody>
      </p:sp>
      <p:sp>
        <p:nvSpPr>
          <p:cNvPr id="3" name="Zástupný text 2">
            <a:extLst>
              <a:ext uri="{FF2B5EF4-FFF2-40B4-BE49-F238E27FC236}">
                <a16:creationId xmlns:a16="http://schemas.microsoft.com/office/drawing/2014/main" id="{67E70851-8B1A-288A-549D-CAB95D9C74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cs-CZ"/>
              <a:t>Po kliknutí můžete upravovat styly textu v předloze.</a:t>
            </a:r>
          </a:p>
        </p:txBody>
      </p:sp>
      <p:sp>
        <p:nvSpPr>
          <p:cNvPr id="4" name="Zástupný symbol pro datum 3">
            <a:extLst>
              <a:ext uri="{FF2B5EF4-FFF2-40B4-BE49-F238E27FC236}">
                <a16:creationId xmlns:a16="http://schemas.microsoft.com/office/drawing/2014/main" id="{8D32C651-9F4C-F5D5-66B3-2F796657A530}"/>
              </a:ext>
            </a:extLst>
          </p:cNvPr>
          <p:cNvSpPr>
            <a:spLocks noGrp="1"/>
          </p:cNvSpPr>
          <p:nvPr>
            <p:ph type="dt" sz="half" idx="10"/>
          </p:nvPr>
        </p:nvSpPr>
        <p:spPr/>
        <p:txBody>
          <a:bodyPr/>
          <a:lstStyle/>
          <a:p>
            <a:fld id="{699EA9CD-56D9-4853-9BCA-8ED84788C2FD}" type="datetimeFigureOut">
              <a:rPr lang="cs-CZ" smtClean="0"/>
              <a:t>19.10.2026</a:t>
            </a:fld>
            <a:endParaRPr lang="cs-CZ"/>
          </a:p>
        </p:txBody>
      </p:sp>
      <p:sp>
        <p:nvSpPr>
          <p:cNvPr id="5" name="Zástupný symbol pro zápatí 4">
            <a:extLst>
              <a:ext uri="{FF2B5EF4-FFF2-40B4-BE49-F238E27FC236}">
                <a16:creationId xmlns:a16="http://schemas.microsoft.com/office/drawing/2014/main" id="{B729848F-7149-1E65-110E-453E23990B0B}"/>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CD8CF90D-3091-D190-2B59-B30C287CC3A6}"/>
              </a:ext>
            </a:extLst>
          </p:cNvPr>
          <p:cNvSpPr>
            <a:spLocks noGrp="1"/>
          </p:cNvSpPr>
          <p:nvPr>
            <p:ph type="sldNum" sz="quarter" idx="12"/>
          </p:nvPr>
        </p:nvSpPr>
        <p:spPr/>
        <p:txBody>
          <a:bodyPr/>
          <a:lstStyle/>
          <a:p>
            <a:fld id="{18BCD8AD-F091-4FF9-8677-F99AF3A7AC3D}" type="slidenum">
              <a:rPr lang="cs-CZ" smtClean="0"/>
              <a:t>‹#›</a:t>
            </a:fld>
            <a:endParaRPr lang="cs-CZ"/>
          </a:p>
        </p:txBody>
      </p:sp>
    </p:spTree>
    <p:extLst>
      <p:ext uri="{BB962C8B-B14F-4D97-AF65-F5344CB8AC3E}">
        <p14:creationId xmlns:p14="http://schemas.microsoft.com/office/powerpoint/2010/main" val="2217353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1A9C6D8-EA04-C74F-173B-3D48008DA94D}"/>
              </a:ext>
            </a:extLst>
          </p:cNvPr>
          <p:cNvSpPr>
            <a:spLocks noGrp="1"/>
          </p:cNvSpPr>
          <p:nvPr>
            <p:ph type="title"/>
          </p:nvPr>
        </p:nvSpPr>
        <p:spPr/>
        <p:txBody>
          <a:bodyPr/>
          <a:lstStyle/>
          <a:p>
            <a:r>
              <a:rPr lang="cs-CZ"/>
              <a:t>Kliknutím lze upravit styl.</a:t>
            </a:r>
          </a:p>
        </p:txBody>
      </p:sp>
      <p:sp>
        <p:nvSpPr>
          <p:cNvPr id="3" name="Zástupný obsah 2">
            <a:extLst>
              <a:ext uri="{FF2B5EF4-FFF2-40B4-BE49-F238E27FC236}">
                <a16:creationId xmlns:a16="http://schemas.microsoft.com/office/drawing/2014/main" id="{7421C33D-797D-5261-7568-EB10843C8D4B}"/>
              </a:ext>
            </a:extLst>
          </p:cNvPr>
          <p:cNvSpPr>
            <a:spLocks noGrp="1"/>
          </p:cNvSpPr>
          <p:nvPr>
            <p:ph sz="half" idx="1"/>
          </p:nvPr>
        </p:nvSpPr>
        <p:spPr>
          <a:xfrm>
            <a:off x="838200" y="1825625"/>
            <a:ext cx="5181600" cy="435133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obsah 3">
            <a:extLst>
              <a:ext uri="{FF2B5EF4-FFF2-40B4-BE49-F238E27FC236}">
                <a16:creationId xmlns:a16="http://schemas.microsoft.com/office/drawing/2014/main" id="{07B654F6-AABF-2BC7-BBD1-861F237C9A06}"/>
              </a:ext>
            </a:extLst>
          </p:cNvPr>
          <p:cNvSpPr>
            <a:spLocks noGrp="1"/>
          </p:cNvSpPr>
          <p:nvPr>
            <p:ph sz="half" idx="2"/>
          </p:nvPr>
        </p:nvSpPr>
        <p:spPr>
          <a:xfrm>
            <a:off x="6172200" y="1825625"/>
            <a:ext cx="5181600" cy="435133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datum 4">
            <a:extLst>
              <a:ext uri="{FF2B5EF4-FFF2-40B4-BE49-F238E27FC236}">
                <a16:creationId xmlns:a16="http://schemas.microsoft.com/office/drawing/2014/main" id="{9DF06F0C-AF23-CBB8-AEA6-2E443E9E663E}"/>
              </a:ext>
            </a:extLst>
          </p:cNvPr>
          <p:cNvSpPr>
            <a:spLocks noGrp="1"/>
          </p:cNvSpPr>
          <p:nvPr>
            <p:ph type="dt" sz="half" idx="10"/>
          </p:nvPr>
        </p:nvSpPr>
        <p:spPr/>
        <p:txBody>
          <a:bodyPr/>
          <a:lstStyle/>
          <a:p>
            <a:fld id="{699EA9CD-56D9-4853-9BCA-8ED84788C2FD}" type="datetimeFigureOut">
              <a:rPr lang="cs-CZ" smtClean="0"/>
              <a:t>19.10.2026</a:t>
            </a:fld>
            <a:endParaRPr lang="cs-CZ"/>
          </a:p>
        </p:txBody>
      </p:sp>
      <p:sp>
        <p:nvSpPr>
          <p:cNvPr id="6" name="Zástupný symbol pro zápatí 5">
            <a:extLst>
              <a:ext uri="{FF2B5EF4-FFF2-40B4-BE49-F238E27FC236}">
                <a16:creationId xmlns:a16="http://schemas.microsoft.com/office/drawing/2014/main" id="{8A6F5F5A-458A-8C6D-262A-A756ADC1DA2D}"/>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68E01512-D0C1-DA84-EBDC-731B8CF128EA}"/>
              </a:ext>
            </a:extLst>
          </p:cNvPr>
          <p:cNvSpPr>
            <a:spLocks noGrp="1"/>
          </p:cNvSpPr>
          <p:nvPr>
            <p:ph type="sldNum" sz="quarter" idx="12"/>
          </p:nvPr>
        </p:nvSpPr>
        <p:spPr/>
        <p:txBody>
          <a:bodyPr/>
          <a:lstStyle/>
          <a:p>
            <a:fld id="{18BCD8AD-F091-4FF9-8677-F99AF3A7AC3D}" type="slidenum">
              <a:rPr lang="cs-CZ" smtClean="0"/>
              <a:t>‹#›</a:t>
            </a:fld>
            <a:endParaRPr lang="cs-CZ"/>
          </a:p>
        </p:txBody>
      </p:sp>
    </p:spTree>
    <p:extLst>
      <p:ext uri="{BB962C8B-B14F-4D97-AF65-F5344CB8AC3E}">
        <p14:creationId xmlns:p14="http://schemas.microsoft.com/office/powerpoint/2010/main" val="755561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C4161F4-B981-5CA1-150A-02396EAFE1E2}"/>
              </a:ext>
            </a:extLst>
          </p:cNvPr>
          <p:cNvSpPr>
            <a:spLocks noGrp="1"/>
          </p:cNvSpPr>
          <p:nvPr>
            <p:ph type="title"/>
          </p:nvPr>
        </p:nvSpPr>
        <p:spPr>
          <a:xfrm>
            <a:off x="839788" y="365125"/>
            <a:ext cx="10515600" cy="1325563"/>
          </a:xfrm>
        </p:spPr>
        <p:txBody>
          <a:bodyPr/>
          <a:lstStyle/>
          <a:p>
            <a:r>
              <a:rPr lang="cs-CZ"/>
              <a:t>Kliknutím lze upravit styl.</a:t>
            </a:r>
          </a:p>
        </p:txBody>
      </p:sp>
      <p:sp>
        <p:nvSpPr>
          <p:cNvPr id="3" name="Zástupný text 2">
            <a:extLst>
              <a:ext uri="{FF2B5EF4-FFF2-40B4-BE49-F238E27FC236}">
                <a16:creationId xmlns:a16="http://schemas.microsoft.com/office/drawing/2014/main" id="{00FD28D4-7B8B-A4DF-7F5C-808016F1B9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4" name="Zástupný obsah 3">
            <a:extLst>
              <a:ext uri="{FF2B5EF4-FFF2-40B4-BE49-F238E27FC236}">
                <a16:creationId xmlns:a16="http://schemas.microsoft.com/office/drawing/2014/main" id="{5BE554EC-6B3D-4F97-660D-ACBFBF56234B}"/>
              </a:ext>
            </a:extLst>
          </p:cNvPr>
          <p:cNvSpPr>
            <a:spLocks noGrp="1"/>
          </p:cNvSpPr>
          <p:nvPr>
            <p:ph sz="half" idx="2"/>
          </p:nvPr>
        </p:nvSpPr>
        <p:spPr>
          <a:xfrm>
            <a:off x="839788" y="2505075"/>
            <a:ext cx="5157787" cy="368458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text 4">
            <a:extLst>
              <a:ext uri="{FF2B5EF4-FFF2-40B4-BE49-F238E27FC236}">
                <a16:creationId xmlns:a16="http://schemas.microsoft.com/office/drawing/2014/main" id="{0547E79B-C532-480B-7E66-A5FA7C90D4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6" name="Zástupný obsah 5">
            <a:extLst>
              <a:ext uri="{FF2B5EF4-FFF2-40B4-BE49-F238E27FC236}">
                <a16:creationId xmlns:a16="http://schemas.microsoft.com/office/drawing/2014/main" id="{FF89836B-2875-514F-DD71-92C221EE5800}"/>
              </a:ext>
            </a:extLst>
          </p:cNvPr>
          <p:cNvSpPr>
            <a:spLocks noGrp="1"/>
          </p:cNvSpPr>
          <p:nvPr>
            <p:ph sz="quarter" idx="4"/>
          </p:nvPr>
        </p:nvSpPr>
        <p:spPr>
          <a:xfrm>
            <a:off x="6172200" y="2505075"/>
            <a:ext cx="5183188" cy="368458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7" name="Zástupný symbol pro datum 6">
            <a:extLst>
              <a:ext uri="{FF2B5EF4-FFF2-40B4-BE49-F238E27FC236}">
                <a16:creationId xmlns:a16="http://schemas.microsoft.com/office/drawing/2014/main" id="{51EDCFCA-6333-6E67-12FA-C314E414AF57}"/>
              </a:ext>
            </a:extLst>
          </p:cNvPr>
          <p:cNvSpPr>
            <a:spLocks noGrp="1"/>
          </p:cNvSpPr>
          <p:nvPr>
            <p:ph type="dt" sz="half" idx="10"/>
          </p:nvPr>
        </p:nvSpPr>
        <p:spPr/>
        <p:txBody>
          <a:bodyPr/>
          <a:lstStyle/>
          <a:p>
            <a:fld id="{699EA9CD-56D9-4853-9BCA-8ED84788C2FD}" type="datetimeFigureOut">
              <a:rPr lang="cs-CZ" smtClean="0"/>
              <a:t>19.10.2026</a:t>
            </a:fld>
            <a:endParaRPr lang="cs-CZ"/>
          </a:p>
        </p:txBody>
      </p:sp>
      <p:sp>
        <p:nvSpPr>
          <p:cNvPr id="8" name="Zástupný symbol pro zápatí 7">
            <a:extLst>
              <a:ext uri="{FF2B5EF4-FFF2-40B4-BE49-F238E27FC236}">
                <a16:creationId xmlns:a16="http://schemas.microsoft.com/office/drawing/2014/main" id="{C38D4924-01C5-591A-5673-C42F1317A8C2}"/>
              </a:ext>
            </a:extLst>
          </p:cNvPr>
          <p:cNvSpPr>
            <a:spLocks noGrp="1"/>
          </p:cNvSpPr>
          <p:nvPr>
            <p:ph type="ftr" sz="quarter" idx="11"/>
          </p:nvPr>
        </p:nvSpPr>
        <p:spPr/>
        <p:txBody>
          <a:bodyPr/>
          <a:lstStyle/>
          <a:p>
            <a:endParaRPr lang="cs-CZ"/>
          </a:p>
        </p:txBody>
      </p:sp>
      <p:sp>
        <p:nvSpPr>
          <p:cNvPr id="9" name="Zástupný symbol pro číslo snímku 8">
            <a:extLst>
              <a:ext uri="{FF2B5EF4-FFF2-40B4-BE49-F238E27FC236}">
                <a16:creationId xmlns:a16="http://schemas.microsoft.com/office/drawing/2014/main" id="{D0EE13DE-3271-6739-03CC-FD6289398573}"/>
              </a:ext>
            </a:extLst>
          </p:cNvPr>
          <p:cNvSpPr>
            <a:spLocks noGrp="1"/>
          </p:cNvSpPr>
          <p:nvPr>
            <p:ph type="sldNum" sz="quarter" idx="12"/>
          </p:nvPr>
        </p:nvSpPr>
        <p:spPr/>
        <p:txBody>
          <a:bodyPr/>
          <a:lstStyle/>
          <a:p>
            <a:fld id="{18BCD8AD-F091-4FF9-8677-F99AF3A7AC3D}" type="slidenum">
              <a:rPr lang="cs-CZ" smtClean="0"/>
              <a:t>‹#›</a:t>
            </a:fld>
            <a:endParaRPr lang="cs-CZ"/>
          </a:p>
        </p:txBody>
      </p:sp>
    </p:spTree>
    <p:extLst>
      <p:ext uri="{BB962C8B-B14F-4D97-AF65-F5344CB8AC3E}">
        <p14:creationId xmlns:p14="http://schemas.microsoft.com/office/powerpoint/2010/main" val="1075621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D47D0BD-CB35-A2C6-968C-8EBCAAEC6268}"/>
              </a:ext>
            </a:extLst>
          </p:cNvPr>
          <p:cNvSpPr>
            <a:spLocks noGrp="1"/>
          </p:cNvSpPr>
          <p:nvPr>
            <p:ph type="title"/>
          </p:nvPr>
        </p:nvSpPr>
        <p:spPr/>
        <p:txBody>
          <a:bodyPr/>
          <a:lstStyle/>
          <a:p>
            <a:r>
              <a:rPr lang="cs-CZ"/>
              <a:t>Kliknutím lze upravit styl.</a:t>
            </a:r>
          </a:p>
        </p:txBody>
      </p:sp>
      <p:sp>
        <p:nvSpPr>
          <p:cNvPr id="3" name="Zástupný symbol pro datum 2">
            <a:extLst>
              <a:ext uri="{FF2B5EF4-FFF2-40B4-BE49-F238E27FC236}">
                <a16:creationId xmlns:a16="http://schemas.microsoft.com/office/drawing/2014/main" id="{8476C2E7-BCCA-F290-21DF-9048DEDF79A4}"/>
              </a:ext>
            </a:extLst>
          </p:cNvPr>
          <p:cNvSpPr>
            <a:spLocks noGrp="1"/>
          </p:cNvSpPr>
          <p:nvPr>
            <p:ph type="dt" sz="half" idx="10"/>
          </p:nvPr>
        </p:nvSpPr>
        <p:spPr/>
        <p:txBody>
          <a:bodyPr/>
          <a:lstStyle/>
          <a:p>
            <a:fld id="{699EA9CD-56D9-4853-9BCA-8ED84788C2FD}" type="datetimeFigureOut">
              <a:rPr lang="cs-CZ" smtClean="0"/>
              <a:t>19.10.2026</a:t>
            </a:fld>
            <a:endParaRPr lang="cs-CZ"/>
          </a:p>
        </p:txBody>
      </p:sp>
      <p:sp>
        <p:nvSpPr>
          <p:cNvPr id="4" name="Zástupný symbol pro zápatí 3">
            <a:extLst>
              <a:ext uri="{FF2B5EF4-FFF2-40B4-BE49-F238E27FC236}">
                <a16:creationId xmlns:a16="http://schemas.microsoft.com/office/drawing/2014/main" id="{FADB2940-ADAD-B6A4-C6A9-0B03BE474D61}"/>
              </a:ext>
            </a:extLst>
          </p:cNvPr>
          <p:cNvSpPr>
            <a:spLocks noGrp="1"/>
          </p:cNvSpPr>
          <p:nvPr>
            <p:ph type="ftr" sz="quarter" idx="11"/>
          </p:nvPr>
        </p:nvSpPr>
        <p:spPr/>
        <p:txBody>
          <a:bodyPr/>
          <a:lstStyle/>
          <a:p>
            <a:endParaRPr lang="cs-CZ"/>
          </a:p>
        </p:txBody>
      </p:sp>
      <p:sp>
        <p:nvSpPr>
          <p:cNvPr id="5" name="Zástupný symbol pro číslo snímku 4">
            <a:extLst>
              <a:ext uri="{FF2B5EF4-FFF2-40B4-BE49-F238E27FC236}">
                <a16:creationId xmlns:a16="http://schemas.microsoft.com/office/drawing/2014/main" id="{C03F0F95-3F38-D867-5394-DC15D153EBF6}"/>
              </a:ext>
            </a:extLst>
          </p:cNvPr>
          <p:cNvSpPr>
            <a:spLocks noGrp="1"/>
          </p:cNvSpPr>
          <p:nvPr>
            <p:ph type="sldNum" sz="quarter" idx="12"/>
          </p:nvPr>
        </p:nvSpPr>
        <p:spPr/>
        <p:txBody>
          <a:bodyPr/>
          <a:lstStyle/>
          <a:p>
            <a:fld id="{18BCD8AD-F091-4FF9-8677-F99AF3A7AC3D}" type="slidenum">
              <a:rPr lang="cs-CZ" smtClean="0"/>
              <a:t>‹#›</a:t>
            </a:fld>
            <a:endParaRPr lang="cs-CZ"/>
          </a:p>
        </p:txBody>
      </p:sp>
    </p:spTree>
    <p:extLst>
      <p:ext uri="{BB962C8B-B14F-4D97-AF65-F5344CB8AC3E}">
        <p14:creationId xmlns:p14="http://schemas.microsoft.com/office/powerpoint/2010/main" val="1413133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a:extLst>
              <a:ext uri="{FF2B5EF4-FFF2-40B4-BE49-F238E27FC236}">
                <a16:creationId xmlns:a16="http://schemas.microsoft.com/office/drawing/2014/main" id="{C075A5A6-2292-EC54-594E-C0DCF5F319FA}"/>
              </a:ext>
            </a:extLst>
          </p:cNvPr>
          <p:cNvSpPr>
            <a:spLocks noGrp="1"/>
          </p:cNvSpPr>
          <p:nvPr>
            <p:ph type="dt" sz="half" idx="10"/>
          </p:nvPr>
        </p:nvSpPr>
        <p:spPr/>
        <p:txBody>
          <a:bodyPr/>
          <a:lstStyle/>
          <a:p>
            <a:fld id="{699EA9CD-56D9-4853-9BCA-8ED84788C2FD}" type="datetimeFigureOut">
              <a:rPr lang="cs-CZ" smtClean="0"/>
              <a:t>19.10.2026</a:t>
            </a:fld>
            <a:endParaRPr lang="cs-CZ"/>
          </a:p>
        </p:txBody>
      </p:sp>
      <p:sp>
        <p:nvSpPr>
          <p:cNvPr id="3" name="Zástupný symbol pro zápatí 2">
            <a:extLst>
              <a:ext uri="{FF2B5EF4-FFF2-40B4-BE49-F238E27FC236}">
                <a16:creationId xmlns:a16="http://schemas.microsoft.com/office/drawing/2014/main" id="{54AC6718-FE68-1FC2-2E44-5DD8C2137B1A}"/>
              </a:ext>
            </a:extLst>
          </p:cNvPr>
          <p:cNvSpPr>
            <a:spLocks noGrp="1"/>
          </p:cNvSpPr>
          <p:nvPr>
            <p:ph type="ftr" sz="quarter" idx="11"/>
          </p:nvPr>
        </p:nvSpPr>
        <p:spPr/>
        <p:txBody>
          <a:bodyPr/>
          <a:lstStyle/>
          <a:p>
            <a:endParaRPr lang="cs-CZ"/>
          </a:p>
        </p:txBody>
      </p:sp>
      <p:sp>
        <p:nvSpPr>
          <p:cNvPr id="4" name="Zástupný symbol pro číslo snímku 3">
            <a:extLst>
              <a:ext uri="{FF2B5EF4-FFF2-40B4-BE49-F238E27FC236}">
                <a16:creationId xmlns:a16="http://schemas.microsoft.com/office/drawing/2014/main" id="{D49D5FCD-2D01-0221-7692-3B869210F5A4}"/>
              </a:ext>
            </a:extLst>
          </p:cNvPr>
          <p:cNvSpPr>
            <a:spLocks noGrp="1"/>
          </p:cNvSpPr>
          <p:nvPr>
            <p:ph type="sldNum" sz="quarter" idx="12"/>
          </p:nvPr>
        </p:nvSpPr>
        <p:spPr/>
        <p:txBody>
          <a:bodyPr/>
          <a:lstStyle/>
          <a:p>
            <a:fld id="{18BCD8AD-F091-4FF9-8677-F99AF3A7AC3D}" type="slidenum">
              <a:rPr lang="cs-CZ" smtClean="0"/>
              <a:t>‹#›</a:t>
            </a:fld>
            <a:endParaRPr lang="cs-CZ"/>
          </a:p>
        </p:txBody>
      </p:sp>
    </p:spTree>
    <p:extLst>
      <p:ext uri="{BB962C8B-B14F-4D97-AF65-F5344CB8AC3E}">
        <p14:creationId xmlns:p14="http://schemas.microsoft.com/office/powerpoint/2010/main" val="2060291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D319D6D-333B-6AC3-8F89-CCE66A7611C9}"/>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obsah 2">
            <a:extLst>
              <a:ext uri="{FF2B5EF4-FFF2-40B4-BE49-F238E27FC236}">
                <a16:creationId xmlns:a16="http://schemas.microsoft.com/office/drawing/2014/main" id="{A027E5E5-C38D-2100-EF99-6BB107CC6F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text 3">
            <a:extLst>
              <a:ext uri="{FF2B5EF4-FFF2-40B4-BE49-F238E27FC236}">
                <a16:creationId xmlns:a16="http://schemas.microsoft.com/office/drawing/2014/main" id="{982E13CB-0560-4356-8CC8-C1B22808B9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Zástupný symbol pro datum 4">
            <a:extLst>
              <a:ext uri="{FF2B5EF4-FFF2-40B4-BE49-F238E27FC236}">
                <a16:creationId xmlns:a16="http://schemas.microsoft.com/office/drawing/2014/main" id="{CEABAE4A-EA2B-B597-88F1-F7AD8F91471D}"/>
              </a:ext>
            </a:extLst>
          </p:cNvPr>
          <p:cNvSpPr>
            <a:spLocks noGrp="1"/>
          </p:cNvSpPr>
          <p:nvPr>
            <p:ph type="dt" sz="half" idx="10"/>
          </p:nvPr>
        </p:nvSpPr>
        <p:spPr/>
        <p:txBody>
          <a:bodyPr/>
          <a:lstStyle/>
          <a:p>
            <a:fld id="{699EA9CD-56D9-4853-9BCA-8ED84788C2FD}" type="datetimeFigureOut">
              <a:rPr lang="cs-CZ" smtClean="0"/>
              <a:t>19.10.2026</a:t>
            </a:fld>
            <a:endParaRPr lang="cs-CZ"/>
          </a:p>
        </p:txBody>
      </p:sp>
      <p:sp>
        <p:nvSpPr>
          <p:cNvPr id="6" name="Zástupný symbol pro zápatí 5">
            <a:extLst>
              <a:ext uri="{FF2B5EF4-FFF2-40B4-BE49-F238E27FC236}">
                <a16:creationId xmlns:a16="http://schemas.microsoft.com/office/drawing/2014/main" id="{05A40051-CED6-D61A-3B3D-706C8659CB7A}"/>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D826CA06-C31B-8A1D-1906-0C1D151ABFB1}"/>
              </a:ext>
            </a:extLst>
          </p:cNvPr>
          <p:cNvSpPr>
            <a:spLocks noGrp="1"/>
          </p:cNvSpPr>
          <p:nvPr>
            <p:ph type="sldNum" sz="quarter" idx="12"/>
          </p:nvPr>
        </p:nvSpPr>
        <p:spPr/>
        <p:txBody>
          <a:bodyPr/>
          <a:lstStyle/>
          <a:p>
            <a:fld id="{18BCD8AD-F091-4FF9-8677-F99AF3A7AC3D}" type="slidenum">
              <a:rPr lang="cs-CZ" smtClean="0"/>
              <a:t>‹#›</a:t>
            </a:fld>
            <a:endParaRPr lang="cs-CZ"/>
          </a:p>
        </p:txBody>
      </p:sp>
    </p:spTree>
    <p:extLst>
      <p:ext uri="{BB962C8B-B14F-4D97-AF65-F5344CB8AC3E}">
        <p14:creationId xmlns:p14="http://schemas.microsoft.com/office/powerpoint/2010/main" val="1954174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E17EC60-CCFD-0254-3473-F135B6BB5592}"/>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symbol obrázku 2">
            <a:extLst>
              <a:ext uri="{FF2B5EF4-FFF2-40B4-BE49-F238E27FC236}">
                <a16:creationId xmlns:a16="http://schemas.microsoft.com/office/drawing/2014/main" id="{2DDB0324-7BE5-2A4C-FD06-678B4D798855}"/>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Zástupný text 3">
            <a:extLst>
              <a:ext uri="{FF2B5EF4-FFF2-40B4-BE49-F238E27FC236}">
                <a16:creationId xmlns:a16="http://schemas.microsoft.com/office/drawing/2014/main" id="{1058A613-EC10-9017-8FA0-D52C54833F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Zástupný symbol pro datum 4">
            <a:extLst>
              <a:ext uri="{FF2B5EF4-FFF2-40B4-BE49-F238E27FC236}">
                <a16:creationId xmlns:a16="http://schemas.microsoft.com/office/drawing/2014/main" id="{02671B70-BD3D-DA10-E25A-42272E7CDAA7}"/>
              </a:ext>
            </a:extLst>
          </p:cNvPr>
          <p:cNvSpPr>
            <a:spLocks noGrp="1"/>
          </p:cNvSpPr>
          <p:nvPr>
            <p:ph type="dt" sz="half" idx="10"/>
          </p:nvPr>
        </p:nvSpPr>
        <p:spPr/>
        <p:txBody>
          <a:bodyPr/>
          <a:lstStyle/>
          <a:p>
            <a:fld id="{699EA9CD-56D9-4853-9BCA-8ED84788C2FD}" type="datetimeFigureOut">
              <a:rPr lang="cs-CZ" smtClean="0"/>
              <a:t>19.10.2026</a:t>
            </a:fld>
            <a:endParaRPr lang="cs-CZ"/>
          </a:p>
        </p:txBody>
      </p:sp>
      <p:sp>
        <p:nvSpPr>
          <p:cNvPr id="6" name="Zástupný symbol pro zápatí 5">
            <a:extLst>
              <a:ext uri="{FF2B5EF4-FFF2-40B4-BE49-F238E27FC236}">
                <a16:creationId xmlns:a16="http://schemas.microsoft.com/office/drawing/2014/main" id="{A2EEDC3D-A0A5-E6FC-E69F-CE1358E5C82F}"/>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FAC83E50-8220-BB7B-D1EB-8D01CDFC4775}"/>
              </a:ext>
            </a:extLst>
          </p:cNvPr>
          <p:cNvSpPr>
            <a:spLocks noGrp="1"/>
          </p:cNvSpPr>
          <p:nvPr>
            <p:ph type="sldNum" sz="quarter" idx="12"/>
          </p:nvPr>
        </p:nvSpPr>
        <p:spPr/>
        <p:txBody>
          <a:bodyPr/>
          <a:lstStyle/>
          <a:p>
            <a:fld id="{18BCD8AD-F091-4FF9-8677-F99AF3A7AC3D}" type="slidenum">
              <a:rPr lang="cs-CZ" smtClean="0"/>
              <a:t>‹#›</a:t>
            </a:fld>
            <a:endParaRPr lang="cs-CZ"/>
          </a:p>
        </p:txBody>
      </p:sp>
    </p:spTree>
    <p:extLst>
      <p:ext uri="{BB962C8B-B14F-4D97-AF65-F5344CB8AC3E}">
        <p14:creationId xmlns:p14="http://schemas.microsoft.com/office/powerpoint/2010/main" val="1160034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D20BC9C-E754-B0B8-2505-91BC08164EAD}"/>
              </a:ext>
            </a:extLst>
          </p:cNvPr>
          <p:cNvSpPr>
            <a:spLocks noGrp="1"/>
          </p:cNvSpPr>
          <p:nvPr>
            <p:ph type="title"/>
          </p:nvPr>
        </p:nvSpPr>
        <p:spPr/>
        <p:txBody>
          <a:bodyPr/>
          <a:lstStyle/>
          <a:p>
            <a:r>
              <a:rPr lang="cs-CZ"/>
              <a:t>Kliknutím lze upravit styl.</a:t>
            </a:r>
          </a:p>
        </p:txBody>
      </p:sp>
      <p:sp>
        <p:nvSpPr>
          <p:cNvPr id="3" name="Zástupný symbol pro svislý text 2">
            <a:extLst>
              <a:ext uri="{FF2B5EF4-FFF2-40B4-BE49-F238E27FC236}">
                <a16:creationId xmlns:a16="http://schemas.microsoft.com/office/drawing/2014/main" id="{0E5BC168-C0A0-D745-F2CF-CC9D9E732CED}"/>
              </a:ext>
            </a:extLst>
          </p:cNvPr>
          <p:cNvSpPr>
            <a:spLocks noGrp="1"/>
          </p:cNvSpPr>
          <p:nvPr>
            <p:ph type="body" orient="vert" idx="1"/>
          </p:nvPr>
        </p:nvSpPr>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EE50C226-A00B-F0C6-E8A4-1F031CCAE96B}"/>
              </a:ext>
            </a:extLst>
          </p:cNvPr>
          <p:cNvSpPr>
            <a:spLocks noGrp="1"/>
          </p:cNvSpPr>
          <p:nvPr>
            <p:ph type="dt" sz="half" idx="10"/>
          </p:nvPr>
        </p:nvSpPr>
        <p:spPr/>
        <p:txBody>
          <a:bodyPr/>
          <a:lstStyle/>
          <a:p>
            <a:fld id="{699EA9CD-56D9-4853-9BCA-8ED84788C2FD}" type="datetimeFigureOut">
              <a:rPr lang="cs-CZ" smtClean="0"/>
              <a:t>19.10.2026</a:t>
            </a:fld>
            <a:endParaRPr lang="cs-CZ"/>
          </a:p>
        </p:txBody>
      </p:sp>
      <p:sp>
        <p:nvSpPr>
          <p:cNvPr id="5" name="Zástupný symbol pro zápatí 4">
            <a:extLst>
              <a:ext uri="{FF2B5EF4-FFF2-40B4-BE49-F238E27FC236}">
                <a16:creationId xmlns:a16="http://schemas.microsoft.com/office/drawing/2014/main" id="{A9CA77DA-5225-C357-1BA1-4AEA3BA68DAD}"/>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C5D51D5A-1AAB-DC55-A48C-B591AED74CFD}"/>
              </a:ext>
            </a:extLst>
          </p:cNvPr>
          <p:cNvSpPr>
            <a:spLocks noGrp="1"/>
          </p:cNvSpPr>
          <p:nvPr>
            <p:ph type="sldNum" sz="quarter" idx="12"/>
          </p:nvPr>
        </p:nvSpPr>
        <p:spPr/>
        <p:txBody>
          <a:bodyPr/>
          <a:lstStyle/>
          <a:p>
            <a:fld id="{18BCD8AD-F091-4FF9-8677-F99AF3A7AC3D}" type="slidenum">
              <a:rPr lang="cs-CZ" smtClean="0"/>
              <a:t>‹#›</a:t>
            </a:fld>
            <a:endParaRPr lang="cs-CZ"/>
          </a:p>
        </p:txBody>
      </p:sp>
    </p:spTree>
    <p:extLst>
      <p:ext uri="{BB962C8B-B14F-4D97-AF65-F5344CB8AC3E}">
        <p14:creationId xmlns:p14="http://schemas.microsoft.com/office/powerpoint/2010/main" val="1802440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a:extLst>
              <a:ext uri="{FF2B5EF4-FFF2-40B4-BE49-F238E27FC236}">
                <a16:creationId xmlns:a16="http://schemas.microsoft.com/office/drawing/2014/main" id="{7F66815C-5EC5-D0A7-0548-F3A15D593377}"/>
              </a:ext>
            </a:extLst>
          </p:cNvPr>
          <p:cNvSpPr>
            <a:spLocks noGrp="1"/>
          </p:cNvSpPr>
          <p:nvPr>
            <p:ph type="title" orient="vert"/>
          </p:nvPr>
        </p:nvSpPr>
        <p:spPr>
          <a:xfrm>
            <a:off x="8724900" y="365125"/>
            <a:ext cx="2628900" cy="5811838"/>
          </a:xfrm>
        </p:spPr>
        <p:txBody>
          <a:bodyPr vert="eaVert"/>
          <a:lstStyle/>
          <a:p>
            <a:r>
              <a:rPr lang="cs-CZ"/>
              <a:t>Kliknutím lze upravit styl.</a:t>
            </a:r>
          </a:p>
        </p:txBody>
      </p:sp>
      <p:sp>
        <p:nvSpPr>
          <p:cNvPr id="3" name="Zástupný symbol pro svislý text 2">
            <a:extLst>
              <a:ext uri="{FF2B5EF4-FFF2-40B4-BE49-F238E27FC236}">
                <a16:creationId xmlns:a16="http://schemas.microsoft.com/office/drawing/2014/main" id="{2252A975-82B5-A6C5-2E51-B84888B9401C}"/>
              </a:ext>
            </a:extLst>
          </p:cNvPr>
          <p:cNvSpPr>
            <a:spLocks noGrp="1"/>
          </p:cNvSpPr>
          <p:nvPr>
            <p:ph type="body" orient="vert" idx="1"/>
          </p:nvPr>
        </p:nvSpPr>
        <p:spPr>
          <a:xfrm>
            <a:off x="838200" y="365125"/>
            <a:ext cx="7734300" cy="5811838"/>
          </a:xfrm>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E94BB576-B3A7-DBA0-E95B-74893AC37083}"/>
              </a:ext>
            </a:extLst>
          </p:cNvPr>
          <p:cNvSpPr>
            <a:spLocks noGrp="1"/>
          </p:cNvSpPr>
          <p:nvPr>
            <p:ph type="dt" sz="half" idx="10"/>
          </p:nvPr>
        </p:nvSpPr>
        <p:spPr/>
        <p:txBody>
          <a:bodyPr/>
          <a:lstStyle/>
          <a:p>
            <a:fld id="{699EA9CD-56D9-4853-9BCA-8ED84788C2FD}" type="datetimeFigureOut">
              <a:rPr lang="cs-CZ" smtClean="0"/>
              <a:t>19.10.2026</a:t>
            </a:fld>
            <a:endParaRPr lang="cs-CZ"/>
          </a:p>
        </p:txBody>
      </p:sp>
      <p:sp>
        <p:nvSpPr>
          <p:cNvPr id="5" name="Zástupný symbol pro zápatí 4">
            <a:extLst>
              <a:ext uri="{FF2B5EF4-FFF2-40B4-BE49-F238E27FC236}">
                <a16:creationId xmlns:a16="http://schemas.microsoft.com/office/drawing/2014/main" id="{4EF06B84-1CC3-2059-E49B-715331F5E52B}"/>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8A95EFDE-74F7-361D-E33B-0D13278FBF05}"/>
              </a:ext>
            </a:extLst>
          </p:cNvPr>
          <p:cNvSpPr>
            <a:spLocks noGrp="1"/>
          </p:cNvSpPr>
          <p:nvPr>
            <p:ph type="sldNum" sz="quarter" idx="12"/>
          </p:nvPr>
        </p:nvSpPr>
        <p:spPr/>
        <p:txBody>
          <a:bodyPr/>
          <a:lstStyle/>
          <a:p>
            <a:fld id="{18BCD8AD-F091-4FF9-8677-F99AF3A7AC3D}" type="slidenum">
              <a:rPr lang="cs-CZ" smtClean="0"/>
              <a:t>‹#›</a:t>
            </a:fld>
            <a:endParaRPr lang="cs-CZ"/>
          </a:p>
        </p:txBody>
      </p:sp>
    </p:spTree>
    <p:extLst>
      <p:ext uri="{BB962C8B-B14F-4D97-AF65-F5344CB8AC3E}">
        <p14:creationId xmlns:p14="http://schemas.microsoft.com/office/powerpoint/2010/main" val="2589268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6FFB3">
            <a:alpha val="71000"/>
          </a:srgbClr>
        </a:solidFill>
        <a:effectLst/>
      </p:bgPr>
    </p:bg>
    <p:spTree>
      <p:nvGrpSpPr>
        <p:cNvPr id="1" name=""/>
        <p:cNvGrpSpPr/>
        <p:nvPr/>
      </p:nvGrpSpPr>
      <p:grpSpPr>
        <a:xfrm>
          <a:off x="0" y="0"/>
          <a:ext cx="0" cy="0"/>
          <a:chOff x="0" y="0"/>
          <a:chExt cx="0" cy="0"/>
        </a:xfrm>
      </p:grpSpPr>
      <p:sp>
        <p:nvSpPr>
          <p:cNvPr id="2" name="Zástupný nadpis 1">
            <a:extLst>
              <a:ext uri="{FF2B5EF4-FFF2-40B4-BE49-F238E27FC236}">
                <a16:creationId xmlns:a16="http://schemas.microsoft.com/office/drawing/2014/main" id="{2C9E4168-074B-8C17-49DF-AB9D964BD8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s-CZ"/>
              <a:t>Kliknutím lze upravit styl.</a:t>
            </a:r>
          </a:p>
        </p:txBody>
      </p:sp>
      <p:sp>
        <p:nvSpPr>
          <p:cNvPr id="3" name="Zástupný text 2">
            <a:extLst>
              <a:ext uri="{FF2B5EF4-FFF2-40B4-BE49-F238E27FC236}">
                <a16:creationId xmlns:a16="http://schemas.microsoft.com/office/drawing/2014/main" id="{8AD25AE6-DEA7-5A57-5E5F-1D72121E0E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3BDA8DE0-A1AD-B431-7758-FABDB0BC4F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99EA9CD-56D9-4853-9BCA-8ED84788C2FD}" type="datetimeFigureOut">
              <a:rPr lang="cs-CZ" smtClean="0"/>
              <a:t>19.10.2026</a:t>
            </a:fld>
            <a:endParaRPr lang="cs-CZ"/>
          </a:p>
        </p:txBody>
      </p:sp>
      <p:sp>
        <p:nvSpPr>
          <p:cNvPr id="5" name="Zástupný symbol pro zápatí 4">
            <a:extLst>
              <a:ext uri="{FF2B5EF4-FFF2-40B4-BE49-F238E27FC236}">
                <a16:creationId xmlns:a16="http://schemas.microsoft.com/office/drawing/2014/main" id="{0CAEA3F0-B6CF-F630-847A-D70F2BC159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cs-CZ"/>
          </a:p>
        </p:txBody>
      </p:sp>
      <p:sp>
        <p:nvSpPr>
          <p:cNvPr id="6" name="Zástupný symbol pro číslo snímku 5">
            <a:extLst>
              <a:ext uri="{FF2B5EF4-FFF2-40B4-BE49-F238E27FC236}">
                <a16:creationId xmlns:a16="http://schemas.microsoft.com/office/drawing/2014/main" id="{A6FB0E5B-79A0-4A25-8381-255720C871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BCD8AD-F091-4FF9-8677-F99AF3A7AC3D}" type="slidenum">
              <a:rPr lang="cs-CZ" smtClean="0"/>
              <a:t>‹#›</a:t>
            </a:fld>
            <a:endParaRPr lang="cs-CZ"/>
          </a:p>
        </p:txBody>
      </p:sp>
    </p:spTree>
    <p:extLst>
      <p:ext uri="{BB962C8B-B14F-4D97-AF65-F5344CB8AC3E}">
        <p14:creationId xmlns:p14="http://schemas.microsoft.com/office/powerpoint/2010/main" val="3981254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hyperlink" Target="https://www.nationalgeographic.com/animals/article/130920-shy-bird-great-tit-science-animal-personality"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www.britannica.com/animal/African-bush-elephant" TargetMode="External"/><Relationship Id="rId5" Type="http://schemas.openxmlformats.org/officeDocument/2006/relationships/hyperlink" Target="https://americanpest.net/blog/one-mouse-two-mice-three-mice-four/" TargetMode="External"/><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image" Target="../media/image5.org&amp;utm_campaign=index&amp;utm_content=origi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en.wikipedia.org/wiki/Sockeye_salmon" TargetMode="External"/><Relationship Id="rId5" Type="http://schemas.openxmlformats.org/officeDocument/2006/relationships/hyperlink" Target="https://commons.wikimedia.org/wiki/File:Oryctolagus_cuniculus_-_euqirneto_-_419737670_(cropped).jpeg" TargetMode="External"/><Relationship Id="rId4" Type="http://schemas.openxmlformats.org/officeDocument/2006/relationships/image" Target="../media/image6.org&amp;utm_campaign=index&amp;utm_content=origina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mrcanary.com/mothers-day-2020/?srsltid=AU7gw4VwIVuagmGA53RzwvWJEvQ-9GmoUdCimSTmCr8cBLGZxEBw-iLA" TargetMode="External"/><Relationship Id="rId5" Type="http://schemas.openxmlformats.org/officeDocument/2006/relationships/hyperlink" Target="https://www.britannica.com/plant/acacia" TargetMode="External"/><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hyperlink" Target="https://depts.washington.edu/cberglab/wordpress/outreach/an-introduction-to-fruit-flie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kids.nationalgeographic.com/animals/mammals/facts/przewalskis-horse" TargetMode="External"/><Relationship Id="rId5" Type="http://schemas.openxmlformats.org/officeDocument/2006/relationships/image" Target="../media/image10.jpg"/><Relationship Id="rId4" Type="http://schemas.microsoft.com/office/2007/relationships/hdphoto" Target="../media/hdphoto3.wdp"/></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11.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www.britannica.com/animal/hummingbird" TargetMode="External"/><Relationship Id="rId5" Type="http://schemas.openxmlformats.org/officeDocument/2006/relationships/hyperlink" Target="https://a-z-animals.com/animals/sloth/" TargetMode="Externa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s://www.lesaktualne.cz/jak-duby-snaseji-klimaticke-extremy/" TargetMode="External"/><Relationship Id="rId4" Type="http://schemas.microsoft.com/office/2007/relationships/hdphoto" Target="../media/hdphoto5.wdp"/></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ceiba.org/about/the-ceiba-tree/" TargetMode="External"/><Relationship Id="rId5" Type="http://schemas.openxmlformats.org/officeDocument/2006/relationships/hyperlink" Target="https://commons.wikimedia.org/wiki/File:Psychotria_horizontalis_0zz.jpg" TargetMode="External"/><Relationship Id="rId4" Type="http://schemas.openxmlformats.org/officeDocument/2006/relationships/image" Target="../media/image16.jpe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hyperlink" Target="https://en.wikipedia.org/wiki/Precociality_and_altriciality#/media/File:Altricial_VS_Precocial_birds_diagram.png" TargetMode="External"/><Relationship Id="rId4" Type="http://schemas.microsoft.com/office/2007/relationships/hdphoto" Target="../media/hdphoto6.wdp"/></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s://powo.science.kew.org/taxon/urn:lsid:ipni.org:names:762253-1?utm_source=chatgpt.com" TargetMode="External"/><Relationship Id="rId3" Type="http://schemas.openxmlformats.org/officeDocument/2006/relationships/hyperlink" Target="https://www.lesaktualne.cz/jak-duby-snaseji-klimaticke-extremy/?utm_source=chatgpt.com" TargetMode="External"/><Relationship Id="rId7" Type="http://schemas.openxmlformats.org/officeDocument/2006/relationships/hyperlink" Target="https://www.sciencedirect.com/science/article/pii/S109051382030060X?utm_source=chatgpt.com" TargetMode="External"/><Relationship Id="rId2" Type="http://schemas.openxmlformats.org/officeDocument/2006/relationships/hyperlink" Target="https://nph.onlinelibrary.wiley.com/doi/10.1111/nph.14289?utm_source=chatgpt.com" TargetMode="External"/><Relationship Id="rId1" Type="http://schemas.openxmlformats.org/officeDocument/2006/relationships/slideLayout" Target="../slideLayouts/slideLayout2.xml"/><Relationship Id="rId6" Type="http://schemas.openxmlformats.org/officeDocument/2006/relationships/hyperlink" Target="https://www.researchgate.net/publication/321977443_A_Response_to_Gardner_and_Harrison_the_Reasons_for_and_Implications_of_Brexit_from_an_Anthropological_Standpoint/figures?lo=1&amp;utm_source=chatgpt.com" TargetMode="External"/><Relationship Id="rId5" Type="http://schemas.openxmlformats.org/officeDocument/2006/relationships/hyperlink" Target="https://cs.wikipedia.org/wiki/Krytosemenn%C3%A9?utm_source=chatgpt.com" TargetMode="External"/><Relationship Id="rId4" Type="http://schemas.openxmlformats.org/officeDocument/2006/relationships/hyperlink" Target="https://www.nationalgeographic.com/animals/mammals/facts/przewalskis-horse?utm_source=chatgpt.com" TargetMode="External"/><Relationship Id="rId9" Type="http://schemas.openxmlformats.org/officeDocument/2006/relationships/hyperlink" Target="https://www.nature.com/articles/s41467-024-45113-5?utm_source=chatgpt.co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FFB3">
            <a:alpha val="73000"/>
          </a:srgbClr>
        </a:solidFill>
        <a:effectLst/>
      </p:bgPr>
    </p:bg>
    <p:spTree>
      <p:nvGrpSpPr>
        <p:cNvPr id="1" name=""/>
        <p:cNvGrpSpPr/>
        <p:nvPr/>
      </p:nvGrpSpPr>
      <p:grpSpPr>
        <a:xfrm>
          <a:off x="0" y="0"/>
          <a:ext cx="0" cy="0"/>
          <a:chOff x="0" y="0"/>
          <a:chExt cx="0" cy="0"/>
        </a:xfrm>
      </p:grpSpPr>
      <p:pic>
        <p:nvPicPr>
          <p:cNvPr id="6" name="Obrázek 5">
            <a:extLst>
              <a:ext uri="{FF2B5EF4-FFF2-40B4-BE49-F238E27FC236}">
                <a16:creationId xmlns:a16="http://schemas.microsoft.com/office/drawing/2014/main" id="{EF5098F7-31F7-E5F4-8EEF-EE81759372C0}"/>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t="6000" b="19000"/>
          <a:stretch>
            <a:fillRect/>
          </a:stretch>
        </p:blipFill>
        <p:spPr>
          <a:xfrm>
            <a:off x="0" y="0"/>
            <a:ext cx="12192000" cy="6858000"/>
          </a:xfrm>
          <a:prstGeom prst="rect">
            <a:avLst/>
          </a:prstGeom>
        </p:spPr>
      </p:pic>
      <p:sp>
        <p:nvSpPr>
          <p:cNvPr id="2" name="Nadpis 1">
            <a:extLst>
              <a:ext uri="{FF2B5EF4-FFF2-40B4-BE49-F238E27FC236}">
                <a16:creationId xmlns:a16="http://schemas.microsoft.com/office/drawing/2014/main" id="{C592D9C6-1041-B06E-D03C-A2F74414E633}"/>
              </a:ext>
            </a:extLst>
          </p:cNvPr>
          <p:cNvSpPr>
            <a:spLocks noGrp="1"/>
          </p:cNvSpPr>
          <p:nvPr>
            <p:ph type="ctrTitle"/>
          </p:nvPr>
        </p:nvSpPr>
        <p:spPr>
          <a:xfrm>
            <a:off x="364671" y="568050"/>
            <a:ext cx="11279777" cy="3126125"/>
          </a:xfrm>
        </p:spPr>
        <p:txBody>
          <a:bodyPr>
            <a:normAutofit fontScale="90000"/>
          </a:bodyPr>
          <a:lstStyle/>
          <a:p>
            <a:pPr algn="l"/>
            <a:r>
              <a:rPr lang="en-GB" sz="8000" b="1" noProof="0" dirty="0">
                <a:solidFill>
                  <a:srgbClr val="D2DA8A"/>
                </a:solidFill>
                <a:effectLst>
                  <a:outerShdw blurRad="38100" dist="38100" dir="2700000" algn="tl">
                    <a:srgbClr val="000000">
                      <a:alpha val="43137"/>
                    </a:srgbClr>
                  </a:outerShdw>
                </a:effectLst>
                <a:latin typeface="Bahnschrift SemiBold SemiConden" panose="020B0502040204020203" pitchFamily="34" charset="0"/>
              </a:rPr>
              <a:t>ECO-EVOLUTIONARY DYNAMICS &amp; LIFE HISTORIES</a:t>
            </a:r>
            <a:br>
              <a:rPr lang="en-GB" noProof="0" dirty="0"/>
            </a:br>
            <a:endParaRPr lang="en-GB" noProof="0" dirty="0"/>
          </a:p>
        </p:txBody>
      </p:sp>
      <p:sp>
        <p:nvSpPr>
          <p:cNvPr id="3" name="Podnadpis 2">
            <a:extLst>
              <a:ext uri="{FF2B5EF4-FFF2-40B4-BE49-F238E27FC236}">
                <a16:creationId xmlns:a16="http://schemas.microsoft.com/office/drawing/2014/main" id="{18406CEE-C615-2375-25D0-6A002658BC97}"/>
              </a:ext>
            </a:extLst>
          </p:cNvPr>
          <p:cNvSpPr>
            <a:spLocks noGrp="1"/>
          </p:cNvSpPr>
          <p:nvPr>
            <p:ph type="subTitle" idx="1"/>
          </p:nvPr>
        </p:nvSpPr>
        <p:spPr>
          <a:xfrm>
            <a:off x="364671" y="5521156"/>
            <a:ext cx="8589264" cy="768794"/>
          </a:xfrm>
        </p:spPr>
        <p:txBody>
          <a:bodyPr>
            <a:normAutofit/>
          </a:bodyPr>
          <a:lstStyle/>
          <a:p>
            <a:pPr algn="l"/>
            <a:r>
              <a:rPr lang="en-GB" noProof="0" dirty="0">
                <a:solidFill>
                  <a:schemeClr val="accent5">
                    <a:lumMod val="60000"/>
                    <a:lumOff val="40000"/>
                  </a:schemeClr>
                </a:solidFill>
                <a:highlight>
                  <a:srgbClr val="000000"/>
                </a:highlight>
                <a:latin typeface="Bahnschrift Light Condensed" panose="020B0502040204020203" pitchFamily="34" charset="0"/>
              </a:rPr>
              <a:t>Group 1: </a:t>
            </a:r>
            <a:r>
              <a:rPr lang="en-GB" noProof="0" dirty="0" err="1">
                <a:solidFill>
                  <a:schemeClr val="accent5">
                    <a:lumMod val="60000"/>
                    <a:lumOff val="40000"/>
                  </a:schemeClr>
                </a:solidFill>
                <a:highlight>
                  <a:srgbClr val="000000"/>
                </a:highlight>
                <a:latin typeface="Bahnschrift Light Condensed" panose="020B0502040204020203" pitchFamily="34" charset="0"/>
              </a:rPr>
              <a:t>Sifakakis</a:t>
            </a:r>
            <a:r>
              <a:rPr lang="en-GB" noProof="0" dirty="0">
                <a:solidFill>
                  <a:schemeClr val="accent5">
                    <a:lumMod val="60000"/>
                    <a:lumOff val="40000"/>
                  </a:schemeClr>
                </a:solidFill>
                <a:highlight>
                  <a:srgbClr val="000000"/>
                </a:highlight>
                <a:latin typeface="Bahnschrift Light Condensed" panose="020B0502040204020203" pitchFamily="34" charset="0"/>
              </a:rPr>
              <a:t> Stylianos, </a:t>
            </a:r>
            <a:r>
              <a:rPr lang="en-GB" noProof="0" dirty="0" err="1">
                <a:solidFill>
                  <a:schemeClr val="accent5">
                    <a:lumMod val="60000"/>
                    <a:lumOff val="40000"/>
                  </a:schemeClr>
                </a:solidFill>
                <a:highlight>
                  <a:srgbClr val="000000"/>
                </a:highlight>
                <a:latin typeface="Bahnschrift Light Condensed" panose="020B0502040204020203" pitchFamily="34" charset="0"/>
              </a:rPr>
              <a:t>Björklöf</a:t>
            </a:r>
            <a:r>
              <a:rPr lang="en-GB" noProof="0" dirty="0">
                <a:solidFill>
                  <a:schemeClr val="accent5">
                    <a:lumMod val="60000"/>
                    <a:lumOff val="40000"/>
                  </a:schemeClr>
                </a:solidFill>
                <a:highlight>
                  <a:srgbClr val="000000"/>
                </a:highlight>
                <a:latin typeface="Bahnschrift Light Condensed" panose="020B0502040204020203" pitchFamily="34" charset="0"/>
              </a:rPr>
              <a:t> Juulia, Varga Luca Anna, Flašková Kateřina</a:t>
            </a:r>
          </a:p>
        </p:txBody>
      </p:sp>
      <p:sp>
        <p:nvSpPr>
          <p:cNvPr id="4" name="Nadpis 1">
            <a:extLst>
              <a:ext uri="{FF2B5EF4-FFF2-40B4-BE49-F238E27FC236}">
                <a16:creationId xmlns:a16="http://schemas.microsoft.com/office/drawing/2014/main" id="{B2B889D2-F61F-A99F-EF2E-C482DC8A4DA5}"/>
              </a:ext>
            </a:extLst>
          </p:cNvPr>
          <p:cNvSpPr txBox="1">
            <a:spLocks/>
          </p:cNvSpPr>
          <p:nvPr/>
        </p:nvSpPr>
        <p:spPr>
          <a:xfrm>
            <a:off x="364671" y="2864463"/>
            <a:ext cx="9236529" cy="285743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800" noProof="0" dirty="0">
                <a:solidFill>
                  <a:srgbClr val="D2DA8A"/>
                </a:solidFill>
                <a:highlight>
                  <a:srgbClr val="000000"/>
                </a:highlight>
                <a:latin typeface="Bahnschrift Condensed" panose="020B0502040204020203" pitchFamily="34" charset="0"/>
              </a:rPr>
              <a:t>Does the fast slow continuum adequately capture life-history variation across taxa, or do we need multiple axes of life-history strategy?</a:t>
            </a:r>
          </a:p>
          <a:p>
            <a:pPr algn="l"/>
            <a:br>
              <a:rPr lang="en-GB" noProof="0" dirty="0"/>
            </a:br>
            <a:endParaRPr lang="en-GB" noProof="0" dirty="0"/>
          </a:p>
        </p:txBody>
      </p:sp>
    </p:spTree>
    <p:extLst>
      <p:ext uri="{BB962C8B-B14F-4D97-AF65-F5344CB8AC3E}">
        <p14:creationId xmlns:p14="http://schemas.microsoft.com/office/powerpoint/2010/main" val="5038070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FFB3">
            <a:alpha val="73000"/>
          </a:srgbClr>
        </a:solidFill>
        <a:effectLst/>
      </p:bgPr>
    </p:bg>
    <p:spTree>
      <p:nvGrpSpPr>
        <p:cNvPr id="1" name="">
          <a:extLst>
            <a:ext uri="{FF2B5EF4-FFF2-40B4-BE49-F238E27FC236}">
              <a16:creationId xmlns:a16="http://schemas.microsoft.com/office/drawing/2014/main" id="{F1F5DB80-8CDB-49C3-8D66-169E8C3CB47A}"/>
            </a:ext>
          </a:extLst>
        </p:cNvPr>
        <p:cNvGrpSpPr/>
        <p:nvPr/>
      </p:nvGrpSpPr>
      <p:grpSpPr>
        <a:xfrm>
          <a:off x="0" y="0"/>
          <a:ext cx="0" cy="0"/>
          <a:chOff x="0" y="0"/>
          <a:chExt cx="0" cy="0"/>
        </a:xfrm>
      </p:grpSpPr>
      <p:pic>
        <p:nvPicPr>
          <p:cNvPr id="6" name="Obrázek 5">
            <a:extLst>
              <a:ext uri="{FF2B5EF4-FFF2-40B4-BE49-F238E27FC236}">
                <a16:creationId xmlns:a16="http://schemas.microsoft.com/office/drawing/2014/main" id="{892ED295-6D03-40DD-89A4-A470F6013729}"/>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t="6000" b="19000"/>
          <a:stretch>
            <a:fillRect/>
          </a:stretch>
        </p:blipFill>
        <p:spPr>
          <a:xfrm>
            <a:off x="0" y="0"/>
            <a:ext cx="12192000" cy="6858000"/>
          </a:xfrm>
          <a:prstGeom prst="rect">
            <a:avLst/>
          </a:prstGeom>
        </p:spPr>
      </p:pic>
      <p:sp>
        <p:nvSpPr>
          <p:cNvPr id="4" name="Nadpis 1">
            <a:extLst>
              <a:ext uri="{FF2B5EF4-FFF2-40B4-BE49-F238E27FC236}">
                <a16:creationId xmlns:a16="http://schemas.microsoft.com/office/drawing/2014/main" id="{019B4DF7-E98F-9DE1-BEE0-5305BB5A5AFA}"/>
              </a:ext>
            </a:extLst>
          </p:cNvPr>
          <p:cNvSpPr txBox="1">
            <a:spLocks/>
          </p:cNvSpPr>
          <p:nvPr/>
        </p:nvSpPr>
        <p:spPr>
          <a:xfrm>
            <a:off x="67056" y="445800"/>
            <a:ext cx="12313920" cy="43822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4000" noProof="0" dirty="0">
                <a:solidFill>
                  <a:srgbClr val="D2DA8A"/>
                </a:solidFill>
                <a:highlight>
                  <a:srgbClr val="000000"/>
                </a:highlight>
                <a:latin typeface="Bahnschrift Condensed" panose="020B0502040204020203" pitchFamily="34" charset="0"/>
              </a:rPr>
              <a:t>Does the fast slow continuum adequately capture life-history variation across taxa, or do we need multiple axes of life-history strategy?</a:t>
            </a:r>
          </a:p>
          <a:p>
            <a:pPr algn="l"/>
            <a:br>
              <a:rPr lang="en-GB" noProof="0" dirty="0"/>
            </a:br>
            <a:endParaRPr lang="en-GB" noProof="0" dirty="0"/>
          </a:p>
        </p:txBody>
      </p:sp>
    </p:spTree>
    <p:extLst>
      <p:ext uri="{BB962C8B-B14F-4D97-AF65-F5344CB8AC3E}">
        <p14:creationId xmlns:p14="http://schemas.microsoft.com/office/powerpoint/2010/main" val="1027183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2DA8A"/>
        </a:solidFill>
        <a:effectLst/>
      </p:bgPr>
    </p:bg>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8B817DF-5ACC-A1F2-9FE7-488360694124}"/>
              </a:ext>
            </a:extLst>
          </p:cNvPr>
          <p:cNvSpPr>
            <a:spLocks noGrp="1"/>
          </p:cNvSpPr>
          <p:nvPr>
            <p:ph type="title"/>
          </p:nvPr>
        </p:nvSpPr>
        <p:spPr>
          <a:xfrm>
            <a:off x="-141963" y="20351"/>
            <a:ext cx="12475923" cy="2258067"/>
          </a:xfrm>
        </p:spPr>
        <p:txBody>
          <a:bodyPr>
            <a:noAutofit/>
          </a:bodyPr>
          <a:lstStyle/>
          <a:p>
            <a:pPr algn="ctr"/>
            <a:r>
              <a:rPr lang="en-GB" sz="6600" b="1" noProof="0" dirty="0">
                <a:solidFill>
                  <a:schemeClr val="accent5">
                    <a:lumMod val="60000"/>
                    <a:lumOff val="40000"/>
                  </a:schemeClr>
                </a:solidFill>
                <a:latin typeface="Bahnschrift Condensed" panose="020B0502040204020203" pitchFamily="34" charset="0"/>
              </a:rPr>
              <a:t>WHAT ARE ECO-EVOLUTIONARY DYNAMICS?</a:t>
            </a:r>
          </a:p>
        </p:txBody>
      </p:sp>
      <p:sp>
        <p:nvSpPr>
          <p:cNvPr id="7" name="TextovéPole 6">
            <a:extLst>
              <a:ext uri="{FF2B5EF4-FFF2-40B4-BE49-F238E27FC236}">
                <a16:creationId xmlns:a16="http://schemas.microsoft.com/office/drawing/2014/main" id="{EFA0045D-4F7A-844A-0283-1FDF29A6A992}"/>
              </a:ext>
            </a:extLst>
          </p:cNvPr>
          <p:cNvSpPr txBox="1"/>
          <p:nvPr/>
        </p:nvSpPr>
        <p:spPr>
          <a:xfrm>
            <a:off x="0" y="6581001"/>
            <a:ext cx="5563308" cy="261610"/>
          </a:xfrm>
          <a:prstGeom prst="rect">
            <a:avLst/>
          </a:prstGeom>
          <a:noFill/>
        </p:spPr>
        <p:txBody>
          <a:bodyPr wrap="square" rtlCol="0">
            <a:spAutoFit/>
          </a:bodyPr>
          <a:lstStyle/>
          <a:p>
            <a:r>
              <a:rPr lang="en-GB" sz="1100" cap="all" noProof="0" dirty="0">
                <a:solidFill>
                  <a:srgbClr val="FF00FF"/>
                </a:solidFill>
                <a:hlinkClick r:id="rId3">
                  <a:extLst>
                    <a:ext uri="{A12FA001-AC4F-418D-AE19-62706E023703}">
                      <ahyp:hlinkClr xmlns:ahyp="http://schemas.microsoft.com/office/drawing/2018/hyperlinkcolor" val="tx"/>
                    </a:ext>
                  </a:extLst>
                </a:hlinkClick>
              </a:rPr>
              <a:t>Photograph from </a:t>
            </a:r>
            <a:r>
              <a:rPr lang="en-GB" sz="1100" cap="all" noProof="0" dirty="0" err="1">
                <a:solidFill>
                  <a:srgbClr val="FF00FF"/>
                </a:solidFill>
                <a:hlinkClick r:id="rId3">
                  <a:extLst>
                    <a:ext uri="{A12FA001-AC4F-418D-AE19-62706E023703}">
                      <ahyp:hlinkClr xmlns:ahyp="http://schemas.microsoft.com/office/drawing/2018/hyperlinkcolor" val="tx"/>
                    </a:ext>
                  </a:extLst>
                </a:hlinkClick>
              </a:rPr>
              <a:t>Bildagentur</a:t>
            </a:r>
            <a:r>
              <a:rPr lang="en-GB" sz="1100" cap="all" noProof="0" dirty="0">
                <a:solidFill>
                  <a:srgbClr val="FF00FF"/>
                </a:solidFill>
                <a:hlinkClick r:id="rId3">
                  <a:extLst>
                    <a:ext uri="{A12FA001-AC4F-418D-AE19-62706E023703}">
                      <ahyp:hlinkClr xmlns:ahyp="http://schemas.microsoft.com/office/drawing/2018/hyperlinkcolor" val="tx"/>
                    </a:ext>
                  </a:extLst>
                </a:hlinkClick>
              </a:rPr>
              <a:t> Online/</a:t>
            </a:r>
            <a:r>
              <a:rPr lang="en-GB" sz="1100" cap="all" noProof="0" dirty="0" err="1">
                <a:solidFill>
                  <a:srgbClr val="FF00FF"/>
                </a:solidFill>
                <a:hlinkClick r:id="rId3">
                  <a:extLst>
                    <a:ext uri="{A12FA001-AC4F-418D-AE19-62706E023703}">
                      <ahyp:hlinkClr xmlns:ahyp="http://schemas.microsoft.com/office/drawing/2018/hyperlinkcolor" val="tx"/>
                    </a:ext>
                  </a:extLst>
                </a:hlinkClick>
              </a:rPr>
              <a:t>McPhoto</a:t>
            </a:r>
            <a:r>
              <a:rPr lang="en-GB" sz="1100" cap="all" noProof="0" dirty="0">
                <a:solidFill>
                  <a:srgbClr val="FF00FF"/>
                </a:solidFill>
                <a:hlinkClick r:id="rId3">
                  <a:extLst>
                    <a:ext uri="{A12FA001-AC4F-418D-AE19-62706E023703}">
                      <ahyp:hlinkClr xmlns:ahyp="http://schemas.microsoft.com/office/drawing/2018/hyperlinkcolor" val="tx"/>
                    </a:ext>
                  </a:extLst>
                </a:hlinkClick>
              </a:rPr>
              <a:t>-Rolfe/Alamy</a:t>
            </a:r>
            <a:endParaRPr lang="en-GB" sz="1100" noProof="0" dirty="0">
              <a:solidFill>
                <a:srgbClr val="FF00FF"/>
              </a:solidFill>
            </a:endParaRPr>
          </a:p>
        </p:txBody>
      </p:sp>
      <p:pic>
        <p:nvPicPr>
          <p:cNvPr id="5" name="Obrázek 4">
            <a:extLst>
              <a:ext uri="{FF2B5EF4-FFF2-40B4-BE49-F238E27FC236}">
                <a16:creationId xmlns:a16="http://schemas.microsoft.com/office/drawing/2014/main" id="{DA2FD875-C325-8925-8F1A-1918C298E4D7}"/>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contrast="20000"/>
                    </a14:imgEffect>
                  </a14:imgLayer>
                </a14:imgProps>
              </a:ext>
            </a:extLst>
          </a:blip>
          <a:srcRect b="14540"/>
          <a:stretch>
            <a:fillRect/>
          </a:stretch>
        </p:blipFill>
        <p:spPr>
          <a:xfrm>
            <a:off x="173736" y="48863"/>
            <a:ext cx="12018264" cy="6809137"/>
          </a:xfrm>
          <a:prstGeom prst="rect">
            <a:avLst/>
          </a:prstGeom>
        </p:spPr>
      </p:pic>
    </p:spTree>
    <p:extLst>
      <p:ext uri="{BB962C8B-B14F-4D97-AF65-F5344CB8AC3E}">
        <p14:creationId xmlns:p14="http://schemas.microsoft.com/office/powerpoint/2010/main" val="1203670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6FFB3">
            <a:alpha val="73000"/>
          </a:srgbClr>
        </a:solidFill>
        <a:effectLst/>
      </p:bgPr>
    </p:bg>
    <p:spTree>
      <p:nvGrpSpPr>
        <p:cNvPr id="1" name="">
          <a:extLst>
            <a:ext uri="{FF2B5EF4-FFF2-40B4-BE49-F238E27FC236}">
              <a16:creationId xmlns:a16="http://schemas.microsoft.com/office/drawing/2014/main" id="{7FF70829-6C00-5EFB-3F9F-45FE1BC42B59}"/>
            </a:ext>
          </a:extLst>
        </p:cNvPr>
        <p:cNvGrpSpPr/>
        <p:nvPr/>
      </p:nvGrpSpPr>
      <p:grpSpPr>
        <a:xfrm>
          <a:off x="0" y="0"/>
          <a:ext cx="0" cy="0"/>
          <a:chOff x="0" y="0"/>
          <a:chExt cx="0" cy="0"/>
        </a:xfrm>
      </p:grpSpPr>
      <p:pic>
        <p:nvPicPr>
          <p:cNvPr id="6" name="Obrázek 5">
            <a:extLst>
              <a:ext uri="{FF2B5EF4-FFF2-40B4-BE49-F238E27FC236}">
                <a16:creationId xmlns:a16="http://schemas.microsoft.com/office/drawing/2014/main" id="{D31FA2C4-5144-0E6A-ADF0-BBDEC95F515E}"/>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t="6000" b="19000"/>
          <a:stretch>
            <a:fillRect/>
          </a:stretch>
        </p:blipFill>
        <p:spPr>
          <a:xfrm>
            <a:off x="0" y="0"/>
            <a:ext cx="12192000" cy="6858000"/>
          </a:xfrm>
          <a:prstGeom prst="rect">
            <a:avLst/>
          </a:prstGeom>
        </p:spPr>
      </p:pic>
      <p:sp>
        <p:nvSpPr>
          <p:cNvPr id="15" name="Nadpis 1">
            <a:extLst>
              <a:ext uri="{FF2B5EF4-FFF2-40B4-BE49-F238E27FC236}">
                <a16:creationId xmlns:a16="http://schemas.microsoft.com/office/drawing/2014/main" id="{DAF6CF47-839C-969C-1C5F-920AAEFC2854}"/>
              </a:ext>
            </a:extLst>
          </p:cNvPr>
          <p:cNvSpPr txBox="1">
            <a:spLocks/>
          </p:cNvSpPr>
          <p:nvPr/>
        </p:nvSpPr>
        <p:spPr>
          <a:xfrm>
            <a:off x="2280014" y="217355"/>
            <a:ext cx="7631971" cy="1945760"/>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7200" b="1" noProof="0" dirty="0">
                <a:solidFill>
                  <a:srgbClr val="D2DA8A"/>
                </a:solidFill>
                <a:highlight>
                  <a:srgbClr val="000000"/>
                </a:highlight>
                <a:latin typeface="Bahnschrift SemiBold SemiConden" panose="020B0502040204020203" pitchFamily="34" charset="0"/>
              </a:rPr>
              <a:t>LIFE HISTORY</a:t>
            </a:r>
          </a:p>
        </p:txBody>
      </p:sp>
    </p:spTree>
    <p:extLst>
      <p:ext uri="{BB962C8B-B14F-4D97-AF65-F5344CB8AC3E}">
        <p14:creationId xmlns:p14="http://schemas.microsoft.com/office/powerpoint/2010/main" val="3275393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F340E">
            <a:alpha val="71000"/>
          </a:srgbClr>
        </a:solidFill>
        <a:effectLst/>
      </p:bgPr>
    </p:bg>
    <p:spTree>
      <p:nvGrpSpPr>
        <p:cNvPr id="1" name="">
          <a:extLst>
            <a:ext uri="{FF2B5EF4-FFF2-40B4-BE49-F238E27FC236}">
              <a16:creationId xmlns:a16="http://schemas.microsoft.com/office/drawing/2014/main" id="{B198A689-0F78-8F54-DAC4-0C37FB36070C}"/>
            </a:ext>
          </a:extLst>
        </p:cNvPr>
        <p:cNvGrpSpPr/>
        <p:nvPr/>
      </p:nvGrpSpPr>
      <p:grpSpPr>
        <a:xfrm>
          <a:off x="0" y="0"/>
          <a:ext cx="0" cy="0"/>
          <a:chOff x="0" y="0"/>
          <a:chExt cx="0" cy="0"/>
        </a:xfrm>
      </p:grpSpPr>
      <p:pic>
        <p:nvPicPr>
          <p:cNvPr id="4" name="Obrázek 3">
            <a:extLst>
              <a:ext uri="{FF2B5EF4-FFF2-40B4-BE49-F238E27FC236}">
                <a16:creationId xmlns:a16="http://schemas.microsoft.com/office/drawing/2014/main" id="{B821B796-F261-8AC7-D74F-5CF43482BF90}"/>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t="6000" b="19000"/>
          <a:stretch>
            <a:fillRect/>
          </a:stretch>
        </p:blipFill>
        <p:spPr>
          <a:xfrm>
            <a:off x="0" y="0"/>
            <a:ext cx="12192000" cy="6858000"/>
          </a:xfrm>
          <a:prstGeom prst="rect">
            <a:avLst/>
          </a:prstGeom>
        </p:spPr>
      </p:pic>
      <p:sp>
        <p:nvSpPr>
          <p:cNvPr id="9" name="Nadpis 1">
            <a:extLst>
              <a:ext uri="{FF2B5EF4-FFF2-40B4-BE49-F238E27FC236}">
                <a16:creationId xmlns:a16="http://schemas.microsoft.com/office/drawing/2014/main" id="{0A6FAB58-67B3-CBD6-27EA-18D24E78DC24}"/>
              </a:ext>
            </a:extLst>
          </p:cNvPr>
          <p:cNvSpPr txBox="1">
            <a:spLocks/>
          </p:cNvSpPr>
          <p:nvPr/>
        </p:nvSpPr>
        <p:spPr>
          <a:xfrm>
            <a:off x="2280014" y="1371598"/>
            <a:ext cx="7631971" cy="1945760"/>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7200" b="1" noProof="0" dirty="0">
                <a:solidFill>
                  <a:srgbClr val="E6FFB3"/>
                </a:solidFill>
                <a:latin typeface="Bahnschrift SemiBold SemiConden" panose="020B0502040204020203" pitchFamily="34" charset="0"/>
              </a:rPr>
              <a:t>LIFE HISTORY</a:t>
            </a:r>
          </a:p>
        </p:txBody>
      </p:sp>
      <p:sp>
        <p:nvSpPr>
          <p:cNvPr id="3" name="Nadpis 1">
            <a:extLst>
              <a:ext uri="{FF2B5EF4-FFF2-40B4-BE49-F238E27FC236}">
                <a16:creationId xmlns:a16="http://schemas.microsoft.com/office/drawing/2014/main" id="{A0C48AF5-E859-7AF6-93C6-35C668032F35}"/>
              </a:ext>
            </a:extLst>
          </p:cNvPr>
          <p:cNvSpPr txBox="1">
            <a:spLocks/>
          </p:cNvSpPr>
          <p:nvPr/>
        </p:nvSpPr>
        <p:spPr>
          <a:xfrm>
            <a:off x="322520" y="3184450"/>
            <a:ext cx="5929425" cy="1770323"/>
          </a:xfrm>
          <a:prstGeom prst="rect">
            <a:avLst/>
          </a:prstGeom>
          <a:solidFill>
            <a:schemeClr val="accent5">
              <a:lumMod val="60000"/>
              <a:lumOff val="40000"/>
            </a:schemeClr>
          </a:solid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6600" noProof="0" dirty="0">
                <a:solidFill>
                  <a:srgbClr val="23350D"/>
                </a:solidFill>
                <a:latin typeface="Bahnschrift Condensed" panose="020B0502040204020203" pitchFamily="34" charset="0"/>
              </a:rPr>
              <a:t>Life history traits</a:t>
            </a:r>
          </a:p>
        </p:txBody>
      </p:sp>
    </p:spTree>
    <p:extLst>
      <p:ext uri="{BB962C8B-B14F-4D97-AF65-F5344CB8AC3E}">
        <p14:creationId xmlns:p14="http://schemas.microsoft.com/office/powerpoint/2010/main" val="2196246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F340E"/>
        </a:solidFill>
        <a:effectLst/>
      </p:bgPr>
    </p:bg>
    <p:spTree>
      <p:nvGrpSpPr>
        <p:cNvPr id="1" name=""/>
        <p:cNvGrpSpPr/>
        <p:nvPr/>
      </p:nvGrpSpPr>
      <p:grpSpPr>
        <a:xfrm>
          <a:off x="0" y="0"/>
          <a:ext cx="0" cy="0"/>
          <a:chOff x="0" y="0"/>
          <a:chExt cx="0" cy="0"/>
        </a:xfrm>
      </p:grpSpPr>
      <p:sp>
        <p:nvSpPr>
          <p:cNvPr id="2" name="Obdélník 1">
            <a:extLst>
              <a:ext uri="{FF2B5EF4-FFF2-40B4-BE49-F238E27FC236}">
                <a16:creationId xmlns:a16="http://schemas.microsoft.com/office/drawing/2014/main" id="{568A82DD-9114-8A42-F2A0-8A452A142556}"/>
              </a:ext>
            </a:extLst>
          </p:cNvPr>
          <p:cNvSpPr/>
          <p:nvPr/>
        </p:nvSpPr>
        <p:spPr>
          <a:xfrm>
            <a:off x="0" y="0"/>
            <a:ext cx="5744074" cy="6858000"/>
          </a:xfrm>
          <a:prstGeom prst="rect">
            <a:avLst/>
          </a:prstGeom>
          <a:solidFill>
            <a:srgbClr val="D2DA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7" name="Obrázek 6" descr="African bush elephant | Size, Habitat, &amp; Facts | Britannica">
            <a:extLst>
              <a:ext uri="{FF2B5EF4-FFF2-40B4-BE49-F238E27FC236}">
                <a16:creationId xmlns:a16="http://schemas.microsoft.com/office/drawing/2014/main" id="{F18EC6EA-5F87-9B90-5A7B-C29B1C28D183}"/>
              </a:ext>
            </a:extLst>
          </p:cNvPr>
          <p:cNvPicPr>
            <a:picLocks noChangeAspect="1"/>
          </p:cNvPicPr>
          <p:nvPr/>
        </p:nvPicPr>
        <p:blipFill>
          <a:blip r:embed="rId3"/>
          <a:srcRect l="22701" t="8952" r="14349" b="11619"/>
          <a:stretch>
            <a:fillRect/>
          </a:stretch>
        </p:blipFill>
        <p:spPr>
          <a:xfrm>
            <a:off x="6113804" y="754121"/>
            <a:ext cx="5712267" cy="4820176"/>
          </a:xfrm>
          <a:prstGeom prst="rect">
            <a:avLst/>
          </a:prstGeom>
        </p:spPr>
      </p:pic>
      <p:pic>
        <p:nvPicPr>
          <p:cNvPr id="8" name="Zástupný obsah 4" descr="One Mouse, Two Mice, Three Mice, Four">
            <a:extLst>
              <a:ext uri="{FF2B5EF4-FFF2-40B4-BE49-F238E27FC236}">
                <a16:creationId xmlns:a16="http://schemas.microsoft.com/office/drawing/2014/main" id="{B1BC7063-100D-AEEF-FE6D-D491A83B0E29}"/>
              </a:ext>
            </a:extLst>
          </p:cNvPr>
          <p:cNvPicPr>
            <a:picLocks noChangeAspect="1"/>
          </p:cNvPicPr>
          <p:nvPr/>
        </p:nvPicPr>
        <p:blipFill>
          <a:blip r:embed="rId4"/>
          <a:srcRect t="1637" r="21807" b="2652"/>
          <a:stretch>
            <a:fillRect/>
          </a:stretch>
        </p:blipFill>
        <p:spPr>
          <a:xfrm>
            <a:off x="365928" y="791335"/>
            <a:ext cx="4987441" cy="4578615"/>
          </a:xfrm>
          <a:prstGeom prst="rect">
            <a:avLst/>
          </a:prstGeom>
        </p:spPr>
      </p:pic>
      <p:sp>
        <p:nvSpPr>
          <p:cNvPr id="3" name="Zástupný obsah 2">
            <a:extLst>
              <a:ext uri="{FF2B5EF4-FFF2-40B4-BE49-F238E27FC236}">
                <a16:creationId xmlns:a16="http://schemas.microsoft.com/office/drawing/2014/main" id="{9938BEA6-13F5-CF46-592C-71BF697CE0D3}"/>
              </a:ext>
            </a:extLst>
          </p:cNvPr>
          <p:cNvSpPr>
            <a:spLocks noGrp="1"/>
          </p:cNvSpPr>
          <p:nvPr>
            <p:ph idx="1"/>
          </p:nvPr>
        </p:nvSpPr>
        <p:spPr>
          <a:xfrm>
            <a:off x="2280967" y="189026"/>
            <a:ext cx="7040708" cy="1576467"/>
          </a:xfrm>
        </p:spPr>
        <p:txBody>
          <a:bodyPr>
            <a:normAutofit/>
          </a:bodyPr>
          <a:lstStyle/>
          <a:p>
            <a:pPr marL="0" indent="0" algn="ctr">
              <a:buNone/>
            </a:pPr>
            <a:r>
              <a:rPr lang="en-GB" sz="5400" noProof="0" dirty="0">
                <a:solidFill>
                  <a:srgbClr val="E6FFB3"/>
                </a:solidFill>
                <a:highlight>
                  <a:srgbClr val="000000"/>
                </a:highlight>
                <a:latin typeface="Bahnschrift Condensed" panose="020B0502040204020203" pitchFamily="34" charset="0"/>
                <a:ea typeface="+mj-ea"/>
                <a:cs typeface="+mj-cs"/>
              </a:rPr>
              <a:t>Age and size at maturity</a:t>
            </a:r>
          </a:p>
          <a:p>
            <a:pPr marL="0" indent="0">
              <a:buNone/>
            </a:pPr>
            <a:endParaRPr lang="en-GB" noProof="0" dirty="0"/>
          </a:p>
          <a:p>
            <a:pPr marL="0" indent="0">
              <a:buNone/>
            </a:pPr>
            <a:endParaRPr lang="en-GB" noProof="0" dirty="0"/>
          </a:p>
        </p:txBody>
      </p:sp>
      <p:sp>
        <p:nvSpPr>
          <p:cNvPr id="4" name="TextovéPole 3">
            <a:extLst>
              <a:ext uri="{FF2B5EF4-FFF2-40B4-BE49-F238E27FC236}">
                <a16:creationId xmlns:a16="http://schemas.microsoft.com/office/drawing/2014/main" id="{1D1F1B8A-9B1C-EBB6-934E-F15B69EEA0EC}"/>
              </a:ext>
            </a:extLst>
          </p:cNvPr>
          <p:cNvSpPr txBox="1"/>
          <p:nvPr/>
        </p:nvSpPr>
        <p:spPr>
          <a:xfrm>
            <a:off x="974466" y="5490631"/>
            <a:ext cx="3611897" cy="830997"/>
          </a:xfrm>
          <a:prstGeom prst="rect">
            <a:avLst/>
          </a:prstGeom>
          <a:noFill/>
        </p:spPr>
        <p:txBody>
          <a:bodyPr wrap="square">
            <a:spAutoFit/>
          </a:bodyPr>
          <a:lstStyle/>
          <a:p>
            <a:pPr algn="ctr"/>
            <a:r>
              <a:rPr lang="en-GB" sz="2400" noProof="0" dirty="0">
                <a:solidFill>
                  <a:srgbClr val="2F340E"/>
                </a:solidFill>
                <a:latin typeface="Bahnschrift SemiBold" panose="020B0502040204020203" pitchFamily="34" charset="0"/>
              </a:rPr>
              <a:t>Eurasian harvest mouse (</a:t>
            </a:r>
            <a:r>
              <a:rPr lang="en-GB" sz="2400" noProof="0" dirty="0" err="1">
                <a:solidFill>
                  <a:srgbClr val="2F340E"/>
                </a:solidFill>
                <a:latin typeface="Bahnschrift SemiBold" panose="020B0502040204020203" pitchFamily="34" charset="0"/>
              </a:rPr>
              <a:t>Micromys</a:t>
            </a:r>
            <a:r>
              <a:rPr lang="en-GB" sz="2400" noProof="0" dirty="0">
                <a:solidFill>
                  <a:srgbClr val="2F340E"/>
                </a:solidFill>
                <a:latin typeface="Bahnschrift SemiBold" panose="020B0502040204020203" pitchFamily="34" charset="0"/>
              </a:rPr>
              <a:t> minutus)</a:t>
            </a:r>
          </a:p>
        </p:txBody>
      </p:sp>
      <p:sp>
        <p:nvSpPr>
          <p:cNvPr id="6" name="TextovéPole 5">
            <a:extLst>
              <a:ext uri="{FF2B5EF4-FFF2-40B4-BE49-F238E27FC236}">
                <a16:creationId xmlns:a16="http://schemas.microsoft.com/office/drawing/2014/main" id="{324A86F9-98DA-A9C9-10CC-9F2B771184E7}"/>
              </a:ext>
            </a:extLst>
          </p:cNvPr>
          <p:cNvSpPr txBox="1"/>
          <p:nvPr/>
        </p:nvSpPr>
        <p:spPr>
          <a:xfrm>
            <a:off x="6095999" y="5577134"/>
            <a:ext cx="5708653" cy="830997"/>
          </a:xfrm>
          <a:prstGeom prst="rect">
            <a:avLst/>
          </a:prstGeom>
          <a:noFill/>
        </p:spPr>
        <p:txBody>
          <a:bodyPr wrap="square">
            <a:spAutoFit/>
          </a:bodyPr>
          <a:lstStyle/>
          <a:p>
            <a:pPr algn="ctr"/>
            <a:r>
              <a:rPr lang="en-GB" sz="2400" noProof="0" dirty="0">
                <a:solidFill>
                  <a:srgbClr val="D2DA8A"/>
                </a:solidFill>
                <a:latin typeface="Bahnschrift SemiBold" panose="020B0502040204020203" pitchFamily="34" charset="0"/>
              </a:rPr>
              <a:t>African bush elephant </a:t>
            </a:r>
          </a:p>
          <a:p>
            <a:pPr algn="ctr"/>
            <a:r>
              <a:rPr lang="en-GB" sz="2400" noProof="0" dirty="0">
                <a:solidFill>
                  <a:srgbClr val="D2DA8A"/>
                </a:solidFill>
                <a:latin typeface="Bahnschrift SemiBold" panose="020B0502040204020203" pitchFamily="34" charset="0"/>
              </a:rPr>
              <a:t>(Loxodonta </a:t>
            </a:r>
            <a:r>
              <a:rPr lang="en-GB" sz="2400" noProof="0" dirty="0" err="1">
                <a:solidFill>
                  <a:srgbClr val="D2DA8A"/>
                </a:solidFill>
                <a:latin typeface="Bahnschrift SemiBold" panose="020B0502040204020203" pitchFamily="34" charset="0"/>
              </a:rPr>
              <a:t>africana</a:t>
            </a:r>
            <a:r>
              <a:rPr lang="en-GB" sz="2400" noProof="0" dirty="0">
                <a:solidFill>
                  <a:srgbClr val="D2DA8A"/>
                </a:solidFill>
                <a:latin typeface="Bahnschrift SemiBold" panose="020B0502040204020203" pitchFamily="34" charset="0"/>
              </a:rPr>
              <a:t>)</a:t>
            </a:r>
          </a:p>
        </p:txBody>
      </p:sp>
      <p:sp>
        <p:nvSpPr>
          <p:cNvPr id="10" name="TextovéPole 9">
            <a:extLst>
              <a:ext uri="{FF2B5EF4-FFF2-40B4-BE49-F238E27FC236}">
                <a16:creationId xmlns:a16="http://schemas.microsoft.com/office/drawing/2014/main" id="{F2D3FB7D-927E-6A4B-F878-D52F52646FDA}"/>
              </a:ext>
            </a:extLst>
          </p:cNvPr>
          <p:cNvSpPr txBox="1"/>
          <p:nvPr/>
        </p:nvSpPr>
        <p:spPr>
          <a:xfrm>
            <a:off x="405150" y="4874857"/>
            <a:ext cx="1597721" cy="261610"/>
          </a:xfrm>
          <a:prstGeom prst="rect">
            <a:avLst/>
          </a:prstGeom>
          <a:noFill/>
        </p:spPr>
        <p:txBody>
          <a:bodyPr wrap="square">
            <a:spAutoFit/>
          </a:bodyPr>
          <a:lstStyle/>
          <a:p>
            <a:r>
              <a:rPr lang="en-GB" sz="1100" noProof="0" dirty="0">
                <a:solidFill>
                  <a:schemeClr val="bg1"/>
                </a:solidFill>
                <a:hlinkClick r:id="rId5">
                  <a:extLst>
                    <a:ext uri="{A12FA001-AC4F-418D-AE19-62706E023703}">
                      <ahyp:hlinkClr xmlns:ahyp="http://schemas.microsoft.com/office/drawing/2018/hyperlinkcolor" val="tx"/>
                    </a:ext>
                  </a:extLst>
                </a:hlinkClick>
              </a:rPr>
              <a:t>American Pest</a:t>
            </a:r>
            <a:r>
              <a:rPr lang="en-GB" sz="1100" noProof="0" dirty="0">
                <a:solidFill>
                  <a:schemeClr val="bg1"/>
                </a:solidFill>
              </a:rPr>
              <a:t> (2022)</a:t>
            </a:r>
          </a:p>
        </p:txBody>
      </p:sp>
      <p:sp>
        <p:nvSpPr>
          <p:cNvPr id="12" name="TextovéPole 11">
            <a:extLst>
              <a:ext uri="{FF2B5EF4-FFF2-40B4-BE49-F238E27FC236}">
                <a16:creationId xmlns:a16="http://schemas.microsoft.com/office/drawing/2014/main" id="{AD7A2B31-0B80-CD46-5FE4-5AEA2502A516}"/>
              </a:ext>
            </a:extLst>
          </p:cNvPr>
          <p:cNvSpPr txBox="1"/>
          <p:nvPr/>
        </p:nvSpPr>
        <p:spPr>
          <a:xfrm>
            <a:off x="6190092" y="5239145"/>
            <a:ext cx="1784077" cy="261610"/>
          </a:xfrm>
          <a:prstGeom prst="rect">
            <a:avLst/>
          </a:prstGeom>
          <a:noFill/>
        </p:spPr>
        <p:txBody>
          <a:bodyPr wrap="square">
            <a:spAutoFit/>
          </a:bodyPr>
          <a:lstStyle/>
          <a:p>
            <a:r>
              <a:rPr lang="en-GB" sz="1100" noProof="0" dirty="0">
                <a:solidFill>
                  <a:schemeClr val="bg1"/>
                </a:solidFill>
                <a:hlinkClick r:id="rId6">
                  <a:extLst>
                    <a:ext uri="{A12FA001-AC4F-418D-AE19-62706E023703}">
                      <ahyp:hlinkClr xmlns:ahyp="http://schemas.microsoft.com/office/drawing/2018/hyperlinkcolor" val="tx"/>
                    </a:ext>
                  </a:extLst>
                </a:hlinkClick>
              </a:rPr>
              <a:t>Britannica</a:t>
            </a:r>
            <a:endParaRPr lang="en-GB" sz="1100" noProof="0" dirty="0">
              <a:solidFill>
                <a:schemeClr val="bg1"/>
              </a:solidFill>
            </a:endParaRPr>
          </a:p>
        </p:txBody>
      </p:sp>
    </p:spTree>
    <p:extLst>
      <p:ext uri="{BB962C8B-B14F-4D97-AF65-F5344CB8AC3E}">
        <p14:creationId xmlns:p14="http://schemas.microsoft.com/office/powerpoint/2010/main" val="1729163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F340E"/>
        </a:solidFill>
        <a:effectLst/>
      </p:bgPr>
    </p:bg>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89210AA2-068F-4D7B-97E7-A78D63FE8AE7}"/>
              </a:ext>
            </a:extLst>
          </p:cNvPr>
          <p:cNvSpPr>
            <a:spLocks/>
          </p:cNvSpPr>
          <p:nvPr/>
        </p:nvSpPr>
        <p:spPr>
          <a:xfrm>
            <a:off x="0" y="-137757"/>
            <a:ext cx="6333482" cy="7250938"/>
          </a:xfrm>
          <a:prstGeom prst="rect">
            <a:avLst/>
          </a:prstGeom>
          <a:solidFill>
            <a:srgbClr val="D2DA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2" name="Obrázek 1" descr="Sockeye salmon - Wikipedia">
            <a:extLst>
              <a:ext uri="{FF2B5EF4-FFF2-40B4-BE49-F238E27FC236}">
                <a16:creationId xmlns:a16="http://schemas.microsoft.com/office/drawing/2014/main" id="{D6381689-A771-8B1C-931C-9C9F1137DE2F}"/>
              </a:ext>
            </a:extLst>
          </p:cNvPr>
          <p:cNvPicPr>
            <a:picLocks noChangeAspect="1"/>
          </p:cNvPicPr>
          <p:nvPr/>
        </p:nvPicPr>
        <p:blipFill>
          <a:blip r:embed="rId3"/>
          <a:srcRect l="23937" r="10474"/>
          <a:stretch>
            <a:fillRect/>
          </a:stretch>
        </p:blipFill>
        <p:spPr>
          <a:xfrm>
            <a:off x="418225" y="721718"/>
            <a:ext cx="5535729" cy="4909419"/>
          </a:xfrm>
          <a:prstGeom prst="rect">
            <a:avLst/>
          </a:prstGeom>
        </p:spPr>
      </p:pic>
      <p:pic>
        <p:nvPicPr>
          <p:cNvPr id="12" name="Zástupný obsah 11" descr="European rabbit - Wikipedia">
            <a:extLst>
              <a:ext uri="{FF2B5EF4-FFF2-40B4-BE49-F238E27FC236}">
                <a16:creationId xmlns:a16="http://schemas.microsoft.com/office/drawing/2014/main" id="{85DE7BB3-9B81-7CFE-474C-09E378AF3A30}"/>
              </a:ext>
            </a:extLst>
          </p:cNvPr>
          <p:cNvPicPr>
            <a:picLocks noGrp="1" noChangeAspect="1"/>
          </p:cNvPicPr>
          <p:nvPr>
            <p:ph idx="1"/>
          </p:nvPr>
        </p:nvPicPr>
        <p:blipFill>
          <a:blip r:embed="rId4"/>
          <a:stretch>
            <a:fillRect/>
          </a:stretch>
        </p:blipFill>
        <p:spPr>
          <a:xfrm>
            <a:off x="6670282" y="499729"/>
            <a:ext cx="4918577" cy="5353395"/>
          </a:xfrm>
          <a:prstGeom prst="rect">
            <a:avLst/>
          </a:prstGeom>
        </p:spPr>
      </p:pic>
      <p:sp>
        <p:nvSpPr>
          <p:cNvPr id="15" name="Zástupný obsah 2">
            <a:extLst>
              <a:ext uri="{FF2B5EF4-FFF2-40B4-BE49-F238E27FC236}">
                <a16:creationId xmlns:a16="http://schemas.microsoft.com/office/drawing/2014/main" id="{1A7006A0-597B-42CC-DEC1-BAAB92E3A758}"/>
              </a:ext>
            </a:extLst>
          </p:cNvPr>
          <p:cNvSpPr txBox="1">
            <a:spLocks/>
          </p:cNvSpPr>
          <p:nvPr/>
        </p:nvSpPr>
        <p:spPr>
          <a:xfrm>
            <a:off x="4352202" y="137757"/>
            <a:ext cx="3589990" cy="9689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5400" noProof="0" dirty="0">
                <a:solidFill>
                  <a:srgbClr val="D2DA8A"/>
                </a:solidFill>
                <a:highlight>
                  <a:srgbClr val="000000"/>
                </a:highlight>
                <a:latin typeface="Bahnschrift Condensed" panose="020B0502040204020203" pitchFamily="34" charset="0"/>
                <a:ea typeface="+mj-ea"/>
                <a:cs typeface="+mj-cs"/>
              </a:rPr>
              <a:t>Parity</a:t>
            </a:r>
          </a:p>
          <a:p>
            <a:pPr marL="0" indent="0" algn="ctr">
              <a:buFont typeface="Arial" panose="020B0604020202020204" pitchFamily="34" charset="0"/>
              <a:buNone/>
            </a:pPr>
            <a:endParaRPr lang="en-GB" noProof="0" dirty="0">
              <a:solidFill>
                <a:srgbClr val="D2DA8A"/>
              </a:solidFill>
            </a:endParaRPr>
          </a:p>
          <a:p>
            <a:pPr marL="0" indent="0" algn="ctr">
              <a:buFont typeface="Arial" panose="020B0604020202020204" pitchFamily="34" charset="0"/>
              <a:buNone/>
            </a:pPr>
            <a:endParaRPr lang="en-GB" noProof="0" dirty="0"/>
          </a:p>
        </p:txBody>
      </p:sp>
      <p:sp>
        <p:nvSpPr>
          <p:cNvPr id="5" name="TextovéPole 4">
            <a:extLst>
              <a:ext uri="{FF2B5EF4-FFF2-40B4-BE49-F238E27FC236}">
                <a16:creationId xmlns:a16="http://schemas.microsoft.com/office/drawing/2014/main" id="{46B5D7FC-BC30-7FBE-C3C0-71A71E078C28}"/>
              </a:ext>
            </a:extLst>
          </p:cNvPr>
          <p:cNvSpPr txBox="1"/>
          <p:nvPr/>
        </p:nvSpPr>
        <p:spPr>
          <a:xfrm>
            <a:off x="398876" y="5659615"/>
            <a:ext cx="5535729" cy="830997"/>
          </a:xfrm>
          <a:prstGeom prst="rect">
            <a:avLst/>
          </a:prstGeom>
          <a:noFill/>
        </p:spPr>
        <p:txBody>
          <a:bodyPr wrap="square">
            <a:spAutoFit/>
          </a:bodyPr>
          <a:lstStyle/>
          <a:p>
            <a:pPr algn="ctr"/>
            <a:r>
              <a:rPr lang="en-GB" sz="2400" noProof="0" dirty="0">
                <a:solidFill>
                  <a:srgbClr val="2F340E"/>
                </a:solidFill>
                <a:latin typeface="Bahnschrift SemiBold" panose="020B0502040204020203" pitchFamily="34" charset="0"/>
              </a:rPr>
              <a:t>Sockeye</a:t>
            </a:r>
            <a:r>
              <a:rPr lang="en-GB" noProof="0" dirty="0">
                <a:latin typeface="Bahnschrift SemiBold" panose="020B0502040204020203" pitchFamily="34" charset="0"/>
              </a:rPr>
              <a:t> </a:t>
            </a:r>
            <a:r>
              <a:rPr lang="en-GB" sz="2400" noProof="0" dirty="0">
                <a:solidFill>
                  <a:srgbClr val="2F340E"/>
                </a:solidFill>
                <a:latin typeface="Bahnschrift SemiBold" panose="020B0502040204020203" pitchFamily="34" charset="0"/>
              </a:rPr>
              <a:t>salmon </a:t>
            </a:r>
          </a:p>
          <a:p>
            <a:pPr algn="ctr"/>
            <a:r>
              <a:rPr lang="en-GB" sz="2400" noProof="0" dirty="0">
                <a:solidFill>
                  <a:srgbClr val="2F340E"/>
                </a:solidFill>
                <a:latin typeface="Bahnschrift SemiBold" panose="020B0502040204020203" pitchFamily="34" charset="0"/>
              </a:rPr>
              <a:t>(Oncorhynchus nerka)</a:t>
            </a:r>
          </a:p>
        </p:txBody>
      </p:sp>
      <p:sp>
        <p:nvSpPr>
          <p:cNvPr id="9" name="TextovéPole 8">
            <a:extLst>
              <a:ext uri="{FF2B5EF4-FFF2-40B4-BE49-F238E27FC236}">
                <a16:creationId xmlns:a16="http://schemas.microsoft.com/office/drawing/2014/main" id="{94A11684-3033-D771-7309-BEF77C2AC592}"/>
              </a:ext>
            </a:extLst>
          </p:cNvPr>
          <p:cNvSpPr txBox="1"/>
          <p:nvPr/>
        </p:nvSpPr>
        <p:spPr>
          <a:xfrm>
            <a:off x="6670282" y="5853124"/>
            <a:ext cx="4329950" cy="830997"/>
          </a:xfrm>
          <a:prstGeom prst="rect">
            <a:avLst/>
          </a:prstGeom>
          <a:noFill/>
        </p:spPr>
        <p:txBody>
          <a:bodyPr wrap="square">
            <a:spAutoFit/>
          </a:bodyPr>
          <a:lstStyle/>
          <a:p>
            <a:r>
              <a:rPr lang="en-GB" sz="2400" noProof="0" dirty="0">
                <a:solidFill>
                  <a:srgbClr val="2F340E"/>
                </a:solidFill>
                <a:latin typeface="Bahnschrift SemiBold" panose="020B0502040204020203" pitchFamily="34" charset="0"/>
              </a:rPr>
              <a:t>European rabbit (Oryctolagus cuniculus)</a:t>
            </a:r>
          </a:p>
        </p:txBody>
      </p:sp>
      <p:sp>
        <p:nvSpPr>
          <p:cNvPr id="11" name="TextovéPole 10">
            <a:extLst>
              <a:ext uri="{FF2B5EF4-FFF2-40B4-BE49-F238E27FC236}">
                <a16:creationId xmlns:a16="http://schemas.microsoft.com/office/drawing/2014/main" id="{9F629C63-00FC-8968-3CB9-C94DA88E2A7A}"/>
              </a:ext>
            </a:extLst>
          </p:cNvPr>
          <p:cNvSpPr txBox="1"/>
          <p:nvPr/>
        </p:nvSpPr>
        <p:spPr>
          <a:xfrm>
            <a:off x="6751707" y="5505726"/>
            <a:ext cx="3488702" cy="307777"/>
          </a:xfrm>
          <a:prstGeom prst="rect">
            <a:avLst/>
          </a:prstGeom>
          <a:noFill/>
        </p:spPr>
        <p:txBody>
          <a:bodyPr wrap="square">
            <a:spAutoFit/>
          </a:bodyPr>
          <a:lstStyle/>
          <a:p>
            <a:r>
              <a:rPr lang="en-GB" sz="1400" noProof="0" dirty="0" err="1">
                <a:solidFill>
                  <a:schemeClr val="bg1"/>
                </a:solidFill>
                <a:latin typeface="+mj-lt"/>
                <a:hlinkClick r:id="rId5">
                  <a:extLst>
                    <a:ext uri="{A12FA001-AC4F-418D-AE19-62706E023703}">
                      <ahyp:hlinkClr xmlns:ahyp="http://schemas.microsoft.com/office/drawing/2018/hyperlinkcolor" val="tx"/>
                    </a:ext>
                  </a:extLst>
                </a:hlinkClick>
              </a:rPr>
              <a:t>euqirneto</a:t>
            </a:r>
            <a:r>
              <a:rPr lang="en-GB" sz="1400" noProof="0" dirty="0">
                <a:solidFill>
                  <a:schemeClr val="bg1"/>
                </a:solidFill>
                <a:latin typeface="+mj-lt"/>
                <a:hlinkClick r:id="rId5">
                  <a:extLst>
                    <a:ext uri="{A12FA001-AC4F-418D-AE19-62706E023703}">
                      <ahyp:hlinkClr xmlns:ahyp="http://schemas.microsoft.com/office/drawing/2018/hyperlinkcolor" val="tx"/>
                    </a:ext>
                  </a:extLst>
                </a:hlinkClick>
              </a:rPr>
              <a:t> / Wikimedia Commons</a:t>
            </a:r>
            <a:r>
              <a:rPr lang="en-GB" sz="1400" noProof="0" dirty="0">
                <a:solidFill>
                  <a:schemeClr val="bg1"/>
                </a:solidFill>
                <a:latin typeface="+mj-lt"/>
              </a:rPr>
              <a:t> (CC BY 4.0)</a:t>
            </a:r>
          </a:p>
        </p:txBody>
      </p:sp>
      <p:sp>
        <p:nvSpPr>
          <p:cNvPr id="6" name="TextovéPole 5">
            <a:extLst>
              <a:ext uri="{FF2B5EF4-FFF2-40B4-BE49-F238E27FC236}">
                <a16:creationId xmlns:a16="http://schemas.microsoft.com/office/drawing/2014/main" id="{961EA82A-AFBC-A324-6994-07812A118F06}"/>
              </a:ext>
            </a:extLst>
          </p:cNvPr>
          <p:cNvSpPr txBox="1"/>
          <p:nvPr/>
        </p:nvSpPr>
        <p:spPr>
          <a:xfrm>
            <a:off x="418225" y="5291500"/>
            <a:ext cx="1253005" cy="307777"/>
          </a:xfrm>
          <a:prstGeom prst="rect">
            <a:avLst/>
          </a:prstGeom>
          <a:noFill/>
        </p:spPr>
        <p:txBody>
          <a:bodyPr wrap="square">
            <a:spAutoFit/>
          </a:bodyPr>
          <a:lstStyle/>
          <a:p>
            <a:r>
              <a:rPr lang="en-GB" sz="1400" noProof="0" dirty="0">
                <a:solidFill>
                  <a:schemeClr val="bg1"/>
                </a:solidFill>
                <a:hlinkClick r:id="rId6">
                  <a:extLst>
                    <a:ext uri="{A12FA001-AC4F-418D-AE19-62706E023703}">
                      <ahyp:hlinkClr xmlns:ahyp="http://schemas.microsoft.com/office/drawing/2018/hyperlinkcolor" val="tx"/>
                    </a:ext>
                  </a:extLst>
                </a:hlinkClick>
              </a:rPr>
              <a:t>Wikipedia</a:t>
            </a:r>
            <a:endParaRPr lang="en-GB" sz="1400" noProof="0" dirty="0">
              <a:solidFill>
                <a:schemeClr val="bg1"/>
              </a:solidFill>
            </a:endParaRPr>
          </a:p>
        </p:txBody>
      </p:sp>
    </p:spTree>
    <p:extLst>
      <p:ext uri="{BB962C8B-B14F-4D97-AF65-F5344CB8AC3E}">
        <p14:creationId xmlns:p14="http://schemas.microsoft.com/office/powerpoint/2010/main" val="1098766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F340E"/>
        </a:solidFill>
        <a:effectLst/>
      </p:bgPr>
    </p:bg>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C405C081-CE3D-3FB5-F84E-D043B20592FB}"/>
              </a:ext>
            </a:extLst>
          </p:cNvPr>
          <p:cNvSpPr>
            <a:spLocks/>
          </p:cNvSpPr>
          <p:nvPr/>
        </p:nvSpPr>
        <p:spPr>
          <a:xfrm>
            <a:off x="5858518" y="0"/>
            <a:ext cx="6333482" cy="7250938"/>
          </a:xfrm>
          <a:prstGeom prst="rect">
            <a:avLst/>
          </a:prstGeom>
          <a:solidFill>
            <a:srgbClr val="D2DA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7" name="Obrázek 6" descr="Tree | Definition, Examples, Parts, Structure, Uses, Importance, &amp; Facts |  Britannica">
            <a:extLst>
              <a:ext uri="{FF2B5EF4-FFF2-40B4-BE49-F238E27FC236}">
                <a16:creationId xmlns:a16="http://schemas.microsoft.com/office/drawing/2014/main" id="{9E6C85DA-558A-19AD-B890-ECC4ED520AFB}"/>
              </a:ext>
            </a:extLst>
          </p:cNvPr>
          <p:cNvPicPr>
            <a:picLocks noChangeAspect="1"/>
          </p:cNvPicPr>
          <p:nvPr/>
        </p:nvPicPr>
        <p:blipFill>
          <a:blip r:embed="rId3"/>
          <a:srcRect l="9788" r="2808"/>
          <a:stretch>
            <a:fillRect/>
          </a:stretch>
        </p:blipFill>
        <p:spPr>
          <a:xfrm>
            <a:off x="206154" y="1055014"/>
            <a:ext cx="5462213" cy="4167595"/>
          </a:xfrm>
          <a:prstGeom prst="rect">
            <a:avLst/>
          </a:prstGeom>
        </p:spPr>
      </p:pic>
      <p:pic>
        <p:nvPicPr>
          <p:cNvPr id="5" name="Obrázek 4" descr="Mr. Canary Company-Simple, Easy Bird Feeders Proudly Made by Americans with  Disabilities!">
            <a:extLst>
              <a:ext uri="{FF2B5EF4-FFF2-40B4-BE49-F238E27FC236}">
                <a16:creationId xmlns:a16="http://schemas.microsoft.com/office/drawing/2014/main" id="{E8D325EE-06E1-BDD1-E715-8E0606EFEC7F}"/>
              </a:ext>
            </a:extLst>
          </p:cNvPr>
          <p:cNvPicPr>
            <a:picLocks noChangeAspect="1"/>
          </p:cNvPicPr>
          <p:nvPr/>
        </p:nvPicPr>
        <p:blipFill>
          <a:blip r:embed="rId4"/>
          <a:stretch>
            <a:fillRect/>
          </a:stretch>
        </p:blipFill>
        <p:spPr>
          <a:xfrm>
            <a:off x="6064672" y="1005108"/>
            <a:ext cx="5921174" cy="4267409"/>
          </a:xfrm>
          <a:prstGeom prst="rect">
            <a:avLst/>
          </a:prstGeom>
        </p:spPr>
      </p:pic>
      <p:sp>
        <p:nvSpPr>
          <p:cNvPr id="9" name="Zástupný obsah 2">
            <a:extLst>
              <a:ext uri="{FF2B5EF4-FFF2-40B4-BE49-F238E27FC236}">
                <a16:creationId xmlns:a16="http://schemas.microsoft.com/office/drawing/2014/main" id="{AF0F2CA6-9560-6AB3-BA4E-01B8862B6E6A}"/>
              </a:ext>
            </a:extLst>
          </p:cNvPr>
          <p:cNvSpPr txBox="1">
            <a:spLocks/>
          </p:cNvSpPr>
          <p:nvPr/>
        </p:nvSpPr>
        <p:spPr>
          <a:xfrm>
            <a:off x="1468777" y="258152"/>
            <a:ext cx="9254446" cy="9579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5400" noProof="0" dirty="0">
                <a:solidFill>
                  <a:srgbClr val="D2DA8A"/>
                </a:solidFill>
                <a:highlight>
                  <a:srgbClr val="000000"/>
                </a:highlight>
                <a:latin typeface="Bahnschrift Condensed" panose="020B0502040204020203" pitchFamily="34" charset="0"/>
                <a:ea typeface="+mj-ea"/>
                <a:cs typeface="+mj-cs"/>
              </a:rPr>
              <a:t>Parental investment</a:t>
            </a:r>
          </a:p>
          <a:p>
            <a:pPr marL="0" indent="0" algn="ctr">
              <a:buFont typeface="Arial" panose="020B0604020202020204" pitchFamily="34" charset="0"/>
              <a:buNone/>
            </a:pPr>
            <a:endParaRPr lang="en-GB" noProof="0" dirty="0">
              <a:solidFill>
                <a:srgbClr val="D2DA8A"/>
              </a:solidFill>
            </a:endParaRPr>
          </a:p>
          <a:p>
            <a:pPr marL="0" indent="0" algn="ctr">
              <a:buFont typeface="Arial" panose="020B0604020202020204" pitchFamily="34" charset="0"/>
              <a:buNone/>
            </a:pPr>
            <a:endParaRPr lang="en-GB" noProof="0" dirty="0"/>
          </a:p>
        </p:txBody>
      </p:sp>
      <p:sp>
        <p:nvSpPr>
          <p:cNvPr id="3" name="TextovéPole 2">
            <a:extLst>
              <a:ext uri="{FF2B5EF4-FFF2-40B4-BE49-F238E27FC236}">
                <a16:creationId xmlns:a16="http://schemas.microsoft.com/office/drawing/2014/main" id="{AEBD3FF6-F138-D2F8-5FD2-CE6E50FF2A64}"/>
              </a:ext>
            </a:extLst>
          </p:cNvPr>
          <p:cNvSpPr txBox="1"/>
          <p:nvPr/>
        </p:nvSpPr>
        <p:spPr>
          <a:xfrm>
            <a:off x="206154" y="5387487"/>
            <a:ext cx="5254753" cy="830997"/>
          </a:xfrm>
          <a:prstGeom prst="rect">
            <a:avLst/>
          </a:prstGeom>
          <a:noFill/>
        </p:spPr>
        <p:txBody>
          <a:bodyPr wrap="square">
            <a:spAutoFit/>
          </a:bodyPr>
          <a:lstStyle/>
          <a:p>
            <a:pPr algn="ctr"/>
            <a:r>
              <a:rPr lang="en-GB" sz="2400" noProof="0" dirty="0">
                <a:solidFill>
                  <a:srgbClr val="D2DA8A"/>
                </a:solidFill>
                <a:latin typeface="Bahnschrift SemiBold" panose="020B0502040204020203" pitchFamily="34" charset="0"/>
              </a:rPr>
              <a:t>Acacia tree on a savanna in Zimbabwe.</a:t>
            </a:r>
          </a:p>
        </p:txBody>
      </p:sp>
      <p:sp>
        <p:nvSpPr>
          <p:cNvPr id="6" name="TextovéPole 5">
            <a:extLst>
              <a:ext uri="{FF2B5EF4-FFF2-40B4-BE49-F238E27FC236}">
                <a16:creationId xmlns:a16="http://schemas.microsoft.com/office/drawing/2014/main" id="{E6B875D3-DF4E-3AF4-5C79-6BF5056A8A46}"/>
              </a:ext>
            </a:extLst>
          </p:cNvPr>
          <p:cNvSpPr txBox="1"/>
          <p:nvPr/>
        </p:nvSpPr>
        <p:spPr>
          <a:xfrm>
            <a:off x="280196" y="4799087"/>
            <a:ext cx="2889505" cy="369332"/>
          </a:xfrm>
          <a:prstGeom prst="rect">
            <a:avLst/>
          </a:prstGeom>
          <a:noFill/>
        </p:spPr>
        <p:txBody>
          <a:bodyPr wrap="square">
            <a:spAutoFit/>
          </a:bodyPr>
          <a:lstStyle/>
          <a:p>
            <a:r>
              <a:rPr lang="en-GB" noProof="0" dirty="0">
                <a:solidFill>
                  <a:schemeClr val="bg1"/>
                </a:solidFill>
                <a:hlinkClick r:id="rId5">
                  <a:extLst>
                    <a:ext uri="{A12FA001-AC4F-418D-AE19-62706E023703}">
                      <ahyp:hlinkClr xmlns:ahyp="http://schemas.microsoft.com/office/drawing/2018/hyperlinkcolor" val="tx"/>
                    </a:ext>
                  </a:extLst>
                </a:hlinkClick>
              </a:rPr>
              <a:t>Britannica</a:t>
            </a:r>
            <a:endParaRPr lang="en-GB" noProof="0" dirty="0">
              <a:solidFill>
                <a:schemeClr val="bg1"/>
              </a:solidFill>
            </a:endParaRPr>
          </a:p>
        </p:txBody>
      </p:sp>
      <p:sp>
        <p:nvSpPr>
          <p:cNvPr id="10" name="TextovéPole 9">
            <a:extLst>
              <a:ext uri="{FF2B5EF4-FFF2-40B4-BE49-F238E27FC236}">
                <a16:creationId xmlns:a16="http://schemas.microsoft.com/office/drawing/2014/main" id="{440962C9-B69F-6306-6606-BA0A84B9CF45}"/>
              </a:ext>
            </a:extLst>
          </p:cNvPr>
          <p:cNvSpPr txBox="1"/>
          <p:nvPr/>
        </p:nvSpPr>
        <p:spPr>
          <a:xfrm>
            <a:off x="6064672" y="4907170"/>
            <a:ext cx="6094476" cy="338554"/>
          </a:xfrm>
          <a:prstGeom prst="rect">
            <a:avLst/>
          </a:prstGeom>
          <a:noFill/>
        </p:spPr>
        <p:txBody>
          <a:bodyPr wrap="square">
            <a:spAutoFit/>
          </a:bodyPr>
          <a:lstStyle/>
          <a:p>
            <a:r>
              <a:rPr lang="en-GB" sz="1600" noProof="0" dirty="0">
                <a:solidFill>
                  <a:schemeClr val="bg1"/>
                </a:solidFill>
                <a:hlinkClick r:id="rId6">
                  <a:extLst>
                    <a:ext uri="{A12FA001-AC4F-418D-AE19-62706E023703}">
                      <ahyp:hlinkClr xmlns:ahyp="http://schemas.microsoft.com/office/drawing/2018/hyperlinkcolor" val="tx"/>
                    </a:ext>
                  </a:extLst>
                </a:hlinkClick>
              </a:rPr>
              <a:t>Via Mr. Canary Company (Odell, </a:t>
            </a:r>
            <a:r>
              <a:rPr lang="en-GB" sz="1600" i="1" noProof="0" dirty="0">
                <a:solidFill>
                  <a:schemeClr val="bg1"/>
                </a:solidFill>
                <a:hlinkClick r:id="rId6">
                  <a:extLst>
                    <a:ext uri="{A12FA001-AC4F-418D-AE19-62706E023703}">
                      <ahyp:hlinkClr xmlns:ahyp="http://schemas.microsoft.com/office/drawing/2018/hyperlinkcolor" val="tx"/>
                    </a:ext>
                  </a:extLst>
                </a:hlinkClick>
              </a:rPr>
              <a:t>Mom, Mom, MOMMM!</a:t>
            </a:r>
            <a:r>
              <a:rPr lang="en-GB" sz="1600" noProof="0" dirty="0">
                <a:solidFill>
                  <a:schemeClr val="bg1"/>
                </a:solidFill>
                <a:hlinkClick r:id="rId6">
                  <a:extLst>
                    <a:ext uri="{A12FA001-AC4F-418D-AE19-62706E023703}">
                      <ahyp:hlinkClr xmlns:ahyp="http://schemas.microsoft.com/office/drawing/2018/hyperlinkcolor" val="tx"/>
                    </a:ext>
                  </a:extLst>
                </a:hlinkClick>
              </a:rPr>
              <a:t>, 2020</a:t>
            </a:r>
            <a:r>
              <a:rPr lang="en-GB" sz="1600" noProof="0" dirty="0"/>
              <a:t>)</a:t>
            </a:r>
          </a:p>
        </p:txBody>
      </p:sp>
      <p:sp>
        <p:nvSpPr>
          <p:cNvPr id="12" name="TextovéPole 11">
            <a:extLst>
              <a:ext uri="{FF2B5EF4-FFF2-40B4-BE49-F238E27FC236}">
                <a16:creationId xmlns:a16="http://schemas.microsoft.com/office/drawing/2014/main" id="{C39EC352-A2FB-3D6E-0603-688E2EEB7C6F}"/>
              </a:ext>
            </a:extLst>
          </p:cNvPr>
          <p:cNvSpPr txBox="1"/>
          <p:nvPr/>
        </p:nvSpPr>
        <p:spPr>
          <a:xfrm>
            <a:off x="6970146" y="5331104"/>
            <a:ext cx="4110226" cy="830997"/>
          </a:xfrm>
          <a:prstGeom prst="rect">
            <a:avLst/>
          </a:prstGeom>
          <a:noFill/>
        </p:spPr>
        <p:txBody>
          <a:bodyPr wrap="square">
            <a:spAutoFit/>
          </a:bodyPr>
          <a:lstStyle/>
          <a:p>
            <a:pPr lvl="0" algn="ctr"/>
            <a:r>
              <a:rPr lang="en-GB" sz="2400" noProof="0" dirty="0">
                <a:solidFill>
                  <a:srgbClr val="2F340E"/>
                </a:solidFill>
                <a:latin typeface="Bahnschrift SemiBold" panose="020B0502040204020203" pitchFamily="34" charset="0"/>
              </a:rPr>
              <a:t>American robin </a:t>
            </a:r>
          </a:p>
          <a:p>
            <a:pPr lvl="0" algn="ctr"/>
            <a:r>
              <a:rPr lang="en-GB" sz="2400" noProof="0" dirty="0">
                <a:solidFill>
                  <a:srgbClr val="2F340E"/>
                </a:solidFill>
                <a:latin typeface="Bahnschrift SemiBold" panose="020B0502040204020203" pitchFamily="34" charset="0"/>
              </a:rPr>
              <a:t>(Turdus </a:t>
            </a:r>
            <a:r>
              <a:rPr lang="en-GB" sz="2400" noProof="0" dirty="0" err="1">
                <a:solidFill>
                  <a:srgbClr val="2F340E"/>
                </a:solidFill>
                <a:latin typeface="Bahnschrift SemiBold" panose="020B0502040204020203" pitchFamily="34" charset="0"/>
              </a:rPr>
              <a:t>migratorius</a:t>
            </a:r>
            <a:r>
              <a:rPr lang="en-GB" sz="2400" noProof="0" dirty="0">
                <a:solidFill>
                  <a:srgbClr val="2F340E"/>
                </a:solidFill>
                <a:latin typeface="Bahnschrift SemiBold" panose="020B0502040204020203" pitchFamily="34" charset="0"/>
              </a:rPr>
              <a:t>)</a:t>
            </a:r>
          </a:p>
        </p:txBody>
      </p:sp>
    </p:spTree>
    <p:extLst>
      <p:ext uri="{BB962C8B-B14F-4D97-AF65-F5344CB8AC3E}">
        <p14:creationId xmlns:p14="http://schemas.microsoft.com/office/powerpoint/2010/main" val="3780937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F340E">
            <a:alpha val="71000"/>
          </a:srgbClr>
        </a:solidFill>
        <a:effectLst/>
      </p:bgPr>
    </p:bg>
    <p:spTree>
      <p:nvGrpSpPr>
        <p:cNvPr id="1" name="">
          <a:extLst>
            <a:ext uri="{FF2B5EF4-FFF2-40B4-BE49-F238E27FC236}">
              <a16:creationId xmlns:a16="http://schemas.microsoft.com/office/drawing/2014/main" id="{62793DB1-A283-E07B-BCA0-1C082E5B355D}"/>
            </a:ext>
          </a:extLst>
        </p:cNvPr>
        <p:cNvGrpSpPr/>
        <p:nvPr/>
      </p:nvGrpSpPr>
      <p:grpSpPr>
        <a:xfrm>
          <a:off x="0" y="0"/>
          <a:ext cx="0" cy="0"/>
          <a:chOff x="0" y="0"/>
          <a:chExt cx="0" cy="0"/>
        </a:xfrm>
      </p:grpSpPr>
      <p:pic>
        <p:nvPicPr>
          <p:cNvPr id="6" name="Obrázek 5">
            <a:extLst>
              <a:ext uri="{FF2B5EF4-FFF2-40B4-BE49-F238E27FC236}">
                <a16:creationId xmlns:a16="http://schemas.microsoft.com/office/drawing/2014/main" id="{98789928-5A90-B412-577F-B8DC140FB442}"/>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t="6000" b="19000"/>
          <a:stretch>
            <a:fillRect/>
          </a:stretch>
        </p:blipFill>
        <p:spPr>
          <a:xfrm>
            <a:off x="0" y="0"/>
            <a:ext cx="12192000" cy="6858000"/>
          </a:xfrm>
          <a:prstGeom prst="rect">
            <a:avLst/>
          </a:prstGeom>
        </p:spPr>
      </p:pic>
      <p:sp>
        <p:nvSpPr>
          <p:cNvPr id="9" name="Nadpis 1">
            <a:extLst>
              <a:ext uri="{FF2B5EF4-FFF2-40B4-BE49-F238E27FC236}">
                <a16:creationId xmlns:a16="http://schemas.microsoft.com/office/drawing/2014/main" id="{3C86864E-71D2-64CD-E0C0-968238D2A4EB}"/>
              </a:ext>
            </a:extLst>
          </p:cNvPr>
          <p:cNvSpPr txBox="1">
            <a:spLocks/>
          </p:cNvSpPr>
          <p:nvPr/>
        </p:nvSpPr>
        <p:spPr>
          <a:xfrm>
            <a:off x="2280014" y="1371598"/>
            <a:ext cx="7631971" cy="1945760"/>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7200" b="1" noProof="0" dirty="0">
                <a:solidFill>
                  <a:srgbClr val="E6FFB3"/>
                </a:solidFill>
                <a:latin typeface="Bahnschrift SemiBold SemiConden" panose="020B0502040204020203" pitchFamily="34" charset="0"/>
              </a:rPr>
              <a:t>LIFE HISTORY</a:t>
            </a:r>
          </a:p>
        </p:txBody>
      </p:sp>
      <p:sp>
        <p:nvSpPr>
          <p:cNvPr id="3" name="Nadpis 1">
            <a:extLst>
              <a:ext uri="{FF2B5EF4-FFF2-40B4-BE49-F238E27FC236}">
                <a16:creationId xmlns:a16="http://schemas.microsoft.com/office/drawing/2014/main" id="{8D6D3729-487F-8A23-F277-488948744346}"/>
              </a:ext>
            </a:extLst>
          </p:cNvPr>
          <p:cNvSpPr txBox="1">
            <a:spLocks/>
          </p:cNvSpPr>
          <p:nvPr/>
        </p:nvSpPr>
        <p:spPr>
          <a:xfrm>
            <a:off x="322520" y="3184450"/>
            <a:ext cx="5929425" cy="1770323"/>
          </a:xfrm>
          <a:prstGeom prst="rect">
            <a:avLst/>
          </a:prstGeom>
          <a:solidFill>
            <a:schemeClr val="accent5">
              <a:lumMod val="60000"/>
              <a:lumOff val="40000"/>
            </a:schemeClr>
          </a:solid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6600" noProof="0" dirty="0">
                <a:solidFill>
                  <a:srgbClr val="23350D"/>
                </a:solidFill>
                <a:latin typeface="Bahnschrift Condensed" panose="020B0502040204020203" pitchFamily="34" charset="0"/>
              </a:rPr>
              <a:t>Life history traits</a:t>
            </a:r>
          </a:p>
        </p:txBody>
      </p:sp>
      <p:sp>
        <p:nvSpPr>
          <p:cNvPr id="4" name="Nadpis 1">
            <a:extLst>
              <a:ext uri="{FF2B5EF4-FFF2-40B4-BE49-F238E27FC236}">
                <a16:creationId xmlns:a16="http://schemas.microsoft.com/office/drawing/2014/main" id="{60C31A6E-5CA5-4C5A-275A-3C5BC07E7DE9}"/>
              </a:ext>
            </a:extLst>
          </p:cNvPr>
          <p:cNvSpPr txBox="1">
            <a:spLocks/>
          </p:cNvSpPr>
          <p:nvPr/>
        </p:nvSpPr>
        <p:spPr>
          <a:xfrm>
            <a:off x="6251945" y="3068822"/>
            <a:ext cx="5387164" cy="2134488"/>
          </a:xfrm>
          <a:prstGeom prst="rect">
            <a:avLst/>
          </a:prstGeom>
          <a:solidFill>
            <a:srgbClr val="D2DA8A"/>
          </a:solid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6600" noProof="0" dirty="0">
                <a:solidFill>
                  <a:srgbClr val="23350D"/>
                </a:solidFill>
                <a:latin typeface="Bahnschrift Condensed" panose="020B0502040204020203" pitchFamily="34" charset="0"/>
              </a:rPr>
              <a:t>Life history strategies</a:t>
            </a:r>
          </a:p>
        </p:txBody>
      </p:sp>
    </p:spTree>
    <p:extLst>
      <p:ext uri="{BB962C8B-B14F-4D97-AF65-F5344CB8AC3E}">
        <p14:creationId xmlns:p14="http://schemas.microsoft.com/office/powerpoint/2010/main" val="1070754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F340E">
            <a:alpha val="71000"/>
          </a:srgbClr>
        </a:solidFill>
        <a:effectLst/>
      </p:bgPr>
    </p:bg>
    <p:spTree>
      <p:nvGrpSpPr>
        <p:cNvPr id="1" name="">
          <a:extLst>
            <a:ext uri="{FF2B5EF4-FFF2-40B4-BE49-F238E27FC236}">
              <a16:creationId xmlns:a16="http://schemas.microsoft.com/office/drawing/2014/main" id="{11951E6F-9383-C576-6DD3-A33AEADB1F9C}"/>
            </a:ext>
          </a:extLst>
        </p:cNvPr>
        <p:cNvGrpSpPr/>
        <p:nvPr/>
      </p:nvGrpSpPr>
      <p:grpSpPr>
        <a:xfrm>
          <a:off x="0" y="0"/>
          <a:ext cx="0" cy="0"/>
          <a:chOff x="0" y="0"/>
          <a:chExt cx="0" cy="0"/>
        </a:xfrm>
      </p:grpSpPr>
      <p:pic>
        <p:nvPicPr>
          <p:cNvPr id="6" name="Obrázek 5">
            <a:extLst>
              <a:ext uri="{FF2B5EF4-FFF2-40B4-BE49-F238E27FC236}">
                <a16:creationId xmlns:a16="http://schemas.microsoft.com/office/drawing/2014/main" id="{D204BFE1-8648-1308-F944-5775B95EA982}"/>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t="6000" b="19000"/>
          <a:stretch>
            <a:fillRect/>
          </a:stretch>
        </p:blipFill>
        <p:spPr>
          <a:xfrm>
            <a:off x="0" y="0"/>
            <a:ext cx="12192000" cy="6858000"/>
          </a:xfrm>
          <a:prstGeom prst="rect">
            <a:avLst/>
          </a:prstGeom>
        </p:spPr>
      </p:pic>
      <p:sp>
        <p:nvSpPr>
          <p:cNvPr id="2" name="TextovéPole 1">
            <a:extLst>
              <a:ext uri="{FF2B5EF4-FFF2-40B4-BE49-F238E27FC236}">
                <a16:creationId xmlns:a16="http://schemas.microsoft.com/office/drawing/2014/main" id="{1BDF2733-51C5-23C5-D814-EB527873B9CA}"/>
              </a:ext>
            </a:extLst>
          </p:cNvPr>
          <p:cNvSpPr txBox="1"/>
          <p:nvPr/>
        </p:nvSpPr>
        <p:spPr>
          <a:xfrm>
            <a:off x="749508" y="449705"/>
            <a:ext cx="10927830" cy="830997"/>
          </a:xfrm>
          <a:prstGeom prst="rect">
            <a:avLst/>
          </a:prstGeom>
          <a:noFill/>
        </p:spPr>
        <p:txBody>
          <a:bodyPr wrap="square" rtlCol="0">
            <a:spAutoFit/>
          </a:bodyPr>
          <a:lstStyle/>
          <a:p>
            <a:pPr algn="ctr"/>
            <a:r>
              <a:rPr lang="cs-CZ" sz="4800" dirty="0" err="1">
                <a:solidFill>
                  <a:srgbClr val="D2DA8A"/>
                </a:solidFill>
                <a:highlight>
                  <a:srgbClr val="000000"/>
                </a:highlight>
                <a:latin typeface="Bahnschrift SemiBold Condensed" panose="020B0502040204020203" pitchFamily="34" charset="0"/>
              </a:rPr>
              <a:t>Life</a:t>
            </a:r>
            <a:r>
              <a:rPr lang="cs-CZ" sz="4800" dirty="0">
                <a:solidFill>
                  <a:srgbClr val="D2DA8A"/>
                </a:solidFill>
                <a:highlight>
                  <a:srgbClr val="000000"/>
                </a:highlight>
                <a:latin typeface="Bahnschrift SemiBold Condensed" panose="020B0502040204020203" pitchFamily="34" charset="0"/>
              </a:rPr>
              <a:t> </a:t>
            </a:r>
            <a:r>
              <a:rPr lang="cs-CZ" sz="4800" dirty="0" err="1">
                <a:solidFill>
                  <a:srgbClr val="D2DA8A"/>
                </a:solidFill>
                <a:highlight>
                  <a:srgbClr val="000000"/>
                </a:highlight>
                <a:latin typeface="Bahnschrift SemiBold Condensed" panose="020B0502040204020203" pitchFamily="34" charset="0"/>
              </a:rPr>
              <a:t>history</a:t>
            </a:r>
            <a:r>
              <a:rPr lang="cs-CZ" sz="4800" dirty="0">
                <a:solidFill>
                  <a:srgbClr val="D2DA8A"/>
                </a:solidFill>
                <a:highlight>
                  <a:srgbClr val="000000"/>
                </a:highlight>
                <a:latin typeface="Bahnschrift SemiBold Condensed" panose="020B0502040204020203" pitchFamily="34" charset="0"/>
              </a:rPr>
              <a:t> </a:t>
            </a:r>
            <a:r>
              <a:rPr lang="cs-CZ" sz="4800" dirty="0" err="1">
                <a:solidFill>
                  <a:srgbClr val="D2DA8A"/>
                </a:solidFill>
                <a:highlight>
                  <a:srgbClr val="000000"/>
                </a:highlight>
                <a:latin typeface="Bahnschrift SemiBold Condensed" panose="020B0502040204020203" pitchFamily="34" charset="0"/>
              </a:rPr>
              <a:t>variation</a:t>
            </a:r>
            <a:endParaRPr lang="en-GB" sz="4800" dirty="0">
              <a:solidFill>
                <a:srgbClr val="D2DA8A"/>
              </a:solidFill>
              <a:highlight>
                <a:srgbClr val="000000"/>
              </a:highlight>
              <a:latin typeface="Bahnschrift SemiBold Condensed" panose="020B0502040204020203" pitchFamily="34" charset="0"/>
            </a:endParaRPr>
          </a:p>
        </p:txBody>
      </p:sp>
      <p:sp>
        <p:nvSpPr>
          <p:cNvPr id="7" name="TextovéPole 6">
            <a:extLst>
              <a:ext uri="{FF2B5EF4-FFF2-40B4-BE49-F238E27FC236}">
                <a16:creationId xmlns:a16="http://schemas.microsoft.com/office/drawing/2014/main" id="{0E6446F8-A0C7-D827-5B52-9DDCFB1ABD84}"/>
              </a:ext>
            </a:extLst>
          </p:cNvPr>
          <p:cNvSpPr txBox="1"/>
          <p:nvPr/>
        </p:nvSpPr>
        <p:spPr>
          <a:xfrm>
            <a:off x="1021828" y="1918742"/>
            <a:ext cx="9276415" cy="2062103"/>
          </a:xfrm>
          <a:prstGeom prst="rect">
            <a:avLst/>
          </a:prstGeom>
          <a:noFill/>
        </p:spPr>
        <p:txBody>
          <a:bodyPr wrap="square" rtlCol="0">
            <a:spAutoFit/>
          </a:bodyPr>
          <a:lstStyle/>
          <a:p>
            <a:pPr marL="457200" indent="-457200">
              <a:buFont typeface="Wingdings" panose="05000000000000000000" pitchFamily="2" charset="2"/>
              <a:buChar char="à"/>
            </a:pPr>
            <a:r>
              <a:rPr lang="cs-CZ" sz="3200" dirty="0">
                <a:solidFill>
                  <a:srgbClr val="D2DA8A"/>
                </a:solidFill>
                <a:latin typeface="Bahnschrift SemiBold Condensed" panose="020B0502040204020203" pitchFamily="34" charset="0"/>
                <a:sym typeface="Wingdings" panose="05000000000000000000" pitchFamily="2" charset="2"/>
              </a:rPr>
              <a:t>Limited </a:t>
            </a:r>
            <a:r>
              <a:rPr lang="cs-CZ" sz="3200" dirty="0" err="1">
                <a:solidFill>
                  <a:srgbClr val="D2DA8A"/>
                </a:solidFill>
                <a:latin typeface="Bahnschrift SemiBold Condensed" panose="020B0502040204020203" pitchFamily="34" charset="0"/>
                <a:sym typeface="Wingdings" panose="05000000000000000000" pitchFamily="2" charset="2"/>
              </a:rPr>
              <a:t>combinations</a:t>
            </a:r>
            <a:endParaRPr lang="cs-CZ" sz="3200" dirty="0">
              <a:solidFill>
                <a:srgbClr val="D2DA8A"/>
              </a:solidFill>
              <a:latin typeface="Bahnschrift SemiBold Condensed" panose="020B0502040204020203" pitchFamily="34" charset="0"/>
              <a:sym typeface="Wingdings" panose="05000000000000000000" pitchFamily="2" charset="2"/>
            </a:endParaRPr>
          </a:p>
          <a:p>
            <a:pPr marL="457200" indent="-457200">
              <a:buFont typeface="Wingdings" panose="05000000000000000000" pitchFamily="2" charset="2"/>
              <a:buChar char="à"/>
            </a:pPr>
            <a:r>
              <a:rPr lang="cs-CZ" sz="3200" dirty="0">
                <a:solidFill>
                  <a:srgbClr val="D2DA8A"/>
                </a:solidFill>
                <a:latin typeface="Bahnschrift SemiBold Condensed" panose="020B0502040204020203" pitchFamily="34" charset="0"/>
              </a:rPr>
              <a:t>axis </a:t>
            </a:r>
            <a:r>
              <a:rPr lang="cs-CZ" sz="3200" dirty="0" err="1">
                <a:solidFill>
                  <a:srgbClr val="D2DA8A"/>
                </a:solidFill>
                <a:latin typeface="Bahnschrift SemiBold Condensed" panose="020B0502040204020203" pitchFamily="34" charset="0"/>
              </a:rPr>
              <a:t>defined</a:t>
            </a:r>
            <a:r>
              <a:rPr lang="cs-CZ" sz="3200" dirty="0">
                <a:solidFill>
                  <a:srgbClr val="D2DA8A"/>
                </a:solidFill>
                <a:latin typeface="Bahnschrift SemiBold Condensed" panose="020B0502040204020203" pitchFamily="34" charset="0"/>
              </a:rPr>
              <a:t> by </a:t>
            </a:r>
            <a:r>
              <a:rPr lang="cs-CZ" sz="3200" dirty="0" err="1">
                <a:solidFill>
                  <a:srgbClr val="D2DA8A"/>
                </a:solidFill>
                <a:latin typeface="Bahnschrift SemiBold Condensed" panose="020B0502040204020203" pitchFamily="34" charset="0"/>
              </a:rPr>
              <a:t>the</a:t>
            </a:r>
            <a:r>
              <a:rPr lang="cs-CZ" sz="3200" dirty="0">
                <a:solidFill>
                  <a:srgbClr val="D2DA8A"/>
                </a:solidFill>
                <a:latin typeface="Bahnschrift SemiBold Condensed" panose="020B0502040204020203" pitchFamily="34" charset="0"/>
              </a:rPr>
              <a:t> </a:t>
            </a:r>
            <a:r>
              <a:rPr lang="cs-CZ" sz="3200" dirty="0" err="1">
                <a:solidFill>
                  <a:srgbClr val="D2DA8A"/>
                </a:solidFill>
                <a:latin typeface="Bahnschrift SemiBold Condensed" panose="020B0502040204020203" pitchFamily="34" charset="0"/>
              </a:rPr>
              <a:t>trade-off</a:t>
            </a:r>
            <a:r>
              <a:rPr lang="cs-CZ" sz="3200" dirty="0">
                <a:solidFill>
                  <a:srgbClr val="D2DA8A"/>
                </a:solidFill>
                <a:latin typeface="Bahnschrift SemiBold Condensed" panose="020B0502040204020203" pitchFamily="34" charset="0"/>
              </a:rPr>
              <a:t> </a:t>
            </a:r>
            <a:r>
              <a:rPr lang="cs-CZ" sz="3200" dirty="0" err="1">
                <a:solidFill>
                  <a:srgbClr val="D2DA8A"/>
                </a:solidFill>
                <a:latin typeface="Bahnschrift SemiBold Condensed" panose="020B0502040204020203" pitchFamily="34" charset="0"/>
              </a:rPr>
              <a:t>between</a:t>
            </a:r>
            <a:r>
              <a:rPr lang="cs-CZ" sz="3200" dirty="0">
                <a:solidFill>
                  <a:srgbClr val="D2DA8A"/>
                </a:solidFill>
                <a:latin typeface="Bahnschrift SemiBold Condensed" panose="020B0502040204020203" pitchFamily="34" charset="0"/>
              </a:rPr>
              <a:t> </a:t>
            </a:r>
            <a:r>
              <a:rPr lang="cs-CZ" sz="3200" dirty="0" err="1">
                <a:solidFill>
                  <a:srgbClr val="D2DA8A"/>
                </a:solidFill>
                <a:latin typeface="Bahnschrift SemiBold Condensed" panose="020B0502040204020203" pitchFamily="34" charset="0"/>
              </a:rPr>
              <a:t>allocation</a:t>
            </a:r>
            <a:r>
              <a:rPr lang="cs-CZ" sz="3200" dirty="0">
                <a:solidFill>
                  <a:srgbClr val="D2DA8A"/>
                </a:solidFill>
                <a:latin typeface="Bahnschrift SemiBold Condensed" panose="020B0502040204020203" pitchFamily="34" charset="0"/>
              </a:rPr>
              <a:t> </a:t>
            </a:r>
            <a:r>
              <a:rPr lang="cs-CZ" sz="3200" dirty="0" err="1">
                <a:solidFill>
                  <a:srgbClr val="D2DA8A"/>
                </a:solidFill>
                <a:latin typeface="Bahnschrift SemiBold Condensed" panose="020B0502040204020203" pitchFamily="34" charset="0"/>
              </a:rPr>
              <a:t>of</a:t>
            </a:r>
            <a:r>
              <a:rPr lang="cs-CZ" sz="3200" dirty="0">
                <a:solidFill>
                  <a:srgbClr val="D2DA8A"/>
                </a:solidFill>
                <a:latin typeface="Bahnschrift SemiBold Condensed" panose="020B0502040204020203" pitchFamily="34" charset="0"/>
              </a:rPr>
              <a:t> </a:t>
            </a:r>
            <a:r>
              <a:rPr lang="cs-CZ" sz="3200" dirty="0" err="1">
                <a:solidFill>
                  <a:srgbClr val="D2DA8A"/>
                </a:solidFill>
                <a:latin typeface="Bahnschrift SemiBold Condensed" panose="020B0502040204020203" pitchFamily="34" charset="0"/>
              </a:rPr>
              <a:t>time</a:t>
            </a:r>
            <a:r>
              <a:rPr lang="cs-CZ" sz="3200" dirty="0">
                <a:solidFill>
                  <a:srgbClr val="D2DA8A"/>
                </a:solidFill>
                <a:latin typeface="Bahnschrift SemiBold Condensed" panose="020B0502040204020203" pitchFamily="34" charset="0"/>
              </a:rPr>
              <a:t> to </a:t>
            </a:r>
            <a:r>
              <a:rPr lang="cs-CZ" sz="3200" dirty="0" err="1">
                <a:solidFill>
                  <a:srgbClr val="D2DA8A"/>
                </a:solidFill>
                <a:latin typeface="Bahnschrift SemiBold Condensed" panose="020B0502040204020203" pitchFamily="34" charset="0"/>
              </a:rPr>
              <a:t>reproduction</a:t>
            </a:r>
            <a:r>
              <a:rPr lang="cs-CZ" sz="3200" dirty="0">
                <a:solidFill>
                  <a:srgbClr val="D2DA8A"/>
                </a:solidFill>
                <a:latin typeface="Bahnschrift SemiBold Condensed" panose="020B0502040204020203" pitchFamily="34" charset="0"/>
              </a:rPr>
              <a:t> and development versus </a:t>
            </a:r>
            <a:r>
              <a:rPr lang="cs-CZ" sz="3200" dirty="0" err="1">
                <a:solidFill>
                  <a:srgbClr val="D2DA8A"/>
                </a:solidFill>
                <a:latin typeface="Bahnschrift SemiBold Condensed" panose="020B0502040204020203" pitchFamily="34" charset="0"/>
              </a:rPr>
              <a:t>survival</a:t>
            </a:r>
            <a:endParaRPr lang="cs-CZ" sz="3200" dirty="0">
              <a:solidFill>
                <a:srgbClr val="D2DA8A"/>
              </a:solidFill>
              <a:latin typeface="Bahnschrift SemiBold Condensed" panose="020B0502040204020203" pitchFamily="34" charset="0"/>
              <a:sym typeface="Wingdings" panose="05000000000000000000" pitchFamily="2" charset="2"/>
            </a:endParaRPr>
          </a:p>
          <a:p>
            <a:pPr marL="457200" indent="-457200">
              <a:buFont typeface="Wingdings" panose="05000000000000000000" pitchFamily="2" charset="2"/>
              <a:buChar char="à"/>
            </a:pPr>
            <a:endParaRPr lang="en-GB" sz="3200" dirty="0">
              <a:solidFill>
                <a:srgbClr val="D2DA8A"/>
              </a:solidFill>
              <a:latin typeface="Bahnschrift SemiBold Condensed" panose="020B0502040204020203" pitchFamily="34" charset="0"/>
            </a:endParaRPr>
          </a:p>
        </p:txBody>
      </p:sp>
    </p:spTree>
    <p:extLst>
      <p:ext uri="{BB962C8B-B14F-4D97-AF65-F5344CB8AC3E}">
        <p14:creationId xmlns:p14="http://schemas.microsoft.com/office/powerpoint/2010/main" val="199216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F340E"/>
        </a:solidFill>
        <a:effectLst/>
      </p:bgPr>
    </p:bg>
    <p:spTree>
      <p:nvGrpSpPr>
        <p:cNvPr id="1" name=""/>
        <p:cNvGrpSpPr/>
        <p:nvPr/>
      </p:nvGrpSpPr>
      <p:grpSpPr>
        <a:xfrm>
          <a:off x="0" y="0"/>
          <a:ext cx="0" cy="0"/>
          <a:chOff x="0" y="0"/>
          <a:chExt cx="0" cy="0"/>
        </a:xfrm>
      </p:grpSpPr>
      <p:pic>
        <p:nvPicPr>
          <p:cNvPr id="17" name="Obrázek 16">
            <a:extLst>
              <a:ext uri="{FF2B5EF4-FFF2-40B4-BE49-F238E27FC236}">
                <a16:creationId xmlns:a16="http://schemas.microsoft.com/office/drawing/2014/main" id="{1E2A8139-CC76-6069-1514-F57F8033DB4F}"/>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t="6000" b="19000"/>
          <a:stretch>
            <a:fillRect/>
          </a:stretch>
        </p:blipFill>
        <p:spPr>
          <a:xfrm>
            <a:off x="0" y="0"/>
            <a:ext cx="12192000" cy="6858000"/>
          </a:xfrm>
          <a:prstGeom prst="rect">
            <a:avLst/>
          </a:prstGeom>
        </p:spPr>
      </p:pic>
      <p:sp>
        <p:nvSpPr>
          <p:cNvPr id="11" name="Šipka: obousměrná vodorovná 10">
            <a:extLst>
              <a:ext uri="{FF2B5EF4-FFF2-40B4-BE49-F238E27FC236}">
                <a16:creationId xmlns:a16="http://schemas.microsoft.com/office/drawing/2014/main" id="{D14A3DC0-1BC9-BD74-F6F4-03181FE21394}"/>
              </a:ext>
            </a:extLst>
          </p:cNvPr>
          <p:cNvSpPr/>
          <p:nvPr/>
        </p:nvSpPr>
        <p:spPr>
          <a:xfrm>
            <a:off x="682108" y="3028811"/>
            <a:ext cx="10849050" cy="1578393"/>
          </a:xfrm>
          <a:prstGeom prst="leftRightArrow">
            <a:avLst/>
          </a:prstGeom>
          <a:solidFill>
            <a:schemeClr val="accent5">
              <a:lumMod val="60000"/>
              <a:lumOff val="40000"/>
              <a:alpha val="9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Nadpis 1">
            <a:extLst>
              <a:ext uri="{FF2B5EF4-FFF2-40B4-BE49-F238E27FC236}">
                <a16:creationId xmlns:a16="http://schemas.microsoft.com/office/drawing/2014/main" id="{CCB12C8E-B80D-E467-738E-68084B92A0A2}"/>
              </a:ext>
            </a:extLst>
          </p:cNvPr>
          <p:cNvSpPr>
            <a:spLocks noGrp="1"/>
          </p:cNvSpPr>
          <p:nvPr>
            <p:ph type="title"/>
          </p:nvPr>
        </p:nvSpPr>
        <p:spPr>
          <a:xfrm>
            <a:off x="838200" y="353034"/>
            <a:ext cx="10515600" cy="1325563"/>
          </a:xfrm>
        </p:spPr>
        <p:txBody>
          <a:bodyPr/>
          <a:lstStyle/>
          <a:p>
            <a:pPr algn="ctr"/>
            <a:r>
              <a:rPr lang="en-GB" sz="6600" noProof="0" dirty="0">
                <a:solidFill>
                  <a:srgbClr val="D2DA8A"/>
                </a:solidFill>
                <a:latin typeface="Bahnschrift Condensed" panose="020B0502040204020203" pitchFamily="34" charset="0"/>
              </a:rPr>
              <a:t>FAST-SLOW CONTINUUM</a:t>
            </a:r>
          </a:p>
        </p:txBody>
      </p:sp>
      <p:sp>
        <p:nvSpPr>
          <p:cNvPr id="3" name="Zástupný obsah 2">
            <a:extLst>
              <a:ext uri="{FF2B5EF4-FFF2-40B4-BE49-F238E27FC236}">
                <a16:creationId xmlns:a16="http://schemas.microsoft.com/office/drawing/2014/main" id="{F9C1CEA1-9E00-BB17-BFCE-3798385FA635}"/>
              </a:ext>
            </a:extLst>
          </p:cNvPr>
          <p:cNvSpPr>
            <a:spLocks noGrp="1"/>
          </p:cNvSpPr>
          <p:nvPr>
            <p:ph idx="1"/>
          </p:nvPr>
        </p:nvSpPr>
        <p:spPr>
          <a:xfrm>
            <a:off x="848833" y="1859093"/>
            <a:ext cx="10515600" cy="4656506"/>
          </a:xfrm>
        </p:spPr>
        <p:txBody>
          <a:bodyPr>
            <a:normAutofit/>
          </a:bodyPr>
          <a:lstStyle/>
          <a:p>
            <a:pPr marL="0" indent="0">
              <a:buNone/>
            </a:pPr>
            <a:endParaRPr lang="en-GB" sz="3200" noProof="0" dirty="0">
              <a:solidFill>
                <a:schemeClr val="accent6">
                  <a:lumMod val="50000"/>
                </a:schemeClr>
              </a:solidFill>
              <a:latin typeface="Bahnschrift Condensed" panose="020B0502040204020203" pitchFamily="34" charset="0"/>
              <a:ea typeface="+mj-ea"/>
              <a:cs typeface="+mj-cs"/>
            </a:endParaRPr>
          </a:p>
          <a:p>
            <a:pPr marL="0" indent="0">
              <a:buNone/>
            </a:pPr>
            <a:r>
              <a:rPr lang="en-GB" sz="3200" noProof="0" dirty="0">
                <a:solidFill>
                  <a:srgbClr val="D2DA8A"/>
                </a:solidFill>
                <a:latin typeface="Bahnschrift Condensed" panose="020B0502040204020203" pitchFamily="34" charset="0"/>
                <a:ea typeface="+mj-ea"/>
                <a:cs typeface="+mj-cs"/>
              </a:rPr>
              <a:t>Two extremes:</a:t>
            </a:r>
          </a:p>
          <a:p>
            <a:pPr marL="0" indent="0">
              <a:buNone/>
            </a:pPr>
            <a:endParaRPr lang="en-GB" sz="3200" noProof="0" dirty="0">
              <a:solidFill>
                <a:srgbClr val="D2DA8A"/>
              </a:solidFill>
              <a:latin typeface="Bahnschrift Condensed" panose="020B0502040204020203" pitchFamily="34" charset="0"/>
              <a:ea typeface="+mj-ea"/>
              <a:cs typeface="+mj-cs"/>
            </a:endParaRPr>
          </a:p>
          <a:p>
            <a:pPr marL="0" indent="0">
              <a:buNone/>
            </a:pPr>
            <a:r>
              <a:rPr lang="en-GB" sz="3200" noProof="0" dirty="0">
                <a:solidFill>
                  <a:srgbClr val="D2DA8A"/>
                </a:solidFill>
                <a:latin typeface="Bahnschrift Condensed" panose="020B0502040204020203" pitchFamily="34" charset="0"/>
                <a:ea typeface="+mj-ea"/>
                <a:cs typeface="+mj-cs"/>
              </a:rPr>
              <a:t>   FAST CONTINUUM                                                                SLOW CONTINUUM</a:t>
            </a:r>
          </a:p>
          <a:p>
            <a:pPr marL="0" indent="0">
              <a:buNone/>
            </a:pPr>
            <a:endParaRPr lang="en-GB" sz="3200" noProof="0" dirty="0">
              <a:solidFill>
                <a:schemeClr val="accent6">
                  <a:lumMod val="50000"/>
                </a:schemeClr>
              </a:solidFill>
              <a:latin typeface="Bahnschrift Condensed" panose="020B0502040204020203" pitchFamily="34" charset="0"/>
              <a:ea typeface="+mj-ea"/>
              <a:cs typeface="+mj-cs"/>
            </a:endParaRPr>
          </a:p>
        </p:txBody>
      </p:sp>
    </p:spTree>
    <p:extLst>
      <p:ext uri="{BB962C8B-B14F-4D97-AF65-F5344CB8AC3E}">
        <p14:creationId xmlns:p14="http://schemas.microsoft.com/office/powerpoint/2010/main" val="2381451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F340E"/>
        </a:solidFill>
        <a:effectLst/>
      </p:bgPr>
    </p:bg>
    <p:spTree>
      <p:nvGrpSpPr>
        <p:cNvPr id="1" name=""/>
        <p:cNvGrpSpPr/>
        <p:nvPr/>
      </p:nvGrpSpPr>
      <p:grpSpPr>
        <a:xfrm>
          <a:off x="0" y="0"/>
          <a:ext cx="0" cy="0"/>
          <a:chOff x="0" y="0"/>
          <a:chExt cx="0" cy="0"/>
        </a:xfrm>
      </p:grpSpPr>
      <p:sp>
        <p:nvSpPr>
          <p:cNvPr id="6" name="Šipka: obousměrná vodorovná 5">
            <a:extLst>
              <a:ext uri="{FF2B5EF4-FFF2-40B4-BE49-F238E27FC236}">
                <a16:creationId xmlns:a16="http://schemas.microsoft.com/office/drawing/2014/main" id="{F2AE39F9-9EB9-4E30-4E55-A648DD9EA3D7}"/>
              </a:ext>
            </a:extLst>
          </p:cNvPr>
          <p:cNvSpPr/>
          <p:nvPr/>
        </p:nvSpPr>
        <p:spPr>
          <a:xfrm>
            <a:off x="559981" y="4019106"/>
            <a:ext cx="11072038" cy="935666"/>
          </a:xfrm>
          <a:prstGeom prst="leftRightArrow">
            <a:avLst/>
          </a:prstGeom>
          <a:solidFill>
            <a:schemeClr val="accent5">
              <a:lumMod val="60000"/>
              <a:lumOff val="40000"/>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 name="TextovéPole 3">
            <a:extLst>
              <a:ext uri="{FF2B5EF4-FFF2-40B4-BE49-F238E27FC236}">
                <a16:creationId xmlns:a16="http://schemas.microsoft.com/office/drawing/2014/main" id="{3CE446B5-BBA8-7DA4-C910-1A3E0EB69775}"/>
              </a:ext>
            </a:extLst>
          </p:cNvPr>
          <p:cNvSpPr txBox="1"/>
          <p:nvPr/>
        </p:nvSpPr>
        <p:spPr>
          <a:xfrm>
            <a:off x="1201480" y="4199861"/>
            <a:ext cx="3434317" cy="3293209"/>
          </a:xfrm>
          <a:prstGeom prst="rect">
            <a:avLst/>
          </a:prstGeom>
          <a:noFill/>
        </p:spPr>
        <p:txBody>
          <a:bodyPr wrap="square" rtlCol="0">
            <a:spAutoFit/>
          </a:bodyPr>
          <a:lstStyle/>
          <a:p>
            <a:r>
              <a:rPr lang="en-GB" sz="3200" noProof="0" dirty="0">
                <a:solidFill>
                  <a:srgbClr val="D2DA8A"/>
                </a:solidFill>
                <a:latin typeface="Bahnschrift Condensed" panose="020B0502040204020203" pitchFamily="34" charset="0"/>
              </a:rPr>
              <a:t>FAST CONTINUUM</a:t>
            </a:r>
          </a:p>
          <a:p>
            <a:pPr marL="457200" indent="-457200">
              <a:buFontTx/>
              <a:buChar char="-"/>
            </a:pPr>
            <a:r>
              <a:rPr lang="en-GB" sz="2400" noProof="0" dirty="0">
                <a:solidFill>
                  <a:srgbClr val="D2DA8A"/>
                </a:solidFill>
                <a:latin typeface="Bahnschrift Condensed" panose="020B0502040204020203" pitchFamily="34" charset="0"/>
              </a:rPr>
              <a:t>Fast development</a:t>
            </a:r>
          </a:p>
          <a:p>
            <a:pPr marL="457200" indent="-457200">
              <a:buFontTx/>
              <a:buChar char="-"/>
            </a:pPr>
            <a:r>
              <a:rPr lang="en-GB" sz="2400" noProof="0" dirty="0">
                <a:solidFill>
                  <a:srgbClr val="D2DA8A"/>
                </a:solidFill>
                <a:latin typeface="Bahnschrift Condensed" panose="020B0502040204020203" pitchFamily="34" charset="0"/>
              </a:rPr>
              <a:t>Earlier maturation</a:t>
            </a:r>
          </a:p>
          <a:p>
            <a:pPr marL="457200" indent="-457200">
              <a:buFontTx/>
              <a:buChar char="-"/>
            </a:pPr>
            <a:r>
              <a:rPr lang="en-GB" sz="2400" noProof="0" dirty="0">
                <a:solidFill>
                  <a:srgbClr val="D2DA8A"/>
                </a:solidFill>
                <a:latin typeface="Bahnschrift Condensed" panose="020B0502040204020203" pitchFamily="34" charset="0"/>
              </a:rPr>
              <a:t>Earlier reproduction</a:t>
            </a:r>
          </a:p>
          <a:p>
            <a:pPr marL="457200" indent="-457200">
              <a:buFontTx/>
              <a:buChar char="-"/>
            </a:pPr>
            <a:r>
              <a:rPr lang="en-GB" sz="2400" noProof="0" dirty="0">
                <a:solidFill>
                  <a:srgbClr val="D2DA8A"/>
                </a:solidFill>
                <a:latin typeface="Bahnschrift Condensed" panose="020B0502040204020203" pitchFamily="34" charset="0"/>
              </a:rPr>
              <a:t>More offsprings</a:t>
            </a:r>
          </a:p>
          <a:p>
            <a:pPr marL="457200" indent="-457200">
              <a:buFontTx/>
              <a:buChar char="-"/>
            </a:pPr>
            <a:r>
              <a:rPr lang="en-GB" sz="2400" noProof="0" dirty="0">
                <a:solidFill>
                  <a:srgbClr val="D2DA8A"/>
                </a:solidFill>
                <a:latin typeface="Bahnschrift Condensed" panose="020B0502040204020203" pitchFamily="34" charset="0"/>
              </a:rPr>
              <a:t>Shorter lifespan</a:t>
            </a:r>
          </a:p>
          <a:p>
            <a:pPr marL="457200" indent="-457200">
              <a:buFontTx/>
              <a:buChar char="-"/>
            </a:pPr>
            <a:endParaRPr lang="en-GB" sz="2800" noProof="0" dirty="0">
              <a:solidFill>
                <a:srgbClr val="D2DA8A"/>
              </a:solidFill>
              <a:latin typeface="Bahnschrift Condensed" panose="020B0502040204020203" pitchFamily="34" charset="0"/>
            </a:endParaRPr>
          </a:p>
          <a:p>
            <a:pPr marL="457200" indent="-457200">
              <a:buFontTx/>
              <a:buChar char="-"/>
            </a:pPr>
            <a:endParaRPr lang="en-GB" sz="2800" noProof="0" dirty="0">
              <a:solidFill>
                <a:srgbClr val="D2DA8A"/>
              </a:solidFill>
            </a:endParaRPr>
          </a:p>
        </p:txBody>
      </p:sp>
      <p:sp>
        <p:nvSpPr>
          <p:cNvPr id="8" name="TextovéPole 7">
            <a:extLst>
              <a:ext uri="{FF2B5EF4-FFF2-40B4-BE49-F238E27FC236}">
                <a16:creationId xmlns:a16="http://schemas.microsoft.com/office/drawing/2014/main" id="{BB286FE7-E77B-AD15-6DF9-AA56F57939E5}"/>
              </a:ext>
            </a:extLst>
          </p:cNvPr>
          <p:cNvSpPr txBox="1"/>
          <p:nvPr/>
        </p:nvSpPr>
        <p:spPr>
          <a:xfrm>
            <a:off x="8087832" y="4189228"/>
            <a:ext cx="3434317" cy="3293209"/>
          </a:xfrm>
          <a:prstGeom prst="rect">
            <a:avLst/>
          </a:prstGeom>
          <a:noFill/>
        </p:spPr>
        <p:txBody>
          <a:bodyPr wrap="square" rtlCol="0">
            <a:spAutoFit/>
          </a:bodyPr>
          <a:lstStyle/>
          <a:p>
            <a:r>
              <a:rPr lang="en-GB" sz="3200" noProof="0" dirty="0">
                <a:solidFill>
                  <a:srgbClr val="D2DA8A"/>
                </a:solidFill>
                <a:latin typeface="Bahnschrift Condensed" panose="020B0502040204020203" pitchFamily="34" charset="0"/>
              </a:rPr>
              <a:t>    SLOW CONTINUUM</a:t>
            </a:r>
          </a:p>
          <a:p>
            <a:pPr marL="457200" indent="-457200">
              <a:buFontTx/>
              <a:buChar char="-"/>
            </a:pPr>
            <a:r>
              <a:rPr lang="en-GB" sz="2400" noProof="0" dirty="0">
                <a:solidFill>
                  <a:srgbClr val="D2DA8A"/>
                </a:solidFill>
                <a:latin typeface="Bahnschrift Condensed" panose="020B0502040204020203" pitchFamily="34" charset="0"/>
              </a:rPr>
              <a:t>Slower development</a:t>
            </a:r>
          </a:p>
          <a:p>
            <a:pPr marL="457200" indent="-457200">
              <a:buFontTx/>
              <a:buChar char="-"/>
            </a:pPr>
            <a:r>
              <a:rPr lang="en-GB" sz="2400" noProof="0" dirty="0">
                <a:solidFill>
                  <a:srgbClr val="D2DA8A"/>
                </a:solidFill>
                <a:latin typeface="Bahnschrift Condensed" panose="020B0502040204020203" pitchFamily="34" charset="0"/>
              </a:rPr>
              <a:t>Later maturation</a:t>
            </a:r>
          </a:p>
          <a:p>
            <a:pPr marL="457200" indent="-457200">
              <a:buFontTx/>
              <a:buChar char="-"/>
            </a:pPr>
            <a:r>
              <a:rPr lang="en-GB" sz="2400" noProof="0" dirty="0">
                <a:solidFill>
                  <a:srgbClr val="D2DA8A"/>
                </a:solidFill>
                <a:latin typeface="Bahnschrift Condensed" panose="020B0502040204020203" pitchFamily="34" charset="0"/>
              </a:rPr>
              <a:t>Later reproduction</a:t>
            </a:r>
          </a:p>
          <a:p>
            <a:pPr marL="457200" indent="-457200">
              <a:buFontTx/>
              <a:buChar char="-"/>
            </a:pPr>
            <a:r>
              <a:rPr lang="en-GB" sz="2400" noProof="0" dirty="0">
                <a:solidFill>
                  <a:srgbClr val="D2DA8A"/>
                </a:solidFill>
                <a:latin typeface="Bahnschrift Condensed" panose="020B0502040204020203" pitchFamily="34" charset="0"/>
              </a:rPr>
              <a:t>Less offsprings</a:t>
            </a:r>
          </a:p>
          <a:p>
            <a:pPr marL="457200" indent="-457200">
              <a:buFontTx/>
              <a:buChar char="-"/>
            </a:pPr>
            <a:r>
              <a:rPr lang="en-GB" sz="2400" noProof="0" dirty="0">
                <a:solidFill>
                  <a:srgbClr val="D2DA8A"/>
                </a:solidFill>
                <a:latin typeface="Bahnschrift Condensed" panose="020B0502040204020203" pitchFamily="34" charset="0"/>
              </a:rPr>
              <a:t>Longer lifespan</a:t>
            </a:r>
          </a:p>
          <a:p>
            <a:pPr marL="457200" indent="-457200">
              <a:buFontTx/>
              <a:buChar char="-"/>
            </a:pPr>
            <a:endParaRPr lang="en-GB" sz="2800" noProof="0" dirty="0">
              <a:solidFill>
                <a:srgbClr val="D2DA8A"/>
              </a:solidFill>
              <a:latin typeface="Bahnschrift Condensed" panose="020B0502040204020203" pitchFamily="34" charset="0"/>
            </a:endParaRPr>
          </a:p>
          <a:p>
            <a:pPr marL="457200" indent="-457200">
              <a:buFontTx/>
              <a:buChar char="-"/>
            </a:pPr>
            <a:endParaRPr lang="en-GB" sz="2800" noProof="0" dirty="0">
              <a:solidFill>
                <a:srgbClr val="D2DA8A"/>
              </a:solidFill>
            </a:endParaRPr>
          </a:p>
        </p:txBody>
      </p:sp>
      <p:pic>
        <p:nvPicPr>
          <p:cNvPr id="9" name="Zástupný obsah 5" descr="An introduction to fruit flies | The Berg Lab">
            <a:extLst>
              <a:ext uri="{FF2B5EF4-FFF2-40B4-BE49-F238E27FC236}">
                <a16:creationId xmlns:a16="http://schemas.microsoft.com/office/drawing/2014/main" id="{E2890581-AA08-B884-735D-DDCD49EC6686}"/>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colorTemperature colorTemp="7200"/>
                    </a14:imgEffect>
                    <a14:imgEffect>
                      <a14:brightnessContrast bright="20000" contrast="-40000"/>
                    </a14:imgEffect>
                  </a14:imgLayer>
                </a14:imgProps>
              </a:ext>
            </a:extLst>
          </a:blip>
          <a:srcRect l="3513" t="2347" r="2576" b="5894"/>
          <a:stretch>
            <a:fillRect/>
          </a:stretch>
        </p:blipFill>
        <p:spPr>
          <a:xfrm>
            <a:off x="712367" y="385655"/>
            <a:ext cx="3120922" cy="3043346"/>
          </a:xfrm>
          <a:prstGeom prst="rect">
            <a:avLst/>
          </a:prstGeom>
        </p:spPr>
      </p:pic>
      <p:sp>
        <p:nvSpPr>
          <p:cNvPr id="11" name="TextovéPole 10">
            <a:extLst>
              <a:ext uri="{FF2B5EF4-FFF2-40B4-BE49-F238E27FC236}">
                <a16:creationId xmlns:a16="http://schemas.microsoft.com/office/drawing/2014/main" id="{BF9C4EC7-4CAB-80B5-D63D-303568512630}"/>
              </a:ext>
            </a:extLst>
          </p:cNvPr>
          <p:cNvSpPr txBox="1"/>
          <p:nvPr/>
        </p:nvSpPr>
        <p:spPr>
          <a:xfrm>
            <a:off x="3671778" y="385655"/>
            <a:ext cx="2562446" cy="1105786"/>
          </a:xfrm>
          <a:prstGeom prst="rect">
            <a:avLst/>
          </a:prstGeom>
          <a:solidFill>
            <a:srgbClr val="D2DA8A"/>
          </a:solidFill>
        </p:spPr>
        <p:txBody>
          <a:bodyPr wrap="square" rtlCol="0">
            <a:spAutoFit/>
          </a:bodyPr>
          <a:lstStyle/>
          <a:p>
            <a:r>
              <a:rPr lang="en-GB" sz="1000" b="1" i="1" noProof="0" dirty="0"/>
              <a:t> </a:t>
            </a:r>
            <a:r>
              <a:rPr lang="en-GB" sz="1600" noProof="0" dirty="0">
                <a:solidFill>
                  <a:srgbClr val="2F340E"/>
                </a:solidFill>
                <a:latin typeface="Bahnschrift Condensed" panose="020B0502040204020203" pitchFamily="34" charset="0"/>
                <a:ea typeface="+mj-ea"/>
                <a:cs typeface="+mj-cs"/>
              </a:rPr>
              <a:t>Fruit fly (Drosophila melanogaster)</a:t>
            </a:r>
          </a:p>
          <a:p>
            <a:pPr marL="342900" indent="-342900">
              <a:buFont typeface="Arial" panose="020B0604020202020204" pitchFamily="34" charset="0"/>
              <a:buChar char="•"/>
            </a:pPr>
            <a:r>
              <a:rPr lang="en-GB" sz="1600" noProof="0" dirty="0">
                <a:solidFill>
                  <a:srgbClr val="2F340E"/>
                </a:solidFill>
                <a:latin typeface="Bahnschrift Condensed" panose="020B0502040204020203" pitchFamily="34" charset="0"/>
                <a:ea typeface="+mj-ea"/>
                <a:cs typeface="+mj-cs"/>
              </a:rPr>
              <a:t>Life cycle: 10-12 days in room temperature</a:t>
            </a:r>
          </a:p>
          <a:p>
            <a:pPr marL="342900" indent="-342900">
              <a:buFont typeface="Arial" panose="020B0604020202020204" pitchFamily="34" charset="0"/>
              <a:buChar char="•"/>
            </a:pPr>
            <a:r>
              <a:rPr lang="en-GB" sz="1600" noProof="0" dirty="0">
                <a:solidFill>
                  <a:srgbClr val="2F340E"/>
                </a:solidFill>
                <a:latin typeface="Bahnschrift Condensed" panose="020B0502040204020203" pitchFamily="34" charset="0"/>
                <a:ea typeface="+mj-ea"/>
                <a:cs typeface="+mj-cs"/>
              </a:rPr>
              <a:t>Genetic studies</a:t>
            </a:r>
          </a:p>
        </p:txBody>
      </p:sp>
      <p:pic>
        <p:nvPicPr>
          <p:cNvPr id="15" name="Zástupný obsah 3" descr="Przewalski's Horse | National Geographic Kids">
            <a:extLst>
              <a:ext uri="{FF2B5EF4-FFF2-40B4-BE49-F238E27FC236}">
                <a16:creationId xmlns:a16="http://schemas.microsoft.com/office/drawing/2014/main" id="{7BADFC7B-74E4-602C-488E-7822677C5A71}"/>
              </a:ext>
            </a:extLst>
          </p:cNvPr>
          <p:cNvPicPr>
            <a:picLocks noChangeAspect="1"/>
          </p:cNvPicPr>
          <p:nvPr/>
        </p:nvPicPr>
        <p:blipFill>
          <a:blip r:embed="rId5"/>
          <a:stretch>
            <a:fillRect/>
          </a:stretch>
        </p:blipFill>
        <p:spPr>
          <a:xfrm>
            <a:off x="6790662" y="277995"/>
            <a:ext cx="5004392" cy="3336262"/>
          </a:xfrm>
          <a:prstGeom prst="rect">
            <a:avLst/>
          </a:prstGeom>
        </p:spPr>
      </p:pic>
      <p:sp>
        <p:nvSpPr>
          <p:cNvPr id="17" name="TextovéPole 16">
            <a:extLst>
              <a:ext uri="{FF2B5EF4-FFF2-40B4-BE49-F238E27FC236}">
                <a16:creationId xmlns:a16="http://schemas.microsoft.com/office/drawing/2014/main" id="{63BB0269-C813-050F-006A-479ABAA25848}"/>
              </a:ext>
            </a:extLst>
          </p:cNvPr>
          <p:cNvSpPr txBox="1"/>
          <p:nvPr/>
        </p:nvSpPr>
        <p:spPr>
          <a:xfrm>
            <a:off x="4091766" y="2687052"/>
            <a:ext cx="2808770" cy="923330"/>
          </a:xfrm>
          <a:prstGeom prst="rect">
            <a:avLst/>
          </a:prstGeom>
          <a:solidFill>
            <a:schemeClr val="tx1">
              <a:lumMod val="95000"/>
              <a:lumOff val="5000"/>
            </a:schemeClr>
          </a:solidFill>
        </p:spPr>
        <p:txBody>
          <a:bodyPr wrap="square" rtlCol="0">
            <a:spAutoFit/>
          </a:bodyPr>
          <a:lstStyle/>
          <a:p>
            <a:r>
              <a:rPr lang="en-GB" noProof="0" dirty="0">
                <a:solidFill>
                  <a:srgbClr val="D2DA8A"/>
                </a:solidFill>
                <a:latin typeface="Bahnschrift Condensed" panose="020B0502040204020203" pitchFamily="34" charset="0"/>
                <a:ea typeface="+mj-ea"/>
                <a:cs typeface="+mj-cs"/>
              </a:rPr>
              <a:t>Przewalski horse </a:t>
            </a:r>
          </a:p>
          <a:p>
            <a:pPr marL="342900" indent="-342900">
              <a:buFont typeface="Arial" panose="020B0604020202020204" pitchFamily="34" charset="0"/>
              <a:buChar char="•"/>
            </a:pPr>
            <a:r>
              <a:rPr lang="en-GB" noProof="0" dirty="0">
                <a:solidFill>
                  <a:srgbClr val="D2DA8A"/>
                </a:solidFill>
                <a:latin typeface="Bahnschrift Condensed" panose="020B0502040204020203" pitchFamily="34" charset="0"/>
                <a:ea typeface="+mj-ea"/>
                <a:cs typeface="+mj-cs"/>
              </a:rPr>
              <a:t>Age at maturity: 4-5 years old</a:t>
            </a:r>
          </a:p>
          <a:p>
            <a:pPr marL="342900" indent="-342900">
              <a:buFont typeface="Arial" panose="020B0604020202020204" pitchFamily="34" charset="0"/>
              <a:buChar char="•"/>
            </a:pPr>
            <a:r>
              <a:rPr lang="en-GB" noProof="0" dirty="0">
                <a:solidFill>
                  <a:srgbClr val="D2DA8A"/>
                </a:solidFill>
                <a:latin typeface="Bahnschrift Condensed" panose="020B0502040204020203" pitchFamily="34" charset="0"/>
                <a:ea typeface="+mj-ea"/>
                <a:cs typeface="+mj-cs"/>
              </a:rPr>
              <a:t>Average lifespan: 20 years</a:t>
            </a:r>
          </a:p>
        </p:txBody>
      </p:sp>
      <p:sp>
        <p:nvSpPr>
          <p:cNvPr id="19" name="TextovéPole 18">
            <a:extLst>
              <a:ext uri="{FF2B5EF4-FFF2-40B4-BE49-F238E27FC236}">
                <a16:creationId xmlns:a16="http://schemas.microsoft.com/office/drawing/2014/main" id="{8EDCB821-AD7F-6578-3DD7-BC61B1D67D72}"/>
              </a:ext>
            </a:extLst>
          </p:cNvPr>
          <p:cNvSpPr txBox="1"/>
          <p:nvPr/>
        </p:nvSpPr>
        <p:spPr>
          <a:xfrm>
            <a:off x="6896991" y="3302605"/>
            <a:ext cx="3048000" cy="307777"/>
          </a:xfrm>
          <a:prstGeom prst="rect">
            <a:avLst/>
          </a:prstGeom>
          <a:noFill/>
        </p:spPr>
        <p:txBody>
          <a:bodyPr wrap="square">
            <a:spAutoFit/>
          </a:bodyPr>
          <a:lstStyle/>
          <a:p>
            <a:r>
              <a:rPr lang="en-GB" sz="1400" noProof="0" dirty="0">
                <a:solidFill>
                  <a:schemeClr val="bg1"/>
                </a:solidFill>
                <a:hlinkClick r:id="rId6">
                  <a:extLst>
                    <a:ext uri="{A12FA001-AC4F-418D-AE19-62706E023703}">
                      <ahyp:hlinkClr xmlns:ahyp="http://schemas.microsoft.com/office/drawing/2018/hyperlinkcolor" val="tx"/>
                    </a:ext>
                  </a:extLst>
                </a:hlinkClick>
              </a:rPr>
              <a:t>kids.nationalgeographic.com</a:t>
            </a:r>
            <a:endParaRPr lang="en-GB" sz="1400" noProof="0" dirty="0">
              <a:solidFill>
                <a:schemeClr val="bg1"/>
              </a:solidFill>
            </a:endParaRPr>
          </a:p>
        </p:txBody>
      </p:sp>
      <p:sp>
        <p:nvSpPr>
          <p:cNvPr id="21" name="TextovéPole 20">
            <a:extLst>
              <a:ext uri="{FF2B5EF4-FFF2-40B4-BE49-F238E27FC236}">
                <a16:creationId xmlns:a16="http://schemas.microsoft.com/office/drawing/2014/main" id="{C762CD7B-74A7-64DE-E5CD-FB007A4B07A8}"/>
              </a:ext>
            </a:extLst>
          </p:cNvPr>
          <p:cNvSpPr txBox="1"/>
          <p:nvPr/>
        </p:nvSpPr>
        <p:spPr>
          <a:xfrm>
            <a:off x="712367" y="3194883"/>
            <a:ext cx="3048000" cy="261610"/>
          </a:xfrm>
          <a:prstGeom prst="rect">
            <a:avLst/>
          </a:prstGeom>
          <a:noFill/>
        </p:spPr>
        <p:txBody>
          <a:bodyPr wrap="square">
            <a:spAutoFit/>
          </a:bodyPr>
          <a:lstStyle/>
          <a:p>
            <a:r>
              <a:rPr lang="en-GB" sz="1100" noProof="0" dirty="0">
                <a:solidFill>
                  <a:schemeClr val="tx1">
                    <a:lumMod val="75000"/>
                    <a:lumOff val="25000"/>
                  </a:schemeClr>
                </a:solidFill>
                <a:hlinkClick r:id="rId7">
                  <a:extLst>
                    <a:ext uri="{A12FA001-AC4F-418D-AE19-62706E023703}">
                      <ahyp:hlinkClr xmlns:ahyp="http://schemas.microsoft.com/office/drawing/2018/hyperlinkcolor" val="tx"/>
                    </a:ext>
                  </a:extLst>
                </a:hlinkClick>
              </a:rPr>
              <a:t>University of Washington</a:t>
            </a:r>
            <a:endParaRPr lang="en-GB" sz="1100" noProof="0" dirty="0">
              <a:solidFill>
                <a:schemeClr val="tx1">
                  <a:lumMod val="75000"/>
                  <a:lumOff val="25000"/>
                </a:schemeClr>
              </a:solidFill>
            </a:endParaRPr>
          </a:p>
        </p:txBody>
      </p:sp>
    </p:spTree>
    <p:extLst>
      <p:ext uri="{BB962C8B-B14F-4D97-AF65-F5344CB8AC3E}">
        <p14:creationId xmlns:p14="http://schemas.microsoft.com/office/powerpoint/2010/main" val="2140001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F340E"/>
        </a:solidFill>
        <a:effectLst/>
      </p:bgPr>
    </p:bg>
    <p:spTree>
      <p:nvGrpSpPr>
        <p:cNvPr id="1" name=""/>
        <p:cNvGrpSpPr/>
        <p:nvPr/>
      </p:nvGrpSpPr>
      <p:grpSpPr>
        <a:xfrm>
          <a:off x="0" y="0"/>
          <a:ext cx="0" cy="0"/>
          <a:chOff x="0" y="0"/>
          <a:chExt cx="0" cy="0"/>
        </a:xfrm>
      </p:grpSpPr>
      <p:pic>
        <p:nvPicPr>
          <p:cNvPr id="7" name="Obrázek 6">
            <a:extLst>
              <a:ext uri="{FF2B5EF4-FFF2-40B4-BE49-F238E27FC236}">
                <a16:creationId xmlns:a16="http://schemas.microsoft.com/office/drawing/2014/main" id="{8E2F4488-D960-16AB-F046-930E9CCD1A5E}"/>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t="6000" b="19000"/>
          <a:stretch>
            <a:fillRect/>
          </a:stretch>
        </p:blipFill>
        <p:spPr>
          <a:xfrm>
            <a:off x="0" y="0"/>
            <a:ext cx="12192000" cy="6858000"/>
          </a:xfrm>
          <a:prstGeom prst="rect">
            <a:avLst/>
          </a:prstGeom>
        </p:spPr>
      </p:pic>
      <p:pic>
        <p:nvPicPr>
          <p:cNvPr id="5" name="Obrázek 4">
            <a:extLst>
              <a:ext uri="{FF2B5EF4-FFF2-40B4-BE49-F238E27FC236}">
                <a16:creationId xmlns:a16="http://schemas.microsoft.com/office/drawing/2014/main" id="{580AF8C9-DD2A-63E6-54DF-32A94384DC48}"/>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8800"/>
                    </a14:imgEffect>
                  </a14:imgLayer>
                </a14:imgProps>
              </a:ext>
            </a:extLst>
          </a:blip>
          <a:srcRect l="37421" t="28772" r="37158" b="28140"/>
          <a:stretch>
            <a:fillRect/>
          </a:stretch>
        </p:blipFill>
        <p:spPr>
          <a:xfrm>
            <a:off x="5056318" y="263898"/>
            <a:ext cx="6639495" cy="6330204"/>
          </a:xfrm>
          <a:prstGeom prst="rect">
            <a:avLst/>
          </a:prstGeom>
        </p:spPr>
      </p:pic>
      <p:sp>
        <p:nvSpPr>
          <p:cNvPr id="2" name="Nadpis 1">
            <a:extLst>
              <a:ext uri="{FF2B5EF4-FFF2-40B4-BE49-F238E27FC236}">
                <a16:creationId xmlns:a16="http://schemas.microsoft.com/office/drawing/2014/main" id="{FF879ABA-160E-FA7C-F9F7-454D306309B1}"/>
              </a:ext>
            </a:extLst>
          </p:cNvPr>
          <p:cNvSpPr>
            <a:spLocks noGrp="1"/>
          </p:cNvSpPr>
          <p:nvPr>
            <p:ph type="title"/>
          </p:nvPr>
        </p:nvSpPr>
        <p:spPr>
          <a:xfrm>
            <a:off x="496187" y="263898"/>
            <a:ext cx="4146698" cy="2638912"/>
          </a:xfrm>
        </p:spPr>
        <p:txBody>
          <a:bodyPr/>
          <a:lstStyle/>
          <a:p>
            <a:r>
              <a:rPr lang="en-GB" sz="6600" noProof="0" dirty="0">
                <a:solidFill>
                  <a:srgbClr val="D2DA8A"/>
                </a:solidFill>
                <a:highlight>
                  <a:srgbClr val="000000"/>
                </a:highlight>
                <a:latin typeface="Bahnschrift Condensed" panose="020B0502040204020203" pitchFamily="34" charset="0"/>
              </a:rPr>
              <a:t>PACE-OF-LIFE SYNDROMES</a:t>
            </a:r>
          </a:p>
        </p:txBody>
      </p:sp>
    </p:spTree>
    <p:extLst>
      <p:ext uri="{BB962C8B-B14F-4D97-AF65-F5344CB8AC3E}">
        <p14:creationId xmlns:p14="http://schemas.microsoft.com/office/powerpoint/2010/main" val="39604314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F340E"/>
        </a:solidFill>
        <a:effectLst/>
      </p:bgPr>
    </p:bg>
    <p:spTree>
      <p:nvGrpSpPr>
        <p:cNvPr id="1" name=""/>
        <p:cNvGrpSpPr/>
        <p:nvPr/>
      </p:nvGrpSpPr>
      <p:grpSpPr>
        <a:xfrm>
          <a:off x="0" y="0"/>
          <a:ext cx="0" cy="0"/>
          <a:chOff x="0" y="0"/>
          <a:chExt cx="0" cy="0"/>
        </a:xfrm>
      </p:grpSpPr>
      <p:pic>
        <p:nvPicPr>
          <p:cNvPr id="5" name="Zástupný obsah 4">
            <a:extLst>
              <a:ext uri="{FF2B5EF4-FFF2-40B4-BE49-F238E27FC236}">
                <a16:creationId xmlns:a16="http://schemas.microsoft.com/office/drawing/2014/main" id="{5EA3BD0F-EDA2-1A80-3045-EA64EE013684}"/>
              </a:ext>
            </a:extLst>
          </p:cNvPr>
          <p:cNvPicPr>
            <a:picLocks noGrp="1" noChangeAspect="1"/>
          </p:cNvPicPr>
          <p:nvPr>
            <p:ph idx="1"/>
          </p:nvPr>
        </p:nvPicPr>
        <p:blipFill>
          <a:blip r:embed="rId3"/>
          <a:stretch>
            <a:fillRect/>
          </a:stretch>
        </p:blipFill>
        <p:spPr>
          <a:xfrm>
            <a:off x="0" y="827186"/>
            <a:ext cx="5184841" cy="5203627"/>
          </a:xfrm>
          <a:prstGeom prst="rect">
            <a:avLst/>
          </a:prstGeom>
        </p:spPr>
      </p:pic>
      <p:pic>
        <p:nvPicPr>
          <p:cNvPr id="7" name="Obrázek 6">
            <a:extLst>
              <a:ext uri="{FF2B5EF4-FFF2-40B4-BE49-F238E27FC236}">
                <a16:creationId xmlns:a16="http://schemas.microsoft.com/office/drawing/2014/main" id="{B3EA84FE-EB82-4F8B-345D-5EBB17BF15BD}"/>
              </a:ext>
            </a:extLst>
          </p:cNvPr>
          <p:cNvPicPr>
            <a:picLocks noChangeAspect="1"/>
          </p:cNvPicPr>
          <p:nvPr/>
        </p:nvPicPr>
        <p:blipFill>
          <a:blip r:embed="rId4"/>
          <a:stretch>
            <a:fillRect/>
          </a:stretch>
        </p:blipFill>
        <p:spPr>
          <a:xfrm>
            <a:off x="5297866" y="827186"/>
            <a:ext cx="6894134" cy="5186809"/>
          </a:xfrm>
          <a:prstGeom prst="rect">
            <a:avLst/>
          </a:prstGeom>
        </p:spPr>
      </p:pic>
      <p:sp>
        <p:nvSpPr>
          <p:cNvPr id="9" name="TextovéPole 8">
            <a:extLst>
              <a:ext uri="{FF2B5EF4-FFF2-40B4-BE49-F238E27FC236}">
                <a16:creationId xmlns:a16="http://schemas.microsoft.com/office/drawing/2014/main" id="{FE385613-EDAA-E97D-2735-0F3CC1A1B1C5}"/>
              </a:ext>
            </a:extLst>
          </p:cNvPr>
          <p:cNvSpPr txBox="1"/>
          <p:nvPr/>
        </p:nvSpPr>
        <p:spPr>
          <a:xfrm>
            <a:off x="5297866" y="5623222"/>
            <a:ext cx="1396677" cy="369332"/>
          </a:xfrm>
          <a:prstGeom prst="rect">
            <a:avLst/>
          </a:prstGeom>
          <a:noFill/>
        </p:spPr>
        <p:txBody>
          <a:bodyPr wrap="square">
            <a:spAutoFit/>
          </a:bodyPr>
          <a:lstStyle/>
          <a:p>
            <a:r>
              <a:rPr lang="en-GB" noProof="0" dirty="0">
                <a:solidFill>
                  <a:schemeClr val="bg1"/>
                </a:solidFill>
                <a:hlinkClick r:id="rId5">
                  <a:extLst>
                    <a:ext uri="{A12FA001-AC4F-418D-AE19-62706E023703}">
                      <ahyp:hlinkClr xmlns:ahyp="http://schemas.microsoft.com/office/drawing/2018/hyperlinkcolor" val="tx"/>
                    </a:ext>
                  </a:extLst>
                </a:hlinkClick>
              </a:rPr>
              <a:t>a-z-animals</a:t>
            </a:r>
            <a:endParaRPr lang="en-GB" noProof="0" dirty="0">
              <a:solidFill>
                <a:schemeClr val="bg1"/>
              </a:solidFill>
            </a:endParaRPr>
          </a:p>
        </p:txBody>
      </p:sp>
      <p:sp>
        <p:nvSpPr>
          <p:cNvPr id="11" name="TextovéPole 10">
            <a:extLst>
              <a:ext uri="{FF2B5EF4-FFF2-40B4-BE49-F238E27FC236}">
                <a16:creationId xmlns:a16="http://schemas.microsoft.com/office/drawing/2014/main" id="{E73398F4-5531-2D6B-4831-E02A5A362F4F}"/>
              </a:ext>
            </a:extLst>
          </p:cNvPr>
          <p:cNvSpPr txBox="1"/>
          <p:nvPr/>
        </p:nvSpPr>
        <p:spPr>
          <a:xfrm>
            <a:off x="0" y="5623222"/>
            <a:ext cx="1228564" cy="369332"/>
          </a:xfrm>
          <a:prstGeom prst="rect">
            <a:avLst/>
          </a:prstGeom>
          <a:noFill/>
        </p:spPr>
        <p:txBody>
          <a:bodyPr wrap="square">
            <a:spAutoFit/>
          </a:bodyPr>
          <a:lstStyle/>
          <a:p>
            <a:r>
              <a:rPr lang="en-GB" noProof="0" dirty="0">
                <a:solidFill>
                  <a:schemeClr val="bg1"/>
                </a:solidFill>
                <a:hlinkClick r:id="rId6">
                  <a:extLst>
                    <a:ext uri="{A12FA001-AC4F-418D-AE19-62706E023703}">
                      <ahyp:hlinkClr xmlns:ahyp="http://schemas.microsoft.com/office/drawing/2018/hyperlinkcolor" val="tx"/>
                    </a:ext>
                  </a:extLst>
                </a:hlinkClick>
              </a:rPr>
              <a:t>Britannica</a:t>
            </a:r>
            <a:endParaRPr lang="en-GB" noProof="0" dirty="0">
              <a:solidFill>
                <a:schemeClr val="bg1"/>
              </a:solidFill>
            </a:endParaRPr>
          </a:p>
        </p:txBody>
      </p:sp>
    </p:spTree>
    <p:extLst>
      <p:ext uri="{BB962C8B-B14F-4D97-AF65-F5344CB8AC3E}">
        <p14:creationId xmlns:p14="http://schemas.microsoft.com/office/powerpoint/2010/main" val="2285731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F340E"/>
        </a:solidFill>
        <a:effectLst/>
      </p:bgPr>
    </p:bg>
    <p:spTree>
      <p:nvGrpSpPr>
        <p:cNvPr id="1" name="">
          <a:extLst>
            <a:ext uri="{FF2B5EF4-FFF2-40B4-BE49-F238E27FC236}">
              <a16:creationId xmlns:a16="http://schemas.microsoft.com/office/drawing/2014/main" id="{B5692F2A-B845-749E-BF7E-5EBBB97DE7B3}"/>
            </a:ext>
          </a:extLst>
        </p:cNvPr>
        <p:cNvGrpSpPr/>
        <p:nvPr/>
      </p:nvGrpSpPr>
      <p:grpSpPr>
        <a:xfrm>
          <a:off x="0" y="0"/>
          <a:ext cx="0" cy="0"/>
          <a:chOff x="0" y="0"/>
          <a:chExt cx="0" cy="0"/>
        </a:xfrm>
      </p:grpSpPr>
      <p:pic>
        <p:nvPicPr>
          <p:cNvPr id="9" name="Obrázek 8">
            <a:extLst>
              <a:ext uri="{FF2B5EF4-FFF2-40B4-BE49-F238E27FC236}">
                <a16:creationId xmlns:a16="http://schemas.microsoft.com/office/drawing/2014/main" id="{722E7D84-482D-DCC9-C8CB-8F6436238C18}"/>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t="6000" b="19000"/>
          <a:stretch>
            <a:fillRect/>
          </a:stretch>
        </p:blipFill>
        <p:spPr>
          <a:xfrm>
            <a:off x="0" y="0"/>
            <a:ext cx="12192000" cy="6858000"/>
          </a:xfrm>
          <a:prstGeom prst="rect">
            <a:avLst/>
          </a:prstGeom>
        </p:spPr>
      </p:pic>
      <p:sp>
        <p:nvSpPr>
          <p:cNvPr id="4" name="Zástupný obsah 2">
            <a:extLst>
              <a:ext uri="{FF2B5EF4-FFF2-40B4-BE49-F238E27FC236}">
                <a16:creationId xmlns:a16="http://schemas.microsoft.com/office/drawing/2014/main" id="{258BEFD1-54CA-9A30-5FFD-B5081AFDD68D}"/>
              </a:ext>
            </a:extLst>
          </p:cNvPr>
          <p:cNvSpPr txBox="1">
            <a:spLocks/>
          </p:cNvSpPr>
          <p:nvPr/>
        </p:nvSpPr>
        <p:spPr>
          <a:xfrm>
            <a:off x="507999" y="3439652"/>
            <a:ext cx="4851400" cy="316230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sz="3900" noProof="0" dirty="0">
                <a:solidFill>
                  <a:srgbClr val="92D050"/>
                </a:solidFill>
                <a:highlight>
                  <a:srgbClr val="2F340E"/>
                </a:highlight>
                <a:latin typeface="Bahnschrift Condensed" panose="020B0502040204020203" pitchFamily="34" charset="0"/>
                <a:ea typeface="+mj-ea"/>
                <a:cs typeface="+mj-cs"/>
              </a:rPr>
              <a:t>Dominant axis</a:t>
            </a:r>
          </a:p>
          <a:p>
            <a:pPr>
              <a:lnSpc>
                <a:spcPct val="100000"/>
              </a:lnSpc>
            </a:pPr>
            <a:endParaRPr lang="en-GB" sz="3600" noProof="0" dirty="0">
              <a:solidFill>
                <a:srgbClr val="92D050"/>
              </a:solidFill>
              <a:highlight>
                <a:srgbClr val="2F340E"/>
              </a:highlight>
              <a:latin typeface="Bahnschrift Condensed" panose="020B0502040204020203" pitchFamily="34" charset="0"/>
              <a:ea typeface="+mj-ea"/>
              <a:cs typeface="+mj-cs"/>
            </a:endParaRPr>
          </a:p>
          <a:p>
            <a:pPr>
              <a:lnSpc>
                <a:spcPct val="100000"/>
              </a:lnSpc>
            </a:pPr>
            <a:r>
              <a:rPr lang="en-GB" sz="3500" noProof="0" dirty="0">
                <a:solidFill>
                  <a:srgbClr val="92D050"/>
                </a:solidFill>
                <a:highlight>
                  <a:srgbClr val="2F340E"/>
                </a:highlight>
                <a:latin typeface="Bahnschrift SemiBold SemiConden" panose="020B0502040204020203" pitchFamily="34" charset="0"/>
                <a:ea typeface="+mj-ea"/>
                <a:cs typeface="+mj-cs"/>
              </a:rPr>
              <a:t>Broad picture in tetrapods</a:t>
            </a:r>
          </a:p>
          <a:p>
            <a:pPr>
              <a:lnSpc>
                <a:spcPct val="100000"/>
              </a:lnSpc>
            </a:pPr>
            <a:r>
              <a:rPr lang="en-GB" sz="3500" noProof="0" dirty="0">
                <a:solidFill>
                  <a:srgbClr val="92D050"/>
                </a:solidFill>
                <a:highlight>
                  <a:srgbClr val="2F340E"/>
                </a:highlight>
                <a:latin typeface="Bahnschrift SemiBold SemiConden" panose="020B0502040204020203" pitchFamily="34" charset="0"/>
                <a:ea typeface="+mj-ea"/>
                <a:cs typeface="+mj-cs"/>
              </a:rPr>
              <a:t>Vascular plants and corals</a:t>
            </a:r>
          </a:p>
          <a:p>
            <a:pPr marL="0" indent="0">
              <a:buNone/>
            </a:pPr>
            <a:endParaRPr lang="en-GB" sz="3200" noProof="0" dirty="0">
              <a:solidFill>
                <a:schemeClr val="accent6">
                  <a:lumMod val="50000"/>
                </a:schemeClr>
              </a:solidFill>
              <a:latin typeface="Bahnschrift Condensed" panose="020B0502040204020203" pitchFamily="34" charset="0"/>
              <a:ea typeface="+mj-ea"/>
              <a:cs typeface="+mj-cs"/>
            </a:endParaRPr>
          </a:p>
          <a:p>
            <a:endParaRPr lang="en-GB" sz="3200" noProof="0" dirty="0">
              <a:solidFill>
                <a:schemeClr val="accent6">
                  <a:lumMod val="50000"/>
                </a:schemeClr>
              </a:solidFill>
              <a:latin typeface="Bahnschrift Condensed" panose="020B0502040204020203" pitchFamily="34" charset="0"/>
              <a:ea typeface="+mj-ea"/>
              <a:cs typeface="+mj-cs"/>
            </a:endParaRPr>
          </a:p>
        </p:txBody>
      </p:sp>
      <p:sp>
        <p:nvSpPr>
          <p:cNvPr id="6" name="Zástupný obsah 2">
            <a:extLst>
              <a:ext uri="{FF2B5EF4-FFF2-40B4-BE49-F238E27FC236}">
                <a16:creationId xmlns:a16="http://schemas.microsoft.com/office/drawing/2014/main" id="{87E4B9A7-4893-025E-FD90-46F6CF67DA58}"/>
              </a:ext>
            </a:extLst>
          </p:cNvPr>
          <p:cNvSpPr txBox="1">
            <a:spLocks/>
          </p:cNvSpPr>
          <p:nvPr/>
        </p:nvSpPr>
        <p:spPr>
          <a:xfrm>
            <a:off x="6096000" y="4822752"/>
            <a:ext cx="5168900" cy="19076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sz="3200" noProof="0" dirty="0">
                <a:solidFill>
                  <a:srgbClr val="EA688D"/>
                </a:solidFill>
                <a:highlight>
                  <a:srgbClr val="2F340E"/>
                </a:highlight>
                <a:latin typeface="Bahnschrift SemiBold SemiConden" panose="020B0502040204020203" pitchFamily="34" charset="0"/>
                <a:ea typeface="+mj-ea"/>
                <a:cs typeface="+mj-cs"/>
              </a:rPr>
              <a:t>Few studies in </a:t>
            </a:r>
            <a:r>
              <a:rPr lang="en-GB" sz="3200" noProof="0" dirty="0" err="1">
                <a:solidFill>
                  <a:srgbClr val="EA688D"/>
                </a:solidFill>
                <a:highlight>
                  <a:srgbClr val="2F340E"/>
                </a:highlight>
                <a:latin typeface="Bahnschrift SemiBold SemiConden" panose="020B0502040204020203" pitchFamily="34" charset="0"/>
                <a:ea typeface="+mj-ea"/>
                <a:cs typeface="+mj-cs"/>
              </a:rPr>
              <a:t>invertebres</a:t>
            </a:r>
            <a:r>
              <a:rPr lang="en-GB" sz="3200" noProof="0" dirty="0">
                <a:solidFill>
                  <a:srgbClr val="EA688D"/>
                </a:solidFill>
                <a:highlight>
                  <a:srgbClr val="2F340E"/>
                </a:highlight>
                <a:latin typeface="Bahnschrift SemiBold SemiConden" panose="020B0502040204020203" pitchFamily="34" charset="0"/>
                <a:ea typeface="+mj-ea"/>
                <a:cs typeface="+mj-cs"/>
              </a:rPr>
              <a:t> (except insects)</a:t>
            </a:r>
          </a:p>
          <a:p>
            <a:endParaRPr lang="en-GB" sz="3200" noProof="0" dirty="0">
              <a:solidFill>
                <a:schemeClr val="accent6">
                  <a:lumMod val="50000"/>
                </a:schemeClr>
              </a:solidFill>
              <a:latin typeface="Bahnschrift Condensed" panose="020B0502040204020203" pitchFamily="34" charset="0"/>
              <a:ea typeface="+mj-ea"/>
              <a:cs typeface="+mj-cs"/>
            </a:endParaRPr>
          </a:p>
          <a:p>
            <a:endParaRPr lang="en-GB" sz="3200" noProof="0" dirty="0">
              <a:solidFill>
                <a:schemeClr val="accent6">
                  <a:lumMod val="50000"/>
                </a:schemeClr>
              </a:solidFill>
              <a:latin typeface="Bahnschrift Condensed" panose="020B0502040204020203" pitchFamily="34" charset="0"/>
              <a:ea typeface="+mj-ea"/>
              <a:cs typeface="+mj-cs"/>
            </a:endParaRPr>
          </a:p>
        </p:txBody>
      </p:sp>
      <p:sp>
        <p:nvSpPr>
          <p:cNvPr id="5" name="Nadpis 1">
            <a:extLst>
              <a:ext uri="{FF2B5EF4-FFF2-40B4-BE49-F238E27FC236}">
                <a16:creationId xmlns:a16="http://schemas.microsoft.com/office/drawing/2014/main" id="{394E777E-2100-5782-0283-6888147004FE}"/>
              </a:ext>
            </a:extLst>
          </p:cNvPr>
          <p:cNvSpPr>
            <a:spLocks noGrp="1"/>
          </p:cNvSpPr>
          <p:nvPr>
            <p:ph type="title"/>
          </p:nvPr>
        </p:nvSpPr>
        <p:spPr>
          <a:xfrm>
            <a:off x="749300" y="1064123"/>
            <a:ext cx="10515600" cy="1325563"/>
          </a:xfrm>
        </p:spPr>
        <p:txBody>
          <a:bodyPr>
            <a:normAutofit fontScale="90000"/>
          </a:bodyPr>
          <a:lstStyle/>
          <a:p>
            <a:r>
              <a:rPr lang="en-GB" sz="6600" b="1" noProof="0" dirty="0">
                <a:solidFill>
                  <a:srgbClr val="D2DA8A"/>
                </a:solidFill>
                <a:highlight>
                  <a:srgbClr val="2F340E"/>
                </a:highlight>
                <a:latin typeface="Bahnschrift SemiLight SemiConde" panose="020B0502040204020203" pitchFamily="34" charset="0"/>
              </a:rPr>
              <a:t>Is the fast-slow continuum enough to define variation of life history  across taxa?</a:t>
            </a:r>
          </a:p>
        </p:txBody>
      </p:sp>
    </p:spTree>
    <p:extLst>
      <p:ext uri="{BB962C8B-B14F-4D97-AF65-F5344CB8AC3E}">
        <p14:creationId xmlns:p14="http://schemas.microsoft.com/office/powerpoint/2010/main" val="2094873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F340E"/>
        </a:solidFill>
        <a:effectLst/>
      </p:bgPr>
    </p:bg>
    <p:spTree>
      <p:nvGrpSpPr>
        <p:cNvPr id="1" name=""/>
        <p:cNvGrpSpPr/>
        <p:nvPr/>
      </p:nvGrpSpPr>
      <p:grpSpPr>
        <a:xfrm>
          <a:off x="0" y="0"/>
          <a:ext cx="0" cy="0"/>
          <a:chOff x="0" y="0"/>
          <a:chExt cx="0" cy="0"/>
        </a:xfrm>
      </p:grpSpPr>
      <p:pic>
        <p:nvPicPr>
          <p:cNvPr id="4" name="Obrázek 3">
            <a:extLst>
              <a:ext uri="{FF2B5EF4-FFF2-40B4-BE49-F238E27FC236}">
                <a16:creationId xmlns:a16="http://schemas.microsoft.com/office/drawing/2014/main" id="{2BFD3D6D-4E9B-ACB1-714B-746FA7E7CE34}"/>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a14:imgEffect>
                  </a14:imgLayer>
                </a14:imgProps>
              </a:ext>
            </a:extLst>
          </a:blip>
          <a:stretch>
            <a:fillRect/>
          </a:stretch>
        </p:blipFill>
        <p:spPr>
          <a:xfrm>
            <a:off x="3048000" y="0"/>
            <a:ext cx="9144000" cy="6858000"/>
          </a:xfrm>
          <a:prstGeom prst="rect">
            <a:avLst/>
          </a:prstGeom>
        </p:spPr>
      </p:pic>
      <p:sp>
        <p:nvSpPr>
          <p:cNvPr id="3" name="Zástupný obsah 2">
            <a:extLst>
              <a:ext uri="{FF2B5EF4-FFF2-40B4-BE49-F238E27FC236}">
                <a16:creationId xmlns:a16="http://schemas.microsoft.com/office/drawing/2014/main" id="{A61CA0E4-C523-7918-4073-B74FE22A61F3}"/>
              </a:ext>
            </a:extLst>
          </p:cNvPr>
          <p:cNvSpPr>
            <a:spLocks noGrp="1"/>
          </p:cNvSpPr>
          <p:nvPr>
            <p:ph idx="1"/>
          </p:nvPr>
        </p:nvSpPr>
        <p:spPr>
          <a:xfrm>
            <a:off x="285308" y="1727928"/>
            <a:ext cx="4552506" cy="3657324"/>
          </a:xfrm>
        </p:spPr>
        <p:txBody>
          <a:bodyPr>
            <a:normAutofit/>
          </a:bodyPr>
          <a:lstStyle/>
          <a:p>
            <a:r>
              <a:rPr lang="en-GB" sz="3200" noProof="0" dirty="0">
                <a:solidFill>
                  <a:srgbClr val="D2DA8A"/>
                </a:solidFill>
                <a:highlight>
                  <a:srgbClr val="2F340E"/>
                </a:highlight>
                <a:latin typeface="Bahnschrift Condensed" panose="020B0502040204020203" pitchFamily="34" charset="0"/>
              </a:rPr>
              <a:t>Many organisms fall out of fast-slow continuum predictions </a:t>
            </a:r>
          </a:p>
          <a:p>
            <a:pPr marL="0" indent="0">
              <a:buNone/>
            </a:pPr>
            <a:r>
              <a:rPr lang="en-GB" sz="3200" noProof="0" dirty="0">
                <a:solidFill>
                  <a:srgbClr val="D2DA8A"/>
                </a:solidFill>
                <a:highlight>
                  <a:srgbClr val="2F340E"/>
                </a:highlight>
                <a:latin typeface="Bahnschrift Condensed" panose="020B0502040204020203" pitchFamily="34" charset="0"/>
                <a:sym typeface="Wingdings" panose="05000000000000000000" pitchFamily="2" charset="2"/>
              </a:rPr>
              <a:t> multiple axis are needed</a:t>
            </a:r>
          </a:p>
          <a:p>
            <a:pPr marL="0" indent="0">
              <a:buNone/>
            </a:pPr>
            <a:endParaRPr lang="en-GB" sz="3200" noProof="0" dirty="0">
              <a:solidFill>
                <a:srgbClr val="D2DA8A"/>
              </a:solidFill>
              <a:highlight>
                <a:srgbClr val="2F340E"/>
              </a:highlight>
            </a:endParaRPr>
          </a:p>
          <a:p>
            <a:r>
              <a:rPr lang="en-GB" noProof="0" dirty="0">
                <a:solidFill>
                  <a:srgbClr val="D2DA8A"/>
                </a:solidFill>
                <a:highlight>
                  <a:srgbClr val="2F340E"/>
                </a:highlight>
                <a:latin typeface="Bahnschrift Condensed" panose="020B0502040204020203" pitchFamily="34" charset="0"/>
              </a:rPr>
              <a:t>Developmental patterns</a:t>
            </a:r>
          </a:p>
          <a:p>
            <a:r>
              <a:rPr lang="en-GB" noProof="0" dirty="0">
                <a:solidFill>
                  <a:srgbClr val="D2DA8A"/>
                </a:solidFill>
                <a:highlight>
                  <a:srgbClr val="2F340E"/>
                </a:highlight>
                <a:latin typeface="Bahnschrift Condensed" panose="020B0502040204020203" pitchFamily="34" charset="0"/>
              </a:rPr>
              <a:t>Reproductive patterns</a:t>
            </a:r>
          </a:p>
          <a:p>
            <a:endParaRPr lang="en-GB" noProof="0" dirty="0"/>
          </a:p>
        </p:txBody>
      </p:sp>
      <p:sp>
        <p:nvSpPr>
          <p:cNvPr id="8" name="TextovéPole 7">
            <a:extLst>
              <a:ext uri="{FF2B5EF4-FFF2-40B4-BE49-F238E27FC236}">
                <a16:creationId xmlns:a16="http://schemas.microsoft.com/office/drawing/2014/main" id="{0A6CAA27-2404-1DC0-4454-087FA985F5BF}"/>
              </a:ext>
            </a:extLst>
          </p:cNvPr>
          <p:cNvSpPr txBox="1"/>
          <p:nvPr/>
        </p:nvSpPr>
        <p:spPr>
          <a:xfrm>
            <a:off x="10076121" y="6488668"/>
            <a:ext cx="2342708" cy="369332"/>
          </a:xfrm>
          <a:prstGeom prst="rect">
            <a:avLst/>
          </a:prstGeom>
          <a:noFill/>
        </p:spPr>
        <p:txBody>
          <a:bodyPr wrap="square">
            <a:spAutoFit/>
          </a:bodyPr>
          <a:lstStyle/>
          <a:p>
            <a:pPr lvl="0">
              <a:lnSpc>
                <a:spcPct val="100000"/>
              </a:lnSpc>
              <a:spcAft>
                <a:spcPts val="800"/>
              </a:spcAft>
            </a:pPr>
            <a:r>
              <a:rPr lang="en-GB" sz="1800" u="sng" kern="100" noProof="0" dirty="0">
                <a:solidFill>
                  <a:srgbClr val="D2DA8A"/>
                </a:solidFill>
                <a:effectLst/>
                <a:latin typeface="+mn-lt"/>
                <a:ea typeface="Aptos" panose="020B000402020202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www.lesaktualne.cz</a:t>
            </a:r>
            <a:endParaRPr lang="en-GB" sz="1200" kern="100" noProof="0" dirty="0">
              <a:solidFill>
                <a:srgbClr val="D2DA8A"/>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6373024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F340E"/>
        </a:solidFill>
        <a:effectLst/>
      </p:bgPr>
    </p:bg>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4B61BDB-790E-C82C-C9CC-8DDF62795B6A}"/>
              </a:ext>
            </a:extLst>
          </p:cNvPr>
          <p:cNvSpPr>
            <a:spLocks noGrp="1"/>
          </p:cNvSpPr>
          <p:nvPr>
            <p:ph type="title"/>
          </p:nvPr>
        </p:nvSpPr>
        <p:spPr>
          <a:xfrm>
            <a:off x="749300" y="-53182"/>
            <a:ext cx="10693400" cy="1325563"/>
          </a:xfrm>
        </p:spPr>
        <p:txBody>
          <a:bodyPr>
            <a:normAutofit fontScale="90000"/>
          </a:bodyPr>
          <a:lstStyle/>
          <a:p>
            <a:r>
              <a:rPr lang="en-GB" sz="4800" noProof="0" dirty="0">
                <a:solidFill>
                  <a:srgbClr val="D2DA8A"/>
                </a:solidFill>
                <a:latin typeface="Bahnschrift Condensed" panose="020B0502040204020203" pitchFamily="34" charset="0"/>
              </a:rPr>
              <a:t>High vs. low recruitment rates (stature–recruitment’ axis)</a:t>
            </a:r>
          </a:p>
        </p:txBody>
      </p:sp>
      <p:pic>
        <p:nvPicPr>
          <p:cNvPr id="2060" name="Obrázek 1">
            <a:extLst>
              <a:ext uri="{FF2B5EF4-FFF2-40B4-BE49-F238E27FC236}">
                <a16:creationId xmlns:a16="http://schemas.microsoft.com/office/drawing/2014/main" id="{E2B85989-062F-B3D7-26AB-CED9B8F4C6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381" r="7796"/>
          <a:stretch>
            <a:fillRect/>
          </a:stretch>
        </p:blipFill>
        <p:spPr bwMode="auto">
          <a:xfrm>
            <a:off x="-104246" y="1477963"/>
            <a:ext cx="5937748" cy="4457903"/>
          </a:xfrm>
          <a:prstGeom prst="rect">
            <a:avLst/>
          </a:prstGeom>
          <a:noFill/>
          <a:extLst>
            <a:ext uri="{909E8E84-426E-40DD-AFC4-6F175D3DCCD1}">
              <a14:hiddenFill xmlns:a14="http://schemas.microsoft.com/office/drawing/2010/main">
                <a:solidFill>
                  <a:srgbClr val="FFFFFF"/>
                </a:solidFill>
              </a14:hiddenFill>
            </a:ext>
          </a:extLst>
        </p:spPr>
      </p:pic>
      <p:pic>
        <p:nvPicPr>
          <p:cNvPr id="2061" name="Obrázek 4" descr="The Ceiba Tree • Ceiba Foundation">
            <a:extLst>
              <a:ext uri="{FF2B5EF4-FFF2-40B4-BE49-F238E27FC236}">
                <a16:creationId xmlns:a16="http://schemas.microsoft.com/office/drawing/2014/main" id="{B77D7F5C-350B-A09B-0854-5AE0D3BC20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7175" r="18425" b="8945"/>
          <a:stretch>
            <a:fillRect/>
          </a:stretch>
        </p:blipFill>
        <p:spPr bwMode="auto">
          <a:xfrm>
            <a:off x="5833502" y="1446459"/>
            <a:ext cx="6342723" cy="4761947"/>
          </a:xfrm>
          <a:prstGeom prst="rect">
            <a:avLst/>
          </a:prstGeom>
          <a:noFill/>
          <a:extLst>
            <a:ext uri="{909E8E84-426E-40DD-AFC4-6F175D3DCCD1}">
              <a14:hiddenFill xmlns:a14="http://schemas.microsoft.com/office/drawing/2010/main">
                <a:solidFill>
                  <a:srgbClr val="FFFFFF"/>
                </a:solidFill>
              </a14:hiddenFill>
            </a:ext>
          </a:extLst>
        </p:spPr>
      </p:pic>
      <p:sp>
        <p:nvSpPr>
          <p:cNvPr id="9" name="Textové pole 5">
            <a:extLst>
              <a:ext uri="{FF2B5EF4-FFF2-40B4-BE49-F238E27FC236}">
                <a16:creationId xmlns:a16="http://schemas.microsoft.com/office/drawing/2014/main" id="{01108919-A7A9-5865-B5C2-BC936AD7178A}"/>
              </a:ext>
            </a:extLst>
          </p:cNvPr>
          <p:cNvSpPr txBox="1">
            <a:spLocks noChangeArrowheads="1"/>
          </p:cNvSpPr>
          <p:nvPr/>
        </p:nvSpPr>
        <p:spPr bwMode="auto">
          <a:xfrm>
            <a:off x="308427" y="5703638"/>
            <a:ext cx="5112402" cy="973833"/>
          </a:xfrm>
          <a:prstGeom prst="rect">
            <a:avLst/>
          </a:prstGeom>
          <a:noFill/>
          <a:ln>
            <a:noFill/>
          </a:ln>
        </p:spPr>
        <p:txBody>
          <a:bodyPr vert="horz" wrap="square" lIns="91440" tIns="45720" rIns="91440" bIns="45720" numCol="1" anchor="t" anchorCtr="0" compatLnSpc="1">
            <a:prstTxWarp prst="textNoShape">
              <a:avLst/>
            </a:prstTxWarp>
          </a:bodyPr>
          <a:lstStyle/>
          <a:p>
            <a:pPr algn="ctr" eaLnBrk="0" fontAlgn="base" hangingPunct="0">
              <a:spcBef>
                <a:spcPct val="0"/>
              </a:spcBef>
              <a:spcAft>
                <a:spcPct val="0"/>
              </a:spcAft>
            </a:pPr>
            <a:r>
              <a:rPr lang="en-GB" sz="2400" noProof="0" dirty="0" err="1">
                <a:solidFill>
                  <a:srgbClr val="D2DA8A"/>
                </a:solidFill>
                <a:highlight>
                  <a:srgbClr val="000000"/>
                </a:highlight>
                <a:latin typeface="Bahnschrift Condensed" panose="020B0502040204020203" pitchFamily="34" charset="0"/>
                <a:ea typeface="+mj-ea"/>
                <a:cs typeface="+mj-cs"/>
              </a:rPr>
              <a:t>Psychotria</a:t>
            </a:r>
            <a:r>
              <a:rPr lang="en-GB" sz="2400" noProof="0" dirty="0">
                <a:solidFill>
                  <a:srgbClr val="D2DA8A"/>
                </a:solidFill>
                <a:highlight>
                  <a:srgbClr val="000000"/>
                </a:highlight>
                <a:latin typeface="Bahnschrift Condensed" panose="020B0502040204020203" pitchFamily="34" charset="0"/>
                <a:ea typeface="+mj-ea"/>
                <a:cs typeface="+mj-cs"/>
              </a:rPr>
              <a:t> </a:t>
            </a:r>
            <a:r>
              <a:rPr lang="en-GB" sz="2400" noProof="0" dirty="0" err="1">
                <a:solidFill>
                  <a:srgbClr val="D2DA8A"/>
                </a:solidFill>
                <a:highlight>
                  <a:srgbClr val="000000"/>
                </a:highlight>
                <a:latin typeface="Bahnschrift Condensed" panose="020B0502040204020203" pitchFamily="34" charset="0"/>
                <a:ea typeface="+mj-ea"/>
                <a:cs typeface="+mj-cs"/>
              </a:rPr>
              <a:t>horizontalis</a:t>
            </a:r>
            <a:r>
              <a:rPr lang="en-GB" sz="2400" noProof="0" dirty="0">
                <a:solidFill>
                  <a:srgbClr val="D2DA8A"/>
                </a:solidFill>
                <a:highlight>
                  <a:srgbClr val="000000"/>
                </a:highlight>
                <a:latin typeface="Bahnschrift Condensed" panose="020B0502040204020203" pitchFamily="34" charset="0"/>
                <a:ea typeface="+mj-ea"/>
                <a:cs typeface="+mj-cs"/>
              </a:rPr>
              <a:t> (picture: </a:t>
            </a:r>
            <a:r>
              <a:rPr lang="en-GB" sz="2400" noProof="0" dirty="0">
                <a:solidFill>
                  <a:srgbClr val="D2DA8A"/>
                </a:solidFill>
                <a:highlight>
                  <a:srgbClr val="000000"/>
                </a:highlight>
                <a:latin typeface="Bahnschrift Condensed" panose="020B0502040204020203" pitchFamily="34" charset="0"/>
                <a:ea typeface="+mj-ea"/>
                <a:cs typeface="+mj-cs"/>
                <a:hlinkClick r:id="rId5">
                  <a:extLst>
                    <a:ext uri="{A12FA001-AC4F-418D-AE19-62706E023703}">
                      <ahyp:hlinkClr xmlns:ahyp="http://schemas.microsoft.com/office/drawing/2018/hyperlinkcolor" val="tx"/>
                    </a:ext>
                  </a:extLst>
                </a:hlinkClick>
              </a:rPr>
              <a:t>Wikipedia</a:t>
            </a:r>
            <a:r>
              <a:rPr lang="en-GB" sz="2400" noProof="0" dirty="0">
                <a:solidFill>
                  <a:srgbClr val="D2DA8A"/>
                </a:solidFill>
                <a:highlight>
                  <a:srgbClr val="000000"/>
                </a:highlight>
                <a:latin typeface="Bahnschrift Condensed" panose="020B0502040204020203" pitchFamily="34" charset="0"/>
                <a:ea typeface="+mj-ea"/>
                <a:cs typeface="+mj-cs"/>
              </a:rPr>
              <a:t>) – high recruitment rate (low juvenile mortality)</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noProof="0" dirty="0">
              <a:ln>
                <a:noFill/>
              </a:ln>
              <a:solidFill>
                <a:schemeClr val="tx1"/>
              </a:solidFill>
              <a:effectLst/>
              <a:latin typeface="Arial" panose="020B0604020202020204" pitchFamily="34" charset="0"/>
            </a:endParaRPr>
          </a:p>
        </p:txBody>
      </p:sp>
      <p:sp>
        <p:nvSpPr>
          <p:cNvPr id="10" name="Text Box 11">
            <a:extLst>
              <a:ext uri="{FF2B5EF4-FFF2-40B4-BE49-F238E27FC236}">
                <a16:creationId xmlns:a16="http://schemas.microsoft.com/office/drawing/2014/main" id="{AEA1D172-171F-9076-D2D3-94FAB952543B}"/>
              </a:ext>
            </a:extLst>
          </p:cNvPr>
          <p:cNvSpPr txBox="1">
            <a:spLocks noChangeArrowheads="1"/>
          </p:cNvSpPr>
          <p:nvPr/>
        </p:nvSpPr>
        <p:spPr bwMode="auto">
          <a:xfrm>
            <a:off x="5953523" y="5670922"/>
            <a:ext cx="6080225" cy="711562"/>
          </a:xfrm>
          <a:prstGeom prst="rect">
            <a:avLst/>
          </a:prstGeom>
          <a:noFill/>
          <a:ln>
            <a:noFill/>
          </a:ln>
        </p:spPr>
        <p:txBody>
          <a:bodyPr vert="horz" wrap="square" lIns="91440" tIns="45720" rIns="91440" bIns="45720" numCol="1" anchor="t" anchorCtr="0" compatLnSpc="1">
            <a:prstTxWarp prst="textNoShape">
              <a:avLst/>
            </a:prstTxWarp>
          </a:bodyPr>
          <a:lstStyle/>
          <a:p>
            <a:pPr marR="0" lvl="0" indent="0" algn="ctr" eaLnBrk="0" fontAlgn="base" hangingPunct="0">
              <a:lnSpc>
                <a:spcPct val="100000"/>
              </a:lnSpc>
              <a:spcBef>
                <a:spcPct val="0"/>
              </a:spcBef>
              <a:spcAft>
                <a:spcPct val="0"/>
              </a:spcAft>
              <a:buClrTx/>
              <a:buSzTx/>
              <a:buFontTx/>
              <a:buNone/>
              <a:tabLst/>
            </a:pPr>
            <a:r>
              <a:rPr lang="en-GB" sz="2400" noProof="0" dirty="0">
                <a:solidFill>
                  <a:srgbClr val="D2DA8A"/>
                </a:solidFill>
                <a:highlight>
                  <a:srgbClr val="000000"/>
                </a:highlight>
                <a:latin typeface="Bahnschrift Condensed" panose="020B0502040204020203" pitchFamily="34" charset="0"/>
                <a:ea typeface="+mj-ea"/>
                <a:cs typeface="+mj-cs"/>
              </a:rPr>
              <a:t>Ceiba pentandra (kapok tree) (picture: </a:t>
            </a:r>
            <a:r>
              <a:rPr lang="en-GB" sz="2400" noProof="0" dirty="0">
                <a:solidFill>
                  <a:srgbClr val="D2DA8A"/>
                </a:solidFill>
                <a:highlight>
                  <a:srgbClr val="000000"/>
                </a:highlight>
                <a:latin typeface="Bahnschrift Condensed" panose="020B0502040204020203" pitchFamily="34" charset="0"/>
                <a:ea typeface="+mj-ea"/>
                <a:cs typeface="+mj-cs"/>
                <a:hlinkClick r:id="rId6">
                  <a:extLst>
                    <a:ext uri="{A12FA001-AC4F-418D-AE19-62706E023703}">
                      <ahyp:hlinkClr xmlns:ahyp="http://schemas.microsoft.com/office/drawing/2018/hyperlinkcolor" val="tx"/>
                    </a:ext>
                  </a:extLst>
                </a:hlinkClick>
              </a:rPr>
              <a:t>Ceiba foundation</a:t>
            </a:r>
            <a:r>
              <a:rPr lang="en-GB" sz="2400" noProof="0" dirty="0">
                <a:solidFill>
                  <a:srgbClr val="D2DA8A"/>
                </a:solidFill>
                <a:highlight>
                  <a:srgbClr val="000000"/>
                </a:highlight>
                <a:latin typeface="Bahnschrift Condensed" panose="020B0502040204020203" pitchFamily="34" charset="0"/>
                <a:ea typeface="+mj-ea"/>
                <a:cs typeface="+mj-cs"/>
              </a:rPr>
              <a:t>) – low recruitment rate (high juvenile mortality)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noProof="0" dirty="0">
              <a:ln>
                <a:noFill/>
              </a:ln>
              <a:solidFill>
                <a:schemeClr val="tx1"/>
              </a:solidFill>
              <a:effectLst/>
              <a:latin typeface="Arial" panose="020B0604020202020204" pitchFamily="34" charset="0"/>
            </a:endParaRPr>
          </a:p>
        </p:txBody>
      </p:sp>
      <p:sp>
        <p:nvSpPr>
          <p:cNvPr id="11" name="Rectangle 14">
            <a:extLst>
              <a:ext uri="{FF2B5EF4-FFF2-40B4-BE49-F238E27FC236}">
                <a16:creationId xmlns:a16="http://schemas.microsoft.com/office/drawing/2014/main" id="{B324329A-F23D-5763-873E-C8ADD02D416F}"/>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noProof="0" dirty="0">
              <a:ln>
                <a:noFill/>
              </a:ln>
              <a:solidFill>
                <a:schemeClr val="tx1"/>
              </a:solidFill>
              <a:effectLst/>
              <a:latin typeface="Arial" panose="020B0604020202020204" pitchFamily="34" charset="0"/>
            </a:endParaRPr>
          </a:p>
        </p:txBody>
      </p:sp>
      <p:sp>
        <p:nvSpPr>
          <p:cNvPr id="12" name="Rectangle 15">
            <a:extLst>
              <a:ext uri="{FF2B5EF4-FFF2-40B4-BE49-F238E27FC236}">
                <a16:creationId xmlns:a16="http://schemas.microsoft.com/office/drawing/2014/main" id="{F247F18A-C780-AB91-D7B4-E21757D0628E}"/>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13" name="Rectangle 18">
            <a:extLst>
              <a:ext uri="{FF2B5EF4-FFF2-40B4-BE49-F238E27FC236}">
                <a16:creationId xmlns:a16="http://schemas.microsoft.com/office/drawing/2014/main" id="{B1C8811C-2C27-4D67-1354-F2FF1874DF72}"/>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4" name="Textové pole 5">
            <a:extLst>
              <a:ext uri="{FF2B5EF4-FFF2-40B4-BE49-F238E27FC236}">
                <a16:creationId xmlns:a16="http://schemas.microsoft.com/office/drawing/2014/main" id="{87783EC2-4A23-4894-8B13-1DC457AA9D12}"/>
              </a:ext>
            </a:extLst>
          </p:cNvPr>
          <p:cNvSpPr txBox="1">
            <a:spLocks noChangeArrowheads="1"/>
          </p:cNvSpPr>
          <p:nvPr/>
        </p:nvSpPr>
        <p:spPr bwMode="auto">
          <a:xfrm>
            <a:off x="-1527068" y="929866"/>
            <a:ext cx="10531931" cy="973833"/>
          </a:xfrm>
          <a:prstGeom prst="rect">
            <a:avLst/>
          </a:prstGeom>
          <a:noFill/>
          <a:ln>
            <a:noFill/>
          </a:ln>
        </p:spPr>
        <p:txBody>
          <a:bodyPr vert="horz" wrap="square" lIns="91440" tIns="45720" rIns="91440" bIns="45720" numCol="1" anchor="t" anchorCtr="0" compatLnSpc="1">
            <a:prstTxWarp prst="textNoShape">
              <a:avLst/>
            </a:prstTxWarp>
          </a:bodyPr>
          <a:lstStyle/>
          <a:p>
            <a:pPr algn="ctr" eaLnBrk="0" fontAlgn="base" hangingPunct="0">
              <a:spcBef>
                <a:spcPct val="0"/>
              </a:spcBef>
              <a:spcAft>
                <a:spcPct val="0"/>
              </a:spcAft>
            </a:pPr>
            <a:r>
              <a:rPr lang="en-GB" noProof="0" dirty="0">
                <a:solidFill>
                  <a:srgbClr val="D2DA8A"/>
                </a:solidFill>
                <a:latin typeface="Bahnschrift SemiLight SemiConde" panose="020B0502040204020203" pitchFamily="34" charset="0"/>
                <a:sym typeface="Wingdings" panose="05000000000000000000" pitchFamily="2" charset="2"/>
              </a:rPr>
              <a:t> </a:t>
            </a:r>
            <a:r>
              <a:rPr lang="en-GB" noProof="0" dirty="0">
                <a:solidFill>
                  <a:srgbClr val="D2DA8A"/>
                </a:solidFill>
                <a:latin typeface="Bahnschrift SemiLight SemiConde" panose="020B0502040204020203" pitchFamily="34" charset="0"/>
              </a:rPr>
              <a:t>rate of the addition of new individuals to a defined segment of a population</a:t>
            </a:r>
            <a:endParaRPr kumimoji="0" lang="en-GB" b="0" i="0" u="none" strike="noStrike" cap="none" normalizeH="0" baseline="0" noProof="0" dirty="0">
              <a:ln>
                <a:noFill/>
              </a:ln>
              <a:solidFill>
                <a:srgbClr val="D2DA8A"/>
              </a:solidFill>
              <a:effectLst/>
              <a:latin typeface="Bahnschrift SemiLight SemiConde" panose="020B0502040204020203" pitchFamily="34" charset="0"/>
            </a:endParaRPr>
          </a:p>
        </p:txBody>
      </p:sp>
    </p:spTree>
    <p:extLst>
      <p:ext uri="{BB962C8B-B14F-4D97-AF65-F5344CB8AC3E}">
        <p14:creationId xmlns:p14="http://schemas.microsoft.com/office/powerpoint/2010/main" val="138489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F340E"/>
        </a:solidFill>
        <a:effectLst/>
      </p:bgPr>
    </p:bg>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4B1167A9-2130-83BD-663B-4DDA670C70B6}"/>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8800"/>
                    </a14:imgEffect>
                  </a14:imgLayer>
                </a14:imgProps>
              </a:ext>
            </a:extLst>
          </a:blip>
          <a:srcRect l="-1" t="28670" r="51381" b="3642"/>
          <a:stretch>
            <a:fillRect/>
          </a:stretch>
        </p:blipFill>
        <p:spPr>
          <a:xfrm>
            <a:off x="34808" y="916661"/>
            <a:ext cx="5986762" cy="4916082"/>
          </a:xfrm>
          <a:prstGeom prst="rect">
            <a:avLst/>
          </a:prstGeom>
        </p:spPr>
      </p:pic>
      <p:pic>
        <p:nvPicPr>
          <p:cNvPr id="9" name="Obrázek 8">
            <a:extLst>
              <a:ext uri="{FF2B5EF4-FFF2-40B4-BE49-F238E27FC236}">
                <a16:creationId xmlns:a16="http://schemas.microsoft.com/office/drawing/2014/main" id="{DE2FBC65-4AC5-1A49-A53A-6E259A0D02F2}"/>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8800"/>
                    </a14:imgEffect>
                  </a14:imgLayer>
                </a14:imgProps>
              </a:ext>
            </a:extLst>
          </a:blip>
          <a:srcRect l="50823" t="28670" r="-300" b="3642"/>
          <a:stretch>
            <a:fillRect/>
          </a:stretch>
        </p:blipFill>
        <p:spPr>
          <a:xfrm>
            <a:off x="6103234" y="916662"/>
            <a:ext cx="6092321" cy="4916081"/>
          </a:xfrm>
          <a:prstGeom prst="rect">
            <a:avLst/>
          </a:prstGeom>
        </p:spPr>
      </p:pic>
      <p:sp>
        <p:nvSpPr>
          <p:cNvPr id="11" name="Nadpis 1">
            <a:extLst>
              <a:ext uri="{FF2B5EF4-FFF2-40B4-BE49-F238E27FC236}">
                <a16:creationId xmlns:a16="http://schemas.microsoft.com/office/drawing/2014/main" id="{24A8B15D-0D66-19D4-BBE3-FB15CBE7E459}"/>
              </a:ext>
            </a:extLst>
          </p:cNvPr>
          <p:cNvSpPr txBox="1">
            <a:spLocks/>
          </p:cNvSpPr>
          <p:nvPr/>
        </p:nvSpPr>
        <p:spPr>
          <a:xfrm>
            <a:off x="1346354" y="-31651"/>
            <a:ext cx="50419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noProof="0" dirty="0">
                <a:solidFill>
                  <a:srgbClr val="D2DA8A"/>
                </a:solidFill>
                <a:highlight>
                  <a:srgbClr val="000000"/>
                </a:highlight>
                <a:latin typeface="Bahnschrift Condensed" panose="020B0502040204020203" pitchFamily="34" charset="0"/>
              </a:rPr>
              <a:t>Altricial offspring</a:t>
            </a:r>
          </a:p>
        </p:txBody>
      </p:sp>
      <p:sp>
        <p:nvSpPr>
          <p:cNvPr id="12" name="Nadpis 1">
            <a:extLst>
              <a:ext uri="{FF2B5EF4-FFF2-40B4-BE49-F238E27FC236}">
                <a16:creationId xmlns:a16="http://schemas.microsoft.com/office/drawing/2014/main" id="{EE9CB668-B5C0-2E5A-5D13-703C62E30E6D}"/>
              </a:ext>
            </a:extLst>
          </p:cNvPr>
          <p:cNvSpPr txBox="1">
            <a:spLocks/>
          </p:cNvSpPr>
          <p:nvPr/>
        </p:nvSpPr>
        <p:spPr>
          <a:xfrm>
            <a:off x="5302248" y="0"/>
            <a:ext cx="1765301" cy="11382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noProof="0" dirty="0">
                <a:solidFill>
                  <a:srgbClr val="D2DA8A"/>
                </a:solidFill>
                <a:latin typeface="Bahnschrift Condensed" panose="020B0502040204020203" pitchFamily="34" charset="0"/>
              </a:rPr>
              <a:t>vs. </a:t>
            </a:r>
          </a:p>
        </p:txBody>
      </p:sp>
      <p:sp>
        <p:nvSpPr>
          <p:cNvPr id="14" name="TextovéPole 13">
            <a:extLst>
              <a:ext uri="{FF2B5EF4-FFF2-40B4-BE49-F238E27FC236}">
                <a16:creationId xmlns:a16="http://schemas.microsoft.com/office/drawing/2014/main" id="{59D8DA93-F50F-A04F-E754-71C23368E86E}"/>
              </a:ext>
            </a:extLst>
          </p:cNvPr>
          <p:cNvSpPr txBox="1"/>
          <p:nvPr/>
        </p:nvSpPr>
        <p:spPr>
          <a:xfrm>
            <a:off x="6388254" y="5494189"/>
            <a:ext cx="1295400" cy="338554"/>
          </a:xfrm>
          <a:prstGeom prst="rect">
            <a:avLst/>
          </a:prstGeom>
          <a:noFill/>
        </p:spPr>
        <p:txBody>
          <a:bodyPr wrap="square">
            <a:spAutoFit/>
          </a:bodyPr>
          <a:lstStyle/>
          <a:p>
            <a:r>
              <a:rPr lang="en-GB" sz="1600" noProof="0" dirty="0">
                <a:hlinkClick r:id="rId5"/>
              </a:rPr>
              <a:t>Wikipedia</a:t>
            </a:r>
            <a:endParaRPr lang="en-GB" sz="1600" noProof="0" dirty="0"/>
          </a:p>
        </p:txBody>
      </p:sp>
      <p:sp>
        <p:nvSpPr>
          <p:cNvPr id="16" name="TextovéPole 15">
            <a:extLst>
              <a:ext uri="{FF2B5EF4-FFF2-40B4-BE49-F238E27FC236}">
                <a16:creationId xmlns:a16="http://schemas.microsoft.com/office/drawing/2014/main" id="{8C9D12BE-090D-5D88-F777-3E0110AF99BE}"/>
              </a:ext>
            </a:extLst>
          </p:cNvPr>
          <p:cNvSpPr txBox="1"/>
          <p:nvPr/>
        </p:nvSpPr>
        <p:spPr>
          <a:xfrm>
            <a:off x="50954" y="5402312"/>
            <a:ext cx="1295400" cy="338554"/>
          </a:xfrm>
          <a:prstGeom prst="rect">
            <a:avLst/>
          </a:prstGeom>
          <a:noFill/>
        </p:spPr>
        <p:txBody>
          <a:bodyPr wrap="square">
            <a:spAutoFit/>
          </a:bodyPr>
          <a:lstStyle/>
          <a:p>
            <a:r>
              <a:rPr lang="en-GB" sz="1600" noProof="0" dirty="0">
                <a:hlinkClick r:id="rId5"/>
              </a:rPr>
              <a:t>Wikipedia</a:t>
            </a:r>
            <a:endParaRPr lang="en-GB" sz="1600" noProof="0" dirty="0"/>
          </a:p>
        </p:txBody>
      </p:sp>
      <p:sp>
        <p:nvSpPr>
          <p:cNvPr id="2" name="Nadpis 1">
            <a:extLst>
              <a:ext uri="{FF2B5EF4-FFF2-40B4-BE49-F238E27FC236}">
                <a16:creationId xmlns:a16="http://schemas.microsoft.com/office/drawing/2014/main" id="{126D4BDF-3FEF-7458-CD21-14E8D1FBD7A0}"/>
              </a:ext>
            </a:extLst>
          </p:cNvPr>
          <p:cNvSpPr>
            <a:spLocks noGrp="1"/>
          </p:cNvSpPr>
          <p:nvPr>
            <p:ph type="title"/>
          </p:nvPr>
        </p:nvSpPr>
        <p:spPr>
          <a:xfrm>
            <a:off x="6551582" y="0"/>
            <a:ext cx="4025897" cy="1325563"/>
          </a:xfrm>
        </p:spPr>
        <p:txBody>
          <a:bodyPr/>
          <a:lstStyle/>
          <a:p>
            <a:pPr algn="ctr"/>
            <a:r>
              <a:rPr lang="en-GB" noProof="0" dirty="0">
                <a:solidFill>
                  <a:srgbClr val="D2DA8A"/>
                </a:solidFill>
                <a:highlight>
                  <a:srgbClr val="EA688D"/>
                </a:highlight>
                <a:latin typeface="Bahnschrift Condensed" panose="020B0502040204020203" pitchFamily="34" charset="0"/>
              </a:rPr>
              <a:t>Precocial offspring</a:t>
            </a:r>
          </a:p>
        </p:txBody>
      </p:sp>
    </p:spTree>
    <p:extLst>
      <p:ext uri="{BB962C8B-B14F-4D97-AF65-F5344CB8AC3E}">
        <p14:creationId xmlns:p14="http://schemas.microsoft.com/office/powerpoint/2010/main" val="2697287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F340E"/>
        </a:solidFill>
        <a:effectLst/>
      </p:bgPr>
    </p:bg>
    <p:spTree>
      <p:nvGrpSpPr>
        <p:cNvPr id="1" name=""/>
        <p:cNvGrpSpPr/>
        <p:nvPr/>
      </p:nvGrpSpPr>
      <p:grpSpPr>
        <a:xfrm>
          <a:off x="0" y="0"/>
          <a:ext cx="0" cy="0"/>
          <a:chOff x="0" y="0"/>
          <a:chExt cx="0" cy="0"/>
        </a:xfrm>
      </p:grpSpPr>
      <p:pic>
        <p:nvPicPr>
          <p:cNvPr id="4" name="Obrázek 3">
            <a:extLst>
              <a:ext uri="{FF2B5EF4-FFF2-40B4-BE49-F238E27FC236}">
                <a16:creationId xmlns:a16="http://schemas.microsoft.com/office/drawing/2014/main" id="{D3BE82B3-7F4C-FB0E-D042-386F82D95899}"/>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t="6000" b="19000"/>
          <a:stretch>
            <a:fillRect/>
          </a:stretch>
        </p:blipFill>
        <p:spPr>
          <a:xfrm>
            <a:off x="0" y="0"/>
            <a:ext cx="12192000" cy="6858000"/>
          </a:xfrm>
          <a:prstGeom prst="rect">
            <a:avLst/>
          </a:prstGeom>
        </p:spPr>
      </p:pic>
      <p:sp>
        <p:nvSpPr>
          <p:cNvPr id="3" name="Zástupný obsah 2">
            <a:extLst>
              <a:ext uri="{FF2B5EF4-FFF2-40B4-BE49-F238E27FC236}">
                <a16:creationId xmlns:a16="http://schemas.microsoft.com/office/drawing/2014/main" id="{22A45B47-FE8D-02B6-D794-267BBA8F4575}"/>
              </a:ext>
            </a:extLst>
          </p:cNvPr>
          <p:cNvSpPr>
            <a:spLocks noGrp="1"/>
          </p:cNvSpPr>
          <p:nvPr>
            <p:ph idx="1"/>
          </p:nvPr>
        </p:nvSpPr>
        <p:spPr>
          <a:xfrm>
            <a:off x="774404" y="717306"/>
            <a:ext cx="10900144" cy="5917410"/>
          </a:xfrm>
        </p:spPr>
        <p:txBody>
          <a:bodyPr>
            <a:normAutofit/>
          </a:bodyPr>
          <a:lstStyle/>
          <a:p>
            <a:pPr marL="0" indent="0">
              <a:buNone/>
            </a:pPr>
            <a:r>
              <a:rPr lang="en-GB" sz="5400" b="1" noProof="0" dirty="0">
                <a:solidFill>
                  <a:srgbClr val="D2DA8A"/>
                </a:solidFill>
                <a:highlight>
                  <a:srgbClr val="000000"/>
                </a:highlight>
                <a:latin typeface="Bahnschrift Condensed" panose="020B0502040204020203" pitchFamily="34" charset="0"/>
                <a:ea typeface="+mj-ea"/>
                <a:cs typeface="+mj-cs"/>
              </a:rPr>
              <a:t>Conclusion</a:t>
            </a:r>
            <a:r>
              <a:rPr lang="en-GB" sz="5400" noProof="0" dirty="0">
                <a:solidFill>
                  <a:srgbClr val="D2DA8A"/>
                </a:solidFill>
                <a:highlight>
                  <a:srgbClr val="000000"/>
                </a:highlight>
                <a:latin typeface="Bahnschrift Condensed" panose="020B0502040204020203" pitchFamily="34" charset="0"/>
                <a:ea typeface="+mj-ea"/>
                <a:cs typeface="+mj-cs"/>
              </a:rPr>
              <a:t>: The fast-slow continuum works as the main axis for certain taxa, but we still need </a:t>
            </a:r>
            <a:r>
              <a:rPr lang="en-GB" sz="5400" b="1" noProof="0" dirty="0">
                <a:solidFill>
                  <a:srgbClr val="D2DA8A"/>
                </a:solidFill>
                <a:highlight>
                  <a:srgbClr val="000000"/>
                </a:highlight>
                <a:latin typeface="Bahnschrift Condensed" panose="020B0502040204020203" pitchFamily="34" charset="0"/>
                <a:ea typeface="+mj-ea"/>
                <a:cs typeface="+mj-cs"/>
              </a:rPr>
              <a:t>multiple different </a:t>
            </a:r>
            <a:r>
              <a:rPr lang="en-GB" sz="5400" noProof="0" dirty="0">
                <a:solidFill>
                  <a:srgbClr val="D2DA8A"/>
                </a:solidFill>
                <a:highlight>
                  <a:srgbClr val="000000"/>
                </a:highlight>
                <a:latin typeface="Bahnschrift Condensed" panose="020B0502040204020203" pitchFamily="34" charset="0"/>
                <a:ea typeface="+mj-ea"/>
                <a:cs typeface="+mj-cs"/>
              </a:rPr>
              <a:t>axis to define all of the variation across taxa.</a:t>
            </a:r>
          </a:p>
          <a:p>
            <a:endParaRPr lang="en-GB" sz="1800" noProof="0" dirty="0">
              <a:solidFill>
                <a:schemeClr val="accent6">
                  <a:lumMod val="50000"/>
                </a:schemeClr>
              </a:solidFill>
              <a:latin typeface="Bahnschrift Condensed" panose="020B0502040204020203" pitchFamily="34" charset="0"/>
              <a:ea typeface="+mj-ea"/>
              <a:cs typeface="+mj-cs"/>
            </a:endParaRPr>
          </a:p>
          <a:p>
            <a:endParaRPr lang="en-GB" sz="1600" noProof="0" dirty="0"/>
          </a:p>
        </p:txBody>
      </p:sp>
    </p:spTree>
    <p:extLst>
      <p:ext uri="{BB962C8B-B14F-4D97-AF65-F5344CB8AC3E}">
        <p14:creationId xmlns:p14="http://schemas.microsoft.com/office/powerpoint/2010/main" val="18029215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F340E"/>
        </a:solidFill>
        <a:effectLst/>
      </p:bgPr>
    </p:bg>
    <p:spTree>
      <p:nvGrpSpPr>
        <p:cNvPr id="1" name="">
          <a:extLst>
            <a:ext uri="{FF2B5EF4-FFF2-40B4-BE49-F238E27FC236}">
              <a16:creationId xmlns:a16="http://schemas.microsoft.com/office/drawing/2014/main" id="{10A4C3EE-DBB7-E7F5-4B0E-F9E4AA7ABD65}"/>
            </a:ext>
          </a:extLst>
        </p:cNvPr>
        <p:cNvGrpSpPr/>
        <p:nvPr/>
      </p:nvGrpSpPr>
      <p:grpSpPr>
        <a:xfrm>
          <a:off x="0" y="0"/>
          <a:ext cx="0" cy="0"/>
          <a:chOff x="0" y="0"/>
          <a:chExt cx="0" cy="0"/>
        </a:xfrm>
      </p:grpSpPr>
      <p:pic>
        <p:nvPicPr>
          <p:cNvPr id="4" name="Obrázek 3">
            <a:extLst>
              <a:ext uri="{FF2B5EF4-FFF2-40B4-BE49-F238E27FC236}">
                <a16:creationId xmlns:a16="http://schemas.microsoft.com/office/drawing/2014/main" id="{3125EB46-0341-4750-63DD-DA1891C25667}"/>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t="6000" b="19000"/>
          <a:stretch>
            <a:fillRect/>
          </a:stretch>
        </p:blipFill>
        <p:spPr>
          <a:xfrm>
            <a:off x="0" y="0"/>
            <a:ext cx="12192000" cy="6858000"/>
          </a:xfrm>
          <a:prstGeom prst="rect">
            <a:avLst/>
          </a:prstGeom>
        </p:spPr>
      </p:pic>
      <p:sp>
        <p:nvSpPr>
          <p:cNvPr id="3" name="Zástupný obsah 2">
            <a:extLst>
              <a:ext uri="{FF2B5EF4-FFF2-40B4-BE49-F238E27FC236}">
                <a16:creationId xmlns:a16="http://schemas.microsoft.com/office/drawing/2014/main" id="{6D082C6F-11B7-F19C-B7B1-36C87D50998D}"/>
              </a:ext>
            </a:extLst>
          </p:cNvPr>
          <p:cNvSpPr>
            <a:spLocks noGrp="1"/>
          </p:cNvSpPr>
          <p:nvPr>
            <p:ph idx="1"/>
          </p:nvPr>
        </p:nvSpPr>
        <p:spPr>
          <a:xfrm>
            <a:off x="4257162" y="2351234"/>
            <a:ext cx="3677675" cy="1516228"/>
          </a:xfrm>
        </p:spPr>
        <p:txBody>
          <a:bodyPr>
            <a:normAutofit fontScale="85000" lnSpcReduction="10000"/>
          </a:bodyPr>
          <a:lstStyle/>
          <a:p>
            <a:pPr marL="0" indent="0">
              <a:buNone/>
            </a:pPr>
            <a:r>
              <a:rPr lang="cs-CZ" sz="7800" b="1" noProof="0" dirty="0">
                <a:solidFill>
                  <a:srgbClr val="D2DA8A"/>
                </a:solidFill>
                <a:highlight>
                  <a:srgbClr val="000000"/>
                </a:highlight>
                <a:latin typeface="Bahnschrift Condensed" panose="020B0502040204020203" pitchFamily="34" charset="0"/>
                <a:ea typeface="+mj-ea"/>
                <a:cs typeface="+mj-cs"/>
              </a:rPr>
              <a:t>QUESTIONS</a:t>
            </a:r>
            <a:r>
              <a:rPr lang="cs-CZ" sz="7800" b="1" dirty="0">
                <a:solidFill>
                  <a:srgbClr val="D2DA8A"/>
                </a:solidFill>
                <a:highlight>
                  <a:srgbClr val="000000"/>
                </a:highlight>
                <a:latin typeface="Bahnschrift Condensed" panose="020B0502040204020203" pitchFamily="34" charset="0"/>
                <a:ea typeface="+mj-ea"/>
                <a:cs typeface="+mj-cs"/>
              </a:rPr>
              <a:t>?</a:t>
            </a:r>
            <a:endParaRPr lang="en-GB" sz="7800" noProof="0" dirty="0">
              <a:solidFill>
                <a:srgbClr val="D2DA8A"/>
              </a:solidFill>
              <a:highlight>
                <a:srgbClr val="000000"/>
              </a:highlight>
              <a:latin typeface="Bahnschrift Condensed" panose="020B0502040204020203" pitchFamily="34" charset="0"/>
              <a:ea typeface="+mj-ea"/>
              <a:cs typeface="+mj-cs"/>
            </a:endParaRPr>
          </a:p>
          <a:p>
            <a:endParaRPr lang="en-GB" sz="1800" noProof="0" dirty="0">
              <a:solidFill>
                <a:schemeClr val="accent6">
                  <a:lumMod val="50000"/>
                </a:schemeClr>
              </a:solidFill>
              <a:latin typeface="Bahnschrift Condensed" panose="020B0502040204020203" pitchFamily="34" charset="0"/>
              <a:ea typeface="+mj-ea"/>
              <a:cs typeface="+mj-cs"/>
            </a:endParaRPr>
          </a:p>
          <a:p>
            <a:endParaRPr lang="en-GB" sz="1600" noProof="0" dirty="0"/>
          </a:p>
        </p:txBody>
      </p:sp>
    </p:spTree>
    <p:extLst>
      <p:ext uri="{BB962C8B-B14F-4D97-AF65-F5344CB8AC3E}">
        <p14:creationId xmlns:p14="http://schemas.microsoft.com/office/powerpoint/2010/main" val="2205710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F340E"/>
        </a:solidFill>
        <a:effectLst/>
      </p:bgPr>
    </p:bg>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410B622-6166-F866-F525-B87AC7ACA6D0}"/>
              </a:ext>
            </a:extLst>
          </p:cNvPr>
          <p:cNvSpPr>
            <a:spLocks noGrp="1"/>
          </p:cNvSpPr>
          <p:nvPr>
            <p:ph type="title"/>
          </p:nvPr>
        </p:nvSpPr>
        <p:spPr>
          <a:xfrm>
            <a:off x="0" y="0"/>
            <a:ext cx="10515600" cy="654206"/>
          </a:xfrm>
        </p:spPr>
        <p:txBody>
          <a:bodyPr>
            <a:normAutofit fontScale="90000"/>
          </a:bodyPr>
          <a:lstStyle/>
          <a:p>
            <a:r>
              <a:rPr lang="cs-CZ" dirty="0" err="1">
                <a:solidFill>
                  <a:srgbClr val="D2DA8A"/>
                </a:solidFill>
                <a:latin typeface="Bahnschrift SemiBold Condensed" panose="020B0502040204020203" pitchFamily="34" charset="0"/>
              </a:rPr>
              <a:t>Resources</a:t>
            </a:r>
            <a:endParaRPr lang="en-GB" dirty="0">
              <a:solidFill>
                <a:srgbClr val="D2DA8A"/>
              </a:solidFill>
              <a:latin typeface="Bahnschrift SemiBold Condensed" panose="020B0502040204020203" pitchFamily="34" charset="0"/>
            </a:endParaRPr>
          </a:p>
        </p:txBody>
      </p:sp>
      <p:sp>
        <p:nvSpPr>
          <p:cNvPr id="6" name="TextovéPole 5">
            <a:extLst>
              <a:ext uri="{FF2B5EF4-FFF2-40B4-BE49-F238E27FC236}">
                <a16:creationId xmlns:a16="http://schemas.microsoft.com/office/drawing/2014/main" id="{78B6254F-12DC-6B99-A3E8-08E99ADF96CE}"/>
              </a:ext>
            </a:extLst>
          </p:cNvPr>
          <p:cNvSpPr txBox="1"/>
          <p:nvPr/>
        </p:nvSpPr>
        <p:spPr>
          <a:xfrm>
            <a:off x="224852" y="558904"/>
            <a:ext cx="11742296" cy="6601807"/>
          </a:xfrm>
          <a:prstGeom prst="rect">
            <a:avLst/>
          </a:prstGeom>
          <a:noFill/>
        </p:spPr>
        <p:txBody>
          <a:bodyPr wrap="square" rtlCol="0">
            <a:spAutoFit/>
          </a:bodyPr>
          <a:lstStyle/>
          <a:p>
            <a:pPr>
              <a:lnSpc>
                <a:spcPct val="150000"/>
              </a:lnSpc>
            </a:pPr>
            <a:r>
              <a:rPr lang="cs-CZ" dirty="0" err="1">
                <a:solidFill>
                  <a:srgbClr val="D2DA8A"/>
                </a:solidFill>
              </a:rPr>
              <a:t>Salguero-Gómez</a:t>
            </a:r>
            <a:r>
              <a:rPr lang="cs-CZ" dirty="0">
                <a:solidFill>
                  <a:srgbClr val="D2DA8A"/>
                </a:solidFill>
              </a:rPr>
              <a:t>, R. (2016). </a:t>
            </a:r>
            <a:r>
              <a:rPr lang="cs-CZ" dirty="0" err="1">
                <a:solidFill>
                  <a:srgbClr val="D2DA8A"/>
                </a:solidFill>
                <a:hlinkClick r:id="rId2">
                  <a:extLst>
                    <a:ext uri="{A12FA001-AC4F-418D-AE19-62706E023703}">
                      <ahyp:hlinkClr xmlns:ahyp="http://schemas.microsoft.com/office/drawing/2018/hyperlinkcolor" val="tx"/>
                    </a:ext>
                  </a:extLst>
                </a:hlinkClick>
              </a:rPr>
              <a:t>Article</a:t>
            </a:r>
            <a:r>
              <a:rPr lang="cs-CZ" dirty="0">
                <a:solidFill>
                  <a:srgbClr val="D2DA8A"/>
                </a:solidFill>
                <a:hlinkClick r:id="rId2">
                  <a:extLst>
                    <a:ext uri="{A12FA001-AC4F-418D-AE19-62706E023703}">
                      <ahyp:hlinkClr xmlns:ahyp="http://schemas.microsoft.com/office/drawing/2018/hyperlinkcolor" val="tx"/>
                    </a:ext>
                  </a:extLst>
                </a:hlinkClick>
              </a:rPr>
              <a:t> on plant </a:t>
            </a:r>
            <a:r>
              <a:rPr lang="cs-CZ" dirty="0" err="1">
                <a:solidFill>
                  <a:srgbClr val="D2DA8A"/>
                </a:solidFill>
                <a:hlinkClick r:id="rId2">
                  <a:extLst>
                    <a:ext uri="{A12FA001-AC4F-418D-AE19-62706E023703}">
                      <ahyp:hlinkClr xmlns:ahyp="http://schemas.microsoft.com/office/drawing/2018/hyperlinkcolor" val="tx"/>
                    </a:ext>
                  </a:extLst>
                </a:hlinkClick>
              </a:rPr>
              <a:t>life-history</a:t>
            </a:r>
            <a:r>
              <a:rPr lang="cs-CZ" dirty="0">
                <a:solidFill>
                  <a:srgbClr val="D2DA8A"/>
                </a:solidFill>
                <a:hlinkClick r:id="rId2">
                  <a:extLst>
                    <a:ext uri="{A12FA001-AC4F-418D-AE19-62706E023703}">
                      <ahyp:hlinkClr xmlns:ahyp="http://schemas.microsoft.com/office/drawing/2018/hyperlinkcolor" val="tx"/>
                    </a:ext>
                  </a:extLst>
                </a:hlinkClick>
              </a:rPr>
              <a:t> </a:t>
            </a:r>
            <a:r>
              <a:rPr lang="cs-CZ" dirty="0" err="1">
                <a:solidFill>
                  <a:srgbClr val="D2DA8A"/>
                </a:solidFill>
                <a:hlinkClick r:id="rId2">
                  <a:extLst>
                    <a:ext uri="{A12FA001-AC4F-418D-AE19-62706E023703}">
                      <ahyp:hlinkClr xmlns:ahyp="http://schemas.microsoft.com/office/drawing/2018/hyperlinkcolor" val="tx"/>
                    </a:ext>
                  </a:extLst>
                </a:hlinkClick>
              </a:rPr>
              <a:t>strategies</a:t>
            </a:r>
            <a:r>
              <a:rPr lang="cs-CZ" dirty="0">
                <a:solidFill>
                  <a:srgbClr val="D2DA8A"/>
                </a:solidFill>
              </a:rPr>
              <a:t>. New </a:t>
            </a:r>
            <a:r>
              <a:rPr lang="cs-CZ" dirty="0" err="1">
                <a:solidFill>
                  <a:srgbClr val="D2DA8A"/>
                </a:solidFill>
              </a:rPr>
              <a:t>Phytologist</a:t>
            </a:r>
            <a:r>
              <a:rPr lang="cs-CZ" dirty="0">
                <a:solidFill>
                  <a:srgbClr val="D2DA8A"/>
                </a:solidFill>
              </a:rPr>
              <a:t>.</a:t>
            </a:r>
          </a:p>
          <a:p>
            <a:pPr>
              <a:lnSpc>
                <a:spcPct val="150000"/>
              </a:lnSpc>
            </a:pPr>
            <a:r>
              <a:rPr lang="cs-CZ" dirty="0">
                <a:solidFill>
                  <a:srgbClr val="D2DA8A"/>
                </a:solidFill>
              </a:rPr>
              <a:t>Les aktuálně. (</a:t>
            </a:r>
            <a:r>
              <a:rPr lang="cs-CZ" dirty="0" err="1">
                <a:solidFill>
                  <a:srgbClr val="D2DA8A"/>
                </a:solidFill>
              </a:rPr>
              <a:t>n.d</a:t>
            </a:r>
            <a:r>
              <a:rPr lang="cs-CZ" dirty="0">
                <a:solidFill>
                  <a:srgbClr val="D2DA8A"/>
                </a:solidFill>
              </a:rPr>
              <a:t>.). </a:t>
            </a:r>
            <a:r>
              <a:rPr lang="cs-CZ" dirty="0">
                <a:solidFill>
                  <a:srgbClr val="D2DA8A"/>
                </a:solidFill>
                <a:hlinkClick r:id="rId3">
                  <a:extLst>
                    <a:ext uri="{A12FA001-AC4F-418D-AE19-62706E023703}">
                      <ahyp:hlinkClr xmlns:ahyp="http://schemas.microsoft.com/office/drawing/2018/hyperlinkcolor" val="tx"/>
                    </a:ext>
                  </a:extLst>
                </a:hlinkClick>
              </a:rPr>
              <a:t>Jak duby snášejí klimatické extrémy</a:t>
            </a:r>
            <a:r>
              <a:rPr lang="cs-CZ" dirty="0">
                <a:solidFill>
                  <a:srgbClr val="D2DA8A"/>
                </a:solidFill>
              </a:rPr>
              <a:t>.</a:t>
            </a:r>
          </a:p>
          <a:p>
            <a:pPr>
              <a:lnSpc>
                <a:spcPct val="150000"/>
              </a:lnSpc>
            </a:pPr>
            <a:r>
              <a:rPr lang="cs-CZ" dirty="0" err="1">
                <a:solidFill>
                  <a:srgbClr val="D2DA8A"/>
                </a:solidFill>
              </a:rPr>
              <a:t>National</a:t>
            </a:r>
            <a:r>
              <a:rPr lang="cs-CZ" dirty="0">
                <a:solidFill>
                  <a:srgbClr val="D2DA8A"/>
                </a:solidFill>
              </a:rPr>
              <a:t> </a:t>
            </a:r>
            <a:r>
              <a:rPr lang="cs-CZ" dirty="0" err="1">
                <a:solidFill>
                  <a:srgbClr val="D2DA8A"/>
                </a:solidFill>
              </a:rPr>
              <a:t>Geographic</a:t>
            </a:r>
            <a:r>
              <a:rPr lang="cs-CZ" dirty="0">
                <a:solidFill>
                  <a:srgbClr val="D2DA8A"/>
                </a:solidFill>
              </a:rPr>
              <a:t>. (</a:t>
            </a:r>
            <a:r>
              <a:rPr lang="cs-CZ" dirty="0" err="1">
                <a:solidFill>
                  <a:srgbClr val="D2DA8A"/>
                </a:solidFill>
              </a:rPr>
              <a:t>n.d</a:t>
            </a:r>
            <a:r>
              <a:rPr lang="cs-CZ" dirty="0">
                <a:solidFill>
                  <a:srgbClr val="D2DA8A"/>
                </a:solidFill>
              </a:rPr>
              <a:t>.). </a:t>
            </a:r>
            <a:r>
              <a:rPr lang="cs-CZ" dirty="0" err="1">
                <a:solidFill>
                  <a:srgbClr val="D2DA8A"/>
                </a:solidFill>
                <a:hlinkClick r:id="rId4">
                  <a:extLst>
                    <a:ext uri="{A12FA001-AC4F-418D-AE19-62706E023703}">
                      <ahyp:hlinkClr xmlns:ahyp="http://schemas.microsoft.com/office/drawing/2018/hyperlinkcolor" val="tx"/>
                    </a:ext>
                  </a:extLst>
                </a:hlinkClick>
              </a:rPr>
              <a:t>Przewalski’s</a:t>
            </a:r>
            <a:r>
              <a:rPr lang="cs-CZ" dirty="0">
                <a:solidFill>
                  <a:srgbClr val="D2DA8A"/>
                </a:solidFill>
                <a:hlinkClick r:id="rId4">
                  <a:extLst>
                    <a:ext uri="{A12FA001-AC4F-418D-AE19-62706E023703}">
                      <ahyp:hlinkClr xmlns:ahyp="http://schemas.microsoft.com/office/drawing/2018/hyperlinkcolor" val="tx"/>
                    </a:ext>
                  </a:extLst>
                </a:hlinkClick>
              </a:rPr>
              <a:t> </a:t>
            </a:r>
            <a:r>
              <a:rPr lang="cs-CZ" dirty="0" err="1">
                <a:solidFill>
                  <a:srgbClr val="D2DA8A"/>
                </a:solidFill>
                <a:hlinkClick r:id="rId4">
                  <a:extLst>
                    <a:ext uri="{A12FA001-AC4F-418D-AE19-62706E023703}">
                      <ahyp:hlinkClr xmlns:ahyp="http://schemas.microsoft.com/office/drawing/2018/hyperlinkcolor" val="tx"/>
                    </a:ext>
                  </a:extLst>
                </a:hlinkClick>
              </a:rPr>
              <a:t>Horse</a:t>
            </a:r>
            <a:r>
              <a:rPr lang="cs-CZ" dirty="0">
                <a:solidFill>
                  <a:srgbClr val="D2DA8A"/>
                </a:solidFill>
              </a:rPr>
              <a:t>.</a:t>
            </a:r>
          </a:p>
          <a:p>
            <a:pPr>
              <a:lnSpc>
                <a:spcPct val="150000"/>
              </a:lnSpc>
            </a:pPr>
            <a:r>
              <a:rPr lang="cs-CZ" dirty="0">
                <a:solidFill>
                  <a:srgbClr val="D2DA8A"/>
                </a:solidFill>
              </a:rPr>
              <a:t>Wikipedia </a:t>
            </a:r>
            <a:r>
              <a:rPr lang="cs-CZ" dirty="0" err="1">
                <a:solidFill>
                  <a:srgbClr val="D2DA8A"/>
                </a:solidFill>
              </a:rPr>
              <a:t>contributors</a:t>
            </a:r>
            <a:r>
              <a:rPr lang="cs-CZ" dirty="0">
                <a:solidFill>
                  <a:srgbClr val="D2DA8A"/>
                </a:solidFill>
              </a:rPr>
              <a:t>. (</a:t>
            </a:r>
            <a:r>
              <a:rPr lang="cs-CZ" dirty="0" err="1">
                <a:solidFill>
                  <a:srgbClr val="D2DA8A"/>
                </a:solidFill>
              </a:rPr>
              <a:t>n.d</a:t>
            </a:r>
            <a:r>
              <a:rPr lang="cs-CZ" dirty="0">
                <a:solidFill>
                  <a:srgbClr val="D2DA8A"/>
                </a:solidFill>
              </a:rPr>
              <a:t>.). </a:t>
            </a:r>
            <a:r>
              <a:rPr lang="cs-CZ" dirty="0">
                <a:solidFill>
                  <a:srgbClr val="D2DA8A"/>
                </a:solidFill>
                <a:hlinkClick r:id="rId5">
                  <a:extLst>
                    <a:ext uri="{A12FA001-AC4F-418D-AE19-62706E023703}">
                      <ahyp:hlinkClr xmlns:ahyp="http://schemas.microsoft.com/office/drawing/2018/hyperlinkcolor" val="tx"/>
                    </a:ext>
                  </a:extLst>
                </a:hlinkClick>
              </a:rPr>
              <a:t>Krytosemenné</a:t>
            </a:r>
            <a:r>
              <a:rPr lang="cs-CZ" dirty="0">
                <a:solidFill>
                  <a:srgbClr val="D2DA8A"/>
                </a:solidFill>
              </a:rPr>
              <a:t>. Wikipedie.</a:t>
            </a:r>
          </a:p>
          <a:p>
            <a:pPr>
              <a:lnSpc>
                <a:spcPct val="150000"/>
              </a:lnSpc>
            </a:pPr>
            <a:r>
              <a:rPr lang="cs-CZ" dirty="0" err="1">
                <a:solidFill>
                  <a:srgbClr val="D2DA8A"/>
                </a:solidFill>
              </a:rPr>
              <a:t>Pacific</a:t>
            </a:r>
            <a:r>
              <a:rPr lang="cs-CZ" dirty="0">
                <a:solidFill>
                  <a:srgbClr val="D2DA8A"/>
                </a:solidFill>
              </a:rPr>
              <a:t> </a:t>
            </a:r>
            <a:r>
              <a:rPr lang="cs-CZ" dirty="0" err="1">
                <a:solidFill>
                  <a:srgbClr val="D2DA8A"/>
                </a:solidFill>
              </a:rPr>
              <a:t>Salmon</a:t>
            </a:r>
            <a:r>
              <a:rPr lang="cs-CZ" dirty="0">
                <a:solidFill>
                  <a:srgbClr val="D2DA8A"/>
                </a:solidFill>
              </a:rPr>
              <a:t> - </a:t>
            </a:r>
            <a:r>
              <a:rPr lang="cs-CZ" dirty="0" err="1">
                <a:solidFill>
                  <a:srgbClr val="D2DA8A"/>
                </a:solidFill>
              </a:rPr>
              <a:t>Wild</a:t>
            </a:r>
            <a:r>
              <a:rPr lang="cs-CZ" dirty="0">
                <a:solidFill>
                  <a:srgbClr val="D2DA8A"/>
                </a:solidFill>
              </a:rPr>
              <a:t> </a:t>
            </a:r>
            <a:r>
              <a:rPr lang="cs-CZ" dirty="0" err="1">
                <a:solidFill>
                  <a:srgbClr val="D2DA8A"/>
                </a:solidFill>
              </a:rPr>
              <a:t>Salmon</a:t>
            </a:r>
            <a:r>
              <a:rPr lang="cs-CZ" dirty="0">
                <a:solidFill>
                  <a:srgbClr val="D2DA8A"/>
                </a:solidFill>
              </a:rPr>
              <a:t> Center </a:t>
            </a:r>
          </a:p>
          <a:p>
            <a:pPr>
              <a:lnSpc>
                <a:spcPct val="150000"/>
              </a:lnSpc>
            </a:pPr>
            <a:r>
              <a:rPr lang="cs-CZ" dirty="0" err="1">
                <a:solidFill>
                  <a:srgbClr val="D2DA8A"/>
                </a:solidFill>
              </a:rPr>
              <a:t>Rabbit</a:t>
            </a:r>
            <a:r>
              <a:rPr lang="cs-CZ" dirty="0">
                <a:solidFill>
                  <a:srgbClr val="D2DA8A"/>
                </a:solidFill>
              </a:rPr>
              <a:t> </a:t>
            </a:r>
            <a:r>
              <a:rPr lang="cs-CZ" dirty="0" err="1">
                <a:solidFill>
                  <a:srgbClr val="D2DA8A"/>
                </a:solidFill>
              </a:rPr>
              <a:t>facts</a:t>
            </a:r>
            <a:r>
              <a:rPr lang="cs-CZ" dirty="0">
                <a:solidFill>
                  <a:srgbClr val="D2DA8A"/>
                </a:solidFill>
              </a:rPr>
              <a:t> | </a:t>
            </a:r>
            <a:r>
              <a:rPr lang="cs-CZ" dirty="0" err="1">
                <a:solidFill>
                  <a:srgbClr val="D2DA8A"/>
                </a:solidFill>
              </a:rPr>
              <a:t>Mammals</a:t>
            </a:r>
            <a:r>
              <a:rPr lang="cs-CZ" dirty="0">
                <a:solidFill>
                  <a:srgbClr val="D2DA8A"/>
                </a:solidFill>
              </a:rPr>
              <a:t> | BBC </a:t>
            </a:r>
            <a:r>
              <a:rPr lang="cs-CZ" dirty="0" err="1">
                <a:solidFill>
                  <a:srgbClr val="D2DA8A"/>
                </a:solidFill>
              </a:rPr>
              <a:t>Earth</a:t>
            </a:r>
            <a:r>
              <a:rPr lang="cs-CZ" dirty="0">
                <a:solidFill>
                  <a:srgbClr val="D2DA8A"/>
                </a:solidFill>
              </a:rPr>
              <a:t> | BBC </a:t>
            </a:r>
            <a:r>
              <a:rPr lang="cs-CZ" dirty="0" err="1">
                <a:solidFill>
                  <a:srgbClr val="D2DA8A"/>
                </a:solidFill>
              </a:rPr>
              <a:t>Earth</a:t>
            </a:r>
            <a:r>
              <a:rPr lang="cs-CZ" dirty="0">
                <a:solidFill>
                  <a:srgbClr val="D2DA8A"/>
                </a:solidFill>
              </a:rPr>
              <a:t> </a:t>
            </a:r>
          </a:p>
          <a:p>
            <a:pPr>
              <a:lnSpc>
                <a:spcPct val="150000"/>
              </a:lnSpc>
            </a:pPr>
            <a:r>
              <a:rPr lang="cs-CZ" dirty="0" err="1">
                <a:solidFill>
                  <a:srgbClr val="D2DA8A"/>
                </a:solidFill>
              </a:rPr>
              <a:t>American</a:t>
            </a:r>
            <a:r>
              <a:rPr lang="cs-CZ" dirty="0">
                <a:solidFill>
                  <a:srgbClr val="D2DA8A"/>
                </a:solidFill>
              </a:rPr>
              <a:t> Robin: </a:t>
            </a:r>
            <a:r>
              <a:rPr lang="cs-CZ" dirty="0" err="1">
                <a:solidFill>
                  <a:srgbClr val="D2DA8A"/>
                </a:solidFill>
              </a:rPr>
              <a:t>Facts</a:t>
            </a:r>
            <a:r>
              <a:rPr lang="cs-CZ" dirty="0">
                <a:solidFill>
                  <a:srgbClr val="D2DA8A"/>
                </a:solidFill>
              </a:rPr>
              <a:t>, Diet, Habitat, </a:t>
            </a:r>
            <a:r>
              <a:rPr lang="cs-CZ" dirty="0" err="1">
                <a:solidFill>
                  <a:srgbClr val="D2DA8A"/>
                </a:solidFill>
              </a:rPr>
              <a:t>Behavior</a:t>
            </a:r>
            <a:r>
              <a:rPr lang="cs-CZ" dirty="0">
                <a:solidFill>
                  <a:srgbClr val="D2DA8A"/>
                </a:solidFill>
              </a:rPr>
              <a:t> &amp; </a:t>
            </a:r>
            <a:r>
              <a:rPr lang="cs-CZ" dirty="0" err="1">
                <a:solidFill>
                  <a:srgbClr val="D2DA8A"/>
                </a:solidFill>
              </a:rPr>
              <a:t>Identification</a:t>
            </a:r>
            <a:r>
              <a:rPr lang="cs-CZ" dirty="0">
                <a:solidFill>
                  <a:srgbClr val="D2DA8A"/>
                </a:solidFill>
              </a:rPr>
              <a:t> </a:t>
            </a:r>
            <a:r>
              <a:rPr lang="cs-CZ" dirty="0" err="1">
                <a:solidFill>
                  <a:srgbClr val="D2DA8A"/>
                </a:solidFill>
              </a:rPr>
              <a:t>Guide</a:t>
            </a:r>
            <a:r>
              <a:rPr lang="cs-CZ" dirty="0">
                <a:solidFill>
                  <a:srgbClr val="D2DA8A"/>
                </a:solidFill>
              </a:rPr>
              <a:t> </a:t>
            </a:r>
          </a:p>
          <a:p>
            <a:pPr>
              <a:lnSpc>
                <a:spcPct val="150000"/>
              </a:lnSpc>
            </a:pPr>
            <a:r>
              <a:rPr lang="cs-CZ" dirty="0" err="1">
                <a:solidFill>
                  <a:srgbClr val="D2DA8A"/>
                </a:solidFill>
              </a:rPr>
              <a:t>European</a:t>
            </a:r>
            <a:r>
              <a:rPr lang="cs-CZ" dirty="0">
                <a:solidFill>
                  <a:srgbClr val="D2DA8A"/>
                </a:solidFill>
              </a:rPr>
              <a:t> </a:t>
            </a:r>
            <a:r>
              <a:rPr lang="cs-CZ" dirty="0" err="1">
                <a:solidFill>
                  <a:srgbClr val="D2DA8A"/>
                </a:solidFill>
              </a:rPr>
              <a:t>rabbit</a:t>
            </a:r>
            <a:r>
              <a:rPr lang="cs-CZ" dirty="0">
                <a:solidFill>
                  <a:srgbClr val="D2DA8A"/>
                </a:solidFill>
              </a:rPr>
              <a:t> — </a:t>
            </a:r>
            <a:r>
              <a:rPr lang="cs-CZ" dirty="0" err="1">
                <a:solidFill>
                  <a:srgbClr val="D2DA8A"/>
                </a:solidFill>
              </a:rPr>
              <a:t>Mammal</a:t>
            </a:r>
            <a:r>
              <a:rPr lang="cs-CZ" dirty="0">
                <a:solidFill>
                  <a:srgbClr val="D2DA8A"/>
                </a:solidFill>
              </a:rPr>
              <a:t> Society </a:t>
            </a:r>
          </a:p>
          <a:p>
            <a:pPr>
              <a:lnSpc>
                <a:spcPct val="150000"/>
              </a:lnSpc>
            </a:pPr>
            <a:r>
              <a:rPr lang="cs-CZ" dirty="0" err="1">
                <a:solidFill>
                  <a:srgbClr val="D2DA8A"/>
                </a:solidFill>
              </a:rPr>
              <a:t>Elephant</a:t>
            </a:r>
            <a:r>
              <a:rPr lang="cs-CZ" dirty="0">
                <a:solidFill>
                  <a:srgbClr val="D2DA8A"/>
                </a:solidFill>
              </a:rPr>
              <a:t> </a:t>
            </a:r>
            <a:r>
              <a:rPr lang="cs-CZ" dirty="0" err="1">
                <a:solidFill>
                  <a:srgbClr val="D2DA8A"/>
                </a:solidFill>
              </a:rPr>
              <a:t>Facts</a:t>
            </a:r>
            <a:r>
              <a:rPr lang="cs-CZ" dirty="0">
                <a:solidFill>
                  <a:srgbClr val="D2DA8A"/>
                </a:solidFill>
              </a:rPr>
              <a:t> | </a:t>
            </a:r>
            <a:r>
              <a:rPr lang="cs-CZ" dirty="0" err="1">
                <a:solidFill>
                  <a:srgbClr val="D2DA8A"/>
                </a:solidFill>
              </a:rPr>
              <a:t>Mammals</a:t>
            </a:r>
            <a:r>
              <a:rPr lang="cs-CZ" dirty="0">
                <a:solidFill>
                  <a:srgbClr val="D2DA8A"/>
                </a:solidFill>
              </a:rPr>
              <a:t> | BBC </a:t>
            </a:r>
            <a:r>
              <a:rPr lang="cs-CZ" dirty="0" err="1">
                <a:solidFill>
                  <a:srgbClr val="D2DA8A"/>
                </a:solidFill>
              </a:rPr>
              <a:t>Earth</a:t>
            </a:r>
            <a:r>
              <a:rPr lang="cs-CZ" dirty="0">
                <a:solidFill>
                  <a:srgbClr val="D2DA8A"/>
                </a:solidFill>
              </a:rPr>
              <a:t> | BBC </a:t>
            </a:r>
            <a:r>
              <a:rPr lang="cs-CZ" dirty="0" err="1">
                <a:solidFill>
                  <a:srgbClr val="D2DA8A"/>
                </a:solidFill>
              </a:rPr>
              <a:t>Earth</a:t>
            </a:r>
            <a:r>
              <a:rPr lang="cs-CZ" dirty="0">
                <a:solidFill>
                  <a:srgbClr val="D2DA8A"/>
                </a:solidFill>
              </a:rPr>
              <a:t> </a:t>
            </a:r>
          </a:p>
          <a:p>
            <a:pPr>
              <a:lnSpc>
                <a:spcPct val="150000"/>
              </a:lnSpc>
            </a:pPr>
            <a:r>
              <a:rPr lang="cs-CZ" dirty="0" err="1">
                <a:solidFill>
                  <a:srgbClr val="D2DA8A"/>
                </a:solidFill>
              </a:rPr>
              <a:t>Eurasian</a:t>
            </a:r>
            <a:r>
              <a:rPr lang="cs-CZ" dirty="0">
                <a:solidFill>
                  <a:srgbClr val="D2DA8A"/>
                </a:solidFill>
              </a:rPr>
              <a:t> </a:t>
            </a:r>
            <a:r>
              <a:rPr lang="cs-CZ" dirty="0" err="1">
                <a:solidFill>
                  <a:srgbClr val="D2DA8A"/>
                </a:solidFill>
              </a:rPr>
              <a:t>Harvest</a:t>
            </a:r>
            <a:r>
              <a:rPr lang="cs-CZ" dirty="0">
                <a:solidFill>
                  <a:srgbClr val="D2DA8A"/>
                </a:solidFill>
              </a:rPr>
              <a:t> Mouse - </a:t>
            </a:r>
            <a:r>
              <a:rPr lang="cs-CZ" dirty="0" err="1">
                <a:solidFill>
                  <a:srgbClr val="D2DA8A"/>
                </a:solidFill>
              </a:rPr>
              <a:t>Facts</a:t>
            </a:r>
            <a:r>
              <a:rPr lang="cs-CZ" dirty="0">
                <a:solidFill>
                  <a:srgbClr val="D2DA8A"/>
                </a:solidFill>
              </a:rPr>
              <a:t>, Diet, Habitat &amp; </a:t>
            </a:r>
            <a:r>
              <a:rPr lang="cs-CZ" dirty="0" err="1">
                <a:solidFill>
                  <a:srgbClr val="D2DA8A"/>
                </a:solidFill>
              </a:rPr>
              <a:t>Pictures</a:t>
            </a:r>
            <a:r>
              <a:rPr lang="cs-CZ" dirty="0">
                <a:solidFill>
                  <a:srgbClr val="D2DA8A"/>
                </a:solidFill>
              </a:rPr>
              <a:t> on </a:t>
            </a:r>
            <a:r>
              <a:rPr lang="cs-CZ" dirty="0" err="1">
                <a:solidFill>
                  <a:srgbClr val="D2DA8A"/>
                </a:solidFill>
              </a:rPr>
              <a:t>Animalia.bio</a:t>
            </a:r>
            <a:endParaRPr lang="cs-CZ" dirty="0">
              <a:solidFill>
                <a:srgbClr val="D2DA8A"/>
              </a:solidFill>
            </a:endParaRPr>
          </a:p>
          <a:p>
            <a:pPr>
              <a:lnSpc>
                <a:spcPct val="150000"/>
              </a:lnSpc>
            </a:pPr>
            <a:r>
              <a:rPr lang="cs-CZ" dirty="0" err="1">
                <a:solidFill>
                  <a:srgbClr val="D2DA8A"/>
                </a:solidFill>
              </a:rPr>
              <a:t>Arnot</a:t>
            </a:r>
            <a:r>
              <a:rPr lang="cs-CZ" dirty="0">
                <a:solidFill>
                  <a:srgbClr val="D2DA8A"/>
                </a:solidFill>
              </a:rPr>
              <a:t>, M. (2017). </a:t>
            </a:r>
            <a:r>
              <a:rPr lang="cs-CZ" dirty="0">
                <a:solidFill>
                  <a:srgbClr val="D2DA8A"/>
                </a:solidFill>
                <a:hlinkClick r:id="rId6">
                  <a:extLst>
                    <a:ext uri="{A12FA001-AC4F-418D-AE19-62706E023703}">
                      <ahyp:hlinkClr xmlns:ahyp="http://schemas.microsoft.com/office/drawing/2018/hyperlinkcolor" val="tx"/>
                    </a:ext>
                  </a:extLst>
                </a:hlinkClick>
              </a:rPr>
              <a:t>A Response to </a:t>
            </a:r>
            <a:r>
              <a:rPr lang="cs-CZ" dirty="0" err="1">
                <a:solidFill>
                  <a:srgbClr val="D2DA8A"/>
                </a:solidFill>
                <a:hlinkClick r:id="rId6">
                  <a:extLst>
                    <a:ext uri="{A12FA001-AC4F-418D-AE19-62706E023703}">
                      <ahyp:hlinkClr xmlns:ahyp="http://schemas.microsoft.com/office/drawing/2018/hyperlinkcolor" val="tx"/>
                    </a:ext>
                  </a:extLst>
                </a:hlinkClick>
              </a:rPr>
              <a:t>Gardner</a:t>
            </a:r>
            <a:r>
              <a:rPr lang="cs-CZ" dirty="0">
                <a:solidFill>
                  <a:srgbClr val="D2DA8A"/>
                </a:solidFill>
                <a:hlinkClick r:id="rId6">
                  <a:extLst>
                    <a:ext uri="{A12FA001-AC4F-418D-AE19-62706E023703}">
                      <ahyp:hlinkClr xmlns:ahyp="http://schemas.microsoft.com/office/drawing/2018/hyperlinkcolor" val="tx"/>
                    </a:ext>
                  </a:extLst>
                </a:hlinkClick>
              </a:rPr>
              <a:t> and Harrison: </a:t>
            </a:r>
            <a:r>
              <a:rPr lang="cs-CZ" dirty="0" err="1">
                <a:solidFill>
                  <a:srgbClr val="D2DA8A"/>
                </a:solidFill>
                <a:hlinkClick r:id="rId6">
                  <a:extLst>
                    <a:ext uri="{A12FA001-AC4F-418D-AE19-62706E023703}">
                      <ahyp:hlinkClr xmlns:ahyp="http://schemas.microsoft.com/office/drawing/2018/hyperlinkcolor" val="tx"/>
                    </a:ext>
                  </a:extLst>
                </a:hlinkClick>
              </a:rPr>
              <a:t>The</a:t>
            </a:r>
            <a:r>
              <a:rPr lang="cs-CZ" dirty="0">
                <a:solidFill>
                  <a:srgbClr val="D2DA8A"/>
                </a:solidFill>
                <a:hlinkClick r:id="rId6">
                  <a:extLst>
                    <a:ext uri="{A12FA001-AC4F-418D-AE19-62706E023703}">
                      <ahyp:hlinkClr xmlns:ahyp="http://schemas.microsoft.com/office/drawing/2018/hyperlinkcolor" val="tx"/>
                    </a:ext>
                  </a:extLst>
                </a:hlinkClick>
              </a:rPr>
              <a:t> </a:t>
            </a:r>
            <a:r>
              <a:rPr lang="cs-CZ" dirty="0" err="1">
                <a:solidFill>
                  <a:srgbClr val="D2DA8A"/>
                </a:solidFill>
                <a:hlinkClick r:id="rId6">
                  <a:extLst>
                    <a:ext uri="{A12FA001-AC4F-418D-AE19-62706E023703}">
                      <ahyp:hlinkClr xmlns:ahyp="http://schemas.microsoft.com/office/drawing/2018/hyperlinkcolor" val="tx"/>
                    </a:ext>
                  </a:extLst>
                </a:hlinkClick>
              </a:rPr>
              <a:t>Reasons</a:t>
            </a:r>
            <a:r>
              <a:rPr lang="cs-CZ" dirty="0">
                <a:solidFill>
                  <a:srgbClr val="D2DA8A"/>
                </a:solidFill>
                <a:hlinkClick r:id="rId6">
                  <a:extLst>
                    <a:ext uri="{A12FA001-AC4F-418D-AE19-62706E023703}">
                      <ahyp:hlinkClr xmlns:ahyp="http://schemas.microsoft.com/office/drawing/2018/hyperlinkcolor" val="tx"/>
                    </a:ext>
                  </a:extLst>
                </a:hlinkClick>
              </a:rPr>
              <a:t> </a:t>
            </a:r>
            <a:r>
              <a:rPr lang="cs-CZ" dirty="0" err="1">
                <a:solidFill>
                  <a:srgbClr val="D2DA8A"/>
                </a:solidFill>
                <a:hlinkClick r:id="rId6">
                  <a:extLst>
                    <a:ext uri="{A12FA001-AC4F-418D-AE19-62706E023703}">
                      <ahyp:hlinkClr xmlns:ahyp="http://schemas.microsoft.com/office/drawing/2018/hyperlinkcolor" val="tx"/>
                    </a:ext>
                  </a:extLst>
                </a:hlinkClick>
              </a:rPr>
              <a:t>for</a:t>
            </a:r>
            <a:r>
              <a:rPr lang="cs-CZ" dirty="0">
                <a:solidFill>
                  <a:srgbClr val="D2DA8A"/>
                </a:solidFill>
                <a:hlinkClick r:id="rId6">
                  <a:extLst>
                    <a:ext uri="{A12FA001-AC4F-418D-AE19-62706E023703}">
                      <ahyp:hlinkClr xmlns:ahyp="http://schemas.microsoft.com/office/drawing/2018/hyperlinkcolor" val="tx"/>
                    </a:ext>
                  </a:extLst>
                </a:hlinkClick>
              </a:rPr>
              <a:t>, and </a:t>
            </a:r>
            <a:r>
              <a:rPr lang="cs-CZ" dirty="0" err="1">
                <a:solidFill>
                  <a:srgbClr val="D2DA8A"/>
                </a:solidFill>
                <a:hlinkClick r:id="rId6">
                  <a:extLst>
                    <a:ext uri="{A12FA001-AC4F-418D-AE19-62706E023703}">
                      <ahyp:hlinkClr xmlns:ahyp="http://schemas.microsoft.com/office/drawing/2018/hyperlinkcolor" val="tx"/>
                    </a:ext>
                  </a:extLst>
                </a:hlinkClick>
              </a:rPr>
              <a:t>Implications</a:t>
            </a:r>
            <a:r>
              <a:rPr lang="cs-CZ" dirty="0">
                <a:solidFill>
                  <a:srgbClr val="D2DA8A"/>
                </a:solidFill>
                <a:hlinkClick r:id="rId6">
                  <a:extLst>
                    <a:ext uri="{A12FA001-AC4F-418D-AE19-62706E023703}">
                      <ahyp:hlinkClr xmlns:ahyp="http://schemas.microsoft.com/office/drawing/2018/hyperlinkcolor" val="tx"/>
                    </a:ext>
                  </a:extLst>
                </a:hlinkClick>
              </a:rPr>
              <a:t> </a:t>
            </a:r>
            <a:r>
              <a:rPr lang="cs-CZ" dirty="0" err="1">
                <a:solidFill>
                  <a:srgbClr val="D2DA8A"/>
                </a:solidFill>
                <a:hlinkClick r:id="rId6">
                  <a:extLst>
                    <a:ext uri="{A12FA001-AC4F-418D-AE19-62706E023703}">
                      <ahyp:hlinkClr xmlns:ahyp="http://schemas.microsoft.com/office/drawing/2018/hyperlinkcolor" val="tx"/>
                    </a:ext>
                  </a:extLst>
                </a:hlinkClick>
              </a:rPr>
              <a:t>of</a:t>
            </a:r>
            <a:r>
              <a:rPr lang="cs-CZ" dirty="0">
                <a:solidFill>
                  <a:srgbClr val="D2DA8A"/>
                </a:solidFill>
                <a:hlinkClick r:id="rId6">
                  <a:extLst>
                    <a:ext uri="{A12FA001-AC4F-418D-AE19-62706E023703}">
                      <ahyp:hlinkClr xmlns:ahyp="http://schemas.microsoft.com/office/drawing/2018/hyperlinkcolor" val="tx"/>
                    </a:ext>
                  </a:extLst>
                </a:hlinkClick>
              </a:rPr>
              <a:t>, Brexit </a:t>
            </a:r>
            <a:r>
              <a:rPr lang="cs-CZ" dirty="0" err="1">
                <a:solidFill>
                  <a:srgbClr val="D2DA8A"/>
                </a:solidFill>
                <a:hlinkClick r:id="rId6">
                  <a:extLst>
                    <a:ext uri="{A12FA001-AC4F-418D-AE19-62706E023703}">
                      <ahyp:hlinkClr xmlns:ahyp="http://schemas.microsoft.com/office/drawing/2018/hyperlinkcolor" val="tx"/>
                    </a:ext>
                  </a:extLst>
                </a:hlinkClick>
              </a:rPr>
              <a:t>from</a:t>
            </a:r>
            <a:r>
              <a:rPr lang="cs-CZ" dirty="0">
                <a:solidFill>
                  <a:srgbClr val="D2DA8A"/>
                </a:solidFill>
                <a:hlinkClick r:id="rId6">
                  <a:extLst>
                    <a:ext uri="{A12FA001-AC4F-418D-AE19-62706E023703}">
                      <ahyp:hlinkClr xmlns:ahyp="http://schemas.microsoft.com/office/drawing/2018/hyperlinkcolor" val="tx"/>
                    </a:ext>
                  </a:extLst>
                </a:hlinkClick>
              </a:rPr>
              <a:t> </a:t>
            </a:r>
            <a:r>
              <a:rPr lang="cs-CZ" dirty="0" err="1">
                <a:solidFill>
                  <a:srgbClr val="D2DA8A"/>
                </a:solidFill>
                <a:hlinkClick r:id="rId6">
                  <a:extLst>
                    <a:ext uri="{A12FA001-AC4F-418D-AE19-62706E023703}">
                      <ahyp:hlinkClr xmlns:ahyp="http://schemas.microsoft.com/office/drawing/2018/hyperlinkcolor" val="tx"/>
                    </a:ext>
                  </a:extLst>
                </a:hlinkClick>
              </a:rPr>
              <a:t>an</a:t>
            </a:r>
            <a:r>
              <a:rPr lang="cs-CZ" dirty="0">
                <a:solidFill>
                  <a:srgbClr val="D2DA8A"/>
                </a:solidFill>
                <a:hlinkClick r:id="rId6">
                  <a:extLst>
                    <a:ext uri="{A12FA001-AC4F-418D-AE19-62706E023703}">
                      <ahyp:hlinkClr xmlns:ahyp="http://schemas.microsoft.com/office/drawing/2018/hyperlinkcolor" val="tx"/>
                    </a:ext>
                  </a:extLst>
                </a:hlinkClick>
              </a:rPr>
              <a:t> </a:t>
            </a:r>
            <a:r>
              <a:rPr lang="cs-CZ" dirty="0" err="1">
                <a:solidFill>
                  <a:srgbClr val="D2DA8A"/>
                </a:solidFill>
                <a:hlinkClick r:id="rId6">
                  <a:extLst>
                    <a:ext uri="{A12FA001-AC4F-418D-AE19-62706E023703}">
                      <ahyp:hlinkClr xmlns:ahyp="http://schemas.microsoft.com/office/drawing/2018/hyperlinkcolor" val="tx"/>
                    </a:ext>
                  </a:extLst>
                </a:hlinkClick>
              </a:rPr>
              <a:t>Anthropological</a:t>
            </a:r>
            <a:r>
              <a:rPr lang="cs-CZ" dirty="0">
                <a:solidFill>
                  <a:srgbClr val="D2DA8A"/>
                </a:solidFill>
                <a:hlinkClick r:id="rId6">
                  <a:extLst>
                    <a:ext uri="{A12FA001-AC4F-418D-AE19-62706E023703}">
                      <ahyp:hlinkClr xmlns:ahyp="http://schemas.microsoft.com/office/drawing/2018/hyperlinkcolor" val="tx"/>
                    </a:ext>
                  </a:extLst>
                </a:hlinkClick>
              </a:rPr>
              <a:t> </a:t>
            </a:r>
            <a:r>
              <a:rPr lang="cs-CZ" dirty="0" err="1">
                <a:solidFill>
                  <a:srgbClr val="D2DA8A"/>
                </a:solidFill>
                <a:hlinkClick r:id="rId6">
                  <a:extLst>
                    <a:ext uri="{A12FA001-AC4F-418D-AE19-62706E023703}">
                      <ahyp:hlinkClr xmlns:ahyp="http://schemas.microsoft.com/office/drawing/2018/hyperlinkcolor" val="tx"/>
                    </a:ext>
                  </a:extLst>
                </a:hlinkClick>
              </a:rPr>
              <a:t>Standpoint</a:t>
            </a:r>
            <a:r>
              <a:rPr lang="cs-CZ" dirty="0">
                <a:solidFill>
                  <a:srgbClr val="D2DA8A"/>
                </a:solidFill>
              </a:rPr>
              <a:t>. </a:t>
            </a:r>
            <a:r>
              <a:rPr lang="cs-CZ" dirty="0" err="1">
                <a:solidFill>
                  <a:srgbClr val="D2DA8A"/>
                </a:solidFill>
              </a:rPr>
              <a:t>ResearchGate</a:t>
            </a:r>
            <a:r>
              <a:rPr lang="cs-CZ" dirty="0">
                <a:solidFill>
                  <a:srgbClr val="D2DA8A"/>
                </a:solidFill>
              </a:rPr>
              <a:t>.</a:t>
            </a:r>
          </a:p>
          <a:p>
            <a:pPr>
              <a:lnSpc>
                <a:spcPct val="150000"/>
              </a:lnSpc>
            </a:pPr>
            <a:r>
              <a:rPr lang="cs-CZ" dirty="0" err="1">
                <a:solidFill>
                  <a:srgbClr val="D2DA8A"/>
                </a:solidFill>
                <a:hlinkClick r:id="rId7">
                  <a:extLst>
                    <a:ext uri="{A12FA001-AC4F-418D-AE19-62706E023703}">
                      <ahyp:hlinkClr xmlns:ahyp="http://schemas.microsoft.com/office/drawing/2018/hyperlinkcolor" val="tx"/>
                    </a:ext>
                  </a:extLst>
                </a:hlinkClick>
              </a:rPr>
              <a:t>ScienceDirect</a:t>
            </a:r>
            <a:r>
              <a:rPr lang="cs-CZ" dirty="0">
                <a:solidFill>
                  <a:srgbClr val="D2DA8A"/>
                </a:solidFill>
                <a:hlinkClick r:id="rId7">
                  <a:extLst>
                    <a:ext uri="{A12FA001-AC4F-418D-AE19-62706E023703}">
                      <ahyp:hlinkClr xmlns:ahyp="http://schemas.microsoft.com/office/drawing/2018/hyperlinkcolor" val="tx"/>
                    </a:ext>
                  </a:extLst>
                </a:hlinkClick>
              </a:rPr>
              <a:t> </a:t>
            </a:r>
            <a:r>
              <a:rPr lang="cs-CZ" dirty="0" err="1">
                <a:solidFill>
                  <a:srgbClr val="D2DA8A"/>
                </a:solidFill>
                <a:hlinkClick r:id="rId7">
                  <a:extLst>
                    <a:ext uri="{A12FA001-AC4F-418D-AE19-62706E023703}">
                      <ahyp:hlinkClr xmlns:ahyp="http://schemas.microsoft.com/office/drawing/2018/hyperlinkcolor" val="tx"/>
                    </a:ext>
                  </a:extLst>
                </a:hlinkClick>
              </a:rPr>
              <a:t>research</a:t>
            </a:r>
            <a:r>
              <a:rPr lang="cs-CZ" dirty="0">
                <a:solidFill>
                  <a:srgbClr val="D2DA8A"/>
                </a:solidFill>
                <a:hlinkClick r:id="rId7">
                  <a:extLst>
                    <a:ext uri="{A12FA001-AC4F-418D-AE19-62706E023703}">
                      <ahyp:hlinkClr xmlns:ahyp="http://schemas.microsoft.com/office/drawing/2018/hyperlinkcolor" val="tx"/>
                    </a:ext>
                  </a:extLst>
                </a:hlinkClick>
              </a:rPr>
              <a:t> </a:t>
            </a:r>
            <a:r>
              <a:rPr lang="cs-CZ" dirty="0" err="1">
                <a:solidFill>
                  <a:srgbClr val="D2DA8A"/>
                </a:solidFill>
                <a:hlinkClick r:id="rId7">
                  <a:extLst>
                    <a:ext uri="{A12FA001-AC4F-418D-AE19-62706E023703}">
                      <ahyp:hlinkClr xmlns:ahyp="http://schemas.microsoft.com/office/drawing/2018/hyperlinkcolor" val="tx"/>
                    </a:ext>
                  </a:extLst>
                </a:hlinkClick>
              </a:rPr>
              <a:t>article</a:t>
            </a:r>
            <a:r>
              <a:rPr lang="cs-CZ" dirty="0">
                <a:solidFill>
                  <a:srgbClr val="D2DA8A"/>
                </a:solidFill>
              </a:rPr>
              <a:t>. (2020).</a:t>
            </a:r>
          </a:p>
          <a:p>
            <a:pPr>
              <a:lnSpc>
                <a:spcPct val="150000"/>
              </a:lnSpc>
            </a:pPr>
            <a:r>
              <a:rPr lang="cs-CZ" dirty="0" err="1">
                <a:solidFill>
                  <a:srgbClr val="D2DA8A"/>
                </a:solidFill>
              </a:rPr>
              <a:t>Royal</a:t>
            </a:r>
            <a:r>
              <a:rPr lang="cs-CZ" dirty="0">
                <a:solidFill>
                  <a:srgbClr val="D2DA8A"/>
                </a:solidFill>
              </a:rPr>
              <a:t> </a:t>
            </a:r>
            <a:r>
              <a:rPr lang="cs-CZ" dirty="0" err="1">
                <a:solidFill>
                  <a:srgbClr val="D2DA8A"/>
                </a:solidFill>
              </a:rPr>
              <a:t>Botanic</a:t>
            </a:r>
            <a:r>
              <a:rPr lang="cs-CZ" dirty="0">
                <a:solidFill>
                  <a:srgbClr val="D2DA8A"/>
                </a:solidFill>
              </a:rPr>
              <a:t> </a:t>
            </a:r>
            <a:r>
              <a:rPr lang="cs-CZ" dirty="0" err="1">
                <a:solidFill>
                  <a:srgbClr val="D2DA8A"/>
                </a:solidFill>
              </a:rPr>
              <a:t>Gardens</a:t>
            </a:r>
            <a:r>
              <a:rPr lang="cs-CZ" dirty="0">
                <a:solidFill>
                  <a:srgbClr val="D2DA8A"/>
                </a:solidFill>
              </a:rPr>
              <a:t>, </a:t>
            </a:r>
            <a:r>
              <a:rPr lang="cs-CZ" dirty="0" err="1">
                <a:solidFill>
                  <a:srgbClr val="D2DA8A"/>
                </a:solidFill>
              </a:rPr>
              <a:t>Kew</a:t>
            </a:r>
            <a:r>
              <a:rPr lang="cs-CZ" dirty="0">
                <a:solidFill>
                  <a:srgbClr val="D2DA8A"/>
                </a:solidFill>
              </a:rPr>
              <a:t>. (</a:t>
            </a:r>
            <a:r>
              <a:rPr lang="cs-CZ" dirty="0" err="1">
                <a:solidFill>
                  <a:srgbClr val="D2DA8A"/>
                </a:solidFill>
              </a:rPr>
              <a:t>n.d</a:t>
            </a:r>
            <a:r>
              <a:rPr lang="cs-CZ" dirty="0">
                <a:solidFill>
                  <a:srgbClr val="D2DA8A"/>
                </a:solidFill>
              </a:rPr>
              <a:t>.). </a:t>
            </a:r>
            <a:r>
              <a:rPr lang="cs-CZ" dirty="0" err="1">
                <a:solidFill>
                  <a:srgbClr val="D2DA8A"/>
                </a:solidFill>
                <a:hlinkClick r:id="rId8">
                  <a:extLst>
                    <a:ext uri="{A12FA001-AC4F-418D-AE19-62706E023703}">
                      <ahyp:hlinkClr xmlns:ahyp="http://schemas.microsoft.com/office/drawing/2018/hyperlinkcolor" val="tx"/>
                    </a:ext>
                  </a:extLst>
                </a:hlinkClick>
              </a:rPr>
              <a:t>Plants</a:t>
            </a:r>
            <a:r>
              <a:rPr lang="cs-CZ" dirty="0">
                <a:solidFill>
                  <a:srgbClr val="D2DA8A"/>
                </a:solidFill>
                <a:hlinkClick r:id="rId8">
                  <a:extLst>
                    <a:ext uri="{A12FA001-AC4F-418D-AE19-62706E023703}">
                      <ahyp:hlinkClr xmlns:ahyp="http://schemas.microsoft.com/office/drawing/2018/hyperlinkcolor" val="tx"/>
                    </a:ext>
                  </a:extLst>
                </a:hlinkClick>
              </a:rPr>
              <a:t> </a:t>
            </a:r>
            <a:r>
              <a:rPr lang="cs-CZ" dirty="0" err="1">
                <a:solidFill>
                  <a:srgbClr val="D2DA8A"/>
                </a:solidFill>
                <a:hlinkClick r:id="rId8">
                  <a:extLst>
                    <a:ext uri="{A12FA001-AC4F-418D-AE19-62706E023703}">
                      <ahyp:hlinkClr xmlns:ahyp="http://schemas.microsoft.com/office/drawing/2018/hyperlinkcolor" val="tx"/>
                    </a:ext>
                  </a:extLst>
                </a:hlinkClick>
              </a:rPr>
              <a:t>of</a:t>
            </a:r>
            <a:r>
              <a:rPr lang="cs-CZ" dirty="0">
                <a:solidFill>
                  <a:srgbClr val="D2DA8A"/>
                </a:solidFill>
                <a:hlinkClick r:id="rId8">
                  <a:extLst>
                    <a:ext uri="{A12FA001-AC4F-418D-AE19-62706E023703}">
                      <ahyp:hlinkClr xmlns:ahyp="http://schemas.microsoft.com/office/drawing/2018/hyperlinkcolor" val="tx"/>
                    </a:ext>
                  </a:extLst>
                </a:hlinkClick>
              </a:rPr>
              <a:t> </a:t>
            </a:r>
            <a:r>
              <a:rPr lang="cs-CZ" dirty="0" err="1">
                <a:solidFill>
                  <a:srgbClr val="D2DA8A"/>
                </a:solidFill>
                <a:hlinkClick r:id="rId8">
                  <a:extLst>
                    <a:ext uri="{A12FA001-AC4F-418D-AE19-62706E023703}">
                      <ahyp:hlinkClr xmlns:ahyp="http://schemas.microsoft.com/office/drawing/2018/hyperlinkcolor" val="tx"/>
                    </a:ext>
                  </a:extLst>
                </a:hlinkClick>
              </a:rPr>
              <a:t>the</a:t>
            </a:r>
            <a:r>
              <a:rPr lang="cs-CZ" dirty="0">
                <a:solidFill>
                  <a:srgbClr val="D2DA8A"/>
                </a:solidFill>
                <a:hlinkClick r:id="rId8">
                  <a:extLst>
                    <a:ext uri="{A12FA001-AC4F-418D-AE19-62706E023703}">
                      <ahyp:hlinkClr xmlns:ahyp="http://schemas.microsoft.com/office/drawing/2018/hyperlinkcolor" val="tx"/>
                    </a:ext>
                  </a:extLst>
                </a:hlinkClick>
              </a:rPr>
              <a:t> </a:t>
            </a:r>
            <a:r>
              <a:rPr lang="cs-CZ" dirty="0" err="1">
                <a:solidFill>
                  <a:srgbClr val="D2DA8A"/>
                </a:solidFill>
                <a:hlinkClick r:id="rId8">
                  <a:extLst>
                    <a:ext uri="{A12FA001-AC4F-418D-AE19-62706E023703}">
                      <ahyp:hlinkClr xmlns:ahyp="http://schemas.microsoft.com/office/drawing/2018/hyperlinkcolor" val="tx"/>
                    </a:ext>
                  </a:extLst>
                </a:hlinkClick>
              </a:rPr>
              <a:t>World</a:t>
            </a:r>
            <a:r>
              <a:rPr lang="cs-CZ" dirty="0">
                <a:solidFill>
                  <a:srgbClr val="D2DA8A"/>
                </a:solidFill>
                <a:hlinkClick r:id="rId8">
                  <a:extLst>
                    <a:ext uri="{A12FA001-AC4F-418D-AE19-62706E023703}">
                      <ahyp:hlinkClr xmlns:ahyp="http://schemas.microsoft.com/office/drawing/2018/hyperlinkcolor" val="tx"/>
                    </a:ext>
                  </a:extLst>
                </a:hlinkClick>
              </a:rPr>
              <a:t> Online: Taxon </a:t>
            </a:r>
            <a:r>
              <a:rPr lang="cs-CZ" dirty="0" err="1">
                <a:solidFill>
                  <a:srgbClr val="D2DA8A"/>
                </a:solidFill>
                <a:hlinkClick r:id="rId8">
                  <a:extLst>
                    <a:ext uri="{A12FA001-AC4F-418D-AE19-62706E023703}">
                      <ahyp:hlinkClr xmlns:ahyp="http://schemas.microsoft.com/office/drawing/2018/hyperlinkcolor" val="tx"/>
                    </a:ext>
                  </a:extLst>
                </a:hlinkClick>
              </a:rPr>
              <a:t>record</a:t>
            </a:r>
            <a:r>
              <a:rPr lang="cs-CZ" dirty="0">
                <a:solidFill>
                  <a:srgbClr val="D2DA8A"/>
                </a:solidFill>
              </a:rPr>
              <a:t>.</a:t>
            </a:r>
          </a:p>
          <a:p>
            <a:pPr>
              <a:lnSpc>
                <a:spcPct val="150000"/>
              </a:lnSpc>
            </a:pPr>
            <a:r>
              <a:rPr lang="cs-CZ" dirty="0" err="1">
                <a:solidFill>
                  <a:srgbClr val="D2DA8A"/>
                </a:solidFill>
                <a:hlinkClick r:id="rId9">
                  <a:extLst>
                    <a:ext uri="{A12FA001-AC4F-418D-AE19-62706E023703}">
                      <ahyp:hlinkClr xmlns:ahyp="http://schemas.microsoft.com/office/drawing/2018/hyperlinkcolor" val="tx"/>
                    </a:ext>
                  </a:extLst>
                </a:hlinkClick>
              </a:rPr>
              <a:t>Nature</a:t>
            </a:r>
            <a:r>
              <a:rPr lang="cs-CZ" dirty="0">
                <a:solidFill>
                  <a:srgbClr val="D2DA8A"/>
                </a:solidFill>
                <a:hlinkClick r:id="rId9">
                  <a:extLst>
                    <a:ext uri="{A12FA001-AC4F-418D-AE19-62706E023703}">
                      <ahyp:hlinkClr xmlns:ahyp="http://schemas.microsoft.com/office/drawing/2018/hyperlinkcolor" val="tx"/>
                    </a:ext>
                  </a:extLst>
                </a:hlinkClick>
              </a:rPr>
              <a:t> Communications </a:t>
            </a:r>
            <a:r>
              <a:rPr lang="cs-CZ" dirty="0" err="1">
                <a:solidFill>
                  <a:srgbClr val="D2DA8A"/>
                </a:solidFill>
                <a:hlinkClick r:id="rId9">
                  <a:extLst>
                    <a:ext uri="{A12FA001-AC4F-418D-AE19-62706E023703}">
                      <ahyp:hlinkClr xmlns:ahyp="http://schemas.microsoft.com/office/drawing/2018/hyperlinkcolor" val="tx"/>
                    </a:ext>
                  </a:extLst>
                </a:hlinkClick>
              </a:rPr>
              <a:t>research</a:t>
            </a:r>
            <a:r>
              <a:rPr lang="cs-CZ" dirty="0">
                <a:solidFill>
                  <a:srgbClr val="D2DA8A"/>
                </a:solidFill>
                <a:hlinkClick r:id="rId9">
                  <a:extLst>
                    <a:ext uri="{A12FA001-AC4F-418D-AE19-62706E023703}">
                      <ahyp:hlinkClr xmlns:ahyp="http://schemas.microsoft.com/office/drawing/2018/hyperlinkcolor" val="tx"/>
                    </a:ext>
                  </a:extLst>
                </a:hlinkClick>
              </a:rPr>
              <a:t> </a:t>
            </a:r>
            <a:r>
              <a:rPr lang="cs-CZ" dirty="0" err="1">
                <a:solidFill>
                  <a:srgbClr val="D2DA8A"/>
                </a:solidFill>
                <a:hlinkClick r:id="rId9">
                  <a:extLst>
                    <a:ext uri="{A12FA001-AC4F-418D-AE19-62706E023703}">
                      <ahyp:hlinkClr xmlns:ahyp="http://schemas.microsoft.com/office/drawing/2018/hyperlinkcolor" val="tx"/>
                    </a:ext>
                  </a:extLst>
                </a:hlinkClick>
              </a:rPr>
              <a:t>article</a:t>
            </a:r>
            <a:r>
              <a:rPr lang="cs-CZ" dirty="0">
                <a:solidFill>
                  <a:srgbClr val="D2DA8A"/>
                </a:solidFill>
              </a:rPr>
              <a:t>. (2024). </a:t>
            </a:r>
            <a:r>
              <a:rPr lang="cs-CZ" dirty="0" err="1">
                <a:solidFill>
                  <a:srgbClr val="D2DA8A"/>
                </a:solidFill>
              </a:rPr>
              <a:t>Nature</a:t>
            </a:r>
            <a:r>
              <a:rPr lang="cs-CZ" dirty="0">
                <a:solidFill>
                  <a:srgbClr val="D2DA8A"/>
                </a:solidFill>
              </a:rPr>
              <a:t> Communications.</a:t>
            </a:r>
          </a:p>
          <a:p>
            <a:endParaRPr lang="en-GB" dirty="0"/>
          </a:p>
        </p:txBody>
      </p:sp>
    </p:spTree>
    <p:extLst>
      <p:ext uri="{BB962C8B-B14F-4D97-AF65-F5344CB8AC3E}">
        <p14:creationId xmlns:p14="http://schemas.microsoft.com/office/powerpoint/2010/main" val="3689408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F340E"/>
        </a:solidFill>
        <a:effectLst/>
      </p:bgPr>
    </p:bg>
    <p:spTree>
      <p:nvGrpSpPr>
        <p:cNvPr id="1" name="">
          <a:extLst>
            <a:ext uri="{FF2B5EF4-FFF2-40B4-BE49-F238E27FC236}">
              <a16:creationId xmlns:a16="http://schemas.microsoft.com/office/drawing/2014/main" id="{B7524BBD-3D29-EE73-4151-FFC0C8BEAD02}"/>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DA185469-5609-CAC0-7CF2-8B670B388199}"/>
              </a:ext>
            </a:extLst>
          </p:cNvPr>
          <p:cNvSpPr>
            <a:spLocks noGrp="1"/>
          </p:cNvSpPr>
          <p:nvPr>
            <p:ph type="title"/>
          </p:nvPr>
        </p:nvSpPr>
        <p:spPr>
          <a:xfrm>
            <a:off x="0" y="0"/>
            <a:ext cx="10515600" cy="654206"/>
          </a:xfrm>
        </p:spPr>
        <p:txBody>
          <a:bodyPr>
            <a:normAutofit fontScale="90000"/>
          </a:bodyPr>
          <a:lstStyle/>
          <a:p>
            <a:r>
              <a:rPr lang="cs-CZ" dirty="0" err="1">
                <a:solidFill>
                  <a:srgbClr val="D2DA8A"/>
                </a:solidFill>
                <a:latin typeface="Bahnschrift SemiBold Condensed" panose="020B0502040204020203" pitchFamily="34" charset="0"/>
              </a:rPr>
              <a:t>Resources</a:t>
            </a:r>
            <a:endParaRPr lang="en-GB" dirty="0">
              <a:solidFill>
                <a:srgbClr val="D2DA8A"/>
              </a:solidFill>
              <a:latin typeface="Bahnschrift SemiBold Condensed" panose="020B0502040204020203" pitchFamily="34" charset="0"/>
            </a:endParaRPr>
          </a:p>
        </p:txBody>
      </p:sp>
      <p:sp>
        <p:nvSpPr>
          <p:cNvPr id="6" name="TextovéPole 5">
            <a:extLst>
              <a:ext uri="{FF2B5EF4-FFF2-40B4-BE49-F238E27FC236}">
                <a16:creationId xmlns:a16="http://schemas.microsoft.com/office/drawing/2014/main" id="{891FC0C8-428E-FE07-4C9E-9AE230CF1EFC}"/>
              </a:ext>
            </a:extLst>
          </p:cNvPr>
          <p:cNvSpPr txBox="1"/>
          <p:nvPr/>
        </p:nvSpPr>
        <p:spPr>
          <a:xfrm>
            <a:off x="112426" y="678825"/>
            <a:ext cx="11967148" cy="2538699"/>
          </a:xfrm>
          <a:prstGeom prst="rect">
            <a:avLst/>
          </a:prstGeom>
          <a:noFill/>
        </p:spPr>
        <p:txBody>
          <a:bodyPr wrap="square" rtlCol="0">
            <a:spAutoFit/>
          </a:bodyPr>
          <a:lstStyle/>
          <a:p>
            <a:pPr>
              <a:defRPr sz="2000" b="1"/>
            </a:pPr>
            <a:r>
              <a:rPr lang="en-US" dirty="0">
                <a:solidFill>
                  <a:srgbClr val="D2DA8A"/>
                </a:solidFill>
              </a:rPr>
              <a:t>Stearns, S. C. (1977). The evolution of life history traits: a critique of the theory and a review of the data. Annual Review of Ecology and Systematics, 145–171.</a:t>
            </a:r>
          </a:p>
          <a:p>
            <a:pPr>
              <a:defRPr sz="2000" b="1"/>
            </a:pPr>
            <a:endParaRPr lang="cs-CZ" dirty="0">
              <a:solidFill>
                <a:srgbClr val="D2DA8A"/>
              </a:solidFill>
            </a:endParaRPr>
          </a:p>
          <a:p>
            <a:pPr>
              <a:defRPr sz="2000" b="1"/>
            </a:pPr>
            <a:r>
              <a:rPr lang="en-US" dirty="0">
                <a:solidFill>
                  <a:srgbClr val="D2DA8A"/>
                </a:solidFill>
              </a:rPr>
              <a:t>Stott, I. et al. (2024). Life histories are not just fast or slow. Trends in Ecology &amp; Evolution, 39(9), 830–840.</a:t>
            </a:r>
            <a:endParaRPr lang="cs-CZ" dirty="0">
              <a:solidFill>
                <a:srgbClr val="D2DA8A"/>
              </a:solidFill>
            </a:endParaRPr>
          </a:p>
          <a:p>
            <a:pPr>
              <a:defRPr sz="2000" b="1"/>
            </a:pPr>
            <a:endParaRPr lang="cs-CZ" dirty="0">
              <a:solidFill>
                <a:srgbClr val="D2DA8A"/>
              </a:solidFill>
            </a:endParaRPr>
          </a:p>
          <a:p>
            <a:pPr>
              <a:defRPr sz="2000" b="1"/>
            </a:pPr>
            <a:endParaRPr lang="en-US" dirty="0">
              <a:solidFill>
                <a:srgbClr val="D2DA8A"/>
              </a:solidFill>
            </a:endParaRPr>
          </a:p>
          <a:p>
            <a:endParaRPr lang="en-GB" dirty="0"/>
          </a:p>
        </p:txBody>
      </p:sp>
    </p:spTree>
    <p:extLst>
      <p:ext uri="{BB962C8B-B14F-4D97-AF65-F5344CB8AC3E}">
        <p14:creationId xmlns:p14="http://schemas.microsoft.com/office/powerpoint/2010/main" val="32701087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F340E"/>
        </a:solidFill>
        <a:effectLst/>
      </p:bgPr>
    </p:bg>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EAABA3C-CF3A-1738-40AE-7736B410330D}"/>
              </a:ext>
            </a:extLst>
          </p:cNvPr>
          <p:cNvSpPr>
            <a:spLocks noGrp="1"/>
          </p:cNvSpPr>
          <p:nvPr>
            <p:ph type="title"/>
          </p:nvPr>
        </p:nvSpPr>
        <p:spPr>
          <a:xfrm>
            <a:off x="1723741" y="106413"/>
            <a:ext cx="10515600" cy="669196"/>
          </a:xfrm>
        </p:spPr>
        <p:txBody>
          <a:bodyPr>
            <a:normAutofit fontScale="90000"/>
          </a:bodyPr>
          <a:lstStyle/>
          <a:p>
            <a:r>
              <a:rPr lang="cs-CZ" noProof="0" dirty="0" err="1">
                <a:solidFill>
                  <a:srgbClr val="D2DA8A"/>
                </a:solidFill>
                <a:latin typeface="Bahnschrift SemiBold Condensed" panose="020B0502040204020203" pitchFamily="34" charset="0"/>
              </a:rPr>
              <a:t>Contributions</a:t>
            </a:r>
            <a:endParaRPr lang="en-GB" noProof="0" dirty="0">
              <a:solidFill>
                <a:srgbClr val="D2DA8A"/>
              </a:solidFill>
              <a:latin typeface="Bahnschrift SemiBold Condensed" panose="020B0502040204020203" pitchFamily="34" charset="0"/>
            </a:endParaRPr>
          </a:p>
        </p:txBody>
      </p:sp>
      <p:pic>
        <p:nvPicPr>
          <p:cNvPr id="5" name="Obrázek 4">
            <a:extLst>
              <a:ext uri="{FF2B5EF4-FFF2-40B4-BE49-F238E27FC236}">
                <a16:creationId xmlns:a16="http://schemas.microsoft.com/office/drawing/2014/main" id="{C45C2CB3-E15E-3A5B-413B-15D9E64B21CE}"/>
              </a:ext>
            </a:extLst>
          </p:cNvPr>
          <p:cNvPicPr>
            <a:picLocks noChangeAspect="1"/>
          </p:cNvPicPr>
          <p:nvPr/>
        </p:nvPicPr>
        <p:blipFill>
          <a:blip r:embed="rId3"/>
          <a:srcRect r="10148"/>
          <a:stretch>
            <a:fillRect/>
          </a:stretch>
        </p:blipFill>
        <p:spPr>
          <a:xfrm>
            <a:off x="114152" y="775609"/>
            <a:ext cx="2769691" cy="4110011"/>
          </a:xfrm>
          <a:prstGeom prst="rect">
            <a:avLst/>
          </a:prstGeom>
        </p:spPr>
      </p:pic>
      <p:pic>
        <p:nvPicPr>
          <p:cNvPr id="9" name="Obrázek 8">
            <a:extLst>
              <a:ext uri="{FF2B5EF4-FFF2-40B4-BE49-F238E27FC236}">
                <a16:creationId xmlns:a16="http://schemas.microsoft.com/office/drawing/2014/main" id="{A39DA128-9971-769C-4444-11FC6E4590EE}"/>
              </a:ext>
            </a:extLst>
          </p:cNvPr>
          <p:cNvPicPr>
            <a:picLocks noChangeAspect="1"/>
          </p:cNvPicPr>
          <p:nvPr/>
        </p:nvPicPr>
        <p:blipFill>
          <a:blip r:embed="rId4"/>
          <a:srcRect l="11335" t="6890" b="15328"/>
          <a:stretch>
            <a:fillRect/>
          </a:stretch>
        </p:blipFill>
        <p:spPr>
          <a:xfrm>
            <a:off x="8229600" y="0"/>
            <a:ext cx="3962400" cy="4634741"/>
          </a:xfrm>
          <a:prstGeom prst="rect">
            <a:avLst/>
          </a:prstGeom>
        </p:spPr>
      </p:pic>
      <p:pic>
        <p:nvPicPr>
          <p:cNvPr id="7" name="Obrázek 6">
            <a:extLst>
              <a:ext uri="{FF2B5EF4-FFF2-40B4-BE49-F238E27FC236}">
                <a16:creationId xmlns:a16="http://schemas.microsoft.com/office/drawing/2014/main" id="{2E88D2E6-43CC-FE98-AB0C-D3B7FF5E0226}"/>
              </a:ext>
            </a:extLst>
          </p:cNvPr>
          <p:cNvPicPr>
            <a:picLocks noChangeAspect="1"/>
          </p:cNvPicPr>
          <p:nvPr/>
        </p:nvPicPr>
        <p:blipFill>
          <a:blip r:embed="rId5"/>
          <a:srcRect l="22038" t="16621" r="19180" b="14655"/>
          <a:stretch>
            <a:fillRect/>
          </a:stretch>
        </p:blipFill>
        <p:spPr>
          <a:xfrm>
            <a:off x="5733482" y="676922"/>
            <a:ext cx="2496118" cy="3891083"/>
          </a:xfrm>
          <a:prstGeom prst="rect">
            <a:avLst/>
          </a:prstGeom>
        </p:spPr>
      </p:pic>
      <p:pic>
        <p:nvPicPr>
          <p:cNvPr id="11" name="Obrázek 10">
            <a:extLst>
              <a:ext uri="{FF2B5EF4-FFF2-40B4-BE49-F238E27FC236}">
                <a16:creationId xmlns:a16="http://schemas.microsoft.com/office/drawing/2014/main" id="{4BA292CC-ACE1-8DD6-FC78-AFA47EA497A9}"/>
              </a:ext>
            </a:extLst>
          </p:cNvPr>
          <p:cNvPicPr>
            <a:picLocks noChangeAspect="1"/>
          </p:cNvPicPr>
          <p:nvPr/>
        </p:nvPicPr>
        <p:blipFill>
          <a:blip r:embed="rId6"/>
          <a:srcRect t="21677" b="42650"/>
          <a:stretch>
            <a:fillRect/>
          </a:stretch>
        </p:blipFill>
        <p:spPr>
          <a:xfrm rot="16200000">
            <a:off x="2470678" y="1382318"/>
            <a:ext cx="3722921" cy="2896591"/>
          </a:xfrm>
          <a:prstGeom prst="rect">
            <a:avLst/>
          </a:prstGeom>
        </p:spPr>
      </p:pic>
      <p:sp>
        <p:nvSpPr>
          <p:cNvPr id="12" name="TextovéPole 11">
            <a:extLst>
              <a:ext uri="{FF2B5EF4-FFF2-40B4-BE49-F238E27FC236}">
                <a16:creationId xmlns:a16="http://schemas.microsoft.com/office/drawing/2014/main" id="{69C389A1-7709-2EAB-6618-0068413D10F0}"/>
              </a:ext>
            </a:extLst>
          </p:cNvPr>
          <p:cNvSpPr txBox="1"/>
          <p:nvPr/>
        </p:nvSpPr>
        <p:spPr>
          <a:xfrm>
            <a:off x="8562874" y="4634741"/>
            <a:ext cx="3629126" cy="2000548"/>
          </a:xfrm>
          <a:prstGeom prst="rect">
            <a:avLst/>
          </a:prstGeom>
          <a:noFill/>
        </p:spPr>
        <p:txBody>
          <a:bodyPr wrap="square" rtlCol="0">
            <a:spAutoFit/>
          </a:bodyPr>
          <a:lstStyle/>
          <a:p>
            <a:r>
              <a:rPr lang="cs-CZ" sz="2800" b="1" dirty="0" err="1">
                <a:solidFill>
                  <a:srgbClr val="D2DA8A"/>
                </a:solidFill>
                <a:latin typeface="Bahnschrift SemiBold Condensed" panose="020B0502040204020203" pitchFamily="34" charset="0"/>
              </a:rPr>
              <a:t>Stylianos</a:t>
            </a:r>
            <a:r>
              <a:rPr lang="cs-CZ" sz="2800" b="1" dirty="0">
                <a:solidFill>
                  <a:srgbClr val="D2DA8A"/>
                </a:solidFill>
                <a:latin typeface="Bahnschrift SemiBold Condensed" panose="020B0502040204020203" pitchFamily="34" charset="0"/>
              </a:rPr>
              <a:t> </a:t>
            </a:r>
            <a:r>
              <a:rPr lang="cs-CZ" sz="2800" b="1" dirty="0" err="1">
                <a:solidFill>
                  <a:srgbClr val="D2DA8A"/>
                </a:solidFill>
                <a:latin typeface="Bahnschrift SemiBold Condensed" panose="020B0502040204020203" pitchFamily="34" charset="0"/>
              </a:rPr>
              <a:t>Sifakakis</a:t>
            </a:r>
            <a:endParaRPr lang="cs-CZ" sz="2800" b="1" dirty="0">
              <a:solidFill>
                <a:srgbClr val="D2DA8A"/>
              </a:solidFill>
              <a:latin typeface="Bahnschrift SemiBold Condensed" panose="020B0502040204020203" pitchFamily="34" charset="0"/>
            </a:endParaRPr>
          </a:p>
          <a:p>
            <a:pPr marL="457200" indent="-457200">
              <a:buFont typeface="Wingdings" panose="05000000000000000000" pitchFamily="2" charset="2"/>
              <a:buChar char="§"/>
            </a:pPr>
            <a:r>
              <a:rPr lang="cs-CZ" sz="2400" dirty="0" err="1">
                <a:solidFill>
                  <a:srgbClr val="D2DA8A"/>
                </a:solidFill>
                <a:latin typeface="Bahnschrift SemiBold Condensed" panose="020B0502040204020203" pitchFamily="34" charset="0"/>
              </a:rPr>
              <a:t>Presentation</a:t>
            </a:r>
            <a:r>
              <a:rPr lang="cs-CZ" sz="2400" dirty="0">
                <a:solidFill>
                  <a:srgbClr val="D2DA8A"/>
                </a:solidFill>
                <a:latin typeface="Bahnschrift SemiBold Condensed" panose="020B0502040204020203" pitchFamily="34" charset="0"/>
              </a:rPr>
              <a:t> and notes</a:t>
            </a:r>
          </a:p>
          <a:p>
            <a:pPr marL="457200" indent="-457200">
              <a:buFont typeface="Wingdings" panose="05000000000000000000" pitchFamily="2" charset="2"/>
              <a:buChar char="§"/>
            </a:pPr>
            <a:r>
              <a:rPr lang="cs-CZ" sz="2400" dirty="0" err="1">
                <a:solidFill>
                  <a:srgbClr val="D2DA8A"/>
                </a:solidFill>
                <a:latin typeface="Bahnschrift SemiBold Condensed" panose="020B0502040204020203" pitchFamily="34" charset="0"/>
              </a:rPr>
              <a:t>Extract</a:t>
            </a:r>
            <a:r>
              <a:rPr lang="cs-CZ" sz="2400" dirty="0">
                <a:solidFill>
                  <a:srgbClr val="D2DA8A"/>
                </a:solidFill>
                <a:latin typeface="Bahnschrift SemiBold Condensed" panose="020B0502040204020203" pitchFamily="34" charset="0"/>
              </a:rPr>
              <a:t> </a:t>
            </a:r>
            <a:r>
              <a:rPr lang="cs-CZ" sz="2400" dirty="0" err="1">
                <a:solidFill>
                  <a:srgbClr val="D2DA8A"/>
                </a:solidFill>
                <a:latin typeface="Bahnschrift SemiBold Condensed" panose="020B0502040204020203" pitchFamily="34" charset="0"/>
              </a:rPr>
              <a:t>information</a:t>
            </a:r>
            <a:endParaRPr lang="cs-CZ" sz="2400" dirty="0">
              <a:solidFill>
                <a:srgbClr val="D2DA8A"/>
              </a:solidFill>
              <a:latin typeface="Bahnschrift SemiBold Condensed" panose="020B0502040204020203" pitchFamily="34" charset="0"/>
            </a:endParaRPr>
          </a:p>
          <a:p>
            <a:pPr marL="457200" indent="-457200">
              <a:buFont typeface="Wingdings" panose="05000000000000000000" pitchFamily="2" charset="2"/>
              <a:buChar char="§"/>
            </a:pPr>
            <a:r>
              <a:rPr lang="cs-CZ" sz="2400" dirty="0" err="1">
                <a:solidFill>
                  <a:srgbClr val="D2DA8A"/>
                </a:solidFill>
                <a:latin typeface="Bahnschrift SemiBold Condensed" panose="020B0502040204020203" pitchFamily="34" charset="0"/>
              </a:rPr>
              <a:t>Presentating</a:t>
            </a:r>
            <a:endParaRPr lang="cs-CZ" sz="2400" dirty="0">
              <a:solidFill>
                <a:srgbClr val="D2DA8A"/>
              </a:solidFill>
              <a:latin typeface="Bahnschrift SemiBold Condensed" panose="020B0502040204020203" pitchFamily="34" charset="0"/>
            </a:endParaRPr>
          </a:p>
          <a:p>
            <a:pPr marL="457200" indent="-457200">
              <a:buFont typeface="Wingdings" panose="05000000000000000000" pitchFamily="2" charset="2"/>
              <a:buChar char="§"/>
            </a:pPr>
            <a:r>
              <a:rPr lang="cs-CZ" sz="2400" dirty="0">
                <a:solidFill>
                  <a:srgbClr val="D2DA8A"/>
                </a:solidFill>
                <a:latin typeface="Bahnschrift SemiBold Condensed" panose="020B0502040204020203" pitchFamily="34" charset="0"/>
              </a:rPr>
              <a:t>C</a:t>
            </a:r>
            <a:r>
              <a:rPr lang="en-GB" sz="2400" dirty="0" err="1">
                <a:solidFill>
                  <a:srgbClr val="D2DA8A"/>
                </a:solidFill>
                <a:latin typeface="Bahnschrift SemiBold Condensed" panose="020B0502040204020203" pitchFamily="34" charset="0"/>
              </a:rPr>
              <a:t>onseptualisation</a:t>
            </a:r>
            <a:endParaRPr lang="en-GB" sz="2400" dirty="0">
              <a:solidFill>
                <a:srgbClr val="D2DA8A"/>
              </a:solidFill>
              <a:latin typeface="Bahnschrift SemiBold Condensed" panose="020B0502040204020203" pitchFamily="34" charset="0"/>
            </a:endParaRPr>
          </a:p>
        </p:txBody>
      </p:sp>
      <p:sp>
        <p:nvSpPr>
          <p:cNvPr id="14" name="TextovéPole 13">
            <a:extLst>
              <a:ext uri="{FF2B5EF4-FFF2-40B4-BE49-F238E27FC236}">
                <a16:creationId xmlns:a16="http://schemas.microsoft.com/office/drawing/2014/main" id="{E66EEE90-1BA7-560B-9B17-31091527F4B9}"/>
              </a:ext>
            </a:extLst>
          </p:cNvPr>
          <p:cNvSpPr txBox="1"/>
          <p:nvPr/>
        </p:nvSpPr>
        <p:spPr>
          <a:xfrm>
            <a:off x="5950104" y="4568005"/>
            <a:ext cx="3358053" cy="2062103"/>
          </a:xfrm>
          <a:prstGeom prst="rect">
            <a:avLst/>
          </a:prstGeom>
          <a:noFill/>
        </p:spPr>
        <p:txBody>
          <a:bodyPr wrap="square">
            <a:spAutoFit/>
          </a:bodyPr>
          <a:lstStyle/>
          <a:p>
            <a:r>
              <a:rPr lang="en-GB" sz="2800" b="1" dirty="0">
                <a:solidFill>
                  <a:srgbClr val="D2DA8A"/>
                </a:solidFill>
                <a:latin typeface="Bahnschrift SemiBold Condensed" panose="020B0502040204020203" pitchFamily="34" charset="0"/>
              </a:rPr>
              <a:t>Juulia </a:t>
            </a:r>
            <a:r>
              <a:rPr lang="en-GB" sz="2800" b="1" dirty="0" err="1">
                <a:solidFill>
                  <a:srgbClr val="D2DA8A"/>
                </a:solidFill>
                <a:latin typeface="Bahnschrift SemiBold Condensed" panose="020B0502040204020203" pitchFamily="34" charset="0"/>
              </a:rPr>
              <a:t>Björklöf</a:t>
            </a:r>
            <a:endParaRPr lang="cs-CZ" sz="2800" b="1" dirty="0">
              <a:solidFill>
                <a:srgbClr val="D2DA8A"/>
              </a:solidFill>
              <a:latin typeface="Bahnschrift SemiBold Condensed" panose="020B0502040204020203" pitchFamily="34" charset="0"/>
            </a:endParaRPr>
          </a:p>
          <a:p>
            <a:pPr marL="457200" indent="-457200">
              <a:buFont typeface="Wingdings" panose="05000000000000000000" pitchFamily="2" charset="2"/>
              <a:buChar char="§"/>
            </a:pPr>
            <a:r>
              <a:rPr lang="en-GB" sz="2400" b="1" dirty="0" err="1">
                <a:solidFill>
                  <a:srgbClr val="D2DA8A"/>
                </a:solidFill>
                <a:latin typeface="Bahnschrift SemiBold Condensed" panose="020B0502040204020203" pitchFamily="34" charset="0"/>
              </a:rPr>
              <a:t>Conseptualisation</a:t>
            </a:r>
            <a:endParaRPr lang="cs-CZ" sz="2400" b="1" dirty="0">
              <a:solidFill>
                <a:srgbClr val="D2DA8A"/>
              </a:solidFill>
              <a:latin typeface="Bahnschrift SemiBold Condensed" panose="020B0502040204020203" pitchFamily="34" charset="0"/>
            </a:endParaRPr>
          </a:p>
          <a:p>
            <a:pPr marL="457200" indent="-457200">
              <a:buFont typeface="Wingdings" panose="05000000000000000000" pitchFamily="2" charset="2"/>
              <a:buChar char="§"/>
            </a:pPr>
            <a:r>
              <a:rPr lang="cs-CZ" sz="2400" dirty="0" err="1">
                <a:solidFill>
                  <a:srgbClr val="D2DA8A"/>
                </a:solidFill>
                <a:latin typeface="Bahnschrift SemiBold Condensed" panose="020B0502040204020203" pitchFamily="34" charset="0"/>
              </a:rPr>
              <a:t>Extract</a:t>
            </a:r>
            <a:r>
              <a:rPr lang="cs-CZ" sz="2400" dirty="0">
                <a:solidFill>
                  <a:srgbClr val="D2DA8A"/>
                </a:solidFill>
                <a:latin typeface="Bahnschrift SemiBold Condensed" panose="020B0502040204020203" pitchFamily="34" charset="0"/>
              </a:rPr>
              <a:t> </a:t>
            </a:r>
            <a:r>
              <a:rPr lang="cs-CZ" sz="2400" dirty="0" err="1">
                <a:solidFill>
                  <a:srgbClr val="D2DA8A"/>
                </a:solidFill>
                <a:latin typeface="Bahnschrift SemiBold Condensed" panose="020B0502040204020203" pitchFamily="34" charset="0"/>
              </a:rPr>
              <a:t>information</a:t>
            </a:r>
            <a:endParaRPr lang="cs-CZ" sz="2400" dirty="0">
              <a:solidFill>
                <a:srgbClr val="D2DA8A"/>
              </a:solidFill>
              <a:latin typeface="Bahnschrift SemiBold Condensed" panose="020B0502040204020203" pitchFamily="34" charset="0"/>
            </a:endParaRPr>
          </a:p>
          <a:p>
            <a:pPr marL="457200" indent="-457200">
              <a:buFont typeface="Wingdings" panose="05000000000000000000" pitchFamily="2" charset="2"/>
              <a:buChar char="§"/>
            </a:pPr>
            <a:r>
              <a:rPr lang="cs-CZ" sz="2400" dirty="0" err="1">
                <a:solidFill>
                  <a:srgbClr val="D2DA8A"/>
                </a:solidFill>
                <a:latin typeface="Bahnschrift SemiBold Condensed" panose="020B0502040204020203" pitchFamily="34" charset="0"/>
              </a:rPr>
              <a:t>Presentating</a:t>
            </a:r>
            <a:endParaRPr lang="cs-CZ" sz="2400" dirty="0">
              <a:solidFill>
                <a:srgbClr val="D2DA8A"/>
              </a:solidFill>
              <a:latin typeface="Bahnschrift SemiBold Condensed" panose="020B0502040204020203" pitchFamily="34" charset="0"/>
            </a:endParaRPr>
          </a:p>
          <a:p>
            <a:pPr marL="457200" indent="-457200">
              <a:buFont typeface="Wingdings" panose="05000000000000000000" pitchFamily="2" charset="2"/>
              <a:buChar char="§"/>
            </a:pPr>
            <a:endParaRPr lang="en-GB" sz="2800" b="1" dirty="0">
              <a:solidFill>
                <a:srgbClr val="D2DA8A"/>
              </a:solidFill>
              <a:latin typeface="Bahnschrift SemiBold Condensed" panose="020B0502040204020203" pitchFamily="34" charset="0"/>
            </a:endParaRPr>
          </a:p>
        </p:txBody>
      </p:sp>
      <p:sp>
        <p:nvSpPr>
          <p:cNvPr id="16" name="TextovéPole 15">
            <a:extLst>
              <a:ext uri="{FF2B5EF4-FFF2-40B4-BE49-F238E27FC236}">
                <a16:creationId xmlns:a16="http://schemas.microsoft.com/office/drawing/2014/main" id="{8AAE05B7-AC8B-27C7-2134-612983BEFFE0}"/>
              </a:ext>
            </a:extLst>
          </p:cNvPr>
          <p:cNvSpPr txBox="1"/>
          <p:nvPr/>
        </p:nvSpPr>
        <p:spPr>
          <a:xfrm>
            <a:off x="2981676" y="4634741"/>
            <a:ext cx="3180413" cy="2000548"/>
          </a:xfrm>
          <a:prstGeom prst="rect">
            <a:avLst/>
          </a:prstGeom>
          <a:noFill/>
        </p:spPr>
        <p:txBody>
          <a:bodyPr wrap="square" rtlCol="0">
            <a:spAutoFit/>
          </a:bodyPr>
          <a:lstStyle/>
          <a:p>
            <a:r>
              <a:rPr lang="cs-CZ" sz="2800" b="1" dirty="0">
                <a:solidFill>
                  <a:srgbClr val="D2DA8A"/>
                </a:solidFill>
                <a:latin typeface="Bahnschrift SemiBold Condensed" panose="020B0502040204020203" pitchFamily="34" charset="0"/>
              </a:rPr>
              <a:t>Kateřina Flašková</a:t>
            </a:r>
          </a:p>
          <a:p>
            <a:pPr marL="457200" indent="-457200">
              <a:buFont typeface="Wingdings" panose="05000000000000000000" pitchFamily="2" charset="2"/>
              <a:buChar char="§"/>
            </a:pPr>
            <a:r>
              <a:rPr lang="cs-CZ" sz="2400" dirty="0" err="1">
                <a:solidFill>
                  <a:srgbClr val="D2DA8A"/>
                </a:solidFill>
                <a:latin typeface="Bahnschrift SemiBold Condensed" panose="020B0502040204020203" pitchFamily="34" charset="0"/>
              </a:rPr>
              <a:t>Presentation</a:t>
            </a:r>
            <a:r>
              <a:rPr lang="cs-CZ" sz="2400" dirty="0">
                <a:solidFill>
                  <a:srgbClr val="D2DA8A"/>
                </a:solidFill>
                <a:latin typeface="Bahnschrift SemiBold Condensed" panose="020B0502040204020203" pitchFamily="34" charset="0"/>
              </a:rPr>
              <a:t> and notes</a:t>
            </a:r>
          </a:p>
          <a:p>
            <a:pPr marL="457200" indent="-457200">
              <a:buFont typeface="Wingdings" panose="05000000000000000000" pitchFamily="2" charset="2"/>
              <a:buChar char="§"/>
            </a:pPr>
            <a:r>
              <a:rPr lang="cs-CZ" sz="2400" dirty="0" err="1">
                <a:solidFill>
                  <a:srgbClr val="D2DA8A"/>
                </a:solidFill>
                <a:latin typeface="Bahnschrift SemiBold Condensed" panose="020B0502040204020203" pitchFamily="34" charset="0"/>
              </a:rPr>
              <a:t>Extract</a:t>
            </a:r>
            <a:r>
              <a:rPr lang="cs-CZ" sz="2400" dirty="0">
                <a:solidFill>
                  <a:srgbClr val="D2DA8A"/>
                </a:solidFill>
                <a:latin typeface="Bahnschrift SemiBold Condensed" panose="020B0502040204020203" pitchFamily="34" charset="0"/>
              </a:rPr>
              <a:t> </a:t>
            </a:r>
            <a:r>
              <a:rPr lang="cs-CZ" sz="2400" dirty="0" err="1">
                <a:solidFill>
                  <a:srgbClr val="D2DA8A"/>
                </a:solidFill>
                <a:latin typeface="Bahnschrift SemiBold Condensed" panose="020B0502040204020203" pitchFamily="34" charset="0"/>
              </a:rPr>
              <a:t>information</a:t>
            </a:r>
            <a:endParaRPr lang="cs-CZ" sz="2400" dirty="0">
              <a:solidFill>
                <a:srgbClr val="D2DA8A"/>
              </a:solidFill>
              <a:latin typeface="Bahnschrift SemiBold Condensed" panose="020B0502040204020203" pitchFamily="34" charset="0"/>
            </a:endParaRPr>
          </a:p>
          <a:p>
            <a:pPr marL="457200" indent="-457200">
              <a:buFont typeface="Wingdings" panose="05000000000000000000" pitchFamily="2" charset="2"/>
              <a:buChar char="§"/>
            </a:pPr>
            <a:r>
              <a:rPr lang="cs-CZ" sz="2400" dirty="0" err="1">
                <a:solidFill>
                  <a:srgbClr val="D2DA8A"/>
                </a:solidFill>
                <a:latin typeface="Bahnschrift SemiBold Condensed" panose="020B0502040204020203" pitchFamily="34" charset="0"/>
              </a:rPr>
              <a:t>Presentating</a:t>
            </a:r>
            <a:endParaRPr lang="cs-CZ" sz="2400" dirty="0">
              <a:solidFill>
                <a:srgbClr val="D2DA8A"/>
              </a:solidFill>
              <a:latin typeface="Bahnschrift SemiBold Condensed" panose="020B0502040204020203" pitchFamily="34" charset="0"/>
            </a:endParaRPr>
          </a:p>
          <a:p>
            <a:pPr marL="457200" indent="-457200">
              <a:buFont typeface="Wingdings" panose="05000000000000000000" pitchFamily="2" charset="2"/>
              <a:buChar char="§"/>
            </a:pPr>
            <a:r>
              <a:rPr lang="cs-CZ" sz="2400" dirty="0">
                <a:solidFill>
                  <a:srgbClr val="D2DA8A"/>
                </a:solidFill>
                <a:latin typeface="Bahnschrift SemiBold Condensed" panose="020B0502040204020203" pitchFamily="34" charset="0"/>
              </a:rPr>
              <a:t>C</a:t>
            </a:r>
            <a:r>
              <a:rPr lang="en-GB" sz="2400" dirty="0" err="1">
                <a:solidFill>
                  <a:srgbClr val="D2DA8A"/>
                </a:solidFill>
                <a:latin typeface="Bahnschrift SemiBold Condensed" panose="020B0502040204020203" pitchFamily="34" charset="0"/>
              </a:rPr>
              <a:t>onseptualisation</a:t>
            </a:r>
            <a:endParaRPr lang="en-GB" sz="2400" dirty="0">
              <a:solidFill>
                <a:srgbClr val="D2DA8A"/>
              </a:solidFill>
              <a:latin typeface="Bahnschrift SemiBold Condensed" panose="020B0502040204020203" pitchFamily="34" charset="0"/>
            </a:endParaRPr>
          </a:p>
        </p:txBody>
      </p:sp>
      <p:sp>
        <p:nvSpPr>
          <p:cNvPr id="18" name="TextovéPole 17">
            <a:extLst>
              <a:ext uri="{FF2B5EF4-FFF2-40B4-BE49-F238E27FC236}">
                <a16:creationId xmlns:a16="http://schemas.microsoft.com/office/drawing/2014/main" id="{29E58FBB-0AFC-24A2-E84A-FA503E173695}"/>
              </a:ext>
            </a:extLst>
          </p:cNvPr>
          <p:cNvSpPr txBox="1"/>
          <p:nvPr/>
        </p:nvSpPr>
        <p:spPr>
          <a:xfrm>
            <a:off x="13248" y="4794506"/>
            <a:ext cx="3180413" cy="1631216"/>
          </a:xfrm>
          <a:prstGeom prst="rect">
            <a:avLst/>
          </a:prstGeom>
          <a:noFill/>
        </p:spPr>
        <p:txBody>
          <a:bodyPr wrap="square" rtlCol="0">
            <a:spAutoFit/>
          </a:bodyPr>
          <a:lstStyle/>
          <a:p>
            <a:r>
              <a:rPr lang="en-GB" sz="2800" dirty="0">
                <a:solidFill>
                  <a:srgbClr val="D2DA8A"/>
                </a:solidFill>
                <a:latin typeface="Bahnschrift SemiBold Condensed" panose="020B0502040204020203" pitchFamily="34" charset="0"/>
              </a:rPr>
              <a:t>Varga Luca Anna </a:t>
            </a:r>
            <a:endParaRPr lang="cs-CZ" sz="2800" dirty="0">
              <a:solidFill>
                <a:srgbClr val="D2DA8A"/>
              </a:solidFill>
              <a:latin typeface="Bahnschrift SemiBold Condensed" panose="020B0502040204020203" pitchFamily="34" charset="0"/>
            </a:endParaRPr>
          </a:p>
          <a:p>
            <a:pPr marL="457200" indent="-457200">
              <a:buFont typeface="Wingdings" panose="05000000000000000000" pitchFamily="2" charset="2"/>
              <a:buChar char="§"/>
            </a:pPr>
            <a:r>
              <a:rPr lang="cs-CZ" sz="2400" dirty="0" err="1">
                <a:solidFill>
                  <a:srgbClr val="D2DA8A"/>
                </a:solidFill>
                <a:latin typeface="Bahnschrift SemiBold Condensed" panose="020B0502040204020203" pitchFamily="34" charset="0"/>
              </a:rPr>
              <a:t>Extract</a:t>
            </a:r>
            <a:r>
              <a:rPr lang="cs-CZ" sz="2400" dirty="0">
                <a:solidFill>
                  <a:srgbClr val="D2DA8A"/>
                </a:solidFill>
                <a:latin typeface="Bahnschrift SemiBold Condensed" panose="020B0502040204020203" pitchFamily="34" charset="0"/>
              </a:rPr>
              <a:t> </a:t>
            </a:r>
            <a:r>
              <a:rPr lang="cs-CZ" sz="2400" dirty="0" err="1">
                <a:solidFill>
                  <a:srgbClr val="D2DA8A"/>
                </a:solidFill>
                <a:latin typeface="Bahnschrift SemiBold Condensed" panose="020B0502040204020203" pitchFamily="34" charset="0"/>
              </a:rPr>
              <a:t>information</a:t>
            </a:r>
            <a:endParaRPr lang="cs-CZ" sz="2400" dirty="0">
              <a:solidFill>
                <a:srgbClr val="D2DA8A"/>
              </a:solidFill>
              <a:latin typeface="Bahnschrift SemiBold Condensed" panose="020B0502040204020203" pitchFamily="34" charset="0"/>
            </a:endParaRPr>
          </a:p>
          <a:p>
            <a:pPr marL="457200" indent="-457200">
              <a:buFont typeface="Wingdings" panose="05000000000000000000" pitchFamily="2" charset="2"/>
              <a:buChar char="§"/>
            </a:pPr>
            <a:r>
              <a:rPr lang="cs-CZ" sz="2400" dirty="0" err="1">
                <a:solidFill>
                  <a:srgbClr val="D2DA8A"/>
                </a:solidFill>
                <a:latin typeface="Bahnschrift SemiBold Condensed" panose="020B0502040204020203" pitchFamily="34" charset="0"/>
              </a:rPr>
              <a:t>Presentating</a:t>
            </a:r>
            <a:endParaRPr lang="cs-CZ" sz="2400" dirty="0">
              <a:solidFill>
                <a:srgbClr val="D2DA8A"/>
              </a:solidFill>
              <a:latin typeface="Bahnschrift SemiBold Condensed" panose="020B0502040204020203" pitchFamily="34" charset="0"/>
            </a:endParaRPr>
          </a:p>
          <a:p>
            <a:pPr marL="457200" indent="-457200">
              <a:buFont typeface="Wingdings" panose="05000000000000000000" pitchFamily="2" charset="2"/>
              <a:buChar char="§"/>
            </a:pPr>
            <a:r>
              <a:rPr lang="cs-CZ" sz="2400" dirty="0">
                <a:solidFill>
                  <a:srgbClr val="D2DA8A"/>
                </a:solidFill>
                <a:latin typeface="Bahnschrift SemiBold Condensed" panose="020B0502040204020203" pitchFamily="34" charset="0"/>
              </a:rPr>
              <a:t>C</a:t>
            </a:r>
            <a:r>
              <a:rPr lang="en-GB" sz="2400" dirty="0" err="1">
                <a:solidFill>
                  <a:srgbClr val="D2DA8A"/>
                </a:solidFill>
                <a:latin typeface="Bahnschrift SemiBold Condensed" panose="020B0502040204020203" pitchFamily="34" charset="0"/>
              </a:rPr>
              <a:t>onseptualisation</a:t>
            </a:r>
            <a:endParaRPr lang="en-GB" sz="2400" dirty="0">
              <a:solidFill>
                <a:srgbClr val="D2DA8A"/>
              </a:solidFill>
              <a:latin typeface="Bahnschrift SemiBold Condensed" panose="020B0502040204020203" pitchFamily="34" charset="0"/>
            </a:endParaRPr>
          </a:p>
        </p:txBody>
      </p:sp>
    </p:spTree>
    <p:extLst>
      <p:ext uri="{BB962C8B-B14F-4D97-AF65-F5344CB8AC3E}">
        <p14:creationId xmlns:p14="http://schemas.microsoft.com/office/powerpoint/2010/main" val="2406843772"/>
      </p:ext>
    </p:extLst>
  </p:cSld>
  <p:clrMapOvr>
    <a:masterClrMapping/>
  </p:clrMapOvr>
</p:sld>
</file>

<file path=ppt/theme/theme1.xml><?xml version="1.0" encoding="utf-8"?>
<a:theme xmlns:a="http://schemas.openxmlformats.org/drawingml/2006/main" name="Moti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oti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E9729A6E312EDB48811C6E84F8A52AB2" ma:contentTypeVersion="4" ma:contentTypeDescription="Vytvoří nový dokument" ma:contentTypeScope="" ma:versionID="ae81cdf33fd40ca024f9efd404767029">
  <xsd:schema xmlns:xsd="http://www.w3.org/2001/XMLSchema" xmlns:xs="http://www.w3.org/2001/XMLSchema" xmlns:p="http://schemas.microsoft.com/office/2006/metadata/properties" xmlns:ns3="cffa1647-5ea7-4a41-b89a-6d8f026d7c98" targetNamespace="http://schemas.microsoft.com/office/2006/metadata/properties" ma:root="true" ma:fieldsID="8a26b18e2464a3354fd3e7b238c12963" ns3:_="">
    <xsd:import namespace="cffa1647-5ea7-4a41-b89a-6d8f026d7c9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fa1647-5ea7-4a41-b89a-6d8f026d7c9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5A11977-463E-4D0A-A8D4-91E80097A379}">
  <ds:schemaRefs>
    <ds:schemaRef ds:uri="http://purl.org/dc/dcmitype/"/>
    <ds:schemaRef ds:uri="http://www.w3.org/XML/1998/namespace"/>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cffa1647-5ea7-4a41-b89a-6d8f026d7c98"/>
    <ds:schemaRef ds:uri="http://purl.org/dc/elements/1.1/"/>
  </ds:schemaRefs>
</ds:datastoreItem>
</file>

<file path=customXml/itemProps2.xml><?xml version="1.0" encoding="utf-8"?>
<ds:datastoreItem xmlns:ds="http://schemas.openxmlformats.org/officeDocument/2006/customXml" ds:itemID="{52912D29-139B-4C1A-AEE9-ED473B82CACA}">
  <ds:schemaRefs>
    <ds:schemaRef ds:uri="http://schemas.microsoft.com/sharepoint/v3/contenttype/forms"/>
  </ds:schemaRefs>
</ds:datastoreItem>
</file>

<file path=customXml/itemProps3.xml><?xml version="1.0" encoding="utf-8"?>
<ds:datastoreItem xmlns:ds="http://schemas.openxmlformats.org/officeDocument/2006/customXml" ds:itemID="{5A4E7F42-1B69-4AEC-B8AB-E6DABD491D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ffa1647-5ea7-4a41-b89a-6d8f026d7c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26a48e1-fc21-461a-b97f-ac5bd535f341}" enabled="0" method="" siteId="{f26a48e1-fc21-461a-b97f-ac5bd535f341}" removed="1"/>
</clbl:labelList>
</file>

<file path=docProps/app.xml><?xml version="1.0" encoding="utf-8"?>
<Properties xmlns="http://schemas.openxmlformats.org/officeDocument/2006/extended-properties" xmlns:vt="http://schemas.openxmlformats.org/officeDocument/2006/docPropsVTypes">
  <TotalTime>7494</TotalTime>
  <Words>2228</Words>
  <Application>Microsoft Office PowerPoint</Application>
  <PresentationFormat>Widescreen</PresentationFormat>
  <Paragraphs>197</Paragraphs>
  <Slides>23</Slides>
  <Notes>19</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Motiv Office</vt:lpstr>
      <vt:lpstr>ECO-EVOLUTIONARY DYNAMICS &amp; LIFE HISTORIES </vt:lpstr>
      <vt:lpstr>PowerPoint Presentation</vt:lpstr>
      <vt:lpstr>WHAT ARE ECO-EVOLUTIONARY DYNAMICS?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FAST-SLOW CONTINUUM</vt:lpstr>
      <vt:lpstr>PowerPoint Presentation</vt:lpstr>
      <vt:lpstr>PACE-OF-LIFE SYNDROMES</vt:lpstr>
      <vt:lpstr>PowerPoint Presentation</vt:lpstr>
      <vt:lpstr>Is the fast-slow continuum enough to define variation of life history  across taxa?</vt:lpstr>
      <vt:lpstr>PowerPoint Presentation</vt:lpstr>
      <vt:lpstr>High vs. low recruitment rates (stature–recruitment’ axis)</vt:lpstr>
      <vt:lpstr>Precocial offspring</vt:lpstr>
      <vt:lpstr>PowerPoint Presentation</vt:lpstr>
      <vt:lpstr>PowerPoint Presentation</vt:lpstr>
      <vt:lpstr>Resources</vt:lpstr>
      <vt:lpstr>Resources</vt:lpstr>
      <vt:lpstr>Contributions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Flašková Kateřina (S-FŽP)</dc:creator>
  <cp:lastModifiedBy>Flašková Kateřina (S-FŽP)</cp:lastModifiedBy>
  <cp:revision>16</cp:revision>
  <dcterms:created xsi:type="dcterms:W3CDTF">2026-10-04T18:50:56Z</dcterms:created>
  <dcterms:modified xsi:type="dcterms:W3CDTF">2026-10-19T16:15:01Z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0x010100E9729A6E312EDB48811C6E84F8A52AB2</vt:lpwstr>
  </property>
</Properties>
</file>