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8" r:id="rId4"/>
  </p:sldMasterIdLst>
  <p:notesMasterIdLst>
    <p:notesMasterId r:id="rId21"/>
  </p:notesMasterIdLst>
  <p:sldIdLst>
    <p:sldId id="256" r:id="rId5"/>
    <p:sldId id="257" r:id="rId6"/>
    <p:sldId id="259" r:id="rId7"/>
    <p:sldId id="258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67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000"/>
    <a:srgbClr val="7BA6DD"/>
    <a:srgbClr val="FBFBFB"/>
    <a:srgbClr val="EEF6F5"/>
    <a:srgbClr val="FAC8D4"/>
    <a:srgbClr val="F1DE51"/>
    <a:srgbClr val="EEBF00"/>
    <a:srgbClr val="78A8D8"/>
    <a:srgbClr val="5D92A8"/>
    <a:srgbClr val="007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7" dt="2026-10-19T14:39:48.175"/>
    <p1510:client id="{0E796849-123F-E6AD-F9E3-26E23D3F747A}" v="123" dt="2026-10-19T14:42:56.096"/>
    <p1510:client id="{38407492-B549-554D-B7E1-422DE1B58373}" v="21" dt="2026-10-19T07:16:54.109"/>
    <p1510:client id="{88E409A4-43E7-6F48-5A2C-2C08C1695F33}" v="160" dt="2026-10-19T07:42:41.380"/>
    <p1510:client id="{91F6DE34-1F6C-39B8-CE9F-C6732F8E45BD}" v="12" dt="2026-10-19T14:38:44.511"/>
    <p1510:client id="{9E4FEB42-C79A-1E4F-8A77-BEC1137193BA}" v="96" dt="2026-10-19T14:00:17.549"/>
    <p1510:client id="{A5166FFD-E710-4668-8C98-02C881728584}" v="5" dt="2026-10-19T14:54:24.598"/>
    <p1510:client id="{D2F850C1-678F-0C21-C1BF-A34757522335}" v="26" dt="2026-10-19T12:22:38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FCAA-3AC4-41C0-852F-2A4F47A1101E}" type="datetimeFigureOut">
              <a:rPr lang="nl-NL" smtClean="0"/>
              <a:t>19-10-2026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9D220-FF81-425D-88FD-8E582C0B9F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501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9D220-FF81-425D-88FD-8E582C0B9F8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06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9D220-FF81-425D-88FD-8E582C0B9F8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035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632FD-D20B-CCF5-9232-80309FB1F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27F15D4-F38F-EB93-3599-2C1F83814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BB8E8-13A1-A592-1AB8-4AB68D47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3CB5F8A-6993-C650-9DF9-9A32D44F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51C36E-E0BA-D8AA-1C08-84825A2C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623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58F9A-CFCD-0568-CCFF-99C52F3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238F8E-D510-8507-1290-D09B8154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8756A25-08D1-90A6-C010-39EAA0E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38A368-B851-203E-BE85-8587D84F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F21A45E-6DD9-A65A-DDAC-40A6E569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538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68E20-703E-C98C-1D2E-B3812BE3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69E881-BBC3-C7A2-83A1-8A642AEA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2073346-9455-C399-8EFF-64E4F05D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470DC4-8960-27A0-A113-BACF9BDD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B442264-754A-7CD1-9419-F31339C6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85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440AE-BAAC-CB09-FB17-88D4E240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65AFBA-A86B-D734-F04D-67CE8144D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3465E9-E866-8D45-9AB2-838955BC3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2E48DE6-34F9-BC0D-113A-0D0D5027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F3A9558-27BA-7E0A-4470-DECCCAB2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448085C-C05A-57DE-6396-1D219AB6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481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9B859-A295-2F31-4240-164D700B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9DBE930-32A9-69E0-CA4D-80FC3D598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0112507-1995-1989-1978-2F4822C2D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ABE2B8-5815-82A8-19B4-D6026BD1A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AF5FF6B-183C-6227-F147-E32000017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82441AC-66C4-46A7-67D1-3D723571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FF5173D-E952-86EC-3DE6-CF5F2DA7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5BF1A91-BF61-B64D-D967-876D8BA2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266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51351-1A2E-A7DC-C8EF-3F1F8285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97EB6F7-8A10-C8A9-DD22-A071CEBE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A8AC503-11E1-F0A2-A654-8E218182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E1C596-3491-E0F3-6E88-29A2FFF0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095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4390BFC-007A-17C5-9C64-BA36B1B0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0C6CC3C-B511-E70B-FE73-C5CEC47C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A5DAF87-2C2B-86C3-A1E9-64F1BBBC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216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79315-0BDD-695D-BFAC-199F1B81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04D15FB-5B68-3109-C24B-40EAC6757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5E69B4A-53C8-CFCC-1300-A5E34A0C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BE676B-5CFA-84FD-8B06-7D2315B3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471EDD-E04B-C4EB-59FF-D65CA12E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B6D7D08-19F0-650E-0C7A-3D95ACD2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82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E7D994-A229-518C-0895-59DB2386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81F7A5F-1DEE-5B1C-B12D-195CCAE6D3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1E92CD-9059-F991-0156-726C5C190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7E1F3DB-F0C5-F21E-5E87-F5E419AE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4603A63-9449-8E93-0ACA-A6826959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C0A000-78DA-67EB-CD3B-5BF4566C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961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9FA2D-0715-8D57-71B3-71F331DD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D3F76CE-ACE1-6394-0D8E-2D91B9A6D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2118CC-D994-56C9-B490-E2C67B14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40EE57-2E4F-FBFB-A724-2AD2B698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55C8F-5751-00F0-106C-AB109DE3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441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700E88A-A13A-BCF9-0EAF-0947EBC84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935B17-983D-5C34-8C81-B7F09FA44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3D1D0B-4DCE-8343-275D-0156FB03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A7BF28-516B-567E-0CA2-DE606638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4E2F09C-6BE2-764D-9AA4-30908D73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013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79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9750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73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11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7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5C7CA9F-9C87-6EFB-37B2-639B8B3B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0BA1302-40C8-7821-0594-63B633F6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5E614D5-F64E-EDD5-7C02-3E381A290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693A16B-E956-FCE7-4885-725A68A0C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0CF712C-EB00-7ADB-496E-83184BF9B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0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65" r:id="rId7"/>
    <p:sldLayoutId id="2147484166" r:id="rId8"/>
    <p:sldLayoutId id="2147484167" r:id="rId9"/>
    <p:sldLayoutId id="2147484168" r:id="rId10"/>
    <p:sldLayoutId id="2147484169" r:id="rId11"/>
    <p:sldLayoutId id="2147484170" r:id="rId12"/>
    <p:sldLayoutId id="2147484171" r:id="rId13"/>
    <p:sldLayoutId id="2147484172" r:id="rId14"/>
    <p:sldLayoutId id="2147484173" r:id="rId15"/>
    <p:sldLayoutId id="2147484174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ericbegin/2432266843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ericbegin/2432270225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oi.org/10.1111/1365-2656.70169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ericbegin/2432260875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82D5-DD5D-868F-77AD-5F0DDF96A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86" y="628121"/>
            <a:ext cx="5661164" cy="2387600"/>
          </a:xfrm>
        </p:spPr>
        <p:txBody>
          <a:bodyPr>
            <a:normAutofit/>
          </a:bodyPr>
          <a:lstStyle/>
          <a:p>
            <a:pPr algn="l"/>
            <a:r>
              <a:rPr lang="cs-CZ" sz="4000">
                <a:latin typeface="Cambria"/>
                <a:ea typeface="Cambria"/>
              </a:rPr>
              <a:t>Top-down control or Bottom-up release: Evidence for predation‘s grip on prey numbers</a:t>
            </a:r>
            <a:endParaRPr lang="en-US" sz="4000">
              <a:latin typeface="Cambria"/>
              <a:ea typeface="Cambri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9CC66-6589-6E36-C2DB-024A1B75E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3071" y="3429570"/>
            <a:ext cx="5985567" cy="1263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cs-CZ" sz="3600" b="1">
                <a:latin typeface="Cambria"/>
                <a:ea typeface="Cambria"/>
              </a:rPr>
              <a:t>Species Interactions &amp;   Coexistence </a:t>
            </a:r>
            <a:endParaRPr lang="en-US" sz="3600" b="1">
              <a:latin typeface="Cambria"/>
              <a:ea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3D347-FD31-384D-67A4-1BF5D3C78005}"/>
              </a:ext>
            </a:extLst>
          </p:cNvPr>
          <p:cNvSpPr txBox="1"/>
          <p:nvPr/>
        </p:nvSpPr>
        <p:spPr>
          <a:xfrm>
            <a:off x="7073570" y="5106828"/>
            <a:ext cx="4189894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cs-CZ" sz="1600"/>
              <a:t>Vaghadia Saket Dilip, Singh Angleen, Mejsnarová Veronika, Kerkhoff Sigrid</a:t>
            </a:r>
            <a:endParaRPr lang="en-US" sz="1600"/>
          </a:p>
        </p:txBody>
      </p:sp>
      <p:pic>
        <p:nvPicPr>
          <p:cNvPr id="5" name="Picture 4" descr="A rabbit in the grass&#10;&#10;AI-generated content may be incorrect.">
            <a:extLst>
              <a:ext uri="{FF2B5EF4-FFF2-40B4-BE49-F238E27FC236}">
                <a16:creationId xmlns:a16="http://schemas.microsoft.com/office/drawing/2014/main" id="{54D45DBC-80CB-EDF8-F780-3CB747FA0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87" y="2278"/>
            <a:ext cx="4922973" cy="687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30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D42F-D322-6055-8A85-F95581FF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55" y="414618"/>
            <a:ext cx="5403476" cy="85725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r>
              <a:rPr lang="cs-CZ" sz="4800" b="1" err="1"/>
              <a:t>Ecological</a:t>
            </a:r>
            <a:r>
              <a:rPr lang="cs-CZ" sz="4800" b="1"/>
              <a:t> Concepts</a:t>
            </a:r>
            <a:endParaRPr lang="en-US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0F54-8D82-9FBD-49BB-70D286F3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455" y="1814233"/>
            <a:ext cx="4572000" cy="1876399"/>
          </a:xfr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>
                <a:solidFill>
                  <a:schemeClr val="tx1"/>
                </a:solidFill>
              </a:rPr>
              <a:t>TOP-DOWN</a:t>
            </a:r>
            <a:r>
              <a:rPr lang="cs-CZ" sz="3200">
                <a:solidFill>
                  <a:schemeClr val="tx1"/>
                </a:solidFill>
              </a:rPr>
              <a:t> </a:t>
            </a:r>
            <a:r>
              <a:rPr lang="cs-CZ" sz="3200" b="1">
                <a:solidFill>
                  <a:schemeClr val="tx1"/>
                </a:solidFill>
              </a:rPr>
              <a:t>CONTROL</a:t>
            </a:r>
          </a:p>
          <a:p>
            <a:r>
              <a:rPr lang="cs-CZ" sz="2400" err="1">
                <a:solidFill>
                  <a:schemeClr val="tx1"/>
                </a:solidFill>
              </a:rPr>
              <a:t>Predator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pressure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directly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regulates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prey</a:t>
            </a:r>
            <a:r>
              <a:rPr lang="cs-CZ" sz="2400">
                <a:solidFill>
                  <a:schemeClr val="tx1"/>
                </a:solidFill>
              </a:rPr>
              <a:t> abundance and </a:t>
            </a:r>
            <a:r>
              <a:rPr lang="cs-CZ" sz="2400" err="1">
                <a:solidFill>
                  <a:schemeClr val="tx1"/>
                </a:solidFill>
              </a:rPr>
              <a:t>limits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population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growth</a:t>
            </a:r>
            <a:r>
              <a:rPr lang="cs-CZ" sz="2400">
                <a:solidFill>
                  <a:schemeClr val="tx1"/>
                </a:solidFill>
              </a:rPr>
              <a:t> </a:t>
            </a:r>
          </a:p>
          <a:p>
            <a:endParaRPr lang="cs-CZ" sz="18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3B869-4D7A-45A3-B554-D5DA2D03A210}"/>
              </a:ext>
            </a:extLst>
          </p:cNvPr>
          <p:cNvSpPr txBox="1"/>
          <p:nvPr/>
        </p:nvSpPr>
        <p:spPr>
          <a:xfrm>
            <a:off x="487455" y="3792607"/>
            <a:ext cx="4572000" cy="20621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cs-CZ" sz="3200" b="1">
                <a:solidFill>
                  <a:schemeClr val="tx1"/>
                </a:solidFill>
              </a:rPr>
              <a:t>BOTTOM-UP</a:t>
            </a:r>
            <a:r>
              <a:rPr lang="cs-CZ" sz="3200">
                <a:solidFill>
                  <a:schemeClr val="tx1"/>
                </a:solidFill>
              </a:rPr>
              <a:t> </a:t>
            </a:r>
            <a:r>
              <a:rPr lang="cs-CZ" sz="3200" b="1">
                <a:solidFill>
                  <a:schemeClr val="tx1"/>
                </a:solidFill>
              </a:rPr>
              <a:t>CONTROL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400">
                <a:solidFill>
                  <a:schemeClr val="tx1"/>
                </a:solidFill>
              </a:rPr>
              <a:t>Food </a:t>
            </a:r>
            <a:r>
              <a:rPr lang="cs-CZ" sz="2400" err="1">
                <a:solidFill>
                  <a:schemeClr val="tx1"/>
                </a:solidFill>
              </a:rPr>
              <a:t>availability</a:t>
            </a:r>
            <a:r>
              <a:rPr lang="cs-CZ" sz="2400">
                <a:solidFill>
                  <a:schemeClr val="tx1"/>
                </a:solidFill>
              </a:rPr>
              <a:t>, food </a:t>
            </a:r>
            <a:r>
              <a:rPr lang="cs-CZ" sz="2400" err="1">
                <a:solidFill>
                  <a:schemeClr val="tx1"/>
                </a:solidFill>
              </a:rPr>
              <a:t>quality</a:t>
            </a:r>
            <a:r>
              <a:rPr lang="cs-CZ" sz="2400">
                <a:solidFill>
                  <a:schemeClr val="tx1"/>
                </a:solidFill>
              </a:rPr>
              <a:t>, and </a:t>
            </a:r>
            <a:r>
              <a:rPr lang="cs-CZ" sz="2400" err="1">
                <a:solidFill>
                  <a:schemeClr val="tx1"/>
                </a:solidFill>
              </a:rPr>
              <a:t>primary</a:t>
            </a:r>
            <a:r>
              <a:rPr lang="cs-CZ" sz="2400">
                <a:solidFill>
                  <a:schemeClr val="tx1"/>
                </a:solidFill>
              </a:rPr>
              <a:t> plant </a:t>
            </a:r>
            <a:r>
              <a:rPr lang="cs-CZ" sz="2400" err="1">
                <a:solidFill>
                  <a:schemeClr val="tx1"/>
                </a:solidFill>
              </a:rPr>
              <a:t>productivity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dictate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herbivore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carrying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capacity</a:t>
            </a:r>
            <a:r>
              <a:rPr lang="cs-CZ" sz="2400"/>
              <a:t> </a:t>
            </a:r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D5A3C6-CA6F-86D5-7910-2C8241A8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9" y="1510490"/>
            <a:ext cx="6375316" cy="4663788"/>
          </a:xfrm>
          <a:prstGeom prst="rect">
            <a:avLst/>
          </a:prstGeom>
        </p:spPr>
      </p:pic>
      <p:sp>
        <p:nvSpPr>
          <p:cNvPr id="12" name="Tekstvak 19">
            <a:extLst>
              <a:ext uri="{FF2B5EF4-FFF2-40B4-BE49-F238E27FC236}">
                <a16:creationId xmlns:a16="http://schemas.microsoft.com/office/drawing/2014/main" id="{A9CB4FA5-DC40-250A-5AD2-299787AB6EC9}"/>
              </a:ext>
            </a:extLst>
          </p:cNvPr>
          <p:cNvSpPr txBox="1"/>
          <p:nvPr/>
        </p:nvSpPr>
        <p:spPr>
          <a:xfrm>
            <a:off x="10447470" y="6174278"/>
            <a:ext cx="1257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Image made by AI</a:t>
            </a:r>
          </a:p>
        </p:txBody>
      </p:sp>
    </p:spTree>
    <p:extLst>
      <p:ext uri="{BB962C8B-B14F-4D97-AF65-F5344CB8AC3E}">
        <p14:creationId xmlns:p14="http://schemas.microsoft.com/office/powerpoint/2010/main" val="2044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FD525456-14D8-E6A2-A039-3EF591F73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71"/>
          <a:stretch>
            <a:fillRect/>
          </a:stretch>
        </p:blipFill>
        <p:spPr>
          <a:xfrm rot="5400000">
            <a:off x="9999988" y="4665989"/>
            <a:ext cx="2074367" cy="23096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A93CAC-E53D-97E6-D117-75FC06CDA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785" y="430039"/>
            <a:ext cx="5623966" cy="7801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4800" b="1"/>
              <a:t>Ecological Concepts</a:t>
            </a:r>
            <a:endParaRPr lang="en-US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C325-735C-DF06-7D02-426903336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696" y="1297012"/>
            <a:ext cx="7265628" cy="6487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3200" b="1"/>
              <a:t>PREDATION-PREY</a:t>
            </a:r>
            <a:r>
              <a:rPr lang="cs-CZ" sz="3200"/>
              <a:t> </a:t>
            </a:r>
            <a:r>
              <a:rPr lang="cs-CZ" sz="3200" b="1"/>
              <a:t>INTERACTIONS</a:t>
            </a:r>
          </a:p>
          <a:p>
            <a:endParaRPr lang="en-US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9A509-9D8F-C12A-6CA7-654F203341E6}"/>
              </a:ext>
            </a:extLst>
          </p:cNvPr>
          <p:cNvSpPr txBox="1"/>
          <p:nvPr/>
        </p:nvSpPr>
        <p:spPr>
          <a:xfrm>
            <a:off x="379003" y="4526213"/>
            <a:ext cx="4946761" cy="8446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4800" b="1">
                <a:latin typeface="Aptos Display"/>
              </a:rPr>
              <a:t>Trophic Cascades</a:t>
            </a:r>
            <a:endParaRPr lang="cs-CZ" sz="4800">
              <a:latin typeface="Aptos Displa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8E085-2042-C7EF-E7DD-6088706B9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372" y="586939"/>
            <a:ext cx="5361042" cy="4005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0B4CD-B40F-C581-027F-6B0C2BB611E3}"/>
              </a:ext>
            </a:extLst>
          </p:cNvPr>
          <p:cNvSpPr txBox="1"/>
          <p:nvPr/>
        </p:nvSpPr>
        <p:spPr>
          <a:xfrm>
            <a:off x="462380" y="2184046"/>
            <a:ext cx="2865767" cy="17235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LETHAL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EFFECTS</a:t>
            </a:r>
            <a:r>
              <a:rPr lang="en-US" sz="1800">
                <a:solidFill>
                  <a:schemeClr val="tx1"/>
                </a:solidFill>
              </a:rPr>
              <a:t> </a:t>
            </a:r>
            <a:endParaRPr lang="cs-CZ" sz="1800">
              <a:solidFill>
                <a:schemeClr val="tx1"/>
              </a:solidFill>
            </a:endParaRPr>
          </a:p>
          <a:p>
            <a:endParaRPr lang="en-US" sz="1800">
              <a:solidFill>
                <a:schemeClr val="tx1"/>
              </a:solidFill>
            </a:endParaRPr>
          </a:p>
          <a:p>
            <a:r>
              <a:rPr lang="cs-CZ" sz="2000">
                <a:solidFill>
                  <a:schemeClr val="tx1"/>
                </a:solidFill>
              </a:rPr>
              <a:t>Direct </a:t>
            </a:r>
            <a:r>
              <a:rPr lang="cs-CZ" sz="2000" err="1">
                <a:solidFill>
                  <a:schemeClr val="tx1"/>
                </a:solidFill>
              </a:rPr>
              <a:t>consumption</a:t>
            </a:r>
            <a:r>
              <a:rPr lang="cs-CZ" sz="2000">
                <a:solidFill>
                  <a:schemeClr val="tx1"/>
                </a:solidFill>
              </a:rPr>
              <a:t> and </a:t>
            </a:r>
            <a:r>
              <a:rPr lang="cs-CZ" sz="2000" err="1">
                <a:solidFill>
                  <a:schemeClr val="tx1"/>
                </a:solidFill>
              </a:rPr>
              <a:t>killing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of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prey</a:t>
            </a:r>
          </a:p>
          <a:p>
            <a:endParaRPr lang="cs-CZ" sz="20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92F2C-0121-3D6D-FD4C-0F4063D1C756}"/>
              </a:ext>
            </a:extLst>
          </p:cNvPr>
          <p:cNvSpPr txBox="1"/>
          <p:nvPr/>
        </p:nvSpPr>
        <p:spPr>
          <a:xfrm>
            <a:off x="3660968" y="2184047"/>
            <a:ext cx="2571750" cy="18466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NON-LETHAL</a:t>
            </a:r>
            <a:r>
              <a:rPr lang="cs-CZ" sz="1800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EFFECTS</a:t>
            </a:r>
            <a:endParaRPr lang="cs-CZ" sz="2800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cs-CZ" sz="2000">
                <a:solidFill>
                  <a:schemeClr val="tx1"/>
                </a:solidFill>
              </a:rPr>
              <a:t>Risk-</a:t>
            </a:r>
            <a:r>
              <a:rPr lang="cs-CZ" sz="2000" err="1">
                <a:solidFill>
                  <a:schemeClr val="tx1"/>
                </a:solidFill>
              </a:rPr>
              <a:t>induced</a:t>
            </a:r>
            <a:r>
              <a:rPr lang="cs-CZ" sz="2000">
                <a:solidFill>
                  <a:schemeClr val="tx1"/>
                </a:solidFill>
              </a:rPr>
              <a:t> stress and </a:t>
            </a:r>
            <a:r>
              <a:rPr lang="cs-CZ" sz="2000" err="1">
                <a:solidFill>
                  <a:schemeClr val="tx1"/>
                </a:solidFill>
              </a:rPr>
              <a:t>behavioral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shifts</a:t>
            </a:r>
            <a:r>
              <a:rPr lang="cs-CZ" sz="20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8E386-9BE2-4BDE-8FFE-85DFF30FDE65}"/>
              </a:ext>
            </a:extLst>
          </p:cNvPr>
          <p:cNvSpPr txBox="1"/>
          <p:nvPr/>
        </p:nvSpPr>
        <p:spPr>
          <a:xfrm>
            <a:off x="376785" y="5384620"/>
            <a:ext cx="5855933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cs-CZ" sz="2000" err="1">
                <a:solidFill>
                  <a:schemeClr val="tx1"/>
                </a:solidFill>
              </a:rPr>
              <a:t>Indirect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interactions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that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ripple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across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multiple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feeding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levels</a:t>
            </a:r>
            <a:r>
              <a:rPr lang="cs-CZ" sz="2000">
                <a:solidFill>
                  <a:schemeClr val="tx1"/>
                </a:solidFill>
              </a:rPr>
              <a:t> in </a:t>
            </a:r>
            <a:r>
              <a:rPr lang="cs-CZ" sz="2000" err="1">
                <a:solidFill>
                  <a:schemeClr val="tx1"/>
                </a:solidFill>
              </a:rPr>
              <a:t>an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ecosystem </a:t>
            </a:r>
          </a:p>
        </p:txBody>
      </p:sp>
      <p:sp>
        <p:nvSpPr>
          <p:cNvPr id="4" name="Tekstvak 19">
            <a:extLst>
              <a:ext uri="{FF2B5EF4-FFF2-40B4-BE49-F238E27FC236}">
                <a16:creationId xmlns:a16="http://schemas.microsoft.com/office/drawing/2014/main" id="{3E418789-9CA3-6571-1FB9-FB4CE41E7428}"/>
              </a:ext>
            </a:extLst>
          </p:cNvPr>
          <p:cNvSpPr txBox="1"/>
          <p:nvPr/>
        </p:nvSpPr>
        <p:spPr>
          <a:xfrm>
            <a:off x="10760696" y="4528515"/>
            <a:ext cx="1257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Image made by AI</a:t>
            </a:r>
          </a:p>
        </p:txBody>
      </p:sp>
    </p:spTree>
    <p:extLst>
      <p:ext uri="{BB962C8B-B14F-4D97-AF65-F5344CB8AC3E}">
        <p14:creationId xmlns:p14="http://schemas.microsoft.com/office/powerpoint/2010/main" val="29708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C7B3-29FB-AC4A-8711-28501BDD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7" y="247889"/>
            <a:ext cx="5987236" cy="1061144"/>
          </a:xfrm>
        </p:spPr>
        <p:txBody>
          <a:bodyPr/>
          <a:lstStyle/>
          <a:p>
            <a:r>
              <a:rPr lang="cs-CZ" b="1"/>
              <a:t>Study System Overview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F4CCF-ABD9-1D9D-52FA-70D702CF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12" y="1306416"/>
            <a:ext cx="11194678" cy="1828800"/>
          </a:xfr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è"/>
            </a:pPr>
            <a:r>
              <a:rPr lang="en-US">
                <a:solidFill>
                  <a:schemeClr val="tx1"/>
                </a:solidFill>
              </a:rPr>
              <a:t> </a:t>
            </a:r>
            <a:r>
              <a:rPr lang="cs-CZ">
                <a:solidFill>
                  <a:schemeClr val="tx1"/>
                </a:solidFill>
              </a:rPr>
              <a:t>Snowshoe hare (Lepus americanus) in the boreal forest of Kluane, Yukon, Canada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>
                <a:solidFill>
                  <a:schemeClr val="tx1"/>
                </a:solidFill>
              </a:rPr>
              <a:t> </a:t>
            </a:r>
            <a:r>
              <a:rPr lang="cs-CZ">
                <a:solidFill>
                  <a:schemeClr val="tx1"/>
                </a:solidFill>
              </a:rPr>
              <a:t>A regular 9-to-11-year population cycle where hare numbers grow very large and then sharply crash</a:t>
            </a:r>
          </a:p>
          <a:p>
            <a:pPr marL="285750" indent="-285750">
              <a:buFont typeface="Wingdings" pitchFamily="2" charset="2"/>
              <a:buChar char="è"/>
            </a:pPr>
            <a:endParaRPr lang="cs-CZ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38A0E-EF8E-C386-B62E-73F40B20F98E}"/>
              </a:ext>
            </a:extLst>
          </p:cNvPr>
          <p:cNvSpPr txBox="1"/>
          <p:nvPr/>
        </p:nvSpPr>
        <p:spPr>
          <a:xfrm>
            <a:off x="5089151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401CA-8793-09C5-9D53-574AFF02F6F6}"/>
              </a:ext>
            </a:extLst>
          </p:cNvPr>
          <p:cNvSpPr txBox="1"/>
          <p:nvPr/>
        </p:nvSpPr>
        <p:spPr>
          <a:xfrm>
            <a:off x="449916" y="3938779"/>
            <a:ext cx="2508438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cs-CZ" sz="2000">
                <a:solidFill>
                  <a:schemeClr val="tx1"/>
                </a:solidFill>
              </a:rPr>
              <a:t>LEVEL 1 – </a:t>
            </a:r>
            <a:r>
              <a:rPr lang="cs-CZ" sz="2000" b="1">
                <a:solidFill>
                  <a:schemeClr val="tx1"/>
                </a:solidFill>
              </a:rPr>
              <a:t>PLANTS</a:t>
            </a:r>
            <a:r>
              <a:rPr lang="cs-CZ" sz="200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cs-CZ" sz="2000">
                <a:solidFill>
                  <a:schemeClr val="tx1"/>
                </a:solidFill>
              </a:rPr>
              <a:t>● </a:t>
            </a:r>
            <a:r>
              <a:rPr lang="cs-CZ" sz="2000" err="1">
                <a:solidFill>
                  <a:schemeClr val="tx1"/>
                </a:solidFill>
              </a:rPr>
              <a:t>Primary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Producers</a:t>
            </a:r>
            <a:endParaRPr lang="cs-CZ" sz="20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A041D-76ED-5C84-B2A7-FCA8A98C0EB7}"/>
              </a:ext>
            </a:extLst>
          </p:cNvPr>
          <p:cNvSpPr txBox="1"/>
          <p:nvPr/>
        </p:nvSpPr>
        <p:spPr>
          <a:xfrm>
            <a:off x="449916" y="4795098"/>
            <a:ext cx="2626099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cs-CZ" sz="2000">
                <a:solidFill>
                  <a:schemeClr val="tx1"/>
                </a:solidFill>
              </a:rPr>
              <a:t>LEVEL 2 – </a:t>
            </a:r>
            <a:r>
              <a:rPr lang="cs-CZ" sz="2000" b="1">
                <a:solidFill>
                  <a:schemeClr val="tx1"/>
                </a:solidFill>
              </a:rPr>
              <a:t>HARES</a:t>
            </a:r>
          </a:p>
          <a:p>
            <a:pPr algn="l"/>
            <a:r>
              <a:rPr lang="cs-CZ" sz="2000">
                <a:solidFill>
                  <a:schemeClr val="tx1"/>
                </a:solidFill>
              </a:rPr>
              <a:t>● </a:t>
            </a:r>
            <a:r>
              <a:rPr lang="cs-CZ" sz="2000" err="1">
                <a:solidFill>
                  <a:schemeClr val="tx1"/>
                </a:solidFill>
              </a:rPr>
              <a:t>Primary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Consumers</a:t>
            </a:r>
            <a:endParaRPr lang="cs-CZ" sz="20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B8882-24AD-23ED-B279-A35B74E42A95}"/>
              </a:ext>
            </a:extLst>
          </p:cNvPr>
          <p:cNvSpPr txBox="1"/>
          <p:nvPr/>
        </p:nvSpPr>
        <p:spPr>
          <a:xfrm>
            <a:off x="449917" y="5686134"/>
            <a:ext cx="2945466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cs-CZ" sz="2000">
                <a:solidFill>
                  <a:schemeClr val="tx1"/>
                </a:solidFill>
              </a:rPr>
              <a:t>LEVEL 3 – </a:t>
            </a:r>
            <a:r>
              <a:rPr lang="cs-CZ" sz="2000" b="1">
                <a:solidFill>
                  <a:schemeClr val="tx1"/>
                </a:solidFill>
              </a:rPr>
              <a:t>PREDATORS</a:t>
            </a:r>
            <a:r>
              <a:rPr lang="cs-CZ" sz="200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cs-CZ" sz="2000">
                <a:solidFill>
                  <a:schemeClr val="tx1"/>
                </a:solidFill>
              </a:rPr>
              <a:t>● </a:t>
            </a:r>
            <a:r>
              <a:rPr lang="cs-CZ" sz="2000" err="1">
                <a:solidFill>
                  <a:schemeClr val="tx1"/>
                </a:solidFill>
              </a:rPr>
              <a:t>Secondary</a:t>
            </a:r>
            <a:r>
              <a:rPr lang="cs-CZ" sz="2000">
                <a:solidFill>
                  <a:schemeClr val="tx1"/>
                </a:solidFill>
              </a:rPr>
              <a:t> </a:t>
            </a:r>
            <a:r>
              <a:rPr lang="cs-CZ" sz="2000" err="1">
                <a:solidFill>
                  <a:schemeClr val="tx1"/>
                </a:solidFill>
              </a:rPr>
              <a:t>Consumers</a:t>
            </a:r>
            <a:endParaRPr lang="cs-CZ" sz="20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0D7B7-EDC5-D342-0B7A-991C4678C7D9}"/>
              </a:ext>
            </a:extLst>
          </p:cNvPr>
          <p:cNvSpPr txBox="1"/>
          <p:nvPr/>
        </p:nvSpPr>
        <p:spPr>
          <a:xfrm>
            <a:off x="358587" y="3293965"/>
            <a:ext cx="6258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err="1">
                <a:solidFill>
                  <a:schemeClr val="tx1"/>
                </a:solidFill>
              </a:rPr>
              <a:t>Three-Trophic-Level</a:t>
            </a:r>
            <a:r>
              <a:rPr lang="cs-CZ" sz="2400">
                <a:solidFill>
                  <a:schemeClr val="tx1"/>
                </a:solidFill>
              </a:rPr>
              <a:t> </a:t>
            </a:r>
            <a:r>
              <a:rPr lang="cs-CZ" sz="2400" err="1">
                <a:solidFill>
                  <a:schemeClr val="tx1"/>
                </a:solidFill>
              </a:rPr>
              <a:t>System</a:t>
            </a:r>
            <a:r>
              <a:rPr lang="cs-CZ" sz="2400">
                <a:solidFill>
                  <a:schemeClr val="tx1"/>
                </a:solidFill>
              </a:rPr>
              <a:t> = </a:t>
            </a:r>
            <a:r>
              <a:rPr lang="cs-CZ" sz="2400" b="1">
                <a:solidFill>
                  <a:schemeClr val="tx1"/>
                </a:solidFill>
              </a:rPr>
              <a:t>THE FOOD WEB</a:t>
            </a:r>
            <a:endParaRPr lang="en-US" sz="2400" b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BE2BEA-92AA-C057-83F2-56D0540A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86" y="3293965"/>
            <a:ext cx="4589929" cy="3429000"/>
          </a:xfrm>
          <a:prstGeom prst="rect">
            <a:avLst/>
          </a:prstGeom>
        </p:spPr>
      </p:pic>
      <p:sp>
        <p:nvSpPr>
          <p:cNvPr id="14" name="Tekstvak 19">
            <a:extLst>
              <a:ext uri="{FF2B5EF4-FFF2-40B4-BE49-F238E27FC236}">
                <a16:creationId xmlns:a16="http://schemas.microsoft.com/office/drawing/2014/main" id="{728AA2B2-EC4D-AF99-1AD3-B2F672FF53D3}"/>
              </a:ext>
            </a:extLst>
          </p:cNvPr>
          <p:cNvSpPr txBox="1"/>
          <p:nvPr/>
        </p:nvSpPr>
        <p:spPr>
          <a:xfrm>
            <a:off x="10284010" y="6667804"/>
            <a:ext cx="1257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Image made by AI</a:t>
            </a:r>
          </a:p>
        </p:txBody>
      </p:sp>
    </p:spTree>
    <p:extLst>
      <p:ext uri="{BB962C8B-B14F-4D97-AF65-F5344CB8AC3E}">
        <p14:creationId xmlns:p14="http://schemas.microsoft.com/office/powerpoint/2010/main" val="167167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05A800-C100-F451-6D7C-F9204639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739" y="332093"/>
            <a:ext cx="5933887" cy="3488134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br>
              <a:rPr lang="en-US" sz="2400">
                <a:latin typeface="Sitka Text"/>
                <a:ea typeface="+mj-lt"/>
                <a:cs typeface="+mj-lt"/>
              </a:rPr>
            </a:br>
            <a:r>
              <a:rPr lang="en-US" sz="2400">
                <a:latin typeface="Sitka Text"/>
                <a:ea typeface="+mj-lt"/>
                <a:cs typeface="+mj-lt"/>
              </a:rPr>
              <a:t>PAPER 1  |  1995</a:t>
            </a:r>
            <a:br>
              <a:rPr lang="en-US" sz="2800">
                <a:latin typeface="Arial Nova Light"/>
                <a:ea typeface="+mj-lt"/>
                <a:cs typeface="+mj-lt"/>
              </a:rPr>
            </a:br>
            <a:br>
              <a:rPr lang="en-US" sz="2800">
                <a:latin typeface="Arial Nova Light"/>
                <a:ea typeface="+mj-lt"/>
                <a:cs typeface="+mj-lt"/>
              </a:rPr>
            </a:br>
            <a:r>
              <a:rPr lang="en-US" sz="2800" b="1">
                <a:latin typeface="Cambria"/>
                <a:ea typeface="Cambria"/>
                <a:cs typeface="Calibri"/>
              </a:rPr>
              <a:t>I</a:t>
            </a:r>
            <a:r>
              <a:rPr lang="en-US" sz="3200" b="1">
                <a:latin typeface="Cambria"/>
                <a:ea typeface="Cambria"/>
                <a:cs typeface="Calibri"/>
              </a:rPr>
              <a:t>mpact of Food and Predation on the Snowshoe Hare Cycle </a:t>
            </a:r>
            <a:br>
              <a:rPr lang="en-US" sz="3200" b="1">
                <a:latin typeface="Cambria"/>
                <a:ea typeface="Cambria"/>
                <a:cs typeface="Calibri"/>
              </a:rPr>
            </a:br>
            <a:br>
              <a:rPr lang="en-US" sz="2800" b="1">
                <a:latin typeface="Cambria"/>
                <a:ea typeface="Cambria"/>
                <a:cs typeface="Calibri"/>
              </a:rPr>
            </a:br>
            <a:r>
              <a:rPr lang="en-US" sz="2800" b="1">
                <a:latin typeface="Arial Nova Light"/>
                <a:ea typeface="Cambria"/>
                <a:cs typeface="Calibri"/>
              </a:rPr>
              <a:t>Charles J. Krebs and colleagues</a:t>
            </a:r>
            <a:br>
              <a:rPr lang="en-US" sz="2800" b="1">
                <a:latin typeface="Arial Nova Light"/>
                <a:ea typeface="Cambria"/>
                <a:cs typeface="Calibri"/>
              </a:rPr>
            </a:br>
            <a:r>
              <a:rPr lang="en-US" sz="2400" b="1">
                <a:solidFill>
                  <a:srgbClr val="000000"/>
                </a:solidFill>
                <a:latin typeface="Arial Nova Light"/>
                <a:ea typeface="Cambria"/>
                <a:cs typeface="Calibri"/>
              </a:rPr>
              <a:t>Science, 269 (5227), 1112–1115 (1995)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7F60FD6-076F-6977-3702-DDFACB1037E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72" b="3572"/>
          <a:stretch/>
        </p:blipFill>
        <p:spPr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D7A4EF-8302-738B-6585-CC6DBEBE61D4}"/>
              </a:ext>
            </a:extLst>
          </p:cNvPr>
          <p:cNvSpPr txBox="1"/>
          <p:nvPr/>
        </p:nvSpPr>
        <p:spPr>
          <a:xfrm>
            <a:off x="6095999" y="3795003"/>
            <a:ext cx="566928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Purpose: </a:t>
            </a: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To investigate how food availability and predation influence snowshoe hare populations.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F9F11-D608-AF69-107D-2BFE4A666763}"/>
              </a:ext>
            </a:extLst>
          </p:cNvPr>
          <p:cNvSpPr txBox="1"/>
          <p:nvPr/>
        </p:nvSpPr>
        <p:spPr>
          <a:xfrm>
            <a:off x="6107429" y="5405120"/>
            <a:ext cx="54406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Study location:</a:t>
            </a: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Kluane Lake region, Yukon, Canada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258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A587-2044-7B4F-8453-382CBC5B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28" y="521030"/>
            <a:ext cx="8127054" cy="798993"/>
          </a:xfrm>
        </p:spPr>
        <p:txBody>
          <a:bodyPr>
            <a:noAutofit/>
          </a:bodyPr>
          <a:lstStyle/>
          <a:p>
            <a:r>
              <a:rPr lang="en-US" sz="4400"/>
              <a:t>How Did the Researchers Test it?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A768D-58F0-BB2A-D4B6-11C244D4611E}"/>
              </a:ext>
            </a:extLst>
          </p:cNvPr>
          <p:cNvSpPr txBox="1"/>
          <p:nvPr/>
        </p:nvSpPr>
        <p:spPr>
          <a:xfrm>
            <a:off x="299424" y="1137119"/>
            <a:ext cx="9779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Researchers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compared forest plots with different experimental treatments.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B9615-31F4-FA82-2AB8-8301946AD8EF}"/>
              </a:ext>
            </a:extLst>
          </p:cNvPr>
          <p:cNvSpPr txBox="1"/>
          <p:nvPr/>
        </p:nvSpPr>
        <p:spPr>
          <a:xfrm>
            <a:off x="449623" y="1824927"/>
            <a:ext cx="7332229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1. Control</a:t>
            </a:r>
            <a:endParaRPr lang="en-US" sz="2400" b="1"/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No extra food; predators had access.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4469F-9FB5-AEEC-A8B0-B62C6505E216}"/>
              </a:ext>
            </a:extLst>
          </p:cNvPr>
          <p:cNvSpPr txBox="1"/>
          <p:nvPr/>
        </p:nvSpPr>
        <p:spPr>
          <a:xfrm>
            <a:off x="446421" y="2657807"/>
            <a:ext cx="7328315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2. Food addition</a:t>
            </a:r>
            <a:endParaRPr lang="en-US" sz="2400" b="1">
              <a:solidFill>
                <a:srgbClr val="FF0000"/>
              </a:solidFill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Extra food was provided to hares.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1EBAD-B220-25BF-F51C-DA8EEEADA377}"/>
              </a:ext>
            </a:extLst>
          </p:cNvPr>
          <p:cNvSpPr txBox="1"/>
          <p:nvPr/>
        </p:nvSpPr>
        <p:spPr>
          <a:xfrm>
            <a:off x="449623" y="3426813"/>
            <a:ext cx="732646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3. Predator exclusion</a:t>
            </a:r>
            <a:endParaRPr lang="en-US" sz="2400" b="1"/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Fences reduced access by mammalian predators.</a:t>
            </a:r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01B0-B261-A0F0-5D74-67E237151EE3}"/>
              </a:ext>
            </a:extLst>
          </p:cNvPr>
          <p:cNvSpPr txBox="1"/>
          <p:nvPr/>
        </p:nvSpPr>
        <p:spPr>
          <a:xfrm>
            <a:off x="449623" y="4257042"/>
            <a:ext cx="7330784" cy="863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4. Combined treatment</a:t>
            </a:r>
            <a:endParaRPr lang="en-US" sz="2400" b="1"/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Extra food and predator exclusion together.</a:t>
            </a:r>
            <a:endParaRPr lang="en-US" sz="2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CB9129-21FC-9345-3C8D-49B3C181F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234" y="4257728"/>
            <a:ext cx="3198138" cy="21740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9CE506-D962-EDF8-A47B-D35302AC8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263" y="1830293"/>
            <a:ext cx="3197413" cy="2181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F7FE3C-BBC9-8D3D-52DA-8B830B682E76}"/>
              </a:ext>
            </a:extLst>
          </p:cNvPr>
          <p:cNvSpPr txBox="1"/>
          <p:nvPr/>
        </p:nvSpPr>
        <p:spPr>
          <a:xfrm>
            <a:off x="446421" y="5034536"/>
            <a:ext cx="733526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Additional test: Forest Fertilization</a:t>
            </a: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Separate plots were fertilized to test whether increasing plant growth affected hare density.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4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E4A4-B33F-6673-81E4-04B0F90F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037" y="66954"/>
            <a:ext cx="11113008" cy="849793"/>
          </a:xfrm>
        </p:spPr>
        <p:txBody>
          <a:bodyPr/>
          <a:lstStyle/>
          <a:p>
            <a:r>
              <a:rPr lang="en-US"/>
              <a:t>What Were the Main Results?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29FDF-2AF3-7A76-1275-1766DF09E618}"/>
              </a:ext>
            </a:extLst>
          </p:cNvPr>
          <p:cNvSpPr txBox="1"/>
          <p:nvPr/>
        </p:nvSpPr>
        <p:spPr>
          <a:xfrm>
            <a:off x="1001026" y="701113"/>
            <a:ext cx="86113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Approximate hare-density differences reported during the peak and decline phases.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960B7-7E9C-8BEC-8EE5-D31982D5660F}"/>
              </a:ext>
            </a:extLst>
          </p:cNvPr>
          <p:cNvSpPr txBox="1"/>
          <p:nvPr/>
        </p:nvSpPr>
        <p:spPr>
          <a:xfrm>
            <a:off x="1050094" y="6154310"/>
            <a:ext cx="865173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Important result: The combined effect was greater than either treatment alone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86992-9C12-D984-B2A9-098D50B3EFF1}"/>
              </a:ext>
            </a:extLst>
          </p:cNvPr>
          <p:cNvSpPr txBox="1"/>
          <p:nvPr/>
        </p:nvSpPr>
        <p:spPr>
          <a:xfrm>
            <a:off x="1050096" y="6525195"/>
            <a:ext cx="403927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Source: Krebs et al. (1995), Science, 269(5227), 1112–1115.</a:t>
            </a:r>
            <a:endParaRPr lang="en-US" sz="11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44325C1-F712-A03B-A37D-0CC12E7D3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151" y="1133217"/>
            <a:ext cx="10091697" cy="50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0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A52E-A742-5134-A328-27F723FC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09" y="253142"/>
            <a:ext cx="11849906" cy="785760"/>
          </a:xfrm>
          <a:solidFill>
            <a:schemeClr val="bg2">
              <a:lumMod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sz="4800"/>
              <a:t>What Do The Results Tell Us?</a:t>
            </a:r>
            <a:br>
              <a:rPr lang="en-US" sz="4800"/>
            </a:br>
            <a:r>
              <a:rPr lang="en-US" sz="2000">
                <a:latin typeface="Calibri"/>
                <a:ea typeface="Calibri"/>
                <a:cs typeface="Calibri"/>
              </a:rPr>
              <a:t>Krebs et al. (1995) —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4D58-EC67-36C3-EB2E-5EA9283BA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FA4B8-DFAE-A6EA-FCE2-58CA39BB03FF}"/>
              </a:ext>
            </a:extLst>
          </p:cNvPr>
          <p:cNvSpPr txBox="1"/>
          <p:nvPr/>
        </p:nvSpPr>
        <p:spPr>
          <a:xfrm>
            <a:off x="170351" y="1362615"/>
            <a:ext cx="7010400" cy="151477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Top-Down Control </a:t>
            </a:r>
            <a:endParaRPr lang="en-US" sz="2400">
              <a:solidFill>
                <a:srgbClr val="000000"/>
              </a:solidFill>
              <a:latin typeface="Neue Haas Grotesk Text Pro"/>
              <a:cs typeface="Helvetica"/>
            </a:endParaRPr>
          </a:p>
          <a:p>
            <a:r>
              <a:rPr lang="en-US" sz="2000">
                <a:solidFill>
                  <a:srgbClr val="1B2524"/>
                </a:solidFill>
                <a:latin typeface="Helvetica"/>
                <a:cs typeface="Helvetica"/>
              </a:rPr>
              <a:t>Predator exclusion increased hare density, supporting an effect of predation.</a:t>
            </a: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AB8B9-C5F3-C9D8-ED75-C1EDEEE4AA72}"/>
              </a:ext>
            </a:extLst>
          </p:cNvPr>
          <p:cNvSpPr txBox="1"/>
          <p:nvPr/>
        </p:nvSpPr>
        <p:spPr>
          <a:xfrm>
            <a:off x="5184865" y="2674044"/>
            <a:ext cx="6791960" cy="151477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Bottom-Up Effects</a:t>
            </a:r>
            <a:endParaRPr lang="en-US"/>
          </a:p>
          <a:p>
            <a:r>
              <a:rPr lang="en-US" sz="2000">
                <a:solidFill>
                  <a:srgbClr val="1B2524"/>
                </a:solidFill>
                <a:latin typeface="Helvetica"/>
                <a:cs typeface="Helvetica"/>
              </a:rPr>
              <a:t>Adding food increased hare density, showing food availability also matters.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021CD-F170-B1BC-4224-6D0CEBC46AEB}"/>
              </a:ext>
            </a:extLst>
          </p:cNvPr>
          <p:cNvSpPr txBox="1"/>
          <p:nvPr/>
        </p:nvSpPr>
        <p:spPr>
          <a:xfrm>
            <a:off x="172720" y="3924513"/>
            <a:ext cx="6659880" cy="151477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Interaction</a:t>
            </a:r>
            <a:endParaRPr lang="en-US"/>
          </a:p>
          <a:p>
            <a:r>
              <a:rPr lang="en-US" sz="2000">
                <a:solidFill>
                  <a:srgbClr val="1B2524"/>
                </a:solidFill>
                <a:latin typeface="Helvetica"/>
                <a:cs typeface="Helvetica"/>
              </a:rPr>
              <a:t>Food + predator exclusion produced the largest increase (~11×).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6B2FF-DD71-F6B0-5343-03D90754DCA9}"/>
              </a:ext>
            </a:extLst>
          </p:cNvPr>
          <p:cNvSpPr txBox="1"/>
          <p:nvPr/>
        </p:nvSpPr>
        <p:spPr>
          <a:xfrm>
            <a:off x="2004060" y="5792032"/>
            <a:ext cx="8181340" cy="6771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Conclusion:</a:t>
            </a:r>
            <a:r>
              <a:rPr lang="en-US"/>
              <a:t> </a:t>
            </a:r>
            <a:r>
              <a:rPr lang="en-US" sz="2000"/>
              <a:t>neither food nor predation alone explains the full cycle.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FD0C485-C8AC-091D-612D-5F9E555053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4160" y="3459603"/>
            <a:ext cx="5530619" cy="25603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Research question: </a:t>
            </a:r>
            <a:r>
              <a:rPr lang="nl-NL" sz="2400" err="1"/>
              <a:t>which</a:t>
            </a:r>
            <a:r>
              <a:rPr lang="nl-NL" sz="2400"/>
              <a:t> </a:t>
            </a:r>
            <a:r>
              <a:rPr lang="nl-NL" sz="2400" err="1"/>
              <a:t>demographic</a:t>
            </a:r>
            <a:r>
              <a:rPr lang="nl-NL" sz="2400"/>
              <a:t> </a:t>
            </a:r>
            <a:r>
              <a:rPr lang="nl-NL" sz="2400" err="1"/>
              <a:t>processes</a:t>
            </a:r>
            <a:r>
              <a:rPr lang="nl-NL" sz="2400"/>
              <a:t> drive </a:t>
            </a:r>
            <a:r>
              <a:rPr lang="nl-NL" sz="2400" err="1"/>
              <a:t>population</a:t>
            </a:r>
            <a:r>
              <a:rPr lang="nl-NL" sz="2400"/>
              <a:t> </a:t>
            </a:r>
            <a:r>
              <a:rPr lang="nl-NL" sz="2400" err="1"/>
              <a:t>growth</a:t>
            </a:r>
            <a:r>
              <a:rPr lang="nl-NL" sz="2400"/>
              <a:t>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decline</a:t>
            </a:r>
            <a:r>
              <a:rPr lang="nl-NL" sz="2400"/>
              <a:t>?</a:t>
            </a:r>
          </a:p>
          <a:p>
            <a:r>
              <a:rPr lang="nl-NL" sz="2400" err="1"/>
              <a:t>Study</a:t>
            </a:r>
            <a:r>
              <a:rPr lang="nl-NL" sz="2400"/>
              <a:t> area: </a:t>
            </a:r>
            <a:r>
              <a:rPr lang="nl-NL" sz="2400" err="1"/>
              <a:t>Kluane</a:t>
            </a:r>
            <a:r>
              <a:rPr lang="nl-NL" sz="2400"/>
              <a:t> Lake, Yukon, Canada.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68F4AE-B8EA-A605-C3A9-8D93B8F2D3AC}"/>
              </a:ext>
            </a:extLst>
          </p:cNvPr>
          <p:cNvSpPr txBox="1">
            <a:spLocks/>
          </p:cNvSpPr>
          <p:nvPr/>
        </p:nvSpPr>
        <p:spPr>
          <a:xfrm>
            <a:off x="424160" y="343300"/>
            <a:ext cx="5668549" cy="29221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>
                <a:latin typeface="Sitka Text"/>
                <a:ea typeface="+mj-lt"/>
                <a:cs typeface="+mj-lt"/>
              </a:rPr>
            </a:br>
            <a:r>
              <a:rPr lang="en-US" sz="2400">
                <a:latin typeface="Sitka Text"/>
                <a:ea typeface="+mj-lt"/>
                <a:cs typeface="+mj-lt"/>
              </a:rPr>
              <a:t>PAPER 2  |  2026</a:t>
            </a:r>
            <a:br>
              <a:rPr lang="en-US" sz="2800">
                <a:latin typeface="Arial Nova Light"/>
                <a:ea typeface="+mj-lt"/>
                <a:cs typeface="+mj-lt"/>
              </a:rPr>
            </a:br>
            <a:br>
              <a:rPr lang="en-US" sz="2800">
                <a:latin typeface="Arial Nova Light"/>
                <a:ea typeface="+mj-lt"/>
                <a:cs typeface="+mj-lt"/>
              </a:rPr>
            </a:br>
            <a:r>
              <a:rPr lang="en-US" sz="2800" b="1">
                <a:solidFill>
                  <a:srgbClr val="000000"/>
                </a:solidFill>
                <a:latin typeface="Cambria"/>
                <a:ea typeface="Cambria"/>
                <a:cs typeface="Calibri"/>
              </a:rPr>
              <a:t>Demographic</a:t>
            </a:r>
            <a:r>
              <a:rPr lang="en-US" sz="2800" b="1">
                <a:latin typeface="Cambria"/>
                <a:ea typeface="Cambria"/>
                <a:cs typeface="Calibri"/>
              </a:rPr>
              <a:t> mechanisms of snowshoe hare population cycles in Yukon, Canada.</a:t>
            </a:r>
            <a:r>
              <a:rPr lang="en-US" sz="3200" b="1">
                <a:latin typeface="Cambria"/>
                <a:ea typeface="Cambria"/>
                <a:cs typeface="Calibri"/>
              </a:rPr>
              <a:t> </a:t>
            </a:r>
            <a:br>
              <a:rPr lang="en-US" sz="3200" b="1">
                <a:latin typeface="Cambria"/>
                <a:ea typeface="Cambria"/>
                <a:cs typeface="Calibri"/>
              </a:rPr>
            </a:br>
            <a:br>
              <a:rPr lang="en-US" sz="2800" b="1">
                <a:latin typeface="Cambria"/>
                <a:ea typeface="Cambria"/>
                <a:cs typeface="Calibri"/>
              </a:rPr>
            </a:br>
            <a:r>
              <a:rPr lang="en-US" sz="2800" b="1">
                <a:latin typeface="Arial Nova Light"/>
                <a:ea typeface="Cambria"/>
                <a:cs typeface="Calibri"/>
              </a:rPr>
              <a:t>Madan K. Oli and colleagues.</a:t>
            </a:r>
            <a:br>
              <a:rPr lang="en-US" sz="2800" b="1">
                <a:latin typeface="Arial Nova Light"/>
                <a:ea typeface="Cambria"/>
                <a:cs typeface="Calibri"/>
              </a:rPr>
            </a:br>
            <a:endParaRPr lang="en-US" sz="2400" b="1">
              <a:latin typeface="Arial Nova Light"/>
              <a:ea typeface="Cambria"/>
              <a:cs typeface="Calibri"/>
            </a:endParaRPr>
          </a:p>
        </p:txBody>
      </p:sp>
      <p:pic>
        <p:nvPicPr>
          <p:cNvPr id="5" name="Afbeelding 4" descr="White hare with black ear tips sitting in snow">
            <a:extLst>
              <a:ext uri="{FF2B5EF4-FFF2-40B4-BE49-F238E27FC236}">
                <a16:creationId xmlns:a16="http://schemas.microsoft.com/office/drawing/2014/main" id="{E5183888-F87E-29F2-9957-7FFCBC14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451" y="1804363"/>
            <a:ext cx="4275495" cy="342039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5D07B46-DB7C-46B0-2FAE-B1B5CEE7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8" t="91480" r="71452" b="4725"/>
          <a:stretch>
            <a:fillRect/>
          </a:stretch>
        </p:blipFill>
        <p:spPr>
          <a:xfrm>
            <a:off x="7914146" y="5224759"/>
            <a:ext cx="3352800" cy="2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8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280F6B90-50DC-1171-8854-784D8C5C1273}"/>
              </a:ext>
            </a:extLst>
          </p:cNvPr>
          <p:cNvSpPr/>
          <p:nvPr/>
        </p:nvSpPr>
        <p:spPr>
          <a:xfrm>
            <a:off x="1769807" y="3549445"/>
            <a:ext cx="8357419" cy="3072581"/>
          </a:xfrm>
          <a:prstGeom prst="rect">
            <a:avLst/>
          </a:prstGeom>
          <a:solidFill>
            <a:srgbClr val="EEF6F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6FB797-119F-BBA4-8768-919AFE61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05" y="-726804"/>
            <a:ext cx="10648546" cy="2944368"/>
          </a:xfrm>
        </p:spPr>
        <p:txBody>
          <a:bodyPr>
            <a:normAutofit/>
          </a:bodyPr>
          <a:lstStyle/>
          <a:p>
            <a:r>
              <a:rPr lang="nl-NL" sz="4000">
                <a:highlight>
                  <a:srgbClr val="C0C0C0"/>
                </a:highlight>
              </a:rPr>
              <a:t>Methods: how did they investigate?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C0593A3-6CD2-80AC-CF50-61F104593D7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3189" y="1413489"/>
            <a:ext cx="9054940" cy="25603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/>
              <a:t>Data </a:t>
            </a:r>
            <a:r>
              <a:rPr lang="nl-NL" sz="2000" err="1"/>
              <a:t>from</a:t>
            </a:r>
            <a:r>
              <a:rPr lang="nl-NL" sz="2000"/>
              <a:t> 1977-2020. </a:t>
            </a:r>
          </a:p>
          <a:p>
            <a:r>
              <a:rPr lang="nl-NL" sz="2000" err="1"/>
              <a:t>Snowshoe</a:t>
            </a:r>
            <a:r>
              <a:rPr lang="nl-NL" sz="2000"/>
              <a:t> hare </a:t>
            </a:r>
            <a:r>
              <a:rPr lang="nl-NL" sz="2000" err="1"/>
              <a:t>population</a:t>
            </a:r>
            <a:r>
              <a:rPr lang="nl-NL" sz="2000"/>
              <a:t> </a:t>
            </a:r>
            <a:r>
              <a:rPr lang="nl-NL" sz="2000" err="1"/>
              <a:t>cycles</a:t>
            </a:r>
            <a:r>
              <a:rPr lang="nl-NL" sz="2000"/>
              <a:t> 9-11 </a:t>
            </a:r>
            <a:r>
              <a:rPr lang="nl-NL" sz="2000" err="1"/>
              <a:t>years</a:t>
            </a:r>
            <a:endParaRPr lang="nl-NL" sz="2000"/>
          </a:p>
          <a:p>
            <a:r>
              <a:rPr lang="nl-NL" sz="2000"/>
              <a:t>More </a:t>
            </a:r>
            <a:r>
              <a:rPr lang="nl-NL" sz="2000" err="1"/>
              <a:t>than</a:t>
            </a:r>
            <a:r>
              <a:rPr lang="nl-NL" sz="2000"/>
              <a:t> 20,000 </a:t>
            </a:r>
            <a:r>
              <a:rPr lang="nl-NL" sz="2000" err="1"/>
              <a:t>captures</a:t>
            </a:r>
            <a:r>
              <a:rPr lang="nl-NL" sz="2000"/>
              <a:t> (more </a:t>
            </a:r>
            <a:r>
              <a:rPr lang="nl-NL" sz="2000" err="1"/>
              <a:t>than</a:t>
            </a:r>
            <a:r>
              <a:rPr lang="nl-NL" sz="2000"/>
              <a:t> 7,000 </a:t>
            </a:r>
            <a:r>
              <a:rPr lang="nl-NL" sz="2000" err="1"/>
              <a:t>individual</a:t>
            </a:r>
            <a:r>
              <a:rPr lang="nl-NL" sz="2000"/>
              <a:t> </a:t>
            </a:r>
            <a:r>
              <a:rPr lang="nl-NL" sz="2000" err="1"/>
              <a:t>hares</a:t>
            </a:r>
            <a:r>
              <a:rPr lang="nl-NL" sz="2000"/>
              <a:t>).</a:t>
            </a:r>
          </a:p>
          <a:p>
            <a:r>
              <a:rPr lang="nl-NL" sz="2000"/>
              <a:t>Method: </a:t>
            </a:r>
            <a:r>
              <a:rPr lang="nl-NL" sz="2000" err="1"/>
              <a:t>capture</a:t>
            </a:r>
            <a:r>
              <a:rPr lang="nl-NL" sz="2000"/>
              <a:t>-mark-</a:t>
            </a:r>
            <a:r>
              <a:rPr lang="nl-NL" sz="2000" err="1"/>
              <a:t>recapture</a:t>
            </a:r>
            <a:r>
              <a:rPr lang="nl-NL" sz="2000"/>
              <a:t> </a:t>
            </a:r>
            <a:r>
              <a:rPr lang="nl-NL" sz="2000" err="1"/>
              <a:t>models</a:t>
            </a:r>
            <a:r>
              <a:rPr lang="nl-NL" sz="2000"/>
              <a:t> </a:t>
            </a:r>
          </a:p>
          <a:p>
            <a:r>
              <a:rPr lang="nl-NL" sz="2000" err="1"/>
              <a:t>Population</a:t>
            </a:r>
            <a:r>
              <a:rPr lang="nl-NL" sz="2000"/>
              <a:t> </a:t>
            </a:r>
            <a:r>
              <a:rPr lang="nl-NL" sz="2000" err="1"/>
              <a:t>growth</a:t>
            </a:r>
            <a:r>
              <a:rPr lang="nl-NL" sz="2000"/>
              <a:t>, survival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reproduction</a:t>
            </a:r>
            <a:r>
              <a:rPr lang="nl-NL" sz="2000"/>
              <a:t> </a:t>
            </a:r>
            <a:r>
              <a:rPr lang="nl-NL" sz="2000" err="1"/>
              <a:t>analysed</a:t>
            </a:r>
            <a:r>
              <a:rPr lang="nl-NL" sz="2000"/>
              <a:t> </a:t>
            </a:r>
            <a:r>
              <a:rPr lang="nl-NL" sz="2000" err="1"/>
              <a:t>across</a:t>
            </a:r>
            <a:r>
              <a:rPr lang="nl-NL" sz="2000"/>
              <a:t> </a:t>
            </a:r>
            <a:r>
              <a:rPr lang="nl-NL" sz="2000" err="1"/>
              <a:t>cycle</a:t>
            </a:r>
            <a:r>
              <a:rPr lang="nl-NL" sz="2000"/>
              <a:t> </a:t>
            </a:r>
            <a:r>
              <a:rPr lang="nl-NL" sz="2000" err="1"/>
              <a:t>phases</a:t>
            </a:r>
            <a:r>
              <a:rPr lang="nl-NL" sz="2000"/>
              <a:t>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E0C2A6-64F2-6B0A-4915-EDF352BDA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00" t="25545" r="67083" b="41589"/>
          <a:stretch>
            <a:fillRect/>
          </a:stretch>
        </p:blipFill>
        <p:spPr>
          <a:xfrm>
            <a:off x="2506407" y="3755339"/>
            <a:ext cx="1635760" cy="212875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E87341B-05FC-6E7B-3477-F5C274F7F4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83" t="58411" r="56750" b="31726"/>
          <a:stretch>
            <a:fillRect/>
          </a:stretch>
        </p:blipFill>
        <p:spPr>
          <a:xfrm>
            <a:off x="1884189" y="5843463"/>
            <a:ext cx="2763520" cy="63883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AD66CAD-257E-C277-88CA-750B6D7E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33" t="31297" r="40250" b="41588"/>
          <a:stretch>
            <a:fillRect/>
          </a:stretch>
        </p:blipFill>
        <p:spPr>
          <a:xfrm>
            <a:off x="5236989" y="4121883"/>
            <a:ext cx="1635760" cy="175624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5B1A9F9D-3844-6EBA-52A0-4490648575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50" t="25608" r="37500" b="67333"/>
          <a:stretch>
            <a:fillRect/>
          </a:stretch>
        </p:blipFill>
        <p:spPr>
          <a:xfrm>
            <a:off x="5033789" y="3757108"/>
            <a:ext cx="2042160" cy="4572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3AD3753-DB5F-E6E3-539E-AAD5DDC5F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83" t="58411" r="31368" b="31297"/>
          <a:stretch>
            <a:fillRect/>
          </a:stretch>
        </p:blipFill>
        <p:spPr>
          <a:xfrm>
            <a:off x="4647709" y="5864229"/>
            <a:ext cx="2749213" cy="666629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1282C03-8731-0D76-ABF1-801B59F9B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17" t="25451" r="14916" b="42718"/>
          <a:stretch>
            <a:fillRect/>
          </a:stretch>
        </p:blipFill>
        <p:spPr>
          <a:xfrm>
            <a:off x="7935402" y="3716011"/>
            <a:ext cx="1605280" cy="2061697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3ACA6610-68A7-8D80-967B-BBB1D915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82" t="57282" r="6338" b="33137"/>
          <a:stretch>
            <a:fillRect/>
          </a:stretch>
        </p:blipFill>
        <p:spPr>
          <a:xfrm>
            <a:off x="7532236" y="5887271"/>
            <a:ext cx="2411612" cy="620544"/>
          </a:xfrm>
          <a:prstGeom prst="rect">
            <a:avLst/>
          </a:prstGeom>
        </p:spPr>
      </p:pic>
      <p:sp>
        <p:nvSpPr>
          <p:cNvPr id="20" name="Tekstvak 19">
            <a:extLst>
              <a:ext uri="{FF2B5EF4-FFF2-40B4-BE49-F238E27FC236}">
                <a16:creationId xmlns:a16="http://schemas.microsoft.com/office/drawing/2014/main" id="{84202D8A-8318-A2C6-C843-CECEB7CCE2FA}"/>
              </a:ext>
            </a:extLst>
          </p:cNvPr>
          <p:cNvSpPr txBox="1"/>
          <p:nvPr/>
        </p:nvSpPr>
        <p:spPr>
          <a:xfrm>
            <a:off x="8859591" y="6546003"/>
            <a:ext cx="1257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Image made </a:t>
            </a:r>
            <a:r>
              <a:rPr lang="nl-NL" sz="1100" err="1"/>
              <a:t>by</a:t>
            </a:r>
            <a:r>
              <a:rPr lang="nl-NL" sz="110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2357339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2DFA845B-CA1D-AFE8-0786-E15F3BEA0E85}"/>
              </a:ext>
            </a:extLst>
          </p:cNvPr>
          <p:cNvSpPr/>
          <p:nvPr/>
        </p:nvSpPr>
        <p:spPr>
          <a:xfrm>
            <a:off x="433388" y="497840"/>
            <a:ext cx="10922000" cy="4860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567B0B-BC37-AD04-163F-9E724CAA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47" y="-586066"/>
            <a:ext cx="3932237" cy="1600200"/>
          </a:xfrm>
        </p:spPr>
        <p:txBody>
          <a:bodyPr anchor="b">
            <a:normAutofit/>
          </a:bodyPr>
          <a:lstStyle/>
          <a:p>
            <a:r>
              <a:rPr lang="nl-NL" err="1"/>
              <a:t>Results</a:t>
            </a:r>
            <a:endParaRPr lang="nl-NL"/>
          </a:p>
        </p:txBody>
      </p:sp>
      <p:pic>
        <p:nvPicPr>
          <p:cNvPr id="6" name="Afbeelding 5" descr="Afbeelding met tekst, schermopname, scherm, software&#10;&#10;Door AI gegenereerde inhoud is mogelijk onjuist.">
            <a:extLst>
              <a:ext uri="{FF2B5EF4-FFF2-40B4-BE49-F238E27FC236}">
                <a16:creationId xmlns:a16="http://schemas.microsoft.com/office/drawing/2014/main" id="{21B20A54-88F6-375F-C40C-82BA8EA3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95" t="25038" r="22015" b="5602"/>
          <a:stretch>
            <a:fillRect/>
          </a:stretch>
        </p:blipFill>
        <p:spPr>
          <a:xfrm>
            <a:off x="4854981" y="1175616"/>
            <a:ext cx="6752939" cy="4920384"/>
          </a:xfrm>
          <a:prstGeom prst="rect">
            <a:avLst/>
          </a:prstGeom>
          <a:noFill/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CBD66B-2B54-8CF7-0FD2-EF7C72DB3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388" y="1175616"/>
            <a:ext cx="4749800" cy="48187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nl-NL" sz="2200" err="1"/>
              <a:t>Main</a:t>
            </a:r>
            <a:r>
              <a:rPr lang="nl-NL" sz="2200"/>
              <a:t> </a:t>
            </a:r>
            <a:r>
              <a:rPr lang="nl-NL" sz="2200" err="1"/>
              <a:t>findings</a:t>
            </a:r>
            <a:r>
              <a:rPr lang="nl-NL" sz="2200"/>
              <a:t>: </a:t>
            </a:r>
          </a:p>
          <a:p>
            <a:pPr marL="285750" indent="-285750">
              <a:buChar char="•"/>
            </a:pPr>
            <a:r>
              <a:rPr lang="nl-NL" sz="2200"/>
              <a:t>Survival = </a:t>
            </a:r>
            <a:r>
              <a:rPr lang="nl-NL" sz="2200" err="1"/>
              <a:t>higher</a:t>
            </a:r>
            <a:r>
              <a:rPr lang="nl-NL" sz="2200"/>
              <a:t> </a:t>
            </a:r>
            <a:r>
              <a:rPr lang="nl-NL" sz="2200" err="1"/>
              <a:t>during</a:t>
            </a:r>
            <a:r>
              <a:rPr lang="nl-NL" sz="2200"/>
              <a:t> </a:t>
            </a:r>
            <a:r>
              <a:rPr lang="nl-NL" sz="2200" err="1"/>
              <a:t>population</a:t>
            </a:r>
            <a:r>
              <a:rPr lang="nl-NL" sz="2200"/>
              <a:t> increase </a:t>
            </a:r>
            <a:r>
              <a:rPr lang="nl-NL" sz="2200" err="1"/>
              <a:t>phase</a:t>
            </a:r>
            <a:r>
              <a:rPr lang="nl-NL" sz="2200"/>
              <a:t>.</a:t>
            </a:r>
          </a:p>
          <a:p>
            <a:pPr marL="285750" indent="-285750">
              <a:buChar char="•"/>
            </a:pPr>
            <a:r>
              <a:rPr lang="nl-NL" sz="2200" err="1"/>
              <a:t>Population</a:t>
            </a:r>
            <a:r>
              <a:rPr lang="nl-NL" sz="2200"/>
              <a:t> </a:t>
            </a:r>
            <a:r>
              <a:rPr lang="nl-NL" sz="2200" err="1"/>
              <a:t>decline</a:t>
            </a:r>
            <a:r>
              <a:rPr lang="nl-NL" sz="2200"/>
              <a:t> </a:t>
            </a:r>
            <a:r>
              <a:rPr lang="nl-NL" sz="2200" err="1"/>
              <a:t>because</a:t>
            </a:r>
            <a:r>
              <a:rPr lang="nl-NL" sz="2200"/>
              <a:t> of </a:t>
            </a:r>
            <a:r>
              <a:rPr lang="nl-NL" sz="2200" err="1"/>
              <a:t>reduced</a:t>
            </a:r>
            <a:r>
              <a:rPr lang="nl-NL" sz="2200"/>
              <a:t> survival, </a:t>
            </a:r>
            <a:r>
              <a:rPr lang="nl-NL" sz="2200" err="1"/>
              <a:t>mainly</a:t>
            </a:r>
            <a:r>
              <a:rPr lang="nl-NL" sz="2200"/>
              <a:t> </a:t>
            </a:r>
            <a:r>
              <a:rPr lang="nl-NL" sz="2200" err="1"/>
              <a:t>before</a:t>
            </a:r>
            <a:r>
              <a:rPr lang="nl-NL" sz="2200"/>
              <a:t> </a:t>
            </a:r>
            <a:r>
              <a:rPr lang="nl-NL" sz="2200" err="1"/>
              <a:t>weaning</a:t>
            </a:r>
            <a:r>
              <a:rPr lang="nl-NL" sz="2200"/>
              <a:t>.</a:t>
            </a:r>
          </a:p>
          <a:p>
            <a:pPr marL="285750" indent="-285750">
              <a:buChar char="•"/>
            </a:pPr>
            <a:r>
              <a:rPr lang="nl-NL" sz="2200">
                <a:highlight>
                  <a:srgbClr val="7BA6DD"/>
                </a:highlight>
              </a:rPr>
              <a:t>Dark blue: pre-</a:t>
            </a:r>
            <a:r>
              <a:rPr lang="nl-NL" sz="2200" err="1">
                <a:highlight>
                  <a:srgbClr val="7BA6DD"/>
                </a:highlight>
              </a:rPr>
              <a:t>weaning</a:t>
            </a:r>
            <a:r>
              <a:rPr lang="nl-NL" sz="2200">
                <a:highlight>
                  <a:srgbClr val="7BA6DD"/>
                </a:highlight>
              </a:rPr>
              <a:t> survival,</a:t>
            </a:r>
            <a:r>
              <a:rPr lang="nl-NL" sz="2200"/>
              <a:t> </a:t>
            </a:r>
            <a:r>
              <a:rPr lang="nl-NL" sz="2200" err="1">
                <a:highlight>
                  <a:srgbClr val="F1DE51"/>
                </a:highlight>
              </a:rPr>
              <a:t>yellow</a:t>
            </a:r>
            <a:r>
              <a:rPr lang="nl-NL" sz="2200">
                <a:highlight>
                  <a:srgbClr val="F1DE51"/>
                </a:highlight>
              </a:rPr>
              <a:t>: </a:t>
            </a:r>
            <a:r>
              <a:rPr lang="nl-NL" sz="2200" err="1">
                <a:highlight>
                  <a:srgbClr val="F1DE51"/>
                </a:highlight>
              </a:rPr>
              <a:t>juveniles</a:t>
            </a:r>
            <a:r>
              <a:rPr lang="nl-NL" sz="2200">
                <a:highlight>
                  <a:srgbClr val="F1DE51"/>
                </a:highlight>
              </a:rPr>
              <a:t> survival</a:t>
            </a:r>
          </a:p>
          <a:p>
            <a:pPr marL="285750" indent="-285750">
              <a:buChar char="•"/>
            </a:pPr>
            <a:r>
              <a:rPr lang="nl-NL" sz="2200" err="1">
                <a:highlight>
                  <a:srgbClr val="C0C0C0"/>
                </a:highlight>
              </a:rPr>
              <a:t>Population</a:t>
            </a:r>
            <a:r>
              <a:rPr lang="nl-NL" sz="2200">
                <a:highlight>
                  <a:srgbClr val="C0C0C0"/>
                </a:highlight>
              </a:rPr>
              <a:t> </a:t>
            </a:r>
            <a:r>
              <a:rPr lang="nl-NL" sz="2200" err="1">
                <a:highlight>
                  <a:srgbClr val="C0C0C0"/>
                </a:highlight>
              </a:rPr>
              <a:t>growth</a:t>
            </a:r>
            <a:r>
              <a:rPr lang="nl-NL" sz="2200">
                <a:highlight>
                  <a:srgbClr val="C0C0C0"/>
                </a:highlight>
              </a:rPr>
              <a:t> </a:t>
            </a:r>
            <a:r>
              <a:rPr lang="nl-NL" sz="2200" err="1">
                <a:highlight>
                  <a:srgbClr val="C0C0C0"/>
                </a:highlight>
              </a:rPr>
              <a:t>and</a:t>
            </a:r>
            <a:r>
              <a:rPr lang="nl-NL" sz="2200">
                <a:highlight>
                  <a:srgbClr val="C0C0C0"/>
                </a:highlight>
              </a:rPr>
              <a:t> </a:t>
            </a:r>
            <a:r>
              <a:rPr lang="nl-NL" sz="2200" err="1">
                <a:highlight>
                  <a:srgbClr val="C0C0C0"/>
                </a:highlight>
              </a:rPr>
              <a:t>decline</a:t>
            </a:r>
            <a:r>
              <a:rPr lang="nl-NL" sz="2200">
                <a:highlight>
                  <a:srgbClr val="C0C0C0"/>
                </a:highlight>
              </a:rPr>
              <a:t>. </a:t>
            </a:r>
            <a:r>
              <a:rPr lang="nl-NL" sz="2200" err="1">
                <a:highlight>
                  <a:srgbClr val="C0C0C0"/>
                </a:highlight>
              </a:rPr>
              <a:t>Olive</a:t>
            </a:r>
            <a:r>
              <a:rPr lang="nl-NL" sz="2200">
                <a:highlight>
                  <a:srgbClr val="C0C0C0"/>
                </a:highlight>
              </a:rPr>
              <a:t> green </a:t>
            </a:r>
            <a:r>
              <a:rPr lang="nl-NL" sz="2200" err="1">
                <a:highlight>
                  <a:srgbClr val="C0C0C0"/>
                </a:highlight>
              </a:rPr>
              <a:t>and</a:t>
            </a:r>
            <a:r>
              <a:rPr lang="nl-NL" sz="2200">
                <a:highlight>
                  <a:srgbClr val="C0C0C0"/>
                </a:highlight>
              </a:rPr>
              <a:t> black: </a:t>
            </a:r>
            <a:r>
              <a:rPr lang="nl-NL" sz="2200" err="1">
                <a:highlight>
                  <a:srgbClr val="C0C0C0"/>
                </a:highlight>
              </a:rPr>
              <a:t>females</a:t>
            </a:r>
            <a:r>
              <a:rPr lang="nl-NL" sz="2200">
                <a:highlight>
                  <a:srgbClr val="C0C0C0"/>
                </a:highlight>
              </a:rPr>
              <a:t> (</a:t>
            </a:r>
            <a:r>
              <a:rPr lang="nl-NL" sz="2200" err="1">
                <a:highlight>
                  <a:srgbClr val="C0C0C0"/>
                </a:highlight>
              </a:rPr>
              <a:t>becoming</a:t>
            </a:r>
            <a:r>
              <a:rPr lang="nl-NL" sz="2200">
                <a:highlight>
                  <a:srgbClr val="C0C0C0"/>
                </a:highlight>
              </a:rPr>
              <a:t>) </a:t>
            </a:r>
            <a:r>
              <a:rPr lang="nl-NL" sz="2200" err="1">
                <a:highlight>
                  <a:srgbClr val="C0C0C0"/>
                </a:highlight>
              </a:rPr>
              <a:t>reproductive</a:t>
            </a:r>
            <a:endParaRPr lang="nl-NL" sz="2200">
              <a:highlight>
                <a:srgbClr val="C0C0C0"/>
              </a:highlight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nl-NL" sz="2200"/>
              <a:t>Adult </a:t>
            </a:r>
            <a:r>
              <a:rPr lang="nl-NL" sz="2200" err="1"/>
              <a:t>female</a:t>
            </a:r>
            <a:r>
              <a:rPr lang="nl-NL" sz="2200"/>
              <a:t> survival</a:t>
            </a:r>
          </a:p>
          <a:p>
            <a:pPr marL="285750" indent="-285750">
              <a:buChar char="•"/>
            </a:pPr>
            <a:endParaRPr lang="nl-NL"/>
          </a:p>
          <a:p>
            <a:pPr marL="285750" indent="-285750">
              <a:buChar char="•"/>
            </a:pPr>
            <a:endParaRPr lang="nl-NL"/>
          </a:p>
          <a:p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33BE9276-43E3-AA03-1FE2-35B89245AF32}"/>
              </a:ext>
            </a:extLst>
          </p:cNvPr>
          <p:cNvSpPr txBox="1"/>
          <p:nvPr/>
        </p:nvSpPr>
        <p:spPr>
          <a:xfrm>
            <a:off x="8231450" y="6360160"/>
            <a:ext cx="38994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700"/>
              <a:t>Oli, M. K., </a:t>
            </a:r>
            <a:r>
              <a:rPr lang="nl-NL" sz="700" err="1"/>
              <a:t>Kenney</a:t>
            </a:r>
            <a:r>
              <a:rPr lang="nl-NL" sz="700"/>
              <a:t>, A. J., Boonstra, R., </a:t>
            </a:r>
            <a:r>
              <a:rPr lang="nl-NL" sz="700" err="1"/>
              <a:t>Boutin</a:t>
            </a:r>
            <a:r>
              <a:rPr lang="nl-NL" sz="700"/>
              <a:t>, S., Murray, D. L., Jung, T. S., Hines, J. E., &amp; </a:t>
            </a:r>
            <a:r>
              <a:rPr lang="nl-NL" sz="700" err="1"/>
              <a:t>Krebs</a:t>
            </a:r>
            <a:r>
              <a:rPr lang="nl-NL" sz="700"/>
              <a:t>, C. J. (2026). </a:t>
            </a:r>
            <a:r>
              <a:rPr lang="nl-NL" sz="700" i="1" err="1"/>
              <a:t>Demographic</a:t>
            </a:r>
            <a:r>
              <a:rPr lang="nl-NL" sz="700" i="1"/>
              <a:t> </a:t>
            </a:r>
            <a:r>
              <a:rPr lang="nl-NL" sz="700" i="1" err="1"/>
              <a:t>mechanisms</a:t>
            </a:r>
            <a:r>
              <a:rPr lang="nl-NL" sz="700" i="1"/>
              <a:t> of </a:t>
            </a:r>
            <a:r>
              <a:rPr lang="nl-NL" sz="700" i="1" err="1"/>
              <a:t>snowshoe</a:t>
            </a:r>
            <a:r>
              <a:rPr lang="nl-NL" sz="700" i="1"/>
              <a:t> hare </a:t>
            </a:r>
            <a:r>
              <a:rPr lang="nl-NL" sz="700" i="1" err="1"/>
              <a:t>population</a:t>
            </a:r>
            <a:r>
              <a:rPr lang="nl-NL" sz="700" i="1"/>
              <a:t> </a:t>
            </a:r>
            <a:r>
              <a:rPr lang="nl-NL" sz="700" i="1" err="1"/>
              <a:t>cycles</a:t>
            </a:r>
            <a:r>
              <a:rPr lang="nl-NL" sz="700" i="1"/>
              <a:t> in Yukon, Canada</a:t>
            </a:r>
            <a:r>
              <a:rPr lang="nl-NL" sz="700"/>
              <a:t>. </a:t>
            </a:r>
            <a:r>
              <a:rPr lang="nl-NL" sz="700" i="1"/>
              <a:t>Journal of </a:t>
            </a:r>
            <a:r>
              <a:rPr lang="nl-NL" sz="700" i="1" err="1"/>
              <a:t>Animal</a:t>
            </a:r>
            <a:r>
              <a:rPr lang="nl-NL" sz="700" i="1"/>
              <a:t> </a:t>
            </a:r>
            <a:r>
              <a:rPr lang="nl-NL" sz="700" i="1" err="1"/>
              <a:t>Ecology</a:t>
            </a:r>
            <a:r>
              <a:rPr lang="nl-NL" sz="700"/>
              <a:t>, 95, 21–38. </a:t>
            </a:r>
            <a:r>
              <a:rPr lang="nl-NL" sz="700">
                <a:hlinkClick r:id="rId4"/>
              </a:rPr>
              <a:t>https://doi.org/10.1111/1365-2656.70169</a:t>
            </a:r>
            <a:r>
              <a:rPr lang="nl-NL" sz="7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5412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A63E5F20-B389-468F-A7EF-54AD2E30AA4E}"/>
              </a:ext>
            </a:extLst>
          </p:cNvPr>
          <p:cNvSpPr/>
          <p:nvPr/>
        </p:nvSpPr>
        <p:spPr>
          <a:xfrm>
            <a:off x="379820" y="447374"/>
            <a:ext cx="3597820" cy="3184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7DD0C8-B971-D2E1-1442-482587C5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03504"/>
            <a:ext cx="3465576" cy="2944368"/>
          </a:xfrm>
        </p:spPr>
        <p:txBody>
          <a:bodyPr anchor="ctr">
            <a:normAutofit/>
          </a:bodyPr>
          <a:lstStyle/>
          <a:p>
            <a:r>
              <a:rPr lang="nl-NL" sz="4100" err="1"/>
              <a:t>What</a:t>
            </a:r>
            <a:r>
              <a:rPr lang="nl-NL" sz="4100"/>
              <a:t> do </a:t>
            </a:r>
            <a:r>
              <a:rPr lang="nl-NL" sz="4100" err="1"/>
              <a:t>the</a:t>
            </a:r>
            <a:r>
              <a:rPr lang="nl-NL" sz="4100"/>
              <a:t> </a:t>
            </a:r>
            <a:r>
              <a:rPr lang="nl-NL" sz="4100" err="1"/>
              <a:t>results</a:t>
            </a:r>
            <a:r>
              <a:rPr lang="nl-NL" sz="4100"/>
              <a:t> </a:t>
            </a:r>
            <a:r>
              <a:rPr lang="nl-NL" sz="4100" err="1"/>
              <a:t>mean</a:t>
            </a:r>
            <a:r>
              <a:rPr lang="nl-NL" sz="4100"/>
              <a:t> </a:t>
            </a:r>
            <a:r>
              <a:rPr lang="nl-NL" sz="4100" err="1"/>
              <a:t>for</a:t>
            </a:r>
            <a:r>
              <a:rPr lang="nl-NL" sz="4100"/>
              <a:t> top-down </a:t>
            </a:r>
            <a:r>
              <a:rPr lang="nl-NL" sz="4100" err="1"/>
              <a:t>and</a:t>
            </a:r>
            <a:r>
              <a:rPr lang="nl-NL" sz="4100"/>
              <a:t> bottom-up control?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21BD2D-DC61-9441-5A1C-E3DF8080BDE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nl-NL" err="1"/>
              <a:t>Predation</a:t>
            </a:r>
            <a:r>
              <a:rPr lang="nl-NL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nl-NL"/>
              <a:t>Survival, </a:t>
            </a:r>
            <a:r>
              <a:rPr lang="nl-NL" err="1"/>
              <a:t>phase</a:t>
            </a:r>
            <a:r>
              <a:rPr lang="nl-NL"/>
              <a:t> of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cycle</a:t>
            </a:r>
            <a:r>
              <a:rPr lang="nl-NL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nl-NL" err="1"/>
              <a:t>Reproduction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pre-</a:t>
            </a:r>
            <a:r>
              <a:rPr lang="nl-NL" err="1"/>
              <a:t>weaning</a:t>
            </a:r>
            <a:r>
              <a:rPr lang="nl-NL"/>
              <a:t> survival</a:t>
            </a:r>
          </a:p>
          <a:p>
            <a:pPr marL="285750" indent="-285750">
              <a:buFont typeface="Arial"/>
              <a:buChar char="•"/>
            </a:pPr>
            <a:r>
              <a:rPr lang="nl-NL"/>
              <a:t>The 1995 experiment </a:t>
            </a:r>
            <a:r>
              <a:rPr lang="nl-NL" err="1"/>
              <a:t>and</a:t>
            </a:r>
            <a:r>
              <a:rPr lang="nl-NL"/>
              <a:t> 2026 </a:t>
            </a:r>
            <a:r>
              <a:rPr lang="nl-NL" err="1"/>
              <a:t>demographic</a:t>
            </a:r>
            <a:r>
              <a:rPr lang="nl-NL"/>
              <a:t> </a:t>
            </a:r>
            <a:r>
              <a:rPr lang="nl-NL" err="1"/>
              <a:t>study</a:t>
            </a:r>
            <a:r>
              <a:rPr lang="nl-NL"/>
              <a:t> </a:t>
            </a:r>
            <a:r>
              <a:rPr lang="nl-NL" err="1"/>
              <a:t>provide</a:t>
            </a:r>
            <a:r>
              <a:rPr lang="nl-NL"/>
              <a:t> </a:t>
            </a:r>
            <a:r>
              <a:rPr lang="nl-NL" err="1"/>
              <a:t>complementary</a:t>
            </a:r>
            <a:r>
              <a:rPr lang="nl-NL"/>
              <a:t> </a:t>
            </a:r>
            <a:r>
              <a:rPr lang="nl-NL" err="1"/>
              <a:t>evidence</a:t>
            </a:r>
            <a:r>
              <a:rPr lang="nl-NL"/>
              <a:t>.</a:t>
            </a:r>
          </a:p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3464641-D40F-713C-D15A-B77C62367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17" t="24980" r="11916" b="39256"/>
          <a:stretch>
            <a:fillRect/>
          </a:stretch>
        </p:blipFill>
        <p:spPr>
          <a:xfrm>
            <a:off x="2981396" y="3637280"/>
            <a:ext cx="8781395" cy="2734082"/>
          </a:xfrm>
          <a:prstGeom prst="rect">
            <a:avLst/>
          </a:prstGeom>
          <a:noFill/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578803A2-4C54-81B0-7634-97F338F8F8BD}"/>
              </a:ext>
            </a:extLst>
          </p:cNvPr>
          <p:cNvSpPr txBox="1"/>
          <p:nvPr/>
        </p:nvSpPr>
        <p:spPr>
          <a:xfrm>
            <a:off x="9940413" y="6109752"/>
            <a:ext cx="1285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Image made </a:t>
            </a:r>
            <a:r>
              <a:rPr lang="nl-NL" sz="1100" err="1"/>
              <a:t>by</a:t>
            </a:r>
            <a:r>
              <a:rPr lang="nl-NL" sz="1100"/>
              <a:t> AI </a:t>
            </a:r>
          </a:p>
        </p:txBody>
      </p:sp>
    </p:spTree>
    <p:extLst>
      <p:ext uri="{BB962C8B-B14F-4D97-AF65-F5344CB8AC3E}">
        <p14:creationId xmlns:p14="http://schemas.microsoft.com/office/powerpoint/2010/main" val="280320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uble Wave 11">
            <a:extLst>
              <a:ext uri="{FF2B5EF4-FFF2-40B4-BE49-F238E27FC236}">
                <a16:creationId xmlns:a16="http://schemas.microsoft.com/office/drawing/2014/main" id="{CECCAEF2-A34C-0385-271D-750605165A7E}"/>
              </a:ext>
            </a:extLst>
          </p:cNvPr>
          <p:cNvSpPr/>
          <p:nvPr/>
        </p:nvSpPr>
        <p:spPr>
          <a:xfrm>
            <a:off x="6220882" y="1602583"/>
            <a:ext cx="5306785" cy="3878627"/>
          </a:xfrm>
          <a:prstGeom prst="doubleWav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uble Wave 10">
            <a:extLst>
              <a:ext uri="{FF2B5EF4-FFF2-40B4-BE49-F238E27FC236}">
                <a16:creationId xmlns:a16="http://schemas.microsoft.com/office/drawing/2014/main" id="{3EE80D5A-6932-B853-2AA1-3ED93C6CBFB9}"/>
              </a:ext>
            </a:extLst>
          </p:cNvPr>
          <p:cNvSpPr/>
          <p:nvPr/>
        </p:nvSpPr>
        <p:spPr>
          <a:xfrm>
            <a:off x="520031" y="1592231"/>
            <a:ext cx="5302643" cy="3899333"/>
          </a:xfrm>
          <a:prstGeom prst="doubleWave">
            <a:avLst>
              <a:gd name="adj1" fmla="val 6250"/>
              <a:gd name="adj2" fmla="val -4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F27DEC-4B95-B77D-077D-BD641E33ED0E}"/>
              </a:ext>
            </a:extLst>
          </p:cNvPr>
          <p:cNvSpPr/>
          <p:nvPr/>
        </p:nvSpPr>
        <p:spPr>
          <a:xfrm>
            <a:off x="794143" y="5484663"/>
            <a:ext cx="10738008" cy="7698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37EC16-CC8A-4CDA-2C25-71E38305552D}"/>
              </a:ext>
            </a:extLst>
          </p:cNvPr>
          <p:cNvSpPr/>
          <p:nvPr/>
        </p:nvSpPr>
        <p:spPr>
          <a:xfrm>
            <a:off x="952500" y="507999"/>
            <a:ext cx="10214428" cy="79828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DB0F6-7275-8937-3822-7296B374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1751"/>
            <a:ext cx="11018520" cy="1088358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Cambria"/>
                <a:ea typeface="Cambria"/>
                <a:cs typeface="+mj-lt"/>
              </a:rPr>
              <a:t>Two Studies, Two Kinds of Evidence</a:t>
            </a:r>
            <a:endParaRPr lang="en-US">
              <a:latin typeface="Cambria"/>
              <a:ea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23FB-7073-A704-930B-4F8E41EFB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026" y="2016815"/>
            <a:ext cx="5184648" cy="534033"/>
          </a:xfrm>
        </p:spPr>
        <p:txBody>
          <a:bodyPr>
            <a:normAutofit/>
          </a:bodyPr>
          <a:lstStyle/>
          <a:p>
            <a:r>
              <a:rPr lang="en-US" sz="2800"/>
              <a:t>1995 · Krebs et al.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E8ED0-9400-FFDA-5DB6-736C1FAB60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9486" y="2538426"/>
            <a:ext cx="5183188" cy="23054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>
                <a:ea typeface="+mn-lt"/>
                <a:cs typeface="+mn-lt"/>
              </a:rPr>
              <a:t>EXPERIMENTAL EVIDENCE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Method: Food addition + predator exclusion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Finding: Strong interaction between both factors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Limitation: Population decline was delayed, not prevented</a:t>
            </a:r>
            <a:endParaRPr lang="en-US" sz="2200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AA553-4FDC-20BB-B553-873C702F2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0032" y="2016815"/>
            <a:ext cx="5183188" cy="534033"/>
          </a:xfrm>
        </p:spPr>
        <p:txBody>
          <a:bodyPr>
            <a:normAutofit/>
          </a:bodyPr>
          <a:lstStyle/>
          <a:p>
            <a:r>
              <a:rPr lang="en-US" sz="2800"/>
              <a:t>2026 · Oli et al.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8A9E8-9DDF-2C4B-BFEF-109378EEACE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65185" y="2509437"/>
            <a:ext cx="5162482" cy="268642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>
                <a:ea typeface="+mn-lt"/>
                <a:cs typeface="+mn-lt"/>
              </a:rPr>
              <a:t>DEMOGRAPHIC EVIDENCE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Method: 43 years of population data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Finding: Survival and reproduction drive population changes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Limitation: Ecological causes not directly tested</a:t>
            </a:r>
            <a:endParaRPr lang="en-US" sz="2200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ABA92-0A75-D1C4-BEDC-B3F624DC7162}"/>
              </a:ext>
            </a:extLst>
          </p:cNvPr>
          <p:cNvSpPr txBox="1"/>
          <p:nvPr/>
        </p:nvSpPr>
        <p:spPr>
          <a:xfrm>
            <a:off x="794143" y="5541498"/>
            <a:ext cx="11018519" cy="76944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200">
                <a:ea typeface="+mn-lt"/>
                <a:cs typeface="+mn-lt"/>
              </a:rPr>
              <a:t>1995 tested ecological pressures; 2026 explained the demographic processes behind population changes.</a:t>
            </a:r>
            <a:endParaRPr lang="en-US" sz="2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EAB92-86A7-291A-E9EC-CEADA3268EB2}"/>
              </a:ext>
            </a:extLst>
          </p:cNvPr>
          <p:cNvSpPr txBox="1"/>
          <p:nvPr/>
        </p:nvSpPr>
        <p:spPr>
          <a:xfrm>
            <a:off x="117928" y="6540499"/>
            <a:ext cx="5134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Sources: Krebs et al. (1995); Oli et al. (2026).</a:t>
            </a:r>
            <a:endParaRPr lang="en-US" sz="120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7192C60-C52F-1B4C-B31D-49C900226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0863" y="-53782"/>
            <a:ext cx="198120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8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FFCE31-3CAA-F2A1-CAB7-BF344A03CB96}"/>
              </a:ext>
            </a:extLst>
          </p:cNvPr>
          <p:cNvSpPr/>
          <p:nvPr/>
        </p:nvSpPr>
        <p:spPr>
          <a:xfrm>
            <a:off x="780141" y="5306785"/>
            <a:ext cx="10441214" cy="1197746"/>
          </a:xfrm>
          <a:prstGeom prst="roundRect">
            <a:avLst/>
          </a:prstGeom>
          <a:solidFill>
            <a:srgbClr val="EEF6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1E2157-F8E7-2117-71B5-CB08C70890CE}"/>
              </a:ext>
            </a:extLst>
          </p:cNvPr>
          <p:cNvSpPr/>
          <p:nvPr/>
        </p:nvSpPr>
        <p:spPr>
          <a:xfrm>
            <a:off x="874604" y="1524000"/>
            <a:ext cx="5125357" cy="3356428"/>
          </a:xfrm>
          <a:prstGeom prst="roundRect">
            <a:avLst/>
          </a:prstGeom>
          <a:solidFill>
            <a:srgbClr val="FAC8D4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56C391-57D2-84B2-563B-BEB14E59A9B8}"/>
              </a:ext>
            </a:extLst>
          </p:cNvPr>
          <p:cNvSpPr/>
          <p:nvPr/>
        </p:nvSpPr>
        <p:spPr>
          <a:xfrm>
            <a:off x="6095998" y="1523999"/>
            <a:ext cx="5125357" cy="3356428"/>
          </a:xfrm>
          <a:prstGeom prst="roundRect">
            <a:avLst/>
          </a:prstGeom>
          <a:solidFill>
            <a:srgbClr val="FAC8D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57D94414-46BE-BE5F-8369-4C24F53433F3}"/>
              </a:ext>
            </a:extLst>
          </p:cNvPr>
          <p:cNvSpPr/>
          <p:nvPr/>
        </p:nvSpPr>
        <p:spPr>
          <a:xfrm>
            <a:off x="925285" y="423793"/>
            <a:ext cx="10150928" cy="952499"/>
          </a:xfrm>
          <a:prstGeom prst="horizontalScroll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0E9BE-972D-4CA2-C7A4-B6B87F77F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7" y="353469"/>
            <a:ext cx="11018520" cy="1088358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latin typeface="Cambria"/>
                <a:ea typeface="Cambria"/>
                <a:cs typeface="+mj-lt"/>
              </a:rPr>
              <a:t>Why Didn't the Population Decline Stop?</a:t>
            </a:r>
            <a:endParaRPr lang="en-US" sz="4400">
              <a:latin typeface="Cambria"/>
              <a:ea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8A16F-A5FE-5F52-F490-16A8B47AF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039" y="1739348"/>
            <a:ext cx="5184648" cy="534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KREBS ET AL. · 1995</a:t>
            </a:r>
            <a:endParaRPr lang="en-US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30461-746A-E312-CC58-6A70FA0EEE0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5550" y="2272780"/>
            <a:ext cx="5183188" cy="2960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The unexpected result</a:t>
            </a:r>
            <a:endParaRPr lang="en-US" sz="2200" b="1"/>
          </a:p>
          <a:p>
            <a:pPr marL="342900" indent="-342900">
              <a:buChar char="•"/>
            </a:pPr>
            <a:r>
              <a:rPr lang="en-US" sz="2200">
                <a:ea typeface="+mn-lt"/>
                <a:cs typeface="+mn-lt"/>
              </a:rPr>
              <a:t>Food + predator exclusion increased hare density</a:t>
            </a:r>
          </a:p>
          <a:p>
            <a:pPr marL="342900" indent="-342900">
              <a:buChar char="•"/>
            </a:pPr>
            <a:r>
              <a:rPr lang="en-US" sz="2200">
                <a:ea typeface="+mn-lt"/>
                <a:cs typeface="+mn-lt"/>
              </a:rPr>
              <a:t>Population still eventually declined</a:t>
            </a:r>
            <a:endParaRPr lang="en-US" sz="2200"/>
          </a:p>
          <a:p>
            <a:pPr marL="342900" indent="-342900">
              <a:buChar char="•"/>
            </a:pPr>
            <a:r>
              <a:rPr lang="en-US" sz="2200">
                <a:ea typeface="+mn-lt"/>
                <a:cs typeface="+mn-lt"/>
              </a:rPr>
              <a:t>Birds of prey remained, and hares could move outside protected areas.</a:t>
            </a:r>
            <a:endParaRPr lang="en-US" sz="2200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4D3A3-EB45-BF5F-A798-D7A4D9C43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1739348"/>
            <a:ext cx="5183188" cy="534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OLI ET AL. · 2026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ED1BA-A2B5-EFB4-A457-8FA8B607355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272781"/>
            <a:ext cx="5183188" cy="30353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A deeper insight</a:t>
            </a:r>
            <a:endParaRPr lang="en-US" sz="2200" b="1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Survival and reproduction shape population cycles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Pre-weaning survival is crucial during declines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Causes of reproductive changes remain unclear</a:t>
            </a:r>
            <a:endParaRPr lang="en-US" sz="2200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BCE988-AA2D-B05D-30CC-04F2F45F020F}"/>
              </a:ext>
            </a:extLst>
          </p:cNvPr>
          <p:cNvSpPr txBox="1"/>
          <p:nvPr/>
        </p:nvSpPr>
        <p:spPr>
          <a:xfrm>
            <a:off x="761211" y="5381328"/>
            <a:ext cx="1047749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+mn-lt"/>
                <a:cs typeface="+mn-lt"/>
              </a:rPr>
              <a:t>The bigger picture</a:t>
            </a:r>
            <a:endParaRPr lang="en-US" b="1"/>
          </a:p>
          <a:p>
            <a:pPr algn="just"/>
            <a:r>
              <a:rPr lang="en-US" sz="2200">
                <a:ea typeface="+mn-lt"/>
                <a:cs typeface="+mn-lt"/>
              </a:rPr>
              <a:t>Increasing hare numbers does not necessarily mean the natural population cycle has been eliminated or fully explained.</a:t>
            </a:r>
            <a:endParaRPr lang="en-US" sz="2200"/>
          </a:p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A2159-6CB8-9410-6981-68C771B2C15F}"/>
              </a:ext>
            </a:extLst>
          </p:cNvPr>
          <p:cNvSpPr txBox="1"/>
          <p:nvPr/>
        </p:nvSpPr>
        <p:spPr>
          <a:xfrm>
            <a:off x="89531" y="6510129"/>
            <a:ext cx="5932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Sources: Krebs et al. (1995); Oli et al. (2026).</a:t>
            </a:r>
            <a:endParaRPr lang="en-US" sz="12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918A423-10C7-F138-699A-1C095E358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880000">
            <a:off x="10505621" y="4600122"/>
            <a:ext cx="914400" cy="914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FA9ED63-7D63-07DC-7339-80BC2FDBE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480000">
            <a:off x="563336" y="46046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7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948F27-648C-2C23-88ED-85F81FCA2B1B}"/>
              </a:ext>
            </a:extLst>
          </p:cNvPr>
          <p:cNvSpPr/>
          <p:nvPr/>
        </p:nvSpPr>
        <p:spPr>
          <a:xfrm>
            <a:off x="756192" y="5104673"/>
            <a:ext cx="10677071" cy="9706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1E4F92-09A1-5448-A8E2-1E826B66ED81}"/>
              </a:ext>
            </a:extLst>
          </p:cNvPr>
          <p:cNvSpPr/>
          <p:nvPr/>
        </p:nvSpPr>
        <p:spPr>
          <a:xfrm>
            <a:off x="6181507" y="1582055"/>
            <a:ext cx="5172293" cy="3282922"/>
          </a:xfrm>
          <a:prstGeom prst="roundRect">
            <a:avLst/>
          </a:prstGeom>
          <a:solidFill>
            <a:srgbClr val="BB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0C2AE3-C56A-9107-C3B3-26A3A43AAE9F}"/>
              </a:ext>
            </a:extLst>
          </p:cNvPr>
          <p:cNvSpPr/>
          <p:nvPr/>
        </p:nvSpPr>
        <p:spPr>
          <a:xfrm>
            <a:off x="678542" y="1582056"/>
            <a:ext cx="5184716" cy="3282922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0D2E22-9BFB-B649-797D-0793E5323641}"/>
              </a:ext>
            </a:extLst>
          </p:cNvPr>
          <p:cNvSpPr/>
          <p:nvPr/>
        </p:nvSpPr>
        <p:spPr>
          <a:xfrm>
            <a:off x="674913" y="471714"/>
            <a:ext cx="10677071" cy="9706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10F76-73C9-381C-6917-0FE8CFD98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81" y="411447"/>
            <a:ext cx="11018520" cy="1088358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Cambria"/>
                <a:ea typeface="Cambria"/>
                <a:cs typeface="+mj-lt"/>
              </a:rPr>
              <a:t>Final Verdict: What Have We Learned?</a:t>
            </a:r>
            <a:endParaRPr lang="en-US">
              <a:latin typeface="Cambria"/>
              <a:ea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1576-9B13-C146-9FDA-26445E2A5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0027" y="1724660"/>
            <a:ext cx="5184648" cy="534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What the evidence supports </a:t>
            </a:r>
            <a:endParaRPr lang="en-US" sz="2400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DE2D5-C1F7-E594-0152-4764DFDBBA4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76346" y="2247932"/>
            <a:ext cx="5183188" cy="26170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Predation strongly influences hare survival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Food and predation interact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Survival and reproduction shape population cycles</a:t>
            </a:r>
            <a:endParaRPr lang="en-US" sz="2400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6117E-A0EF-BA1B-2307-480C8568D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048" y="1724660"/>
            <a:ext cx="5183188" cy="534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What remains uncertain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71DFC-2A94-686C-D8D0-1942E5C03E8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247933"/>
            <a:ext cx="5183188" cy="2525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400"/>
              <a:t>Causes of reproductive changes. </a:t>
            </a:r>
          </a:p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Why do hare populations remain low for several years?</a:t>
            </a:r>
            <a:endParaRPr lang="en-US" sz="2400"/>
          </a:p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Do similar demographic patterns occur in other cyclic populations?</a:t>
            </a:r>
            <a:endParaRPr lang="en-US" sz="2400"/>
          </a:p>
          <a:p>
            <a:pPr marL="342900" indent="-342900">
              <a:buChar char="•"/>
            </a:pP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9E32E-134D-05AA-F2A8-019C145B76FD}"/>
              </a:ext>
            </a:extLst>
          </p:cNvPr>
          <p:cNvSpPr txBox="1"/>
          <p:nvPr/>
        </p:nvSpPr>
        <p:spPr>
          <a:xfrm>
            <a:off x="870660" y="5100903"/>
            <a:ext cx="1029607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THE FINAL ANSWER</a:t>
            </a:r>
          </a:p>
          <a:p>
            <a:pPr algn="just"/>
            <a:r>
              <a:rPr lang="en-US" sz="2000" b="1"/>
              <a:t>Predation plays a major role in controlling hare populations, but food availability and demographic processes are also essential to understanding the cycle.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48771-CD7E-59D8-B768-82080EA93F20}"/>
              </a:ext>
            </a:extLst>
          </p:cNvPr>
          <p:cNvSpPr txBox="1"/>
          <p:nvPr/>
        </p:nvSpPr>
        <p:spPr>
          <a:xfrm>
            <a:off x="153623" y="6466548"/>
            <a:ext cx="49076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Sources: Krebs et al. (1995); Oli et al. (2026).</a:t>
            </a:r>
            <a:endParaRPr lang="en-US" sz="120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313158D-84EA-AED5-C215-4FF49354FF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146" y="5179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1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69D0-22F2-554B-29AC-C23EE8AD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32" y="1399267"/>
            <a:ext cx="5394568" cy="36605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>
                <a:latin typeface="Cambria"/>
                <a:ea typeface="Cambria"/>
              </a:rPr>
              <a:t>Thank You </a:t>
            </a:r>
            <a:br>
              <a:rPr lang="en-US" sz="4400" b="1" dirty="0">
                <a:latin typeface="Cambria"/>
                <a:ea typeface="Cambria"/>
              </a:rPr>
            </a:br>
            <a:r>
              <a:rPr lang="en-US" sz="4400" b="1">
                <a:latin typeface="Cambria"/>
                <a:ea typeface="Cambria"/>
              </a:rPr>
              <a:t>for your attention!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19EB8-C448-F728-2D3F-4CA5AFD4B3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8662" y="3526263"/>
            <a:ext cx="5270190" cy="2171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>
                <a:latin typeface="Cambria"/>
                <a:ea typeface="Cambria"/>
              </a:rPr>
              <a:t>Any 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6EEC6-0B74-243D-8D23-F4FE80C2F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231" r="11366"/>
          <a:stretch>
            <a:fillRect/>
          </a:stretch>
        </p:blipFill>
        <p:spPr>
          <a:xfrm>
            <a:off x="5267519" y="272142"/>
            <a:ext cx="6603913" cy="63137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46223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8c1dfc-adc6-41b6-b925-96dfc4f19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FF7383DA28F5C458DC5597A638D138D" ma:contentTypeVersion="7" ma:contentTypeDescription="Vytvoří nový dokument" ma:contentTypeScope="" ma:versionID="c7884c8bd955184d425b541c935cfff6">
  <xsd:schema xmlns:xsd="http://www.w3.org/2001/XMLSchema" xmlns:xs="http://www.w3.org/2001/XMLSchema" xmlns:p="http://schemas.microsoft.com/office/2006/metadata/properties" xmlns:ns3="288c1dfc-adc6-41b6-b925-96dfc4f19fa6" xmlns:ns4="f2a8bc31-5b68-4e4a-abad-4c8baf02ee0b" targetNamespace="http://schemas.microsoft.com/office/2006/metadata/properties" ma:root="true" ma:fieldsID="d58262488a09f45ef57813a11a8c73ab" ns3:_="" ns4:_="">
    <xsd:import namespace="288c1dfc-adc6-41b6-b925-96dfc4f19fa6"/>
    <xsd:import namespace="f2a8bc31-5b68-4e4a-abad-4c8baf02ee0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8c1dfc-adc6-41b6-b925-96dfc4f19fa6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8bc31-5b68-4e4a-abad-4c8baf02ee0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363DA4-E507-4D73-879A-7314E78759D3}">
  <ds:schemaRefs>
    <ds:schemaRef ds:uri="288c1dfc-adc6-41b6-b925-96dfc4f19fa6"/>
    <ds:schemaRef ds:uri="f2a8bc31-5b68-4e4a-abad-4c8baf02ee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F9BFD1-804E-4AF8-A343-C45533E00A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BE59DB-4617-4DCC-A4FC-68B5647DDB4B}">
  <ds:schemaRefs>
    <ds:schemaRef ds:uri="288c1dfc-adc6-41b6-b925-96dfc4f19fa6"/>
    <ds:schemaRef ds:uri="f2a8bc31-5b68-4e4a-abad-4c8baf02ee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0</TotalTime>
  <Words>995</Words>
  <Application>Microsoft Office PowerPoint</Application>
  <PresentationFormat>Widescreen</PresentationFormat>
  <Paragraphs>128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Kantoorthema</vt:lpstr>
      <vt:lpstr>Top-down control or Bottom-up release: Evidence for predation‘s grip on prey numbers</vt:lpstr>
      <vt:lpstr>Ecological Concepts</vt:lpstr>
      <vt:lpstr>Ecological Concepts</vt:lpstr>
      <vt:lpstr>Study System Overview </vt:lpstr>
      <vt:lpstr> PAPER 1  |  1995  Impact of Food and Predation on the Snowshoe Hare Cycle   Charles J. Krebs and colleagues Science, 269 (5227), 1112–1115 (1995)</vt:lpstr>
      <vt:lpstr>How Did the Researchers Test it?</vt:lpstr>
      <vt:lpstr>What Were the Main Results?</vt:lpstr>
      <vt:lpstr>What Do The Results Tell Us? Krebs et al. (1995) — Interpretation</vt:lpstr>
      <vt:lpstr>PowerPoint Presentation</vt:lpstr>
      <vt:lpstr>Methods: how did they investigate?</vt:lpstr>
      <vt:lpstr>Results</vt:lpstr>
      <vt:lpstr>What do the results mean for top-down and bottom-up control?</vt:lpstr>
      <vt:lpstr>Two Studies, Two Kinds of Evidence</vt:lpstr>
      <vt:lpstr>Why Didn't the Population Decline Stop?</vt:lpstr>
      <vt:lpstr>Final Verdict: What Have We Learned?</vt:lpstr>
      <vt:lpstr>Thank You 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Top-down control or Bottom-up release: Evidence for predation‘s grip on prey numbers</dc:title>
  <dc:creator>Singh Angleen (S-FŽP)</dc:creator>
  <cp:lastModifiedBy>Kerkhoff Sigrid (S-FŽP)</cp:lastModifiedBy>
  <cp:revision>89</cp:revision>
  <dcterms:created xsi:type="dcterms:W3CDTF">2026-10-09T07:13:04Z</dcterms:created>
  <dcterms:modified xsi:type="dcterms:W3CDTF">2026-10-19T15:19:15Z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0x0101008FF7383DA28F5C458DC5597A638D138D</vt:lpwstr>
  </property>
</Properties>
</file>