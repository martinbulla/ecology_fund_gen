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"/>
      <p:bold r:id="rId39"/>
      <p:boldItalic r:id="rId40"/>
    </p:embeddedFont>
    <p:embeddedFont>
      <p:font typeface="Plus Jakarta Sans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42" Type="http://schemas.openxmlformats.org/officeDocument/2006/relationships/font" Target="fonts/PlusJakartaSans-bold.fntdata"/><Relationship Id="rId41" Type="http://schemas.openxmlformats.org/officeDocument/2006/relationships/font" Target="fonts/PlusJakartaSans-regular.fntdata"/><Relationship Id="rId22" Type="http://schemas.openxmlformats.org/officeDocument/2006/relationships/slide" Target="slides/slide16.xml"/><Relationship Id="rId44" Type="http://schemas.openxmlformats.org/officeDocument/2006/relationships/font" Target="fonts/PlusJakarta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PlusJakartaSans-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bold.fntdata"/><Relationship Id="rId23" Type="http://schemas.openxmlformats.org/officeDocument/2006/relationships/slide" Target="slides/slide17.xml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19.xml"/><Relationship Id="rId47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bold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3f4e41bdb796aa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3f4e41bdb796aa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ce6cf0742bcab2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ce6cf0742bcab2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3e5f37f4b0eb67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3e5f37f4b0eb67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2f4003f2ef5b4ab4_1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h2f4003f2ef5b4ab4_1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76ca184ade5676d3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h76ca184ade5676d3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2f4003f2ef5b4ab4_1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h2f4003f2ef5b4ab4_1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2f4003f2ef5b4ab4_1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2f4003f2ef5b4ab4_1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2f4003f2ef5b4ab4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2f4003f2ef5b4ab4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ce6cf0742bcab2a_2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hce6cf0742bcab2a_2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3f4e41bdb796aa2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h3f4e41bdb796aa2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ce6cf0742bcab2a_24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hce6cf0742bcab2a_2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ce6cf0742bcab2a_2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hce6cf0742bcab2a_2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hce6cf0742bcab2a_2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hce6cf0742bcab2a_2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hce6cf0742bcab2a_2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hce6cf0742bcab2a_2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1d65bab3d37d4983_8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h1d65bab3d37d4983_8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ce6cf0742bcab2a_2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hce6cf0742bcab2a_2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64ad187dabba4a2_1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64ad187dabba4a2_1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ce6cf0742bcab2a_6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hce6cf0742bcab2a_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680d71dc90830ee5_27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h680d71dc90830ee5_27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h2f4003f2ef5b4a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h2f4003f2ef5b4a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680d71dc90830ee5_27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680d71dc90830ee5_27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h64ad187dabba4a2_23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  <p:sp>
        <p:nvSpPr>
          <p:cNvPr id="477" name="Google Shape;477;h64ad187dabba4a2_23_2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680d71dc90830ee5_1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680d71dc90830ee5_1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680d71dc90830ee5_2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h680d71dc90830ee5_2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680d71dc90830ee5_27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680d71dc90830ee5_27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680d71dc90830ee5_2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h680d71dc90830ee5_2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680d71dc90830ee5_27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h680d71dc90830ee5_27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h680d71dc90830ee5_27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h680d71dc90830ee5_27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h64ad187dabba4a2_23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  <p:sp>
        <p:nvSpPr>
          <p:cNvPr id="550" name="Google Shape;550;h64ad187dabba4a2_23_4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h64ad187dabba4a2_1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h64ad187dabba4a2_1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h680d71dc90830ee5_27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h680d71dc90830ee5_27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h3f4e41bdb796aa2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h3f4e41bdb796aa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https://docs.google.com/document/d/16MW5gAP8jj4dnCR-bt6L1cZ3rx_Kois6d9RDyF61f1I/edit?usp=sharing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b02276e6ce834d2_20_0)">
  <p:cSld name="Generated (h2b02276e6ce834d2_2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ctrTitle"/>
          </p:nvPr>
        </p:nvSpPr>
        <p:spPr>
          <a:xfrm>
            <a:off x="514350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1028700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541735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541735" y="2180035"/>
            <a:ext cx="58293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34290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348615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342900" y="1151335"/>
            <a:ext cx="303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342900" y="1631156"/>
            <a:ext cx="30300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20"/>
          <p:cNvSpPr txBox="1"/>
          <p:nvPr>
            <p:ph idx="3" type="body"/>
          </p:nvPr>
        </p:nvSpPr>
        <p:spPr>
          <a:xfrm>
            <a:off x="3483769" y="1151335"/>
            <a:ext cx="3031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20"/>
          <p:cNvSpPr txBox="1"/>
          <p:nvPr>
            <p:ph idx="4" type="body"/>
          </p:nvPr>
        </p:nvSpPr>
        <p:spPr>
          <a:xfrm>
            <a:off x="3483769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20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42900" y="204788"/>
            <a:ext cx="22563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2681288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342900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1344216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3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1344216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 rot="5400000">
            <a:off x="1731750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 rot="5400000">
            <a:off x="3549300" y="1628879"/>
            <a:ext cx="43887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 rot="5400000">
            <a:off x="406050" y="142978"/>
            <a:ext cx="43887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hyperlink" Target="https://commons.wikimedia.org/wiki/User:Usp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24.jpg"/><Relationship Id="rId5" Type="http://schemas.openxmlformats.org/officeDocument/2006/relationships/image" Target="../media/image22.jpg"/><Relationship Id="rId6" Type="http://schemas.openxmlformats.org/officeDocument/2006/relationships/image" Target="../media/image32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42.jpg"/><Relationship Id="rId5" Type="http://schemas.openxmlformats.org/officeDocument/2006/relationships/image" Target="../media/image2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jpg"/><Relationship Id="rId4" Type="http://schemas.openxmlformats.org/officeDocument/2006/relationships/image" Target="../media/image24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4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42.jp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56.png"/><Relationship Id="rId5" Type="http://schemas.openxmlformats.org/officeDocument/2006/relationships/image" Target="../media/image30.png"/><Relationship Id="rId6" Type="http://schemas.openxmlformats.org/officeDocument/2006/relationships/image" Target="../media/image42.jpg"/><Relationship Id="rId7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56.png"/><Relationship Id="rId5" Type="http://schemas.openxmlformats.org/officeDocument/2006/relationships/image" Target="../media/image30.png"/><Relationship Id="rId6" Type="http://schemas.openxmlformats.org/officeDocument/2006/relationships/image" Target="../media/image42.jpg"/><Relationship Id="rId7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30.png"/><Relationship Id="rId5" Type="http://schemas.openxmlformats.org/officeDocument/2006/relationships/image" Target="../media/image43.png"/><Relationship Id="rId6" Type="http://schemas.openxmlformats.org/officeDocument/2006/relationships/image" Target="../media/image42.jpg"/><Relationship Id="rId7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1.png"/><Relationship Id="rId4" Type="http://schemas.openxmlformats.org/officeDocument/2006/relationships/image" Target="../media/image4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42.jpg"/><Relationship Id="rId5" Type="http://schemas.openxmlformats.org/officeDocument/2006/relationships/image" Target="../media/image41.png"/><Relationship Id="rId6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Relationship Id="rId5" Type="http://schemas.openxmlformats.org/officeDocument/2006/relationships/image" Target="../media/image29.png"/><Relationship Id="rId6" Type="http://schemas.openxmlformats.org/officeDocument/2006/relationships/image" Target="../media/image4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Relationship Id="rId5" Type="http://schemas.openxmlformats.org/officeDocument/2006/relationships/image" Target="../media/image45.png"/><Relationship Id="rId6" Type="http://schemas.openxmlformats.org/officeDocument/2006/relationships/image" Target="../media/image49.png"/><Relationship Id="rId7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5.png"/><Relationship Id="rId4" Type="http://schemas.openxmlformats.org/officeDocument/2006/relationships/image" Target="../media/image59.png"/><Relationship Id="rId5" Type="http://schemas.openxmlformats.org/officeDocument/2006/relationships/image" Target="../media/image61.png"/><Relationship Id="rId6" Type="http://schemas.openxmlformats.org/officeDocument/2006/relationships/image" Target="../media/image58.png"/><Relationship Id="rId7" Type="http://schemas.openxmlformats.org/officeDocument/2006/relationships/image" Target="../media/image5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wildlifeofkenya.com/categories/wading-and-water-birds/pelican-great-white/" TargetMode="External"/><Relationship Id="rId11" Type="http://schemas.openxmlformats.org/officeDocument/2006/relationships/hyperlink" Target="https://doi.org/10.1007/s10750-012-1105-1?utm_source=chatgpt.com" TargetMode="External"/><Relationship Id="rId22" Type="http://schemas.openxmlformats.org/officeDocument/2006/relationships/hyperlink" Target="https://sunwayuniversity.edu.my/explore/thinkpieces/disappearing-pink-flamingos-and-evolution-of-lake-nakuru" TargetMode="External"/><Relationship Id="rId10" Type="http://schemas.openxmlformats.org/officeDocument/2006/relationships/hyperlink" Target="https://doi.org/10.1007/BF00378917?utm_source=chatgpt.com" TargetMode="External"/><Relationship Id="rId21" Type="http://schemas.openxmlformats.org/officeDocument/2006/relationships/hyperlink" Target="https://www.inaturalist.org/places/lake-nakuru?__cf_chl_tk=FfSHRLRIm3DfN8k4XOtYz6XR3TszGcgTWHVAtYWaP2Y-1792263216-1.0.1.1-O1kZih3NaFUEDbeUODiqY5NdKjhOn7XF8PNEAIGfNIw#page=1&amp;taxon=3" TargetMode="External"/><Relationship Id="rId13" Type="http://schemas.openxmlformats.org/officeDocument/2006/relationships/hyperlink" Target="https://www.nature.com/articles/s44358-026-00159-9" TargetMode="External"/><Relationship Id="rId12" Type="http://schemas.openxmlformats.org/officeDocument/2006/relationships/hyperlink" Target="https://doi.org/10.1007/s10750-012-1105-1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i.org/10.1007/BF00344687?utm_source=chatgpt.com" TargetMode="External"/><Relationship Id="rId4" Type="http://schemas.openxmlformats.org/officeDocument/2006/relationships/hyperlink" Target="https://doi.org/10.1007/BF00344687?utm_source=chatgpt.com" TargetMode="External"/><Relationship Id="rId9" Type="http://schemas.openxmlformats.org/officeDocument/2006/relationships/hyperlink" Target="https://doi.org/10.1007/BF00378917?utm_source=chatgpt.com" TargetMode="External"/><Relationship Id="rId15" Type="http://schemas.openxmlformats.org/officeDocument/2006/relationships/hyperlink" Target="https://sunwayuniversity.edu.my/explore/thinkpieces/disappearing-pink-flamingos-and-evolution-of-lake-nakuru" TargetMode="External"/><Relationship Id="rId14" Type="http://schemas.openxmlformats.org/officeDocument/2006/relationships/hyperlink" Target="https://sunwayuniversity.edu.my/school-of-hospitality-tourism-management/staff-profiles/kerlley-bong-siew-sin" TargetMode="External"/><Relationship Id="rId17" Type="http://schemas.openxmlformats.org/officeDocument/2006/relationships/hyperlink" Target="https://www.britannica.com/science/food-web" TargetMode="External"/><Relationship Id="rId16" Type="http://schemas.openxmlformats.org/officeDocument/2006/relationships/hyperlink" Target="http://www.jstor.org/stable/2459379" TargetMode="External"/><Relationship Id="rId5" Type="http://schemas.openxmlformats.org/officeDocument/2006/relationships/hyperlink" Target="https://doi.org/10.1007/BF00379091?utm_source=chatgpt.com" TargetMode="External"/><Relationship Id="rId19" Type="http://schemas.openxmlformats.org/officeDocument/2006/relationships/hyperlink" Target="https://www.britannica.com/science/keystone-species" TargetMode="External"/><Relationship Id="rId6" Type="http://schemas.openxmlformats.org/officeDocument/2006/relationships/hyperlink" Target="https://doi.org/10.1007/BF00379091?utm_source=chatgpt.com" TargetMode="External"/><Relationship Id="rId18" Type="http://schemas.openxmlformats.org/officeDocument/2006/relationships/hyperlink" Target="https://www.britannica.com/science/trophic-pyramid" TargetMode="External"/><Relationship Id="rId7" Type="http://schemas.openxmlformats.org/officeDocument/2006/relationships/hyperlink" Target="https://doi.org/10.1007/BF00379092?utm_source=chatgpt.com" TargetMode="External"/><Relationship Id="rId8" Type="http://schemas.openxmlformats.org/officeDocument/2006/relationships/hyperlink" Target="https://doi.org/10.1007/BF00379092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6"/>
          <p:cNvPicPr preferRelativeResize="0"/>
          <p:nvPr/>
        </p:nvPicPr>
        <p:blipFill rotWithShape="1">
          <a:blip r:embed="rId3">
            <a:alphaModFix/>
          </a:blip>
          <a:srcRect b="21783" l="0" r="0" t="0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6"/>
          <p:cNvSpPr txBox="1"/>
          <p:nvPr>
            <p:ph type="title"/>
          </p:nvPr>
        </p:nvSpPr>
        <p:spPr>
          <a:xfrm>
            <a:off x="100300" y="31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Food Webs and Network Ecology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4630725" y="4337100"/>
            <a:ext cx="4572000" cy="8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s">
                <a:solidFill>
                  <a:schemeClr val="dk1"/>
                </a:solidFill>
              </a:rPr>
              <a:t>Olari Eugenia, Goretti Francesca, Gonon Yoan, Katende Ukasha, Denis Drahokoupil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7371950" y="0"/>
            <a:ext cx="211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s" sz="800">
                <a:solidFill>
                  <a:schemeClr val="dk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Bjørn Christian Tørrissen</a:t>
            </a:r>
            <a:r>
              <a:rPr lang="cs" sz="1100">
                <a:solidFill>
                  <a:schemeClr val="dk2"/>
                </a:solidFill>
              </a:rPr>
              <a:t> ( </a:t>
            </a:r>
            <a:r>
              <a:rPr lang="cs" sz="800">
                <a:solidFill>
                  <a:schemeClr val="dk2"/>
                </a:solidFill>
              </a:rPr>
              <a:t>2012 </a:t>
            </a:r>
            <a:r>
              <a:rPr lang="cs" sz="1100">
                <a:solidFill>
                  <a:schemeClr val="dk2"/>
                </a:solidFill>
              </a:rPr>
              <a:t>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/>
          <p:nvPr/>
        </p:nvSpPr>
        <p:spPr>
          <a:xfrm>
            <a:off x="7377224" y="1220107"/>
            <a:ext cx="1613100" cy="2213700"/>
          </a:xfrm>
          <a:prstGeom prst="roundRect">
            <a:avLst>
              <a:gd fmla="val 15152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/>
          <p:nvPr/>
        </p:nvSpPr>
        <p:spPr>
          <a:xfrm>
            <a:off x="5506760" y="2703941"/>
            <a:ext cx="1613100" cy="2213700"/>
          </a:xfrm>
          <a:prstGeom prst="roundRect">
            <a:avLst>
              <a:gd fmla="val 15152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7"/>
          <p:cNvSpPr/>
          <p:nvPr/>
        </p:nvSpPr>
        <p:spPr>
          <a:xfrm>
            <a:off x="3679769" y="1220098"/>
            <a:ext cx="1613100" cy="2213700"/>
          </a:xfrm>
          <a:prstGeom prst="roundRect">
            <a:avLst>
              <a:gd fmla="val 15152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/>
          <p:nvPr/>
        </p:nvSpPr>
        <p:spPr>
          <a:xfrm>
            <a:off x="1919950" y="2681732"/>
            <a:ext cx="1613100" cy="2213700"/>
          </a:xfrm>
          <a:prstGeom prst="roundRect">
            <a:avLst>
              <a:gd fmla="val 15152" name="adj"/>
            </a:avLst>
          </a:prstGeom>
          <a:solidFill>
            <a:srgbClr val="F3E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7"/>
          <p:cNvSpPr/>
          <p:nvPr/>
        </p:nvSpPr>
        <p:spPr>
          <a:xfrm>
            <a:off x="166432" y="1215320"/>
            <a:ext cx="1613100" cy="2289900"/>
          </a:xfrm>
          <a:prstGeom prst="roundRect">
            <a:avLst>
              <a:gd fmla="val 13924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267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Open Sans"/>
                <a:ea typeface="Open Sans"/>
                <a:cs typeface="Open Sans"/>
                <a:sym typeface="Open Sans"/>
              </a:rPr>
              <a:t>The Team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4" name="Google Shape;144;p27"/>
          <p:cNvGrpSpPr/>
          <p:nvPr/>
        </p:nvGrpSpPr>
        <p:grpSpPr>
          <a:xfrm>
            <a:off x="3678554" y="1352200"/>
            <a:ext cx="1786898" cy="2098921"/>
            <a:chOff x="6541325" y="974325"/>
            <a:chExt cx="1924500" cy="2260550"/>
          </a:xfrm>
        </p:grpSpPr>
        <p:pic>
          <p:nvPicPr>
            <p:cNvPr id="145" name="Google Shape;145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29800" y="974325"/>
              <a:ext cx="1524000" cy="18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7"/>
            <p:cNvSpPr txBox="1"/>
            <p:nvPr/>
          </p:nvSpPr>
          <p:spPr>
            <a:xfrm>
              <a:off x="6541325" y="2834675"/>
              <a:ext cx="1924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900" lIns="84900" spcFirstLastPara="1" rIns="84900" wrap="square" tIns="849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300">
                  <a:solidFill>
                    <a:schemeClr val="dk1"/>
                  </a:solidFill>
                </a:rPr>
                <a:t>Denis Drahokoupil</a:t>
              </a:r>
              <a:r>
                <a:rPr lang="cs" sz="1021">
                  <a:solidFill>
                    <a:schemeClr val="dk1"/>
                  </a:solidFill>
                </a:rPr>
                <a:t> </a:t>
              </a:r>
              <a:endParaRPr sz="1300"/>
            </a:p>
          </p:txBody>
        </p:sp>
      </p:grpSp>
      <p:grpSp>
        <p:nvGrpSpPr>
          <p:cNvPr id="147" name="Google Shape;147;p27"/>
          <p:cNvGrpSpPr/>
          <p:nvPr/>
        </p:nvGrpSpPr>
        <p:grpSpPr>
          <a:xfrm>
            <a:off x="167313" y="1352132"/>
            <a:ext cx="1613132" cy="2099049"/>
            <a:chOff x="715950" y="2120375"/>
            <a:chExt cx="1713000" cy="2229000"/>
          </a:xfrm>
        </p:grpSpPr>
        <p:pic>
          <p:nvPicPr>
            <p:cNvPr id="148" name="Google Shape;148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0450" y="2120375"/>
              <a:ext cx="1524000" cy="18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27"/>
            <p:cNvSpPr txBox="1"/>
            <p:nvPr/>
          </p:nvSpPr>
          <p:spPr>
            <a:xfrm>
              <a:off x="715950" y="3949175"/>
              <a:ext cx="1713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6100" lIns="86100" spcFirstLastPara="1" rIns="86100" wrap="square" tIns="86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318">
                  <a:solidFill>
                    <a:schemeClr val="dk1"/>
                  </a:solidFill>
                </a:rPr>
                <a:t>Francesca Goretti</a:t>
              </a:r>
              <a:r>
                <a:rPr lang="cs" sz="1036">
                  <a:solidFill>
                    <a:schemeClr val="dk1"/>
                  </a:solidFill>
                </a:rPr>
                <a:t> </a:t>
              </a:r>
              <a:endParaRPr sz="1318"/>
            </a:p>
          </p:txBody>
        </p:sp>
      </p:grpSp>
      <p:grpSp>
        <p:nvGrpSpPr>
          <p:cNvPr id="150" name="Google Shape;150;p27"/>
          <p:cNvGrpSpPr/>
          <p:nvPr/>
        </p:nvGrpSpPr>
        <p:grpSpPr>
          <a:xfrm>
            <a:off x="2007582" y="2818579"/>
            <a:ext cx="1443838" cy="2098941"/>
            <a:chOff x="3155125" y="1452000"/>
            <a:chExt cx="1524000" cy="2215475"/>
          </a:xfrm>
        </p:grpSpPr>
        <p:pic>
          <p:nvPicPr>
            <p:cNvPr id="151" name="Google Shape;151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55125" y="1452000"/>
              <a:ext cx="1524000" cy="18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7"/>
            <p:cNvSpPr txBox="1"/>
            <p:nvPr/>
          </p:nvSpPr>
          <p:spPr>
            <a:xfrm>
              <a:off x="3300100" y="3234875"/>
              <a:ext cx="1328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6625" lIns="86625" spcFirstLastPara="1" rIns="86625" wrap="square" tIns="86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326">
                  <a:solidFill>
                    <a:schemeClr val="dk1"/>
                  </a:solidFill>
                </a:rPr>
                <a:t>Yoan </a:t>
              </a:r>
              <a:r>
                <a:rPr b="1" lang="cs" sz="1326">
                  <a:solidFill>
                    <a:schemeClr val="dk1"/>
                  </a:solidFill>
                </a:rPr>
                <a:t>Gonon</a:t>
              </a:r>
              <a:r>
                <a:rPr lang="cs" sz="1705">
                  <a:solidFill>
                    <a:schemeClr val="dk2"/>
                  </a:solidFill>
                </a:rPr>
                <a:t> </a:t>
              </a:r>
              <a:endParaRPr sz="1705">
                <a:solidFill>
                  <a:schemeClr val="dk2"/>
                </a:solidFill>
              </a:endParaRPr>
            </a:p>
          </p:txBody>
        </p:sp>
      </p:grpSp>
      <p:grpSp>
        <p:nvGrpSpPr>
          <p:cNvPr id="153" name="Google Shape;153;p27"/>
          <p:cNvGrpSpPr/>
          <p:nvPr/>
        </p:nvGrpSpPr>
        <p:grpSpPr>
          <a:xfrm>
            <a:off x="5565675" y="2866038"/>
            <a:ext cx="1613100" cy="2004025"/>
            <a:chOff x="6632125" y="1769850"/>
            <a:chExt cx="1613100" cy="2004025"/>
          </a:xfrm>
        </p:grpSpPr>
        <p:pic>
          <p:nvPicPr>
            <p:cNvPr id="154" name="Google Shape;154;p27"/>
            <p:cNvPicPr preferRelativeResize="0"/>
            <p:nvPr/>
          </p:nvPicPr>
          <p:blipFill rotWithShape="1">
            <a:blip r:embed="rId6">
              <a:alphaModFix/>
            </a:blip>
            <a:srcRect b="0" l="0" r="12854" t="0"/>
            <a:stretch/>
          </p:blipFill>
          <p:spPr>
            <a:xfrm>
              <a:off x="6676900" y="1769850"/>
              <a:ext cx="1397699" cy="1603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27"/>
            <p:cNvSpPr txBox="1"/>
            <p:nvPr/>
          </p:nvSpPr>
          <p:spPr>
            <a:xfrm>
              <a:off x="6632125" y="3373675"/>
              <a:ext cx="161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cs">
                  <a:solidFill>
                    <a:schemeClr val="dk1"/>
                  </a:solidFill>
                </a:rPr>
                <a:t>Ukasha</a:t>
              </a:r>
              <a:r>
                <a:rPr lang="cs">
                  <a:solidFill>
                    <a:schemeClr val="dk1"/>
                  </a:solidFill>
                </a:rPr>
                <a:t> </a:t>
              </a:r>
              <a:r>
                <a:rPr b="1" lang="cs">
                  <a:solidFill>
                    <a:schemeClr val="dk1"/>
                  </a:solidFill>
                </a:rPr>
                <a:t>Katende</a:t>
              </a:r>
              <a:endParaRPr/>
            </a:p>
          </p:txBody>
        </p:sp>
      </p:grpSp>
      <p:grpSp>
        <p:nvGrpSpPr>
          <p:cNvPr id="156" name="Google Shape;156;p27"/>
          <p:cNvGrpSpPr/>
          <p:nvPr/>
        </p:nvGrpSpPr>
        <p:grpSpPr>
          <a:xfrm>
            <a:off x="7469175" y="1353525"/>
            <a:ext cx="1443826" cy="2096250"/>
            <a:chOff x="6602650" y="1352125"/>
            <a:chExt cx="1443826" cy="2096250"/>
          </a:xfrm>
        </p:grpSpPr>
        <p:pic>
          <p:nvPicPr>
            <p:cNvPr id="157" name="Google Shape;157;p27"/>
            <p:cNvPicPr preferRelativeResize="0"/>
            <p:nvPr/>
          </p:nvPicPr>
          <p:blipFill rotWithShape="1">
            <a:blip r:embed="rId7">
              <a:alphaModFix/>
            </a:blip>
            <a:srcRect b="0" l="8240" r="6631" t="0"/>
            <a:stretch/>
          </p:blipFill>
          <p:spPr>
            <a:xfrm>
              <a:off x="6602650" y="1352125"/>
              <a:ext cx="1443826" cy="16960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7"/>
            <p:cNvSpPr txBox="1"/>
            <p:nvPr/>
          </p:nvSpPr>
          <p:spPr>
            <a:xfrm>
              <a:off x="6648463" y="3048175"/>
              <a:ext cx="1398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cs">
                  <a:solidFill>
                    <a:schemeClr val="dk1"/>
                  </a:solidFill>
                </a:rPr>
                <a:t>Eugenia Olari </a:t>
              </a:r>
              <a:endParaRPr/>
            </a:p>
          </p:txBody>
        </p:sp>
      </p:grpSp>
      <p:sp>
        <p:nvSpPr>
          <p:cNvPr id="159" name="Google Shape;159;p27"/>
          <p:cNvSpPr/>
          <p:nvPr/>
        </p:nvSpPr>
        <p:spPr>
          <a:xfrm>
            <a:off x="235500" y="1352125"/>
            <a:ext cx="26700" cy="1729500"/>
          </a:xfrm>
          <a:prstGeom prst="roundRect">
            <a:avLst>
              <a:gd fmla="val 40000" name="adj"/>
            </a:avLst>
          </a:prstGeom>
          <a:solidFill>
            <a:srgbClr val="FFBD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 flipH="1">
            <a:off x="1685946" y="1352125"/>
            <a:ext cx="26700" cy="1729500"/>
          </a:xfrm>
          <a:prstGeom prst="roundRect">
            <a:avLst>
              <a:gd fmla="val 40000" name="adj"/>
            </a:avLst>
          </a:prstGeom>
          <a:solidFill>
            <a:srgbClr val="FFBD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 flipH="1" rot="5400000">
            <a:off x="952950" y="631275"/>
            <a:ext cx="31500" cy="1466400"/>
          </a:xfrm>
          <a:prstGeom prst="roundRect">
            <a:avLst>
              <a:gd fmla="val 0" name="adj"/>
            </a:avLst>
          </a:prstGeom>
          <a:solidFill>
            <a:srgbClr val="FFBD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 flipH="1" rot="5400000">
            <a:off x="958137" y="2332675"/>
            <a:ext cx="31500" cy="1466400"/>
          </a:xfrm>
          <a:prstGeom prst="roundRect">
            <a:avLst>
              <a:gd fmla="val 0" name="adj"/>
            </a:avLst>
          </a:prstGeom>
          <a:solidFill>
            <a:srgbClr val="FFBD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/>
          <p:nvPr/>
        </p:nvSpPr>
        <p:spPr>
          <a:xfrm flipH="1">
            <a:off x="2007571" y="2818575"/>
            <a:ext cx="26700" cy="1729500"/>
          </a:xfrm>
          <a:prstGeom prst="roundRect">
            <a:avLst>
              <a:gd fmla="val 4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 flipH="1">
            <a:off x="3432096" y="2818575"/>
            <a:ext cx="26700" cy="1729500"/>
          </a:xfrm>
          <a:prstGeom prst="roundRect">
            <a:avLst>
              <a:gd fmla="val 4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7"/>
          <p:cNvSpPr/>
          <p:nvPr/>
        </p:nvSpPr>
        <p:spPr>
          <a:xfrm flipH="1" rot="5400000">
            <a:off x="2715550" y="2129925"/>
            <a:ext cx="27900" cy="1405200"/>
          </a:xfrm>
          <a:prstGeom prst="roundRect">
            <a:avLst>
              <a:gd fmla="val 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 rot="5400000">
            <a:off x="2732350" y="3828775"/>
            <a:ext cx="22200" cy="1416300"/>
          </a:xfrm>
          <a:prstGeom prst="roundRect">
            <a:avLst>
              <a:gd fmla="val 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 flipH="1">
            <a:off x="5178246" y="1352125"/>
            <a:ext cx="26700" cy="1729500"/>
          </a:xfrm>
          <a:prstGeom prst="roundRect">
            <a:avLst>
              <a:gd fmla="val 4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/>
          <p:nvPr/>
        </p:nvSpPr>
        <p:spPr>
          <a:xfrm flipH="1">
            <a:off x="3746346" y="1352125"/>
            <a:ext cx="26700" cy="1729500"/>
          </a:xfrm>
          <a:prstGeom prst="roundRect">
            <a:avLst>
              <a:gd fmla="val 4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 flipH="1" rot="5400000">
            <a:off x="4463575" y="642525"/>
            <a:ext cx="31500" cy="1443900"/>
          </a:xfrm>
          <a:prstGeom prst="roundRect">
            <a:avLst>
              <a:gd fmla="val 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 flipH="1" rot="5400000">
            <a:off x="4459473" y="2343925"/>
            <a:ext cx="31500" cy="1443900"/>
          </a:xfrm>
          <a:prstGeom prst="roundRect">
            <a:avLst>
              <a:gd fmla="val 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/>
          <p:nvPr/>
        </p:nvSpPr>
        <p:spPr>
          <a:xfrm flipH="1">
            <a:off x="5587901" y="2866050"/>
            <a:ext cx="26700" cy="1604100"/>
          </a:xfrm>
          <a:prstGeom prst="roundRect">
            <a:avLst>
              <a:gd fmla="val 40000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7"/>
          <p:cNvSpPr/>
          <p:nvPr/>
        </p:nvSpPr>
        <p:spPr>
          <a:xfrm flipH="1">
            <a:off x="6995626" y="2866050"/>
            <a:ext cx="26700" cy="1604100"/>
          </a:xfrm>
          <a:prstGeom prst="roundRect">
            <a:avLst>
              <a:gd fmla="val 40000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/>
          <p:nvPr/>
        </p:nvSpPr>
        <p:spPr>
          <a:xfrm rot="5400000">
            <a:off x="6287092" y="2167650"/>
            <a:ext cx="33300" cy="1430100"/>
          </a:xfrm>
          <a:prstGeom prst="roundRect">
            <a:avLst>
              <a:gd fmla="val 0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7"/>
          <p:cNvSpPr/>
          <p:nvPr/>
        </p:nvSpPr>
        <p:spPr>
          <a:xfrm rot="5400000">
            <a:off x="6287092" y="3738450"/>
            <a:ext cx="33300" cy="1430100"/>
          </a:xfrm>
          <a:prstGeom prst="roundRect">
            <a:avLst>
              <a:gd fmla="val 0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 flipH="1">
            <a:off x="7451664" y="1352125"/>
            <a:ext cx="26700" cy="1729500"/>
          </a:xfrm>
          <a:prstGeom prst="roundRect">
            <a:avLst>
              <a:gd fmla="val 40000" name="adj"/>
            </a:avLst>
          </a:prstGeom>
          <a:solidFill>
            <a:srgbClr val="689F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 flipH="1">
            <a:off x="8881789" y="1352125"/>
            <a:ext cx="26700" cy="1729500"/>
          </a:xfrm>
          <a:prstGeom prst="roundRect">
            <a:avLst>
              <a:gd fmla="val 40000" name="adj"/>
            </a:avLst>
          </a:prstGeom>
          <a:solidFill>
            <a:srgbClr val="689F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 flipH="1" rot="5400000">
            <a:off x="8164228" y="642525"/>
            <a:ext cx="31500" cy="1443900"/>
          </a:xfrm>
          <a:prstGeom prst="roundRect">
            <a:avLst>
              <a:gd fmla="val 0" name="adj"/>
            </a:avLst>
          </a:prstGeom>
          <a:solidFill>
            <a:srgbClr val="689F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"/>
          <p:cNvSpPr/>
          <p:nvPr/>
        </p:nvSpPr>
        <p:spPr>
          <a:xfrm flipH="1" rot="5400000">
            <a:off x="8165356" y="2343925"/>
            <a:ext cx="31500" cy="1443900"/>
          </a:xfrm>
          <a:prstGeom prst="roundRect">
            <a:avLst>
              <a:gd fmla="val 0" name="adj"/>
            </a:avLst>
          </a:prstGeom>
          <a:solidFill>
            <a:srgbClr val="689F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8"/>
          <p:cNvPicPr preferRelativeResize="0"/>
          <p:nvPr/>
        </p:nvPicPr>
        <p:blipFill rotWithShape="1">
          <a:blip r:embed="rId3">
            <a:alphaModFix/>
          </a:blip>
          <a:srcRect b="1183" l="8075" r="8334" t="6404"/>
          <a:stretch/>
        </p:blipFill>
        <p:spPr>
          <a:xfrm>
            <a:off x="2180825" y="479475"/>
            <a:ext cx="4664951" cy="4471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8"/>
          <p:cNvGrpSpPr/>
          <p:nvPr/>
        </p:nvGrpSpPr>
        <p:grpSpPr>
          <a:xfrm>
            <a:off x="4927850" y="2935725"/>
            <a:ext cx="4216151" cy="1732675"/>
            <a:chOff x="4927850" y="2935725"/>
            <a:chExt cx="4216151" cy="1732675"/>
          </a:xfrm>
        </p:grpSpPr>
        <p:pic>
          <p:nvPicPr>
            <p:cNvPr id="185" name="Google Shape;185;p28"/>
            <p:cNvPicPr preferRelativeResize="0"/>
            <p:nvPr/>
          </p:nvPicPr>
          <p:blipFill rotWithShape="1">
            <a:blip r:embed="rId4">
              <a:alphaModFix/>
            </a:blip>
            <a:srcRect b="0" l="8212" r="10314" t="16486"/>
            <a:stretch/>
          </p:blipFill>
          <p:spPr>
            <a:xfrm>
              <a:off x="6890150" y="2935725"/>
              <a:ext cx="2253851" cy="1732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6" name="Google Shape;186;p28"/>
            <p:cNvCxnSpPr>
              <a:stCxn id="185" idx="1"/>
            </p:cNvCxnSpPr>
            <p:nvPr/>
          </p:nvCxnSpPr>
          <p:spPr>
            <a:xfrm rot="10800000">
              <a:off x="4927850" y="3545863"/>
              <a:ext cx="1962300" cy="256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87" name="Google Shape;187;p28"/>
          <p:cNvGrpSpPr/>
          <p:nvPr/>
        </p:nvGrpSpPr>
        <p:grpSpPr>
          <a:xfrm>
            <a:off x="-15662" y="813513"/>
            <a:ext cx="3766350" cy="1652125"/>
            <a:chOff x="-15662" y="813513"/>
            <a:chExt cx="3766350" cy="1652125"/>
          </a:xfrm>
        </p:grpSpPr>
        <p:pic>
          <p:nvPicPr>
            <p:cNvPr id="188" name="Google Shape;188;p28"/>
            <p:cNvPicPr preferRelativeResize="0"/>
            <p:nvPr/>
          </p:nvPicPr>
          <p:blipFill rotWithShape="1">
            <a:blip r:embed="rId5">
              <a:alphaModFix/>
            </a:blip>
            <a:srcRect b="0" l="28551" r="0" t="13330"/>
            <a:stretch/>
          </p:blipFill>
          <p:spPr>
            <a:xfrm>
              <a:off x="-15662" y="813513"/>
              <a:ext cx="2136450" cy="16521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9" name="Google Shape;189;p28"/>
            <p:cNvCxnSpPr>
              <a:stCxn id="188" idx="3"/>
            </p:cNvCxnSpPr>
            <p:nvPr/>
          </p:nvCxnSpPr>
          <p:spPr>
            <a:xfrm>
              <a:off x="2120788" y="1639575"/>
              <a:ext cx="1629900" cy="805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0" name="Google Shape;190;p28"/>
          <p:cNvGrpSpPr/>
          <p:nvPr/>
        </p:nvGrpSpPr>
        <p:grpSpPr>
          <a:xfrm>
            <a:off x="5941250" y="762825"/>
            <a:ext cx="3202750" cy="1580100"/>
            <a:chOff x="5941250" y="762825"/>
            <a:chExt cx="3202750" cy="1580100"/>
          </a:xfrm>
        </p:grpSpPr>
        <p:pic>
          <p:nvPicPr>
            <p:cNvPr id="191" name="Google Shape;191;p28"/>
            <p:cNvPicPr preferRelativeResize="0"/>
            <p:nvPr/>
          </p:nvPicPr>
          <p:blipFill rotWithShape="1">
            <a:blip r:embed="rId6">
              <a:alphaModFix/>
            </a:blip>
            <a:srcRect b="17372" l="16530" r="14968" t="10458"/>
            <a:stretch/>
          </p:blipFill>
          <p:spPr>
            <a:xfrm>
              <a:off x="6890150" y="762825"/>
              <a:ext cx="2253850" cy="1580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2" name="Google Shape;192;p28"/>
            <p:cNvCxnSpPr>
              <a:stCxn id="191" idx="1"/>
            </p:cNvCxnSpPr>
            <p:nvPr/>
          </p:nvCxnSpPr>
          <p:spPr>
            <a:xfrm flipH="1">
              <a:off x="5941250" y="1552875"/>
              <a:ext cx="948900" cy="173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3" name="Google Shape;193;p28"/>
          <p:cNvGrpSpPr/>
          <p:nvPr/>
        </p:nvGrpSpPr>
        <p:grpSpPr>
          <a:xfrm>
            <a:off x="0" y="3099200"/>
            <a:ext cx="4404750" cy="1405725"/>
            <a:chOff x="0" y="3099200"/>
            <a:chExt cx="4404750" cy="1405725"/>
          </a:xfrm>
        </p:grpSpPr>
        <p:pic>
          <p:nvPicPr>
            <p:cNvPr id="194" name="Google Shape;194;p28"/>
            <p:cNvPicPr preferRelativeResize="0"/>
            <p:nvPr/>
          </p:nvPicPr>
          <p:blipFill rotWithShape="1">
            <a:blip r:embed="rId7">
              <a:alphaModFix/>
            </a:blip>
            <a:srcRect b="14588" l="30647" r="0" t="21847"/>
            <a:stretch/>
          </p:blipFill>
          <p:spPr>
            <a:xfrm>
              <a:off x="0" y="3099200"/>
              <a:ext cx="2136450" cy="14057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5" name="Google Shape;195;p28"/>
            <p:cNvCxnSpPr>
              <a:stCxn id="194" idx="3"/>
            </p:cNvCxnSpPr>
            <p:nvPr/>
          </p:nvCxnSpPr>
          <p:spPr>
            <a:xfrm flipH="1" rot="10800000">
              <a:off x="2136450" y="3447763"/>
              <a:ext cx="2268300" cy="354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6" name="Google Shape;196;p28"/>
          <p:cNvSpPr txBox="1"/>
          <p:nvPr/>
        </p:nvSpPr>
        <p:spPr>
          <a:xfrm>
            <a:off x="1617000" y="0"/>
            <a:ext cx="75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cs" sz="1200">
                <a:solidFill>
                  <a:srgbClr val="1F1F1F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Shah, P (2016) Convention on biological diversity and rural-urban connections with reference to Kenya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9"/>
          <p:cNvGrpSpPr/>
          <p:nvPr/>
        </p:nvGrpSpPr>
        <p:grpSpPr>
          <a:xfrm>
            <a:off x="381000" y="165150"/>
            <a:ext cx="8382000" cy="762000"/>
            <a:chOff x="381000" y="190500"/>
            <a:chExt cx="8382000" cy="762000"/>
          </a:xfrm>
        </p:grpSpPr>
        <p:sp>
          <p:nvSpPr>
            <p:cNvPr id="202" name="Google Shape;202;p29"/>
            <p:cNvSpPr/>
            <p:nvPr/>
          </p:nvSpPr>
          <p:spPr>
            <a:xfrm>
              <a:off x="381000" y="190500"/>
              <a:ext cx="8382000" cy="192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9"/>
            <p:cNvSpPr/>
            <p:nvPr/>
          </p:nvSpPr>
          <p:spPr>
            <a:xfrm>
              <a:off x="381000" y="285750"/>
              <a:ext cx="38100" cy="1905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9"/>
            <p:cNvSpPr txBox="1"/>
            <p:nvPr/>
          </p:nvSpPr>
          <p:spPr>
            <a:xfrm>
              <a:off x="4953000" y="3618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" sz="1200">
                  <a:solidFill>
                    <a:srgbClr val="1F1F1F"/>
                  </a:solidFill>
                  <a:highlight>
                    <a:srgbClr val="FFFFFF"/>
                  </a:highlight>
                  <a:latin typeface="Open Sans"/>
                  <a:ea typeface="Open Sans"/>
                  <a:cs typeface="Open Sans"/>
                  <a:sym typeface="Open Sans"/>
                </a:rPr>
                <a:t>Vareschi, E. (1978). The ecology of Lake Nakuru</a:t>
              </a:r>
              <a:r>
                <a:rPr lang="cs" sz="1100">
                  <a:solidFill>
                    <a:schemeClr val="dk1"/>
                  </a:solidFill>
                </a:rPr>
                <a:t> </a:t>
              </a:r>
              <a:endParaRPr b="1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" name="Google Shape;205;p29"/>
            <p:cNvSpPr txBox="1"/>
            <p:nvPr/>
          </p:nvSpPr>
          <p:spPr>
            <a:xfrm>
              <a:off x="381000" y="552300"/>
              <a:ext cx="838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22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Primary Consumers in the Aquatic Food Web</a:t>
              </a:r>
              <a:endParaRPr b="1" sz="220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06" name="Google Shape;206;p29"/>
          <p:cNvGrpSpPr/>
          <p:nvPr/>
        </p:nvGrpSpPr>
        <p:grpSpPr>
          <a:xfrm>
            <a:off x="381000" y="1095375"/>
            <a:ext cx="8382000" cy="3762300"/>
            <a:chOff x="381000" y="1095375"/>
            <a:chExt cx="8382000" cy="3762300"/>
          </a:xfrm>
        </p:grpSpPr>
        <p:grpSp>
          <p:nvGrpSpPr>
            <p:cNvPr id="207" name="Google Shape;207;p29"/>
            <p:cNvGrpSpPr/>
            <p:nvPr/>
          </p:nvGrpSpPr>
          <p:grpSpPr>
            <a:xfrm>
              <a:off x="381000" y="1095375"/>
              <a:ext cx="1524000" cy="3762300"/>
              <a:chOff x="0" y="0"/>
              <a:chExt cx="1524000" cy="3762300"/>
            </a:xfrm>
          </p:grpSpPr>
          <p:sp>
            <p:nvSpPr>
              <p:cNvPr id="208" name="Google Shape;208;p29"/>
              <p:cNvSpPr/>
              <p:nvPr/>
            </p:nvSpPr>
            <p:spPr>
              <a:xfrm>
                <a:off x="0" y="0"/>
                <a:ext cx="1524000" cy="3762300"/>
              </a:xfrm>
              <a:prstGeom prst="roundRect">
                <a:avLst>
                  <a:gd fmla="val 3750" name="adj"/>
                </a:avLst>
              </a:prstGeom>
              <a:solidFill>
                <a:srgbClr val="FFF3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9"/>
              <p:cNvSpPr/>
              <p:nvPr/>
            </p:nvSpPr>
            <p:spPr>
              <a:xfrm>
                <a:off x="0" y="0"/>
                <a:ext cx="47700" cy="3762300"/>
              </a:xfrm>
              <a:prstGeom prst="roundRect">
                <a:avLst>
                  <a:gd fmla="val 40000" name="adj"/>
                </a:avLst>
              </a:prstGeom>
              <a:solidFill>
                <a:srgbClr val="FFBD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9"/>
              <p:cNvSpPr txBox="1"/>
              <p:nvPr/>
            </p:nvSpPr>
            <p:spPr>
              <a:xfrm>
                <a:off x="114300" y="95250"/>
                <a:ext cx="1333500" cy="3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cs" sz="1050">
                    <a:solidFill>
                      <a:srgbClr val="FFBD59"/>
                    </a:solidFill>
                    <a:latin typeface="Roboto"/>
                    <a:ea typeface="Roboto"/>
                    <a:cs typeface="Roboto"/>
                    <a:sym typeface="Roboto"/>
                  </a:rPr>
                  <a:t>Lesser Flamingo</a:t>
                </a:r>
                <a:endParaRPr b="1" i="0" sz="1050">
                  <a:solidFill>
                    <a:srgbClr val="FFBD5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11" name="Google Shape;211;p29"/>
              <p:cNvPicPr preferRelativeResize="0"/>
              <p:nvPr/>
            </p:nvPicPr>
            <p:blipFill rotWithShape="1">
              <a:blip r:embed="rId4">
                <a:alphaModFix/>
              </a:blip>
              <a:srcRect b="21997" l="0" r="0" t="22003"/>
              <a:stretch/>
            </p:blipFill>
            <p:spPr>
              <a:xfrm>
                <a:off x="114300" y="438150"/>
                <a:ext cx="1295400" cy="971700"/>
              </a:xfrm>
              <a:prstGeom prst="roundRect">
                <a:avLst>
                  <a:gd fmla="val 3921" name="adj"/>
                </a:avLst>
              </a:prstGeom>
              <a:noFill/>
              <a:ln>
                <a:noFill/>
              </a:ln>
            </p:spPr>
          </p:pic>
          <p:sp>
            <p:nvSpPr>
              <p:cNvPr id="212" name="Google Shape;212;p29"/>
              <p:cNvSpPr txBox="1"/>
              <p:nvPr/>
            </p:nvSpPr>
            <p:spPr>
              <a:xfrm>
                <a:off x="114300" y="1466850"/>
                <a:ext cx="12954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cs" sz="8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Phoeniconaias minor</a:t>
                </a:r>
                <a:endParaRPr b="1" i="1" sz="8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Most dominant consumer in biomass.</a:t>
                </a:r>
                <a:endParaRPr sz="8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Specialized filter feeder consuming cyanobacteria (</a:t>
                </a:r>
                <a:r>
                  <a:rPr i="1" lang="cs" sz="8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Spirulina/Arthrospira</a:t>
                </a:r>
                <a:r>
                  <a:rPr lang="cs" sz="8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) in alkaline waters.</a:t>
                </a:r>
                <a:endParaRPr sz="800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13" name="Google Shape;213;p29"/>
            <p:cNvGrpSpPr/>
            <p:nvPr/>
          </p:nvGrpSpPr>
          <p:grpSpPr>
            <a:xfrm>
              <a:off x="2095500" y="1095375"/>
              <a:ext cx="1524000" cy="3762300"/>
              <a:chOff x="0" y="0"/>
              <a:chExt cx="1524000" cy="3762300"/>
            </a:xfrm>
          </p:grpSpPr>
          <p:sp>
            <p:nvSpPr>
              <p:cNvPr id="214" name="Google Shape;214;p29"/>
              <p:cNvSpPr/>
              <p:nvPr/>
            </p:nvSpPr>
            <p:spPr>
              <a:xfrm>
                <a:off x="0" y="0"/>
                <a:ext cx="1524000" cy="3762300"/>
              </a:xfrm>
              <a:prstGeom prst="roundRect">
                <a:avLst>
                  <a:gd fmla="val 3750" name="adj"/>
                </a:avLst>
              </a:prstGeom>
              <a:solidFill>
                <a:srgbClr val="FFF3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9"/>
              <p:cNvSpPr/>
              <p:nvPr/>
            </p:nvSpPr>
            <p:spPr>
              <a:xfrm>
                <a:off x="0" y="0"/>
                <a:ext cx="47700" cy="3762300"/>
              </a:xfrm>
              <a:prstGeom prst="roundRect">
                <a:avLst>
                  <a:gd fmla="val 40000" name="adj"/>
                </a:avLst>
              </a:prstGeom>
              <a:solidFill>
                <a:srgbClr val="FFBD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9"/>
              <p:cNvSpPr txBox="1"/>
              <p:nvPr/>
            </p:nvSpPr>
            <p:spPr>
              <a:xfrm>
                <a:off x="114300" y="95250"/>
                <a:ext cx="1333500" cy="3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cs" sz="1050">
                    <a:solidFill>
                      <a:srgbClr val="FFBD59"/>
                    </a:solidFill>
                    <a:latin typeface="Roboto"/>
                    <a:ea typeface="Roboto"/>
                    <a:cs typeface="Roboto"/>
                    <a:sym typeface="Roboto"/>
                  </a:rPr>
                  <a:t>Soda Tilapia</a:t>
                </a:r>
                <a:endParaRPr b="1" i="0" sz="1050">
                  <a:solidFill>
                    <a:srgbClr val="FFBD5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17" name="Google Shape;217;p29"/>
              <p:cNvPicPr preferRelativeResize="0"/>
              <p:nvPr/>
            </p:nvPicPr>
            <p:blipFill rotWithShape="1">
              <a:blip r:embed="rId5">
                <a:alphaModFix/>
              </a:blip>
              <a:srcRect b="0" l="219" r="229" t="0"/>
              <a:stretch/>
            </p:blipFill>
            <p:spPr>
              <a:xfrm>
                <a:off x="114300" y="438150"/>
                <a:ext cx="1295400" cy="971700"/>
              </a:xfrm>
              <a:prstGeom prst="roundRect">
                <a:avLst>
                  <a:gd fmla="val 3921" name="adj"/>
                </a:avLst>
              </a:prstGeom>
              <a:noFill/>
              <a:ln>
                <a:noFill/>
              </a:ln>
            </p:spPr>
          </p:pic>
          <p:sp>
            <p:nvSpPr>
              <p:cNvPr id="218" name="Google Shape;218;p29"/>
              <p:cNvSpPr txBox="1"/>
              <p:nvPr/>
            </p:nvSpPr>
            <p:spPr>
              <a:xfrm>
                <a:off x="114300" y="1466850"/>
                <a:ext cx="12954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cs" sz="8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Alcolapia grahami</a:t>
                </a:r>
                <a:endParaRPr b="1" i="1" sz="8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Key alkaline-adapted cichlid species.</a:t>
                </a:r>
                <a:endParaRPr sz="8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Introduced fish feeding directly on algae, essential to lake energy transfer.</a:t>
                </a:r>
                <a:endParaRPr sz="800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19" name="Google Shape;219;p29"/>
            <p:cNvGrpSpPr/>
            <p:nvPr/>
          </p:nvGrpSpPr>
          <p:grpSpPr>
            <a:xfrm>
              <a:off x="3810000" y="1095375"/>
              <a:ext cx="1524000" cy="3762300"/>
              <a:chOff x="0" y="0"/>
              <a:chExt cx="1524000" cy="3762300"/>
            </a:xfrm>
          </p:grpSpPr>
          <p:sp>
            <p:nvSpPr>
              <p:cNvPr id="220" name="Google Shape;220;p29"/>
              <p:cNvSpPr/>
              <p:nvPr/>
            </p:nvSpPr>
            <p:spPr>
              <a:xfrm>
                <a:off x="0" y="0"/>
                <a:ext cx="1524000" cy="3762300"/>
              </a:xfrm>
              <a:prstGeom prst="roundRect">
                <a:avLst>
                  <a:gd fmla="val 3750" name="adj"/>
                </a:avLst>
              </a:prstGeom>
              <a:solidFill>
                <a:srgbClr val="FFF3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>
                <a:off x="0" y="0"/>
                <a:ext cx="47700" cy="3762300"/>
              </a:xfrm>
              <a:prstGeom prst="roundRect">
                <a:avLst>
                  <a:gd fmla="val 40000" name="adj"/>
                </a:avLst>
              </a:prstGeom>
              <a:solidFill>
                <a:srgbClr val="FFBD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9"/>
              <p:cNvSpPr txBox="1"/>
              <p:nvPr/>
            </p:nvSpPr>
            <p:spPr>
              <a:xfrm>
                <a:off x="114300" y="95250"/>
                <a:ext cx="1333500" cy="3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cs" sz="1050">
                    <a:solidFill>
                      <a:srgbClr val="FFBD59"/>
                    </a:solidFill>
                    <a:latin typeface="Roboto"/>
                    <a:ea typeface="Roboto"/>
                    <a:cs typeface="Roboto"/>
                    <a:sym typeface="Roboto"/>
                  </a:rPr>
                  <a:t>Copepod</a:t>
                </a:r>
                <a:endParaRPr b="1" i="0" sz="1050">
                  <a:solidFill>
                    <a:srgbClr val="FFBD5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descr="Detailed microscopic biology macro photograph of a copepod zooplankton crustacean Lovenula africana in clear lake water" id="223" name="Google Shape;223;p2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14300" y="438150"/>
                <a:ext cx="1295400" cy="971700"/>
              </a:xfrm>
              <a:prstGeom prst="roundRect">
                <a:avLst>
                  <a:gd fmla="val 3921" name="adj"/>
                </a:avLst>
              </a:prstGeom>
              <a:noFill/>
              <a:ln>
                <a:noFill/>
              </a:ln>
            </p:spPr>
          </p:pic>
          <p:sp>
            <p:nvSpPr>
              <p:cNvPr id="224" name="Google Shape;224;p29"/>
              <p:cNvSpPr txBox="1"/>
              <p:nvPr/>
            </p:nvSpPr>
            <p:spPr>
              <a:xfrm>
                <a:off x="114300" y="1466850"/>
                <a:ext cx="12954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cs" sz="8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Lovenula africana</a:t>
                </a:r>
                <a:endParaRPr b="1" i="1" sz="8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Major pelagic zooplankton.</a:t>
                </a:r>
                <a:endParaRPr sz="8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Critical primary consumer driving planktonic biomass in the open water food web.</a:t>
                </a:r>
                <a:endParaRPr sz="800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25" name="Google Shape;225;p29"/>
            <p:cNvGrpSpPr/>
            <p:nvPr/>
          </p:nvGrpSpPr>
          <p:grpSpPr>
            <a:xfrm>
              <a:off x="5524500" y="1095375"/>
              <a:ext cx="1524000" cy="3762300"/>
              <a:chOff x="0" y="0"/>
              <a:chExt cx="1524000" cy="3762300"/>
            </a:xfrm>
          </p:grpSpPr>
          <p:sp>
            <p:nvSpPr>
              <p:cNvPr id="226" name="Google Shape;226;p29"/>
              <p:cNvSpPr/>
              <p:nvPr/>
            </p:nvSpPr>
            <p:spPr>
              <a:xfrm>
                <a:off x="0" y="0"/>
                <a:ext cx="1524000" cy="3762300"/>
              </a:xfrm>
              <a:prstGeom prst="roundRect">
                <a:avLst>
                  <a:gd fmla="val 3750" name="adj"/>
                </a:avLst>
              </a:prstGeom>
              <a:solidFill>
                <a:srgbClr val="FFF3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9"/>
              <p:cNvSpPr/>
              <p:nvPr/>
            </p:nvSpPr>
            <p:spPr>
              <a:xfrm>
                <a:off x="0" y="0"/>
                <a:ext cx="47700" cy="3762300"/>
              </a:xfrm>
              <a:prstGeom prst="roundRect">
                <a:avLst>
                  <a:gd fmla="val 40000" name="adj"/>
                </a:avLst>
              </a:prstGeom>
              <a:solidFill>
                <a:srgbClr val="FFBD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9"/>
              <p:cNvSpPr txBox="1"/>
              <p:nvPr/>
            </p:nvSpPr>
            <p:spPr>
              <a:xfrm>
                <a:off x="114300" y="95250"/>
                <a:ext cx="1333500" cy="3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cs" sz="1050">
                    <a:solidFill>
                      <a:srgbClr val="FFBD59"/>
                    </a:solidFill>
                    <a:latin typeface="Roboto"/>
                    <a:ea typeface="Roboto"/>
                    <a:cs typeface="Roboto"/>
                    <a:sym typeface="Roboto"/>
                  </a:rPr>
                  <a:t>Chironomid Larvae</a:t>
                </a:r>
                <a:endParaRPr b="1" i="0" sz="1050">
                  <a:solidFill>
                    <a:srgbClr val="FFBD5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descr="Macro photograph of aquatic midge larvae Leptochironomus deribae chironomid in freshwater sediment" id="229" name="Google Shape;229;p2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14300" y="438150"/>
                <a:ext cx="1295400" cy="971700"/>
              </a:xfrm>
              <a:prstGeom prst="roundRect">
                <a:avLst>
                  <a:gd fmla="val 3921" name="adj"/>
                </a:avLst>
              </a:prstGeom>
              <a:noFill/>
              <a:ln>
                <a:noFill/>
              </a:ln>
            </p:spPr>
          </p:pic>
          <p:sp>
            <p:nvSpPr>
              <p:cNvPr id="230" name="Google Shape;230;p29"/>
              <p:cNvSpPr txBox="1"/>
              <p:nvPr/>
            </p:nvSpPr>
            <p:spPr>
              <a:xfrm>
                <a:off x="114300" y="1466850"/>
                <a:ext cx="12954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cs" sz="8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Leptochironomus deribae</a:t>
                </a:r>
                <a:endParaRPr b="1" i="1" sz="8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Abundant benthic insect larvae.</a:t>
                </a:r>
                <a:endParaRPr sz="8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Consumes organic sediment and algae, supporting benthic and aquatic food chains.</a:t>
                </a:r>
                <a:endParaRPr sz="800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31" name="Google Shape;231;p29"/>
            <p:cNvGrpSpPr/>
            <p:nvPr/>
          </p:nvGrpSpPr>
          <p:grpSpPr>
            <a:xfrm>
              <a:off x="7239000" y="1095375"/>
              <a:ext cx="1524000" cy="3762300"/>
              <a:chOff x="0" y="0"/>
              <a:chExt cx="1524000" cy="3762300"/>
            </a:xfrm>
          </p:grpSpPr>
          <p:sp>
            <p:nvSpPr>
              <p:cNvPr id="232" name="Google Shape;232;p29"/>
              <p:cNvSpPr/>
              <p:nvPr/>
            </p:nvSpPr>
            <p:spPr>
              <a:xfrm>
                <a:off x="0" y="0"/>
                <a:ext cx="1524000" cy="3762300"/>
              </a:xfrm>
              <a:prstGeom prst="roundRect">
                <a:avLst>
                  <a:gd fmla="val 3750" name="adj"/>
                </a:avLst>
              </a:prstGeom>
              <a:solidFill>
                <a:srgbClr val="FFF3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9"/>
              <p:cNvSpPr/>
              <p:nvPr/>
            </p:nvSpPr>
            <p:spPr>
              <a:xfrm>
                <a:off x="0" y="0"/>
                <a:ext cx="47700" cy="3762300"/>
              </a:xfrm>
              <a:prstGeom prst="roundRect">
                <a:avLst>
                  <a:gd fmla="val 40000" name="adj"/>
                </a:avLst>
              </a:prstGeom>
              <a:solidFill>
                <a:srgbClr val="FFBD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9"/>
              <p:cNvSpPr txBox="1"/>
              <p:nvPr/>
            </p:nvSpPr>
            <p:spPr>
              <a:xfrm>
                <a:off x="114300" y="95250"/>
                <a:ext cx="1333500" cy="3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cs" sz="1050">
                    <a:solidFill>
                      <a:srgbClr val="FFBD59"/>
                    </a:solidFill>
                    <a:latin typeface="Roboto"/>
                    <a:ea typeface="Roboto"/>
                    <a:cs typeface="Roboto"/>
                    <a:sym typeface="Roboto"/>
                  </a:rPr>
                  <a:t>Rotifer</a:t>
                </a:r>
                <a:endParaRPr b="1" i="0" sz="1050">
                  <a:solidFill>
                    <a:srgbClr val="FFBD5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descr="Microscopic magnification photograph of microscopic rotifer Brachionus dimidiatus organism in water" id="235" name="Google Shape;235;p2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14300" y="438150"/>
                <a:ext cx="1295400" cy="971700"/>
              </a:xfrm>
              <a:prstGeom prst="roundRect">
                <a:avLst>
                  <a:gd fmla="val 3921" name="adj"/>
                </a:avLst>
              </a:prstGeom>
              <a:noFill/>
              <a:ln>
                <a:noFill/>
              </a:ln>
            </p:spPr>
          </p:pic>
          <p:sp>
            <p:nvSpPr>
              <p:cNvPr id="236" name="Google Shape;236;p29"/>
              <p:cNvSpPr txBox="1"/>
              <p:nvPr/>
            </p:nvSpPr>
            <p:spPr>
              <a:xfrm>
                <a:off x="114300" y="1466850"/>
                <a:ext cx="12954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cs" sz="8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Brachionus dimidiatus</a:t>
                </a:r>
                <a:endParaRPr b="1" i="1" sz="8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High consumption rate grazer.</a:t>
                </a:r>
                <a:endParaRPr sz="8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cs" sz="8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Though small in individual biomass, possesses extremely high metabolic and turnover rates.</a:t>
                </a:r>
                <a:endParaRPr sz="800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30"/>
          <p:cNvGrpSpPr/>
          <p:nvPr/>
        </p:nvGrpSpPr>
        <p:grpSpPr>
          <a:xfrm>
            <a:off x="381000" y="552450"/>
            <a:ext cx="8382000" cy="400200"/>
            <a:chOff x="0" y="0"/>
            <a:chExt cx="8382000" cy="400200"/>
          </a:xfrm>
        </p:grpSpPr>
        <p:sp>
          <p:nvSpPr>
            <p:cNvPr id="242" name="Google Shape;242;p30"/>
            <p:cNvSpPr/>
            <p:nvPr/>
          </p:nvSpPr>
          <p:spPr>
            <a:xfrm>
              <a:off x="0" y="0"/>
              <a:ext cx="8382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0"/>
            <p:cNvSpPr txBox="1"/>
            <p:nvPr/>
          </p:nvSpPr>
          <p:spPr>
            <a:xfrm>
              <a:off x="0" y="0"/>
              <a:ext cx="838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2200">
                  <a:solidFill>
                    <a:srgbClr val="1C1C1C"/>
                  </a:solidFill>
                  <a:latin typeface="Roboto"/>
                  <a:ea typeface="Roboto"/>
                  <a:cs typeface="Roboto"/>
                  <a:sym typeface="Roboto"/>
                </a:rPr>
                <a:t>Secondary Consumers in the Aquatic Food Web</a:t>
              </a:r>
              <a:endParaRPr b="1" sz="2200">
                <a:solidFill>
                  <a:srgbClr val="1C1C1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4" name="Google Shape;244;p30"/>
          <p:cNvGrpSpPr/>
          <p:nvPr/>
        </p:nvGrpSpPr>
        <p:grpSpPr>
          <a:xfrm>
            <a:off x="381000" y="1095375"/>
            <a:ext cx="2610000" cy="3762300"/>
            <a:chOff x="0" y="0"/>
            <a:chExt cx="2610000" cy="3762300"/>
          </a:xfrm>
        </p:grpSpPr>
        <p:sp>
          <p:nvSpPr>
            <p:cNvPr id="245" name="Google Shape;245;p30"/>
            <p:cNvSpPr/>
            <p:nvPr/>
          </p:nvSpPr>
          <p:spPr>
            <a:xfrm>
              <a:off x="0" y="0"/>
              <a:ext cx="2610000" cy="3762300"/>
            </a:xfrm>
            <a:prstGeom prst="roundRect">
              <a:avLst>
                <a:gd fmla="val 2189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0" y="0"/>
              <a:ext cx="57300" cy="3762300"/>
            </a:xfrm>
            <a:prstGeom prst="roundRect">
              <a:avLst>
                <a:gd fmla="val 33246" name="adj"/>
              </a:avLst>
            </a:prstGeom>
            <a:solidFill>
              <a:srgbClr val="4A14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" name="Google Shape;247;p30"/>
            <p:cNvGrpSpPr/>
            <p:nvPr/>
          </p:nvGrpSpPr>
          <p:grpSpPr>
            <a:xfrm>
              <a:off x="171450" y="49500"/>
              <a:ext cx="2286000" cy="369750"/>
              <a:chOff x="0" y="-83850"/>
              <a:chExt cx="2286000" cy="369750"/>
            </a:xfrm>
          </p:grpSpPr>
          <p:sp>
            <p:nvSpPr>
              <p:cNvPr id="248" name="Google Shape;248;p30"/>
              <p:cNvSpPr/>
              <p:nvPr/>
            </p:nvSpPr>
            <p:spPr>
              <a:xfrm>
                <a:off x="0" y="0"/>
                <a:ext cx="22860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30"/>
              <p:cNvSpPr txBox="1"/>
              <p:nvPr/>
            </p:nvSpPr>
            <p:spPr>
              <a:xfrm>
                <a:off x="0" y="-83850"/>
                <a:ext cx="2286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cs" sz="1300">
                    <a:solidFill>
                      <a:srgbClr val="4A148C"/>
                    </a:solidFill>
                    <a:latin typeface="Roboto"/>
                    <a:ea typeface="Roboto"/>
                    <a:cs typeface="Roboto"/>
                    <a:sym typeface="Roboto"/>
                  </a:rPr>
                  <a:t>Great White Pelican</a:t>
                </a:r>
                <a:endParaRPr b="1" sz="1300">
                  <a:solidFill>
                    <a:srgbClr val="4A148C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250" name="Google Shape;250;p30" title="Снимок экрана 2026-10-18 160252.png"/>
            <p:cNvPicPr preferRelativeResize="0"/>
            <p:nvPr/>
          </p:nvPicPr>
          <p:blipFill rotWithShape="1">
            <a:blip r:embed="rId3">
              <a:alphaModFix/>
            </a:blip>
            <a:srcRect b="3462" l="0" r="0" t="3462"/>
            <a:stretch/>
          </p:blipFill>
          <p:spPr>
            <a:xfrm>
              <a:off x="171450" y="323850"/>
              <a:ext cx="2267100" cy="1428900"/>
            </a:xfrm>
            <a:prstGeom prst="roundRect">
              <a:avLst>
                <a:gd fmla="val 2666" name="adj"/>
              </a:avLst>
            </a:prstGeom>
            <a:noFill/>
            <a:ln>
              <a:noFill/>
            </a:ln>
          </p:spPr>
        </p:pic>
        <p:grpSp>
          <p:nvGrpSpPr>
            <p:cNvPr id="251" name="Google Shape;251;p30"/>
            <p:cNvGrpSpPr/>
            <p:nvPr/>
          </p:nvGrpSpPr>
          <p:grpSpPr>
            <a:xfrm>
              <a:off x="171450" y="1981200"/>
              <a:ext cx="2267100" cy="1638300"/>
              <a:chOff x="0" y="0"/>
              <a:chExt cx="2267100" cy="1638300"/>
            </a:xfrm>
          </p:grpSpPr>
          <p:sp>
            <p:nvSpPr>
              <p:cNvPr id="252" name="Google Shape;252;p30"/>
              <p:cNvSpPr/>
              <p:nvPr/>
            </p:nvSpPr>
            <p:spPr>
              <a:xfrm>
                <a:off x="0" y="0"/>
                <a:ext cx="2267100" cy="1638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30"/>
              <p:cNvSpPr txBox="1"/>
              <p:nvPr/>
            </p:nvSpPr>
            <p:spPr>
              <a:xfrm>
                <a:off x="0" y="0"/>
                <a:ext cx="2267100" cy="16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cs" sz="9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Pelecanus onocrotalus</a:t>
                </a:r>
                <a:endParaRPr b="1" i="1" sz="9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cs" sz="9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Specialized piscivore driving energy transfer from fish populations to higher avian trophic levels.</a:t>
                </a:r>
                <a:endParaRPr b="0" i="0" sz="9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cs" sz="9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Feeds predominantly on introduced Soda Tilapia (Alcolapia grahami) in open shallow waters.</a:t>
                </a:r>
                <a:endParaRPr b="0" i="0" sz="900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54" name="Google Shape;254;p30"/>
          <p:cNvGrpSpPr/>
          <p:nvPr/>
        </p:nvGrpSpPr>
        <p:grpSpPr>
          <a:xfrm>
            <a:off x="3267075" y="1095375"/>
            <a:ext cx="2628900" cy="3762300"/>
            <a:chOff x="0" y="0"/>
            <a:chExt cx="2628900" cy="3762300"/>
          </a:xfrm>
        </p:grpSpPr>
        <p:sp>
          <p:nvSpPr>
            <p:cNvPr id="255" name="Google Shape;255;p30"/>
            <p:cNvSpPr/>
            <p:nvPr/>
          </p:nvSpPr>
          <p:spPr>
            <a:xfrm>
              <a:off x="0" y="0"/>
              <a:ext cx="2610000" cy="3762300"/>
            </a:xfrm>
            <a:prstGeom prst="roundRect">
              <a:avLst>
                <a:gd fmla="val 2189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0" y="0"/>
              <a:ext cx="57300" cy="3762300"/>
            </a:xfrm>
            <a:prstGeom prst="roundRect">
              <a:avLst>
                <a:gd fmla="val 33246" name="adj"/>
              </a:avLst>
            </a:prstGeom>
            <a:solidFill>
              <a:srgbClr val="4A14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30"/>
            <p:cNvGrpSpPr/>
            <p:nvPr/>
          </p:nvGrpSpPr>
          <p:grpSpPr>
            <a:xfrm>
              <a:off x="171450" y="133350"/>
              <a:ext cx="2457450" cy="419250"/>
              <a:chOff x="0" y="0"/>
              <a:chExt cx="2457450" cy="419250"/>
            </a:xfrm>
          </p:grpSpPr>
          <p:sp>
            <p:nvSpPr>
              <p:cNvPr id="258" name="Google Shape;258;p30"/>
              <p:cNvSpPr/>
              <p:nvPr/>
            </p:nvSpPr>
            <p:spPr>
              <a:xfrm>
                <a:off x="0" y="0"/>
                <a:ext cx="22860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30"/>
              <p:cNvSpPr txBox="1"/>
              <p:nvPr/>
            </p:nvSpPr>
            <p:spPr>
              <a:xfrm>
                <a:off x="171450" y="133350"/>
                <a:ext cx="22860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cs" sz="1300" u="none" strike="noStrike">
                    <a:solidFill>
                      <a:srgbClr val="4A148C"/>
                    </a:solidFill>
                    <a:latin typeface="Roboto"/>
                    <a:ea typeface="Roboto"/>
                    <a:cs typeface="Roboto"/>
                    <a:sym typeface="Roboto"/>
                  </a:rPr>
                  <a:t>Greater Flamingo</a:t>
                </a:r>
                <a:endParaRPr b="1" i="0" sz="1300" u="none" strike="noStrike">
                  <a:solidFill>
                    <a:srgbClr val="4A148C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260" name="Google Shape;260;p30" title="medium.jpg"/>
            <p:cNvPicPr preferRelativeResize="0"/>
            <p:nvPr/>
          </p:nvPicPr>
          <p:blipFill rotWithShape="1">
            <a:blip r:embed="rId4">
              <a:alphaModFix/>
            </a:blip>
            <a:srcRect b="2688" l="0" r="0" t="2678"/>
            <a:stretch/>
          </p:blipFill>
          <p:spPr>
            <a:xfrm>
              <a:off x="171450" y="323850"/>
              <a:ext cx="2267100" cy="1428900"/>
            </a:xfrm>
            <a:prstGeom prst="roundRect">
              <a:avLst>
                <a:gd fmla="val 2665" name="adj"/>
              </a:avLst>
            </a:prstGeom>
            <a:noFill/>
            <a:ln>
              <a:noFill/>
            </a:ln>
          </p:spPr>
        </p:pic>
        <p:grpSp>
          <p:nvGrpSpPr>
            <p:cNvPr id="261" name="Google Shape;261;p30"/>
            <p:cNvGrpSpPr/>
            <p:nvPr/>
          </p:nvGrpSpPr>
          <p:grpSpPr>
            <a:xfrm>
              <a:off x="171450" y="1981200"/>
              <a:ext cx="2267100" cy="1638300"/>
              <a:chOff x="0" y="0"/>
              <a:chExt cx="2267100" cy="1638300"/>
            </a:xfrm>
          </p:grpSpPr>
          <p:sp>
            <p:nvSpPr>
              <p:cNvPr id="262" name="Google Shape;262;p30"/>
              <p:cNvSpPr/>
              <p:nvPr/>
            </p:nvSpPr>
            <p:spPr>
              <a:xfrm>
                <a:off x="0" y="0"/>
                <a:ext cx="2267100" cy="1638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30"/>
              <p:cNvSpPr txBox="1"/>
              <p:nvPr/>
            </p:nvSpPr>
            <p:spPr>
              <a:xfrm>
                <a:off x="0" y="0"/>
                <a:ext cx="2267100" cy="1638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cs" sz="950" u="none" strike="noStrike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Phoenicopterus roseus</a:t>
                </a:r>
                <a:endParaRPr b="1" i="1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cs" sz="950" u="none" strike="noStrike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Generalist filter feeder inhabiting alkaline lake shorelines and shallow waters.</a:t>
                </a:r>
                <a:endParaRPr b="1" i="1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cs" sz="900" u="none" strike="noStrike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Consumes a broader opportunistic diet including small invertebrates, aquatic insect larvae, and micro-algae.</a:t>
                </a:r>
                <a:endParaRPr b="1" i="1" sz="90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64" name="Google Shape;264;p30"/>
          <p:cNvGrpSpPr/>
          <p:nvPr/>
        </p:nvGrpSpPr>
        <p:grpSpPr>
          <a:xfrm>
            <a:off x="6153150" y="1095375"/>
            <a:ext cx="2610000" cy="3762300"/>
            <a:chOff x="0" y="0"/>
            <a:chExt cx="2610000" cy="3762300"/>
          </a:xfrm>
        </p:grpSpPr>
        <p:sp>
          <p:nvSpPr>
            <p:cNvPr id="265" name="Google Shape;265;p30"/>
            <p:cNvSpPr/>
            <p:nvPr/>
          </p:nvSpPr>
          <p:spPr>
            <a:xfrm>
              <a:off x="0" y="0"/>
              <a:ext cx="2610000" cy="3762300"/>
            </a:xfrm>
            <a:prstGeom prst="roundRect">
              <a:avLst>
                <a:gd fmla="val 2189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0" y="0"/>
              <a:ext cx="57300" cy="3762300"/>
            </a:xfrm>
            <a:prstGeom prst="roundRect">
              <a:avLst>
                <a:gd fmla="val 33246" name="adj"/>
              </a:avLst>
            </a:prstGeom>
            <a:solidFill>
              <a:srgbClr val="4A14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" name="Google Shape;267;p30"/>
            <p:cNvGrpSpPr/>
            <p:nvPr/>
          </p:nvGrpSpPr>
          <p:grpSpPr>
            <a:xfrm>
              <a:off x="162000" y="49500"/>
              <a:ext cx="2295450" cy="369750"/>
              <a:chOff x="-9450" y="-83850"/>
              <a:chExt cx="2295450" cy="369750"/>
            </a:xfrm>
          </p:grpSpPr>
          <p:sp>
            <p:nvSpPr>
              <p:cNvPr id="268" name="Google Shape;268;p30"/>
              <p:cNvSpPr/>
              <p:nvPr/>
            </p:nvSpPr>
            <p:spPr>
              <a:xfrm>
                <a:off x="0" y="0"/>
                <a:ext cx="22860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30"/>
              <p:cNvSpPr txBox="1"/>
              <p:nvPr/>
            </p:nvSpPr>
            <p:spPr>
              <a:xfrm>
                <a:off x="-9450" y="-83850"/>
                <a:ext cx="2286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cs" sz="1300">
                    <a:solidFill>
                      <a:srgbClr val="4A148C"/>
                    </a:solidFill>
                    <a:latin typeface="Roboto"/>
                    <a:ea typeface="Roboto"/>
                    <a:cs typeface="Roboto"/>
                    <a:sym typeface="Roboto"/>
                  </a:rPr>
                  <a:t>African Fish Eagle</a:t>
                </a:r>
                <a:endParaRPr b="1" sz="1300">
                  <a:solidFill>
                    <a:srgbClr val="4A148C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270" name="Google Shape;270;p30" title="african fish eagle.jpg"/>
            <p:cNvPicPr preferRelativeResize="0"/>
            <p:nvPr/>
          </p:nvPicPr>
          <p:blipFill rotWithShape="1">
            <a:blip r:embed="rId5">
              <a:alphaModFix/>
            </a:blip>
            <a:srcRect b="2688" l="0" r="0" t="2678"/>
            <a:stretch/>
          </p:blipFill>
          <p:spPr>
            <a:xfrm>
              <a:off x="171450" y="323850"/>
              <a:ext cx="2267100" cy="1428900"/>
            </a:xfrm>
            <a:prstGeom prst="roundRect">
              <a:avLst>
                <a:gd fmla="val 2666" name="adj"/>
              </a:avLst>
            </a:prstGeom>
            <a:noFill/>
            <a:ln>
              <a:noFill/>
            </a:ln>
          </p:spPr>
        </p:pic>
        <p:grpSp>
          <p:nvGrpSpPr>
            <p:cNvPr id="271" name="Google Shape;271;p30"/>
            <p:cNvGrpSpPr/>
            <p:nvPr/>
          </p:nvGrpSpPr>
          <p:grpSpPr>
            <a:xfrm>
              <a:off x="171450" y="1981200"/>
              <a:ext cx="2267100" cy="1638300"/>
              <a:chOff x="0" y="0"/>
              <a:chExt cx="2267100" cy="1638300"/>
            </a:xfrm>
          </p:grpSpPr>
          <p:sp>
            <p:nvSpPr>
              <p:cNvPr id="272" name="Google Shape;272;p30"/>
              <p:cNvSpPr/>
              <p:nvPr/>
            </p:nvSpPr>
            <p:spPr>
              <a:xfrm>
                <a:off x="0" y="0"/>
                <a:ext cx="2267100" cy="1638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30"/>
              <p:cNvSpPr txBox="1"/>
              <p:nvPr/>
            </p:nvSpPr>
            <p:spPr>
              <a:xfrm>
                <a:off x="0" y="0"/>
                <a:ext cx="2267100" cy="16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cs" sz="9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Haliaeetus vocifer</a:t>
                </a:r>
                <a:endParaRPr b="1" i="1" sz="9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cs" sz="950">
                    <a:solidFill>
                      <a:srgbClr val="1C1C1C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Apex avian predator positioned at the top of the aquatic food chain interface.</a:t>
                </a:r>
                <a:endParaRPr b="0" i="0" sz="9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cs" sz="900">
                    <a:solidFill>
                      <a:srgbClr val="59595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Hunts surface-swimming fish and waterbirds from high acacia tree perches surrounding the lake shore.</a:t>
                </a:r>
                <a:endParaRPr b="0" i="0" sz="900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74" name="Google Shape;274;p30"/>
          <p:cNvSpPr txBox="1"/>
          <p:nvPr/>
        </p:nvSpPr>
        <p:spPr>
          <a:xfrm>
            <a:off x="3267075" y="1095375"/>
            <a:ext cx="262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300">
                <a:solidFill>
                  <a:srgbClr val="4A148C"/>
                </a:solidFill>
                <a:latin typeface="Roboto"/>
                <a:ea typeface="Roboto"/>
                <a:cs typeface="Roboto"/>
                <a:sym typeface="Roboto"/>
              </a:rPr>
              <a:t>Greater flamingo</a:t>
            </a:r>
            <a:endParaRPr b="1" sz="1300">
              <a:solidFill>
                <a:srgbClr val="4A148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4935900" y="0"/>
            <a:ext cx="420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rgbClr val="1F1F1F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Vareschi, E. (1978). The ecology of Lake Nakuru</a:t>
            </a:r>
            <a:r>
              <a:rPr lang="c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31"/>
          <p:cNvGrpSpPr/>
          <p:nvPr/>
        </p:nvGrpSpPr>
        <p:grpSpPr>
          <a:xfrm>
            <a:off x="381000" y="190500"/>
            <a:ext cx="8382000" cy="762150"/>
            <a:chOff x="381000" y="190500"/>
            <a:chExt cx="8382000" cy="762150"/>
          </a:xfrm>
        </p:grpSpPr>
        <p:sp>
          <p:nvSpPr>
            <p:cNvPr id="281" name="Google Shape;281;p31"/>
            <p:cNvSpPr/>
            <p:nvPr/>
          </p:nvSpPr>
          <p:spPr>
            <a:xfrm>
              <a:off x="381000" y="190500"/>
              <a:ext cx="8382000" cy="192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381000" y="285750"/>
              <a:ext cx="38100" cy="1905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1"/>
            <p:cNvSpPr txBox="1"/>
            <p:nvPr/>
          </p:nvSpPr>
          <p:spPr>
            <a:xfrm>
              <a:off x="4900300" y="2380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" sz="1200">
                  <a:solidFill>
                    <a:srgbClr val="1F1F1F"/>
                  </a:solidFill>
                  <a:highlight>
                    <a:srgbClr val="FFFFFF"/>
                  </a:highlight>
                  <a:latin typeface="Open Sans"/>
                  <a:ea typeface="Open Sans"/>
                  <a:cs typeface="Open Sans"/>
                  <a:sym typeface="Open Sans"/>
                </a:rPr>
                <a:t>Vareschi, E. (1978). The ecology of Lake Nakuru</a:t>
              </a:r>
              <a:r>
                <a:rPr lang="cs" sz="1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b="1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4" name="Google Shape;284;p31"/>
            <p:cNvSpPr txBox="1"/>
            <p:nvPr/>
          </p:nvSpPr>
          <p:spPr>
            <a:xfrm>
              <a:off x="381000" y="552450"/>
              <a:ext cx="838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22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Tertiary Consumers in the Aquatic Food Web</a:t>
              </a:r>
              <a:endParaRPr b="1" sz="220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85" name="Google Shape;285;p31"/>
          <p:cNvGrpSpPr/>
          <p:nvPr/>
        </p:nvGrpSpPr>
        <p:grpSpPr>
          <a:xfrm>
            <a:off x="381000" y="1095375"/>
            <a:ext cx="4048200" cy="2571900"/>
            <a:chOff x="0" y="0"/>
            <a:chExt cx="4048200" cy="2571900"/>
          </a:xfrm>
        </p:grpSpPr>
        <p:sp>
          <p:nvSpPr>
            <p:cNvPr id="286" name="Google Shape;286;p31"/>
            <p:cNvSpPr/>
            <p:nvPr/>
          </p:nvSpPr>
          <p:spPr>
            <a:xfrm>
              <a:off x="0" y="0"/>
              <a:ext cx="4048200" cy="2571900"/>
            </a:xfrm>
            <a:prstGeom prst="roundRect">
              <a:avLst>
                <a:gd fmla="val 1481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0" y="0"/>
              <a:ext cx="76200" cy="2571900"/>
            </a:xfrm>
            <a:prstGeom prst="roundRect">
              <a:avLst>
                <a:gd fmla="val 25000" name="adj"/>
              </a:avLst>
            </a:prstGeom>
            <a:solidFill>
              <a:srgbClr val="B7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1"/>
            <p:cNvSpPr txBox="1"/>
            <p:nvPr/>
          </p:nvSpPr>
          <p:spPr>
            <a:xfrm>
              <a:off x="228600" y="152400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500">
                  <a:solidFill>
                    <a:srgbClr val="B71C1C"/>
                  </a:solidFill>
                  <a:latin typeface="Roboto"/>
                  <a:ea typeface="Roboto"/>
                  <a:cs typeface="Roboto"/>
                  <a:sym typeface="Roboto"/>
                </a:rPr>
                <a:t>BIRDS OF PREY (GREIFVÖGEL)</a:t>
              </a:r>
              <a:endParaRPr b="1" sz="1500">
                <a:solidFill>
                  <a:srgbClr val="B71C1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n African Crowned Eagle perched majestically on a tree branch overlooking a lake shore in Kenya" id="289" name="Google Shape;289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600" y="495300"/>
              <a:ext cx="1714500" cy="1285800"/>
            </a:xfrm>
            <a:prstGeom prst="roundRect">
              <a:avLst>
                <a:gd fmla="val 2962" name="adj"/>
              </a:avLst>
            </a:prstGeom>
            <a:noFill/>
            <a:ln>
              <a:noFill/>
            </a:ln>
          </p:spPr>
        </p:pic>
        <p:sp>
          <p:nvSpPr>
            <p:cNvPr id="290" name="Google Shape;290;p31"/>
            <p:cNvSpPr txBox="1"/>
            <p:nvPr/>
          </p:nvSpPr>
          <p:spPr>
            <a:xfrm>
              <a:off x="2057400" y="457200"/>
              <a:ext cx="1838400" cy="19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Explicitly cited in literature as </a:t>
              </a:r>
              <a:r>
                <a:rPr b="1" i="1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Konsumenten höherer Ordnung</a:t>
              </a:r>
              <a:r>
                <a:rPr b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(higher-level consumers).</a:t>
              </a:r>
              <a:endParaRPr b="0" sz="110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Apex avian predators that prey on fish-eating waterbirds and other terrestrial or aquatic vertebrates.</a:t>
              </a:r>
              <a:endParaRPr b="0" sz="110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1" name="Google Shape;291;p31"/>
          <p:cNvGrpSpPr/>
          <p:nvPr/>
        </p:nvGrpSpPr>
        <p:grpSpPr>
          <a:xfrm>
            <a:off x="4714875" y="1095375"/>
            <a:ext cx="4048200" cy="2571900"/>
            <a:chOff x="0" y="0"/>
            <a:chExt cx="4048200" cy="2571900"/>
          </a:xfrm>
        </p:grpSpPr>
        <p:sp>
          <p:nvSpPr>
            <p:cNvPr id="292" name="Google Shape;292;p31"/>
            <p:cNvSpPr/>
            <p:nvPr/>
          </p:nvSpPr>
          <p:spPr>
            <a:xfrm>
              <a:off x="0" y="0"/>
              <a:ext cx="4048200" cy="2571900"/>
            </a:xfrm>
            <a:prstGeom prst="roundRect">
              <a:avLst>
                <a:gd fmla="val 1481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1"/>
            <p:cNvSpPr/>
            <p:nvPr/>
          </p:nvSpPr>
          <p:spPr>
            <a:xfrm>
              <a:off x="0" y="0"/>
              <a:ext cx="76200" cy="2571900"/>
            </a:xfrm>
            <a:prstGeom prst="roundRect">
              <a:avLst>
                <a:gd fmla="val 25000" name="adj"/>
              </a:avLst>
            </a:prstGeom>
            <a:solidFill>
              <a:srgbClr val="B7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1"/>
            <p:cNvSpPr txBox="1"/>
            <p:nvPr/>
          </p:nvSpPr>
          <p:spPr>
            <a:xfrm>
              <a:off x="228600" y="152400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500">
                  <a:solidFill>
                    <a:srgbClr val="B71C1C"/>
                  </a:solidFill>
                  <a:latin typeface="Roboto"/>
                  <a:ea typeface="Roboto"/>
                  <a:cs typeface="Roboto"/>
                  <a:sym typeface="Roboto"/>
                </a:rPr>
                <a:t>MARABOU STORKS (MARABUS)</a:t>
              </a:r>
              <a:endParaRPr b="1" sz="1500">
                <a:solidFill>
                  <a:srgbClr val="B71C1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Marabou Stork standing along the shallow shoreline of Lake Nakuru in Kenya" id="295" name="Google Shape;295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8600" y="495300"/>
              <a:ext cx="1714500" cy="1285800"/>
            </a:xfrm>
            <a:prstGeom prst="roundRect">
              <a:avLst>
                <a:gd fmla="val 2962" name="adj"/>
              </a:avLst>
            </a:prstGeom>
            <a:noFill/>
            <a:ln>
              <a:noFill/>
            </a:ln>
          </p:spPr>
        </p:pic>
        <p:sp>
          <p:nvSpPr>
            <p:cNvPr id="296" name="Google Shape;296;p31"/>
            <p:cNvSpPr txBox="1"/>
            <p:nvPr/>
          </p:nvSpPr>
          <p:spPr>
            <a:xfrm>
              <a:off x="2057400" y="457200"/>
              <a:ext cx="1838400" cy="19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Leptoptilos crumenifer</a:t>
              </a:r>
              <a:endParaRPr b="0" sz="110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Large opportunistic scavengers and carnivores occupying top trophic positions, feeding on fish, waterbird nestlings, and carrion.</a:t>
              </a:r>
              <a:endParaRPr b="0" sz="110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7" name="Google Shape;297;p31"/>
          <p:cNvGrpSpPr/>
          <p:nvPr/>
        </p:nvGrpSpPr>
        <p:grpSpPr>
          <a:xfrm>
            <a:off x="381000" y="3857625"/>
            <a:ext cx="8382000" cy="1000200"/>
            <a:chOff x="0" y="0"/>
            <a:chExt cx="8382000" cy="1000200"/>
          </a:xfrm>
        </p:grpSpPr>
        <p:sp>
          <p:nvSpPr>
            <p:cNvPr id="298" name="Google Shape;298;p31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0" y="0"/>
              <a:ext cx="57300" cy="1000200"/>
            </a:xfrm>
            <a:prstGeom prst="roundRect">
              <a:avLst>
                <a:gd fmla="val 33333" name="adj"/>
              </a:avLst>
            </a:prstGeom>
            <a:solidFill>
              <a:srgbClr val="1C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1"/>
            <p:cNvSpPr txBox="1"/>
            <p:nvPr/>
          </p:nvSpPr>
          <p:spPr>
            <a:xfrm>
              <a:off x="228600" y="114300"/>
              <a:ext cx="79248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cs" sz="12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"Regarding tertiary consumers, ecological literature is relatively vague and typically refers to them broadly as 'higher-level consumers.' Due to the short food chain in Lake Nakuru, top predators consist primarily of Birds of Prey and Marabou Storks preying on fish-eating birds or other vertebrates."</a:t>
              </a:r>
              <a:endParaRPr b="0" i="1" sz="125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2"/>
          <p:cNvSpPr/>
          <p:nvPr/>
        </p:nvSpPr>
        <p:spPr>
          <a:xfrm>
            <a:off x="381000" y="190500"/>
            <a:ext cx="8382000" cy="1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32"/>
          <p:cNvGrpSpPr/>
          <p:nvPr/>
        </p:nvGrpSpPr>
        <p:grpSpPr>
          <a:xfrm>
            <a:off x="5314525" y="271463"/>
            <a:ext cx="3448500" cy="285913"/>
            <a:chOff x="-95750" y="285750"/>
            <a:chExt cx="3448500" cy="285913"/>
          </a:xfrm>
        </p:grpSpPr>
        <p:sp>
          <p:nvSpPr>
            <p:cNvPr id="308" name="Google Shape;308;p32"/>
            <p:cNvSpPr/>
            <p:nvPr/>
          </p:nvSpPr>
          <p:spPr>
            <a:xfrm>
              <a:off x="381000" y="285750"/>
              <a:ext cx="38100" cy="1905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2"/>
            <p:cNvSpPr txBox="1"/>
            <p:nvPr/>
          </p:nvSpPr>
          <p:spPr>
            <a:xfrm>
              <a:off x="-95750" y="285763"/>
              <a:ext cx="3448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" sz="1200">
                  <a:solidFill>
                    <a:srgbClr val="1F1F1F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cs" sz="1200">
                  <a:solidFill>
                    <a:srgbClr val="1F1F1F"/>
                  </a:solidFill>
                  <a:highlight>
                    <a:srgbClr val="FFFFFF"/>
                  </a:highlight>
                  <a:latin typeface="Open Sans"/>
                  <a:ea typeface="Open Sans"/>
                  <a:cs typeface="Open Sans"/>
                  <a:sym typeface="Open Sans"/>
                </a:rPr>
                <a:t>areschi, E. (1978). The ecology of Lake Nakuru</a:t>
              </a:r>
              <a:r>
                <a:rPr lang="cs" sz="1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b="1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0" name="Google Shape;310;p32"/>
          <p:cNvSpPr txBox="1"/>
          <p:nvPr/>
        </p:nvSpPr>
        <p:spPr>
          <a:xfrm>
            <a:off x="381000" y="6191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405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rPr>
              <a:t>Terrestrial Trophic Dynamics &amp; Lake Connections</a:t>
            </a:r>
            <a:endParaRPr sz="1295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11" name="Google Shape;311;p32"/>
          <p:cNvGrpSpPr/>
          <p:nvPr/>
        </p:nvGrpSpPr>
        <p:grpSpPr>
          <a:xfrm>
            <a:off x="381000" y="1095375"/>
            <a:ext cx="4048200" cy="2571900"/>
            <a:chOff x="0" y="0"/>
            <a:chExt cx="4048200" cy="2571900"/>
          </a:xfrm>
        </p:grpSpPr>
        <p:sp>
          <p:nvSpPr>
            <p:cNvPr id="312" name="Google Shape;312;p32"/>
            <p:cNvSpPr/>
            <p:nvPr/>
          </p:nvSpPr>
          <p:spPr>
            <a:xfrm>
              <a:off x="0" y="0"/>
              <a:ext cx="4048200" cy="2571900"/>
            </a:xfrm>
            <a:prstGeom prst="roundRect">
              <a:avLst>
                <a:gd fmla="val 1481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2"/>
            <p:cNvSpPr/>
            <p:nvPr/>
          </p:nvSpPr>
          <p:spPr>
            <a:xfrm>
              <a:off x="0" y="0"/>
              <a:ext cx="76200" cy="2571900"/>
            </a:xfrm>
            <a:prstGeom prst="roundRect">
              <a:avLst>
                <a:gd fmla="val 25000" name="adj"/>
              </a:avLst>
            </a:prstGeom>
            <a:solidFill>
              <a:srgbClr val="E651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2"/>
            <p:cNvSpPr txBox="1"/>
            <p:nvPr/>
          </p:nvSpPr>
          <p:spPr>
            <a:xfrm>
              <a:off x="228600" y="152400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500">
                  <a:solidFill>
                    <a:srgbClr val="E65100"/>
                  </a:solidFill>
                  <a:latin typeface="Roboto"/>
                  <a:ea typeface="Roboto"/>
                  <a:cs typeface="Roboto"/>
                  <a:sym typeface="Roboto"/>
                </a:rPr>
                <a:t>PRIMARY CONSUMERS / HERBIVORES</a:t>
              </a:r>
              <a:endParaRPr/>
            </a:p>
          </p:txBody>
        </p:sp>
        <p:pic>
          <p:nvPicPr>
            <p:cNvPr id="315" name="Google Shape;31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600" y="495300"/>
              <a:ext cx="17145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32"/>
            <p:cNvSpPr txBox="1"/>
            <p:nvPr/>
          </p:nvSpPr>
          <p:spPr>
            <a:xfrm>
              <a:off x="2057400" y="457200"/>
              <a:ext cx="1838400" cy="19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</a:t>
              </a:r>
              <a:r>
                <a:rPr b="1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Giraffe</a:t>
              </a:r>
              <a:r>
                <a:rPr b="0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(Giraffa camelopardalis), </a:t>
              </a:r>
              <a:r>
                <a:rPr b="1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Zebra</a:t>
              </a:r>
              <a:r>
                <a:rPr b="0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(Equus quagga), </a:t>
              </a:r>
              <a:r>
                <a:rPr b="1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African Buffalo</a:t>
              </a:r>
              <a:r>
                <a:rPr b="0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(Syncerus caffer), and </a:t>
              </a:r>
              <a:r>
                <a:rPr b="1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Black Rhinoceros</a:t>
              </a:r>
              <a:r>
                <a:rPr b="0" lang="cs" sz="11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(Diceros bicornis) feed on surrounding vegetation rather than lake production.</a:t>
              </a:r>
              <a:endParaRPr b="0" sz="115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7" name="Google Shape;317;p32"/>
          <p:cNvGrpSpPr/>
          <p:nvPr/>
        </p:nvGrpSpPr>
        <p:grpSpPr>
          <a:xfrm>
            <a:off x="4714875" y="1095375"/>
            <a:ext cx="4048200" cy="2571900"/>
            <a:chOff x="0" y="0"/>
            <a:chExt cx="4048200" cy="2571900"/>
          </a:xfrm>
        </p:grpSpPr>
        <p:sp>
          <p:nvSpPr>
            <p:cNvPr id="318" name="Google Shape;318;p32"/>
            <p:cNvSpPr/>
            <p:nvPr/>
          </p:nvSpPr>
          <p:spPr>
            <a:xfrm>
              <a:off x="0" y="0"/>
              <a:ext cx="4048200" cy="2571900"/>
            </a:xfrm>
            <a:prstGeom prst="roundRect">
              <a:avLst>
                <a:gd fmla="val 1481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2"/>
            <p:cNvSpPr/>
            <p:nvPr/>
          </p:nvSpPr>
          <p:spPr>
            <a:xfrm>
              <a:off x="0" y="0"/>
              <a:ext cx="76200" cy="2571900"/>
            </a:xfrm>
            <a:prstGeom prst="roundRect">
              <a:avLst>
                <a:gd fmla="val 25000" name="adj"/>
              </a:avLst>
            </a:prstGeom>
            <a:solidFill>
              <a:srgbClr val="4A14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 txBox="1"/>
            <p:nvPr/>
          </p:nvSpPr>
          <p:spPr>
            <a:xfrm>
              <a:off x="228600" y="152400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500">
                  <a:solidFill>
                    <a:srgbClr val="4A148C"/>
                  </a:solidFill>
                  <a:latin typeface="Roboto"/>
                  <a:ea typeface="Roboto"/>
                  <a:cs typeface="Roboto"/>
                  <a:sym typeface="Roboto"/>
                </a:rPr>
                <a:t>PREDATORS</a:t>
              </a:r>
              <a:endParaRPr/>
            </a:p>
          </p:txBody>
        </p:sp>
        <p:pic>
          <p:nvPicPr>
            <p:cNvPr id="321" name="Google Shape;32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600" y="495300"/>
              <a:ext cx="17145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32"/>
            <p:cNvSpPr txBox="1"/>
            <p:nvPr/>
          </p:nvSpPr>
          <p:spPr>
            <a:xfrm>
              <a:off x="2057400" y="457200"/>
              <a:ext cx="1838400" cy="1962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Apex predators such as the </a:t>
              </a:r>
              <a:r>
                <a:rPr b="1" i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Lion</a:t>
              </a:r>
              <a:r>
                <a:rPr b="0" i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(Panthera leo), </a:t>
              </a:r>
              <a:r>
                <a:rPr b="1" i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Leopard</a:t>
              </a:r>
              <a:r>
                <a:rPr b="0" i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(Panthera pardus), and </a:t>
              </a:r>
              <a:r>
                <a:rPr b="1" i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African Rock Python</a:t>
              </a:r>
              <a:r>
                <a:rPr b="0" i="0" lang="cs" sz="110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(Python sebae) influence herbivore distribution.</a:t>
              </a:r>
              <a:endParaRPr b="0" i="0" sz="110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3" name="Google Shape;323;p32"/>
          <p:cNvGrpSpPr/>
          <p:nvPr/>
        </p:nvGrpSpPr>
        <p:grpSpPr>
          <a:xfrm>
            <a:off x="381000" y="3857625"/>
            <a:ext cx="8382000" cy="1000200"/>
            <a:chOff x="0" y="0"/>
            <a:chExt cx="8382000" cy="1000200"/>
          </a:xfrm>
        </p:grpSpPr>
        <p:sp>
          <p:nvSpPr>
            <p:cNvPr id="324" name="Google Shape;324;p32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0" y="0"/>
              <a:ext cx="57300" cy="1000200"/>
            </a:xfrm>
            <a:prstGeom prst="roundRect">
              <a:avLst>
                <a:gd fmla="val 33333" name="adj"/>
              </a:avLst>
            </a:prstGeom>
            <a:solidFill>
              <a:srgbClr val="1C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2"/>
            <p:cNvSpPr txBox="1"/>
            <p:nvPr/>
          </p:nvSpPr>
          <p:spPr>
            <a:xfrm>
              <a:off x="228600" y="114300"/>
              <a:ext cx="79248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cs" sz="1350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"Terrestrial herbivores feed on vegetation, while predators feed on other animals. These terrestrial food webs are connected to the lake ecosystem through nutrient movement and animal activity."</a:t>
              </a:r>
              <a:endParaRPr b="0" i="1" sz="1350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33"/>
          <p:cNvGrpSpPr/>
          <p:nvPr/>
        </p:nvGrpSpPr>
        <p:grpSpPr>
          <a:xfrm>
            <a:off x="9600" y="0"/>
            <a:ext cx="9144000" cy="5143500"/>
            <a:chOff x="0" y="0"/>
            <a:chExt cx="9144000" cy="5143500"/>
          </a:xfrm>
        </p:grpSpPr>
        <p:sp>
          <p:nvSpPr>
            <p:cNvPr id="332" name="Google Shape;332;p3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9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381000" y="190500"/>
              <a:ext cx="8382000" cy="192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33"/>
          <p:cNvGrpSpPr/>
          <p:nvPr/>
        </p:nvGrpSpPr>
        <p:grpSpPr>
          <a:xfrm>
            <a:off x="381000" y="199525"/>
            <a:ext cx="8258325" cy="381000"/>
            <a:chOff x="381000" y="199525"/>
            <a:chExt cx="8258325" cy="381000"/>
          </a:xfrm>
        </p:grpSpPr>
        <p:sp>
          <p:nvSpPr>
            <p:cNvPr id="335" name="Google Shape;335;p33"/>
            <p:cNvSpPr/>
            <p:nvPr/>
          </p:nvSpPr>
          <p:spPr>
            <a:xfrm>
              <a:off x="381000" y="285750"/>
              <a:ext cx="38100" cy="1905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3"/>
            <p:cNvSpPr txBox="1"/>
            <p:nvPr/>
          </p:nvSpPr>
          <p:spPr>
            <a:xfrm flipH="1">
              <a:off x="5185125" y="199525"/>
              <a:ext cx="345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" sz="1200">
                  <a:solidFill>
                    <a:srgbClr val="1F1F1F"/>
                  </a:solidFill>
                  <a:highlight>
                    <a:srgbClr val="FFFFFF"/>
                  </a:highlight>
                  <a:latin typeface="Open Sans"/>
                  <a:ea typeface="Open Sans"/>
                  <a:cs typeface="Open Sans"/>
                  <a:sym typeface="Open Sans"/>
                </a:rPr>
                <a:t>Vareschi, E. (1978). The ecology of Lake Nakuru</a:t>
              </a:r>
              <a:r>
                <a:rPr lang="cs" sz="1100">
                  <a:solidFill>
                    <a:schemeClr val="dk1"/>
                  </a:solidFill>
                </a:rPr>
                <a:t> </a:t>
              </a:r>
              <a:endParaRPr b="1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7" name="Google Shape;337;p33"/>
          <p:cNvSpPr txBox="1"/>
          <p:nvPr/>
        </p:nvSpPr>
        <p:spPr>
          <a:xfrm>
            <a:off x="381000" y="571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000">
                <a:solidFill>
                  <a:srgbClr val="1C1C1C"/>
                </a:solidFill>
                <a:latin typeface="Roboto"/>
                <a:ea typeface="Roboto"/>
                <a:cs typeface="Roboto"/>
                <a:sym typeface="Roboto"/>
              </a:rPr>
              <a:t>Trophic Structure &amp; Aquatic Ecosystem Roles</a:t>
            </a:r>
            <a:endParaRPr/>
          </a:p>
        </p:txBody>
      </p:sp>
      <p:grpSp>
        <p:nvGrpSpPr>
          <p:cNvPr id="338" name="Google Shape;338;p33"/>
          <p:cNvGrpSpPr/>
          <p:nvPr/>
        </p:nvGrpSpPr>
        <p:grpSpPr>
          <a:xfrm>
            <a:off x="4762500" y="3048000"/>
            <a:ext cx="3048000" cy="1809600"/>
            <a:chOff x="4381500" y="1952625"/>
            <a:chExt cx="3048000" cy="1809600"/>
          </a:xfrm>
        </p:grpSpPr>
        <p:sp>
          <p:nvSpPr>
            <p:cNvPr id="339" name="Google Shape;339;p33"/>
            <p:cNvSpPr/>
            <p:nvPr/>
          </p:nvSpPr>
          <p:spPr>
            <a:xfrm>
              <a:off x="4381500" y="1952625"/>
              <a:ext cx="3048000" cy="1809600"/>
            </a:xfrm>
            <a:prstGeom prst="roundRect">
              <a:avLst>
                <a:gd fmla="val 2105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4381500" y="1952625"/>
              <a:ext cx="57300" cy="1809600"/>
            </a:xfrm>
            <a:prstGeom prst="roundRect">
              <a:avLst>
                <a:gd fmla="val 33331" name="adj"/>
              </a:avLst>
            </a:prstGeom>
            <a:solidFill>
              <a:srgbClr val="1B5E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 txBox="1"/>
            <p:nvPr/>
          </p:nvSpPr>
          <p:spPr>
            <a:xfrm>
              <a:off x="4533900" y="2047875"/>
              <a:ext cx="2667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cs" sz="13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Producers</a:t>
              </a:r>
              <a:endParaRPr b="1" i="0" sz="13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2" name="Google Shape;342;p33"/>
          <p:cNvGrpSpPr/>
          <p:nvPr/>
        </p:nvGrpSpPr>
        <p:grpSpPr>
          <a:xfrm>
            <a:off x="381000" y="1095375"/>
            <a:ext cx="2619300" cy="1809600"/>
            <a:chOff x="-2876550" y="0"/>
            <a:chExt cx="2619300" cy="1809600"/>
          </a:xfrm>
        </p:grpSpPr>
        <p:sp>
          <p:nvSpPr>
            <p:cNvPr id="343" name="Google Shape;343;p33"/>
            <p:cNvSpPr/>
            <p:nvPr/>
          </p:nvSpPr>
          <p:spPr>
            <a:xfrm>
              <a:off x="-2876550" y="0"/>
              <a:ext cx="2619300" cy="1809600"/>
            </a:xfrm>
            <a:prstGeom prst="roundRect">
              <a:avLst>
                <a:gd fmla="val 2105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-2876550" y="0"/>
              <a:ext cx="57300" cy="1809600"/>
            </a:xfrm>
            <a:prstGeom prst="roundRect">
              <a:avLst>
                <a:gd fmla="val 33330" name="adj"/>
              </a:avLst>
            </a:prstGeom>
            <a:solidFill>
              <a:srgbClr val="FFBD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 txBox="1"/>
            <p:nvPr/>
          </p:nvSpPr>
          <p:spPr>
            <a:xfrm>
              <a:off x="-2724150" y="95250"/>
              <a:ext cx="2333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cs" sz="1300" u="none" strike="noStrike">
                  <a:solidFill>
                    <a:srgbClr val="FFBD59"/>
                  </a:solidFill>
                  <a:latin typeface="Roboto"/>
                  <a:ea typeface="Roboto"/>
                  <a:cs typeface="Roboto"/>
                  <a:sym typeface="Roboto"/>
                </a:rPr>
                <a:t>Primary Consumers</a:t>
              </a:r>
              <a:endParaRPr b="1" i="0" sz="1300" u="none" strike="noStrike">
                <a:solidFill>
                  <a:srgbClr val="FFBD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6" name="Google Shape;346;p33"/>
          <p:cNvGrpSpPr/>
          <p:nvPr/>
        </p:nvGrpSpPr>
        <p:grpSpPr>
          <a:xfrm>
            <a:off x="3257550" y="1095375"/>
            <a:ext cx="2619300" cy="1809600"/>
            <a:chOff x="-2886075" y="0"/>
            <a:chExt cx="2619300" cy="1809600"/>
          </a:xfrm>
        </p:grpSpPr>
        <p:sp>
          <p:nvSpPr>
            <p:cNvPr id="347" name="Google Shape;347;p33"/>
            <p:cNvSpPr/>
            <p:nvPr/>
          </p:nvSpPr>
          <p:spPr>
            <a:xfrm>
              <a:off x="-2886075" y="0"/>
              <a:ext cx="2619300" cy="1809600"/>
            </a:xfrm>
            <a:prstGeom prst="roundRect">
              <a:avLst>
                <a:gd fmla="val 2105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-2886075" y="0"/>
              <a:ext cx="57300" cy="1809600"/>
            </a:xfrm>
            <a:prstGeom prst="roundRect">
              <a:avLst>
                <a:gd fmla="val 33331" name="adj"/>
              </a:avLst>
            </a:prstGeom>
            <a:solidFill>
              <a:srgbClr val="4A14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 txBox="1"/>
            <p:nvPr/>
          </p:nvSpPr>
          <p:spPr>
            <a:xfrm>
              <a:off x="-2733675" y="95250"/>
              <a:ext cx="2333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cs" sz="1300" u="none" strike="noStrike">
                  <a:solidFill>
                    <a:srgbClr val="4A148C"/>
                  </a:solidFill>
                  <a:latin typeface="Roboto"/>
                  <a:ea typeface="Roboto"/>
                  <a:cs typeface="Roboto"/>
                  <a:sym typeface="Roboto"/>
                </a:rPr>
                <a:t>Secondary Consumers</a:t>
              </a:r>
              <a:endParaRPr b="1" i="0" sz="1300" u="none" strike="noStrike">
                <a:solidFill>
                  <a:srgbClr val="4A148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0" name="Google Shape;350;p33"/>
          <p:cNvGrpSpPr/>
          <p:nvPr/>
        </p:nvGrpSpPr>
        <p:grpSpPr>
          <a:xfrm>
            <a:off x="6143625" y="1095375"/>
            <a:ext cx="2619300" cy="1809600"/>
            <a:chOff x="4810125" y="-1952625"/>
            <a:chExt cx="2619300" cy="1809600"/>
          </a:xfrm>
        </p:grpSpPr>
        <p:sp>
          <p:nvSpPr>
            <p:cNvPr id="351" name="Google Shape;351;p33"/>
            <p:cNvSpPr/>
            <p:nvPr/>
          </p:nvSpPr>
          <p:spPr>
            <a:xfrm>
              <a:off x="4810125" y="-1952625"/>
              <a:ext cx="2619300" cy="1809600"/>
            </a:xfrm>
            <a:prstGeom prst="roundRect">
              <a:avLst>
                <a:gd fmla="val 2105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4810125" y="-1952625"/>
              <a:ext cx="57300" cy="1809600"/>
            </a:xfrm>
            <a:prstGeom prst="roundRect">
              <a:avLst>
                <a:gd fmla="val 33331" name="adj"/>
              </a:avLst>
            </a:prstGeom>
            <a:solidFill>
              <a:srgbClr val="B7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 txBox="1"/>
            <p:nvPr/>
          </p:nvSpPr>
          <p:spPr>
            <a:xfrm>
              <a:off x="4962525" y="-1857375"/>
              <a:ext cx="2333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cs" sz="1300" u="none" strike="noStrike">
                  <a:solidFill>
                    <a:srgbClr val="B71C1C"/>
                  </a:solidFill>
                  <a:latin typeface="Roboto"/>
                  <a:ea typeface="Roboto"/>
                  <a:cs typeface="Roboto"/>
                  <a:sym typeface="Roboto"/>
                </a:rPr>
                <a:t>Tertiary Consumers</a:t>
              </a:r>
              <a:endParaRPr b="1" i="0" sz="1300" u="none" strike="noStrike">
                <a:solidFill>
                  <a:srgbClr val="B71C1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4" name="Google Shape;354;p33"/>
          <p:cNvGrpSpPr/>
          <p:nvPr/>
        </p:nvGrpSpPr>
        <p:grpSpPr>
          <a:xfrm>
            <a:off x="1333500" y="3048000"/>
            <a:ext cx="3048000" cy="1809600"/>
            <a:chOff x="-3429000" y="0"/>
            <a:chExt cx="3048000" cy="1809600"/>
          </a:xfrm>
        </p:grpSpPr>
        <p:sp>
          <p:nvSpPr>
            <p:cNvPr id="355" name="Google Shape;355;p33"/>
            <p:cNvSpPr/>
            <p:nvPr/>
          </p:nvSpPr>
          <p:spPr>
            <a:xfrm>
              <a:off x="-3429000" y="0"/>
              <a:ext cx="3048000" cy="1809600"/>
            </a:xfrm>
            <a:prstGeom prst="roundRect">
              <a:avLst>
                <a:gd fmla="val 2105" name="adj"/>
              </a:avLst>
            </a:prstGeom>
            <a:solidFill>
              <a:srgbClr val="F9FB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>
              <a:off x="-3429000" y="0"/>
              <a:ext cx="57300" cy="1809600"/>
            </a:xfrm>
            <a:prstGeom prst="roundRect">
              <a:avLst>
                <a:gd fmla="val 33331" name="adj"/>
              </a:avLst>
            </a:prstGeom>
            <a:solidFill>
              <a:srgbClr val="689F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3"/>
            <p:cNvSpPr txBox="1"/>
            <p:nvPr/>
          </p:nvSpPr>
          <p:spPr>
            <a:xfrm>
              <a:off x="-3276600" y="95250"/>
              <a:ext cx="2667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cs" sz="1300" u="none" strike="noStrike">
                  <a:solidFill>
                    <a:srgbClr val="689F38"/>
                  </a:solidFill>
                  <a:latin typeface="Roboto"/>
                  <a:ea typeface="Roboto"/>
                  <a:cs typeface="Roboto"/>
                  <a:sym typeface="Roboto"/>
                </a:rPr>
                <a:t>Decomposers</a:t>
              </a:r>
              <a:endParaRPr b="1" i="0" sz="1300" u="none" strike="noStrike">
                <a:solidFill>
                  <a:srgbClr val="689F3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8" name="Google Shape;358;p33"/>
          <p:cNvGrpSpPr/>
          <p:nvPr/>
        </p:nvGrpSpPr>
        <p:grpSpPr>
          <a:xfrm>
            <a:off x="4914900" y="3448050"/>
            <a:ext cx="2743050" cy="1257300"/>
            <a:chOff x="4914900" y="3448050"/>
            <a:chExt cx="2743050" cy="1257300"/>
          </a:xfrm>
        </p:grpSpPr>
        <p:pic>
          <p:nvPicPr>
            <p:cNvPr descr="Microscopic view of green Spirulina platensis cyanobacteria algae underwater" id="359" name="Google Shape;359;p33"/>
            <p:cNvPicPr preferRelativeResize="0"/>
            <p:nvPr/>
          </p:nvPicPr>
          <p:blipFill rotWithShape="1">
            <a:blip r:embed="rId3">
              <a:alphaModFix/>
            </a:blip>
            <a:srcRect b="229" l="4545" r="4545" t="229"/>
            <a:stretch/>
          </p:blipFill>
          <p:spPr>
            <a:xfrm>
              <a:off x="4914900" y="3448050"/>
              <a:ext cx="857400" cy="1257300"/>
            </a:xfrm>
            <a:prstGeom prst="roundRect">
              <a:avLst>
                <a:gd fmla="val 4444" name="adj"/>
              </a:avLst>
            </a:prstGeom>
            <a:noFill/>
            <a:ln>
              <a:noFill/>
            </a:ln>
          </p:spPr>
        </p:pic>
        <p:sp>
          <p:nvSpPr>
            <p:cNvPr id="360" name="Google Shape;360;p33"/>
            <p:cNvSpPr txBox="1"/>
            <p:nvPr/>
          </p:nvSpPr>
          <p:spPr>
            <a:xfrm>
              <a:off x="5848350" y="3448050"/>
              <a:ext cx="18096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Microscopic algae &amp; cyanobacteria, primarily </a:t>
              </a:r>
              <a:r>
                <a:rPr b="0" i="1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Spirulina platensis</a:t>
              </a: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 (formerly </a:t>
              </a:r>
              <a:r>
                <a:rPr b="0" i="1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Arthrospira</a:t>
              </a: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).</a:t>
              </a:r>
              <a:endParaRPr b="0" i="0" sz="95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b="0" i="0" lang="cs" sz="900" u="none" strike="noStrike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rPr>
                <a:t>Thrive abundantly in highly alkaline waters.</a:t>
              </a:r>
              <a:endParaRPr b="0" i="0" sz="90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61" name="Google Shape;361;p33"/>
          <p:cNvGrpSpPr/>
          <p:nvPr/>
        </p:nvGrpSpPr>
        <p:grpSpPr>
          <a:xfrm>
            <a:off x="533400" y="1495425"/>
            <a:ext cx="2343300" cy="1257300"/>
            <a:chOff x="533400" y="1495425"/>
            <a:chExt cx="2343300" cy="1257300"/>
          </a:xfrm>
        </p:grpSpPr>
        <p:pic>
          <p:nvPicPr>
            <p:cNvPr descr="A pair of pink Lesser Flamingos feeding in Lake Nakuru soda lake" id="362" name="Google Shape;362;p33"/>
            <p:cNvPicPr preferRelativeResize="0"/>
            <p:nvPr/>
          </p:nvPicPr>
          <p:blipFill rotWithShape="1">
            <a:blip r:embed="rId4">
              <a:alphaModFix/>
            </a:blip>
            <a:srcRect b="229" l="9592" r="9600" t="219"/>
            <a:stretch/>
          </p:blipFill>
          <p:spPr>
            <a:xfrm>
              <a:off x="533400" y="1495425"/>
              <a:ext cx="762000" cy="12573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363" name="Google Shape;363;p33"/>
            <p:cNvSpPr txBox="1"/>
            <p:nvPr/>
          </p:nvSpPr>
          <p:spPr>
            <a:xfrm>
              <a:off x="1371600" y="1495425"/>
              <a:ext cx="15051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Lesser Flamingo (</a:t>
              </a:r>
              <a:r>
                <a:rPr b="0" i="1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Phoeniconaias minor</a:t>
              </a: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) &amp; Soda Tilapia (</a:t>
              </a:r>
              <a:r>
                <a:rPr b="0" i="1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Oreochromis grahami</a:t>
              </a: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).</a:t>
              </a:r>
              <a:endParaRPr b="0" i="0" sz="95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b="0" i="0" lang="cs" sz="900" u="none" strike="noStrike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rPr>
                <a:t>Feed directly on primary producers in alkaline aquatic environment.</a:t>
              </a:r>
              <a:endParaRPr b="0" i="0" sz="90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64" name="Google Shape;364;p33"/>
          <p:cNvGrpSpPr/>
          <p:nvPr/>
        </p:nvGrpSpPr>
        <p:grpSpPr>
          <a:xfrm>
            <a:off x="3409950" y="1495425"/>
            <a:ext cx="2343300" cy="1257300"/>
            <a:chOff x="3409950" y="1495425"/>
            <a:chExt cx="2343300" cy="1257300"/>
          </a:xfrm>
        </p:grpSpPr>
        <p:pic>
          <p:nvPicPr>
            <p:cNvPr descr="A Great White Pelican swimming gracefully on blue water in Kenya" id="365" name="Google Shape;365;p33"/>
            <p:cNvPicPr preferRelativeResize="0"/>
            <p:nvPr/>
          </p:nvPicPr>
          <p:blipFill rotWithShape="1">
            <a:blip r:embed="rId5">
              <a:alphaModFix/>
            </a:blip>
            <a:srcRect b="229" l="9592" r="9600" t="219"/>
            <a:stretch/>
          </p:blipFill>
          <p:spPr>
            <a:xfrm>
              <a:off x="3409950" y="1495425"/>
              <a:ext cx="762000" cy="12573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366" name="Google Shape;366;p33"/>
            <p:cNvSpPr txBox="1"/>
            <p:nvPr/>
          </p:nvSpPr>
          <p:spPr>
            <a:xfrm>
              <a:off x="4248150" y="1495425"/>
              <a:ext cx="15051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Great White Pelican (</a:t>
              </a:r>
              <a:r>
                <a:rPr b="0" i="1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Pelecanus onocrotalus</a:t>
              </a: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) &amp; Great Cormorant (</a:t>
              </a:r>
              <a:r>
                <a:rPr b="0" i="1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Phalacrocorax carbo</a:t>
              </a: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).</a:t>
              </a:r>
              <a:endParaRPr b="0" i="0" sz="95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b="0" i="0" lang="cs" sz="900" u="none" strike="noStrike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rPr>
                <a:t>Act primarily as specialized piscivores within food web.</a:t>
              </a:r>
              <a:endParaRPr b="0" i="0" sz="90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67" name="Google Shape;367;p33"/>
          <p:cNvGrpSpPr/>
          <p:nvPr/>
        </p:nvGrpSpPr>
        <p:grpSpPr>
          <a:xfrm>
            <a:off x="6296025" y="1495425"/>
            <a:ext cx="2343300" cy="1257300"/>
            <a:chOff x="6296025" y="1495425"/>
            <a:chExt cx="2343300" cy="1257300"/>
          </a:xfrm>
        </p:grpSpPr>
        <p:pic>
          <p:nvPicPr>
            <p:cNvPr descr="An African Fish Eagle perched on a tree branch near lake water" id="368" name="Google Shape;368;p33"/>
            <p:cNvPicPr preferRelativeResize="0"/>
            <p:nvPr/>
          </p:nvPicPr>
          <p:blipFill rotWithShape="1">
            <a:blip r:embed="rId6">
              <a:alphaModFix/>
            </a:blip>
            <a:srcRect b="229" l="9592" r="9600" t="219"/>
            <a:stretch/>
          </p:blipFill>
          <p:spPr>
            <a:xfrm>
              <a:off x="6296025" y="1495425"/>
              <a:ext cx="762000" cy="12573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369" name="Google Shape;369;p33"/>
            <p:cNvSpPr txBox="1"/>
            <p:nvPr/>
          </p:nvSpPr>
          <p:spPr>
            <a:xfrm>
              <a:off x="7134225" y="1495425"/>
              <a:ext cx="15051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cs" sz="95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Trophic level dynamically depends on target prey availability.</a:t>
              </a:r>
              <a:endParaRPr b="0" i="0" sz="95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b="0" i="0" lang="cs" sz="900" u="none" strike="noStrike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rPr>
                <a:t>Highlights feeding role flexibility and adaptive predation strategies across ecosystem structure.</a:t>
              </a:r>
              <a:endParaRPr b="0" i="0" sz="90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0" name="Google Shape;370;p33"/>
          <p:cNvGrpSpPr/>
          <p:nvPr/>
        </p:nvGrpSpPr>
        <p:grpSpPr>
          <a:xfrm>
            <a:off x="1485900" y="3448050"/>
            <a:ext cx="2743050" cy="1257300"/>
            <a:chOff x="1485900" y="3448050"/>
            <a:chExt cx="2743050" cy="1257300"/>
          </a:xfrm>
        </p:grpSpPr>
        <p:pic>
          <p:nvPicPr>
            <p:cNvPr descr="Microscopic bacteria and natural fungi decomposing organic material" id="371" name="Google Shape;371;p33"/>
            <p:cNvPicPr preferRelativeResize="0"/>
            <p:nvPr/>
          </p:nvPicPr>
          <p:blipFill rotWithShape="1">
            <a:blip r:embed="rId7">
              <a:alphaModFix/>
            </a:blip>
            <a:srcRect b="229" l="4545" r="4545" t="229"/>
            <a:stretch/>
          </p:blipFill>
          <p:spPr>
            <a:xfrm>
              <a:off x="1485900" y="3448050"/>
              <a:ext cx="857400" cy="1257300"/>
            </a:xfrm>
            <a:prstGeom prst="roundRect">
              <a:avLst>
                <a:gd fmla="val 4444" name="adj"/>
              </a:avLst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2419350" y="3448050"/>
              <a:ext cx="18096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cs" sz="1000" u="none" strike="noStrike">
                  <a:solidFill>
                    <a:srgbClr val="1C1C1C"/>
                  </a:solidFill>
                  <a:latin typeface="Open Sans"/>
                  <a:ea typeface="Open Sans"/>
                  <a:cs typeface="Open Sans"/>
                  <a:sym typeface="Open Sans"/>
                </a:rPr>
                <a:t>Microscopic bacteria &amp; fungi.</a:t>
              </a:r>
              <a:endParaRPr b="0" i="0" sz="100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b="0" i="0" lang="cs" sz="900" u="none" strike="noStrike">
                  <a:solidFill>
                    <a:srgbClr val="595959"/>
                  </a:solidFill>
                  <a:latin typeface="Open Sans"/>
                  <a:ea typeface="Open Sans"/>
                  <a:cs typeface="Open Sans"/>
                  <a:sym typeface="Open Sans"/>
                </a:rPr>
                <a:t>Essential for recycling organic nutrients back into the ecosystem from dead organic matter.</a:t>
              </a:r>
              <a:endParaRPr b="0" i="0" sz="900" u="none" strike="noStrik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4" title="Návrh bez názvu (1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00" y="99825"/>
            <a:ext cx="4978125" cy="19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4" title="What is a Food Cha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75" y="599888"/>
            <a:ext cx="3988325" cy="34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/>
          <p:nvPr/>
        </p:nvSpPr>
        <p:spPr>
          <a:xfrm>
            <a:off x="0" y="0"/>
            <a:ext cx="428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84;p35" title="Consumer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African Crowned Eagle perched majestically on a tree branch overlooking a lake shore in Kenya" id="385" name="Google Shape;38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6750" y="1203150"/>
            <a:ext cx="1291800" cy="9387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6" title="Secondary Consumer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050" y="109475"/>
            <a:ext cx="6505176" cy="497485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6"/>
          <p:cNvSpPr txBox="1"/>
          <p:nvPr/>
        </p:nvSpPr>
        <p:spPr>
          <a:xfrm>
            <a:off x="-3045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 African Crowned Eagle perched majestically on a tree branch overlooking a lake shore in Kenya" id="392" name="Google Shape;39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0050" y="839100"/>
            <a:ext cx="521400" cy="3909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  <p:pic>
        <p:nvPicPr>
          <p:cNvPr id="393" name="Google Shape;393;p36" title="What is a Food Chain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175" y="109475"/>
            <a:ext cx="3780475" cy="11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6"/>
          <p:cNvSpPr txBox="1"/>
          <p:nvPr/>
        </p:nvSpPr>
        <p:spPr>
          <a:xfrm>
            <a:off x="6096850" y="154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chemeClr val="accent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Britannica Editors (2026, September 2).</a:t>
            </a:r>
            <a:r>
              <a:rPr lang="cs" sz="11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7" title="Návrh bez názvu 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6825" y="113175"/>
            <a:ext cx="1709725" cy="145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7" title="Secondary Consum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575" y="1712750"/>
            <a:ext cx="4143776" cy="32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7" title="Secondary Consumer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9907841">
            <a:off x="4106533" y="4363701"/>
            <a:ext cx="991000" cy="663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African Crowned Eagle perched majestically on a tree branch overlooking a lake shore in Kenya" id="402" name="Google Shape;402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7435" y="2174950"/>
            <a:ext cx="350100" cy="2625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  <p:pic>
        <p:nvPicPr>
          <p:cNvPr id="403" name="Google Shape;403;p37" title="What is a Food Chain (5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335775"/>
            <a:ext cx="3733162" cy="294437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6635075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chemeClr val="accent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Sottosanti, K. (2026, October 10).</a:t>
            </a:r>
            <a:r>
              <a:rPr lang="cs" sz="11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8" title="Návrh bez názvu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175" y="104625"/>
            <a:ext cx="1340350" cy="14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8" title="Secondary Consum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825" y="1703325"/>
            <a:ext cx="4403175" cy="344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8" title="Secondary Consumer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9907841">
            <a:off x="4048033" y="3611426"/>
            <a:ext cx="991000" cy="663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African Crowned Eagle perched majestically on a tree branch overlooking a lake shore in Kenya" id="412" name="Google Shape;41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0163" y="2202700"/>
            <a:ext cx="364500" cy="2793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  <p:pic>
        <p:nvPicPr>
          <p:cNvPr id="413" name="Google Shape;413;p38" title="What is a Food Chain (6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75" y="447463"/>
            <a:ext cx="3531301" cy="30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8"/>
          <p:cNvSpPr txBox="1"/>
          <p:nvPr/>
        </p:nvSpPr>
        <p:spPr>
          <a:xfrm>
            <a:off x="6550475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chemeClr val="accent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Sottosanti, K. (2026, October 10).</a:t>
            </a:r>
            <a:r>
              <a:rPr lang="cs" sz="11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9" title="Secondary Consum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400" y="1703325"/>
            <a:ext cx="4403175" cy="344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9" title="Secondary Consumer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928324">
            <a:off x="5386534" y="1667852"/>
            <a:ext cx="990999" cy="66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9" title="Secondary Consumer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342749">
            <a:off x="4779783" y="3021626"/>
            <a:ext cx="991001" cy="66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9" title="Secondary Consumer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982009">
            <a:off x="5142083" y="2423651"/>
            <a:ext cx="991000" cy="66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9" title="Návrh bez názvu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5900" y="122075"/>
            <a:ext cx="1757603" cy="121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African Crowned Eagle perched majestically on a tree branch overlooking a lake shore in Kenya" id="424" name="Google Shape;42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8500" y="2199925"/>
            <a:ext cx="374100" cy="2739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  <p:pic>
        <p:nvPicPr>
          <p:cNvPr id="425" name="Google Shape;425;p39" title="What is a Food Chain (7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416725"/>
            <a:ext cx="3545776" cy="29410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9"/>
          <p:cNvSpPr txBox="1"/>
          <p:nvPr/>
        </p:nvSpPr>
        <p:spPr>
          <a:xfrm>
            <a:off x="6477775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chemeClr val="accent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Sottosanti, K. (2026, October 10).</a:t>
            </a:r>
            <a:r>
              <a:rPr lang="cs" sz="11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"/>
          <p:cNvSpPr txBox="1"/>
          <p:nvPr/>
        </p:nvSpPr>
        <p:spPr>
          <a:xfrm>
            <a:off x="0" y="0"/>
            <a:ext cx="425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p40" title="Consumer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"/>
            <a:ext cx="9144000" cy="51434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African Crowned Eagle perched majestically on a tree branch overlooking a lake shore in Kenya" id="433" name="Google Shape;43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655" y="1072400"/>
            <a:ext cx="1053900" cy="7902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1" title="Consumer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50" y="1763088"/>
            <a:ext cx="4492374" cy="30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>
            <p:ph idx="1" type="body"/>
          </p:nvPr>
        </p:nvSpPr>
        <p:spPr>
          <a:xfrm>
            <a:off x="443075" y="1241388"/>
            <a:ext cx="180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cs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rPr>
              <a:t>Weak </a:t>
            </a:r>
            <a:endParaRPr b="1">
              <a:solidFill>
                <a:srgbClr val="DC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0" name="Google Shape;440;p41"/>
          <p:cNvSpPr txBox="1"/>
          <p:nvPr>
            <p:ph idx="1" type="body"/>
          </p:nvPr>
        </p:nvSpPr>
        <p:spPr>
          <a:xfrm>
            <a:off x="5655325" y="1241400"/>
            <a:ext cx="1809000" cy="3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cs">
                <a:solidFill>
                  <a:srgbClr val="2563EB"/>
                </a:solidFill>
              </a:rPr>
              <a:t>Strong</a:t>
            </a:r>
            <a:endParaRPr b="1">
              <a:solidFill>
                <a:srgbClr val="2563EB"/>
              </a:solidFill>
            </a:endParaRPr>
          </a:p>
        </p:txBody>
      </p:sp>
      <p:pic>
        <p:nvPicPr>
          <p:cNvPr descr="An African Crowned Eagle perched majestically on a tree branch overlooking a lake shore in Kenya" id="441" name="Google Shape;44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075" y="2873613"/>
            <a:ext cx="1011300" cy="7500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  <p:pic>
        <p:nvPicPr>
          <p:cNvPr id="442" name="Google Shape;442;p41" title="What is a Food Chain (9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52400"/>
            <a:ext cx="3719539" cy="8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1" title="Consumer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0125" y="1763100"/>
            <a:ext cx="3122300" cy="302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2" title="Lake Nakuru Food 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50" y="0"/>
            <a:ext cx="84897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43" title="DOMINANT SPEC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475" y="156187"/>
            <a:ext cx="9144000" cy="483112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3"/>
          <p:cNvSpPr txBox="1"/>
          <p:nvPr/>
        </p:nvSpPr>
        <p:spPr>
          <a:xfrm>
            <a:off x="83300" y="22447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800">
                <a:solidFill>
                  <a:schemeClr val="accent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Thompson, J.N. (2023, October 9).</a:t>
            </a:r>
            <a:r>
              <a:rPr lang="cs" sz="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7" name="Google Shape;457;p43"/>
          <p:cNvSpPr txBox="1"/>
          <p:nvPr/>
        </p:nvSpPr>
        <p:spPr>
          <a:xfrm>
            <a:off x="5135825" y="22447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850">
                <a:solidFill>
                  <a:schemeClr val="accent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Smee, D. (2010)</a:t>
            </a:r>
            <a:r>
              <a:rPr lang="cs" sz="11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4" title="Návrh bez názv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7675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5" title="DOMINANT SPECIES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6" title="DOMINANT SPECIES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750" y="286750"/>
            <a:ext cx="4506249" cy="4506249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6"/>
          <p:cNvSpPr txBox="1"/>
          <p:nvPr/>
        </p:nvSpPr>
        <p:spPr>
          <a:xfrm>
            <a:off x="7396075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K.R.S. </a:t>
            </a:r>
            <a:r>
              <a:rPr i="1" lang="cs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et al.</a:t>
            </a:r>
            <a:r>
              <a:rPr lang="c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(2026)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4" name="Google Shape;474;p46" title="DOMINANT SPECIES (8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50" y="286750"/>
            <a:ext cx="4332951" cy="326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/>
          <p:nvPr/>
        </p:nvSpPr>
        <p:spPr>
          <a:xfrm>
            <a:off x="4722019" y="1575197"/>
            <a:ext cx="3964800" cy="61440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7"/>
          <p:cNvSpPr/>
          <p:nvPr/>
        </p:nvSpPr>
        <p:spPr>
          <a:xfrm>
            <a:off x="4722019" y="2303859"/>
            <a:ext cx="3964800" cy="61440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7"/>
          <p:cNvSpPr/>
          <p:nvPr/>
        </p:nvSpPr>
        <p:spPr>
          <a:xfrm>
            <a:off x="4722019" y="3032521"/>
            <a:ext cx="3964800" cy="61440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7"/>
          <p:cNvSpPr/>
          <p:nvPr/>
        </p:nvSpPr>
        <p:spPr>
          <a:xfrm>
            <a:off x="4722019" y="3761184"/>
            <a:ext cx="3964800" cy="500100"/>
          </a:xfrm>
          <a:prstGeom prst="roundRect">
            <a:avLst>
              <a:gd fmla="val 17142" name="adj"/>
            </a:avLst>
          </a:prstGeom>
          <a:solidFill>
            <a:srgbClr val="F1F5F9"/>
          </a:solidFill>
          <a:ln cap="flat" cmpd="sng" w="7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7"/>
          <p:cNvSpPr/>
          <p:nvPr/>
        </p:nvSpPr>
        <p:spPr>
          <a:xfrm>
            <a:off x="4722019" y="1575197"/>
            <a:ext cx="28500" cy="6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7"/>
          <p:cNvSpPr/>
          <p:nvPr/>
        </p:nvSpPr>
        <p:spPr>
          <a:xfrm>
            <a:off x="4722019" y="2303859"/>
            <a:ext cx="28500" cy="6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7"/>
          <p:cNvSpPr/>
          <p:nvPr/>
        </p:nvSpPr>
        <p:spPr>
          <a:xfrm>
            <a:off x="4722019" y="3032521"/>
            <a:ext cx="28500" cy="6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6" name="Google Shape;4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28609"/>
            <a:ext cx="3979069" cy="3286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2038" y="3904059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7"/>
          <p:cNvSpPr txBox="1"/>
          <p:nvPr/>
        </p:nvSpPr>
        <p:spPr>
          <a:xfrm>
            <a:off x="457200" y="342900"/>
            <a:ext cx="8301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800" u="none" cap="none" strike="noStrike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rPr>
              <a:t>NETWORK RESILIENCE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p47"/>
          <p:cNvSpPr txBox="1"/>
          <p:nvPr/>
        </p:nvSpPr>
        <p:spPr>
          <a:xfrm>
            <a:off x="457200" y="521494"/>
            <a:ext cx="868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8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Food Web Complexity &amp; Biodiversity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0" name="Google Shape;490;p47"/>
          <p:cNvSpPr txBox="1"/>
          <p:nvPr/>
        </p:nvSpPr>
        <p:spPr>
          <a:xfrm>
            <a:off x="4893469" y="1718072"/>
            <a:ext cx="425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Multiple Feeding Links</a:t>
            </a:r>
            <a:endParaRPr sz="1100"/>
          </a:p>
        </p:txBody>
      </p:sp>
      <p:sp>
        <p:nvSpPr>
          <p:cNvPr id="491" name="Google Shape;491;p47"/>
          <p:cNvSpPr txBox="1"/>
          <p:nvPr/>
        </p:nvSpPr>
        <p:spPr>
          <a:xfrm>
            <a:off x="4893469" y="1910953"/>
            <a:ext cx="4250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" sz="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Diverse species relationships allow greater ecological coexistence.</a:t>
            </a:r>
            <a:endParaRPr sz="1100"/>
          </a:p>
        </p:txBody>
      </p:sp>
      <p:sp>
        <p:nvSpPr>
          <p:cNvPr id="492" name="Google Shape;492;p47"/>
          <p:cNvSpPr txBox="1"/>
          <p:nvPr/>
        </p:nvSpPr>
        <p:spPr>
          <a:xfrm>
            <a:off x="4893469" y="2446734"/>
            <a:ext cx="425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Alternative Prey Routes</a:t>
            </a:r>
            <a:endParaRPr sz="1100"/>
          </a:p>
        </p:txBody>
      </p:sp>
      <p:sp>
        <p:nvSpPr>
          <p:cNvPr id="493" name="Google Shape;493;p47"/>
          <p:cNvSpPr txBox="1"/>
          <p:nvPr/>
        </p:nvSpPr>
        <p:spPr>
          <a:xfrm>
            <a:off x="4893469" y="2639615"/>
            <a:ext cx="4250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" sz="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Diet switching maintains energy flow during single-source declines.</a:t>
            </a:r>
            <a:endParaRPr sz="1100"/>
          </a:p>
        </p:txBody>
      </p:sp>
      <p:sp>
        <p:nvSpPr>
          <p:cNvPr id="494" name="Google Shape;494;p47"/>
          <p:cNvSpPr txBox="1"/>
          <p:nvPr/>
        </p:nvSpPr>
        <p:spPr>
          <a:xfrm>
            <a:off x="4893469" y="3175397"/>
            <a:ext cx="425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Ecological Niche Variety</a:t>
            </a:r>
            <a:endParaRPr sz="1100"/>
          </a:p>
        </p:txBody>
      </p:sp>
      <p:sp>
        <p:nvSpPr>
          <p:cNvPr id="495" name="Google Shape;495;p47"/>
          <p:cNvSpPr txBox="1"/>
          <p:nvPr/>
        </p:nvSpPr>
        <p:spPr>
          <a:xfrm>
            <a:off x="4893469" y="3368278"/>
            <a:ext cx="4250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" sz="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Varied resource usage buffers ecosystems against direct competition.</a:t>
            </a:r>
            <a:endParaRPr sz="1100"/>
          </a:p>
        </p:txBody>
      </p:sp>
      <p:sp>
        <p:nvSpPr>
          <p:cNvPr id="496" name="Google Shape;496;p47"/>
          <p:cNvSpPr txBox="1"/>
          <p:nvPr/>
        </p:nvSpPr>
        <p:spPr>
          <a:xfrm>
            <a:off x="4872038" y="3882628"/>
            <a:ext cx="373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Complexity supports resilience, though highly complex webs are not automatically stable.</a:t>
            </a:r>
            <a:endParaRPr sz="1100"/>
          </a:p>
        </p:txBody>
      </p:sp>
      <p:pic>
        <p:nvPicPr>
          <p:cNvPr id="497" name="Google Shape;497;p47" title="Consumer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350" y="1228600"/>
            <a:ext cx="4310784" cy="33388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African Crowned Eagle perched majestically on a tree branch overlooking a lake shore in Kenya" id="498" name="Google Shape;498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4600" y="2008850"/>
            <a:ext cx="603600" cy="5919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  <p:sp>
        <p:nvSpPr>
          <p:cNvPr id="499" name="Google Shape;499;p47"/>
          <p:cNvSpPr txBox="1"/>
          <p:nvPr/>
        </p:nvSpPr>
        <p:spPr>
          <a:xfrm>
            <a:off x="7665275" y="27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s" spc="-24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Paine, R. T. (1966)</a:t>
            </a:r>
            <a:endParaRPr/>
          </a:p>
        </p:txBody>
      </p:sp>
      <p:sp>
        <p:nvSpPr>
          <p:cNvPr id="500" name="Google Shape;500;p47"/>
          <p:cNvSpPr txBox="1"/>
          <p:nvPr/>
        </p:nvSpPr>
        <p:spPr>
          <a:xfrm>
            <a:off x="7665275" y="362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K.R.S. </a:t>
            </a:r>
            <a:r>
              <a:rPr i="1" lang="cs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et al.</a:t>
            </a:r>
            <a:r>
              <a:rPr lang="c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(2026)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"/>
          <p:cNvSpPr txBox="1"/>
          <p:nvPr>
            <p:ph type="title"/>
          </p:nvPr>
        </p:nvSpPr>
        <p:spPr>
          <a:xfrm>
            <a:off x="311700" y="445025"/>
            <a:ext cx="871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latin typeface="Open Sans"/>
                <a:ea typeface="Open Sans"/>
                <a:cs typeface="Open Sans"/>
                <a:sym typeface="Open Sans"/>
              </a:rPr>
              <a:t>How </a:t>
            </a:r>
            <a:r>
              <a:rPr b="1" lang="cs">
                <a:latin typeface="Open Sans"/>
                <a:ea typeface="Open Sans"/>
                <a:cs typeface="Open Sans"/>
                <a:sym typeface="Open Sans"/>
              </a:rPr>
              <a:t>Does Food Web Complexity </a:t>
            </a:r>
            <a:r>
              <a:rPr b="1" lang="cs">
                <a:latin typeface="Open Sans"/>
                <a:ea typeface="Open Sans"/>
                <a:cs typeface="Open Sans"/>
                <a:sym typeface="Open Sans"/>
              </a:rPr>
              <a:t>Affect</a:t>
            </a:r>
            <a:r>
              <a:rPr b="1" lang="cs">
                <a:latin typeface="Open Sans"/>
                <a:ea typeface="Open Sans"/>
                <a:cs typeface="Open Sans"/>
                <a:sym typeface="Open Sans"/>
              </a:rPr>
              <a:t> B</a:t>
            </a:r>
            <a:r>
              <a:rPr b="1" lang="cs">
                <a:latin typeface="Open Sans"/>
                <a:ea typeface="Open Sans"/>
                <a:cs typeface="Open Sans"/>
                <a:sym typeface="Open Sans"/>
              </a:rPr>
              <a:t>iodiversity ?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48"/>
          <p:cNvSpPr txBox="1"/>
          <p:nvPr/>
        </p:nvSpPr>
        <p:spPr>
          <a:xfrm>
            <a:off x="5361950" y="1017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7" name="Google Shape;507;p48"/>
          <p:cNvPicPr preferRelativeResize="0"/>
          <p:nvPr/>
        </p:nvPicPr>
        <p:blipFill rotWithShape="1">
          <a:blip r:embed="rId3">
            <a:alphaModFix/>
          </a:blip>
          <a:srcRect b="52251" l="0" r="0" t="0"/>
          <a:stretch/>
        </p:blipFill>
        <p:spPr>
          <a:xfrm>
            <a:off x="157925" y="1353150"/>
            <a:ext cx="5456951" cy="336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8" title="DOMINANT SPECIES (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4673" y="1695286"/>
            <a:ext cx="2484374" cy="47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8" title="DOMINANT SPECIES (10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8374" y="4121499"/>
            <a:ext cx="2484326" cy="47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8" title="DOMINANT SPECIES (1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34576" y="2850487"/>
            <a:ext cx="2484378" cy="47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8" title="DOMINANT SPECIES (1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4175" y="2450250"/>
            <a:ext cx="1366312" cy="1366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8" title="DOMINANT SPECIES (1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4025" y="1117300"/>
            <a:ext cx="1269600" cy="12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8" title="DOMINANT SPECIES (1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04275" y="3949700"/>
            <a:ext cx="821225" cy="8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49" title="No Predators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9"/>
          <p:cNvSpPr txBox="1"/>
          <p:nvPr/>
        </p:nvSpPr>
        <p:spPr>
          <a:xfrm>
            <a:off x="7127075" y="4681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s" spc="-24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Paine, R. T. (1966)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50" title="No Predator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0"/>
          <p:cNvSpPr txBox="1"/>
          <p:nvPr/>
        </p:nvSpPr>
        <p:spPr>
          <a:xfrm>
            <a:off x="7073275" y="4681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s" spc="-24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Paine, R. T. (1966)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latin typeface="Open Sans"/>
                <a:ea typeface="Open Sans"/>
                <a:cs typeface="Open Sans"/>
                <a:sym typeface="Open Sans"/>
              </a:rPr>
              <a:t>Summary of what happened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1" name="Google Shape;531;p51"/>
          <p:cNvSpPr txBox="1"/>
          <p:nvPr/>
        </p:nvSpPr>
        <p:spPr>
          <a:xfrm>
            <a:off x="7628425" y="4774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s" spc="-24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Paine, R. T. (1966)</a:t>
            </a:r>
            <a:endParaRPr/>
          </a:p>
        </p:txBody>
      </p:sp>
      <p:sp>
        <p:nvSpPr>
          <p:cNvPr id="532" name="Google Shape;532;p51"/>
          <p:cNvSpPr txBox="1"/>
          <p:nvPr/>
        </p:nvSpPr>
        <p:spPr>
          <a:xfrm>
            <a:off x="368350" y="1017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51" title="DOMINANT SPEC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25" y="933213"/>
            <a:ext cx="7795843" cy="30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52" title="What is Rewiring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5950" y="0"/>
            <a:ext cx="3668775" cy="478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2" title="What is Rewiring 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525" y="152400"/>
            <a:ext cx="4740896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2"/>
          <p:cNvSpPr txBox="1"/>
          <p:nvPr/>
        </p:nvSpPr>
        <p:spPr>
          <a:xfrm>
            <a:off x="0" y="47877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050">
                <a:solidFill>
                  <a:srgbClr val="DADFE3"/>
                </a:solidFill>
                <a:latin typeface="Roboto"/>
                <a:ea typeface="Roboto"/>
                <a:cs typeface="Roboto"/>
                <a:sym typeface="Roboto"/>
              </a:rPr>
              <a:t>Bartley-et-al.-2019</a:t>
            </a:r>
            <a:r>
              <a:rPr lang="c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3"/>
          <p:cNvSpPr txBox="1"/>
          <p:nvPr/>
        </p:nvSpPr>
        <p:spPr>
          <a:xfrm>
            <a:off x="0" y="0"/>
            <a:ext cx="54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can cause rewiring ?</a:t>
            </a:r>
            <a:endParaRPr b="1" sz="3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46" name="Google Shape;546;p53" title="What is Rewiring 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75" y="768125"/>
            <a:ext cx="8755974" cy="4192201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53"/>
          <p:cNvSpPr txBox="1"/>
          <p:nvPr/>
        </p:nvSpPr>
        <p:spPr>
          <a:xfrm>
            <a:off x="7574025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050">
                <a:solidFill>
                  <a:srgbClr val="DADFE3"/>
                </a:solidFill>
                <a:latin typeface="Roboto"/>
                <a:ea typeface="Roboto"/>
                <a:cs typeface="Roboto"/>
                <a:sym typeface="Roboto"/>
              </a:rPr>
              <a:t>Bartley-et-al.-2019</a:t>
            </a:r>
            <a:r>
              <a:rPr lang="cs" sz="1100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4"/>
          <p:cNvSpPr/>
          <p:nvPr/>
        </p:nvSpPr>
        <p:spPr>
          <a:xfrm>
            <a:off x="457200" y="2260997"/>
            <a:ext cx="1950300" cy="1314600"/>
          </a:xfrm>
          <a:prstGeom prst="roundRect">
            <a:avLst>
              <a:gd fmla="val 6521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4"/>
          <p:cNvSpPr/>
          <p:nvPr/>
        </p:nvSpPr>
        <p:spPr>
          <a:xfrm>
            <a:off x="2550319" y="2260997"/>
            <a:ext cx="1950300" cy="1314600"/>
          </a:xfrm>
          <a:prstGeom prst="roundRect">
            <a:avLst>
              <a:gd fmla="val 6521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54"/>
          <p:cNvSpPr/>
          <p:nvPr/>
        </p:nvSpPr>
        <p:spPr>
          <a:xfrm>
            <a:off x="4643438" y="2260997"/>
            <a:ext cx="1950300" cy="1314600"/>
          </a:xfrm>
          <a:prstGeom prst="roundRect">
            <a:avLst>
              <a:gd fmla="val 6521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4"/>
          <p:cNvSpPr/>
          <p:nvPr/>
        </p:nvSpPr>
        <p:spPr>
          <a:xfrm>
            <a:off x="6736556" y="2260997"/>
            <a:ext cx="1950300" cy="1314600"/>
          </a:xfrm>
          <a:prstGeom prst="roundRect">
            <a:avLst>
              <a:gd fmla="val 6521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4"/>
          <p:cNvSpPr/>
          <p:nvPr/>
        </p:nvSpPr>
        <p:spPr>
          <a:xfrm>
            <a:off x="457200" y="2260997"/>
            <a:ext cx="1950300" cy="28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4"/>
          <p:cNvSpPr/>
          <p:nvPr/>
        </p:nvSpPr>
        <p:spPr>
          <a:xfrm>
            <a:off x="2550319" y="2260997"/>
            <a:ext cx="1950300" cy="28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4"/>
          <p:cNvSpPr/>
          <p:nvPr/>
        </p:nvSpPr>
        <p:spPr>
          <a:xfrm>
            <a:off x="4643438" y="2260997"/>
            <a:ext cx="1950300" cy="28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4"/>
          <p:cNvSpPr/>
          <p:nvPr/>
        </p:nvSpPr>
        <p:spPr>
          <a:xfrm>
            <a:off x="6736556" y="2260997"/>
            <a:ext cx="1950300" cy="28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60" name="Google Shape;56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461022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769" y="2461022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4888" y="2461022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8006" y="2461022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4" name="Google Shape;56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088" y="2532459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5" name="Google Shape;56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6063" y="2532459"/>
            <a:ext cx="12858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9181" y="2532459"/>
            <a:ext cx="12858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65156" y="2532459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54"/>
          <p:cNvSpPr txBox="1"/>
          <p:nvPr/>
        </p:nvSpPr>
        <p:spPr>
          <a:xfrm>
            <a:off x="457200" y="342900"/>
            <a:ext cx="8301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8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ECOSYSTEM DISRUPTION</a:t>
            </a:r>
            <a:endParaRPr sz="1100"/>
          </a:p>
        </p:txBody>
      </p:sp>
      <p:sp>
        <p:nvSpPr>
          <p:cNvPr id="569" name="Google Shape;569;p54"/>
          <p:cNvSpPr txBox="1"/>
          <p:nvPr/>
        </p:nvSpPr>
        <p:spPr>
          <a:xfrm>
            <a:off x="457200" y="521494"/>
            <a:ext cx="868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Invasive Species Rewire Food Webs</a:t>
            </a:r>
            <a:endParaRPr sz="1100"/>
          </a:p>
        </p:txBody>
      </p:sp>
      <p:sp>
        <p:nvSpPr>
          <p:cNvPr id="570" name="Google Shape;570;p54"/>
          <p:cNvSpPr txBox="1"/>
          <p:nvPr/>
        </p:nvSpPr>
        <p:spPr>
          <a:xfrm>
            <a:off x="628650" y="2832497"/>
            <a:ext cx="210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0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 Competition</a:t>
            </a:r>
            <a:endParaRPr sz="1100"/>
          </a:p>
        </p:txBody>
      </p:sp>
      <p:sp>
        <p:nvSpPr>
          <p:cNvPr id="571" name="Google Shape;571;p54"/>
          <p:cNvSpPr txBox="1"/>
          <p:nvPr/>
        </p:nvSpPr>
        <p:spPr>
          <a:xfrm>
            <a:off x="628650" y="2996803"/>
            <a:ext cx="167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" sz="8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Native species lose food access as invaders establish rapid dominion.</a:t>
            </a:r>
            <a:endParaRPr sz="1100"/>
          </a:p>
        </p:txBody>
      </p:sp>
      <p:sp>
        <p:nvSpPr>
          <p:cNvPr id="572" name="Google Shape;572;p54"/>
          <p:cNvSpPr txBox="1"/>
          <p:nvPr/>
        </p:nvSpPr>
        <p:spPr>
          <a:xfrm>
            <a:off x="2721769" y="2832497"/>
            <a:ext cx="210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0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Predation</a:t>
            </a:r>
            <a:endParaRPr sz="1100"/>
          </a:p>
        </p:txBody>
      </p:sp>
      <p:sp>
        <p:nvSpPr>
          <p:cNvPr id="573" name="Google Shape;573;p54"/>
          <p:cNvSpPr txBox="1"/>
          <p:nvPr/>
        </p:nvSpPr>
        <p:spPr>
          <a:xfrm>
            <a:off x="2721769" y="2996803"/>
            <a:ext cx="16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" sz="8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Vulnerable local populations undergo steep declines due to new pressure.</a:t>
            </a:r>
            <a:endParaRPr sz="1100"/>
          </a:p>
        </p:txBody>
      </p:sp>
      <p:sp>
        <p:nvSpPr>
          <p:cNvPr id="574" name="Google Shape;574;p54"/>
          <p:cNvSpPr txBox="1"/>
          <p:nvPr/>
        </p:nvSpPr>
        <p:spPr>
          <a:xfrm>
            <a:off x="4814888" y="2832497"/>
            <a:ext cx="210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0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Indirect Effects</a:t>
            </a:r>
            <a:endParaRPr sz="1100"/>
          </a:p>
        </p:txBody>
      </p:sp>
      <p:sp>
        <p:nvSpPr>
          <p:cNvPr id="575" name="Google Shape;575;p54"/>
          <p:cNvSpPr txBox="1"/>
          <p:nvPr/>
        </p:nvSpPr>
        <p:spPr>
          <a:xfrm>
            <a:off x="4814888" y="2996803"/>
            <a:ext cx="16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" sz="8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Cascade changes affect organisms far removed from direct interaction.</a:t>
            </a:r>
            <a:endParaRPr sz="1100"/>
          </a:p>
        </p:txBody>
      </p:sp>
      <p:sp>
        <p:nvSpPr>
          <p:cNvPr id="576" name="Google Shape;576;p54"/>
          <p:cNvSpPr txBox="1"/>
          <p:nvPr/>
        </p:nvSpPr>
        <p:spPr>
          <a:xfrm>
            <a:off x="6908006" y="2832497"/>
            <a:ext cx="210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" sz="10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Disruption</a:t>
            </a:r>
            <a:endParaRPr sz="1100"/>
          </a:p>
        </p:txBody>
      </p:sp>
      <p:sp>
        <p:nvSpPr>
          <p:cNvPr id="577" name="Google Shape;577;p54"/>
          <p:cNvSpPr txBox="1"/>
          <p:nvPr/>
        </p:nvSpPr>
        <p:spPr>
          <a:xfrm>
            <a:off x="6908006" y="2996803"/>
            <a:ext cx="16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" sz="8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Interconnected web links destabilize across multiple trophic levels.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The Team</a:t>
            </a:r>
            <a:endParaRPr/>
          </a:p>
        </p:txBody>
      </p:sp>
      <p:grpSp>
        <p:nvGrpSpPr>
          <p:cNvPr id="583" name="Google Shape;583;p55"/>
          <p:cNvGrpSpPr/>
          <p:nvPr/>
        </p:nvGrpSpPr>
        <p:grpSpPr>
          <a:xfrm>
            <a:off x="3678554" y="1352200"/>
            <a:ext cx="1786898" cy="2098921"/>
            <a:chOff x="6541325" y="974325"/>
            <a:chExt cx="1924500" cy="2260550"/>
          </a:xfrm>
        </p:grpSpPr>
        <p:pic>
          <p:nvPicPr>
            <p:cNvPr id="584" name="Google Shape;584;p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29800" y="974325"/>
              <a:ext cx="1524000" cy="18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55"/>
            <p:cNvSpPr txBox="1"/>
            <p:nvPr/>
          </p:nvSpPr>
          <p:spPr>
            <a:xfrm>
              <a:off x="6541325" y="2834675"/>
              <a:ext cx="1924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900" lIns="84900" spcFirstLastPara="1" rIns="84900" wrap="square" tIns="849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300">
                  <a:solidFill>
                    <a:schemeClr val="dk1"/>
                  </a:solidFill>
                </a:rPr>
                <a:t>Denis Drahokoupil</a:t>
              </a:r>
              <a:r>
                <a:rPr lang="cs" sz="1021">
                  <a:solidFill>
                    <a:schemeClr val="dk1"/>
                  </a:solidFill>
                </a:rPr>
                <a:t> </a:t>
              </a:r>
              <a:endParaRPr sz="1300"/>
            </a:p>
          </p:txBody>
        </p:sp>
      </p:grpSp>
      <p:grpSp>
        <p:nvGrpSpPr>
          <p:cNvPr id="586" name="Google Shape;586;p55"/>
          <p:cNvGrpSpPr/>
          <p:nvPr/>
        </p:nvGrpSpPr>
        <p:grpSpPr>
          <a:xfrm>
            <a:off x="167313" y="1352132"/>
            <a:ext cx="1613132" cy="2099049"/>
            <a:chOff x="715950" y="2120375"/>
            <a:chExt cx="1713000" cy="2229000"/>
          </a:xfrm>
        </p:grpSpPr>
        <p:pic>
          <p:nvPicPr>
            <p:cNvPr id="587" name="Google Shape;587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0450" y="2120375"/>
              <a:ext cx="1524000" cy="18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55"/>
            <p:cNvSpPr txBox="1"/>
            <p:nvPr/>
          </p:nvSpPr>
          <p:spPr>
            <a:xfrm>
              <a:off x="715950" y="3949175"/>
              <a:ext cx="1713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6100" lIns="86100" spcFirstLastPara="1" rIns="86100" wrap="square" tIns="86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318">
                  <a:solidFill>
                    <a:schemeClr val="dk1"/>
                  </a:solidFill>
                </a:rPr>
                <a:t>Francesca Goretti</a:t>
              </a:r>
              <a:r>
                <a:rPr lang="cs" sz="1036">
                  <a:solidFill>
                    <a:schemeClr val="dk1"/>
                  </a:solidFill>
                </a:rPr>
                <a:t> </a:t>
              </a:r>
              <a:endParaRPr sz="1318"/>
            </a:p>
          </p:txBody>
        </p:sp>
      </p:grpSp>
      <p:grpSp>
        <p:nvGrpSpPr>
          <p:cNvPr id="589" name="Google Shape;589;p55"/>
          <p:cNvGrpSpPr/>
          <p:nvPr/>
        </p:nvGrpSpPr>
        <p:grpSpPr>
          <a:xfrm>
            <a:off x="2007582" y="1352179"/>
            <a:ext cx="1443838" cy="2098941"/>
            <a:chOff x="3155125" y="1452000"/>
            <a:chExt cx="1524000" cy="2215475"/>
          </a:xfrm>
        </p:grpSpPr>
        <p:pic>
          <p:nvPicPr>
            <p:cNvPr id="590" name="Google Shape;590;p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55125" y="1452000"/>
              <a:ext cx="1524000" cy="18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55"/>
            <p:cNvSpPr txBox="1"/>
            <p:nvPr/>
          </p:nvSpPr>
          <p:spPr>
            <a:xfrm>
              <a:off x="3300100" y="3234875"/>
              <a:ext cx="1328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6625" lIns="86625" spcFirstLastPara="1" rIns="86625" wrap="square" tIns="86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326">
                  <a:solidFill>
                    <a:schemeClr val="dk1"/>
                  </a:solidFill>
                </a:rPr>
                <a:t>Yoan Gonon</a:t>
              </a:r>
              <a:r>
                <a:rPr lang="cs" sz="1705">
                  <a:solidFill>
                    <a:schemeClr val="dk2"/>
                  </a:solidFill>
                </a:rPr>
                <a:t> </a:t>
              </a:r>
              <a:endParaRPr sz="1705">
                <a:solidFill>
                  <a:schemeClr val="dk2"/>
                </a:solidFill>
              </a:endParaRPr>
            </a:p>
          </p:txBody>
        </p:sp>
      </p:grpSp>
      <p:grpSp>
        <p:nvGrpSpPr>
          <p:cNvPr id="592" name="Google Shape;592;p55"/>
          <p:cNvGrpSpPr/>
          <p:nvPr/>
        </p:nvGrpSpPr>
        <p:grpSpPr>
          <a:xfrm>
            <a:off x="5576800" y="1447138"/>
            <a:ext cx="1613100" cy="2004025"/>
            <a:chOff x="6632125" y="1769850"/>
            <a:chExt cx="1613100" cy="2004025"/>
          </a:xfrm>
        </p:grpSpPr>
        <p:pic>
          <p:nvPicPr>
            <p:cNvPr id="593" name="Google Shape;593;p55"/>
            <p:cNvPicPr preferRelativeResize="0"/>
            <p:nvPr/>
          </p:nvPicPr>
          <p:blipFill rotWithShape="1">
            <a:blip r:embed="rId6">
              <a:alphaModFix/>
            </a:blip>
            <a:srcRect b="0" l="0" r="12854" t="0"/>
            <a:stretch/>
          </p:blipFill>
          <p:spPr>
            <a:xfrm>
              <a:off x="6676900" y="1769850"/>
              <a:ext cx="1397699" cy="1603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55"/>
            <p:cNvSpPr txBox="1"/>
            <p:nvPr/>
          </p:nvSpPr>
          <p:spPr>
            <a:xfrm>
              <a:off x="6632125" y="3373675"/>
              <a:ext cx="161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cs">
                  <a:solidFill>
                    <a:schemeClr val="dk1"/>
                  </a:solidFill>
                </a:rPr>
                <a:t>Ukasha</a:t>
              </a:r>
              <a:r>
                <a:rPr lang="cs">
                  <a:solidFill>
                    <a:schemeClr val="dk1"/>
                  </a:solidFill>
                </a:rPr>
                <a:t> </a:t>
              </a:r>
              <a:r>
                <a:rPr b="1" lang="cs">
                  <a:solidFill>
                    <a:schemeClr val="dk1"/>
                  </a:solidFill>
                </a:rPr>
                <a:t>Katende</a:t>
              </a:r>
              <a:endParaRPr/>
            </a:p>
          </p:txBody>
        </p:sp>
      </p:grpSp>
      <p:grpSp>
        <p:nvGrpSpPr>
          <p:cNvPr id="595" name="Google Shape;595;p55"/>
          <p:cNvGrpSpPr/>
          <p:nvPr/>
        </p:nvGrpSpPr>
        <p:grpSpPr>
          <a:xfrm>
            <a:off x="7469175" y="1353525"/>
            <a:ext cx="1443826" cy="2096250"/>
            <a:chOff x="6602650" y="1352125"/>
            <a:chExt cx="1443826" cy="2096250"/>
          </a:xfrm>
        </p:grpSpPr>
        <p:pic>
          <p:nvPicPr>
            <p:cNvPr id="596" name="Google Shape;596;p55"/>
            <p:cNvPicPr preferRelativeResize="0"/>
            <p:nvPr/>
          </p:nvPicPr>
          <p:blipFill rotWithShape="1">
            <a:blip r:embed="rId7">
              <a:alphaModFix/>
            </a:blip>
            <a:srcRect b="0" l="8240" r="6631" t="0"/>
            <a:stretch/>
          </p:blipFill>
          <p:spPr>
            <a:xfrm>
              <a:off x="6602650" y="1352125"/>
              <a:ext cx="1443826" cy="16960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55"/>
            <p:cNvSpPr txBox="1"/>
            <p:nvPr/>
          </p:nvSpPr>
          <p:spPr>
            <a:xfrm>
              <a:off x="6648463" y="3048175"/>
              <a:ext cx="1398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cs">
                  <a:solidFill>
                    <a:schemeClr val="dk1"/>
                  </a:solidFill>
                </a:rPr>
                <a:t>Eugenia Olari </a:t>
              </a:r>
              <a:endParaRPr/>
            </a:p>
          </p:txBody>
        </p:sp>
      </p:grpSp>
      <p:sp>
        <p:nvSpPr>
          <p:cNvPr id="598" name="Google Shape;598;p55"/>
          <p:cNvSpPr txBox="1"/>
          <p:nvPr/>
        </p:nvSpPr>
        <p:spPr>
          <a:xfrm>
            <a:off x="2135175" y="3614900"/>
            <a:ext cx="13164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800">
                <a:solidFill>
                  <a:schemeClr val="dk2"/>
                </a:solidFill>
              </a:rPr>
              <a:t>- </a:t>
            </a:r>
            <a:r>
              <a:rPr lang="cs" sz="800">
                <a:solidFill>
                  <a:schemeClr val="dk2"/>
                </a:solidFill>
              </a:rPr>
              <a:t>Introduction of the ecosystem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99" name="Google Shape;599;p55"/>
          <p:cNvSpPr txBox="1"/>
          <p:nvPr/>
        </p:nvSpPr>
        <p:spPr>
          <a:xfrm>
            <a:off x="261375" y="3614900"/>
            <a:ext cx="18738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800">
                <a:solidFill>
                  <a:schemeClr val="dk2"/>
                </a:solidFill>
              </a:rPr>
              <a:t>-Food web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800">
                <a:solidFill>
                  <a:schemeClr val="dk2"/>
                </a:solidFill>
              </a:rPr>
              <a:t>-Dominant and keystone species 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800">
                <a:solidFill>
                  <a:schemeClr val="dk2"/>
                </a:solidFill>
              </a:rPr>
              <a:t>- Network modularity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0" name="Google Shape;600;p55"/>
          <p:cNvSpPr txBox="1"/>
          <p:nvPr/>
        </p:nvSpPr>
        <p:spPr>
          <a:xfrm>
            <a:off x="3709325" y="3614900"/>
            <a:ext cx="144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cs" sz="800">
                <a:solidFill>
                  <a:schemeClr val="dk2"/>
                </a:solidFill>
              </a:rPr>
              <a:t>Food Chains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-"/>
            </a:pPr>
            <a:r>
              <a:rPr lang="cs" sz="800">
                <a:solidFill>
                  <a:schemeClr val="dk2"/>
                </a:solidFill>
              </a:rPr>
              <a:t>Biodiversity Example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01" name="Google Shape;601;p55"/>
          <p:cNvSpPr txBox="1"/>
          <p:nvPr/>
        </p:nvSpPr>
        <p:spPr>
          <a:xfrm>
            <a:off x="5576800" y="3549275"/>
            <a:ext cx="144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-"/>
            </a:pPr>
            <a:r>
              <a:rPr lang="cs" sz="800">
                <a:solidFill>
                  <a:schemeClr val="dk2"/>
                </a:solidFill>
              </a:rPr>
              <a:t>Rewiring</a:t>
            </a:r>
            <a:endParaRPr/>
          </a:p>
        </p:txBody>
      </p:sp>
      <p:sp>
        <p:nvSpPr>
          <p:cNvPr id="602" name="Google Shape;602;p55"/>
          <p:cNvSpPr txBox="1"/>
          <p:nvPr/>
        </p:nvSpPr>
        <p:spPr>
          <a:xfrm>
            <a:off x="7475050" y="3549275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800">
                <a:solidFill>
                  <a:schemeClr val="dk2"/>
                </a:solidFill>
              </a:rPr>
              <a:t> Introduction of the ecosystem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Questions 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7"/>
          <p:cNvSpPr txBox="1"/>
          <p:nvPr>
            <p:ph type="title"/>
          </p:nvPr>
        </p:nvSpPr>
        <p:spPr>
          <a:xfrm>
            <a:off x="311700" y="37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Sources Library </a:t>
            </a:r>
            <a:endParaRPr/>
          </a:p>
        </p:txBody>
      </p:sp>
      <p:sp>
        <p:nvSpPr>
          <p:cNvPr id="613" name="Google Shape;613;p57"/>
          <p:cNvSpPr txBox="1"/>
          <p:nvPr>
            <p:ph idx="1" type="body"/>
          </p:nvPr>
        </p:nvSpPr>
        <p:spPr>
          <a:xfrm>
            <a:off x="234300" y="897475"/>
            <a:ext cx="8675400" cy="4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Vareschi, E. (1978). The ecology of Lake Nakuru (Kenya). I. Abundance and feeding of the lesser flamingo. Oecologia, 32(1), 11–35.</a:t>
            </a:r>
            <a:r>
              <a:rPr lang="cs" sz="245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cs" sz="2450" u="sng">
                <a:solidFill>
                  <a:schemeClr val="hlink"/>
                </a:solidFill>
                <a:hlinkClick r:id="rId4"/>
              </a:rPr>
              <a:t>https://doi.org/10.1007/BF00344687</a:t>
            </a:r>
            <a:endParaRPr sz="245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Vareschi, E., &amp; Vareschi, A. (1984). The ecology of Lake Nakuru (Kenya). IV. Biomass and distribution of consumer organisms. Oecologia, 61(1), 70–82.</a:t>
            </a:r>
            <a:r>
              <a:rPr lang="cs" sz="245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cs" sz="2450" u="sng">
                <a:solidFill>
                  <a:schemeClr val="hlink"/>
                </a:solidFill>
                <a:hlinkClick r:id="rId6"/>
              </a:rPr>
              <a:t>https://doi.org/10.1007/BF00379091</a:t>
            </a:r>
            <a:endParaRPr sz="245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Vareschi, E., &amp; Jacobs, J. (1984). The ecology of Lake Nakuru (Kenya). V. Production and consumption of consumer organisms. Oecologia, 61(1), 83–98.</a:t>
            </a:r>
            <a:r>
              <a:rPr lang="cs" sz="245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cs" sz="2450" u="sng">
                <a:solidFill>
                  <a:schemeClr val="hlink"/>
                </a:solidFill>
                <a:hlinkClick r:id="rId8"/>
              </a:rPr>
              <a:t>https://doi.org/10.1007/BF00379092</a:t>
            </a:r>
            <a:endParaRPr sz="245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Vareschi, E., &amp; Jacobs, J. (1985). The ecology of Lake Nakuru. VI. Synopsis of production and energy flow. Oecologia, 65(3), 412–424.</a:t>
            </a:r>
            <a:r>
              <a:rPr lang="cs" sz="245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cs" sz="2450" u="sng">
                <a:solidFill>
                  <a:schemeClr val="hlink"/>
                </a:solidFill>
                <a:hlinkClick r:id="rId10"/>
              </a:rPr>
              <a:t>https://doi.org/10.1007/BF00378917</a:t>
            </a:r>
            <a:endParaRPr sz="245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Kaggwa, M. N., Gruber, M., Oduor, S. O., &amp; Schagerl, M. (2013). A detailed time series assessment of the diet of lesser flamingos: Further explanation for their itinerant behaviour. Hydrobiologia, 710, 83–93.</a:t>
            </a:r>
            <a:r>
              <a:rPr lang="cs" sz="245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cs" sz="2450" u="sng">
                <a:solidFill>
                  <a:schemeClr val="hlink"/>
                </a:solidFill>
                <a:hlinkClick r:id="rId12"/>
              </a:rPr>
              <a:t>https://doi.org/10.1007/s10750-012-1105-1</a:t>
            </a:r>
            <a:endParaRPr sz="245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Charlotte A. Ward, Tyler D. Tunney, Kayla R. S. Hale, Reilly F. O’Connor &amp; Kevin S. McCann: The rewiring of ecological networks in a variable world </a:t>
            </a:r>
            <a:r>
              <a:rPr lang="cs" sz="2450" u="sng">
                <a:solidFill>
                  <a:schemeClr val="hlink"/>
                </a:solidFill>
                <a:hlinkClick r:id="rId13"/>
              </a:rPr>
              <a:t>https://www.nature.com/articles/s44358-026-00159-9</a:t>
            </a:r>
            <a:endParaRPr sz="2450" u="sng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Kerlley Bong Siew Sin</a:t>
            </a:r>
            <a:r>
              <a:rPr lang="cs" sz="2450">
                <a:solidFill>
                  <a:schemeClr val="dk1"/>
                </a:solidFill>
              </a:rPr>
              <a:t>: Dissappearing pink flamingos and evolution of lake nakuru </a:t>
            </a:r>
            <a:r>
              <a:rPr lang="cs" sz="2450" u="sng">
                <a:solidFill>
                  <a:schemeClr val="hlink"/>
                </a:solidFill>
                <a:hlinkClick r:id="rId15"/>
              </a:rPr>
              <a:t>https://sunwayuniversity.edu.my/explore/thinkpieces/disappearing-pink-flamingos-and-evolution-of-lake-nakuru</a:t>
            </a:r>
            <a:endParaRPr sz="2450" u="sng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Paine, R. T. (1966). Food Web Complexity and Species Diversity. </a:t>
            </a:r>
            <a:r>
              <a:rPr i="1" lang="cs" sz="2450">
                <a:solidFill>
                  <a:schemeClr val="dk1"/>
                </a:solidFill>
              </a:rPr>
              <a:t>The American Naturalist</a:t>
            </a:r>
            <a:r>
              <a:rPr lang="cs" sz="2450">
                <a:solidFill>
                  <a:schemeClr val="dk1"/>
                </a:solidFill>
              </a:rPr>
              <a:t>, </a:t>
            </a:r>
            <a:r>
              <a:rPr i="1" lang="cs" sz="2450">
                <a:solidFill>
                  <a:schemeClr val="dk1"/>
                </a:solidFill>
              </a:rPr>
              <a:t>100</a:t>
            </a:r>
            <a:r>
              <a:rPr lang="cs" sz="2450">
                <a:solidFill>
                  <a:schemeClr val="dk1"/>
                </a:solidFill>
              </a:rPr>
              <a:t>(910), 65–75. </a:t>
            </a:r>
            <a:r>
              <a:rPr lang="cs" sz="2450" u="sng">
                <a:solidFill>
                  <a:schemeClr val="hlink"/>
                </a:solidFill>
                <a:hlinkClick r:id="rId16"/>
              </a:rPr>
              <a:t>http://www.jstor.org/stable/2459379</a:t>
            </a:r>
            <a:endParaRPr sz="2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Sottosanti, K. (2026, October 10). food web. Encyclopedia Britannica. </a:t>
            </a:r>
            <a:r>
              <a:rPr lang="cs" sz="2450" u="sng">
                <a:solidFill>
                  <a:schemeClr val="hlink"/>
                </a:solidFill>
                <a:hlinkClick r:id="rId17"/>
              </a:rPr>
              <a:t>https://www.britannica.com/science/food-web</a:t>
            </a:r>
            <a:endParaRPr sz="2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Britannica Editors (2026, September 2). trophic pyramid. Encyclopedia Britannica. </a:t>
            </a:r>
            <a:r>
              <a:rPr lang="cs" sz="2450" u="sng">
                <a:solidFill>
                  <a:schemeClr val="hlink"/>
                </a:solidFill>
                <a:hlinkClick r:id="rId18"/>
              </a:rPr>
              <a:t>https://www.britannica.com/science/trophic-pyramid</a:t>
            </a:r>
            <a:endParaRPr sz="2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lang="cs" sz="2450">
                <a:solidFill>
                  <a:schemeClr val="dk1"/>
                </a:solidFill>
              </a:rPr>
              <a:t>Thompson, J.N. (2023, October 9). keystone species. Encyclopedia Britannica. </a:t>
            </a:r>
            <a:r>
              <a:rPr lang="cs" sz="2450" u="sng">
                <a:solidFill>
                  <a:schemeClr val="hlink"/>
                </a:solidFill>
                <a:hlinkClick r:id="rId19"/>
              </a:rPr>
              <a:t>https://www.britannica.com/science/keystone-species</a:t>
            </a:r>
            <a:endParaRPr sz="2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898"/>
              <a:buFont typeface="Arial"/>
              <a:buNone/>
            </a:pPr>
            <a:r>
              <a:rPr b="1" lang="cs" sz="2450">
                <a:solidFill>
                  <a:srgbClr val="333333"/>
                </a:solidFill>
                <a:highlight>
                  <a:srgbClr val="FFFFFF"/>
                </a:highlight>
              </a:rPr>
              <a:t> Smee, D. (2010) Species with a Large Impact on Community Structure. </a:t>
            </a:r>
            <a:r>
              <a:rPr b="1" i="1" lang="cs" sz="2450">
                <a:solidFill>
                  <a:srgbClr val="333333"/>
                </a:solidFill>
                <a:highlight>
                  <a:srgbClr val="FFFFFF"/>
                </a:highlight>
              </a:rPr>
              <a:t>Nature Education Knowledge</a:t>
            </a:r>
            <a:r>
              <a:rPr b="1" lang="cs" sz="2450">
                <a:solidFill>
                  <a:srgbClr val="333333"/>
                </a:solidFill>
                <a:highlight>
                  <a:srgbClr val="FFFFFF"/>
                </a:highlight>
              </a:rPr>
              <a:t> 3(10):40</a:t>
            </a:r>
            <a:r>
              <a:rPr lang="cs" sz="2450">
                <a:solidFill>
                  <a:schemeClr val="dk1"/>
                </a:solidFill>
              </a:rPr>
              <a:t> </a:t>
            </a:r>
            <a:endParaRPr sz="2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cs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Bartley, T.J., McCann, K.S., Bieg, C. </a:t>
            </a:r>
            <a:r>
              <a:rPr i="1" lang="cs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et al.</a:t>
            </a:r>
            <a:r>
              <a:rPr lang="cs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Food web rewiring in a changing world. </a:t>
            </a:r>
            <a:r>
              <a:rPr i="1" lang="cs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Nat Ecol Evol</a:t>
            </a:r>
            <a:r>
              <a:rPr lang="cs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cs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cs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345–354 (2019). https://doi.org/10.1038/s41559-018-0772-3</a:t>
            </a:r>
            <a:r>
              <a:rPr lang="cs" sz="1100">
                <a:solidFill>
                  <a:schemeClr val="dk1"/>
                </a:solidFill>
              </a:rPr>
              <a:t> </a:t>
            </a:r>
            <a:endParaRPr sz="2450" u="sng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3200"/>
              <a:t>Images:</a:t>
            </a:r>
            <a:endParaRPr sz="3200"/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cs" sz="3200" u="sng">
                <a:solidFill>
                  <a:srgbClr val="1155CC"/>
                </a:solidFill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https://www.wildlifeofkenya.com/categories/wading-and-water-birds/pelican-great-white/</a:t>
            </a:r>
            <a:endParaRPr sz="32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cs" sz="3200" u="sng">
                <a:solidFill>
                  <a:srgbClr val="1155CC"/>
                </a:solidFill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https://www.inaturalist.org/places/lake-nakuru?__cf_chl_tk=FfSHRLRIm3DfN8k4XOtYz6XR3TszGcgTWHVAtYWaP2Y-1792263216-1.0.1.1-O1kZih3NaFUEDbeUODiqY5NdKjhOn7XF8PNEAIGfNIw#page=1&amp;taxon=3</a:t>
            </a:r>
            <a:r>
              <a:rPr lang="cs" sz="32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cs" sz="3200" u="sng">
                <a:solidFill>
                  <a:schemeClr val="accent5"/>
                </a:solidFill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https://sunwayuniversity.edu.my/explore/thinkpieces/disappearing-pink-flamingos-and-evolution-of-lake-nakuru</a:t>
            </a:r>
            <a:endParaRPr sz="3200">
              <a:solidFill>
                <a:schemeClr val="dk1"/>
              </a:solidFill>
            </a:endParaRPr>
          </a:p>
          <a:p>
            <a:pPr indent="-2460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